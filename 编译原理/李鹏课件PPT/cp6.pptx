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slide" Target="slides/slide124.xml"/><Relationship Id="rId130" Type="http://schemas.openxmlformats.org/officeDocument/2006/relationships/slide" Target="slides/slide125.xml"/><Relationship Id="rId131" Type="http://schemas.openxmlformats.org/officeDocument/2006/relationships/slide" Target="slides/slide126.xml"/><Relationship Id="rId132" Type="http://schemas.openxmlformats.org/officeDocument/2006/relationships/slide" Target="slides/slide127.xml"/><Relationship Id="rId133" Type="http://schemas.openxmlformats.org/officeDocument/2006/relationships/slide" Target="slides/slide128.xml"/><Relationship Id="rId134" Type="http://schemas.openxmlformats.org/officeDocument/2006/relationships/slide" Target="slides/slide12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FF66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rgbClr val="FFFF66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FF66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FF66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51050" y="863549"/>
            <a:ext cx="6041898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FFF66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7926" y="1613968"/>
            <a:ext cx="7988147" cy="4057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rgbClr val="FFFF66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11057" y="6697989"/>
            <a:ext cx="737870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9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54.xml"/><Relationship Id="rId3" Type="http://schemas.openxmlformats.org/officeDocument/2006/relationships/image" Target="../media/image2.pn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pn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png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61.xml"/><Relationship Id="rId3" Type="http://schemas.openxmlformats.org/officeDocument/2006/relationships/image" Target="../media/image2.png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png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png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3" Type="http://schemas.openxmlformats.org/officeDocument/2006/relationships/image" Target="../media/image2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/Relationships>
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3" Type="http://schemas.openxmlformats.org/officeDocument/2006/relationships/image" Target="../media/image58.png"/><Relationship Id="rId4" Type="http://schemas.openxmlformats.org/officeDocument/2006/relationships/image" Target="../media/image2.png"/></Relationships>
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.png"/></Relationships>
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.png"/></Relationships>
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0.png"/></Relationships>
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01.xml"/><Relationship Id="rId3" Type="http://schemas.openxmlformats.org/officeDocument/2006/relationships/image" Target="../media/image2.png"/></Relationships>
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slide" Target="slide111.xml"/></Relationships>
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/Relationships>
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
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/Relationships>
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slide" Target="slide113.xml"/><Relationship Id="rId7" Type="http://schemas.openxmlformats.org/officeDocument/2006/relationships/image" Target="../media/image74.png"/></Relationships>
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slide" Target="slide103.xml"/></Relationships>
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" Target="slide110.xml"/></Relationships>
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17.xml"/><Relationship Id="rId3" Type="http://schemas.openxmlformats.org/officeDocument/2006/relationships/image" Target="../media/image2.png"/></Relationships>
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9.png"/></Relationships>
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
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3" Type="http://schemas.openxmlformats.org/officeDocument/2006/relationships/image" Target="../media/image2.png"/></Relationships>
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3" Type="http://schemas.openxmlformats.org/officeDocument/2006/relationships/image" Target="../media/image2.png"/></Relationships>
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3" Type="http://schemas.openxmlformats.org/officeDocument/2006/relationships/image" Target="../media/image2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6504" y="232790"/>
            <a:ext cx="525018" cy="5519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534411" y="19811"/>
            <a:ext cx="495300" cy="571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928104" y="5847791"/>
            <a:ext cx="577342" cy="5757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91628" y="5277611"/>
            <a:ext cx="495300" cy="4953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297926" y="5203825"/>
            <a:ext cx="674624" cy="78814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91388" y="276606"/>
            <a:ext cx="866432" cy="92049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871727"/>
            <a:ext cx="9144000" cy="5986780"/>
          </a:xfrm>
          <a:custGeom>
            <a:avLst/>
            <a:gdLst/>
            <a:ahLst/>
            <a:cxnLst/>
            <a:rect l="l" t="t" r="r" b="b"/>
            <a:pathLst>
              <a:path w="9144000" h="5986780">
                <a:moveTo>
                  <a:pt x="9144000" y="5986268"/>
                </a:moveTo>
                <a:lnTo>
                  <a:pt x="9144000" y="0"/>
                </a:lnTo>
                <a:lnTo>
                  <a:pt x="0" y="0"/>
                </a:lnTo>
                <a:lnTo>
                  <a:pt x="0" y="5986268"/>
                </a:lnTo>
                <a:lnTo>
                  <a:pt x="9144000" y="5986268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938527" y="0"/>
            <a:ext cx="1750314" cy="13693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87623" y="0"/>
            <a:ext cx="1750314" cy="13693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236720" y="0"/>
            <a:ext cx="1750314" cy="136931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385815" y="0"/>
            <a:ext cx="1750314" cy="136931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394966" y="0"/>
            <a:ext cx="423545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25">
                <a:solidFill>
                  <a:srgbClr val="FF5D5D"/>
                </a:solidFill>
                <a:latin typeface="隶书"/>
                <a:cs typeface="隶书"/>
              </a:rPr>
              <a:t>课 程 内</a:t>
            </a:r>
            <a:r>
              <a:rPr dirty="0" sz="6000" spc="25">
                <a:solidFill>
                  <a:srgbClr val="FF5D5D"/>
                </a:solidFill>
                <a:latin typeface="隶书"/>
                <a:cs typeface="隶书"/>
              </a:rPr>
              <a:t> </a:t>
            </a:r>
            <a:r>
              <a:rPr dirty="0" sz="6000" spc="-25">
                <a:solidFill>
                  <a:srgbClr val="FF5D5D"/>
                </a:solidFill>
                <a:latin typeface="隶书"/>
                <a:cs typeface="隶书"/>
              </a:rPr>
              <a:t>容</a:t>
            </a:r>
            <a:endParaRPr sz="6000">
              <a:latin typeface="隶书"/>
              <a:cs typeface="隶书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777240"/>
            <a:ext cx="9144000" cy="13411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29564" y="1233954"/>
            <a:ext cx="5485765" cy="497649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第</a:t>
            </a:r>
            <a:r>
              <a:rPr dirty="0" sz="2800" spc="-69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章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编</a:t>
            </a:r>
            <a:r>
              <a:rPr dirty="0" sz="2800" spc="-70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译</a:t>
            </a:r>
            <a:r>
              <a:rPr dirty="0" sz="2800" spc="-70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引</a:t>
            </a:r>
            <a:r>
              <a:rPr dirty="0" sz="2800" spc="-69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论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第</a:t>
            </a:r>
            <a:r>
              <a:rPr dirty="0" sz="2800" spc="-70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2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章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 形式语言与自动机基础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第</a:t>
            </a:r>
            <a:r>
              <a:rPr dirty="0" sz="2800" spc="-70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3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章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词法分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析</a:t>
            </a:r>
            <a:r>
              <a:rPr dirty="0" sz="2800" spc="-68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(Lexical</a:t>
            </a:r>
            <a:r>
              <a:rPr dirty="0" sz="2800" spc="-17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Analysis)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4014470" algn="l"/>
              </a:tabLst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第</a:t>
            </a:r>
            <a:r>
              <a:rPr dirty="0" sz="2800" spc="-68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章</a:t>
            </a:r>
            <a:r>
              <a:rPr dirty="0" sz="2800" spc="1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语法分析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(Syntax	Analysis)</a:t>
            </a:r>
            <a:endParaRPr sz="2800">
              <a:latin typeface="Times New Roman"/>
              <a:cs typeface="Times New Roman"/>
            </a:endParaRPr>
          </a:p>
          <a:p>
            <a:pPr marL="1701164">
              <a:lnSpc>
                <a:spcPct val="100000"/>
              </a:lnSpc>
              <a:spcBef>
                <a:spcPts val="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——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自上而下分析法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4014470" algn="l"/>
              </a:tabLst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第</a:t>
            </a:r>
            <a:r>
              <a:rPr dirty="0" sz="2800" spc="-68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章</a:t>
            </a:r>
            <a:r>
              <a:rPr dirty="0" sz="2800" spc="1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语法分析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(Syntax	Analysis)</a:t>
            </a:r>
            <a:endParaRPr sz="2800">
              <a:latin typeface="Times New Roman"/>
              <a:cs typeface="Times New Roman"/>
            </a:endParaRPr>
          </a:p>
          <a:p>
            <a:pPr marL="1701164">
              <a:lnSpc>
                <a:spcPct val="100000"/>
              </a:lnSpc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——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自下而上分析法</a:t>
            </a:r>
            <a:endParaRPr sz="2800">
              <a:latin typeface="宋体"/>
              <a:cs typeface="宋体"/>
            </a:endParaRPr>
          </a:p>
          <a:p>
            <a:pPr marL="12700" marR="293370">
              <a:lnSpc>
                <a:spcPct val="120000"/>
              </a:lnSpc>
              <a:spcBef>
                <a:spcPts val="5"/>
              </a:spcBef>
            </a:pPr>
            <a:r>
              <a:rPr dirty="0" sz="2800" spc="-15" b="1">
                <a:solidFill>
                  <a:srgbClr val="FFCC00"/>
                </a:solidFill>
                <a:latin typeface="宋体"/>
                <a:cs typeface="宋体"/>
              </a:rPr>
              <a:t>第</a:t>
            </a:r>
            <a:r>
              <a:rPr dirty="0" sz="2800" spc="-715" b="1">
                <a:solidFill>
                  <a:srgbClr val="FFCC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6</a:t>
            </a:r>
            <a:r>
              <a:rPr dirty="0" sz="2800" spc="-25" b="1">
                <a:solidFill>
                  <a:srgbClr val="FFCC00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CC00"/>
                </a:solidFill>
                <a:latin typeface="宋体"/>
                <a:cs typeface="宋体"/>
              </a:rPr>
              <a:t>章</a:t>
            </a:r>
            <a:r>
              <a:rPr dirty="0" sz="2800" spc="-40" b="1">
                <a:solidFill>
                  <a:srgbClr val="FFCC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语义分析与中间代码生成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第</a:t>
            </a:r>
            <a:r>
              <a:rPr dirty="0" sz="2800" spc="-69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7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章</a:t>
            </a:r>
            <a:r>
              <a:rPr dirty="0" sz="2800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运</a:t>
            </a:r>
            <a:r>
              <a:rPr dirty="0" sz="2800" spc="-7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2800" spc="-6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环</a:t>
            </a:r>
            <a:r>
              <a:rPr dirty="0" sz="2800" spc="-6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境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第</a:t>
            </a:r>
            <a:r>
              <a:rPr dirty="0" sz="2800" spc="-70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8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章</a:t>
            </a:r>
            <a:r>
              <a:rPr dirty="0" sz="2800" spc="-10" b="1">
                <a:solidFill>
                  <a:srgbClr val="FFFF99"/>
                </a:solidFill>
                <a:latin typeface="宋体"/>
                <a:cs typeface="宋体"/>
              </a:rPr>
              <a:t> 代码优化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（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optimization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53100" y="4616196"/>
            <a:ext cx="2196465" cy="722630"/>
          </a:xfrm>
          <a:custGeom>
            <a:avLst/>
            <a:gdLst/>
            <a:ahLst/>
            <a:cxnLst/>
            <a:rect l="l" t="t" r="r" b="b"/>
            <a:pathLst>
              <a:path w="2196465" h="722629">
                <a:moveTo>
                  <a:pt x="485775" y="0"/>
                </a:moveTo>
                <a:lnTo>
                  <a:pt x="0" y="361187"/>
                </a:lnTo>
                <a:lnTo>
                  <a:pt x="485775" y="722375"/>
                </a:lnTo>
                <a:lnTo>
                  <a:pt x="485775" y="604901"/>
                </a:lnTo>
                <a:lnTo>
                  <a:pt x="2196083" y="604901"/>
                </a:lnTo>
                <a:lnTo>
                  <a:pt x="2196083" y="117474"/>
                </a:lnTo>
                <a:lnTo>
                  <a:pt x="485775" y="117474"/>
                </a:lnTo>
                <a:lnTo>
                  <a:pt x="485775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753100" y="4616196"/>
            <a:ext cx="2196465" cy="722630"/>
          </a:xfrm>
          <a:custGeom>
            <a:avLst/>
            <a:gdLst/>
            <a:ahLst/>
            <a:cxnLst/>
            <a:rect l="l" t="t" r="r" b="b"/>
            <a:pathLst>
              <a:path w="2196465" h="722629">
                <a:moveTo>
                  <a:pt x="0" y="361187"/>
                </a:moveTo>
                <a:lnTo>
                  <a:pt x="485775" y="0"/>
                </a:lnTo>
                <a:lnTo>
                  <a:pt x="485775" y="117474"/>
                </a:lnTo>
                <a:lnTo>
                  <a:pt x="2196083" y="117474"/>
                </a:lnTo>
                <a:lnTo>
                  <a:pt x="2196083" y="604901"/>
                </a:lnTo>
                <a:lnTo>
                  <a:pt x="485775" y="604901"/>
                </a:lnTo>
                <a:lnTo>
                  <a:pt x="485775" y="722375"/>
                </a:lnTo>
                <a:lnTo>
                  <a:pt x="0" y="361187"/>
                </a:lnTo>
                <a:close/>
              </a:path>
            </a:pathLst>
          </a:custGeom>
          <a:ln w="9524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718261"/>
            <a:ext cx="7167880" cy="6057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第</a:t>
            </a:r>
            <a:r>
              <a:rPr dirty="0" sz="3800" spc="-975">
                <a:solidFill>
                  <a:srgbClr val="FFFF00"/>
                </a:solidFill>
                <a:latin typeface="黑体"/>
                <a:cs typeface="黑体"/>
              </a:rPr>
              <a:t> </a:t>
            </a:r>
            <a:r>
              <a:rPr dirty="0" sz="3800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r>
              <a:rPr dirty="0" sz="3800" spc="-25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章</a:t>
            </a:r>
            <a:r>
              <a:rPr dirty="0" sz="3800" spc="905">
                <a:solidFill>
                  <a:srgbClr val="FFFF00"/>
                </a:solidFill>
                <a:latin typeface="黑体"/>
                <a:cs typeface="黑体"/>
              </a:rPr>
              <a:t> </a:t>
            </a:r>
            <a:r>
              <a:rPr dirty="0" sz="3800" spc="5">
                <a:solidFill>
                  <a:srgbClr val="FFFF00"/>
                </a:solidFill>
                <a:latin typeface="黑体"/>
                <a:cs typeface="黑体"/>
              </a:rPr>
              <a:t>语义</a:t>
            </a:r>
            <a:r>
              <a:rPr dirty="0" sz="3800" spc="-5">
                <a:solidFill>
                  <a:srgbClr val="FFFF00"/>
                </a:solidFill>
                <a:latin typeface="黑体"/>
                <a:cs typeface="黑体"/>
              </a:rPr>
              <a:t>分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析</a:t>
            </a:r>
            <a:r>
              <a:rPr dirty="0" sz="3800" spc="-5">
                <a:solidFill>
                  <a:srgbClr val="FFFF00"/>
                </a:solidFill>
                <a:latin typeface="黑体"/>
                <a:cs typeface="黑体"/>
              </a:rPr>
              <a:t>与中间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代</a:t>
            </a:r>
            <a:r>
              <a:rPr dirty="0" sz="3800" spc="-5">
                <a:solidFill>
                  <a:srgbClr val="FFFF00"/>
                </a:solidFill>
                <a:latin typeface="黑体"/>
                <a:cs typeface="黑体"/>
              </a:rPr>
              <a:t>码生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成</a:t>
            </a:r>
            <a:endParaRPr sz="38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1148" y="1525117"/>
            <a:ext cx="6164580" cy="4519295"/>
          </a:xfrm>
          <a:prstGeom prst="rect">
            <a:avLst/>
          </a:prstGeom>
        </p:spPr>
        <p:txBody>
          <a:bodyPr wrap="square" lIns="0" tIns="232410" rIns="0" bIns="0" rtlCol="0" vert="horz">
            <a:spAutoFit/>
          </a:bodyPr>
          <a:lstStyle/>
          <a:p>
            <a:pPr lvl="1" marL="1251585" indent="-1227455">
              <a:lnSpc>
                <a:spcPct val="100000"/>
              </a:lnSpc>
              <a:spcBef>
                <a:spcPts val="1830"/>
              </a:spcBef>
              <a:buFont typeface="Times New Roman"/>
              <a:buAutoNum type="arabicPeriod"/>
              <a:tabLst>
                <a:tab pos="1251585" algn="l"/>
                <a:tab pos="1252220" algn="l"/>
              </a:tabLst>
            </a:pP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语义分析综述</a:t>
            </a:r>
            <a:endParaRPr sz="3500">
              <a:latin typeface="宋体"/>
              <a:cs typeface="宋体"/>
            </a:endParaRPr>
          </a:p>
          <a:p>
            <a:pPr lvl="1" marL="1238885" indent="-1226820">
              <a:lnSpc>
                <a:spcPct val="100000"/>
              </a:lnSpc>
              <a:spcBef>
                <a:spcPts val="1730"/>
              </a:spcBef>
              <a:buFont typeface="Times New Roman"/>
              <a:buAutoNum type="arabicPeriod"/>
              <a:tabLst>
                <a:tab pos="1238885" algn="l"/>
                <a:tab pos="1239520" algn="l"/>
              </a:tabLst>
            </a:pP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语法制导翻译与属性文法</a:t>
            </a:r>
            <a:endParaRPr sz="3500">
              <a:latin typeface="宋体"/>
              <a:cs typeface="宋体"/>
            </a:endParaRPr>
          </a:p>
          <a:p>
            <a:pPr lvl="1" marL="1234440" indent="-1222375">
              <a:lnSpc>
                <a:spcPct val="100000"/>
              </a:lnSpc>
              <a:spcBef>
                <a:spcPts val="1680"/>
              </a:spcBef>
              <a:buFont typeface="Times New Roman"/>
              <a:buAutoNum type="arabicPeriod"/>
              <a:tabLst>
                <a:tab pos="1234440" algn="l"/>
                <a:tab pos="1235075" algn="l"/>
              </a:tabLst>
            </a:pP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中间语言</a:t>
            </a:r>
            <a:endParaRPr sz="3500">
              <a:latin typeface="宋体"/>
              <a:cs typeface="宋体"/>
            </a:endParaRPr>
          </a:p>
          <a:p>
            <a:pPr lvl="1" marL="1238885" indent="-1226820">
              <a:lnSpc>
                <a:spcPct val="100000"/>
              </a:lnSpc>
              <a:spcBef>
                <a:spcPts val="1680"/>
              </a:spcBef>
              <a:buFont typeface="Times New Roman"/>
              <a:buAutoNum type="arabicPeriod"/>
              <a:tabLst>
                <a:tab pos="1238885" algn="l"/>
                <a:tab pos="1239520" algn="l"/>
              </a:tabLst>
            </a:pP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符号表</a:t>
            </a:r>
            <a:endParaRPr sz="3500">
              <a:latin typeface="宋体"/>
              <a:cs typeface="宋体"/>
            </a:endParaRPr>
          </a:p>
          <a:p>
            <a:pPr lvl="1" marL="1238885" indent="-1226820">
              <a:lnSpc>
                <a:spcPct val="100000"/>
              </a:lnSpc>
              <a:spcBef>
                <a:spcPts val="1680"/>
              </a:spcBef>
              <a:buFont typeface="Times New Roman"/>
              <a:buAutoNum type="arabicPeriod"/>
              <a:tabLst>
                <a:tab pos="1238885" algn="l"/>
                <a:tab pos="1239520" algn="l"/>
              </a:tabLst>
            </a:pPr>
            <a:r>
              <a:rPr dirty="0" u="heavy" sz="35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类型检</a:t>
            </a:r>
            <a:r>
              <a:rPr dirty="0" u="heavy" sz="35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查</a:t>
            </a:r>
            <a:r>
              <a:rPr dirty="0" u="heavy" sz="35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（</a:t>
            </a:r>
            <a:r>
              <a:rPr dirty="0" u="heavy" sz="35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自</a:t>
            </a:r>
            <a:r>
              <a:rPr dirty="0" u="heavy" sz="35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学</a:t>
            </a:r>
            <a:r>
              <a:rPr dirty="0" u="heavy" sz="35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）</a:t>
            </a:r>
            <a:endParaRPr sz="3500">
              <a:latin typeface="宋体"/>
              <a:cs typeface="宋体"/>
            </a:endParaRPr>
          </a:p>
          <a:p>
            <a:pPr lvl="1" marL="1238885" indent="-1226820">
              <a:lnSpc>
                <a:spcPct val="100000"/>
              </a:lnSpc>
              <a:spcBef>
                <a:spcPts val="1680"/>
              </a:spcBef>
              <a:buFont typeface="Times New Roman"/>
              <a:buAutoNum type="arabicPeriod"/>
              <a:tabLst>
                <a:tab pos="1238885" algn="l"/>
                <a:tab pos="1239520" algn="l"/>
              </a:tabLst>
            </a:pP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语句翻译与中间代码生成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9330" y="5045964"/>
            <a:ext cx="5980430" cy="91440"/>
          </a:xfrm>
          <a:custGeom>
            <a:avLst/>
            <a:gdLst/>
            <a:ahLst/>
            <a:cxnLst/>
            <a:rect l="l" t="t" r="r" b="b"/>
            <a:pathLst>
              <a:path w="5980430" h="91439">
                <a:moveTo>
                  <a:pt x="5980277" y="63500"/>
                </a:moveTo>
                <a:lnTo>
                  <a:pt x="165" y="78740"/>
                </a:lnTo>
                <a:lnTo>
                  <a:pt x="203" y="91440"/>
                </a:lnTo>
                <a:lnTo>
                  <a:pt x="5980404" y="76200"/>
                </a:lnTo>
                <a:lnTo>
                  <a:pt x="5980277" y="63500"/>
                </a:lnTo>
                <a:close/>
              </a:path>
              <a:path w="5980430" h="91439">
                <a:moveTo>
                  <a:pt x="5980277" y="25400"/>
                </a:moveTo>
                <a:lnTo>
                  <a:pt x="63" y="40640"/>
                </a:lnTo>
                <a:lnTo>
                  <a:pt x="139" y="66040"/>
                </a:lnTo>
                <a:lnTo>
                  <a:pt x="5980277" y="50800"/>
                </a:lnTo>
                <a:lnTo>
                  <a:pt x="5980277" y="25400"/>
                </a:lnTo>
                <a:close/>
              </a:path>
              <a:path w="5980430" h="91439">
                <a:moveTo>
                  <a:pt x="5980150" y="0"/>
                </a:moveTo>
                <a:lnTo>
                  <a:pt x="0" y="15240"/>
                </a:lnTo>
                <a:lnTo>
                  <a:pt x="38" y="27940"/>
                </a:lnTo>
                <a:lnTo>
                  <a:pt x="5980150" y="12700"/>
                </a:lnTo>
                <a:lnTo>
                  <a:pt x="59801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670803" y="1578863"/>
            <a:ext cx="2194560" cy="722630"/>
          </a:xfrm>
          <a:custGeom>
            <a:avLst/>
            <a:gdLst/>
            <a:ahLst/>
            <a:cxnLst/>
            <a:rect l="l" t="t" r="r" b="b"/>
            <a:pathLst>
              <a:path w="2194559" h="722630">
                <a:moveTo>
                  <a:pt x="548894" y="0"/>
                </a:moveTo>
                <a:lnTo>
                  <a:pt x="0" y="361188"/>
                </a:lnTo>
                <a:lnTo>
                  <a:pt x="548894" y="722376"/>
                </a:lnTo>
                <a:lnTo>
                  <a:pt x="548894" y="541782"/>
                </a:lnTo>
                <a:lnTo>
                  <a:pt x="2194560" y="541782"/>
                </a:lnTo>
                <a:lnTo>
                  <a:pt x="2194560" y="180594"/>
                </a:lnTo>
                <a:lnTo>
                  <a:pt x="548894" y="180594"/>
                </a:lnTo>
                <a:lnTo>
                  <a:pt x="548894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70803" y="1578863"/>
            <a:ext cx="2194560" cy="722630"/>
          </a:xfrm>
          <a:custGeom>
            <a:avLst/>
            <a:gdLst/>
            <a:ahLst/>
            <a:cxnLst/>
            <a:rect l="l" t="t" r="r" b="b"/>
            <a:pathLst>
              <a:path w="2194559" h="722630">
                <a:moveTo>
                  <a:pt x="0" y="361188"/>
                </a:moveTo>
                <a:lnTo>
                  <a:pt x="548894" y="0"/>
                </a:lnTo>
                <a:lnTo>
                  <a:pt x="548894" y="180594"/>
                </a:lnTo>
                <a:lnTo>
                  <a:pt x="2194560" y="180594"/>
                </a:lnTo>
                <a:lnTo>
                  <a:pt x="2194560" y="541782"/>
                </a:lnTo>
                <a:lnTo>
                  <a:pt x="548894" y="541782"/>
                </a:lnTo>
                <a:lnTo>
                  <a:pt x="548894" y="722376"/>
                </a:lnTo>
                <a:lnTo>
                  <a:pt x="0" y="361188"/>
                </a:lnTo>
                <a:close/>
              </a:path>
            </a:pathLst>
          </a:custGeom>
          <a:ln w="5715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215630" y="6697989"/>
            <a:ext cx="72707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fld>
            <a:r>
              <a:rPr dirty="0" sz="1400" spc="229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04408" y="26923"/>
            <a:ext cx="20713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语义分析综述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5142" y="26923"/>
            <a:ext cx="4454525" cy="12820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81710">
              <a:lnSpc>
                <a:spcPct val="100000"/>
              </a:lnSpc>
              <a:spcBef>
                <a:spcPts val="100"/>
              </a:spcBef>
              <a:tabLst>
                <a:tab pos="162496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750">
              <a:latin typeface="宋体"/>
              <a:cs typeface="宋体"/>
            </a:endParaRPr>
          </a:p>
          <a:p>
            <a:pPr marL="329565" indent="-317500">
              <a:lnSpc>
                <a:spcPct val="100000"/>
              </a:lnSpc>
              <a:buClr>
                <a:srgbClr val="66FFFF"/>
              </a:buClr>
              <a:buSzPct val="114062"/>
              <a:buFont typeface="Wingdings"/>
              <a:buChar char=""/>
              <a:tabLst>
                <a:tab pos="33020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语义分析的地位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5024" y="2332238"/>
            <a:ext cx="2946400" cy="13023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14069" marR="607695" indent="-304800">
              <a:lnSpc>
                <a:spcPct val="130900"/>
              </a:lnSpc>
              <a:spcBef>
                <a:spcPts val="95"/>
              </a:spcBef>
              <a:tabLst>
                <a:tab pos="1696720" algn="l"/>
              </a:tabLst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F</a:t>
            </a:r>
            <a:r>
              <a:rPr dirty="0" sz="3200" spc="-60" b="1">
                <a:solidFill>
                  <a:srgbClr val="00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ont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end 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r>
              <a:rPr dirty="0" sz="3200" spc="-35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00FFFF"/>
                </a:solidFill>
                <a:latin typeface="宋体"/>
                <a:cs typeface="宋体"/>
              </a:rPr>
              <a:t>分</a:t>
            </a:r>
            <a:r>
              <a:rPr dirty="0" sz="3200" spc="-10" b="1">
                <a:solidFill>
                  <a:srgbClr val="00FFFF"/>
                </a:solidFill>
                <a:latin typeface="宋体"/>
                <a:cs typeface="宋体"/>
              </a:rPr>
              <a:t>析</a:t>
            </a:r>
            <a:r>
              <a:rPr dirty="0" sz="3200" spc="-830" b="1">
                <a:solidFill>
                  <a:srgbClr val="00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35828" y="2259939"/>
            <a:ext cx="1730375" cy="1303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4800" marR="5080" indent="-304800">
              <a:lnSpc>
                <a:spcPct val="130900"/>
              </a:lnSpc>
              <a:spcBef>
                <a:spcPts val="100"/>
              </a:spcBef>
              <a:tabLst>
                <a:tab pos="1083310" algn="l"/>
              </a:tabLst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Ba</a:t>
            </a:r>
            <a:r>
              <a:rPr dirty="0" sz="3200" spc="5" b="1">
                <a:solidFill>
                  <a:srgbClr val="00FFFF"/>
                </a:solidFill>
                <a:latin typeface="Times New Roman"/>
                <a:cs typeface="Times New Roman"/>
              </a:rPr>
              <a:t>c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k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end 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r>
              <a:rPr dirty="0" sz="3200" spc="-4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综</a:t>
            </a:r>
            <a:r>
              <a:rPr dirty="0" sz="3200" spc="-10" b="1">
                <a:solidFill>
                  <a:srgbClr val="00FFFF"/>
                </a:solidFill>
                <a:latin typeface="宋体"/>
                <a:cs typeface="宋体"/>
              </a:rPr>
              <a:t>合</a:t>
            </a:r>
            <a:r>
              <a:rPr dirty="0" sz="3200" spc="-840" b="1">
                <a:solidFill>
                  <a:srgbClr val="00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02252" y="2180970"/>
            <a:ext cx="420370" cy="1663064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algn="just" marR="5080">
              <a:lnSpc>
                <a:spcPct val="78600"/>
              </a:lnSpc>
              <a:spcBef>
                <a:spcPts val="925"/>
              </a:spcBef>
            </a:pPr>
            <a:r>
              <a:rPr dirty="0" sz="3200" spc="-10" b="1">
                <a:solidFill>
                  <a:srgbClr val="FFB66C"/>
                </a:solidFill>
                <a:latin typeface="宋体"/>
                <a:cs typeface="宋体"/>
              </a:rPr>
              <a:t>语 义 </a:t>
            </a:r>
            <a:r>
              <a:rPr dirty="0" sz="3200" spc="-5" b="1">
                <a:solidFill>
                  <a:srgbClr val="FFB66C"/>
                </a:solidFill>
                <a:latin typeface="宋体"/>
                <a:cs typeface="宋体"/>
              </a:rPr>
              <a:t>处 </a:t>
            </a:r>
            <a:r>
              <a:rPr dirty="0" sz="3200" spc="-10" b="1">
                <a:solidFill>
                  <a:srgbClr val="FFB66C"/>
                </a:solidFill>
                <a:latin typeface="宋体"/>
                <a:cs typeface="宋体"/>
              </a:rPr>
              <a:t>理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15974" y="2096261"/>
            <a:ext cx="6495415" cy="1887220"/>
          </a:xfrm>
          <a:custGeom>
            <a:avLst/>
            <a:gdLst/>
            <a:ahLst/>
            <a:cxnLst/>
            <a:rect l="l" t="t" r="r" b="b"/>
            <a:pathLst>
              <a:path w="6495415" h="1887220">
                <a:moveTo>
                  <a:pt x="0" y="1886712"/>
                </a:moveTo>
                <a:lnTo>
                  <a:pt x="6495287" y="1886712"/>
                </a:lnTo>
                <a:lnTo>
                  <a:pt x="6495287" y="0"/>
                </a:lnTo>
                <a:lnTo>
                  <a:pt x="0" y="0"/>
                </a:lnTo>
                <a:lnTo>
                  <a:pt x="0" y="188671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299965" y="2096261"/>
            <a:ext cx="0" cy="1887220"/>
          </a:xfrm>
          <a:custGeom>
            <a:avLst/>
            <a:gdLst/>
            <a:ahLst/>
            <a:cxnLst/>
            <a:rect l="l" t="t" r="r" b="b"/>
            <a:pathLst>
              <a:path w="0" h="1887220">
                <a:moveTo>
                  <a:pt x="0" y="0"/>
                </a:moveTo>
                <a:lnTo>
                  <a:pt x="0" y="1886712"/>
                </a:lnTo>
              </a:path>
            </a:pathLst>
          </a:custGeom>
          <a:ln w="38100">
            <a:solidFill>
              <a:srgbClr val="FFFFFF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74293" y="4311856"/>
            <a:ext cx="7421880" cy="2066925"/>
          </a:xfrm>
          <a:prstGeom prst="rect">
            <a:avLst/>
          </a:prstGeom>
        </p:spPr>
        <p:txBody>
          <a:bodyPr wrap="square" lIns="0" tIns="199390" rIns="0" bIns="0" rtlCol="0" vert="horz">
            <a:spAutoFit/>
          </a:bodyPr>
          <a:lstStyle/>
          <a:p>
            <a:pPr marL="884555" indent="-863600">
              <a:lnSpc>
                <a:spcPct val="100000"/>
              </a:lnSpc>
              <a:spcBef>
                <a:spcPts val="1570"/>
              </a:spcBef>
              <a:buClr>
                <a:srgbClr val="FFFF00"/>
              </a:buClr>
              <a:buSzPct val="109375"/>
              <a:buFont typeface="Wingdings"/>
              <a:buChar char=""/>
              <a:tabLst>
                <a:tab pos="884555" algn="l"/>
                <a:tab pos="88519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编译程序最实质性的工作；</a:t>
            </a:r>
            <a:endParaRPr sz="3200">
              <a:latin typeface="宋体"/>
              <a:cs typeface="宋体"/>
            </a:endParaRPr>
          </a:p>
          <a:p>
            <a:pPr marL="875030" marR="5080" indent="-875030">
              <a:lnSpc>
                <a:spcPct val="130000"/>
              </a:lnSpc>
              <a:spcBef>
                <a:spcPts val="775"/>
              </a:spcBef>
              <a:buClr>
                <a:srgbClr val="FFFF00"/>
              </a:buClr>
              <a:buSzPct val="109375"/>
              <a:buFont typeface="Wingdings"/>
              <a:buChar char=""/>
              <a:tabLst>
                <a:tab pos="875030" algn="l"/>
                <a:tab pos="875665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第一次对源程序的语义作出解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释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，引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起源程序质的变化。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15630" y="6697989"/>
            <a:ext cx="72707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fld>
            <a:r>
              <a:rPr dirty="0" sz="1400" spc="229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380" y="26923"/>
            <a:ext cx="348487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15630" y="6697989"/>
            <a:ext cx="72707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fld>
            <a:r>
              <a:rPr dirty="0" sz="1400" spc="229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04408" y="26923"/>
            <a:ext cx="20713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语义分析综述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564" y="941326"/>
            <a:ext cx="8024495" cy="4319270"/>
          </a:xfrm>
          <a:prstGeom prst="rect">
            <a:avLst/>
          </a:prstGeom>
        </p:spPr>
        <p:txBody>
          <a:bodyPr wrap="square" lIns="0" tIns="159385" rIns="0" bIns="0" rtlCol="0" vert="horz">
            <a:spAutoFit/>
          </a:bodyPr>
          <a:lstStyle/>
          <a:p>
            <a:pPr marL="568960" indent="-317500">
              <a:lnSpc>
                <a:spcPct val="100000"/>
              </a:lnSpc>
              <a:spcBef>
                <a:spcPts val="1255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569595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语义分析的任务</a:t>
            </a:r>
            <a:endParaRPr sz="3200">
              <a:latin typeface="宋体"/>
              <a:cs typeface="宋体"/>
            </a:endParaRPr>
          </a:p>
          <a:p>
            <a:pPr algn="just" marL="252095" marR="5080" indent="812165">
              <a:lnSpc>
                <a:spcPct val="130000"/>
              </a:lnSpc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按照语法分析器识别的语法范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畴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进行语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义检查和处理，产生相应的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间代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或目标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代码。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3900">
              <a:latin typeface="宋体"/>
              <a:cs typeface="宋体"/>
            </a:endParaRPr>
          </a:p>
          <a:p>
            <a:pPr marL="329565" indent="-317500">
              <a:lnSpc>
                <a:spcPct val="100000"/>
              </a:lnSpc>
              <a:buClr>
                <a:srgbClr val="66FFFF"/>
              </a:buClr>
              <a:buSzPct val="114062"/>
              <a:buFont typeface="Wingdings"/>
              <a:buChar char=""/>
              <a:tabLst>
                <a:tab pos="33020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中间代码</a:t>
            </a:r>
            <a:endParaRPr sz="3200">
              <a:latin typeface="宋体"/>
              <a:cs typeface="宋体"/>
            </a:endParaRPr>
          </a:p>
          <a:p>
            <a:pPr marL="622300">
              <a:lnSpc>
                <a:spcPct val="100000"/>
              </a:lnSpc>
              <a:spcBef>
                <a:spcPts val="115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介于源语言和目标代码之间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一种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码。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380" y="26923"/>
            <a:ext cx="348487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15630" y="6697989"/>
            <a:ext cx="72707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fld>
            <a:r>
              <a:rPr dirty="0" sz="1400" spc="229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04408" y="26923"/>
            <a:ext cx="20713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语义分析综述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144" y="1098880"/>
            <a:ext cx="5187315" cy="3253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7665" indent="-355600">
              <a:lnSpc>
                <a:spcPct val="100000"/>
              </a:lnSpc>
              <a:spcBef>
                <a:spcPts val="100"/>
              </a:spcBef>
              <a:buClr>
                <a:srgbClr val="66FFFF"/>
              </a:buClr>
              <a:buSzPct val="115277"/>
              <a:buFont typeface="Wingdings"/>
              <a:buChar char=""/>
              <a:tabLst>
                <a:tab pos="368300" algn="l"/>
              </a:tabLst>
            </a:pPr>
            <a:r>
              <a:rPr dirty="0" sz="3600" spc="-10" b="1">
                <a:solidFill>
                  <a:srgbClr val="FFFF00"/>
                </a:solidFill>
                <a:latin typeface="宋体"/>
                <a:cs typeface="宋体"/>
              </a:rPr>
              <a:t>引入中间代码的目的</a:t>
            </a:r>
            <a:endParaRPr sz="3600">
              <a:latin typeface="宋体"/>
              <a:cs typeface="宋体"/>
            </a:endParaRPr>
          </a:p>
          <a:p>
            <a:pPr lvl="1" marL="1497965" indent="-610235">
              <a:lnSpc>
                <a:spcPct val="100000"/>
              </a:lnSpc>
              <a:spcBef>
                <a:spcPts val="4050"/>
              </a:spcBef>
              <a:buFont typeface="Times New Roman"/>
              <a:buAutoNum type="arabicPeriod"/>
              <a:tabLst>
                <a:tab pos="1497965" algn="l"/>
                <a:tab pos="149860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方便生成目标代码；</a:t>
            </a:r>
            <a:endParaRPr sz="3200">
              <a:latin typeface="宋体"/>
              <a:cs typeface="宋体"/>
            </a:endParaRPr>
          </a:p>
          <a:p>
            <a:pPr lvl="1" marL="1497965" indent="-610235">
              <a:lnSpc>
                <a:spcPct val="100000"/>
              </a:lnSpc>
              <a:spcBef>
                <a:spcPts val="2760"/>
              </a:spcBef>
              <a:buFont typeface="Times New Roman"/>
              <a:buAutoNum type="arabicPeriod"/>
              <a:tabLst>
                <a:tab pos="1497965" algn="l"/>
                <a:tab pos="1498600" algn="l"/>
              </a:tabLst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便于优化；</a:t>
            </a:r>
            <a:endParaRPr sz="3200">
              <a:latin typeface="宋体"/>
              <a:cs typeface="宋体"/>
            </a:endParaRPr>
          </a:p>
          <a:p>
            <a:pPr lvl="1" marL="1497965" indent="-610235">
              <a:lnSpc>
                <a:spcPct val="100000"/>
              </a:lnSpc>
              <a:spcBef>
                <a:spcPts val="2765"/>
              </a:spcBef>
              <a:buFont typeface="Times New Roman"/>
              <a:buAutoNum type="arabicPeriod"/>
              <a:tabLst>
                <a:tab pos="1497965" algn="l"/>
                <a:tab pos="149860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便于移植。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67309"/>
            <a:ext cx="7167880" cy="6057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第</a:t>
            </a:r>
            <a:r>
              <a:rPr dirty="0" sz="3800" spc="-975">
                <a:solidFill>
                  <a:srgbClr val="FFFF00"/>
                </a:solidFill>
                <a:latin typeface="黑体"/>
                <a:cs typeface="黑体"/>
              </a:rPr>
              <a:t> </a:t>
            </a:r>
            <a:r>
              <a:rPr dirty="0" sz="3800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r>
              <a:rPr dirty="0" sz="3800" spc="-25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章</a:t>
            </a:r>
            <a:r>
              <a:rPr dirty="0" sz="3800" spc="905">
                <a:solidFill>
                  <a:srgbClr val="FFFF00"/>
                </a:solidFill>
                <a:latin typeface="黑体"/>
                <a:cs typeface="黑体"/>
              </a:rPr>
              <a:t> </a:t>
            </a:r>
            <a:r>
              <a:rPr dirty="0" sz="3800" spc="5">
                <a:solidFill>
                  <a:srgbClr val="FFFF00"/>
                </a:solidFill>
                <a:latin typeface="黑体"/>
                <a:cs typeface="黑体"/>
              </a:rPr>
              <a:t>语义</a:t>
            </a:r>
            <a:r>
              <a:rPr dirty="0" sz="3800" spc="-5">
                <a:solidFill>
                  <a:srgbClr val="FFFF00"/>
                </a:solidFill>
                <a:latin typeface="黑体"/>
                <a:cs typeface="黑体"/>
              </a:rPr>
              <a:t>分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析</a:t>
            </a:r>
            <a:r>
              <a:rPr dirty="0" sz="3800" spc="-5">
                <a:solidFill>
                  <a:srgbClr val="FFFF00"/>
                </a:solidFill>
                <a:latin typeface="黑体"/>
                <a:cs typeface="黑体"/>
              </a:rPr>
              <a:t>与中间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代</a:t>
            </a:r>
            <a:r>
              <a:rPr dirty="0" sz="3800" spc="-5">
                <a:solidFill>
                  <a:srgbClr val="FFFF00"/>
                </a:solidFill>
                <a:latin typeface="黑体"/>
                <a:cs typeface="黑体"/>
              </a:rPr>
              <a:t>码生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成</a:t>
            </a:r>
            <a:endParaRPr sz="38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1148" y="1525117"/>
            <a:ext cx="6164580" cy="4534535"/>
          </a:xfrm>
          <a:prstGeom prst="rect">
            <a:avLst/>
          </a:prstGeom>
        </p:spPr>
        <p:txBody>
          <a:bodyPr wrap="square" lIns="0" tIns="232410" rIns="0" bIns="0" rtlCol="0" vert="horz">
            <a:spAutoFit/>
          </a:bodyPr>
          <a:lstStyle/>
          <a:p>
            <a:pPr lvl="1" marL="1251585" indent="-1227455">
              <a:lnSpc>
                <a:spcPct val="100000"/>
              </a:lnSpc>
              <a:spcBef>
                <a:spcPts val="1830"/>
              </a:spcBef>
              <a:buFont typeface="Times New Roman"/>
              <a:buAutoNum type="arabicPeriod"/>
              <a:tabLst>
                <a:tab pos="1251585" algn="l"/>
                <a:tab pos="1252220" algn="l"/>
              </a:tabLst>
            </a:pPr>
            <a:r>
              <a:rPr dirty="0" sz="3500" b="1">
                <a:solidFill>
                  <a:srgbClr val="FFFF66"/>
                </a:solidFill>
                <a:latin typeface="宋体"/>
                <a:cs typeface="宋体"/>
              </a:rPr>
              <a:t>语义分析综述</a:t>
            </a:r>
            <a:endParaRPr sz="3500">
              <a:latin typeface="宋体"/>
              <a:cs typeface="宋体"/>
            </a:endParaRPr>
          </a:p>
          <a:p>
            <a:pPr lvl="1" marL="1238885" indent="-1226820">
              <a:lnSpc>
                <a:spcPct val="100000"/>
              </a:lnSpc>
              <a:spcBef>
                <a:spcPts val="1730"/>
              </a:spcBef>
              <a:buFont typeface="Times New Roman"/>
              <a:buAutoNum type="arabicPeriod"/>
              <a:tabLst>
                <a:tab pos="1238885" algn="l"/>
                <a:tab pos="1239520" algn="l"/>
              </a:tabLst>
            </a:pP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语法制导翻译与属性文法</a:t>
            </a:r>
            <a:endParaRPr sz="3500">
              <a:latin typeface="宋体"/>
              <a:cs typeface="宋体"/>
            </a:endParaRPr>
          </a:p>
          <a:p>
            <a:pPr lvl="1" marL="1234440" indent="-1222375">
              <a:lnSpc>
                <a:spcPct val="100000"/>
              </a:lnSpc>
              <a:spcBef>
                <a:spcPts val="1680"/>
              </a:spcBef>
              <a:buFont typeface="Times New Roman"/>
              <a:buAutoNum type="arabicPeriod"/>
              <a:tabLst>
                <a:tab pos="1234440" algn="l"/>
                <a:tab pos="1235075" algn="l"/>
              </a:tabLst>
            </a:pP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中间语言</a:t>
            </a:r>
            <a:endParaRPr sz="3500">
              <a:latin typeface="宋体"/>
              <a:cs typeface="宋体"/>
            </a:endParaRPr>
          </a:p>
          <a:p>
            <a:pPr lvl="1" marL="1238885" indent="-1226820">
              <a:lnSpc>
                <a:spcPct val="100000"/>
              </a:lnSpc>
              <a:spcBef>
                <a:spcPts val="1680"/>
              </a:spcBef>
              <a:buFont typeface="Times New Roman"/>
              <a:buAutoNum type="arabicPeriod"/>
              <a:tabLst>
                <a:tab pos="1238885" algn="l"/>
                <a:tab pos="1239520" algn="l"/>
              </a:tabLst>
            </a:pP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符号表</a:t>
            </a:r>
            <a:endParaRPr sz="3500">
              <a:latin typeface="宋体"/>
              <a:cs typeface="宋体"/>
            </a:endParaRPr>
          </a:p>
          <a:p>
            <a:pPr lvl="1" marL="1238885" indent="-1226820">
              <a:lnSpc>
                <a:spcPct val="100000"/>
              </a:lnSpc>
              <a:spcBef>
                <a:spcPts val="1680"/>
              </a:spcBef>
              <a:buFont typeface="Times New Roman"/>
              <a:buAutoNum type="arabicPeriod"/>
              <a:tabLst>
                <a:tab pos="1238885" algn="l"/>
                <a:tab pos="1239520" algn="l"/>
              </a:tabLst>
            </a:pPr>
            <a:r>
              <a:rPr dirty="0" sz="3500" spc="-5" b="1">
                <a:solidFill>
                  <a:srgbClr val="FFFFFF"/>
                </a:solidFill>
                <a:latin typeface="宋体"/>
                <a:cs typeface="宋体"/>
              </a:rPr>
              <a:t>类型检</a:t>
            </a: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查</a:t>
            </a:r>
            <a:r>
              <a:rPr dirty="0" sz="3500" spc="-5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自</a:t>
            </a:r>
            <a:r>
              <a:rPr dirty="0" sz="3500" spc="-5" b="1">
                <a:solidFill>
                  <a:srgbClr val="FFFFFF"/>
                </a:solidFill>
                <a:latin typeface="宋体"/>
                <a:cs typeface="宋体"/>
              </a:rPr>
              <a:t>学</a:t>
            </a:r>
            <a:r>
              <a:rPr dirty="0" sz="3500" spc="-1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3500">
              <a:latin typeface="宋体"/>
              <a:cs typeface="宋体"/>
            </a:endParaRPr>
          </a:p>
          <a:p>
            <a:pPr lvl="1" marL="1238885" indent="-1226820">
              <a:lnSpc>
                <a:spcPct val="100000"/>
              </a:lnSpc>
              <a:spcBef>
                <a:spcPts val="1800"/>
              </a:spcBef>
              <a:buFont typeface="Times New Roman"/>
              <a:buAutoNum type="arabicPeriod"/>
              <a:tabLst>
                <a:tab pos="1238885" algn="l"/>
                <a:tab pos="1239520" algn="l"/>
              </a:tabLst>
            </a:pP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语句翻译与中间代码生成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9330" y="5045964"/>
            <a:ext cx="5980430" cy="91440"/>
          </a:xfrm>
          <a:custGeom>
            <a:avLst/>
            <a:gdLst/>
            <a:ahLst/>
            <a:cxnLst/>
            <a:rect l="l" t="t" r="r" b="b"/>
            <a:pathLst>
              <a:path w="5980430" h="91439">
                <a:moveTo>
                  <a:pt x="5980277" y="63500"/>
                </a:moveTo>
                <a:lnTo>
                  <a:pt x="165" y="78740"/>
                </a:lnTo>
                <a:lnTo>
                  <a:pt x="203" y="91440"/>
                </a:lnTo>
                <a:lnTo>
                  <a:pt x="5980404" y="76200"/>
                </a:lnTo>
                <a:lnTo>
                  <a:pt x="5980277" y="63500"/>
                </a:lnTo>
                <a:close/>
              </a:path>
              <a:path w="5980430" h="91439">
                <a:moveTo>
                  <a:pt x="5980277" y="25400"/>
                </a:moveTo>
                <a:lnTo>
                  <a:pt x="63" y="40640"/>
                </a:lnTo>
                <a:lnTo>
                  <a:pt x="139" y="66040"/>
                </a:lnTo>
                <a:lnTo>
                  <a:pt x="5980277" y="50800"/>
                </a:lnTo>
                <a:lnTo>
                  <a:pt x="5980277" y="25400"/>
                </a:lnTo>
                <a:close/>
              </a:path>
              <a:path w="5980430" h="91439">
                <a:moveTo>
                  <a:pt x="5980150" y="0"/>
                </a:moveTo>
                <a:lnTo>
                  <a:pt x="0" y="15240"/>
                </a:lnTo>
                <a:lnTo>
                  <a:pt x="38" y="27940"/>
                </a:lnTo>
                <a:lnTo>
                  <a:pt x="5980150" y="12700"/>
                </a:lnTo>
                <a:lnTo>
                  <a:pt x="59801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062216" y="2493264"/>
            <a:ext cx="1663064" cy="722630"/>
          </a:xfrm>
          <a:custGeom>
            <a:avLst/>
            <a:gdLst/>
            <a:ahLst/>
            <a:cxnLst/>
            <a:rect l="l" t="t" r="r" b="b"/>
            <a:pathLst>
              <a:path w="1663065" h="722630">
                <a:moveTo>
                  <a:pt x="415543" y="0"/>
                </a:moveTo>
                <a:lnTo>
                  <a:pt x="0" y="361188"/>
                </a:lnTo>
                <a:lnTo>
                  <a:pt x="415543" y="722376"/>
                </a:lnTo>
                <a:lnTo>
                  <a:pt x="415543" y="541782"/>
                </a:lnTo>
                <a:lnTo>
                  <a:pt x="1662683" y="541782"/>
                </a:lnTo>
                <a:lnTo>
                  <a:pt x="1662683" y="180594"/>
                </a:lnTo>
                <a:lnTo>
                  <a:pt x="415543" y="180594"/>
                </a:lnTo>
                <a:lnTo>
                  <a:pt x="415543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062216" y="2493264"/>
            <a:ext cx="1663064" cy="722630"/>
          </a:xfrm>
          <a:custGeom>
            <a:avLst/>
            <a:gdLst/>
            <a:ahLst/>
            <a:cxnLst/>
            <a:rect l="l" t="t" r="r" b="b"/>
            <a:pathLst>
              <a:path w="1663065" h="722630">
                <a:moveTo>
                  <a:pt x="0" y="361188"/>
                </a:moveTo>
                <a:lnTo>
                  <a:pt x="415543" y="0"/>
                </a:lnTo>
                <a:lnTo>
                  <a:pt x="415543" y="180594"/>
                </a:lnTo>
                <a:lnTo>
                  <a:pt x="1662683" y="180594"/>
                </a:lnTo>
                <a:lnTo>
                  <a:pt x="1662683" y="541782"/>
                </a:lnTo>
                <a:lnTo>
                  <a:pt x="415543" y="541782"/>
                </a:lnTo>
                <a:lnTo>
                  <a:pt x="415543" y="722376"/>
                </a:lnTo>
                <a:lnTo>
                  <a:pt x="0" y="361188"/>
                </a:lnTo>
                <a:close/>
              </a:path>
            </a:pathLst>
          </a:custGeom>
          <a:ln w="5715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215630" y="6697989"/>
            <a:ext cx="72707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fld>
            <a:r>
              <a:rPr dirty="0" sz="1400" spc="229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842" y="26923"/>
            <a:ext cx="8288655" cy="3310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23545">
              <a:lnSpc>
                <a:spcPct val="100000"/>
              </a:lnSpc>
              <a:spcBef>
                <a:spcPts val="100"/>
              </a:spcBef>
              <a:tabLst>
                <a:tab pos="1066800" algn="l"/>
                <a:tab pos="4704080" algn="l"/>
                <a:tab pos="527558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6.2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语法制导翻译与属性文法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200">
              <a:latin typeface="宋体"/>
              <a:cs typeface="宋体"/>
            </a:endParaRPr>
          </a:p>
          <a:p>
            <a:pPr marL="329565" indent="-317500">
              <a:lnSpc>
                <a:spcPct val="100000"/>
              </a:lnSpc>
              <a:spcBef>
                <a:spcPts val="1580"/>
              </a:spcBef>
              <a:buClr>
                <a:srgbClr val="66FFFF"/>
              </a:buClr>
              <a:buSzPct val="107352"/>
              <a:buFont typeface="Wingdings"/>
              <a:buChar char=""/>
              <a:tabLst>
                <a:tab pos="330200" algn="l"/>
              </a:tabLst>
            </a:pPr>
            <a:r>
              <a:rPr dirty="0" sz="3400" spc="-10" b="1">
                <a:solidFill>
                  <a:srgbClr val="FFFF00"/>
                </a:solidFill>
                <a:latin typeface="宋体"/>
                <a:cs typeface="宋体"/>
              </a:rPr>
              <a:t>语法制导翻译</a:t>
            </a:r>
            <a:endParaRPr sz="3400">
              <a:latin typeface="宋体"/>
              <a:cs typeface="宋体"/>
            </a:endParaRPr>
          </a:p>
          <a:p>
            <a:pPr algn="just" marL="12700" marR="5080" indent="913765">
              <a:lnSpc>
                <a:spcPct val="130000"/>
              </a:lnSpc>
              <a:spcBef>
                <a:spcPts val="1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为文法的每一个产生式配一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相应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语义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子程序（或语义规则描述的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义动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作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），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并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在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语法分析的同时调用它。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15630" y="6697989"/>
            <a:ext cx="72707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fld>
            <a:r>
              <a:rPr dirty="0" sz="1400" spc="229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59885" y="3626942"/>
            <a:ext cx="3589654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 i="1">
                <a:solidFill>
                  <a:srgbClr val="00FFFF"/>
                </a:solidFill>
                <a:latin typeface="Times New Roman"/>
                <a:cs typeface="Times New Roman"/>
              </a:rPr>
              <a:t>A </a:t>
            </a:r>
            <a:r>
              <a:rPr dirty="0" sz="3600" b="1">
                <a:solidFill>
                  <a:srgbClr val="00FFFF"/>
                </a:solidFill>
                <a:latin typeface="Times New Roman"/>
                <a:cs typeface="Times New Roman"/>
              </a:rPr>
              <a:t>= </a:t>
            </a:r>
            <a:r>
              <a:rPr dirty="0" sz="3600" spc="-15" b="1">
                <a:solidFill>
                  <a:srgbClr val="00FFFF"/>
                </a:solidFill>
                <a:latin typeface="宋体"/>
                <a:cs typeface="宋体"/>
              </a:rPr>
              <a:t>（</a:t>
            </a:r>
            <a:r>
              <a:rPr dirty="0" sz="3600" spc="-1025" b="1">
                <a:solidFill>
                  <a:srgbClr val="00FFFF"/>
                </a:solidFill>
                <a:latin typeface="宋体"/>
                <a:cs typeface="宋体"/>
              </a:rPr>
              <a:t> </a:t>
            </a:r>
            <a:r>
              <a:rPr dirty="0" sz="3600" b="1" i="1">
                <a:solidFill>
                  <a:srgbClr val="00FFFF"/>
                </a:solidFill>
                <a:latin typeface="Times New Roman"/>
                <a:cs typeface="Times New Roman"/>
              </a:rPr>
              <a:t>G </a:t>
            </a:r>
            <a:r>
              <a:rPr dirty="0" sz="3600" b="1">
                <a:solidFill>
                  <a:srgbClr val="00FFFF"/>
                </a:solidFill>
                <a:latin typeface="Times New Roman"/>
                <a:cs typeface="Times New Roman"/>
              </a:rPr>
              <a:t>, </a:t>
            </a:r>
            <a:r>
              <a:rPr dirty="0" sz="3600" b="1" i="1">
                <a:solidFill>
                  <a:srgbClr val="00FFFF"/>
                </a:solidFill>
                <a:latin typeface="Times New Roman"/>
                <a:cs typeface="Times New Roman"/>
              </a:rPr>
              <a:t>V </a:t>
            </a:r>
            <a:r>
              <a:rPr dirty="0" sz="3600" b="1">
                <a:solidFill>
                  <a:srgbClr val="00FFFF"/>
                </a:solidFill>
                <a:latin typeface="Times New Roman"/>
                <a:cs typeface="Times New Roman"/>
              </a:rPr>
              <a:t>, </a:t>
            </a:r>
            <a:r>
              <a:rPr dirty="0" sz="3600" b="1" i="1">
                <a:solidFill>
                  <a:srgbClr val="00FFFF"/>
                </a:solidFill>
                <a:latin typeface="Times New Roman"/>
                <a:cs typeface="Times New Roman"/>
              </a:rPr>
              <a:t>F </a:t>
            </a:r>
            <a:r>
              <a:rPr dirty="0" sz="3600" spc="-15" b="1">
                <a:solidFill>
                  <a:srgbClr val="00FFFF"/>
                </a:solidFill>
                <a:latin typeface="宋体"/>
                <a:cs typeface="宋体"/>
              </a:rPr>
              <a:t>）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3242" y="3427791"/>
            <a:ext cx="7124700" cy="3056890"/>
          </a:xfrm>
          <a:prstGeom prst="rect">
            <a:avLst/>
          </a:prstGeom>
        </p:spPr>
        <p:txBody>
          <a:bodyPr wrap="square" lIns="0" tIns="262890" rIns="0" bIns="0" rtlCol="0" vert="horz">
            <a:spAutoFit/>
          </a:bodyPr>
          <a:lstStyle/>
          <a:p>
            <a:pPr marL="429895" indent="-417830">
              <a:lnSpc>
                <a:spcPct val="100000"/>
              </a:lnSpc>
              <a:spcBef>
                <a:spcPts val="2070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429895" algn="l"/>
                <a:tab pos="43053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形式定义</a:t>
            </a:r>
            <a:endParaRPr sz="3200">
              <a:latin typeface="宋体"/>
              <a:cs typeface="宋体"/>
            </a:endParaRPr>
          </a:p>
          <a:p>
            <a:pPr marL="481965">
              <a:lnSpc>
                <a:spcPct val="100000"/>
              </a:lnSpc>
              <a:spcBef>
                <a:spcPts val="171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其中：</a:t>
            </a:r>
            <a:endParaRPr sz="2800">
              <a:latin typeface="宋体"/>
              <a:cs typeface="宋体"/>
            </a:endParaRPr>
          </a:p>
          <a:p>
            <a:pPr marL="1078865">
              <a:lnSpc>
                <a:spcPct val="100000"/>
              </a:lnSpc>
              <a:spcBef>
                <a:spcPts val="885"/>
              </a:spcBef>
            </a:pP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-7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一般为二型文法；</a:t>
            </a:r>
            <a:endParaRPr sz="2800">
              <a:latin typeface="宋体"/>
              <a:cs typeface="宋体"/>
            </a:endParaRPr>
          </a:p>
          <a:p>
            <a:pPr marL="1078865">
              <a:lnSpc>
                <a:spcPct val="100000"/>
              </a:lnSpc>
              <a:spcBef>
                <a:spcPts val="1015"/>
              </a:spcBef>
            </a:pP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-7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属性的有穷集；</a:t>
            </a:r>
            <a:endParaRPr sz="2800">
              <a:latin typeface="宋体"/>
              <a:cs typeface="宋体"/>
            </a:endParaRPr>
          </a:p>
          <a:p>
            <a:pPr marL="1078865">
              <a:lnSpc>
                <a:spcPct val="100000"/>
              </a:lnSpc>
              <a:spcBef>
                <a:spcPts val="1005"/>
              </a:spcBef>
            </a:pP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-77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关于属性的断言或谓词的有穷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35073" y="2498598"/>
            <a:ext cx="1409700" cy="0"/>
          </a:xfrm>
          <a:custGeom>
            <a:avLst/>
            <a:gdLst/>
            <a:ahLst/>
            <a:cxnLst/>
            <a:rect l="l" t="t" r="r" b="b"/>
            <a:pathLst>
              <a:path w="1409700" h="0">
                <a:moveTo>
                  <a:pt x="0" y="0"/>
                </a:moveTo>
                <a:lnTo>
                  <a:pt x="1409700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55142" y="0"/>
            <a:ext cx="8188325" cy="3486150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marL="309245">
              <a:lnSpc>
                <a:spcPct val="100000"/>
              </a:lnSpc>
              <a:spcBef>
                <a:spcPts val="1195"/>
              </a:spcBef>
              <a:tabLst>
                <a:tab pos="952500" algn="l"/>
                <a:tab pos="4589780" algn="l"/>
                <a:tab pos="516128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6.2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语法制导翻译与属性文法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50">
              <a:latin typeface="宋体"/>
              <a:cs typeface="宋体"/>
            </a:endParaRPr>
          </a:p>
          <a:p>
            <a:pPr marL="329565" indent="-317500">
              <a:lnSpc>
                <a:spcPct val="100000"/>
              </a:lnSpc>
              <a:buClr>
                <a:srgbClr val="66FFFF"/>
              </a:buClr>
              <a:buSzPct val="114062"/>
              <a:buFont typeface="Wingdings"/>
              <a:buChar char=""/>
              <a:tabLst>
                <a:tab pos="33020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属性翻译文法</a:t>
            </a:r>
            <a:endParaRPr sz="3200">
              <a:latin typeface="宋体"/>
              <a:cs typeface="宋体"/>
            </a:endParaRPr>
          </a:p>
          <a:p>
            <a:pPr marL="12700" marR="5080" indent="812165">
              <a:lnSpc>
                <a:spcPct val="130000"/>
              </a:lnSpc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把语义引入文法，给产生式中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文法符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号附加“属性”，构成涉及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义的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翻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译文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750">
              <a:latin typeface="宋体"/>
              <a:cs typeface="宋体"/>
            </a:endParaRPr>
          </a:p>
          <a:p>
            <a:pPr marL="221615">
              <a:lnSpc>
                <a:spcPct val="100000"/>
              </a:lnSpc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文法符号的语义性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质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语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义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属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性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52066" y="2529014"/>
            <a:ext cx="882395" cy="2865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052066" y="2573782"/>
            <a:ext cx="882650" cy="241935"/>
          </a:xfrm>
          <a:custGeom>
            <a:avLst/>
            <a:gdLst/>
            <a:ahLst/>
            <a:cxnLst/>
            <a:rect l="l" t="t" r="r" b="b"/>
            <a:pathLst>
              <a:path w="882650" h="241935">
                <a:moveTo>
                  <a:pt x="882395" y="170179"/>
                </a:moveTo>
                <a:lnTo>
                  <a:pt x="661796" y="170179"/>
                </a:lnTo>
                <a:lnTo>
                  <a:pt x="661796" y="0"/>
                </a:lnTo>
                <a:lnTo>
                  <a:pt x="220598" y="0"/>
                </a:lnTo>
                <a:lnTo>
                  <a:pt x="220598" y="170179"/>
                </a:lnTo>
                <a:lnTo>
                  <a:pt x="0" y="170179"/>
                </a:lnTo>
                <a:lnTo>
                  <a:pt x="441197" y="241807"/>
                </a:lnTo>
                <a:lnTo>
                  <a:pt x="882395" y="17017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253614" y="2527935"/>
            <a:ext cx="479425" cy="56515"/>
          </a:xfrm>
          <a:custGeom>
            <a:avLst/>
            <a:gdLst/>
            <a:ahLst/>
            <a:cxnLst/>
            <a:rect l="l" t="t" r="r" b="b"/>
            <a:pathLst>
              <a:path w="479425" h="56514">
                <a:moveTo>
                  <a:pt x="0" y="56007"/>
                </a:moveTo>
                <a:lnTo>
                  <a:pt x="479298" y="56007"/>
                </a:lnTo>
                <a:lnTo>
                  <a:pt x="479298" y="0"/>
                </a:lnTo>
                <a:lnTo>
                  <a:pt x="0" y="0"/>
                </a:lnTo>
                <a:lnTo>
                  <a:pt x="0" y="5600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253614" y="2509964"/>
            <a:ext cx="479425" cy="47625"/>
          </a:xfrm>
          <a:custGeom>
            <a:avLst/>
            <a:gdLst/>
            <a:ahLst/>
            <a:cxnLst/>
            <a:rect l="l" t="t" r="r" b="b"/>
            <a:pathLst>
              <a:path w="479425" h="47625">
                <a:moveTo>
                  <a:pt x="0" y="47053"/>
                </a:moveTo>
                <a:lnTo>
                  <a:pt x="479298" y="47053"/>
                </a:lnTo>
                <a:lnTo>
                  <a:pt x="479298" y="0"/>
                </a:lnTo>
                <a:lnTo>
                  <a:pt x="0" y="0"/>
                </a:lnTo>
                <a:lnTo>
                  <a:pt x="0" y="4705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215630" y="6697989"/>
            <a:ext cx="72707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fld>
            <a:r>
              <a:rPr dirty="0" sz="1400" spc="229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52322" y="26923"/>
            <a:ext cx="769365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  <a:tab pos="4292600" algn="l"/>
                <a:tab pos="48641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语法制导翻译与属性文法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7840" y="717651"/>
            <a:ext cx="1977389" cy="1285240"/>
          </a:xfrm>
          <a:prstGeom prst="rect">
            <a:avLst/>
          </a:prstGeom>
        </p:spPr>
        <p:txBody>
          <a:bodyPr wrap="square" lIns="0" tIns="154305" rIns="0" bIns="0" rtlCol="0" vert="horz">
            <a:spAutoFit/>
          </a:bodyPr>
          <a:lstStyle/>
          <a:p>
            <a:pPr marL="329565" indent="-317500">
              <a:lnSpc>
                <a:spcPct val="100000"/>
              </a:lnSpc>
              <a:spcBef>
                <a:spcPts val="1215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33020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属性表示</a:t>
            </a:r>
            <a:endParaRPr sz="3200">
              <a:latin typeface="宋体"/>
              <a:cs typeface="宋体"/>
            </a:endParaRPr>
          </a:p>
          <a:p>
            <a:pPr marL="1029335">
              <a:lnSpc>
                <a:spcPct val="100000"/>
              </a:lnSpc>
              <a:spcBef>
                <a:spcPts val="1120"/>
              </a:spcBef>
            </a:pP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N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.</a:t>
            </a:r>
            <a:r>
              <a:rPr dirty="0" sz="3200" spc="-6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53866" y="2110486"/>
            <a:ext cx="44811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（终结符的属性均为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lexval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508760" y="2592323"/>
          <a:ext cx="6127750" cy="3706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3905"/>
                <a:gridCol w="4036695"/>
              </a:tblGrid>
              <a:tr h="795527">
                <a:tc>
                  <a:txBody>
                    <a:bodyPr/>
                    <a:lstStyle/>
                    <a:p>
                      <a:pPr marL="393700">
                        <a:lnSpc>
                          <a:spcPct val="100000"/>
                        </a:lnSpc>
                        <a:spcBef>
                          <a:spcPts val="2095"/>
                        </a:spcBef>
                      </a:pPr>
                      <a:r>
                        <a:rPr dirty="0" sz="2800" spc="-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产</a:t>
                      </a:r>
                      <a:r>
                        <a:rPr dirty="0" sz="2800" spc="-7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800" spc="-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生</a:t>
                      </a:r>
                      <a:r>
                        <a:rPr dirty="0" sz="2800" spc="-72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800" spc="-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式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266065">
                    <a:lnL w="381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5220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dirty="0" sz="2800" spc="-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语</a:t>
                      </a:r>
                      <a:r>
                        <a:rPr dirty="0" sz="2800" spc="-70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800" spc="-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义</a:t>
                      </a:r>
                      <a:r>
                        <a:rPr dirty="0" sz="2800" spc="-7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800" spc="-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规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800" spc="-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则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21209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2872740">
                <a:tc>
                  <a:txBody>
                    <a:bodyPr/>
                    <a:lstStyle/>
                    <a:p>
                      <a:pPr marL="22479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400" spc="-1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224790">
                        <a:lnSpc>
                          <a:spcPct val="100000"/>
                        </a:lnSpc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 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2400" spc="-6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224790">
                        <a:lnSpc>
                          <a:spcPct val="100000"/>
                        </a:lnSpc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4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224790">
                        <a:lnSpc>
                          <a:spcPct val="100000"/>
                        </a:lnSpc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 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dirty="0" sz="2400" spc="-6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224790" marR="738505">
                        <a:lnSpc>
                          <a:spcPct val="100000"/>
                        </a:lnSpc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 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  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400" spc="-13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224790">
                        <a:lnSpc>
                          <a:spcPct val="100000"/>
                        </a:lnSpc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2400" spc="-3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digit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3025">
                    <a:lnL w="381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print( 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val</a:t>
                      </a:r>
                      <a:r>
                        <a:rPr dirty="0" sz="2400" spc="-1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222250">
                        <a:lnSpc>
                          <a:spcPct val="100000"/>
                        </a:lnSpc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val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 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baseline="-20833" sz="2400" spc="-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val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 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2400" spc="-254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val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222250">
                        <a:lnSpc>
                          <a:spcPct val="100000"/>
                        </a:lnSpc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val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 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2400" spc="-3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val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222250">
                        <a:lnSpc>
                          <a:spcPts val="2865"/>
                        </a:lnSpc>
                        <a:spcBef>
                          <a:spcPts val="35"/>
                        </a:spcBef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val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 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baseline="-20833" sz="2400" spc="-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 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val 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×</a:t>
                      </a:r>
                      <a:r>
                        <a:rPr dirty="0" sz="2400" spc="-844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 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.val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222250">
                        <a:lnSpc>
                          <a:spcPts val="2865"/>
                        </a:lnSpc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.val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 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dirty="0" sz="2400" spc="-12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val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222250">
                        <a:lnSpc>
                          <a:spcPct val="100000"/>
                        </a:lnSpc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val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 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400" spc="-12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val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222250">
                        <a:lnSpc>
                          <a:spcPct val="100000"/>
                        </a:lnSpc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val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 digit</a:t>
                      </a:r>
                      <a:r>
                        <a:rPr dirty="0" sz="2400" spc="-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lexval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3025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1981961" y="1506474"/>
            <a:ext cx="515620" cy="547370"/>
          </a:xfrm>
          <a:custGeom>
            <a:avLst/>
            <a:gdLst/>
            <a:ahLst/>
            <a:cxnLst/>
            <a:rect l="l" t="t" r="r" b="b"/>
            <a:pathLst>
              <a:path w="515619" h="547369">
                <a:moveTo>
                  <a:pt x="0" y="273558"/>
                </a:moveTo>
                <a:lnTo>
                  <a:pt x="4149" y="224372"/>
                </a:lnTo>
                <a:lnTo>
                  <a:pt x="16113" y="178085"/>
                </a:lnTo>
                <a:lnTo>
                  <a:pt x="35164" y="135466"/>
                </a:lnTo>
                <a:lnTo>
                  <a:pt x="60575" y="97288"/>
                </a:lnTo>
                <a:lnTo>
                  <a:pt x="91617" y="64321"/>
                </a:lnTo>
                <a:lnTo>
                  <a:pt x="127564" y="37337"/>
                </a:lnTo>
                <a:lnTo>
                  <a:pt x="167688" y="17108"/>
                </a:lnTo>
                <a:lnTo>
                  <a:pt x="211261" y="4405"/>
                </a:lnTo>
                <a:lnTo>
                  <a:pt x="257556" y="0"/>
                </a:lnTo>
                <a:lnTo>
                  <a:pt x="303850" y="4405"/>
                </a:lnTo>
                <a:lnTo>
                  <a:pt x="347423" y="17108"/>
                </a:lnTo>
                <a:lnTo>
                  <a:pt x="387547" y="37337"/>
                </a:lnTo>
                <a:lnTo>
                  <a:pt x="423494" y="64321"/>
                </a:lnTo>
                <a:lnTo>
                  <a:pt x="454536" y="97288"/>
                </a:lnTo>
                <a:lnTo>
                  <a:pt x="479947" y="135466"/>
                </a:lnTo>
                <a:lnTo>
                  <a:pt x="498998" y="178085"/>
                </a:lnTo>
                <a:lnTo>
                  <a:pt x="510962" y="224372"/>
                </a:lnTo>
                <a:lnTo>
                  <a:pt x="515112" y="273558"/>
                </a:lnTo>
                <a:lnTo>
                  <a:pt x="510962" y="322743"/>
                </a:lnTo>
                <a:lnTo>
                  <a:pt x="498998" y="369030"/>
                </a:lnTo>
                <a:lnTo>
                  <a:pt x="479947" y="411649"/>
                </a:lnTo>
                <a:lnTo>
                  <a:pt x="454536" y="449827"/>
                </a:lnTo>
                <a:lnTo>
                  <a:pt x="423494" y="482794"/>
                </a:lnTo>
                <a:lnTo>
                  <a:pt x="387547" y="509777"/>
                </a:lnTo>
                <a:lnTo>
                  <a:pt x="347423" y="530007"/>
                </a:lnTo>
                <a:lnTo>
                  <a:pt x="303850" y="542710"/>
                </a:lnTo>
                <a:lnTo>
                  <a:pt x="257556" y="547115"/>
                </a:lnTo>
                <a:lnTo>
                  <a:pt x="211261" y="542710"/>
                </a:lnTo>
                <a:lnTo>
                  <a:pt x="167688" y="530007"/>
                </a:lnTo>
                <a:lnTo>
                  <a:pt x="127564" y="509777"/>
                </a:lnTo>
                <a:lnTo>
                  <a:pt x="91617" y="482794"/>
                </a:lnTo>
                <a:lnTo>
                  <a:pt x="60575" y="449827"/>
                </a:lnTo>
                <a:lnTo>
                  <a:pt x="35164" y="411649"/>
                </a:lnTo>
                <a:lnTo>
                  <a:pt x="16113" y="369030"/>
                </a:lnTo>
                <a:lnTo>
                  <a:pt x="4149" y="322743"/>
                </a:lnTo>
                <a:lnTo>
                  <a:pt x="0" y="27355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415539" y="1235075"/>
            <a:ext cx="1183640" cy="384175"/>
          </a:xfrm>
          <a:custGeom>
            <a:avLst/>
            <a:gdLst/>
            <a:ahLst/>
            <a:cxnLst/>
            <a:rect l="l" t="t" r="r" b="b"/>
            <a:pathLst>
              <a:path w="1183639" h="384175">
                <a:moveTo>
                  <a:pt x="1068343" y="36685"/>
                </a:moveTo>
                <a:lnTo>
                  <a:pt x="0" y="347599"/>
                </a:lnTo>
                <a:lnTo>
                  <a:pt x="10668" y="384175"/>
                </a:lnTo>
                <a:lnTo>
                  <a:pt x="1079000" y="73264"/>
                </a:lnTo>
                <a:lnTo>
                  <a:pt x="1068343" y="36685"/>
                </a:lnTo>
                <a:close/>
              </a:path>
              <a:path w="1183639" h="384175">
                <a:moveTo>
                  <a:pt x="1174342" y="31369"/>
                </a:moveTo>
                <a:lnTo>
                  <a:pt x="1086612" y="31369"/>
                </a:lnTo>
                <a:lnTo>
                  <a:pt x="1097280" y="67945"/>
                </a:lnTo>
                <a:lnTo>
                  <a:pt x="1079000" y="73264"/>
                </a:lnTo>
                <a:lnTo>
                  <a:pt x="1089660" y="109854"/>
                </a:lnTo>
                <a:lnTo>
                  <a:pt x="1174342" y="31369"/>
                </a:lnTo>
                <a:close/>
              </a:path>
              <a:path w="1183639" h="384175">
                <a:moveTo>
                  <a:pt x="1086612" y="31369"/>
                </a:moveTo>
                <a:lnTo>
                  <a:pt x="1068343" y="36685"/>
                </a:lnTo>
                <a:lnTo>
                  <a:pt x="1079000" y="73264"/>
                </a:lnTo>
                <a:lnTo>
                  <a:pt x="1097280" y="67945"/>
                </a:lnTo>
                <a:lnTo>
                  <a:pt x="1086612" y="31369"/>
                </a:lnTo>
                <a:close/>
              </a:path>
              <a:path w="1183639" h="384175">
                <a:moveTo>
                  <a:pt x="1057656" y="0"/>
                </a:moveTo>
                <a:lnTo>
                  <a:pt x="1068343" y="36685"/>
                </a:lnTo>
                <a:lnTo>
                  <a:pt x="1086612" y="31369"/>
                </a:lnTo>
                <a:lnTo>
                  <a:pt x="1174342" y="31369"/>
                </a:lnTo>
                <a:lnTo>
                  <a:pt x="1183386" y="22987"/>
                </a:lnTo>
                <a:lnTo>
                  <a:pt x="105765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343783" y="631088"/>
            <a:ext cx="5351780" cy="1361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334010">
              <a:lnSpc>
                <a:spcPct val="156500"/>
              </a:lnSpc>
              <a:spcBef>
                <a:spcPts val="100"/>
              </a:spcBef>
            </a:pPr>
            <a:r>
              <a:rPr dirty="0" sz="2800" spc="-5">
                <a:solidFill>
                  <a:srgbClr val="FFFF00"/>
                </a:solidFill>
              </a:rPr>
              <a:t>数、符号串、类型、存储空</a:t>
            </a:r>
            <a:r>
              <a:rPr dirty="0" sz="2800">
                <a:solidFill>
                  <a:srgbClr val="FFFF00"/>
                </a:solidFill>
              </a:rPr>
              <a:t>间</a:t>
            </a:r>
            <a:r>
              <a:rPr dirty="0" sz="2800" spc="-5">
                <a:solidFill>
                  <a:srgbClr val="FFFF00"/>
                </a:solidFill>
                <a:latin typeface="Times New Roman"/>
                <a:cs typeface="Times New Roman"/>
              </a:rPr>
              <a:t>…  </a:t>
            </a: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5">
                <a:solidFill>
                  <a:srgbClr val="FFFFFF"/>
                </a:solidFill>
              </a:rPr>
              <a:t>是文法符号，</a:t>
            </a:r>
            <a:r>
              <a:rPr dirty="0" sz="2800" spc="-5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>
                <a:solidFill>
                  <a:srgbClr val="FFFFFF"/>
                </a:solidFill>
              </a:rPr>
              <a:t>是</a:t>
            </a:r>
            <a:r>
              <a:rPr dirty="0" sz="2800" spc="-5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5">
                <a:solidFill>
                  <a:srgbClr val="FFFFFF"/>
                </a:solidFill>
              </a:rPr>
              <a:t>的属性</a:t>
            </a: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15630" y="6697989"/>
            <a:ext cx="72707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fld>
            <a:r>
              <a:rPr dirty="0" sz="1400" spc="229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2322" y="26923"/>
            <a:ext cx="3484879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dirty="0" sz="2000" spc="5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>
                <a:solidFill>
                  <a:srgbClr val="A15100"/>
                </a:solidFill>
              </a:rPr>
              <a:t>语义分析与中间代码生成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15630" y="6697989"/>
            <a:ext cx="72707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fld>
            <a:r>
              <a:rPr dirty="0" sz="1400" spc="229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32323" y="26923"/>
            <a:ext cx="34137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3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6.2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语法制导翻译与属性文法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837424"/>
            <a:ext cx="7986395" cy="1971039"/>
          </a:xfrm>
          <a:prstGeom prst="rect">
            <a:avLst/>
          </a:prstGeom>
        </p:spPr>
        <p:txBody>
          <a:bodyPr wrap="square" lIns="0" tIns="180975" rIns="0" bIns="0" rtlCol="0" vert="horz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1425"/>
              </a:spcBef>
              <a:buClr>
                <a:srgbClr val="66FFFF"/>
              </a:buClr>
              <a:buSzPct val="109375"/>
              <a:buFont typeface="Wingdings"/>
              <a:buChar char=""/>
              <a:tabLst>
                <a:tab pos="31940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综合属性</a:t>
            </a:r>
            <a:endParaRPr sz="3200">
              <a:latin typeface="宋体"/>
              <a:cs typeface="宋体"/>
            </a:endParaRPr>
          </a:p>
          <a:p>
            <a:pPr marL="12700" marR="5080" indent="819785">
              <a:lnSpc>
                <a:spcPct val="130000"/>
              </a:lnSpc>
              <a:spcBef>
                <a:spcPts val="17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分析树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如果一个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结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点的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属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性值是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通过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子结点的属性值计算得</a:t>
            </a:r>
            <a:r>
              <a:rPr dirty="0" sz="3200" spc="-20" b="1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,则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称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为综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合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属性。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2322" y="26923"/>
            <a:ext cx="348487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32323" y="26923"/>
            <a:ext cx="34137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3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6.2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语法制导翻译与属性文法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392" y="330708"/>
            <a:ext cx="3896995" cy="2484120"/>
          </a:xfrm>
          <a:custGeom>
            <a:avLst/>
            <a:gdLst/>
            <a:ahLst/>
            <a:cxnLst/>
            <a:rect l="l" t="t" r="r" b="b"/>
            <a:pathLst>
              <a:path w="3896995" h="2484120">
                <a:moveTo>
                  <a:pt x="0" y="2484120"/>
                </a:moveTo>
                <a:lnTo>
                  <a:pt x="3896867" y="2484120"/>
                </a:lnTo>
                <a:lnTo>
                  <a:pt x="3896867" y="0"/>
                </a:lnTo>
                <a:lnTo>
                  <a:pt x="0" y="0"/>
                </a:lnTo>
                <a:lnTo>
                  <a:pt x="0" y="2484120"/>
                </a:lnTo>
                <a:close/>
              </a:path>
            </a:pathLst>
          </a:custGeom>
          <a:solidFill>
            <a:srgbClr val="A737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0292" y="2846070"/>
            <a:ext cx="3973195" cy="0"/>
          </a:xfrm>
          <a:custGeom>
            <a:avLst/>
            <a:gdLst/>
            <a:ahLst/>
            <a:cxnLst/>
            <a:rect l="l" t="t" r="r" b="b"/>
            <a:pathLst>
              <a:path w="3973195" h="0">
                <a:moveTo>
                  <a:pt x="0" y="0"/>
                </a:moveTo>
                <a:lnTo>
                  <a:pt x="3973068" y="0"/>
                </a:lnTo>
              </a:path>
            </a:pathLst>
          </a:custGeom>
          <a:ln w="127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642" y="304800"/>
            <a:ext cx="0" cy="2534920"/>
          </a:xfrm>
          <a:custGeom>
            <a:avLst/>
            <a:gdLst/>
            <a:ahLst/>
            <a:cxnLst/>
            <a:rect l="l" t="t" r="r" b="b"/>
            <a:pathLst>
              <a:path w="0" h="2534920">
                <a:moveTo>
                  <a:pt x="0" y="0"/>
                </a:moveTo>
                <a:lnTo>
                  <a:pt x="0" y="2534919"/>
                </a:lnTo>
              </a:path>
            </a:pathLst>
          </a:custGeom>
          <a:ln w="127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0292" y="298450"/>
            <a:ext cx="3973195" cy="0"/>
          </a:xfrm>
          <a:custGeom>
            <a:avLst/>
            <a:gdLst/>
            <a:ahLst/>
            <a:cxnLst/>
            <a:rect l="l" t="t" r="r" b="b"/>
            <a:pathLst>
              <a:path w="3973195" h="0">
                <a:moveTo>
                  <a:pt x="0" y="0"/>
                </a:moveTo>
                <a:lnTo>
                  <a:pt x="3973068" y="0"/>
                </a:lnTo>
              </a:path>
            </a:pathLst>
          </a:custGeom>
          <a:ln w="127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017009" y="305308"/>
            <a:ext cx="0" cy="2534920"/>
          </a:xfrm>
          <a:custGeom>
            <a:avLst/>
            <a:gdLst/>
            <a:ahLst/>
            <a:cxnLst/>
            <a:rect l="l" t="t" r="r" b="b"/>
            <a:pathLst>
              <a:path w="0" h="2534920">
                <a:moveTo>
                  <a:pt x="0" y="0"/>
                </a:moveTo>
                <a:lnTo>
                  <a:pt x="0" y="2534920"/>
                </a:lnTo>
              </a:path>
            </a:pathLst>
          </a:custGeom>
          <a:ln w="127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5692" y="2814320"/>
            <a:ext cx="3922395" cy="0"/>
          </a:xfrm>
          <a:custGeom>
            <a:avLst/>
            <a:gdLst/>
            <a:ahLst/>
            <a:cxnLst/>
            <a:rect l="l" t="t" r="r" b="b"/>
            <a:pathLst>
              <a:path w="3922395" h="0">
                <a:moveTo>
                  <a:pt x="0" y="0"/>
                </a:moveTo>
                <a:lnTo>
                  <a:pt x="3922268" y="0"/>
                </a:lnTo>
              </a:path>
            </a:pathLst>
          </a:custGeom>
          <a:ln w="254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8392" y="342900"/>
            <a:ext cx="0" cy="2458720"/>
          </a:xfrm>
          <a:custGeom>
            <a:avLst/>
            <a:gdLst/>
            <a:ahLst/>
            <a:cxnLst/>
            <a:rect l="l" t="t" r="r" b="b"/>
            <a:pathLst>
              <a:path w="0" h="2458720">
                <a:moveTo>
                  <a:pt x="0" y="0"/>
                </a:moveTo>
                <a:lnTo>
                  <a:pt x="0" y="2458719"/>
                </a:lnTo>
              </a:path>
            </a:pathLst>
          </a:custGeom>
          <a:ln w="254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5692" y="330200"/>
            <a:ext cx="3922395" cy="0"/>
          </a:xfrm>
          <a:custGeom>
            <a:avLst/>
            <a:gdLst/>
            <a:ahLst/>
            <a:cxnLst/>
            <a:rect l="l" t="t" r="r" b="b"/>
            <a:pathLst>
              <a:path w="3922395" h="0">
                <a:moveTo>
                  <a:pt x="0" y="0"/>
                </a:moveTo>
                <a:lnTo>
                  <a:pt x="3922268" y="0"/>
                </a:lnTo>
              </a:path>
            </a:pathLst>
          </a:custGeom>
          <a:ln w="254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985259" y="343408"/>
            <a:ext cx="0" cy="2458720"/>
          </a:xfrm>
          <a:custGeom>
            <a:avLst/>
            <a:gdLst/>
            <a:ahLst/>
            <a:cxnLst/>
            <a:rect l="l" t="t" r="r" b="b"/>
            <a:pathLst>
              <a:path w="0" h="2458720">
                <a:moveTo>
                  <a:pt x="0" y="0"/>
                </a:moveTo>
                <a:lnTo>
                  <a:pt x="0" y="2458720"/>
                </a:lnTo>
              </a:path>
            </a:pathLst>
          </a:custGeom>
          <a:ln w="254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13792" y="2782570"/>
            <a:ext cx="3846195" cy="0"/>
          </a:xfrm>
          <a:custGeom>
            <a:avLst/>
            <a:gdLst/>
            <a:ahLst/>
            <a:cxnLst/>
            <a:rect l="l" t="t" r="r" b="b"/>
            <a:pathLst>
              <a:path w="3846195" h="0">
                <a:moveTo>
                  <a:pt x="0" y="0"/>
                </a:moveTo>
                <a:lnTo>
                  <a:pt x="3846068" y="0"/>
                </a:lnTo>
              </a:path>
            </a:pathLst>
          </a:custGeom>
          <a:ln w="127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20142" y="368300"/>
            <a:ext cx="0" cy="2407920"/>
          </a:xfrm>
          <a:custGeom>
            <a:avLst/>
            <a:gdLst/>
            <a:ahLst/>
            <a:cxnLst/>
            <a:rect l="l" t="t" r="r" b="b"/>
            <a:pathLst>
              <a:path w="0" h="2407920">
                <a:moveTo>
                  <a:pt x="0" y="0"/>
                </a:moveTo>
                <a:lnTo>
                  <a:pt x="0" y="2407919"/>
                </a:lnTo>
              </a:path>
            </a:pathLst>
          </a:custGeom>
          <a:ln w="127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13792" y="361950"/>
            <a:ext cx="3846195" cy="0"/>
          </a:xfrm>
          <a:custGeom>
            <a:avLst/>
            <a:gdLst/>
            <a:ahLst/>
            <a:cxnLst/>
            <a:rect l="l" t="t" r="r" b="b"/>
            <a:pathLst>
              <a:path w="3846195" h="0">
                <a:moveTo>
                  <a:pt x="0" y="0"/>
                </a:moveTo>
                <a:lnTo>
                  <a:pt x="3846068" y="0"/>
                </a:lnTo>
              </a:path>
            </a:pathLst>
          </a:custGeom>
          <a:ln w="127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953509" y="368808"/>
            <a:ext cx="0" cy="2407920"/>
          </a:xfrm>
          <a:custGeom>
            <a:avLst/>
            <a:gdLst/>
            <a:ahLst/>
            <a:cxnLst/>
            <a:rect l="l" t="t" r="r" b="b"/>
            <a:pathLst>
              <a:path w="0" h="2407920">
                <a:moveTo>
                  <a:pt x="0" y="0"/>
                </a:moveTo>
                <a:lnTo>
                  <a:pt x="0" y="2407919"/>
                </a:lnTo>
              </a:path>
            </a:pathLst>
          </a:custGeom>
          <a:ln w="127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67741" y="363067"/>
            <a:ext cx="942975" cy="2372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0480">
              <a:lnSpc>
                <a:spcPct val="110000"/>
              </a:lnSpc>
              <a:spcBef>
                <a:spcPts val="100"/>
              </a:spcBef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;  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000" spc="1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0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000">
              <a:latin typeface="Times New Roman"/>
              <a:cs typeface="Times New Roman"/>
            </a:endParaRPr>
          </a:p>
          <a:p>
            <a:pPr marL="12700" marR="60325">
              <a:lnSpc>
                <a:spcPct val="109800"/>
              </a:lnSpc>
              <a:spcBef>
                <a:spcPts val="15"/>
              </a:spcBef>
            </a:pP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000" spc="1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F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0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F 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0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000" spc="1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digit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70974" y="363067"/>
            <a:ext cx="2419350" cy="237299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340"/>
              </a:spcBef>
            </a:pP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print(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E .val</a:t>
            </a:r>
            <a:r>
              <a:rPr dirty="0" sz="20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83185" marR="5080" indent="-3175">
              <a:lnSpc>
                <a:spcPct val="110000"/>
              </a:lnSpc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E.val = E1.val +</a:t>
            </a:r>
            <a:r>
              <a:rPr dirty="0" sz="2000" spc="-1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30" b="1">
                <a:solidFill>
                  <a:srgbClr val="FFFFFF"/>
                </a:solidFill>
                <a:latin typeface="Times New Roman"/>
                <a:cs typeface="Times New Roman"/>
              </a:rPr>
              <a:t>T.val 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.val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= T</a:t>
            </a:r>
            <a:r>
              <a:rPr dirty="0" sz="2000" spc="-1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.val</a:t>
            </a:r>
            <a:endParaRPr sz="2000">
              <a:latin typeface="Times New Roman"/>
              <a:cs typeface="Times New Roman"/>
            </a:endParaRPr>
          </a:p>
          <a:p>
            <a:pPr marL="15875" marR="95885" indent="28575">
              <a:lnSpc>
                <a:spcPct val="109600"/>
              </a:lnSpc>
              <a:spcBef>
                <a:spcPts val="20"/>
              </a:spcBef>
            </a:pPr>
            <a:r>
              <a:rPr dirty="0" sz="2000" spc="-30" b="1">
                <a:solidFill>
                  <a:srgbClr val="FFFFFF"/>
                </a:solidFill>
                <a:latin typeface="Times New Roman"/>
                <a:cs typeface="Times New Roman"/>
              </a:rPr>
              <a:t>T.val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000" spc="-1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15" b="1">
                <a:solidFill>
                  <a:srgbClr val="FFFFFF"/>
                </a:solidFill>
                <a:latin typeface="Times New Roman"/>
                <a:cs typeface="Times New Roman"/>
              </a:rPr>
              <a:t>T1.val</a:t>
            </a:r>
            <a:r>
              <a:rPr dirty="0" sz="2000" spc="-15" b="1">
                <a:solidFill>
                  <a:srgbClr val="FFFFFF"/>
                </a:solidFill>
                <a:latin typeface="宋体"/>
                <a:cs typeface="宋体"/>
              </a:rPr>
              <a:t>×</a:t>
            </a:r>
            <a:r>
              <a:rPr dirty="0" sz="2000" spc="-15" b="1">
                <a:solidFill>
                  <a:srgbClr val="FFFFFF"/>
                </a:solidFill>
                <a:latin typeface="Times New Roman"/>
                <a:cs typeface="Times New Roman"/>
              </a:rPr>
              <a:t>F.val  </a:t>
            </a:r>
            <a:r>
              <a:rPr dirty="0" sz="2000" spc="-30" b="1">
                <a:solidFill>
                  <a:srgbClr val="FFFFFF"/>
                </a:solidFill>
                <a:latin typeface="Times New Roman"/>
                <a:cs typeface="Times New Roman"/>
              </a:rPr>
              <a:t>T.val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0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35" b="1">
                <a:solidFill>
                  <a:srgbClr val="FFFFFF"/>
                </a:solidFill>
                <a:latin typeface="Times New Roman"/>
                <a:cs typeface="Times New Roman"/>
              </a:rPr>
              <a:t>F.val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2000" spc="-35" b="1">
                <a:solidFill>
                  <a:srgbClr val="FFFFFF"/>
                </a:solidFill>
                <a:latin typeface="Times New Roman"/>
                <a:cs typeface="Times New Roman"/>
              </a:rPr>
              <a:t>F.val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0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E.val</a:t>
            </a:r>
            <a:endParaRPr sz="2000">
              <a:latin typeface="Times New Roman"/>
              <a:cs typeface="Times New Roman"/>
            </a:endParaRPr>
          </a:p>
          <a:p>
            <a:pPr marL="38735">
              <a:lnSpc>
                <a:spcPct val="100000"/>
              </a:lnSpc>
              <a:spcBef>
                <a:spcPts val="240"/>
              </a:spcBef>
            </a:pPr>
            <a:r>
              <a:rPr dirty="0" sz="2000" spc="-35" b="1">
                <a:solidFill>
                  <a:srgbClr val="FFFFFF"/>
                </a:solidFill>
                <a:latin typeface="Times New Roman"/>
                <a:cs typeface="Times New Roman"/>
              </a:rPr>
              <a:t>F.val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0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digit.lexval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20888" y="1711528"/>
            <a:ext cx="16129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569458" y="1489710"/>
            <a:ext cx="1139825" cy="314325"/>
          </a:xfrm>
          <a:custGeom>
            <a:avLst/>
            <a:gdLst/>
            <a:ahLst/>
            <a:cxnLst/>
            <a:rect l="l" t="t" r="r" b="b"/>
            <a:pathLst>
              <a:path w="1139825" h="314325">
                <a:moveTo>
                  <a:pt x="1139824" y="0"/>
                </a:moveTo>
                <a:lnTo>
                  <a:pt x="0" y="314325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709409" y="1489710"/>
            <a:ext cx="1452880" cy="263525"/>
          </a:xfrm>
          <a:custGeom>
            <a:avLst/>
            <a:gdLst/>
            <a:ahLst/>
            <a:cxnLst/>
            <a:rect l="l" t="t" r="r" b="b"/>
            <a:pathLst>
              <a:path w="1452879" h="263525">
                <a:moveTo>
                  <a:pt x="0" y="0"/>
                </a:moveTo>
                <a:lnTo>
                  <a:pt x="1452626" y="263525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532882" y="2711907"/>
            <a:ext cx="25781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748278" y="2288285"/>
            <a:ext cx="1821180" cy="554355"/>
          </a:xfrm>
          <a:custGeom>
            <a:avLst/>
            <a:gdLst/>
            <a:ahLst/>
            <a:cxnLst/>
            <a:rect l="l" t="t" r="r" b="b"/>
            <a:pathLst>
              <a:path w="1821179" h="554355">
                <a:moveTo>
                  <a:pt x="1820926" y="0"/>
                </a:moveTo>
                <a:lnTo>
                  <a:pt x="0" y="554101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569458" y="2288285"/>
            <a:ext cx="43180" cy="465455"/>
          </a:xfrm>
          <a:custGeom>
            <a:avLst/>
            <a:gdLst/>
            <a:ahLst/>
            <a:cxnLst/>
            <a:rect l="l" t="t" r="r" b="b"/>
            <a:pathLst>
              <a:path w="43179" h="465455">
                <a:moveTo>
                  <a:pt x="0" y="0"/>
                </a:moveTo>
                <a:lnTo>
                  <a:pt x="42925" y="46520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569458" y="2288285"/>
            <a:ext cx="1532255" cy="541655"/>
          </a:xfrm>
          <a:custGeom>
            <a:avLst/>
            <a:gdLst/>
            <a:ahLst/>
            <a:cxnLst/>
            <a:rect l="l" t="t" r="r" b="b"/>
            <a:pathLst>
              <a:path w="1532254" h="541655">
                <a:moveTo>
                  <a:pt x="0" y="0"/>
                </a:moveTo>
                <a:lnTo>
                  <a:pt x="1532000" y="541401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402585" y="4162805"/>
            <a:ext cx="1346200" cy="520700"/>
          </a:xfrm>
          <a:custGeom>
            <a:avLst/>
            <a:gdLst/>
            <a:ahLst/>
            <a:cxnLst/>
            <a:rect l="l" t="t" r="r" b="b"/>
            <a:pathLst>
              <a:path w="1346200" h="520700">
                <a:moveTo>
                  <a:pt x="1346200" y="0"/>
                </a:moveTo>
                <a:lnTo>
                  <a:pt x="0" y="52070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733038" y="4162805"/>
            <a:ext cx="15875" cy="431800"/>
          </a:xfrm>
          <a:custGeom>
            <a:avLst/>
            <a:gdLst/>
            <a:ahLst/>
            <a:cxnLst/>
            <a:rect l="l" t="t" r="r" b="b"/>
            <a:pathLst>
              <a:path w="15875" h="431800">
                <a:moveTo>
                  <a:pt x="7937" y="-19049"/>
                </a:moveTo>
                <a:lnTo>
                  <a:pt x="7937" y="450850"/>
                </a:lnTo>
              </a:path>
            </a:pathLst>
          </a:custGeom>
          <a:ln w="539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748278" y="4162805"/>
            <a:ext cx="1222375" cy="508000"/>
          </a:xfrm>
          <a:custGeom>
            <a:avLst/>
            <a:gdLst/>
            <a:ahLst/>
            <a:cxnLst/>
            <a:rect l="l" t="t" r="r" b="b"/>
            <a:pathLst>
              <a:path w="1222375" h="508000">
                <a:moveTo>
                  <a:pt x="0" y="0"/>
                </a:moveTo>
                <a:lnTo>
                  <a:pt x="1222375" y="50800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393442" y="5168646"/>
            <a:ext cx="9525" cy="259079"/>
          </a:xfrm>
          <a:custGeom>
            <a:avLst/>
            <a:gdLst/>
            <a:ahLst/>
            <a:cxnLst/>
            <a:rect l="l" t="t" r="r" b="b"/>
            <a:pathLst>
              <a:path w="9525" h="259079">
                <a:moveTo>
                  <a:pt x="4762" y="-19050"/>
                </a:moveTo>
                <a:lnTo>
                  <a:pt x="4762" y="277875"/>
                </a:lnTo>
              </a:path>
            </a:pathLst>
          </a:custGeom>
          <a:ln w="4762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748278" y="3326129"/>
            <a:ext cx="0" cy="352425"/>
          </a:xfrm>
          <a:custGeom>
            <a:avLst/>
            <a:gdLst/>
            <a:ahLst/>
            <a:cxnLst/>
            <a:rect l="l" t="t" r="r" b="b"/>
            <a:pathLst>
              <a:path w="0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388870" y="5910834"/>
            <a:ext cx="5080" cy="328930"/>
          </a:xfrm>
          <a:custGeom>
            <a:avLst/>
            <a:gdLst/>
            <a:ahLst/>
            <a:cxnLst/>
            <a:rect l="l" t="t" r="r" b="b"/>
            <a:pathLst>
              <a:path w="5080" h="328929">
                <a:moveTo>
                  <a:pt x="2412" y="-19050"/>
                </a:moveTo>
                <a:lnTo>
                  <a:pt x="2412" y="347662"/>
                </a:lnTo>
              </a:path>
            </a:pathLst>
          </a:custGeom>
          <a:ln w="4292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970526" y="5154929"/>
            <a:ext cx="12700" cy="341630"/>
          </a:xfrm>
          <a:custGeom>
            <a:avLst/>
            <a:gdLst/>
            <a:ahLst/>
            <a:cxnLst/>
            <a:rect l="l" t="t" r="r" b="b"/>
            <a:pathLst>
              <a:path w="12700" h="341629">
                <a:moveTo>
                  <a:pt x="6350" y="-19049"/>
                </a:moveTo>
                <a:lnTo>
                  <a:pt x="6350" y="360299"/>
                </a:lnTo>
              </a:path>
            </a:pathLst>
          </a:custGeom>
          <a:ln w="508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101078" y="3313938"/>
            <a:ext cx="15875" cy="297180"/>
          </a:xfrm>
          <a:custGeom>
            <a:avLst/>
            <a:gdLst/>
            <a:ahLst/>
            <a:cxnLst/>
            <a:rect l="l" t="t" r="r" b="b"/>
            <a:pathLst>
              <a:path w="15875" h="297179">
                <a:moveTo>
                  <a:pt x="7937" y="-19050"/>
                </a:moveTo>
                <a:lnTo>
                  <a:pt x="7937" y="315849"/>
                </a:lnTo>
              </a:path>
            </a:pathLst>
          </a:custGeom>
          <a:ln w="539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116318" y="4094226"/>
            <a:ext cx="1905" cy="328930"/>
          </a:xfrm>
          <a:custGeom>
            <a:avLst/>
            <a:gdLst/>
            <a:ahLst/>
            <a:cxnLst/>
            <a:rect l="l" t="t" r="r" b="b"/>
            <a:pathLst>
              <a:path w="1904" h="328929">
                <a:moveTo>
                  <a:pt x="762" y="-19050"/>
                </a:moveTo>
                <a:lnTo>
                  <a:pt x="762" y="347599"/>
                </a:lnTo>
              </a:path>
            </a:pathLst>
          </a:custGeom>
          <a:ln w="39624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1886457" y="6151270"/>
            <a:ext cx="240919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6076" sz="4800" spc="-15" b="1">
                <a:solidFill>
                  <a:srgbClr val="FFFFFF"/>
                </a:solidFill>
                <a:latin typeface="Times New Roman"/>
                <a:cs typeface="Times New Roman"/>
              </a:rPr>
              <a:t>digit</a:t>
            </a:r>
            <a:r>
              <a:rPr dirty="0" sz="3200" spc="-10" b="1">
                <a:solidFill>
                  <a:srgbClr val="FFFF66"/>
                </a:solidFill>
                <a:latin typeface="Times New Roman"/>
                <a:cs typeface="Times New Roman"/>
              </a:rPr>
              <a:t>.lexval=3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215630" y="6697989"/>
            <a:ext cx="72707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fld>
            <a:r>
              <a:rPr dirty="0" sz="1400" spc="229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519548" y="5405120"/>
            <a:ext cx="244538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6944" sz="4800" spc="15" b="1">
                <a:solidFill>
                  <a:srgbClr val="FFFFFF"/>
                </a:solidFill>
                <a:latin typeface="Times New Roman"/>
                <a:cs typeface="Times New Roman"/>
              </a:rPr>
              <a:t>digit</a:t>
            </a:r>
            <a:r>
              <a:rPr dirty="0" sz="3200" spc="10" b="1">
                <a:solidFill>
                  <a:srgbClr val="FFFF66"/>
                </a:solidFill>
                <a:latin typeface="Times New Roman"/>
                <a:cs typeface="Times New Roman"/>
              </a:rPr>
              <a:t>.lexval=5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677406" y="4348937"/>
            <a:ext cx="239966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aseline="-4340" sz="4800" spc="22" b="1">
                <a:solidFill>
                  <a:srgbClr val="FFFFFF"/>
                </a:solidFill>
                <a:latin typeface="Times New Roman"/>
                <a:cs typeface="Times New Roman"/>
              </a:rPr>
              <a:t>digit</a:t>
            </a:r>
            <a:r>
              <a:rPr dirty="0" sz="3200" spc="15" b="1">
                <a:solidFill>
                  <a:srgbClr val="FFFF66"/>
                </a:solidFill>
                <a:latin typeface="Times New Roman"/>
                <a:cs typeface="Times New Roman"/>
              </a:rPr>
              <a:t>.lexval=4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214372" y="4368684"/>
            <a:ext cx="1692910" cy="1474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3345" marR="30480" indent="-55880">
              <a:lnSpc>
                <a:spcPct val="148500"/>
              </a:lnSpc>
              <a:spcBef>
                <a:spcPts val="100"/>
              </a:spcBef>
            </a:pPr>
            <a:r>
              <a:rPr dirty="0" baseline="-5208" sz="4800" spc="-112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3200" spc="-75" b="1">
                <a:solidFill>
                  <a:srgbClr val="FFFF66"/>
                </a:solidFill>
                <a:latin typeface="Times New Roman"/>
                <a:cs typeface="Times New Roman"/>
              </a:rPr>
              <a:t>.val=3 </a:t>
            </a:r>
            <a:r>
              <a:rPr dirty="0" baseline="6944" sz="4800" b="1">
                <a:solidFill>
                  <a:srgbClr val="FFFFFF"/>
                </a:solidFill>
                <a:latin typeface="Times New Roman"/>
                <a:cs typeface="Times New Roman"/>
              </a:rPr>
              <a:t>* </a:t>
            </a:r>
            <a:r>
              <a:rPr dirty="0" baseline="-7812" sz="4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7812" sz="4800" spc="-30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spc="-20" b="1">
                <a:solidFill>
                  <a:srgbClr val="FFFF66"/>
                </a:solidFill>
                <a:latin typeface="Times New Roman"/>
                <a:cs typeface="Times New Roman"/>
              </a:rPr>
              <a:t>.val=3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856353" y="4579442"/>
            <a:ext cx="138620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6944" sz="4800" spc="7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spc="5" b="1">
                <a:solidFill>
                  <a:srgbClr val="FFFF66"/>
                </a:solidFill>
                <a:latin typeface="Times New Roman"/>
                <a:cs typeface="Times New Roman"/>
              </a:rPr>
              <a:t>.val=5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613150" y="3569284"/>
            <a:ext cx="156337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9548" sz="4800" spc="-67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3200" spc="-45" b="1">
                <a:solidFill>
                  <a:srgbClr val="FFFF66"/>
                </a:solidFill>
                <a:latin typeface="Times New Roman"/>
                <a:cs typeface="Times New Roman"/>
              </a:rPr>
              <a:t>.val=15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586098" y="2788107"/>
            <a:ext cx="153924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aseline="-1736" sz="4800" spc="-247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.v</a:t>
            </a:r>
            <a:r>
              <a:rPr dirty="0" sz="3200" spc="5" b="1">
                <a:solidFill>
                  <a:srgbClr val="FFFF66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l=15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939406" y="2707335"/>
            <a:ext cx="1440815" cy="13303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11284" sz="4800" spc="-135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3200" spc="-90" b="1">
                <a:solidFill>
                  <a:srgbClr val="FFFF66"/>
                </a:solidFill>
                <a:latin typeface="Times New Roman"/>
                <a:cs typeface="Times New Roman"/>
              </a:rPr>
              <a:t>.val=4</a:t>
            </a:r>
            <a:endParaRPr sz="3200">
              <a:latin typeface="Times New Roman"/>
              <a:cs typeface="Times New Roman"/>
            </a:endParaRPr>
          </a:p>
          <a:p>
            <a:pPr marL="93345">
              <a:lnSpc>
                <a:spcPct val="100000"/>
              </a:lnSpc>
              <a:spcBef>
                <a:spcPts val="2585"/>
              </a:spcBef>
            </a:pPr>
            <a:r>
              <a:rPr dirty="0" baseline="-6076" sz="4800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.val=4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972177" y="572846"/>
            <a:ext cx="3091815" cy="16027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ts val="346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例如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spc="-82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3200" spc="-2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dirty="0" sz="3200" spc="-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;</a:t>
            </a:r>
            <a:endParaRPr sz="3200">
              <a:latin typeface="Times New Roman"/>
              <a:cs typeface="Times New Roman"/>
            </a:endParaRPr>
          </a:p>
          <a:p>
            <a:pPr algn="ctr" marL="355600">
              <a:lnSpc>
                <a:spcPts val="3460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  <a:p>
            <a:pPr marL="447675">
              <a:lnSpc>
                <a:spcPct val="100000"/>
              </a:lnSpc>
              <a:spcBef>
                <a:spcPts val="1650"/>
              </a:spcBef>
            </a:pPr>
            <a:r>
              <a:rPr dirty="0" baseline="-13888" sz="4800" spc="6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spc="40" b="1">
                <a:solidFill>
                  <a:srgbClr val="FFFF66"/>
                </a:solidFill>
                <a:latin typeface="Times New Roman"/>
                <a:cs typeface="Times New Roman"/>
              </a:rPr>
              <a:t>.val=19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2322" y="26923"/>
            <a:ext cx="7693659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  <a:tab pos="4292600" algn="l"/>
                <a:tab pos="4864100" algn="l"/>
              </a:tabLst>
            </a:pPr>
            <a:r>
              <a:rPr dirty="0" sz="2000" spc="5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>
                <a:solidFill>
                  <a:srgbClr val="A15100"/>
                </a:solidFill>
              </a:rPr>
              <a:t>语义分析与中间代码生</a:t>
            </a:r>
            <a:r>
              <a:rPr dirty="0" sz="2000" spc="-5">
                <a:solidFill>
                  <a:srgbClr val="A15100"/>
                </a:solidFill>
              </a:rPr>
              <a:t>成</a:t>
            </a:r>
            <a:r>
              <a:rPr dirty="0" sz="2000">
                <a:solidFill>
                  <a:srgbClr val="A15100"/>
                </a:solidFill>
              </a:rPr>
              <a:t>	</a:t>
            </a:r>
            <a:r>
              <a:rPr dirty="0" u="sng" sz="200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</a:rPr>
              <a:t>语法制导翻译与属性文法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15630" y="6697989"/>
            <a:ext cx="72707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fld>
            <a:r>
              <a:rPr dirty="0" sz="1400" spc="229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9493" y="405497"/>
            <a:ext cx="7986395" cy="5106670"/>
          </a:xfrm>
          <a:prstGeom prst="rect">
            <a:avLst/>
          </a:prstGeom>
        </p:spPr>
        <p:txBody>
          <a:bodyPr wrap="square" lIns="0" tIns="180975" rIns="0" bIns="0" rtlCol="0" vert="horz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1425"/>
              </a:spcBef>
              <a:buClr>
                <a:srgbClr val="66FFFF"/>
              </a:buClr>
              <a:buSzPct val="109375"/>
              <a:buFont typeface="Wingdings"/>
              <a:buChar char=""/>
              <a:tabLst>
                <a:tab pos="319405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综合属性</a:t>
            </a:r>
            <a:endParaRPr sz="3200">
              <a:latin typeface="宋体"/>
              <a:cs typeface="宋体"/>
            </a:endParaRPr>
          </a:p>
          <a:p>
            <a:pPr marL="12700" marR="5080" indent="819785">
              <a:lnSpc>
                <a:spcPct val="125600"/>
              </a:lnSpc>
              <a:spcBef>
                <a:spcPts val="33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分析树中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如果一个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结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点的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属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性值是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通过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子结点的属性值计算得到则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称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为综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合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属性。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550">
              <a:latin typeface="宋体"/>
              <a:cs typeface="宋体"/>
            </a:endParaRPr>
          </a:p>
          <a:p>
            <a:pPr marL="360045" indent="-307340">
              <a:lnSpc>
                <a:spcPct val="100000"/>
              </a:lnSpc>
              <a:spcBef>
                <a:spcPts val="5"/>
              </a:spcBef>
              <a:buClr>
                <a:srgbClr val="66FFFF"/>
              </a:buClr>
              <a:buSzPct val="109375"/>
              <a:buFont typeface="Wingdings"/>
              <a:buChar char=""/>
              <a:tabLst>
                <a:tab pos="36068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继承属性</a:t>
            </a:r>
            <a:endParaRPr sz="3200">
              <a:latin typeface="宋体"/>
              <a:cs typeface="宋体"/>
            </a:endParaRPr>
          </a:p>
          <a:p>
            <a:pPr algn="just" marL="53340" marR="168275" indent="614045">
              <a:lnSpc>
                <a:spcPct val="130000"/>
              </a:lnSpc>
              <a:spcBef>
                <a:spcPts val="17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分析树中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如果一个结点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属性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是由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该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结点的父结点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(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)兄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弟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结点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属性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义的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称为继承属性。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2322" y="26923"/>
            <a:ext cx="348487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32323" y="26923"/>
            <a:ext cx="34137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3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6.2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语法制导翻译与属性文法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538" y="563626"/>
            <a:ext cx="476821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235648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例如，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float	id</a:t>
            </a:r>
            <a:r>
              <a:rPr dirty="0" baseline="-25132" sz="315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id</a:t>
            </a:r>
            <a:r>
              <a:rPr dirty="0" baseline="-25132" sz="3150" b="1">
                <a:solidFill>
                  <a:srgbClr val="FFFF00"/>
                </a:solidFill>
                <a:latin typeface="Times New Roman"/>
                <a:cs typeface="Times New Roman"/>
              </a:rPr>
              <a:t>2 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spc="-113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id</a:t>
            </a:r>
            <a:r>
              <a:rPr dirty="0" baseline="-25132" sz="3150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baseline="-25132" sz="31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74791" y="507491"/>
            <a:ext cx="3569335" cy="2152015"/>
          </a:xfrm>
          <a:custGeom>
            <a:avLst/>
            <a:gdLst/>
            <a:ahLst/>
            <a:cxnLst/>
            <a:rect l="l" t="t" r="r" b="b"/>
            <a:pathLst>
              <a:path w="3569334" h="2152015">
                <a:moveTo>
                  <a:pt x="0" y="2151888"/>
                </a:moveTo>
                <a:lnTo>
                  <a:pt x="3569207" y="2151888"/>
                </a:lnTo>
                <a:lnTo>
                  <a:pt x="3569207" y="0"/>
                </a:lnTo>
                <a:lnTo>
                  <a:pt x="0" y="0"/>
                </a:lnTo>
                <a:lnTo>
                  <a:pt x="0" y="2151888"/>
                </a:lnTo>
                <a:close/>
              </a:path>
            </a:pathLst>
          </a:custGeom>
          <a:solidFill>
            <a:srgbClr val="A737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36691" y="2691129"/>
            <a:ext cx="3607435" cy="0"/>
          </a:xfrm>
          <a:custGeom>
            <a:avLst/>
            <a:gdLst/>
            <a:ahLst/>
            <a:cxnLst/>
            <a:rect l="l" t="t" r="r" b="b"/>
            <a:pathLst>
              <a:path w="3607434" h="0">
                <a:moveTo>
                  <a:pt x="0" y="0"/>
                </a:moveTo>
                <a:lnTo>
                  <a:pt x="3607307" y="0"/>
                </a:lnTo>
              </a:path>
            </a:pathLst>
          </a:custGeom>
          <a:ln w="127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543041" y="482600"/>
            <a:ext cx="0" cy="2202180"/>
          </a:xfrm>
          <a:custGeom>
            <a:avLst/>
            <a:gdLst/>
            <a:ahLst/>
            <a:cxnLst/>
            <a:rect l="l" t="t" r="r" b="b"/>
            <a:pathLst>
              <a:path w="0" h="2202180">
                <a:moveTo>
                  <a:pt x="0" y="0"/>
                </a:moveTo>
                <a:lnTo>
                  <a:pt x="0" y="2202179"/>
                </a:lnTo>
              </a:path>
            </a:pathLst>
          </a:custGeom>
          <a:ln w="127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536691" y="476250"/>
            <a:ext cx="3607435" cy="0"/>
          </a:xfrm>
          <a:custGeom>
            <a:avLst/>
            <a:gdLst/>
            <a:ahLst/>
            <a:cxnLst/>
            <a:rect l="l" t="t" r="r" b="b"/>
            <a:pathLst>
              <a:path w="3607434" h="0">
                <a:moveTo>
                  <a:pt x="0" y="0"/>
                </a:moveTo>
                <a:lnTo>
                  <a:pt x="3607307" y="0"/>
                </a:lnTo>
              </a:path>
            </a:pathLst>
          </a:custGeom>
          <a:ln w="127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562091" y="2659379"/>
            <a:ext cx="3582035" cy="0"/>
          </a:xfrm>
          <a:custGeom>
            <a:avLst/>
            <a:gdLst/>
            <a:ahLst/>
            <a:cxnLst/>
            <a:rect l="l" t="t" r="r" b="b"/>
            <a:pathLst>
              <a:path w="3582034" h="0">
                <a:moveTo>
                  <a:pt x="0" y="0"/>
                </a:moveTo>
                <a:lnTo>
                  <a:pt x="3581907" y="0"/>
                </a:lnTo>
              </a:path>
            </a:pathLst>
          </a:custGeom>
          <a:ln w="254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574791" y="520700"/>
            <a:ext cx="0" cy="2125980"/>
          </a:xfrm>
          <a:custGeom>
            <a:avLst/>
            <a:gdLst/>
            <a:ahLst/>
            <a:cxnLst/>
            <a:rect l="l" t="t" r="r" b="b"/>
            <a:pathLst>
              <a:path w="0" h="2125980">
                <a:moveTo>
                  <a:pt x="0" y="0"/>
                </a:moveTo>
                <a:lnTo>
                  <a:pt x="0" y="2125979"/>
                </a:lnTo>
              </a:path>
            </a:pathLst>
          </a:custGeom>
          <a:ln w="254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562091" y="508000"/>
            <a:ext cx="3582035" cy="0"/>
          </a:xfrm>
          <a:custGeom>
            <a:avLst/>
            <a:gdLst/>
            <a:ahLst/>
            <a:cxnLst/>
            <a:rect l="l" t="t" r="r" b="b"/>
            <a:pathLst>
              <a:path w="3582034" h="0">
                <a:moveTo>
                  <a:pt x="0" y="0"/>
                </a:moveTo>
                <a:lnTo>
                  <a:pt x="3581907" y="0"/>
                </a:lnTo>
              </a:path>
            </a:pathLst>
          </a:custGeom>
          <a:ln w="254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600191" y="2627629"/>
            <a:ext cx="3543935" cy="0"/>
          </a:xfrm>
          <a:custGeom>
            <a:avLst/>
            <a:gdLst/>
            <a:ahLst/>
            <a:cxnLst/>
            <a:rect l="l" t="t" r="r" b="b"/>
            <a:pathLst>
              <a:path w="3543934" h="0">
                <a:moveTo>
                  <a:pt x="0" y="0"/>
                </a:moveTo>
                <a:lnTo>
                  <a:pt x="3543807" y="0"/>
                </a:lnTo>
              </a:path>
            </a:pathLst>
          </a:custGeom>
          <a:ln w="127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606541" y="546100"/>
            <a:ext cx="0" cy="2075180"/>
          </a:xfrm>
          <a:custGeom>
            <a:avLst/>
            <a:gdLst/>
            <a:ahLst/>
            <a:cxnLst/>
            <a:rect l="l" t="t" r="r" b="b"/>
            <a:pathLst>
              <a:path w="0" h="2075180">
                <a:moveTo>
                  <a:pt x="0" y="0"/>
                </a:moveTo>
                <a:lnTo>
                  <a:pt x="0" y="2075179"/>
                </a:lnTo>
              </a:path>
            </a:pathLst>
          </a:custGeom>
          <a:ln w="127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600191" y="539750"/>
            <a:ext cx="3543935" cy="0"/>
          </a:xfrm>
          <a:custGeom>
            <a:avLst/>
            <a:gdLst/>
            <a:ahLst/>
            <a:cxnLst/>
            <a:rect l="l" t="t" r="r" b="b"/>
            <a:pathLst>
              <a:path w="3543934" h="0">
                <a:moveTo>
                  <a:pt x="0" y="0"/>
                </a:moveTo>
                <a:lnTo>
                  <a:pt x="3543807" y="0"/>
                </a:lnTo>
              </a:path>
            </a:pathLst>
          </a:custGeom>
          <a:ln w="127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137903" y="545591"/>
            <a:ext cx="0" cy="2075814"/>
          </a:xfrm>
          <a:custGeom>
            <a:avLst/>
            <a:gdLst/>
            <a:ahLst/>
            <a:cxnLst/>
            <a:rect l="l" t="t" r="r" b="b"/>
            <a:pathLst>
              <a:path w="0" h="2075814">
                <a:moveTo>
                  <a:pt x="0" y="0"/>
                </a:moveTo>
                <a:lnTo>
                  <a:pt x="0" y="2075688"/>
                </a:lnTo>
              </a:path>
            </a:pathLst>
          </a:custGeom>
          <a:ln w="12191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667755" y="479907"/>
            <a:ext cx="916940" cy="136715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40"/>
              </a:spcBef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0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TL</a:t>
            </a:r>
            <a:endParaRPr sz="2000">
              <a:latin typeface="Times New Roman"/>
              <a:cs typeface="Times New Roman"/>
            </a:endParaRPr>
          </a:p>
          <a:p>
            <a:pPr marR="5080">
              <a:lnSpc>
                <a:spcPct val="110000"/>
              </a:lnSpc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0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int  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000" spc="1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float 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,id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39940" y="479907"/>
            <a:ext cx="1851025" cy="1367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 indent="99060">
              <a:lnSpc>
                <a:spcPct val="110000"/>
              </a:lnSpc>
              <a:spcBef>
                <a:spcPts val="100"/>
              </a:spcBef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.in =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T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.type 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T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.type = integer 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T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.type = float 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1 .in =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000" spc="-7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.in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67755" y="1879193"/>
            <a:ext cx="3326129" cy="699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 indent="825500">
              <a:lnSpc>
                <a:spcPct val="110500"/>
              </a:lnSpc>
              <a:spcBef>
                <a:spcPts val="100"/>
              </a:spcBef>
              <a:tabLst>
                <a:tab pos="871855" algn="l"/>
              </a:tabLst>
            </a:pPr>
            <a:r>
              <a:rPr dirty="0" sz="2000" spc="-10" b="1">
                <a:solidFill>
                  <a:srgbClr val="FFFFFF"/>
                </a:solidFill>
                <a:latin typeface="Times New Roman"/>
                <a:cs typeface="Times New Roman"/>
              </a:rPr>
              <a:t>addtype(id.entry,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.in) 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id	</a:t>
            </a:r>
            <a:r>
              <a:rPr dirty="0" sz="2000" spc="-10" b="1">
                <a:solidFill>
                  <a:srgbClr val="FFFFFF"/>
                </a:solidFill>
                <a:latin typeface="Times New Roman"/>
                <a:cs typeface="Times New Roman"/>
              </a:rPr>
              <a:t>addtype(id.entry,</a:t>
            </a:r>
            <a:r>
              <a:rPr dirty="0" sz="20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.in)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80869" y="1494536"/>
            <a:ext cx="31940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15873" y="2020061"/>
            <a:ext cx="2028825" cy="790575"/>
          </a:xfrm>
          <a:custGeom>
            <a:avLst/>
            <a:gdLst/>
            <a:ahLst/>
            <a:cxnLst/>
            <a:rect l="l" t="t" r="r" b="b"/>
            <a:pathLst>
              <a:path w="2028825" h="790575">
                <a:moveTo>
                  <a:pt x="2028825" y="0"/>
                </a:moveTo>
                <a:lnTo>
                  <a:pt x="0" y="790575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544317" y="2020061"/>
            <a:ext cx="2225675" cy="790575"/>
          </a:xfrm>
          <a:custGeom>
            <a:avLst/>
            <a:gdLst/>
            <a:ahLst/>
            <a:cxnLst/>
            <a:rect l="l" t="t" r="r" b="b"/>
            <a:pathLst>
              <a:path w="2225675" h="790575">
                <a:moveTo>
                  <a:pt x="0" y="0"/>
                </a:moveTo>
                <a:lnTo>
                  <a:pt x="2225674" y="790575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8739" y="3856685"/>
            <a:ext cx="81724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float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97729" y="3755516"/>
            <a:ext cx="1276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52309" y="4067936"/>
            <a:ext cx="16129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15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698242" y="3294126"/>
            <a:ext cx="2072005" cy="590550"/>
          </a:xfrm>
          <a:custGeom>
            <a:avLst/>
            <a:gdLst/>
            <a:ahLst/>
            <a:cxnLst/>
            <a:rect l="l" t="t" r="r" b="b"/>
            <a:pathLst>
              <a:path w="2072004" h="590550">
                <a:moveTo>
                  <a:pt x="2071623" y="0"/>
                </a:moveTo>
                <a:lnTo>
                  <a:pt x="0" y="59055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769358" y="3294126"/>
            <a:ext cx="8255" cy="501650"/>
          </a:xfrm>
          <a:custGeom>
            <a:avLst/>
            <a:gdLst/>
            <a:ahLst/>
            <a:cxnLst/>
            <a:rect l="l" t="t" r="r" b="b"/>
            <a:pathLst>
              <a:path w="8254" h="501650">
                <a:moveTo>
                  <a:pt x="0" y="0"/>
                </a:moveTo>
                <a:lnTo>
                  <a:pt x="8000" y="50165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769358" y="3294126"/>
            <a:ext cx="2200275" cy="577850"/>
          </a:xfrm>
          <a:custGeom>
            <a:avLst/>
            <a:gdLst/>
            <a:ahLst/>
            <a:cxnLst/>
            <a:rect l="l" t="t" r="r" b="b"/>
            <a:pathLst>
              <a:path w="2200275" h="577850">
                <a:moveTo>
                  <a:pt x="0" y="0"/>
                </a:moveTo>
                <a:lnTo>
                  <a:pt x="2200274" y="57785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146928" y="5198491"/>
            <a:ext cx="16129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1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17625" y="4370070"/>
            <a:ext cx="1879600" cy="646430"/>
          </a:xfrm>
          <a:custGeom>
            <a:avLst/>
            <a:gdLst/>
            <a:ahLst/>
            <a:cxnLst/>
            <a:rect l="l" t="t" r="r" b="b"/>
            <a:pathLst>
              <a:path w="1879600" h="646429">
                <a:moveTo>
                  <a:pt x="1879600" y="0"/>
                </a:moveTo>
                <a:lnTo>
                  <a:pt x="0" y="646175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698242" y="4370070"/>
            <a:ext cx="9525" cy="557530"/>
          </a:xfrm>
          <a:custGeom>
            <a:avLst/>
            <a:gdLst/>
            <a:ahLst/>
            <a:cxnLst/>
            <a:rect l="l" t="t" r="r" b="b"/>
            <a:pathLst>
              <a:path w="9525" h="557529">
                <a:moveTo>
                  <a:pt x="0" y="0"/>
                </a:moveTo>
                <a:lnTo>
                  <a:pt x="9525" y="557275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698242" y="4370070"/>
            <a:ext cx="2367280" cy="633730"/>
          </a:xfrm>
          <a:custGeom>
            <a:avLst/>
            <a:gdLst/>
            <a:ahLst/>
            <a:cxnLst/>
            <a:rect l="l" t="t" r="r" b="b"/>
            <a:pathLst>
              <a:path w="2367279" h="633729">
                <a:moveTo>
                  <a:pt x="0" y="0"/>
                </a:moveTo>
                <a:lnTo>
                  <a:pt x="2367025" y="633475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15873" y="3294126"/>
            <a:ext cx="15875" cy="603250"/>
          </a:xfrm>
          <a:custGeom>
            <a:avLst/>
            <a:gdLst/>
            <a:ahLst/>
            <a:cxnLst/>
            <a:rect l="l" t="t" r="r" b="b"/>
            <a:pathLst>
              <a:path w="15875" h="603250">
                <a:moveTo>
                  <a:pt x="0" y="0"/>
                </a:moveTo>
                <a:lnTo>
                  <a:pt x="15875" y="60325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884021" y="6349695"/>
            <a:ext cx="16129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1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08481" y="5499353"/>
            <a:ext cx="9525" cy="654050"/>
          </a:xfrm>
          <a:custGeom>
            <a:avLst/>
            <a:gdLst/>
            <a:ahLst/>
            <a:cxnLst/>
            <a:rect l="l" t="t" r="r" b="b"/>
            <a:pathLst>
              <a:path w="9525" h="654050">
                <a:moveTo>
                  <a:pt x="9525" y="0"/>
                </a:moveTo>
                <a:lnTo>
                  <a:pt x="0" y="65405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326440" y="2719781"/>
            <a:ext cx="218821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6944" sz="4800" spc="-7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3200" spc="-5" b="1">
                <a:solidFill>
                  <a:srgbClr val="FFFF66"/>
                </a:solidFill>
                <a:latin typeface="Times New Roman"/>
                <a:cs typeface="Times New Roman"/>
              </a:rPr>
              <a:t>.type=float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215630" y="6697989"/>
            <a:ext cx="72707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fld>
            <a:r>
              <a:rPr dirty="0" sz="1400" spc="229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581778" y="2718562"/>
            <a:ext cx="179895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6944" sz="4800" spc="7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5" b="1">
                <a:solidFill>
                  <a:srgbClr val="FFFF66"/>
                </a:solidFill>
                <a:latin typeface="Times New Roman"/>
                <a:cs typeface="Times New Roman"/>
              </a:rPr>
              <a:t>.in=float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509773" y="3780485"/>
            <a:ext cx="180975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8680" sz="4800" spc="22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15" b="1">
                <a:solidFill>
                  <a:srgbClr val="FFFF66"/>
                </a:solidFill>
                <a:latin typeface="Times New Roman"/>
                <a:cs typeface="Times New Roman"/>
              </a:rPr>
              <a:t>.in=float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688581" y="3730244"/>
            <a:ext cx="233870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13888" sz="4800" spc="-7" b="1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dirty="0" baseline="-13888" sz="4800" spc="-64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.type=float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29716" y="4898897"/>
            <a:ext cx="215011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009775" algn="l"/>
              </a:tabLst>
            </a:pPr>
            <a:r>
              <a:rPr dirty="0" baseline="-10416" sz="4800" spc="-7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5" b="1">
                <a:solidFill>
                  <a:srgbClr val="FFFF66"/>
                </a:solidFill>
                <a:latin typeface="Times New Roman"/>
                <a:cs typeface="Times New Roman"/>
              </a:rPr>
              <a:t>.in=float	</a:t>
            </a:r>
            <a:r>
              <a:rPr dirty="0" baseline="1736" sz="48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endParaRPr baseline="1736" sz="4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783201" y="4872939"/>
            <a:ext cx="239522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12152" sz="4800" spc="-7" b="1">
                <a:solidFill>
                  <a:srgbClr val="FFFFFF"/>
                </a:solidFill>
                <a:latin typeface="Times New Roman"/>
                <a:cs typeface="Times New Roman"/>
              </a:rPr>
              <a:t>id 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.type=float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20293" y="6024168"/>
            <a:ext cx="238887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12152" sz="4800" spc="-7" b="1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dirty="0" baseline="-12152" sz="4800" spc="-82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.type=float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67309"/>
            <a:ext cx="7167880" cy="6057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第</a:t>
            </a:r>
            <a:r>
              <a:rPr dirty="0" sz="3800" spc="-975">
                <a:solidFill>
                  <a:srgbClr val="FFFF00"/>
                </a:solidFill>
                <a:latin typeface="黑体"/>
                <a:cs typeface="黑体"/>
              </a:rPr>
              <a:t> </a:t>
            </a:r>
            <a:r>
              <a:rPr dirty="0" sz="3800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r>
              <a:rPr dirty="0" sz="3800" spc="-25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章</a:t>
            </a:r>
            <a:r>
              <a:rPr dirty="0" sz="3800" spc="905">
                <a:solidFill>
                  <a:srgbClr val="FFFF00"/>
                </a:solidFill>
                <a:latin typeface="黑体"/>
                <a:cs typeface="黑体"/>
              </a:rPr>
              <a:t> </a:t>
            </a:r>
            <a:r>
              <a:rPr dirty="0" sz="3800" spc="5">
                <a:solidFill>
                  <a:srgbClr val="FFFF00"/>
                </a:solidFill>
                <a:latin typeface="黑体"/>
                <a:cs typeface="黑体"/>
              </a:rPr>
              <a:t>语义</a:t>
            </a:r>
            <a:r>
              <a:rPr dirty="0" sz="3800" spc="-5">
                <a:solidFill>
                  <a:srgbClr val="FFFF00"/>
                </a:solidFill>
                <a:latin typeface="黑体"/>
                <a:cs typeface="黑体"/>
              </a:rPr>
              <a:t>分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析</a:t>
            </a:r>
            <a:r>
              <a:rPr dirty="0" sz="3800" spc="-5">
                <a:solidFill>
                  <a:srgbClr val="FFFF00"/>
                </a:solidFill>
                <a:latin typeface="黑体"/>
                <a:cs typeface="黑体"/>
              </a:rPr>
              <a:t>与中间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代</a:t>
            </a:r>
            <a:r>
              <a:rPr dirty="0" sz="3800" spc="-5">
                <a:solidFill>
                  <a:srgbClr val="FFFF00"/>
                </a:solidFill>
                <a:latin typeface="黑体"/>
                <a:cs typeface="黑体"/>
              </a:rPr>
              <a:t>码生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成</a:t>
            </a:r>
            <a:endParaRPr sz="38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1148" y="1525117"/>
            <a:ext cx="6164580" cy="4519295"/>
          </a:xfrm>
          <a:prstGeom prst="rect">
            <a:avLst/>
          </a:prstGeom>
        </p:spPr>
        <p:txBody>
          <a:bodyPr wrap="square" lIns="0" tIns="232410" rIns="0" bIns="0" rtlCol="0" vert="horz">
            <a:spAutoFit/>
          </a:bodyPr>
          <a:lstStyle/>
          <a:p>
            <a:pPr lvl="1" marL="1251585" indent="-1227455">
              <a:lnSpc>
                <a:spcPct val="100000"/>
              </a:lnSpc>
              <a:spcBef>
                <a:spcPts val="1830"/>
              </a:spcBef>
              <a:buFont typeface="Times New Roman"/>
              <a:buAutoNum type="arabicPeriod"/>
              <a:tabLst>
                <a:tab pos="1251585" algn="l"/>
                <a:tab pos="1252220" algn="l"/>
              </a:tabLst>
            </a:pPr>
            <a:r>
              <a:rPr dirty="0" sz="3500" b="1">
                <a:solidFill>
                  <a:srgbClr val="FFFF66"/>
                </a:solidFill>
                <a:latin typeface="宋体"/>
                <a:cs typeface="宋体"/>
              </a:rPr>
              <a:t>语义分析综述</a:t>
            </a:r>
            <a:endParaRPr sz="3500">
              <a:latin typeface="宋体"/>
              <a:cs typeface="宋体"/>
            </a:endParaRPr>
          </a:p>
          <a:p>
            <a:pPr lvl="1" marL="1238885" indent="-1226820">
              <a:lnSpc>
                <a:spcPct val="100000"/>
              </a:lnSpc>
              <a:spcBef>
                <a:spcPts val="1730"/>
              </a:spcBef>
              <a:buFont typeface="Times New Roman"/>
              <a:buAutoNum type="arabicPeriod"/>
              <a:tabLst>
                <a:tab pos="1238885" algn="l"/>
                <a:tab pos="1239520" algn="l"/>
              </a:tabLst>
            </a:pPr>
            <a:r>
              <a:rPr dirty="0" sz="3500" b="1">
                <a:solidFill>
                  <a:srgbClr val="FFFF66"/>
                </a:solidFill>
                <a:latin typeface="宋体"/>
                <a:cs typeface="宋体"/>
              </a:rPr>
              <a:t>语法制导翻译与属性文法</a:t>
            </a:r>
            <a:endParaRPr sz="3500">
              <a:latin typeface="宋体"/>
              <a:cs typeface="宋体"/>
            </a:endParaRPr>
          </a:p>
          <a:p>
            <a:pPr lvl="1" marL="1234440" indent="-1222375">
              <a:lnSpc>
                <a:spcPct val="100000"/>
              </a:lnSpc>
              <a:spcBef>
                <a:spcPts val="1680"/>
              </a:spcBef>
              <a:buFont typeface="Times New Roman"/>
              <a:buAutoNum type="arabicPeriod"/>
              <a:tabLst>
                <a:tab pos="1234440" algn="l"/>
                <a:tab pos="1235075" algn="l"/>
              </a:tabLst>
            </a:pP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中间语言</a:t>
            </a:r>
            <a:endParaRPr sz="3500">
              <a:latin typeface="宋体"/>
              <a:cs typeface="宋体"/>
            </a:endParaRPr>
          </a:p>
          <a:p>
            <a:pPr lvl="1" marL="1238885" indent="-1226820">
              <a:lnSpc>
                <a:spcPct val="100000"/>
              </a:lnSpc>
              <a:spcBef>
                <a:spcPts val="1680"/>
              </a:spcBef>
              <a:buFont typeface="Times New Roman"/>
              <a:buAutoNum type="arabicPeriod"/>
              <a:tabLst>
                <a:tab pos="1238885" algn="l"/>
                <a:tab pos="1239520" algn="l"/>
              </a:tabLst>
            </a:pP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符号表</a:t>
            </a:r>
            <a:endParaRPr sz="3500">
              <a:latin typeface="宋体"/>
              <a:cs typeface="宋体"/>
            </a:endParaRPr>
          </a:p>
          <a:p>
            <a:pPr lvl="1" marL="1238885" indent="-1226820">
              <a:lnSpc>
                <a:spcPct val="100000"/>
              </a:lnSpc>
              <a:spcBef>
                <a:spcPts val="1680"/>
              </a:spcBef>
              <a:buFont typeface="Times New Roman"/>
              <a:buAutoNum type="arabicPeriod"/>
              <a:tabLst>
                <a:tab pos="1238885" algn="l"/>
                <a:tab pos="1239520" algn="l"/>
              </a:tabLst>
            </a:pPr>
            <a:r>
              <a:rPr dirty="0" sz="3500" spc="-5" b="1">
                <a:solidFill>
                  <a:srgbClr val="FFFFFF"/>
                </a:solidFill>
                <a:latin typeface="宋体"/>
                <a:cs typeface="宋体"/>
              </a:rPr>
              <a:t>类型检</a:t>
            </a: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查</a:t>
            </a:r>
            <a:r>
              <a:rPr dirty="0" sz="3500" spc="-5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自</a:t>
            </a:r>
            <a:r>
              <a:rPr dirty="0" sz="3500" spc="-5" b="1">
                <a:solidFill>
                  <a:srgbClr val="FFFFFF"/>
                </a:solidFill>
                <a:latin typeface="宋体"/>
                <a:cs typeface="宋体"/>
              </a:rPr>
              <a:t>学</a:t>
            </a:r>
            <a:r>
              <a:rPr dirty="0" sz="3500" spc="-1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3500">
              <a:latin typeface="宋体"/>
              <a:cs typeface="宋体"/>
            </a:endParaRPr>
          </a:p>
          <a:p>
            <a:pPr lvl="1" marL="1238885" indent="-1226820">
              <a:lnSpc>
                <a:spcPct val="100000"/>
              </a:lnSpc>
              <a:spcBef>
                <a:spcPts val="1680"/>
              </a:spcBef>
              <a:buFont typeface="Times New Roman"/>
              <a:buAutoNum type="arabicPeriod"/>
              <a:tabLst>
                <a:tab pos="1238885" algn="l"/>
                <a:tab pos="1239520" algn="l"/>
              </a:tabLst>
            </a:pP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语句翻译与中间代码生成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9330" y="5045964"/>
            <a:ext cx="5980430" cy="91440"/>
          </a:xfrm>
          <a:custGeom>
            <a:avLst/>
            <a:gdLst/>
            <a:ahLst/>
            <a:cxnLst/>
            <a:rect l="l" t="t" r="r" b="b"/>
            <a:pathLst>
              <a:path w="5980430" h="91439">
                <a:moveTo>
                  <a:pt x="5980277" y="63500"/>
                </a:moveTo>
                <a:lnTo>
                  <a:pt x="165" y="78740"/>
                </a:lnTo>
                <a:lnTo>
                  <a:pt x="203" y="91440"/>
                </a:lnTo>
                <a:lnTo>
                  <a:pt x="5980404" y="76200"/>
                </a:lnTo>
                <a:lnTo>
                  <a:pt x="5980277" y="63500"/>
                </a:lnTo>
                <a:close/>
              </a:path>
              <a:path w="5980430" h="91439">
                <a:moveTo>
                  <a:pt x="5980277" y="25400"/>
                </a:moveTo>
                <a:lnTo>
                  <a:pt x="63" y="40640"/>
                </a:lnTo>
                <a:lnTo>
                  <a:pt x="139" y="66040"/>
                </a:lnTo>
                <a:lnTo>
                  <a:pt x="5980277" y="50800"/>
                </a:lnTo>
                <a:lnTo>
                  <a:pt x="5980277" y="25400"/>
                </a:lnTo>
                <a:close/>
              </a:path>
              <a:path w="5980430" h="91439">
                <a:moveTo>
                  <a:pt x="5980150" y="0"/>
                </a:moveTo>
                <a:lnTo>
                  <a:pt x="0" y="15240"/>
                </a:lnTo>
                <a:lnTo>
                  <a:pt x="38" y="27940"/>
                </a:lnTo>
                <a:lnTo>
                  <a:pt x="5980150" y="12700"/>
                </a:lnTo>
                <a:lnTo>
                  <a:pt x="59801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57115" y="3215639"/>
            <a:ext cx="1663064" cy="722630"/>
          </a:xfrm>
          <a:custGeom>
            <a:avLst/>
            <a:gdLst/>
            <a:ahLst/>
            <a:cxnLst/>
            <a:rect l="l" t="t" r="r" b="b"/>
            <a:pathLst>
              <a:path w="1663064" h="722629">
                <a:moveTo>
                  <a:pt x="415544" y="0"/>
                </a:moveTo>
                <a:lnTo>
                  <a:pt x="0" y="361188"/>
                </a:lnTo>
                <a:lnTo>
                  <a:pt x="415544" y="722376"/>
                </a:lnTo>
                <a:lnTo>
                  <a:pt x="415544" y="541782"/>
                </a:lnTo>
                <a:lnTo>
                  <a:pt x="1662684" y="541782"/>
                </a:lnTo>
                <a:lnTo>
                  <a:pt x="1662684" y="180594"/>
                </a:lnTo>
                <a:lnTo>
                  <a:pt x="415544" y="180594"/>
                </a:lnTo>
                <a:lnTo>
                  <a:pt x="415544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357115" y="3215639"/>
            <a:ext cx="1663064" cy="722630"/>
          </a:xfrm>
          <a:custGeom>
            <a:avLst/>
            <a:gdLst/>
            <a:ahLst/>
            <a:cxnLst/>
            <a:rect l="l" t="t" r="r" b="b"/>
            <a:pathLst>
              <a:path w="1663064" h="722629">
                <a:moveTo>
                  <a:pt x="0" y="361188"/>
                </a:moveTo>
                <a:lnTo>
                  <a:pt x="415544" y="0"/>
                </a:lnTo>
                <a:lnTo>
                  <a:pt x="415544" y="180594"/>
                </a:lnTo>
                <a:lnTo>
                  <a:pt x="1662684" y="180594"/>
                </a:lnTo>
                <a:lnTo>
                  <a:pt x="1662684" y="541782"/>
                </a:lnTo>
                <a:lnTo>
                  <a:pt x="415544" y="541782"/>
                </a:lnTo>
                <a:lnTo>
                  <a:pt x="415544" y="722376"/>
                </a:lnTo>
                <a:lnTo>
                  <a:pt x="0" y="361188"/>
                </a:lnTo>
                <a:close/>
              </a:path>
            </a:pathLst>
          </a:custGeom>
          <a:ln w="5715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215630" y="6697989"/>
            <a:ext cx="72707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fld>
            <a:r>
              <a:rPr dirty="0" sz="1400" spc="229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12494" y="26923"/>
            <a:ext cx="59010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  <a:tab pos="4292600" algn="l"/>
                <a:tab pos="48641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中间语言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4540" y="681204"/>
            <a:ext cx="7379970" cy="281749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824865" marR="12700" indent="-812800">
              <a:lnSpc>
                <a:spcPct val="156300"/>
              </a:lnSpc>
              <a:spcBef>
                <a:spcPts val="90"/>
              </a:spcBef>
            </a:pPr>
            <a:r>
              <a:rPr dirty="0" sz="3200">
                <a:solidFill>
                  <a:srgbClr val="FFFFFF"/>
                </a:solidFill>
              </a:rPr>
              <a:t>中间语</a:t>
            </a:r>
            <a:r>
              <a:rPr dirty="0" sz="3200" spc="-5">
                <a:solidFill>
                  <a:srgbClr val="FFFFFF"/>
                </a:solidFill>
              </a:rPr>
              <a:t>言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</a:rPr>
              <a:t>中间代</a:t>
            </a:r>
            <a:r>
              <a:rPr dirty="0" sz="3200" spc="-5">
                <a:solidFill>
                  <a:srgbClr val="FFFFFF"/>
                </a:solidFill>
              </a:rPr>
              <a:t>码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>
                <a:solidFill>
                  <a:srgbClr val="FFFFFF"/>
                </a:solidFill>
              </a:rPr>
              <a:t>是语义程序的</a:t>
            </a:r>
            <a:r>
              <a:rPr dirty="0" sz="3200" spc="-10">
                <a:solidFill>
                  <a:srgbClr val="FFFFFF"/>
                </a:solidFill>
              </a:rPr>
              <a:t>输</a:t>
            </a:r>
            <a:r>
              <a:rPr dirty="0" sz="3200">
                <a:solidFill>
                  <a:srgbClr val="FFFFFF"/>
                </a:solidFill>
              </a:rPr>
              <a:t>出</a:t>
            </a:r>
            <a:r>
              <a:rPr dirty="0" sz="3200" spc="-10">
                <a:solidFill>
                  <a:srgbClr val="FFFFFF"/>
                </a:solidFill>
              </a:rPr>
              <a:t>。 </a:t>
            </a:r>
            <a:r>
              <a:rPr dirty="0" sz="3200" spc="-5">
                <a:solidFill>
                  <a:srgbClr val="FFFF00"/>
                </a:solidFill>
              </a:rPr>
              <a:t>中间语言的设计与应用既要考</a:t>
            </a:r>
            <a:r>
              <a:rPr dirty="0" sz="3200" spc="-15">
                <a:solidFill>
                  <a:srgbClr val="FFFF00"/>
                </a:solidFill>
              </a:rPr>
              <a:t>虑</a:t>
            </a:r>
            <a:r>
              <a:rPr dirty="0" sz="3200" spc="-5">
                <a:solidFill>
                  <a:srgbClr val="FFFF00"/>
                </a:solidFill>
              </a:rPr>
              <a:t>从源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130000"/>
              </a:lnSpc>
              <a:spcBef>
                <a:spcPts val="5"/>
              </a:spcBef>
            </a:pPr>
            <a:r>
              <a:rPr dirty="0" sz="3200">
                <a:solidFill>
                  <a:srgbClr val="FFFF00"/>
                </a:solidFill>
              </a:rPr>
              <a:t>语言到目标语言的翻译跨度</a:t>
            </a:r>
            <a:r>
              <a:rPr dirty="0" sz="3200" spc="-10">
                <a:solidFill>
                  <a:srgbClr val="FFFF00"/>
                </a:solidFill>
              </a:rPr>
              <a:t>又</a:t>
            </a:r>
            <a:r>
              <a:rPr dirty="0" sz="3200">
                <a:solidFill>
                  <a:srgbClr val="FFFF00"/>
                </a:solidFill>
              </a:rPr>
              <a:t>要考</a:t>
            </a:r>
            <a:r>
              <a:rPr dirty="0" sz="3200" spc="-10">
                <a:solidFill>
                  <a:srgbClr val="FFFF00"/>
                </a:solidFill>
              </a:rPr>
              <a:t>虑</a:t>
            </a:r>
            <a:r>
              <a:rPr dirty="0" sz="3200">
                <a:solidFill>
                  <a:srgbClr val="FFFF00"/>
                </a:solidFill>
              </a:rPr>
              <a:t>目标 </a:t>
            </a:r>
            <a:r>
              <a:rPr dirty="0" sz="3200">
                <a:solidFill>
                  <a:srgbClr val="FFFF00"/>
                </a:solidFill>
              </a:rPr>
              <a:t>机的指令集特点。</a:t>
            </a:r>
            <a:endParaRPr sz="3200"/>
          </a:p>
        </p:txBody>
      </p:sp>
      <p:sp>
        <p:nvSpPr>
          <p:cNvPr id="6" name="object 6"/>
          <p:cNvSpPr txBox="1"/>
          <p:nvPr/>
        </p:nvSpPr>
        <p:spPr>
          <a:xfrm>
            <a:off x="631342" y="4650435"/>
            <a:ext cx="165925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00FFFF"/>
                </a:solidFill>
                <a:latin typeface="宋体"/>
                <a:cs typeface="宋体"/>
              </a:rPr>
              <a:t>中间语言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13075" y="4066413"/>
            <a:ext cx="591121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元式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三元式、间接三元式四元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13075" y="4911090"/>
            <a:ext cx="155575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逆波兰式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13075" y="5666943"/>
            <a:ext cx="406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5" b="1">
                <a:solidFill>
                  <a:srgbClr val="FFFFFF"/>
                </a:solidFill>
                <a:latin typeface="宋体"/>
                <a:cs typeface="宋体"/>
              </a:rPr>
              <a:t>图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477261" y="4307585"/>
            <a:ext cx="304800" cy="1600200"/>
          </a:xfrm>
          <a:custGeom>
            <a:avLst/>
            <a:gdLst/>
            <a:ahLst/>
            <a:cxnLst/>
            <a:rect l="l" t="t" r="r" b="b"/>
            <a:pathLst>
              <a:path w="304800" h="1600200">
                <a:moveTo>
                  <a:pt x="304800" y="1600200"/>
                </a:moveTo>
                <a:lnTo>
                  <a:pt x="256617" y="1593401"/>
                </a:lnTo>
                <a:lnTo>
                  <a:pt x="214780" y="1574471"/>
                </a:lnTo>
                <a:lnTo>
                  <a:pt x="181794" y="1545604"/>
                </a:lnTo>
                <a:lnTo>
                  <a:pt x="160166" y="1508998"/>
                </a:lnTo>
                <a:lnTo>
                  <a:pt x="152400" y="1466850"/>
                </a:lnTo>
                <a:lnTo>
                  <a:pt x="152400" y="933450"/>
                </a:lnTo>
                <a:lnTo>
                  <a:pt x="144633" y="891296"/>
                </a:lnTo>
                <a:lnTo>
                  <a:pt x="123005" y="854689"/>
                </a:lnTo>
                <a:lnTo>
                  <a:pt x="90019" y="825825"/>
                </a:lnTo>
                <a:lnTo>
                  <a:pt x="48182" y="806897"/>
                </a:lnTo>
                <a:lnTo>
                  <a:pt x="0" y="800100"/>
                </a:lnTo>
                <a:lnTo>
                  <a:pt x="48182" y="793302"/>
                </a:lnTo>
                <a:lnTo>
                  <a:pt x="90019" y="774374"/>
                </a:lnTo>
                <a:lnTo>
                  <a:pt x="123005" y="745510"/>
                </a:lnTo>
                <a:lnTo>
                  <a:pt x="144633" y="708903"/>
                </a:lnTo>
                <a:lnTo>
                  <a:pt x="152400" y="666750"/>
                </a:lnTo>
                <a:lnTo>
                  <a:pt x="152400" y="133350"/>
                </a:lnTo>
                <a:lnTo>
                  <a:pt x="160166" y="91196"/>
                </a:lnTo>
                <a:lnTo>
                  <a:pt x="181794" y="54589"/>
                </a:lnTo>
                <a:lnTo>
                  <a:pt x="214780" y="25725"/>
                </a:lnTo>
                <a:lnTo>
                  <a:pt x="256617" y="6797"/>
                </a:lnTo>
                <a:lnTo>
                  <a:pt x="3048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215630" y="6697989"/>
            <a:ext cx="72707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fld>
            <a:r>
              <a:rPr dirty="0" sz="1400" spc="229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2494" y="26923"/>
            <a:ext cx="348487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92521" y="26923"/>
            <a:ext cx="16211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3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中间语言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6127" y="813891"/>
            <a:ext cx="2225040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1355" algn="l"/>
              </a:tabLst>
            </a:pP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逆波兰式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18052" y="807796"/>
            <a:ext cx="1723389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后缀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3200" spc="-1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2342" y="2002282"/>
            <a:ext cx="206756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形式定义：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92652" y="1960791"/>
            <a:ext cx="2160270" cy="603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3600" spc="-5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r>
              <a:rPr dirty="0" baseline="-16203" sz="3600" spc="-7" b="1">
                <a:solidFill>
                  <a:srgbClr val="00FFFF"/>
                </a:solidFill>
                <a:latin typeface="Times New Roman"/>
                <a:cs typeface="Times New Roman"/>
              </a:rPr>
              <a:t>1</a:t>
            </a:r>
            <a:r>
              <a:rPr dirty="0" sz="3600" spc="-5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r>
              <a:rPr dirty="0" baseline="-16203" sz="3600" spc="-7" b="1">
                <a:solidFill>
                  <a:srgbClr val="00FFFF"/>
                </a:solidFill>
                <a:latin typeface="Times New Roman"/>
                <a:cs typeface="Times New Roman"/>
              </a:rPr>
              <a:t>2 </a:t>
            </a:r>
            <a:r>
              <a:rPr dirty="0" sz="3600" b="1">
                <a:solidFill>
                  <a:srgbClr val="00FFFF"/>
                </a:solidFill>
                <a:latin typeface="Times New Roman"/>
                <a:cs typeface="Times New Roman"/>
              </a:rPr>
              <a:t>… </a:t>
            </a:r>
            <a:r>
              <a:rPr dirty="0" sz="3600" spc="-5" b="1" i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r>
              <a:rPr dirty="0" baseline="-16203" sz="3600" spc="-7" b="1" i="1">
                <a:solidFill>
                  <a:srgbClr val="00FFFF"/>
                </a:solidFill>
                <a:latin typeface="Times New Roman"/>
                <a:cs typeface="Times New Roman"/>
              </a:rPr>
              <a:t>n</a:t>
            </a:r>
            <a:r>
              <a:rPr dirty="0" baseline="-16203" sz="3600" spc="-540" b="1" i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800" spc="-110" b="1" i="1">
                <a:solidFill>
                  <a:srgbClr val="FFFF00"/>
                </a:solidFill>
                <a:latin typeface="Symbol"/>
                <a:cs typeface="Symbol"/>
              </a:rPr>
              <a:t></a:t>
            </a:r>
            <a:endParaRPr sz="38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74638" y="2035810"/>
            <a:ext cx="115379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( 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n</a:t>
            </a:r>
            <a:r>
              <a:rPr dirty="0" sz="3200" spc="-105" b="1" i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00FFFF"/>
                </a:solidFill>
                <a:latin typeface="Times New Roman"/>
                <a:cs typeface="Times New Roman"/>
              </a:rPr>
              <a:t>≥1)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71138" y="2646426"/>
            <a:ext cx="1739264" cy="323215"/>
          </a:xfrm>
          <a:custGeom>
            <a:avLst/>
            <a:gdLst/>
            <a:ahLst/>
            <a:cxnLst/>
            <a:rect l="l" t="t" r="r" b="b"/>
            <a:pathLst>
              <a:path w="1739264" h="323214">
                <a:moveTo>
                  <a:pt x="1738884" y="0"/>
                </a:moveTo>
                <a:lnTo>
                  <a:pt x="1731522" y="51084"/>
                </a:lnTo>
                <a:lnTo>
                  <a:pt x="1711017" y="95432"/>
                </a:lnTo>
                <a:lnTo>
                  <a:pt x="1679740" y="130393"/>
                </a:lnTo>
                <a:lnTo>
                  <a:pt x="1640063" y="153314"/>
                </a:lnTo>
                <a:lnTo>
                  <a:pt x="1594358" y="161544"/>
                </a:lnTo>
                <a:lnTo>
                  <a:pt x="1013967" y="161544"/>
                </a:lnTo>
                <a:lnTo>
                  <a:pt x="968262" y="169773"/>
                </a:lnTo>
                <a:lnTo>
                  <a:pt x="928585" y="192694"/>
                </a:lnTo>
                <a:lnTo>
                  <a:pt x="897308" y="227655"/>
                </a:lnTo>
                <a:lnTo>
                  <a:pt x="876803" y="272003"/>
                </a:lnTo>
                <a:lnTo>
                  <a:pt x="869441" y="323088"/>
                </a:lnTo>
                <a:lnTo>
                  <a:pt x="862080" y="272003"/>
                </a:lnTo>
                <a:lnTo>
                  <a:pt x="841575" y="227655"/>
                </a:lnTo>
                <a:lnTo>
                  <a:pt x="810298" y="192694"/>
                </a:lnTo>
                <a:lnTo>
                  <a:pt x="770621" y="169773"/>
                </a:lnTo>
                <a:lnTo>
                  <a:pt x="724915" y="161544"/>
                </a:lnTo>
                <a:lnTo>
                  <a:pt x="144525" y="161544"/>
                </a:lnTo>
                <a:lnTo>
                  <a:pt x="98820" y="153302"/>
                </a:lnTo>
                <a:lnTo>
                  <a:pt x="59143" y="130356"/>
                </a:lnTo>
                <a:lnTo>
                  <a:pt x="27866" y="95378"/>
                </a:lnTo>
                <a:lnTo>
                  <a:pt x="7361" y="51035"/>
                </a:ln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586221" y="2684526"/>
            <a:ext cx="291465" cy="0"/>
          </a:xfrm>
          <a:custGeom>
            <a:avLst/>
            <a:gdLst/>
            <a:ahLst/>
            <a:cxnLst/>
            <a:rect l="l" t="t" r="r" b="b"/>
            <a:pathLst>
              <a:path w="291464" h="0">
                <a:moveTo>
                  <a:pt x="0" y="0"/>
                </a:moveTo>
                <a:lnTo>
                  <a:pt x="291083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867019" y="2668523"/>
            <a:ext cx="458470" cy="302895"/>
          </a:xfrm>
          <a:custGeom>
            <a:avLst/>
            <a:gdLst/>
            <a:ahLst/>
            <a:cxnLst/>
            <a:rect l="l" t="t" r="r" b="b"/>
            <a:pathLst>
              <a:path w="458470" h="302894">
                <a:moveTo>
                  <a:pt x="351754" y="256952"/>
                </a:moveTo>
                <a:lnTo>
                  <a:pt x="331215" y="289051"/>
                </a:lnTo>
                <a:lnTo>
                  <a:pt x="458342" y="302513"/>
                </a:lnTo>
                <a:lnTo>
                  <a:pt x="437257" y="267208"/>
                </a:lnTo>
                <a:lnTo>
                  <a:pt x="367791" y="267208"/>
                </a:lnTo>
                <a:lnTo>
                  <a:pt x="351754" y="256952"/>
                </a:lnTo>
                <a:close/>
              </a:path>
              <a:path w="458470" h="302894">
                <a:moveTo>
                  <a:pt x="372260" y="224904"/>
                </a:moveTo>
                <a:lnTo>
                  <a:pt x="351754" y="256952"/>
                </a:lnTo>
                <a:lnTo>
                  <a:pt x="367791" y="267208"/>
                </a:lnTo>
                <a:lnTo>
                  <a:pt x="388365" y="235203"/>
                </a:lnTo>
                <a:lnTo>
                  <a:pt x="372260" y="224904"/>
                </a:lnTo>
                <a:close/>
              </a:path>
              <a:path w="458470" h="302894">
                <a:moveTo>
                  <a:pt x="392810" y="192786"/>
                </a:moveTo>
                <a:lnTo>
                  <a:pt x="372260" y="224904"/>
                </a:lnTo>
                <a:lnTo>
                  <a:pt x="388365" y="235203"/>
                </a:lnTo>
                <a:lnTo>
                  <a:pt x="367791" y="267208"/>
                </a:lnTo>
                <a:lnTo>
                  <a:pt x="437257" y="267208"/>
                </a:lnTo>
                <a:lnTo>
                  <a:pt x="392810" y="192786"/>
                </a:lnTo>
                <a:close/>
              </a:path>
              <a:path w="458470" h="302894">
                <a:moveTo>
                  <a:pt x="20573" y="0"/>
                </a:moveTo>
                <a:lnTo>
                  <a:pt x="0" y="32003"/>
                </a:lnTo>
                <a:lnTo>
                  <a:pt x="351754" y="256952"/>
                </a:lnTo>
                <a:lnTo>
                  <a:pt x="372260" y="224904"/>
                </a:lnTo>
                <a:lnTo>
                  <a:pt x="2057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832352" y="2934462"/>
            <a:ext cx="337629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136775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运算对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象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运算符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498598" y="4420361"/>
            <a:ext cx="566927" cy="1615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498598" y="4420361"/>
            <a:ext cx="567055" cy="161925"/>
          </a:xfrm>
          <a:custGeom>
            <a:avLst/>
            <a:gdLst/>
            <a:ahLst/>
            <a:cxnLst/>
            <a:rect l="l" t="t" r="r" b="b"/>
            <a:pathLst>
              <a:path w="567055" h="161925">
                <a:moveTo>
                  <a:pt x="0" y="40386"/>
                </a:moveTo>
                <a:lnTo>
                  <a:pt x="425195" y="40386"/>
                </a:lnTo>
                <a:lnTo>
                  <a:pt x="425195" y="0"/>
                </a:lnTo>
                <a:lnTo>
                  <a:pt x="566927" y="80771"/>
                </a:lnTo>
                <a:lnTo>
                  <a:pt x="425195" y="161544"/>
                </a:lnTo>
                <a:lnTo>
                  <a:pt x="425195" y="121157"/>
                </a:lnTo>
                <a:lnTo>
                  <a:pt x="0" y="121157"/>
                </a:lnTo>
                <a:lnTo>
                  <a:pt x="0" y="40386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213610" y="5129021"/>
            <a:ext cx="568451" cy="1615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213610" y="5129021"/>
            <a:ext cx="568960" cy="161925"/>
          </a:xfrm>
          <a:custGeom>
            <a:avLst/>
            <a:gdLst/>
            <a:ahLst/>
            <a:cxnLst/>
            <a:rect l="l" t="t" r="r" b="b"/>
            <a:pathLst>
              <a:path w="568960" h="161925">
                <a:moveTo>
                  <a:pt x="0" y="40385"/>
                </a:moveTo>
                <a:lnTo>
                  <a:pt x="426719" y="40385"/>
                </a:lnTo>
                <a:lnTo>
                  <a:pt x="426719" y="0"/>
                </a:lnTo>
                <a:lnTo>
                  <a:pt x="568451" y="80771"/>
                </a:lnTo>
                <a:lnTo>
                  <a:pt x="426719" y="161543"/>
                </a:lnTo>
                <a:lnTo>
                  <a:pt x="426719" y="121157"/>
                </a:lnTo>
                <a:lnTo>
                  <a:pt x="0" y="121157"/>
                </a:lnTo>
                <a:lnTo>
                  <a:pt x="0" y="40385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183944" y="5656275"/>
            <a:ext cx="278003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271009" y="5923026"/>
            <a:ext cx="568451" cy="1630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271009" y="5923026"/>
            <a:ext cx="568960" cy="163195"/>
          </a:xfrm>
          <a:custGeom>
            <a:avLst/>
            <a:gdLst/>
            <a:ahLst/>
            <a:cxnLst/>
            <a:rect l="l" t="t" r="r" b="b"/>
            <a:pathLst>
              <a:path w="568960" h="163195">
                <a:moveTo>
                  <a:pt x="0" y="40767"/>
                </a:moveTo>
                <a:lnTo>
                  <a:pt x="425323" y="40767"/>
                </a:lnTo>
                <a:lnTo>
                  <a:pt x="425323" y="0"/>
                </a:lnTo>
                <a:lnTo>
                  <a:pt x="568451" y="81534"/>
                </a:lnTo>
                <a:lnTo>
                  <a:pt x="425323" y="163068"/>
                </a:lnTo>
                <a:lnTo>
                  <a:pt x="425323" y="122301"/>
                </a:lnTo>
                <a:lnTo>
                  <a:pt x="0" y="122301"/>
                </a:lnTo>
                <a:lnTo>
                  <a:pt x="0" y="40767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64540" y="3402838"/>
            <a:ext cx="1391920" cy="1995805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例如，</a:t>
            </a:r>
            <a:endParaRPr sz="3200">
              <a:latin typeface="宋体"/>
              <a:cs typeface="宋体"/>
            </a:endParaRPr>
          </a:p>
          <a:p>
            <a:pPr marL="565150">
              <a:lnSpc>
                <a:spcPct val="100000"/>
              </a:lnSpc>
              <a:spcBef>
                <a:spcPts val="117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3200" spc="-1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  <a:p>
            <a:pPr marL="514984">
              <a:lnSpc>
                <a:spcPct val="100000"/>
              </a:lnSpc>
              <a:spcBef>
                <a:spcPts val="1639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-</a:t>
            </a:r>
            <a:r>
              <a:rPr dirty="0" sz="3200" spc="-3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15630" y="6697989"/>
            <a:ext cx="72707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fld>
            <a:r>
              <a:rPr dirty="0" sz="1400" spc="229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36797" y="3900906"/>
            <a:ext cx="5080635" cy="2254885"/>
          </a:xfrm>
          <a:prstGeom prst="rect">
            <a:avLst/>
          </a:prstGeom>
        </p:spPr>
        <p:txBody>
          <a:bodyPr wrap="square" lIns="0" tIns="262890" rIns="0" bIns="0" rtlCol="0" vert="horz">
            <a:spAutoFit/>
          </a:bodyPr>
          <a:lstStyle/>
          <a:p>
            <a:pPr marL="114300">
              <a:lnSpc>
                <a:spcPct val="100000"/>
              </a:lnSpc>
              <a:spcBef>
                <a:spcPts val="2070"/>
              </a:spcBef>
            </a:pP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ab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75"/>
              </a:spcBef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＠</a:t>
            </a:r>
            <a:r>
              <a:rPr dirty="0" sz="3200" spc="77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＠表示单目―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  <a:spcBef>
                <a:spcPts val="208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 b c d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+ *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e f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+ *</a:t>
            </a:r>
            <a:r>
              <a:rPr dirty="0" sz="3200" spc="-9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354573" y="627126"/>
            <a:ext cx="3578860" cy="3051175"/>
          </a:xfrm>
          <a:custGeom>
            <a:avLst/>
            <a:gdLst/>
            <a:ahLst/>
            <a:cxnLst/>
            <a:rect l="l" t="t" r="r" b="b"/>
            <a:pathLst>
              <a:path w="3578859" h="3051175">
                <a:moveTo>
                  <a:pt x="0" y="3051048"/>
                </a:moveTo>
                <a:lnTo>
                  <a:pt x="3578352" y="3051048"/>
                </a:lnTo>
                <a:lnTo>
                  <a:pt x="3578352" y="0"/>
                </a:lnTo>
                <a:lnTo>
                  <a:pt x="0" y="0"/>
                </a:lnTo>
                <a:lnTo>
                  <a:pt x="0" y="3051048"/>
                </a:lnTo>
                <a:close/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341111" y="586232"/>
            <a:ext cx="282638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(1)&lt;expr&gt; </a:t>
            </a:r>
            <a:r>
              <a:rPr dirty="0" sz="3200" b="1">
                <a:solidFill>
                  <a:srgbClr val="99FFCC"/>
                </a:solidFill>
                <a:latin typeface="Times New Roman"/>
                <a:cs typeface="Times New Roman"/>
              </a:rPr>
              <a:t>&lt;4&gt;</a:t>
            </a:r>
            <a:r>
              <a:rPr dirty="0" sz="3200" spc="-110" b="1">
                <a:solidFill>
                  <a:srgbClr val="99FFCC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J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42858" y="822451"/>
            <a:ext cx="191135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20" b="1">
                <a:solidFill>
                  <a:srgbClr val="00FFFF"/>
                </a:solidFill>
                <a:latin typeface="Times New Roman"/>
                <a:cs typeface="Times New Roman"/>
              </a:rPr>
              <a:t>F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8392" y="3773423"/>
            <a:ext cx="8844280" cy="2402205"/>
          </a:xfrm>
          <a:custGeom>
            <a:avLst/>
            <a:gdLst/>
            <a:ahLst/>
            <a:cxnLst/>
            <a:rect l="l" t="t" r="r" b="b"/>
            <a:pathLst>
              <a:path w="8844280" h="2402204">
                <a:moveTo>
                  <a:pt x="0" y="2401824"/>
                </a:moveTo>
                <a:lnTo>
                  <a:pt x="8843772" y="2401824"/>
                </a:lnTo>
                <a:lnTo>
                  <a:pt x="8843772" y="0"/>
                </a:lnTo>
                <a:lnTo>
                  <a:pt x="0" y="0"/>
                </a:lnTo>
                <a:lnTo>
                  <a:pt x="0" y="2401824"/>
                </a:lnTo>
                <a:close/>
              </a:path>
            </a:pathLst>
          </a:custGeom>
          <a:solidFill>
            <a:srgbClr val="1F090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412494" y="26923"/>
            <a:ext cx="348487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92521" y="26923"/>
            <a:ext cx="16211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3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中间语言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65778" y="1073914"/>
            <a:ext cx="2772410" cy="1928495"/>
          </a:xfrm>
          <a:prstGeom prst="rect">
            <a:avLst/>
          </a:prstGeom>
        </p:spPr>
        <p:txBody>
          <a:bodyPr wrap="square" lIns="0" tIns="1593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5"/>
              </a:spcBef>
              <a:tabLst>
                <a:tab pos="1287780" algn="l"/>
              </a:tabLst>
            </a:pPr>
            <a:r>
              <a:rPr dirty="0" baseline="-18849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Label2	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(2)&lt;s1&gt;</a:t>
            </a:r>
            <a:endParaRPr sz="3200">
              <a:latin typeface="Times New Roman"/>
              <a:cs typeface="Times New Roman"/>
            </a:endParaRPr>
          </a:p>
          <a:p>
            <a:pPr marL="1287780" marR="30480">
              <a:lnSpc>
                <a:spcPct val="130000"/>
              </a:lnSpc>
            </a:pP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(3)</a:t>
            </a:r>
            <a:r>
              <a:rPr dirty="0" sz="3200" b="1">
                <a:solidFill>
                  <a:srgbClr val="99FFCC"/>
                </a:solidFill>
                <a:latin typeface="Times New Roman"/>
                <a:cs typeface="Times New Roman"/>
              </a:rPr>
              <a:t>&lt;5&gt;</a:t>
            </a:r>
            <a:r>
              <a:rPr dirty="0" sz="3200" spc="-105" b="1">
                <a:solidFill>
                  <a:srgbClr val="99FFCC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J  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(4)&lt;s2&gt;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901" y="922782"/>
            <a:ext cx="496951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spc="-160" b="1">
                <a:solidFill>
                  <a:srgbClr val="FFFFFF"/>
                </a:solidFill>
                <a:latin typeface="Times New Roman"/>
                <a:cs typeface="Times New Roman"/>
              </a:rPr>
              <a:t>IF&lt;expr&gt;then&lt;s1&gt;els</a:t>
            </a:r>
            <a:r>
              <a:rPr dirty="0" baseline="19841" sz="4200" spc="-240" b="1">
                <a:solidFill>
                  <a:srgbClr val="66FFFF"/>
                </a:solidFill>
                <a:latin typeface="Wingdings 3"/>
                <a:cs typeface="Wingdings 3"/>
              </a:rPr>
              <a:t></a:t>
            </a:r>
            <a:r>
              <a:rPr dirty="0" sz="3200" spc="-160" b="1">
                <a:solidFill>
                  <a:srgbClr val="FFFFFF"/>
                </a:solidFill>
                <a:latin typeface="Times New Roman"/>
                <a:cs typeface="Times New Roman"/>
              </a:rPr>
              <a:t>e&lt;s2&gt;</a:t>
            </a:r>
            <a:r>
              <a:rPr dirty="0" baseline="-16865" sz="4200" spc="-240" b="1">
                <a:solidFill>
                  <a:srgbClr val="FFFF00"/>
                </a:solidFill>
                <a:latin typeface="Wingdings 3"/>
                <a:cs typeface="Wingdings 3"/>
              </a:rPr>
              <a:t></a:t>
            </a:r>
            <a:endParaRPr baseline="-16865" sz="4200">
              <a:latin typeface="Wingdings 3"/>
              <a:cs typeface="Wingdings 3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87648" y="412496"/>
            <a:ext cx="10712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Label1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199888" y="626363"/>
            <a:ext cx="695325" cy="3147060"/>
          </a:xfrm>
          <a:custGeom>
            <a:avLst/>
            <a:gdLst/>
            <a:ahLst/>
            <a:cxnLst/>
            <a:rect l="l" t="t" r="r" b="b"/>
            <a:pathLst>
              <a:path w="695325" h="3147060">
                <a:moveTo>
                  <a:pt x="0" y="1573530"/>
                </a:moveTo>
                <a:lnTo>
                  <a:pt x="378" y="1499454"/>
                </a:lnTo>
                <a:lnTo>
                  <a:pt x="1501" y="1426261"/>
                </a:lnTo>
                <a:lnTo>
                  <a:pt x="3353" y="1354024"/>
                </a:lnTo>
                <a:lnTo>
                  <a:pt x="5917" y="1282821"/>
                </a:lnTo>
                <a:lnTo>
                  <a:pt x="9177" y="1212726"/>
                </a:lnTo>
                <a:lnTo>
                  <a:pt x="13115" y="1143815"/>
                </a:lnTo>
                <a:lnTo>
                  <a:pt x="17714" y="1076163"/>
                </a:lnTo>
                <a:lnTo>
                  <a:pt x="22959" y="1009846"/>
                </a:lnTo>
                <a:lnTo>
                  <a:pt x="28833" y="944940"/>
                </a:lnTo>
                <a:lnTo>
                  <a:pt x="35318" y="881520"/>
                </a:lnTo>
                <a:lnTo>
                  <a:pt x="42398" y="819662"/>
                </a:lnTo>
                <a:lnTo>
                  <a:pt x="50057" y="759441"/>
                </a:lnTo>
                <a:lnTo>
                  <a:pt x="58278" y="700933"/>
                </a:lnTo>
                <a:lnTo>
                  <a:pt x="67043" y="644213"/>
                </a:lnTo>
                <a:lnTo>
                  <a:pt x="76337" y="589357"/>
                </a:lnTo>
                <a:lnTo>
                  <a:pt x="86143" y="536440"/>
                </a:lnTo>
                <a:lnTo>
                  <a:pt x="96443" y="485538"/>
                </a:lnTo>
                <a:lnTo>
                  <a:pt x="107222" y="436727"/>
                </a:lnTo>
                <a:lnTo>
                  <a:pt x="118463" y="390082"/>
                </a:lnTo>
                <a:lnTo>
                  <a:pt x="130148" y="345679"/>
                </a:lnTo>
                <a:lnTo>
                  <a:pt x="142262" y="303592"/>
                </a:lnTo>
                <a:lnTo>
                  <a:pt x="154787" y="263899"/>
                </a:lnTo>
                <a:lnTo>
                  <a:pt x="167707" y="226674"/>
                </a:lnTo>
                <a:lnTo>
                  <a:pt x="194665" y="159931"/>
                </a:lnTo>
                <a:lnTo>
                  <a:pt x="223002" y="103967"/>
                </a:lnTo>
                <a:lnTo>
                  <a:pt x="252585" y="59388"/>
                </a:lnTo>
                <a:lnTo>
                  <a:pt x="283279" y="26797"/>
                </a:lnTo>
                <a:lnTo>
                  <a:pt x="331115" y="1712"/>
                </a:lnTo>
                <a:lnTo>
                  <a:pt x="347472" y="0"/>
                </a:lnTo>
                <a:lnTo>
                  <a:pt x="363828" y="1712"/>
                </a:lnTo>
                <a:lnTo>
                  <a:pt x="411664" y="26797"/>
                </a:lnTo>
                <a:lnTo>
                  <a:pt x="442358" y="59388"/>
                </a:lnTo>
                <a:lnTo>
                  <a:pt x="471941" y="103967"/>
                </a:lnTo>
                <a:lnTo>
                  <a:pt x="500278" y="159931"/>
                </a:lnTo>
                <a:lnTo>
                  <a:pt x="527236" y="226674"/>
                </a:lnTo>
                <a:lnTo>
                  <a:pt x="540156" y="263899"/>
                </a:lnTo>
                <a:lnTo>
                  <a:pt x="552681" y="303592"/>
                </a:lnTo>
                <a:lnTo>
                  <a:pt x="564795" y="345679"/>
                </a:lnTo>
                <a:lnTo>
                  <a:pt x="576480" y="390082"/>
                </a:lnTo>
                <a:lnTo>
                  <a:pt x="587721" y="436727"/>
                </a:lnTo>
                <a:lnTo>
                  <a:pt x="598500" y="485538"/>
                </a:lnTo>
                <a:lnTo>
                  <a:pt x="608800" y="536440"/>
                </a:lnTo>
                <a:lnTo>
                  <a:pt x="618606" y="589357"/>
                </a:lnTo>
                <a:lnTo>
                  <a:pt x="627900" y="644213"/>
                </a:lnTo>
                <a:lnTo>
                  <a:pt x="636665" y="700933"/>
                </a:lnTo>
                <a:lnTo>
                  <a:pt x="644886" y="759441"/>
                </a:lnTo>
                <a:lnTo>
                  <a:pt x="652545" y="819662"/>
                </a:lnTo>
                <a:lnTo>
                  <a:pt x="659625" y="881520"/>
                </a:lnTo>
                <a:lnTo>
                  <a:pt x="666110" y="944940"/>
                </a:lnTo>
                <a:lnTo>
                  <a:pt x="671984" y="1009846"/>
                </a:lnTo>
                <a:lnTo>
                  <a:pt x="677229" y="1076163"/>
                </a:lnTo>
                <a:lnTo>
                  <a:pt x="681828" y="1143815"/>
                </a:lnTo>
                <a:lnTo>
                  <a:pt x="685766" y="1212726"/>
                </a:lnTo>
                <a:lnTo>
                  <a:pt x="689026" y="1282821"/>
                </a:lnTo>
                <a:lnTo>
                  <a:pt x="691590" y="1354024"/>
                </a:lnTo>
                <a:lnTo>
                  <a:pt x="693442" y="1426261"/>
                </a:lnTo>
                <a:lnTo>
                  <a:pt x="694565" y="1499454"/>
                </a:lnTo>
                <a:lnTo>
                  <a:pt x="694944" y="1573530"/>
                </a:lnTo>
                <a:lnTo>
                  <a:pt x="694565" y="1647605"/>
                </a:lnTo>
                <a:lnTo>
                  <a:pt x="693442" y="1720798"/>
                </a:lnTo>
                <a:lnTo>
                  <a:pt x="691590" y="1793035"/>
                </a:lnTo>
                <a:lnTo>
                  <a:pt x="689026" y="1864238"/>
                </a:lnTo>
                <a:lnTo>
                  <a:pt x="685766" y="1934333"/>
                </a:lnTo>
                <a:lnTo>
                  <a:pt x="681828" y="2003244"/>
                </a:lnTo>
                <a:lnTo>
                  <a:pt x="677229" y="2070896"/>
                </a:lnTo>
                <a:lnTo>
                  <a:pt x="671984" y="2137213"/>
                </a:lnTo>
                <a:lnTo>
                  <a:pt x="666110" y="2202119"/>
                </a:lnTo>
                <a:lnTo>
                  <a:pt x="659625" y="2265539"/>
                </a:lnTo>
                <a:lnTo>
                  <a:pt x="652545" y="2327397"/>
                </a:lnTo>
                <a:lnTo>
                  <a:pt x="644886" y="2387618"/>
                </a:lnTo>
                <a:lnTo>
                  <a:pt x="636665" y="2446126"/>
                </a:lnTo>
                <a:lnTo>
                  <a:pt x="627900" y="2502846"/>
                </a:lnTo>
                <a:lnTo>
                  <a:pt x="618606" y="2557702"/>
                </a:lnTo>
                <a:lnTo>
                  <a:pt x="608800" y="2610619"/>
                </a:lnTo>
                <a:lnTo>
                  <a:pt x="598500" y="2661521"/>
                </a:lnTo>
                <a:lnTo>
                  <a:pt x="587721" y="2710332"/>
                </a:lnTo>
                <a:lnTo>
                  <a:pt x="576480" y="2756977"/>
                </a:lnTo>
                <a:lnTo>
                  <a:pt x="564795" y="2801380"/>
                </a:lnTo>
                <a:lnTo>
                  <a:pt x="552681" y="2843467"/>
                </a:lnTo>
                <a:lnTo>
                  <a:pt x="540156" y="2883160"/>
                </a:lnTo>
                <a:lnTo>
                  <a:pt x="527236" y="2920385"/>
                </a:lnTo>
                <a:lnTo>
                  <a:pt x="500278" y="2987128"/>
                </a:lnTo>
                <a:lnTo>
                  <a:pt x="471941" y="3043092"/>
                </a:lnTo>
                <a:lnTo>
                  <a:pt x="442358" y="3087671"/>
                </a:lnTo>
                <a:lnTo>
                  <a:pt x="411664" y="3120262"/>
                </a:lnTo>
                <a:lnTo>
                  <a:pt x="363828" y="3145347"/>
                </a:lnTo>
                <a:lnTo>
                  <a:pt x="347472" y="3147060"/>
                </a:lnTo>
                <a:lnTo>
                  <a:pt x="331115" y="3145347"/>
                </a:lnTo>
                <a:lnTo>
                  <a:pt x="283279" y="3120262"/>
                </a:lnTo>
                <a:lnTo>
                  <a:pt x="252585" y="3087671"/>
                </a:lnTo>
                <a:lnTo>
                  <a:pt x="223002" y="3043092"/>
                </a:lnTo>
                <a:lnTo>
                  <a:pt x="194665" y="2987128"/>
                </a:lnTo>
                <a:lnTo>
                  <a:pt x="167707" y="2920385"/>
                </a:lnTo>
                <a:lnTo>
                  <a:pt x="154787" y="2883160"/>
                </a:lnTo>
                <a:lnTo>
                  <a:pt x="142262" y="2843467"/>
                </a:lnTo>
                <a:lnTo>
                  <a:pt x="130148" y="2801380"/>
                </a:lnTo>
                <a:lnTo>
                  <a:pt x="118463" y="2756977"/>
                </a:lnTo>
                <a:lnTo>
                  <a:pt x="107222" y="2710332"/>
                </a:lnTo>
                <a:lnTo>
                  <a:pt x="96443" y="2661521"/>
                </a:lnTo>
                <a:lnTo>
                  <a:pt x="86143" y="2610619"/>
                </a:lnTo>
                <a:lnTo>
                  <a:pt x="76337" y="2557702"/>
                </a:lnTo>
                <a:lnTo>
                  <a:pt x="67043" y="2502846"/>
                </a:lnTo>
                <a:lnTo>
                  <a:pt x="58278" y="2446126"/>
                </a:lnTo>
                <a:lnTo>
                  <a:pt x="50057" y="2387618"/>
                </a:lnTo>
                <a:lnTo>
                  <a:pt x="42398" y="2327397"/>
                </a:lnTo>
                <a:lnTo>
                  <a:pt x="35318" y="2265539"/>
                </a:lnTo>
                <a:lnTo>
                  <a:pt x="28833" y="2202119"/>
                </a:lnTo>
                <a:lnTo>
                  <a:pt x="22959" y="2137213"/>
                </a:lnTo>
                <a:lnTo>
                  <a:pt x="17714" y="2070896"/>
                </a:lnTo>
                <a:lnTo>
                  <a:pt x="13115" y="2003244"/>
                </a:lnTo>
                <a:lnTo>
                  <a:pt x="9177" y="1934333"/>
                </a:lnTo>
                <a:lnTo>
                  <a:pt x="5917" y="1864238"/>
                </a:lnTo>
                <a:lnTo>
                  <a:pt x="3353" y="1793035"/>
                </a:lnTo>
                <a:lnTo>
                  <a:pt x="1501" y="1720798"/>
                </a:lnTo>
                <a:lnTo>
                  <a:pt x="378" y="1647605"/>
                </a:lnTo>
                <a:lnTo>
                  <a:pt x="0" y="1573530"/>
                </a:lnTo>
                <a:close/>
              </a:path>
            </a:pathLst>
          </a:custGeom>
          <a:ln w="5715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528946" y="2858261"/>
            <a:ext cx="727075" cy="820419"/>
          </a:xfrm>
          <a:custGeom>
            <a:avLst/>
            <a:gdLst/>
            <a:ahLst/>
            <a:cxnLst/>
            <a:rect l="l" t="t" r="r" b="b"/>
            <a:pathLst>
              <a:path w="727075" h="820420">
                <a:moveTo>
                  <a:pt x="511301" y="0"/>
                </a:moveTo>
                <a:lnTo>
                  <a:pt x="511301" y="204977"/>
                </a:lnTo>
                <a:lnTo>
                  <a:pt x="0" y="204977"/>
                </a:lnTo>
                <a:lnTo>
                  <a:pt x="0" y="614934"/>
                </a:lnTo>
                <a:lnTo>
                  <a:pt x="511301" y="614934"/>
                </a:lnTo>
                <a:lnTo>
                  <a:pt x="511301" y="819912"/>
                </a:lnTo>
                <a:lnTo>
                  <a:pt x="726566" y="409955"/>
                </a:lnTo>
                <a:lnTo>
                  <a:pt x="511301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475210" y="3063239"/>
            <a:ext cx="0" cy="410209"/>
          </a:xfrm>
          <a:custGeom>
            <a:avLst/>
            <a:gdLst/>
            <a:ahLst/>
            <a:cxnLst/>
            <a:rect l="l" t="t" r="r" b="b"/>
            <a:pathLst>
              <a:path w="0" h="410210">
                <a:moveTo>
                  <a:pt x="0" y="0"/>
                </a:moveTo>
                <a:lnTo>
                  <a:pt x="0" y="409955"/>
                </a:lnTo>
              </a:path>
            </a:pathLst>
          </a:custGeom>
          <a:ln w="53816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528946" y="2858261"/>
            <a:ext cx="727075" cy="820419"/>
          </a:xfrm>
          <a:custGeom>
            <a:avLst/>
            <a:gdLst/>
            <a:ahLst/>
            <a:cxnLst/>
            <a:rect l="l" t="t" r="r" b="b"/>
            <a:pathLst>
              <a:path w="727075" h="820420">
                <a:moveTo>
                  <a:pt x="511301" y="0"/>
                </a:moveTo>
                <a:lnTo>
                  <a:pt x="511301" y="204977"/>
                </a:lnTo>
                <a:lnTo>
                  <a:pt x="0" y="204977"/>
                </a:lnTo>
                <a:lnTo>
                  <a:pt x="0" y="614934"/>
                </a:lnTo>
                <a:lnTo>
                  <a:pt x="511301" y="614934"/>
                </a:lnTo>
                <a:lnTo>
                  <a:pt x="511301" y="819912"/>
                </a:lnTo>
                <a:lnTo>
                  <a:pt x="726566" y="409955"/>
                </a:lnTo>
                <a:lnTo>
                  <a:pt x="511301" y="0"/>
                </a:lnTo>
                <a:close/>
              </a:path>
            </a:pathLst>
          </a:custGeom>
          <a:ln w="38100">
            <a:solidFill>
              <a:srgbClr val="CCFF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448302" y="3063239"/>
            <a:ext cx="53975" cy="410209"/>
          </a:xfrm>
          <a:custGeom>
            <a:avLst/>
            <a:gdLst/>
            <a:ahLst/>
            <a:cxnLst/>
            <a:rect l="l" t="t" r="r" b="b"/>
            <a:pathLst>
              <a:path w="53975" h="410210">
                <a:moveTo>
                  <a:pt x="0" y="409955"/>
                </a:moveTo>
                <a:lnTo>
                  <a:pt x="53816" y="409955"/>
                </a:lnTo>
                <a:lnTo>
                  <a:pt x="53816" y="0"/>
                </a:lnTo>
                <a:lnTo>
                  <a:pt x="0" y="0"/>
                </a:lnTo>
                <a:lnTo>
                  <a:pt x="0" y="409955"/>
                </a:lnTo>
                <a:close/>
              </a:path>
            </a:pathLst>
          </a:custGeom>
          <a:ln w="38100">
            <a:solidFill>
              <a:srgbClr val="CCFF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407907" y="3044189"/>
            <a:ext cx="0" cy="448309"/>
          </a:xfrm>
          <a:custGeom>
            <a:avLst/>
            <a:gdLst/>
            <a:ahLst/>
            <a:cxnLst/>
            <a:rect l="l" t="t" r="r" b="b"/>
            <a:pathLst>
              <a:path w="0" h="448310">
                <a:moveTo>
                  <a:pt x="0" y="0"/>
                </a:moveTo>
                <a:lnTo>
                  <a:pt x="0" y="448055"/>
                </a:lnTo>
              </a:path>
            </a:pathLst>
          </a:custGeom>
          <a:ln w="65007">
            <a:solidFill>
              <a:srgbClr val="CCFF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29641" y="2867580"/>
            <a:ext cx="8633460" cy="3227070"/>
          </a:xfrm>
          <a:prstGeom prst="rect">
            <a:avLst/>
          </a:prstGeom>
        </p:spPr>
        <p:txBody>
          <a:bodyPr wrap="square" lIns="0" tIns="267970" rIns="0" bIns="0" rtlCol="0" vert="horz">
            <a:spAutoFit/>
          </a:bodyPr>
          <a:lstStyle/>
          <a:p>
            <a:pPr algn="ctr" marL="1367155">
              <a:lnSpc>
                <a:spcPct val="100000"/>
              </a:lnSpc>
              <a:spcBef>
                <a:spcPts val="2110"/>
              </a:spcBef>
            </a:pPr>
            <a:r>
              <a:rPr dirty="0" baseline="18229" sz="4800" spc="-7" b="1">
                <a:latin typeface="宋体"/>
                <a:cs typeface="宋体"/>
              </a:rPr>
              <a:t>编</a:t>
            </a:r>
            <a:r>
              <a:rPr dirty="0" baseline="18229" sz="4800" spc="-15" b="1">
                <a:latin typeface="宋体"/>
                <a:cs typeface="宋体"/>
              </a:rPr>
              <a:t>号</a:t>
            </a:r>
            <a:r>
              <a:rPr dirty="0" baseline="18229" sz="4800" spc="-1155" b="1"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(5)</a:t>
            </a:r>
            <a:endParaRPr sz="3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201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引入两个操作符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3200" spc="5" b="1">
                <a:solidFill>
                  <a:srgbClr val="00FFFF"/>
                </a:solidFill>
                <a:latin typeface="Times New Roman"/>
                <a:cs typeface="Times New Roman"/>
              </a:rPr>
              <a:t>J</a:t>
            </a:r>
            <a:r>
              <a:rPr dirty="0" baseline="-21164" sz="3150" spc="7" b="1">
                <a:solidFill>
                  <a:srgbClr val="00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、</a:t>
            </a:r>
            <a:r>
              <a:rPr dirty="0" sz="3200" spc="-10" b="1">
                <a:solidFill>
                  <a:srgbClr val="00FFFF"/>
                </a:solidFill>
                <a:latin typeface="Times New Roman"/>
                <a:cs typeface="Times New Roman"/>
              </a:rPr>
              <a:t>J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50800" marR="43180">
              <a:lnSpc>
                <a:spcPct val="117200"/>
              </a:lnSpc>
            </a:pPr>
            <a:r>
              <a:rPr dirty="0" sz="3200" spc="5" b="1">
                <a:solidFill>
                  <a:srgbClr val="00FFFF"/>
                </a:solidFill>
                <a:latin typeface="Times New Roman"/>
                <a:cs typeface="Times New Roman"/>
              </a:rPr>
              <a:t>J</a:t>
            </a:r>
            <a:r>
              <a:rPr dirty="0" baseline="-21164" sz="3150" spc="30" b="1">
                <a:solidFill>
                  <a:srgbClr val="00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：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二目操作符，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3200" spc="20" b="1">
                <a:solidFill>
                  <a:srgbClr val="FFFFFF"/>
                </a:solidFill>
                <a:latin typeface="宋体"/>
                <a:cs typeface="宋体"/>
              </a:rPr>
              <a:t>果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运算对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象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的值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假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，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则产生一个到第二运算对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象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转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移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50800">
              <a:lnSpc>
                <a:spcPct val="100000"/>
              </a:lnSpc>
              <a:spcBef>
                <a:spcPts val="660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J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：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单目操作符，产生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运算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对象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转移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11057" y="6697989"/>
            <a:ext cx="737870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0207" y="685800"/>
            <a:ext cx="3327400" cy="5824855"/>
          </a:xfrm>
          <a:custGeom>
            <a:avLst/>
            <a:gdLst/>
            <a:ahLst/>
            <a:cxnLst/>
            <a:rect l="l" t="t" r="r" b="b"/>
            <a:pathLst>
              <a:path w="3327400" h="5824855">
                <a:moveTo>
                  <a:pt x="0" y="5824728"/>
                </a:moveTo>
                <a:lnTo>
                  <a:pt x="3326891" y="5824728"/>
                </a:lnTo>
                <a:lnTo>
                  <a:pt x="3326891" y="0"/>
                </a:lnTo>
                <a:lnTo>
                  <a:pt x="0" y="0"/>
                </a:lnTo>
                <a:lnTo>
                  <a:pt x="0" y="5824728"/>
                </a:lnTo>
                <a:close/>
              </a:path>
            </a:pathLst>
          </a:custGeom>
          <a:solidFill>
            <a:srgbClr val="A737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31038" y="533833"/>
            <a:ext cx="2866390" cy="591629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10"/>
              </a:spcBef>
              <a:tabLst>
                <a:tab pos="1159510" algn="l"/>
              </a:tabLst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6.1	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设有如下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程序片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段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621665" marR="1078865">
              <a:lnSpc>
                <a:spcPct val="110000"/>
              </a:lnSpc>
              <a:spcBef>
                <a:spcPts val="40"/>
              </a:spcBef>
              <a:tabLst>
                <a:tab pos="121602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int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25" b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； 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i=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j=0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algn="r" marR="925194">
              <a:lnSpc>
                <a:spcPct val="100000"/>
              </a:lnSpc>
              <a:spcBef>
                <a:spcPts val="33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h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-77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k=100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algn="r" marR="874394">
              <a:lnSpc>
                <a:spcPct val="100000"/>
              </a:lnSpc>
              <a:spcBef>
                <a:spcPts val="33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dirty="0" sz="2800" spc="-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(k&gt;i+j)</a:t>
            </a:r>
            <a:endParaRPr sz="2800">
              <a:latin typeface="Times New Roman"/>
              <a:cs typeface="Times New Roman"/>
            </a:endParaRPr>
          </a:p>
          <a:p>
            <a:pPr marL="621665" marR="5080" indent="356235">
              <a:lnSpc>
                <a:spcPct val="11000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k--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i++;</a:t>
            </a:r>
            <a:r>
              <a:rPr dirty="0" sz="28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  else</a:t>
            </a:r>
            <a:endParaRPr sz="2800">
              <a:latin typeface="Times New Roman"/>
              <a:cs typeface="Times New Roman"/>
            </a:endParaRPr>
          </a:p>
          <a:p>
            <a:pPr marL="621665" marR="76200" indent="356235">
              <a:lnSpc>
                <a:spcPct val="110000"/>
              </a:lnSpc>
              <a:spcBef>
                <a:spcPts val="5"/>
              </a:spcBef>
            </a:pPr>
            <a:r>
              <a:rPr dirty="0" sz="2800" spc="-25" b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=i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2-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*2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； 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goto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h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88265">
              <a:lnSpc>
                <a:spcPct val="100000"/>
              </a:lnSpc>
              <a:spcBef>
                <a:spcPts val="33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12494" y="26923"/>
            <a:ext cx="59010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  <a:tab pos="4292600" algn="l"/>
                <a:tab pos="48641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中间语言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789678" y="449961"/>
            <a:ext cx="288480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FFFFFF"/>
                </a:solidFill>
              </a:rPr>
              <a:t>逆波兰式代码：</a:t>
            </a:r>
            <a:endParaRPr sz="3200"/>
          </a:p>
        </p:txBody>
      </p:sp>
      <p:sp>
        <p:nvSpPr>
          <p:cNvPr id="8" name="object 8"/>
          <p:cNvSpPr/>
          <p:nvPr/>
        </p:nvSpPr>
        <p:spPr>
          <a:xfrm>
            <a:off x="4454652" y="800100"/>
            <a:ext cx="920750" cy="5709285"/>
          </a:xfrm>
          <a:custGeom>
            <a:avLst/>
            <a:gdLst/>
            <a:ahLst/>
            <a:cxnLst/>
            <a:rect l="l" t="t" r="r" b="b"/>
            <a:pathLst>
              <a:path w="920750" h="5709284">
                <a:moveTo>
                  <a:pt x="0" y="2854452"/>
                </a:moveTo>
                <a:lnTo>
                  <a:pt x="160" y="2778409"/>
                </a:lnTo>
                <a:lnTo>
                  <a:pt x="638" y="2702856"/>
                </a:lnTo>
                <a:lnTo>
                  <a:pt x="1429" y="2627819"/>
                </a:lnTo>
                <a:lnTo>
                  <a:pt x="2531" y="2553322"/>
                </a:lnTo>
                <a:lnTo>
                  <a:pt x="3938" y="2479389"/>
                </a:lnTo>
                <a:lnTo>
                  <a:pt x="5647" y="2406045"/>
                </a:lnTo>
                <a:lnTo>
                  <a:pt x="7654" y="2333315"/>
                </a:lnTo>
                <a:lnTo>
                  <a:pt x="9955" y="2261224"/>
                </a:lnTo>
                <a:lnTo>
                  <a:pt x="12546" y="2189795"/>
                </a:lnTo>
                <a:lnTo>
                  <a:pt x="15423" y="2119055"/>
                </a:lnTo>
                <a:lnTo>
                  <a:pt x="18581" y="2049027"/>
                </a:lnTo>
                <a:lnTo>
                  <a:pt x="22018" y="1979736"/>
                </a:lnTo>
                <a:lnTo>
                  <a:pt x="25728" y="1911207"/>
                </a:lnTo>
                <a:lnTo>
                  <a:pt x="29708" y="1843464"/>
                </a:lnTo>
                <a:lnTo>
                  <a:pt x="33955" y="1776532"/>
                </a:lnTo>
                <a:lnTo>
                  <a:pt x="38463" y="1710436"/>
                </a:lnTo>
                <a:lnTo>
                  <a:pt x="43230" y="1645201"/>
                </a:lnTo>
                <a:lnTo>
                  <a:pt x="48250" y="1580850"/>
                </a:lnTo>
                <a:lnTo>
                  <a:pt x="53521" y="1517409"/>
                </a:lnTo>
                <a:lnTo>
                  <a:pt x="59038" y="1454903"/>
                </a:lnTo>
                <a:lnTo>
                  <a:pt x="64797" y="1393356"/>
                </a:lnTo>
                <a:lnTo>
                  <a:pt x="70794" y="1332792"/>
                </a:lnTo>
                <a:lnTo>
                  <a:pt x="77025" y="1273237"/>
                </a:lnTo>
                <a:lnTo>
                  <a:pt x="83486" y="1214715"/>
                </a:lnTo>
                <a:lnTo>
                  <a:pt x="90174" y="1157250"/>
                </a:lnTo>
                <a:lnTo>
                  <a:pt x="97083" y="1100868"/>
                </a:lnTo>
                <a:lnTo>
                  <a:pt x="104211" y="1045593"/>
                </a:lnTo>
                <a:lnTo>
                  <a:pt x="111554" y="991450"/>
                </a:lnTo>
                <a:lnTo>
                  <a:pt x="119106" y="938463"/>
                </a:lnTo>
                <a:lnTo>
                  <a:pt x="126865" y="886657"/>
                </a:lnTo>
                <a:lnTo>
                  <a:pt x="134826" y="836056"/>
                </a:lnTo>
                <a:lnTo>
                  <a:pt x="142985" y="786686"/>
                </a:lnTo>
                <a:lnTo>
                  <a:pt x="151339" y="738571"/>
                </a:lnTo>
                <a:lnTo>
                  <a:pt x="159883" y="691736"/>
                </a:lnTo>
                <a:lnTo>
                  <a:pt x="168614" y="646205"/>
                </a:lnTo>
                <a:lnTo>
                  <a:pt x="177527" y="602002"/>
                </a:lnTo>
                <a:lnTo>
                  <a:pt x="186618" y="559154"/>
                </a:lnTo>
                <a:lnTo>
                  <a:pt x="195884" y="517684"/>
                </a:lnTo>
                <a:lnTo>
                  <a:pt x="205320" y="477616"/>
                </a:lnTo>
                <a:lnTo>
                  <a:pt x="214923" y="438976"/>
                </a:lnTo>
                <a:lnTo>
                  <a:pt x="224688" y="401789"/>
                </a:lnTo>
                <a:lnTo>
                  <a:pt x="244690" y="331870"/>
                </a:lnTo>
                <a:lnTo>
                  <a:pt x="265295" y="268055"/>
                </a:lnTo>
                <a:lnTo>
                  <a:pt x="286469" y="210543"/>
                </a:lnTo>
                <a:lnTo>
                  <a:pt x="308183" y="159530"/>
                </a:lnTo>
                <a:lnTo>
                  <a:pt x="330403" y="115214"/>
                </a:lnTo>
                <a:lnTo>
                  <a:pt x="353098" y="77793"/>
                </a:lnTo>
                <a:lnTo>
                  <a:pt x="376236" y="47462"/>
                </a:lnTo>
                <a:lnTo>
                  <a:pt x="411704" y="15695"/>
                </a:lnTo>
                <a:lnTo>
                  <a:pt x="447989" y="993"/>
                </a:lnTo>
                <a:lnTo>
                  <a:pt x="460248" y="0"/>
                </a:lnTo>
                <a:lnTo>
                  <a:pt x="472506" y="993"/>
                </a:lnTo>
                <a:lnTo>
                  <a:pt x="508791" y="15695"/>
                </a:lnTo>
                <a:lnTo>
                  <a:pt x="544259" y="47462"/>
                </a:lnTo>
                <a:lnTo>
                  <a:pt x="567397" y="77793"/>
                </a:lnTo>
                <a:lnTo>
                  <a:pt x="590092" y="115214"/>
                </a:lnTo>
                <a:lnTo>
                  <a:pt x="612312" y="159530"/>
                </a:lnTo>
                <a:lnTo>
                  <a:pt x="634026" y="210543"/>
                </a:lnTo>
                <a:lnTo>
                  <a:pt x="655200" y="268055"/>
                </a:lnTo>
                <a:lnTo>
                  <a:pt x="675805" y="331870"/>
                </a:lnTo>
                <a:lnTo>
                  <a:pt x="695807" y="401789"/>
                </a:lnTo>
                <a:lnTo>
                  <a:pt x="705572" y="438976"/>
                </a:lnTo>
                <a:lnTo>
                  <a:pt x="715175" y="477616"/>
                </a:lnTo>
                <a:lnTo>
                  <a:pt x="724611" y="517684"/>
                </a:lnTo>
                <a:lnTo>
                  <a:pt x="733877" y="559154"/>
                </a:lnTo>
                <a:lnTo>
                  <a:pt x="742968" y="602002"/>
                </a:lnTo>
                <a:lnTo>
                  <a:pt x="751881" y="646205"/>
                </a:lnTo>
                <a:lnTo>
                  <a:pt x="760612" y="691736"/>
                </a:lnTo>
                <a:lnTo>
                  <a:pt x="769156" y="738571"/>
                </a:lnTo>
                <a:lnTo>
                  <a:pt x="777510" y="786686"/>
                </a:lnTo>
                <a:lnTo>
                  <a:pt x="785669" y="836056"/>
                </a:lnTo>
                <a:lnTo>
                  <a:pt x="793630" y="886657"/>
                </a:lnTo>
                <a:lnTo>
                  <a:pt x="801389" y="938463"/>
                </a:lnTo>
                <a:lnTo>
                  <a:pt x="808941" y="991450"/>
                </a:lnTo>
                <a:lnTo>
                  <a:pt x="816284" y="1045593"/>
                </a:lnTo>
                <a:lnTo>
                  <a:pt x="823412" y="1100868"/>
                </a:lnTo>
                <a:lnTo>
                  <a:pt x="830321" y="1157250"/>
                </a:lnTo>
                <a:lnTo>
                  <a:pt x="837009" y="1214715"/>
                </a:lnTo>
                <a:lnTo>
                  <a:pt x="843470" y="1273237"/>
                </a:lnTo>
                <a:lnTo>
                  <a:pt x="849701" y="1332792"/>
                </a:lnTo>
                <a:lnTo>
                  <a:pt x="855698" y="1393356"/>
                </a:lnTo>
                <a:lnTo>
                  <a:pt x="861457" y="1454903"/>
                </a:lnTo>
                <a:lnTo>
                  <a:pt x="866974" y="1517409"/>
                </a:lnTo>
                <a:lnTo>
                  <a:pt x="872245" y="1580850"/>
                </a:lnTo>
                <a:lnTo>
                  <a:pt x="877265" y="1645201"/>
                </a:lnTo>
                <a:lnTo>
                  <a:pt x="882032" y="1710436"/>
                </a:lnTo>
                <a:lnTo>
                  <a:pt x="886540" y="1776532"/>
                </a:lnTo>
                <a:lnTo>
                  <a:pt x="890787" y="1843464"/>
                </a:lnTo>
                <a:lnTo>
                  <a:pt x="894767" y="1911207"/>
                </a:lnTo>
                <a:lnTo>
                  <a:pt x="898477" y="1979736"/>
                </a:lnTo>
                <a:lnTo>
                  <a:pt x="901914" y="2049027"/>
                </a:lnTo>
                <a:lnTo>
                  <a:pt x="905072" y="2119055"/>
                </a:lnTo>
                <a:lnTo>
                  <a:pt x="907949" y="2189795"/>
                </a:lnTo>
                <a:lnTo>
                  <a:pt x="910540" y="2261224"/>
                </a:lnTo>
                <a:lnTo>
                  <a:pt x="912841" y="2333315"/>
                </a:lnTo>
                <a:lnTo>
                  <a:pt x="914848" y="2406045"/>
                </a:lnTo>
                <a:lnTo>
                  <a:pt x="916557" y="2479389"/>
                </a:lnTo>
                <a:lnTo>
                  <a:pt x="917964" y="2553322"/>
                </a:lnTo>
                <a:lnTo>
                  <a:pt x="919066" y="2627819"/>
                </a:lnTo>
                <a:lnTo>
                  <a:pt x="919857" y="2702856"/>
                </a:lnTo>
                <a:lnTo>
                  <a:pt x="920335" y="2778409"/>
                </a:lnTo>
                <a:lnTo>
                  <a:pt x="920496" y="2854452"/>
                </a:lnTo>
                <a:lnTo>
                  <a:pt x="920335" y="2930494"/>
                </a:lnTo>
                <a:lnTo>
                  <a:pt x="919857" y="3006047"/>
                </a:lnTo>
                <a:lnTo>
                  <a:pt x="919066" y="3081084"/>
                </a:lnTo>
                <a:lnTo>
                  <a:pt x="917964" y="3155581"/>
                </a:lnTo>
                <a:lnTo>
                  <a:pt x="916557" y="3229514"/>
                </a:lnTo>
                <a:lnTo>
                  <a:pt x="914848" y="3302858"/>
                </a:lnTo>
                <a:lnTo>
                  <a:pt x="912841" y="3375588"/>
                </a:lnTo>
                <a:lnTo>
                  <a:pt x="910540" y="3447679"/>
                </a:lnTo>
                <a:lnTo>
                  <a:pt x="907949" y="3519108"/>
                </a:lnTo>
                <a:lnTo>
                  <a:pt x="905072" y="3589848"/>
                </a:lnTo>
                <a:lnTo>
                  <a:pt x="901914" y="3659876"/>
                </a:lnTo>
                <a:lnTo>
                  <a:pt x="898477" y="3729167"/>
                </a:lnTo>
                <a:lnTo>
                  <a:pt x="894767" y="3797696"/>
                </a:lnTo>
                <a:lnTo>
                  <a:pt x="890787" y="3865439"/>
                </a:lnTo>
                <a:lnTo>
                  <a:pt x="886540" y="3932371"/>
                </a:lnTo>
                <a:lnTo>
                  <a:pt x="882032" y="3998467"/>
                </a:lnTo>
                <a:lnTo>
                  <a:pt x="877265" y="4063702"/>
                </a:lnTo>
                <a:lnTo>
                  <a:pt x="872245" y="4128053"/>
                </a:lnTo>
                <a:lnTo>
                  <a:pt x="866974" y="4191494"/>
                </a:lnTo>
                <a:lnTo>
                  <a:pt x="861457" y="4254000"/>
                </a:lnTo>
                <a:lnTo>
                  <a:pt x="855698" y="4315547"/>
                </a:lnTo>
                <a:lnTo>
                  <a:pt x="849701" y="4376111"/>
                </a:lnTo>
                <a:lnTo>
                  <a:pt x="843470" y="4435666"/>
                </a:lnTo>
                <a:lnTo>
                  <a:pt x="837009" y="4494188"/>
                </a:lnTo>
                <a:lnTo>
                  <a:pt x="830321" y="4551653"/>
                </a:lnTo>
                <a:lnTo>
                  <a:pt x="823412" y="4608035"/>
                </a:lnTo>
                <a:lnTo>
                  <a:pt x="816284" y="4663310"/>
                </a:lnTo>
                <a:lnTo>
                  <a:pt x="808941" y="4717453"/>
                </a:lnTo>
                <a:lnTo>
                  <a:pt x="801389" y="4770440"/>
                </a:lnTo>
                <a:lnTo>
                  <a:pt x="793630" y="4822246"/>
                </a:lnTo>
                <a:lnTo>
                  <a:pt x="785669" y="4872847"/>
                </a:lnTo>
                <a:lnTo>
                  <a:pt x="777510" y="4922217"/>
                </a:lnTo>
                <a:lnTo>
                  <a:pt x="769156" y="4970332"/>
                </a:lnTo>
                <a:lnTo>
                  <a:pt x="760612" y="5017167"/>
                </a:lnTo>
                <a:lnTo>
                  <a:pt x="751881" y="5062698"/>
                </a:lnTo>
                <a:lnTo>
                  <a:pt x="742968" y="5106901"/>
                </a:lnTo>
                <a:lnTo>
                  <a:pt x="733877" y="5149749"/>
                </a:lnTo>
                <a:lnTo>
                  <a:pt x="724611" y="5191219"/>
                </a:lnTo>
                <a:lnTo>
                  <a:pt x="715175" y="5231287"/>
                </a:lnTo>
                <a:lnTo>
                  <a:pt x="705572" y="5269927"/>
                </a:lnTo>
                <a:lnTo>
                  <a:pt x="695807" y="5307114"/>
                </a:lnTo>
                <a:lnTo>
                  <a:pt x="675805" y="5377033"/>
                </a:lnTo>
                <a:lnTo>
                  <a:pt x="655200" y="5440848"/>
                </a:lnTo>
                <a:lnTo>
                  <a:pt x="634026" y="5498360"/>
                </a:lnTo>
                <a:lnTo>
                  <a:pt x="612312" y="5549373"/>
                </a:lnTo>
                <a:lnTo>
                  <a:pt x="590092" y="5593689"/>
                </a:lnTo>
                <a:lnTo>
                  <a:pt x="567397" y="5631110"/>
                </a:lnTo>
                <a:lnTo>
                  <a:pt x="544259" y="5661441"/>
                </a:lnTo>
                <a:lnTo>
                  <a:pt x="508791" y="5693208"/>
                </a:lnTo>
                <a:lnTo>
                  <a:pt x="472506" y="5707910"/>
                </a:lnTo>
                <a:lnTo>
                  <a:pt x="460248" y="5708904"/>
                </a:lnTo>
                <a:lnTo>
                  <a:pt x="447989" y="5707910"/>
                </a:lnTo>
                <a:lnTo>
                  <a:pt x="411704" y="5693208"/>
                </a:lnTo>
                <a:lnTo>
                  <a:pt x="376236" y="5661441"/>
                </a:lnTo>
                <a:lnTo>
                  <a:pt x="353098" y="5631110"/>
                </a:lnTo>
                <a:lnTo>
                  <a:pt x="330403" y="5593689"/>
                </a:lnTo>
                <a:lnTo>
                  <a:pt x="308183" y="5549373"/>
                </a:lnTo>
                <a:lnTo>
                  <a:pt x="286469" y="5498360"/>
                </a:lnTo>
                <a:lnTo>
                  <a:pt x="265295" y="5440848"/>
                </a:lnTo>
                <a:lnTo>
                  <a:pt x="244690" y="5377033"/>
                </a:lnTo>
                <a:lnTo>
                  <a:pt x="224688" y="5307114"/>
                </a:lnTo>
                <a:lnTo>
                  <a:pt x="214923" y="5269927"/>
                </a:lnTo>
                <a:lnTo>
                  <a:pt x="205320" y="5231287"/>
                </a:lnTo>
                <a:lnTo>
                  <a:pt x="195884" y="5191219"/>
                </a:lnTo>
                <a:lnTo>
                  <a:pt x="186618" y="5149749"/>
                </a:lnTo>
                <a:lnTo>
                  <a:pt x="177527" y="5106901"/>
                </a:lnTo>
                <a:lnTo>
                  <a:pt x="168614" y="5062698"/>
                </a:lnTo>
                <a:lnTo>
                  <a:pt x="159883" y="5017167"/>
                </a:lnTo>
                <a:lnTo>
                  <a:pt x="151339" y="4970332"/>
                </a:lnTo>
                <a:lnTo>
                  <a:pt x="142985" y="4922217"/>
                </a:lnTo>
                <a:lnTo>
                  <a:pt x="134826" y="4872847"/>
                </a:lnTo>
                <a:lnTo>
                  <a:pt x="126865" y="4822246"/>
                </a:lnTo>
                <a:lnTo>
                  <a:pt x="119106" y="4770440"/>
                </a:lnTo>
                <a:lnTo>
                  <a:pt x="111554" y="4717453"/>
                </a:lnTo>
                <a:lnTo>
                  <a:pt x="104211" y="4663310"/>
                </a:lnTo>
                <a:lnTo>
                  <a:pt x="97083" y="4608035"/>
                </a:lnTo>
                <a:lnTo>
                  <a:pt x="90174" y="4551653"/>
                </a:lnTo>
                <a:lnTo>
                  <a:pt x="83486" y="4494188"/>
                </a:lnTo>
                <a:lnTo>
                  <a:pt x="77025" y="4435666"/>
                </a:lnTo>
                <a:lnTo>
                  <a:pt x="70794" y="4376111"/>
                </a:lnTo>
                <a:lnTo>
                  <a:pt x="64797" y="4315547"/>
                </a:lnTo>
                <a:lnTo>
                  <a:pt x="59038" y="4254000"/>
                </a:lnTo>
                <a:lnTo>
                  <a:pt x="53521" y="4191494"/>
                </a:lnTo>
                <a:lnTo>
                  <a:pt x="48250" y="4128053"/>
                </a:lnTo>
                <a:lnTo>
                  <a:pt x="43230" y="4063702"/>
                </a:lnTo>
                <a:lnTo>
                  <a:pt x="38463" y="3998467"/>
                </a:lnTo>
                <a:lnTo>
                  <a:pt x="33955" y="3932371"/>
                </a:lnTo>
                <a:lnTo>
                  <a:pt x="29708" y="3865439"/>
                </a:lnTo>
                <a:lnTo>
                  <a:pt x="25728" y="3797696"/>
                </a:lnTo>
                <a:lnTo>
                  <a:pt x="22018" y="3729167"/>
                </a:lnTo>
                <a:lnTo>
                  <a:pt x="18581" y="3659876"/>
                </a:lnTo>
                <a:lnTo>
                  <a:pt x="15423" y="3589848"/>
                </a:lnTo>
                <a:lnTo>
                  <a:pt x="12546" y="3519108"/>
                </a:lnTo>
                <a:lnTo>
                  <a:pt x="9955" y="3447679"/>
                </a:lnTo>
                <a:lnTo>
                  <a:pt x="7654" y="3375588"/>
                </a:lnTo>
                <a:lnTo>
                  <a:pt x="5647" y="3302858"/>
                </a:lnTo>
                <a:lnTo>
                  <a:pt x="3938" y="3229514"/>
                </a:lnTo>
                <a:lnTo>
                  <a:pt x="2531" y="3155581"/>
                </a:lnTo>
                <a:lnTo>
                  <a:pt x="1429" y="3081084"/>
                </a:lnTo>
                <a:lnTo>
                  <a:pt x="638" y="3006047"/>
                </a:lnTo>
                <a:lnTo>
                  <a:pt x="160" y="2930494"/>
                </a:lnTo>
                <a:lnTo>
                  <a:pt x="0" y="2854452"/>
                </a:lnTo>
                <a:close/>
              </a:path>
            </a:pathLst>
          </a:custGeom>
          <a:ln w="5715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834003" y="5296661"/>
            <a:ext cx="727075" cy="820419"/>
          </a:xfrm>
          <a:custGeom>
            <a:avLst/>
            <a:gdLst/>
            <a:ahLst/>
            <a:cxnLst/>
            <a:rect l="l" t="t" r="r" b="b"/>
            <a:pathLst>
              <a:path w="727075" h="820420">
                <a:moveTo>
                  <a:pt x="511301" y="0"/>
                </a:moveTo>
                <a:lnTo>
                  <a:pt x="511301" y="204978"/>
                </a:lnTo>
                <a:lnTo>
                  <a:pt x="0" y="204978"/>
                </a:lnTo>
                <a:lnTo>
                  <a:pt x="0" y="614934"/>
                </a:lnTo>
                <a:lnTo>
                  <a:pt x="511301" y="614934"/>
                </a:lnTo>
                <a:lnTo>
                  <a:pt x="511301" y="819912"/>
                </a:lnTo>
                <a:lnTo>
                  <a:pt x="726567" y="409956"/>
                </a:lnTo>
                <a:lnTo>
                  <a:pt x="511301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780266" y="5501640"/>
            <a:ext cx="0" cy="410209"/>
          </a:xfrm>
          <a:custGeom>
            <a:avLst/>
            <a:gdLst/>
            <a:ahLst/>
            <a:cxnLst/>
            <a:rect l="l" t="t" r="r" b="b"/>
            <a:pathLst>
              <a:path w="0" h="410210">
                <a:moveTo>
                  <a:pt x="0" y="0"/>
                </a:moveTo>
                <a:lnTo>
                  <a:pt x="0" y="409956"/>
                </a:lnTo>
              </a:path>
            </a:pathLst>
          </a:custGeom>
          <a:ln w="53816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834003" y="5296661"/>
            <a:ext cx="727075" cy="820419"/>
          </a:xfrm>
          <a:custGeom>
            <a:avLst/>
            <a:gdLst/>
            <a:ahLst/>
            <a:cxnLst/>
            <a:rect l="l" t="t" r="r" b="b"/>
            <a:pathLst>
              <a:path w="727075" h="820420">
                <a:moveTo>
                  <a:pt x="511301" y="0"/>
                </a:moveTo>
                <a:lnTo>
                  <a:pt x="511301" y="204978"/>
                </a:lnTo>
                <a:lnTo>
                  <a:pt x="0" y="204978"/>
                </a:lnTo>
                <a:lnTo>
                  <a:pt x="0" y="614934"/>
                </a:lnTo>
                <a:lnTo>
                  <a:pt x="511301" y="614934"/>
                </a:lnTo>
                <a:lnTo>
                  <a:pt x="511301" y="819912"/>
                </a:lnTo>
                <a:lnTo>
                  <a:pt x="726567" y="409956"/>
                </a:lnTo>
                <a:lnTo>
                  <a:pt x="511301" y="0"/>
                </a:lnTo>
                <a:close/>
              </a:path>
            </a:pathLst>
          </a:custGeom>
          <a:ln w="38100">
            <a:solidFill>
              <a:srgbClr val="CCFF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753358" y="5501640"/>
            <a:ext cx="53975" cy="410209"/>
          </a:xfrm>
          <a:custGeom>
            <a:avLst/>
            <a:gdLst/>
            <a:ahLst/>
            <a:cxnLst/>
            <a:rect l="l" t="t" r="r" b="b"/>
            <a:pathLst>
              <a:path w="53975" h="410210">
                <a:moveTo>
                  <a:pt x="0" y="409956"/>
                </a:moveTo>
                <a:lnTo>
                  <a:pt x="53816" y="409956"/>
                </a:lnTo>
                <a:lnTo>
                  <a:pt x="53816" y="0"/>
                </a:lnTo>
                <a:lnTo>
                  <a:pt x="0" y="0"/>
                </a:lnTo>
                <a:lnTo>
                  <a:pt x="0" y="409956"/>
                </a:lnTo>
                <a:close/>
              </a:path>
            </a:pathLst>
          </a:custGeom>
          <a:ln w="38100">
            <a:solidFill>
              <a:srgbClr val="CCFF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712963" y="5482590"/>
            <a:ext cx="0" cy="448309"/>
          </a:xfrm>
          <a:custGeom>
            <a:avLst/>
            <a:gdLst/>
            <a:ahLst/>
            <a:cxnLst/>
            <a:rect l="l" t="t" r="r" b="b"/>
            <a:pathLst>
              <a:path w="0" h="448310">
                <a:moveTo>
                  <a:pt x="0" y="0"/>
                </a:moveTo>
                <a:lnTo>
                  <a:pt x="0" y="448056"/>
                </a:lnTo>
              </a:path>
            </a:pathLst>
          </a:custGeom>
          <a:ln w="65007">
            <a:solidFill>
              <a:srgbClr val="CCFF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722370" y="5427979"/>
            <a:ext cx="84328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宋体"/>
                <a:cs typeface="宋体"/>
              </a:rPr>
              <a:t>编号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764278" y="937534"/>
            <a:ext cx="3765550" cy="1855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1467485">
              <a:lnSpc>
                <a:spcPct val="125099"/>
              </a:lnSpc>
              <a:spcBef>
                <a:spcPts val="100"/>
              </a:spcBef>
              <a:tabLst>
                <a:tab pos="916940" algn="l"/>
                <a:tab pos="205740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(1)	i j 0 = = 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3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960"/>
              </a:spcBef>
              <a:tabLst>
                <a:tab pos="916940" algn="l"/>
                <a:tab pos="1345565" algn="l"/>
                <a:tab pos="166243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(3)	k	i	j + &gt;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( </a:t>
            </a:r>
            <a:r>
              <a:rPr dirty="0" baseline="-2604" sz="4800" b="1">
                <a:solidFill>
                  <a:srgbClr val="00FFFF"/>
                </a:solidFill>
                <a:latin typeface="Times New Roman"/>
                <a:cs typeface="Times New Roman"/>
              </a:rPr>
              <a:t>7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)</a:t>
            </a:r>
            <a:r>
              <a:rPr dirty="0" sz="3200" spc="-12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spc="15" b="1">
                <a:solidFill>
                  <a:srgbClr val="00FFFF"/>
                </a:solidFill>
                <a:latin typeface="Times New Roman"/>
                <a:cs typeface="Times New Roman"/>
              </a:rPr>
              <a:t>J</a:t>
            </a:r>
            <a:r>
              <a:rPr dirty="0" baseline="-21164" sz="3150" spc="22" b="1">
                <a:solidFill>
                  <a:srgbClr val="00FFFF"/>
                </a:solidFill>
                <a:latin typeface="Times New Roman"/>
                <a:cs typeface="Times New Roman"/>
              </a:rPr>
              <a:t>F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64278" y="2768080"/>
            <a:ext cx="2779395" cy="3074035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5"/>
              </a:spcBef>
              <a:tabLst>
                <a:tab pos="714375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(4)	k k 1 –</a:t>
            </a:r>
            <a:r>
              <a:rPr dirty="0" sz="32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3200">
              <a:latin typeface="Times New Roman"/>
              <a:cs typeface="Times New Roman"/>
            </a:endParaRPr>
          </a:p>
          <a:p>
            <a:pPr marL="38100" marR="756920">
              <a:lnSpc>
                <a:spcPts val="4800"/>
              </a:lnSpc>
              <a:spcBef>
                <a:spcPts val="320"/>
              </a:spcBef>
              <a:tabLst>
                <a:tab pos="714375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(5)	i i 1 +</a:t>
            </a:r>
            <a:r>
              <a:rPr dirty="0" sz="3200" spc="-1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 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(6)	( </a:t>
            </a:r>
            <a:r>
              <a:rPr dirty="0" baseline="-6076" sz="4800" b="1">
                <a:solidFill>
                  <a:srgbClr val="00FFFF"/>
                </a:solidFill>
                <a:latin typeface="Times New Roman"/>
                <a:cs typeface="Times New Roman"/>
              </a:rPr>
              <a:t>8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)</a:t>
            </a:r>
            <a:r>
              <a:rPr dirty="0" sz="3200" spc="-7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J</a:t>
            </a:r>
            <a:endParaRPr sz="3200">
              <a:latin typeface="Times New Roman"/>
              <a:cs typeface="Times New Roman"/>
            </a:endParaRPr>
          </a:p>
          <a:p>
            <a:pPr marL="38100" marR="30480">
              <a:lnSpc>
                <a:spcPts val="4800"/>
              </a:lnSpc>
              <a:tabLst>
                <a:tab pos="714375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(7)	k i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2*j2*–</a:t>
            </a:r>
            <a:r>
              <a:rPr dirty="0" sz="3200" spc="-1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  (8)	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(2)</a:t>
            </a:r>
            <a:r>
              <a:rPr dirty="0" sz="3200" spc="-3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J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4227" y="807796"/>
            <a:ext cx="1951989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2804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元式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22498" y="751077"/>
            <a:ext cx="318071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00FFFF"/>
                </a:solidFill>
                <a:latin typeface="Times New Roman"/>
                <a:cs typeface="Times New Roman"/>
              </a:rPr>
              <a:t>N</a:t>
            </a:r>
            <a:r>
              <a:rPr dirty="0" sz="3200">
                <a:solidFill>
                  <a:srgbClr val="00FFFF"/>
                </a:solidFill>
              </a:rPr>
              <a:t>个域的记录结构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3350" y="1716100"/>
            <a:ext cx="496697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3200" spc="-83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spc="-83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spc="7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spc="7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…</a:t>
            </a:r>
            <a:r>
              <a:rPr dirty="0" sz="3200" spc="-5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92174" y="2370582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 h="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381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393316" y="2484500"/>
            <a:ext cx="8731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OP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域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72917" y="2370582"/>
            <a:ext cx="2905125" cy="0"/>
          </a:xfrm>
          <a:custGeom>
            <a:avLst/>
            <a:gdLst/>
            <a:ahLst/>
            <a:cxnLst/>
            <a:rect l="l" t="t" r="r" b="b"/>
            <a:pathLst>
              <a:path w="2905125" h="0">
                <a:moveTo>
                  <a:pt x="0" y="0"/>
                </a:moveTo>
                <a:lnTo>
                  <a:pt x="2904744" y="0"/>
                </a:lnTo>
              </a:path>
            </a:pathLst>
          </a:custGeom>
          <a:ln w="3810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355975" y="2522600"/>
            <a:ext cx="18084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操作对象域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40173" y="4336541"/>
            <a:ext cx="1263396" cy="124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440173" y="4336541"/>
            <a:ext cx="1263650" cy="125095"/>
          </a:xfrm>
          <a:custGeom>
            <a:avLst/>
            <a:gdLst/>
            <a:ahLst/>
            <a:cxnLst/>
            <a:rect l="l" t="t" r="r" b="b"/>
            <a:pathLst>
              <a:path w="1263650" h="125095">
                <a:moveTo>
                  <a:pt x="0" y="62483"/>
                </a:moveTo>
                <a:lnTo>
                  <a:pt x="251840" y="0"/>
                </a:lnTo>
                <a:lnTo>
                  <a:pt x="251840" y="31241"/>
                </a:lnTo>
                <a:lnTo>
                  <a:pt x="1011554" y="31241"/>
                </a:lnTo>
                <a:lnTo>
                  <a:pt x="1011554" y="0"/>
                </a:lnTo>
                <a:lnTo>
                  <a:pt x="1263396" y="62483"/>
                </a:lnTo>
                <a:lnTo>
                  <a:pt x="1011554" y="124967"/>
                </a:lnTo>
                <a:lnTo>
                  <a:pt x="1011554" y="93725"/>
                </a:lnTo>
                <a:lnTo>
                  <a:pt x="251840" y="93725"/>
                </a:lnTo>
                <a:lnTo>
                  <a:pt x="251840" y="124967"/>
                </a:lnTo>
                <a:lnTo>
                  <a:pt x="0" y="6248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947028" y="4123182"/>
            <a:ext cx="28784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双地址机指令形式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43505" y="4999735"/>
            <a:ext cx="10953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四元式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73602" y="5154929"/>
            <a:ext cx="1264920" cy="1264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673602" y="5154929"/>
            <a:ext cx="1264920" cy="127000"/>
          </a:xfrm>
          <a:custGeom>
            <a:avLst/>
            <a:gdLst/>
            <a:ahLst/>
            <a:cxnLst/>
            <a:rect l="l" t="t" r="r" b="b"/>
            <a:pathLst>
              <a:path w="1264920" h="127000">
                <a:moveTo>
                  <a:pt x="0" y="63246"/>
                </a:moveTo>
                <a:lnTo>
                  <a:pt x="254888" y="0"/>
                </a:lnTo>
                <a:lnTo>
                  <a:pt x="254888" y="31623"/>
                </a:lnTo>
                <a:lnTo>
                  <a:pt x="1010031" y="31623"/>
                </a:lnTo>
                <a:lnTo>
                  <a:pt x="1010031" y="0"/>
                </a:lnTo>
                <a:lnTo>
                  <a:pt x="1264920" y="63246"/>
                </a:lnTo>
                <a:lnTo>
                  <a:pt x="1010031" y="126492"/>
                </a:lnTo>
                <a:lnTo>
                  <a:pt x="1010031" y="94869"/>
                </a:lnTo>
                <a:lnTo>
                  <a:pt x="254888" y="94869"/>
                </a:lnTo>
                <a:lnTo>
                  <a:pt x="254888" y="126492"/>
                </a:lnTo>
                <a:lnTo>
                  <a:pt x="0" y="6324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394452" y="4999735"/>
            <a:ext cx="28809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三地址机指令形式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412494" y="26923"/>
            <a:ext cx="59010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  <a:tab pos="4292600" algn="l"/>
                <a:tab pos="48641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中间语言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59740" y="3352038"/>
            <a:ext cx="3580765" cy="12420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47040" indent="-434975">
              <a:lnSpc>
                <a:spcPct val="100000"/>
              </a:lnSpc>
              <a:spcBef>
                <a:spcPts val="105"/>
              </a:spcBef>
              <a:buClr>
                <a:srgbClr val="66FFFF"/>
              </a:buClr>
              <a:buSzPct val="140000"/>
              <a:buFont typeface="Wingdings"/>
              <a:buChar char=""/>
              <a:tabLst>
                <a:tab pos="447675" algn="l"/>
              </a:tabLst>
            </a:pPr>
            <a:r>
              <a:rPr dirty="0" sz="3000" spc="-5" b="1">
                <a:solidFill>
                  <a:srgbClr val="FFFF00"/>
                </a:solidFill>
                <a:latin typeface="宋体"/>
                <a:cs typeface="宋体"/>
              </a:rPr>
              <a:t>常见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元式</a:t>
            </a:r>
            <a:endParaRPr sz="3200">
              <a:latin typeface="宋体"/>
              <a:cs typeface="宋体"/>
            </a:endParaRPr>
          </a:p>
          <a:p>
            <a:pPr marL="355600">
              <a:lnSpc>
                <a:spcPct val="100000"/>
              </a:lnSpc>
              <a:spcBef>
                <a:spcPts val="237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三元式、间接三元式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92521" y="26923"/>
            <a:ext cx="16211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3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中间语言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640" y="0"/>
            <a:ext cx="4095115" cy="110426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622300">
              <a:lnSpc>
                <a:spcPct val="100000"/>
              </a:lnSpc>
              <a:spcBef>
                <a:spcPts val="965"/>
              </a:spcBef>
              <a:tabLst>
                <a:tab pos="126555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三元式形式定义：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92174" y="1163574"/>
            <a:ext cx="6419215" cy="780415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57785" rIns="0" bIns="0" rtlCol="0" vert="horz">
            <a:spAutoFit/>
          </a:bodyPr>
          <a:lstStyle/>
          <a:p>
            <a:pPr marL="337185">
              <a:lnSpc>
                <a:spcPct val="100000"/>
              </a:lnSpc>
              <a:spcBef>
                <a:spcPts val="455"/>
              </a:spcBef>
              <a:tabLst>
                <a:tab pos="1480185" algn="l"/>
                <a:tab pos="2788920" algn="l"/>
                <a:tab pos="4390390" algn="l"/>
              </a:tabLst>
            </a:pP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NO.	</a:t>
            </a: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( OP</a:t>
            </a:r>
            <a:r>
              <a:rPr dirty="0" sz="3600" spc="-20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,	ARG</a:t>
            </a:r>
            <a:r>
              <a:rPr dirty="0" baseline="-16203" sz="36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baseline="-16203" sz="3600" spc="427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,	ARG</a:t>
            </a:r>
            <a:r>
              <a:rPr dirty="0" baseline="-16203" sz="36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baseline="-16203" sz="3600" spc="40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3742" y="2010778"/>
            <a:ext cx="7792720" cy="3665854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其中：</a:t>
            </a:r>
            <a:endParaRPr sz="2800">
              <a:latin typeface="宋体"/>
              <a:cs typeface="宋体"/>
            </a:endParaRPr>
          </a:p>
          <a:p>
            <a:pPr marL="550545" marR="1706245">
              <a:lnSpc>
                <a:spcPts val="3860"/>
              </a:lnSpc>
              <a:spcBef>
                <a:spcPts val="150"/>
              </a:spcBef>
            </a:pPr>
            <a:r>
              <a:rPr dirty="0" sz="2800" spc="-10" b="1">
                <a:solidFill>
                  <a:srgbClr val="FFFF66"/>
                </a:solidFill>
                <a:latin typeface="Times New Roman"/>
                <a:cs typeface="Times New Roman"/>
              </a:rPr>
              <a:t>N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O</a:t>
            </a:r>
            <a:r>
              <a:rPr dirty="0" sz="2800" b="1">
                <a:solidFill>
                  <a:srgbClr val="FFFF66"/>
                </a:solidFill>
                <a:latin typeface="宋体"/>
                <a:cs typeface="宋体"/>
              </a:rPr>
              <a:t>.: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为产生的三元式的顺序编号；  </a:t>
            </a:r>
            <a:r>
              <a:rPr dirty="0" sz="2800" spc="-10" b="1">
                <a:solidFill>
                  <a:srgbClr val="FFFF66"/>
                </a:solidFill>
                <a:latin typeface="Times New Roman"/>
                <a:cs typeface="Times New Roman"/>
              </a:rPr>
              <a:t>OP</a:t>
            </a:r>
            <a:r>
              <a:rPr dirty="0" sz="2800" spc="-145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:</a:t>
            </a:r>
            <a:r>
              <a:rPr dirty="0" sz="280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是操作符；</a:t>
            </a:r>
            <a:endParaRPr sz="2800">
              <a:latin typeface="宋体"/>
              <a:cs typeface="宋体"/>
            </a:endParaRPr>
          </a:p>
          <a:p>
            <a:pPr marL="12700" marR="5080" indent="537845">
              <a:lnSpc>
                <a:spcPts val="3860"/>
              </a:lnSpc>
              <a:spcBef>
                <a:spcPts val="10"/>
              </a:spcBef>
            </a:pPr>
            <a:r>
              <a:rPr dirty="0" sz="2800" spc="-10" b="1">
                <a:solidFill>
                  <a:srgbClr val="FFFF66"/>
                </a:solidFill>
                <a:latin typeface="Times New Roman"/>
                <a:cs typeface="Times New Roman"/>
              </a:rPr>
              <a:t>ARG1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和</a:t>
            </a:r>
            <a:r>
              <a:rPr dirty="0" sz="2800" spc="-10" b="1">
                <a:solidFill>
                  <a:srgbClr val="FFFF66"/>
                </a:solidFill>
                <a:latin typeface="Times New Roman"/>
                <a:cs typeface="Times New Roman"/>
              </a:rPr>
              <a:t>ARG2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为第一操</a:t>
            </a:r>
            <a:r>
              <a:rPr dirty="0" sz="2800" spc="5" b="1">
                <a:solidFill>
                  <a:srgbClr val="66FFFF"/>
                </a:solidFill>
                <a:latin typeface="宋体"/>
                <a:cs typeface="宋体"/>
              </a:rPr>
              <a:t>作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数和</a:t>
            </a:r>
            <a:r>
              <a:rPr dirty="0" sz="2800" spc="5" b="1">
                <a:solidFill>
                  <a:srgbClr val="66FFFF"/>
                </a:solidFill>
                <a:latin typeface="宋体"/>
                <a:cs typeface="宋体"/>
              </a:rPr>
              <a:t>第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二操</a:t>
            </a:r>
            <a:r>
              <a:rPr dirty="0" sz="2800" spc="5" b="1">
                <a:solidFill>
                  <a:srgbClr val="66FFFF"/>
                </a:solidFill>
                <a:latin typeface="宋体"/>
                <a:cs typeface="宋体"/>
              </a:rPr>
              <a:t>作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数</a:t>
            </a: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。 </a:t>
            </a:r>
            <a:r>
              <a:rPr dirty="0" sz="2800" b="1">
                <a:solidFill>
                  <a:srgbClr val="66FFFF"/>
                </a:solidFill>
                <a:latin typeface="宋体"/>
                <a:cs typeface="宋体"/>
              </a:rPr>
              <a:t>(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也可以是前面某一个三元式的编</a:t>
            </a:r>
            <a:r>
              <a:rPr dirty="0" sz="2800" spc="5" b="1">
                <a:solidFill>
                  <a:srgbClr val="66FFFF"/>
                </a:solidFill>
                <a:latin typeface="宋体"/>
                <a:cs typeface="宋体"/>
              </a:rPr>
              <a:t>号</a:t>
            </a: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，</a:t>
            </a:r>
            <a:r>
              <a:rPr dirty="0" sz="2800" spc="-725" b="1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代表该三元 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式的计算结果被作为操作</a:t>
            </a: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数</a:t>
            </a:r>
            <a:r>
              <a:rPr dirty="0" sz="2800" spc="-650" b="1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间接三元式形式定义：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72461" y="5798058"/>
            <a:ext cx="4668520" cy="838200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109220" rIns="0" bIns="0" rtlCol="0" vert="horz">
            <a:spAutoFit/>
          </a:bodyPr>
          <a:lstStyle/>
          <a:p>
            <a:pPr algn="ctr" marL="548005">
              <a:lnSpc>
                <a:spcPct val="100000"/>
              </a:lnSpc>
              <a:spcBef>
                <a:spcPts val="860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间接码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3200" spc="-83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2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三元式表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1342" y="840105"/>
            <a:ext cx="694817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例如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dirty="0" sz="3200" spc="780" b="1">
                <a:solidFill>
                  <a:srgbClr val="FFFFFF"/>
                </a:solidFill>
                <a:latin typeface="宋体"/>
                <a:cs typeface="宋体"/>
              </a:rPr>
              <a:t>句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X=A+B*C</a:t>
            </a:r>
            <a:r>
              <a:rPr dirty="0" sz="3200" spc="-6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的三元式表示为</a:t>
            </a:r>
            <a:endParaRPr sz="3200">
              <a:latin typeface="宋体"/>
              <a:cs typeface="宋体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67027" y="2046732"/>
          <a:ext cx="6034405" cy="2506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8885"/>
                <a:gridCol w="2877819"/>
                <a:gridCol w="1860550"/>
              </a:tblGrid>
              <a:tr h="694943">
                <a:tc>
                  <a:txBody>
                    <a:bodyPr/>
                    <a:lstStyle/>
                    <a:p>
                      <a:pPr algn="ctr" marR="27305">
                        <a:lnSpc>
                          <a:spcPct val="100000"/>
                        </a:lnSpc>
                        <a:spcBef>
                          <a:spcPts val="1964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.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249554">
                    <a:lnL w="381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1520"/>
                        </a:spcBef>
                        <a:tabLst>
                          <a:tab pos="1598930" algn="l"/>
                        </a:tabLst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OP	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ARG1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3040">
                    <a:lnL w="53975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8945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ARG2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3040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526444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(1)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381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28625">
                        <a:lnSpc>
                          <a:spcPct val="100000"/>
                        </a:lnSpc>
                        <a:spcBef>
                          <a:spcPts val="915"/>
                        </a:spcBef>
                        <a:tabLst>
                          <a:tab pos="1952625" algn="l"/>
                        </a:tabLst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*	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6205">
                    <a:lnL w="53975">
                      <a:solidFill>
                        <a:srgbClr val="FFFF00"/>
                      </a:solidFill>
                      <a:prstDash val="solid"/>
                    </a:lnL>
                    <a:lnT w="53975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16839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6205">
                    <a:lnR w="38100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</a:tcPr>
                </a:tc>
              </a:tr>
              <a:tr h="422647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(2)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381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28625">
                        <a:lnSpc>
                          <a:spcPct val="100000"/>
                        </a:lnSpc>
                        <a:spcBef>
                          <a:spcPts val="80"/>
                        </a:spcBef>
                        <a:tabLst>
                          <a:tab pos="1879600" algn="l"/>
                        </a:tabLst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	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">
                    <a:lnL w="53975">
                      <a:solidFill>
                        <a:srgbClr val="FFFF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1098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(1)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">
                    <a:lnR w="38100">
                      <a:solidFill>
                        <a:srgbClr val="FFFF00"/>
                      </a:solidFill>
                      <a:prstDash val="solid"/>
                    </a:lnR>
                  </a:tcPr>
                </a:tc>
              </a:tr>
              <a:tr h="824844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(3)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054">
                    <a:lnL w="381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8625">
                        <a:lnSpc>
                          <a:spcPct val="100000"/>
                        </a:lnSpc>
                        <a:spcBef>
                          <a:spcPts val="65"/>
                        </a:spcBef>
                        <a:tabLst>
                          <a:tab pos="1898014" algn="l"/>
                        </a:tabLst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	X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53975">
                      <a:solidFill>
                        <a:srgbClr val="FFFF00"/>
                      </a:solidFill>
                      <a:prstDash val="solid"/>
                    </a:lnL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7653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(2)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R w="38100">
                      <a:solidFill>
                        <a:srgbClr val="FFFF00"/>
                      </a:solidFill>
                      <a:prstDash val="solid"/>
                    </a:lnR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12494" y="26923"/>
            <a:ext cx="3484879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dirty="0" sz="2000" spc="5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>
                <a:solidFill>
                  <a:srgbClr val="A15100"/>
                </a:solidFill>
              </a:rPr>
              <a:t>语义分析与中间代码生成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692521" y="26923"/>
            <a:ext cx="16211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3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中间语言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402080" y="2098548"/>
          <a:ext cx="6645909" cy="4345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7155"/>
                <a:gridCol w="3061335"/>
                <a:gridCol w="2160270"/>
              </a:tblGrid>
              <a:tr h="8923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45"/>
                        </a:spcBef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7015">
                    <a:lnL w="381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8640">
                        <a:lnSpc>
                          <a:spcPct val="100000"/>
                        </a:lnSpc>
                        <a:spcBef>
                          <a:spcPts val="1945"/>
                        </a:spcBef>
                        <a:tabLst>
                          <a:tab pos="1714500" algn="l"/>
                        </a:tabLst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OP	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ARG1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7015">
                    <a:lnL w="53975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4790">
                        <a:lnSpc>
                          <a:spcPct val="100000"/>
                        </a:lnSpc>
                        <a:spcBef>
                          <a:spcPts val="1945"/>
                        </a:spcBef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ARG2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7015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5105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(1)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875">
                    <a:lnL w="381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24840">
                        <a:lnSpc>
                          <a:spcPct val="100000"/>
                        </a:lnSpc>
                        <a:spcBef>
                          <a:spcPts val="204"/>
                        </a:spcBef>
                        <a:tabLst>
                          <a:tab pos="2517775" algn="l"/>
                        </a:tabLst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&gt;	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034">
                    <a:lnL w="53975">
                      <a:solidFill>
                        <a:srgbClr val="FFFF00"/>
                      </a:solidFill>
                      <a:prstDash val="solid"/>
                    </a:lnL>
                    <a:lnT w="76200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9436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034"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</a:tcPr>
                </a:tc>
              </a:tr>
              <a:tr h="538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(2)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0">
                    <a:lnL w="381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24840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2419985" algn="l"/>
                        </a:tabLst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dirty="0" baseline="-21021" sz="2775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	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(1)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53975">
                      <a:solidFill>
                        <a:srgbClr val="FFFF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53911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R w="38100">
                      <a:solidFill>
                        <a:srgbClr val="FFFF00"/>
                      </a:solidFill>
                      <a:prstDash val="solid"/>
                    </a:lnR>
                  </a:tcPr>
                </a:tc>
              </a:tr>
              <a:tr h="477901">
                <a:tc>
                  <a:txBody>
                    <a:bodyPr/>
                    <a:lstStyle/>
                    <a:p>
                      <a:pPr algn="ctr">
                        <a:lnSpc>
                          <a:spcPts val="3215"/>
                        </a:lnSpc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(3)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24840">
                        <a:lnSpc>
                          <a:spcPts val="3310"/>
                        </a:lnSpc>
                        <a:tabLst>
                          <a:tab pos="2517775" algn="l"/>
                        </a:tabLst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	Z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601980">
                        <a:lnSpc>
                          <a:spcPts val="3310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00"/>
                      </a:solidFill>
                      <a:prstDash val="solid"/>
                    </a:lnR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(4)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0">
                    <a:lnL w="381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248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">
                    <a:lnL w="53975">
                      <a:solidFill>
                        <a:srgbClr val="FFFF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52705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">
                    <a:lnR w="38100">
                      <a:solidFill>
                        <a:srgbClr val="FFFF00"/>
                      </a:solidFill>
                      <a:prstDash val="solid"/>
                    </a:lnR>
                  </a:tcPr>
                </a:tc>
              </a:tr>
              <a:tr h="5084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(5)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0">
                    <a:lnL w="381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24840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2503805" algn="l"/>
                        </a:tabLst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	Y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53975">
                      <a:solidFill>
                        <a:srgbClr val="FFFF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5924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R w="38100">
                      <a:solidFill>
                        <a:srgbClr val="FFFF00"/>
                      </a:solidFill>
                      <a:prstDash val="solid"/>
                    </a:lnR>
                  </a:tcPr>
                </a:tc>
              </a:tr>
              <a:tr h="50838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(6)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">
                    <a:lnL w="381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24840">
                        <a:lnSpc>
                          <a:spcPct val="100000"/>
                        </a:lnSpc>
                        <a:spcBef>
                          <a:spcPts val="185"/>
                        </a:spcBef>
                        <a:tabLst>
                          <a:tab pos="2517775" algn="l"/>
                        </a:tabLst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	Z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3495">
                    <a:lnL w="53975">
                      <a:solidFill>
                        <a:srgbClr val="FFFF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53149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8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3495">
                    <a:lnR w="38100">
                      <a:solidFill>
                        <a:srgbClr val="FFFF00"/>
                      </a:solidFill>
                      <a:prstDash val="solid"/>
                    </a:lnR>
                  </a:tcPr>
                </a:tc>
              </a:tr>
              <a:tr h="362886">
                <a:tc>
                  <a:txBody>
                    <a:bodyPr/>
                    <a:lstStyle/>
                    <a:p>
                      <a:pPr algn="ctr">
                        <a:lnSpc>
                          <a:spcPts val="2655"/>
                        </a:lnSpc>
                        <a:spcBef>
                          <a:spcPts val="10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(7)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0">
                    <a:lnL w="381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00"/>
                      </a:solidFill>
                      <a:prstDash val="solid"/>
                    </a:lnR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764540" y="589635"/>
            <a:ext cx="6322060" cy="1303020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927100">
              <a:lnSpc>
                <a:spcPct val="100000"/>
              </a:lnSpc>
              <a:spcBef>
                <a:spcPts val="1290"/>
              </a:spcBef>
            </a:pP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if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X&gt;Y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then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Z = X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else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Z =</a:t>
            </a:r>
            <a:r>
              <a:rPr dirty="0" sz="3200" spc="-325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Y+1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的三元式可以表示为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12494" y="26923"/>
            <a:ext cx="590105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  <a:tab pos="4292600" algn="l"/>
                <a:tab pos="4864100" algn="l"/>
              </a:tabLst>
            </a:pPr>
            <a:r>
              <a:rPr dirty="0" sz="2000" spc="5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>
                <a:solidFill>
                  <a:srgbClr val="A15100"/>
                </a:solidFill>
              </a:rPr>
              <a:t>语义分析与中间代码生</a:t>
            </a:r>
            <a:r>
              <a:rPr dirty="0" sz="2000" spc="-5">
                <a:solidFill>
                  <a:srgbClr val="A15100"/>
                </a:solidFill>
              </a:rPr>
              <a:t>成</a:t>
            </a:r>
            <a:r>
              <a:rPr dirty="0" sz="2000">
                <a:solidFill>
                  <a:srgbClr val="A15100"/>
                </a:solidFill>
              </a:rPr>
              <a:t>	</a:t>
            </a:r>
            <a:r>
              <a:rPr dirty="0" u="sng" sz="200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</a:rPr>
              <a:t>中间语言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802640"/>
            <a:ext cx="290322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FFFFFF"/>
                </a:solidFill>
                <a:latin typeface="Times New Roman"/>
                <a:cs typeface="Times New Roman"/>
              </a:rPr>
              <a:t>(a+b)</a:t>
            </a:r>
            <a:r>
              <a:rPr dirty="0" baseline="23148" sz="3600">
                <a:solidFill>
                  <a:srgbClr val="FFFFFF"/>
                </a:solidFill>
                <a:latin typeface="Times New Roman"/>
                <a:cs typeface="Times New Roman"/>
              </a:rPr>
              <a:t>2 </a:t>
            </a:r>
            <a:r>
              <a:rPr dirty="0" sz="360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600" spc="-1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FFFFFF"/>
                </a:solidFill>
                <a:latin typeface="Times New Roman"/>
                <a:cs typeface="Times New Roman"/>
              </a:rPr>
              <a:t>(a+b)</a:t>
            </a:r>
            <a:r>
              <a:rPr dirty="0" baseline="23148" sz="360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baseline="23148"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12494" y="26923"/>
            <a:ext cx="348487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92521" y="26923"/>
            <a:ext cx="16211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3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中间语言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4769" y="5795264"/>
            <a:ext cx="48647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其中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dirty="0" sz="3200" b="1">
                <a:solidFill>
                  <a:srgbClr val="FFFFFF"/>
                </a:solidFill>
                <a:latin typeface="Wingdings 3"/>
                <a:cs typeface="Wingdings 3"/>
              </a:rPr>
              <a:t>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”</a:t>
            </a:r>
            <a:r>
              <a:rPr dirty="0" sz="3200" spc="-8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表示幂运算。</a:t>
            </a:r>
            <a:endParaRPr sz="3200">
              <a:latin typeface="宋体"/>
              <a:cs typeface="宋体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186618" y="1900618"/>
          <a:ext cx="4110990" cy="3768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6619"/>
                <a:gridCol w="2980055"/>
                <a:gridCol w="190500"/>
              </a:tblGrid>
              <a:tr h="755142"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158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①</a:t>
                      </a:r>
                      <a:endParaRPr sz="2800">
                        <a:latin typeface="方正舒体"/>
                        <a:cs typeface="方正舒体"/>
                      </a:endParaRPr>
                    </a:p>
                  </a:txBody>
                  <a:tcPr marL="0" marR="0" marB="0" marT="20129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335">
                        <a:lnSpc>
                          <a:spcPct val="100000"/>
                        </a:lnSpc>
                        <a:spcBef>
                          <a:spcPts val="1280"/>
                        </a:spcBef>
                        <a:tabLst>
                          <a:tab pos="1361440" algn="l"/>
                          <a:tab pos="2275840" algn="l"/>
                          <a:tab pos="2656840" algn="l"/>
                        </a:tabLst>
                      </a:pPr>
                      <a:r>
                        <a:rPr dirty="0" u="heavy" sz="3200" spc="-409" b="1">
                          <a:solidFill>
                            <a:srgbClr val="FFFF00"/>
                          </a:solidFill>
                          <a:uFill>
                            <a:solidFill>
                              <a:srgbClr val="66FFFF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heavy" sz="3200" b="1">
                          <a:solidFill>
                            <a:srgbClr val="FFFF00"/>
                          </a:solidFill>
                          <a:uFill>
                            <a:solidFill>
                              <a:srgbClr val="66FFFF"/>
                            </a:solidFill>
                          </a:uFill>
                          <a:latin typeface="Times New Roman"/>
                          <a:cs typeface="Times New Roman"/>
                        </a:rPr>
                        <a:t>+	a	b	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2560">
                    <a:lnL w="127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19327"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②</a:t>
                      </a:r>
                      <a:endParaRPr sz="2800">
                        <a:latin typeface="方正舒体"/>
                        <a:cs typeface="方正舒体"/>
                      </a:endParaRPr>
                    </a:p>
                  </a:txBody>
                  <a:tcPr marL="0" marR="0" marB="0" marT="18351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1165"/>
                        </a:spcBef>
                        <a:tabLst>
                          <a:tab pos="1341120" algn="l"/>
                          <a:tab pos="2289810" algn="l"/>
                        </a:tabLst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Wingdings 3"/>
                          <a:cs typeface="Wingdings 3"/>
                        </a:rPr>
                        <a:t></a:t>
                      </a:r>
                      <a:r>
                        <a:rPr dirty="0" sz="320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800" spc="-15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①	</a:t>
                      </a:r>
                      <a:r>
                        <a:rPr dirty="0" sz="28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795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55904"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159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③</a:t>
                      </a:r>
                      <a:endParaRPr sz="2800">
                        <a:latin typeface="方正舒体"/>
                        <a:cs typeface="方正舒体"/>
                      </a:endParaRPr>
                    </a:p>
                  </a:txBody>
                  <a:tcPr marL="0" marR="0" marB="0" marT="20193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1285"/>
                        </a:spcBef>
                        <a:tabLst>
                          <a:tab pos="1361440" algn="l"/>
                          <a:tab pos="2276475" algn="l"/>
                          <a:tab pos="2694940" algn="l"/>
                        </a:tabLst>
                      </a:pPr>
                      <a:r>
                        <a:rPr dirty="0" u="heavy" sz="3200" b="1">
                          <a:solidFill>
                            <a:srgbClr val="FFFF00"/>
                          </a:solidFill>
                          <a:uFill>
                            <a:solidFill>
                              <a:srgbClr val="66FFFF"/>
                            </a:solidFill>
                          </a:uFill>
                          <a:latin typeface="Times New Roman"/>
                          <a:cs typeface="Times New Roman"/>
                        </a:rPr>
                        <a:t>+	a	b	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319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54380"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158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④</a:t>
                      </a:r>
                      <a:endParaRPr sz="2800">
                        <a:latin typeface="方正舒体"/>
                        <a:cs typeface="方正舒体"/>
                      </a:endParaRPr>
                    </a:p>
                  </a:txBody>
                  <a:tcPr marL="0" marR="0" marB="0" marT="20129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1305"/>
                        </a:spcBef>
                        <a:tabLst>
                          <a:tab pos="1341120" algn="l"/>
                          <a:tab pos="2251710" algn="l"/>
                        </a:tabLst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Wingdings 3"/>
                          <a:cs typeface="Wingdings 3"/>
                        </a:rPr>
                        <a:t></a:t>
                      </a:r>
                      <a:r>
                        <a:rPr dirty="0" sz="3200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800" spc="-15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③	</a:t>
                      </a:r>
                      <a:r>
                        <a:rPr dirty="0" sz="28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573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55141"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159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⑤</a:t>
                      </a:r>
                      <a:endParaRPr sz="2800">
                        <a:latin typeface="方正舒体"/>
                        <a:cs typeface="方正舒体"/>
                      </a:endParaRPr>
                    </a:p>
                  </a:txBody>
                  <a:tcPr marL="0" marR="0" marB="0" marT="20193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1295"/>
                        </a:spcBef>
                        <a:tabLst>
                          <a:tab pos="1344295" algn="l"/>
                          <a:tab pos="2208530" algn="l"/>
                        </a:tabLst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+	</a:t>
                      </a:r>
                      <a:r>
                        <a:rPr dirty="0" sz="2800" spc="-15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②	④</a:t>
                      </a:r>
                      <a:endParaRPr sz="2800">
                        <a:latin typeface="方正舒体"/>
                        <a:cs typeface="方正舒体"/>
                      </a:endParaRPr>
                    </a:p>
                  </a:txBody>
                  <a:tcPr marL="0" marR="0" marB="0" marT="16446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5098541" y="1392174"/>
            <a:ext cx="3169920" cy="523240"/>
          </a:xfrm>
          <a:custGeom>
            <a:avLst/>
            <a:gdLst/>
            <a:ahLst/>
            <a:cxnLst/>
            <a:rect l="l" t="t" r="r" b="b"/>
            <a:pathLst>
              <a:path w="3169920" h="523239">
                <a:moveTo>
                  <a:pt x="0" y="522731"/>
                </a:moveTo>
                <a:lnTo>
                  <a:pt x="3169919" y="522731"/>
                </a:lnTo>
                <a:lnTo>
                  <a:pt x="3169919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200905" y="1392174"/>
            <a:ext cx="897890" cy="523240"/>
          </a:xfrm>
          <a:custGeom>
            <a:avLst/>
            <a:gdLst/>
            <a:ahLst/>
            <a:cxnLst/>
            <a:rect l="l" t="t" r="r" b="b"/>
            <a:pathLst>
              <a:path w="897889" h="523239">
                <a:moveTo>
                  <a:pt x="0" y="522731"/>
                </a:moveTo>
                <a:lnTo>
                  <a:pt x="897636" y="522731"/>
                </a:lnTo>
                <a:lnTo>
                  <a:pt x="897636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370578" y="1407617"/>
            <a:ext cx="35566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19150" algn="l"/>
                <a:tab pos="1450975" algn="l"/>
                <a:tab pos="2576830" algn="l"/>
              </a:tabLst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OP</a:t>
            </a:r>
            <a:r>
              <a:rPr dirty="0" sz="2800" b="1">
                <a:solidFill>
                  <a:srgbClr val="FFFF66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A</a:t>
            </a:r>
            <a:r>
              <a:rPr dirty="0" sz="2800" spc="-15" b="1">
                <a:solidFill>
                  <a:srgbClr val="FFFF66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G1</a:t>
            </a:r>
            <a:r>
              <a:rPr dirty="0" sz="2800" b="1">
                <a:solidFill>
                  <a:srgbClr val="FFFF66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A</a:t>
            </a:r>
            <a:r>
              <a:rPr dirty="0" sz="2800" spc="-15" b="1">
                <a:solidFill>
                  <a:srgbClr val="FFFF66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G2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725805"/>
            <a:ext cx="517080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  <a:tabLst>
                <a:tab pos="2694305" algn="l"/>
              </a:tabLst>
            </a:pP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(a+b)</a:t>
            </a:r>
            <a:r>
              <a:rPr dirty="0" baseline="23809" sz="31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baseline="23809" sz="315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2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>
                <a:solidFill>
                  <a:srgbClr val="FFFFFF"/>
                </a:solidFill>
                <a:latin typeface="Times New Roman"/>
                <a:cs typeface="Times New Roman"/>
              </a:rPr>
              <a:t>(a+b)</a:t>
            </a:r>
            <a:r>
              <a:rPr dirty="0" baseline="23809" sz="3150" spc="7">
                <a:solidFill>
                  <a:srgbClr val="FFFFFF"/>
                </a:solidFill>
                <a:latin typeface="Times New Roman"/>
                <a:cs typeface="Times New Roman"/>
              </a:rPr>
              <a:t>3	</a:t>
            </a:r>
            <a:r>
              <a:rPr dirty="0" sz="3200">
                <a:solidFill>
                  <a:srgbClr val="FFFFFF"/>
                </a:solidFill>
              </a:rPr>
              <a:t>的间接三元式</a:t>
            </a:r>
            <a:endParaRPr sz="32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368486" y="2120074"/>
          <a:ext cx="881380" cy="3559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/>
              </a:tblGrid>
              <a:tr h="800862">
                <a:tc>
                  <a:txBody>
                    <a:bodyPr/>
                    <a:lstStyle/>
                    <a:p>
                      <a:pPr algn="r" marR="18796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①</a:t>
                      </a:r>
                      <a:endParaRPr sz="2800">
                        <a:latin typeface="方正舒体"/>
                        <a:cs typeface="方正舒体"/>
                      </a:endParaRPr>
                    </a:p>
                  </a:txBody>
                  <a:tcPr marL="0" marR="0" marB="0" marT="7747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681227">
                <a:tc>
                  <a:txBody>
                    <a:bodyPr/>
                    <a:lstStyle/>
                    <a:p>
                      <a:pPr algn="r" marR="18796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②</a:t>
                      </a:r>
                      <a:endParaRPr sz="2800">
                        <a:latin typeface="方正舒体"/>
                        <a:cs typeface="方正舒体"/>
                      </a:endParaRPr>
                    </a:p>
                  </a:txBody>
                  <a:tcPr marL="0" marR="0" marB="0" marT="7810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684276">
                <a:tc>
                  <a:txBody>
                    <a:bodyPr/>
                    <a:lstStyle/>
                    <a:p>
                      <a:pPr algn="r" marR="18796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①</a:t>
                      </a:r>
                      <a:endParaRPr sz="2800">
                        <a:latin typeface="方正舒体"/>
                        <a:cs typeface="方正舒体"/>
                      </a:endParaRPr>
                    </a:p>
                  </a:txBody>
                  <a:tcPr marL="0" marR="0" marB="0" marT="7810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681228">
                <a:tc>
                  <a:txBody>
                    <a:bodyPr/>
                    <a:lstStyle/>
                    <a:p>
                      <a:pPr algn="r" marR="18796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③</a:t>
                      </a:r>
                      <a:endParaRPr sz="2800">
                        <a:latin typeface="方正舒体"/>
                        <a:cs typeface="方正舒体"/>
                      </a:endParaRPr>
                    </a:p>
                  </a:txBody>
                  <a:tcPr marL="0" marR="0" marB="0" marT="7874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683513">
                <a:tc>
                  <a:txBody>
                    <a:bodyPr/>
                    <a:lstStyle/>
                    <a:p>
                      <a:pPr algn="r" marR="18796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④</a:t>
                      </a:r>
                      <a:endParaRPr sz="2800">
                        <a:latin typeface="方正舒体"/>
                        <a:cs typeface="方正舒体"/>
                      </a:endParaRPr>
                    </a:p>
                  </a:txBody>
                  <a:tcPr marL="0" marR="0" marB="0" marT="7810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098294" y="1520698"/>
            <a:ext cx="14522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5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宋体"/>
                <a:cs typeface="宋体"/>
              </a:rPr>
              <a:t>间接码表</a:t>
            </a:r>
            <a:endParaRPr sz="2800">
              <a:latin typeface="宋体"/>
              <a:cs typeface="宋体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473130" y="2418778"/>
          <a:ext cx="3920490" cy="3013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5350"/>
                <a:gridCol w="948055"/>
                <a:gridCol w="875030"/>
                <a:gridCol w="1158239"/>
              </a:tblGrid>
              <a:tr h="755142">
                <a:tc>
                  <a:txBody>
                    <a:bodyPr/>
                    <a:lstStyle/>
                    <a:p>
                      <a:pPr algn="r" marR="245745">
                        <a:lnSpc>
                          <a:spcPct val="100000"/>
                        </a:lnSpc>
                        <a:spcBef>
                          <a:spcPts val="158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①</a:t>
                      </a:r>
                      <a:endParaRPr sz="2800">
                        <a:latin typeface="方正舒体"/>
                        <a:cs typeface="方正舒体"/>
                      </a:endParaRPr>
                    </a:p>
                  </a:txBody>
                  <a:tcPr marL="0" marR="0" marB="0" marT="20129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3200" spc="-3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2560">
                    <a:lnL w="127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1454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a,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2560"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2560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19327">
                <a:tc>
                  <a:txBody>
                    <a:bodyPr/>
                    <a:lstStyle/>
                    <a:p>
                      <a:pPr algn="r" marR="244475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②</a:t>
                      </a:r>
                      <a:endParaRPr sz="2800">
                        <a:latin typeface="方正舒体"/>
                        <a:cs typeface="方正舒体"/>
                      </a:endParaRPr>
                    </a:p>
                  </a:txBody>
                  <a:tcPr marL="0" marR="0" marB="0" marT="18288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Wingdings 3"/>
                          <a:cs typeface="Wingdings 3"/>
                        </a:rPr>
                        <a:t></a:t>
                      </a:r>
                      <a:r>
                        <a:rPr dirty="0" sz="3200" spc="4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,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14732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dirty="0" sz="2800" spc="-15" b="1">
                          <a:solidFill>
                            <a:srgbClr val="66FFFF"/>
                          </a:solidFill>
                          <a:latin typeface="方正舒体"/>
                          <a:cs typeface="方正舒体"/>
                        </a:rPr>
                        <a:t>①</a:t>
                      </a:r>
                      <a:r>
                        <a:rPr dirty="0" sz="2800" spc="35" b="1">
                          <a:solidFill>
                            <a:srgbClr val="66FFFF"/>
                          </a:solidFill>
                          <a:latin typeface="方正舒体"/>
                          <a:cs typeface="方正舒体"/>
                        </a:rPr>
                        <a:t> </a:t>
                      </a:r>
                      <a:r>
                        <a:rPr dirty="0" sz="28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,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19812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8120"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52856">
                <a:tc>
                  <a:txBody>
                    <a:bodyPr/>
                    <a:lstStyle/>
                    <a:p>
                      <a:pPr algn="r" marR="245745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③</a:t>
                      </a:r>
                      <a:endParaRPr sz="2800">
                        <a:latin typeface="方正舒体"/>
                        <a:cs typeface="方正舒体"/>
                      </a:endParaRPr>
                    </a:p>
                  </a:txBody>
                  <a:tcPr marL="0" marR="0" marB="0" marT="20066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Wingdings 3"/>
                          <a:cs typeface="Wingdings 3"/>
                        </a:rPr>
                        <a:t></a:t>
                      </a:r>
                      <a:r>
                        <a:rPr dirty="0" sz="3200" spc="4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,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16510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dirty="0" sz="2800" spc="-15" b="1">
                          <a:solidFill>
                            <a:srgbClr val="66FFFF"/>
                          </a:solidFill>
                          <a:latin typeface="方正舒体"/>
                          <a:cs typeface="方正舒体"/>
                        </a:rPr>
                        <a:t>①</a:t>
                      </a:r>
                      <a:r>
                        <a:rPr dirty="0" sz="2800" spc="40" b="1">
                          <a:solidFill>
                            <a:srgbClr val="66FFFF"/>
                          </a:solidFill>
                          <a:latin typeface="方正舒体"/>
                          <a:cs typeface="方正舒体"/>
                        </a:rPr>
                        <a:t> </a:t>
                      </a:r>
                      <a:r>
                        <a:rPr dirty="0" sz="2800" spc="-5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,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21590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5900"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56666">
                <a:tc>
                  <a:txBody>
                    <a:bodyPr/>
                    <a:lstStyle/>
                    <a:p>
                      <a:pPr algn="r" marR="245745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④</a:t>
                      </a:r>
                      <a:endParaRPr sz="2800">
                        <a:latin typeface="方正舒体"/>
                        <a:cs typeface="方正舒体"/>
                      </a:endParaRPr>
                    </a:p>
                  </a:txBody>
                  <a:tcPr marL="0" marR="0" marB="0" marT="20256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+,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16573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705"/>
                        </a:spcBef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②</a:t>
                      </a:r>
                      <a:r>
                        <a:rPr dirty="0" sz="2800" spc="40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 </a:t>
                      </a:r>
                      <a:r>
                        <a:rPr dirty="0" sz="2800" spc="-5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,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216535"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4475">
                        <a:lnSpc>
                          <a:spcPct val="100000"/>
                        </a:lnSpc>
                        <a:spcBef>
                          <a:spcPts val="170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③</a:t>
                      </a:r>
                      <a:endParaRPr sz="2800">
                        <a:latin typeface="方正舒体"/>
                        <a:cs typeface="方正舒体"/>
                      </a:endParaRPr>
                    </a:p>
                  </a:txBody>
                  <a:tcPr marL="0" marR="0" marB="0" marT="216535"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462778" y="1639900"/>
            <a:ext cx="166052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3200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宋体"/>
                <a:cs typeface="宋体"/>
              </a:rPr>
              <a:t>三元式表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412494" y="26923"/>
            <a:ext cx="59010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  <a:tab pos="4292600" algn="l"/>
                <a:tab pos="48641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中间语言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658111" y="2245614"/>
            <a:ext cx="114300" cy="3438525"/>
          </a:xfrm>
          <a:custGeom>
            <a:avLst/>
            <a:gdLst/>
            <a:ahLst/>
            <a:cxnLst/>
            <a:rect l="l" t="t" r="r" b="b"/>
            <a:pathLst>
              <a:path w="114300" h="3438525">
                <a:moveTo>
                  <a:pt x="38100" y="3247644"/>
                </a:moveTo>
                <a:lnTo>
                  <a:pt x="0" y="3247644"/>
                </a:lnTo>
                <a:lnTo>
                  <a:pt x="57150" y="3438144"/>
                </a:lnTo>
                <a:lnTo>
                  <a:pt x="108585" y="3266694"/>
                </a:lnTo>
                <a:lnTo>
                  <a:pt x="38100" y="3266694"/>
                </a:lnTo>
                <a:lnTo>
                  <a:pt x="38100" y="3247644"/>
                </a:lnTo>
                <a:close/>
              </a:path>
              <a:path w="114300" h="3438525">
                <a:moveTo>
                  <a:pt x="76200" y="0"/>
                </a:moveTo>
                <a:lnTo>
                  <a:pt x="38100" y="0"/>
                </a:lnTo>
                <a:lnTo>
                  <a:pt x="38100" y="3266694"/>
                </a:lnTo>
                <a:lnTo>
                  <a:pt x="76200" y="3266694"/>
                </a:lnTo>
                <a:lnTo>
                  <a:pt x="76200" y="0"/>
                </a:lnTo>
                <a:close/>
              </a:path>
              <a:path w="114300" h="3438525">
                <a:moveTo>
                  <a:pt x="114300" y="3247644"/>
                </a:moveTo>
                <a:lnTo>
                  <a:pt x="76200" y="3247644"/>
                </a:lnTo>
                <a:lnTo>
                  <a:pt x="76200" y="3266694"/>
                </a:lnTo>
                <a:lnTo>
                  <a:pt x="108585" y="3266694"/>
                </a:lnTo>
                <a:lnTo>
                  <a:pt x="114300" y="32476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26871" y="1857120"/>
            <a:ext cx="381000" cy="3957320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algn="just" marL="12700" marR="5080">
              <a:lnSpc>
                <a:spcPts val="2760"/>
              </a:lnSpc>
              <a:spcBef>
                <a:spcPts val="68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控 制 三 元 式 代 码 执 行 顺 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94170" y="1535938"/>
            <a:ext cx="111760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ARG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baseline="-15873" sz="3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61557" y="1535938"/>
            <a:ext cx="167830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Re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ult)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412494" y="26923"/>
            <a:ext cx="348487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92521" y="26923"/>
            <a:ext cx="16211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3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中间语言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20873" y="2120645"/>
            <a:ext cx="780415" cy="0"/>
          </a:xfrm>
          <a:custGeom>
            <a:avLst/>
            <a:gdLst/>
            <a:ahLst/>
            <a:cxnLst/>
            <a:rect l="l" t="t" r="r" b="b"/>
            <a:pathLst>
              <a:path w="780414" h="0">
                <a:moveTo>
                  <a:pt x="0" y="0"/>
                </a:moveTo>
                <a:lnTo>
                  <a:pt x="780288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582161" y="2120645"/>
            <a:ext cx="1257300" cy="0"/>
          </a:xfrm>
          <a:custGeom>
            <a:avLst/>
            <a:gdLst/>
            <a:ahLst/>
            <a:cxnLst/>
            <a:rect l="l" t="t" r="r" b="b"/>
            <a:pathLst>
              <a:path w="1257300" h="0">
                <a:moveTo>
                  <a:pt x="0" y="0"/>
                </a:moveTo>
                <a:lnTo>
                  <a:pt x="1257300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202173" y="2120645"/>
            <a:ext cx="1257300" cy="0"/>
          </a:xfrm>
          <a:custGeom>
            <a:avLst/>
            <a:gdLst/>
            <a:ahLst/>
            <a:cxnLst/>
            <a:rect l="l" t="t" r="r" b="b"/>
            <a:pathLst>
              <a:path w="1257300" h="0">
                <a:moveTo>
                  <a:pt x="0" y="0"/>
                </a:moveTo>
                <a:lnTo>
                  <a:pt x="1257300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934961" y="2120645"/>
            <a:ext cx="1257300" cy="0"/>
          </a:xfrm>
          <a:custGeom>
            <a:avLst/>
            <a:gdLst/>
            <a:ahLst/>
            <a:cxnLst/>
            <a:rect l="l" t="t" r="r" b="b"/>
            <a:pathLst>
              <a:path w="1257300" h="0">
                <a:moveTo>
                  <a:pt x="0" y="0"/>
                </a:moveTo>
                <a:lnTo>
                  <a:pt x="1257300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001511" y="2709672"/>
            <a:ext cx="894715" cy="3801110"/>
          </a:xfrm>
          <a:custGeom>
            <a:avLst/>
            <a:gdLst/>
            <a:ahLst/>
            <a:cxnLst/>
            <a:rect l="l" t="t" r="r" b="b"/>
            <a:pathLst>
              <a:path w="894715" h="3801109">
                <a:moveTo>
                  <a:pt x="0" y="1900427"/>
                </a:moveTo>
                <a:lnTo>
                  <a:pt x="323" y="1827535"/>
                </a:lnTo>
                <a:lnTo>
                  <a:pt x="1284" y="1755336"/>
                </a:lnTo>
                <a:lnTo>
                  <a:pt x="2872" y="1683881"/>
                </a:lnTo>
                <a:lnTo>
                  <a:pt x="5075" y="1613217"/>
                </a:lnTo>
                <a:lnTo>
                  <a:pt x="7882" y="1543395"/>
                </a:lnTo>
                <a:lnTo>
                  <a:pt x="11281" y="1474464"/>
                </a:lnTo>
                <a:lnTo>
                  <a:pt x="15260" y="1406473"/>
                </a:lnTo>
                <a:lnTo>
                  <a:pt x="19808" y="1339470"/>
                </a:lnTo>
                <a:lnTo>
                  <a:pt x="24913" y="1273506"/>
                </a:lnTo>
                <a:lnTo>
                  <a:pt x="30564" y="1208630"/>
                </a:lnTo>
                <a:lnTo>
                  <a:pt x="36748" y="1144890"/>
                </a:lnTo>
                <a:lnTo>
                  <a:pt x="43456" y="1082337"/>
                </a:lnTo>
                <a:lnTo>
                  <a:pt x="50674" y="1021018"/>
                </a:lnTo>
                <a:lnTo>
                  <a:pt x="58391" y="960984"/>
                </a:lnTo>
                <a:lnTo>
                  <a:pt x="66596" y="902284"/>
                </a:lnTo>
                <a:lnTo>
                  <a:pt x="75277" y="844967"/>
                </a:lnTo>
                <a:lnTo>
                  <a:pt x="84423" y="789082"/>
                </a:lnTo>
                <a:lnTo>
                  <a:pt x="94021" y="734678"/>
                </a:lnTo>
                <a:lnTo>
                  <a:pt x="104061" y="681804"/>
                </a:lnTo>
                <a:lnTo>
                  <a:pt x="114531" y="630511"/>
                </a:lnTo>
                <a:lnTo>
                  <a:pt x="125419" y="580846"/>
                </a:lnTo>
                <a:lnTo>
                  <a:pt x="136713" y="532860"/>
                </a:lnTo>
                <a:lnTo>
                  <a:pt x="148403" y="486601"/>
                </a:lnTo>
                <a:lnTo>
                  <a:pt x="160475" y="442119"/>
                </a:lnTo>
                <a:lnTo>
                  <a:pt x="172920" y="399463"/>
                </a:lnTo>
                <a:lnTo>
                  <a:pt x="185725" y="358682"/>
                </a:lnTo>
                <a:lnTo>
                  <a:pt x="198878" y="319826"/>
                </a:lnTo>
                <a:lnTo>
                  <a:pt x="212369" y="282943"/>
                </a:lnTo>
                <a:lnTo>
                  <a:pt x="240315" y="215294"/>
                </a:lnTo>
                <a:lnTo>
                  <a:pt x="269470" y="156131"/>
                </a:lnTo>
                <a:lnTo>
                  <a:pt x="299741" y="105846"/>
                </a:lnTo>
                <a:lnTo>
                  <a:pt x="331036" y="64834"/>
                </a:lnTo>
                <a:lnTo>
                  <a:pt x="363263" y="33489"/>
                </a:lnTo>
                <a:lnTo>
                  <a:pt x="396327" y="12203"/>
                </a:lnTo>
                <a:lnTo>
                  <a:pt x="447293" y="0"/>
                </a:lnTo>
                <a:lnTo>
                  <a:pt x="464449" y="1372"/>
                </a:lnTo>
                <a:lnTo>
                  <a:pt x="514891" y="21564"/>
                </a:lnTo>
                <a:lnTo>
                  <a:pt x="547548" y="47928"/>
                </a:lnTo>
                <a:lnTo>
                  <a:pt x="579321" y="84156"/>
                </a:lnTo>
                <a:lnTo>
                  <a:pt x="610115" y="129854"/>
                </a:lnTo>
                <a:lnTo>
                  <a:pt x="639840" y="184627"/>
                </a:lnTo>
                <a:lnTo>
                  <a:pt x="668402" y="248082"/>
                </a:lnTo>
                <a:lnTo>
                  <a:pt x="695709" y="319826"/>
                </a:lnTo>
                <a:lnTo>
                  <a:pt x="708862" y="358682"/>
                </a:lnTo>
                <a:lnTo>
                  <a:pt x="721667" y="399463"/>
                </a:lnTo>
                <a:lnTo>
                  <a:pt x="734112" y="442119"/>
                </a:lnTo>
                <a:lnTo>
                  <a:pt x="746184" y="486601"/>
                </a:lnTo>
                <a:lnTo>
                  <a:pt x="757874" y="532860"/>
                </a:lnTo>
                <a:lnTo>
                  <a:pt x="769168" y="580846"/>
                </a:lnTo>
                <a:lnTo>
                  <a:pt x="780056" y="630511"/>
                </a:lnTo>
                <a:lnTo>
                  <a:pt x="790526" y="681804"/>
                </a:lnTo>
                <a:lnTo>
                  <a:pt x="800566" y="734678"/>
                </a:lnTo>
                <a:lnTo>
                  <a:pt x="810164" y="789082"/>
                </a:lnTo>
                <a:lnTo>
                  <a:pt x="819310" y="844967"/>
                </a:lnTo>
                <a:lnTo>
                  <a:pt x="827991" y="902284"/>
                </a:lnTo>
                <a:lnTo>
                  <a:pt x="836196" y="960984"/>
                </a:lnTo>
                <a:lnTo>
                  <a:pt x="843913" y="1021018"/>
                </a:lnTo>
                <a:lnTo>
                  <a:pt x="851131" y="1082337"/>
                </a:lnTo>
                <a:lnTo>
                  <a:pt x="857839" y="1144890"/>
                </a:lnTo>
                <a:lnTo>
                  <a:pt x="864023" y="1208630"/>
                </a:lnTo>
                <a:lnTo>
                  <a:pt x="869674" y="1273506"/>
                </a:lnTo>
                <a:lnTo>
                  <a:pt x="874779" y="1339470"/>
                </a:lnTo>
                <a:lnTo>
                  <a:pt x="879327" y="1406473"/>
                </a:lnTo>
                <a:lnTo>
                  <a:pt x="883306" y="1474464"/>
                </a:lnTo>
                <a:lnTo>
                  <a:pt x="886705" y="1543395"/>
                </a:lnTo>
                <a:lnTo>
                  <a:pt x="889512" y="1613217"/>
                </a:lnTo>
                <a:lnTo>
                  <a:pt x="891715" y="1683881"/>
                </a:lnTo>
                <a:lnTo>
                  <a:pt x="893303" y="1755336"/>
                </a:lnTo>
                <a:lnTo>
                  <a:pt x="894264" y="1827535"/>
                </a:lnTo>
                <a:lnTo>
                  <a:pt x="894588" y="1900427"/>
                </a:lnTo>
                <a:lnTo>
                  <a:pt x="894264" y="1973323"/>
                </a:lnTo>
                <a:lnTo>
                  <a:pt x="893303" y="2045525"/>
                </a:lnTo>
                <a:lnTo>
                  <a:pt x="891715" y="2116983"/>
                </a:lnTo>
                <a:lnTo>
                  <a:pt x="889512" y="2187649"/>
                </a:lnTo>
                <a:lnTo>
                  <a:pt x="886705" y="2257473"/>
                </a:lnTo>
                <a:lnTo>
                  <a:pt x="883306" y="2326407"/>
                </a:lnTo>
                <a:lnTo>
                  <a:pt x="879327" y="2394400"/>
                </a:lnTo>
                <a:lnTo>
                  <a:pt x="874779" y="2461403"/>
                </a:lnTo>
                <a:lnTo>
                  <a:pt x="869674" y="2527369"/>
                </a:lnTo>
                <a:lnTo>
                  <a:pt x="864023" y="2592246"/>
                </a:lnTo>
                <a:lnTo>
                  <a:pt x="857839" y="2655986"/>
                </a:lnTo>
                <a:lnTo>
                  <a:pt x="851131" y="2718540"/>
                </a:lnTo>
                <a:lnTo>
                  <a:pt x="843913" y="2779859"/>
                </a:lnTo>
                <a:lnTo>
                  <a:pt x="836196" y="2839893"/>
                </a:lnTo>
                <a:lnTo>
                  <a:pt x="827991" y="2898593"/>
                </a:lnTo>
                <a:lnTo>
                  <a:pt x="819310" y="2955911"/>
                </a:lnTo>
                <a:lnTo>
                  <a:pt x="810164" y="3011795"/>
                </a:lnTo>
                <a:lnTo>
                  <a:pt x="800566" y="3066199"/>
                </a:lnTo>
                <a:lnTo>
                  <a:pt x="790526" y="3119072"/>
                </a:lnTo>
                <a:lnTo>
                  <a:pt x="780056" y="3170364"/>
                </a:lnTo>
                <a:lnTo>
                  <a:pt x="769168" y="3220028"/>
                </a:lnTo>
                <a:lnTo>
                  <a:pt x="757874" y="3268013"/>
                </a:lnTo>
                <a:lnTo>
                  <a:pt x="746184" y="3314271"/>
                </a:lnTo>
                <a:lnTo>
                  <a:pt x="734112" y="3358752"/>
                </a:lnTo>
                <a:lnTo>
                  <a:pt x="721667" y="3401407"/>
                </a:lnTo>
                <a:lnTo>
                  <a:pt x="708862" y="3442187"/>
                </a:lnTo>
                <a:lnTo>
                  <a:pt x="695709" y="3481043"/>
                </a:lnTo>
                <a:lnTo>
                  <a:pt x="682218" y="3517925"/>
                </a:lnTo>
                <a:lnTo>
                  <a:pt x="654272" y="3585571"/>
                </a:lnTo>
                <a:lnTo>
                  <a:pt x="625117" y="3644732"/>
                </a:lnTo>
                <a:lnTo>
                  <a:pt x="594846" y="3695014"/>
                </a:lnTo>
                <a:lnTo>
                  <a:pt x="563551" y="3736024"/>
                </a:lnTo>
                <a:lnTo>
                  <a:pt x="531324" y="3767368"/>
                </a:lnTo>
                <a:lnTo>
                  <a:pt x="498260" y="3788652"/>
                </a:lnTo>
                <a:lnTo>
                  <a:pt x="447293" y="3800855"/>
                </a:lnTo>
                <a:lnTo>
                  <a:pt x="430138" y="3799483"/>
                </a:lnTo>
                <a:lnTo>
                  <a:pt x="379696" y="3779292"/>
                </a:lnTo>
                <a:lnTo>
                  <a:pt x="347039" y="3752929"/>
                </a:lnTo>
                <a:lnTo>
                  <a:pt x="315266" y="3716703"/>
                </a:lnTo>
                <a:lnTo>
                  <a:pt x="284472" y="3671007"/>
                </a:lnTo>
                <a:lnTo>
                  <a:pt x="254747" y="3616236"/>
                </a:lnTo>
                <a:lnTo>
                  <a:pt x="226185" y="3552784"/>
                </a:lnTo>
                <a:lnTo>
                  <a:pt x="198878" y="3481043"/>
                </a:lnTo>
                <a:lnTo>
                  <a:pt x="185725" y="3442187"/>
                </a:lnTo>
                <a:lnTo>
                  <a:pt x="172920" y="3401407"/>
                </a:lnTo>
                <a:lnTo>
                  <a:pt x="160475" y="3358752"/>
                </a:lnTo>
                <a:lnTo>
                  <a:pt x="148403" y="3314271"/>
                </a:lnTo>
                <a:lnTo>
                  <a:pt x="136713" y="3268013"/>
                </a:lnTo>
                <a:lnTo>
                  <a:pt x="125419" y="3220028"/>
                </a:lnTo>
                <a:lnTo>
                  <a:pt x="114531" y="3170364"/>
                </a:lnTo>
                <a:lnTo>
                  <a:pt x="104061" y="3119072"/>
                </a:lnTo>
                <a:lnTo>
                  <a:pt x="94021" y="3066199"/>
                </a:lnTo>
                <a:lnTo>
                  <a:pt x="84423" y="3011795"/>
                </a:lnTo>
                <a:lnTo>
                  <a:pt x="75277" y="2955911"/>
                </a:lnTo>
                <a:lnTo>
                  <a:pt x="66596" y="2898593"/>
                </a:lnTo>
                <a:lnTo>
                  <a:pt x="58391" y="2839893"/>
                </a:lnTo>
                <a:lnTo>
                  <a:pt x="50674" y="2779859"/>
                </a:lnTo>
                <a:lnTo>
                  <a:pt x="43456" y="2718540"/>
                </a:lnTo>
                <a:lnTo>
                  <a:pt x="36748" y="2655986"/>
                </a:lnTo>
                <a:lnTo>
                  <a:pt x="30564" y="2592246"/>
                </a:lnTo>
                <a:lnTo>
                  <a:pt x="24913" y="2527369"/>
                </a:lnTo>
                <a:lnTo>
                  <a:pt x="19808" y="2461403"/>
                </a:lnTo>
                <a:lnTo>
                  <a:pt x="15260" y="2394400"/>
                </a:lnTo>
                <a:lnTo>
                  <a:pt x="11281" y="2326407"/>
                </a:lnTo>
                <a:lnTo>
                  <a:pt x="7882" y="2257473"/>
                </a:lnTo>
                <a:lnTo>
                  <a:pt x="5075" y="2187649"/>
                </a:lnTo>
                <a:lnTo>
                  <a:pt x="2872" y="2116983"/>
                </a:lnTo>
                <a:lnTo>
                  <a:pt x="1284" y="2045525"/>
                </a:lnTo>
                <a:lnTo>
                  <a:pt x="323" y="1973323"/>
                </a:lnTo>
                <a:lnTo>
                  <a:pt x="0" y="1900427"/>
                </a:lnTo>
                <a:close/>
              </a:path>
            </a:pathLst>
          </a:custGeom>
          <a:ln w="5715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31140" y="560679"/>
            <a:ext cx="4712335" cy="2276475"/>
          </a:xfrm>
          <a:prstGeom prst="rect">
            <a:avLst/>
          </a:prstGeom>
        </p:spPr>
        <p:txBody>
          <a:bodyPr wrap="square" lIns="0" tIns="256540" rIns="0" bIns="0" rtlCol="0" vert="horz">
            <a:spAutoFit/>
          </a:bodyPr>
          <a:lstStyle/>
          <a:p>
            <a:pPr marL="317500">
              <a:lnSpc>
                <a:spcPct val="100000"/>
              </a:lnSpc>
              <a:spcBef>
                <a:spcPts val="2020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四元式形式定义：</a:t>
            </a:r>
            <a:endParaRPr sz="3200">
              <a:latin typeface="宋体"/>
              <a:cs typeface="宋体"/>
            </a:endParaRPr>
          </a:p>
          <a:p>
            <a:pPr algn="ctr" marL="935355">
              <a:lnSpc>
                <a:spcPct val="100000"/>
              </a:lnSpc>
              <a:spcBef>
                <a:spcPts val="1920"/>
              </a:spcBef>
              <a:tabLst>
                <a:tab pos="1951355" algn="l"/>
                <a:tab pos="3213735" algn="l"/>
                <a:tab pos="4422775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NO.	( OP</a:t>
            </a:r>
            <a:r>
              <a:rPr dirty="0" sz="3200" spc="-20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	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ARG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1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endParaRPr sz="3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236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(a+b)</a:t>
            </a:r>
            <a:r>
              <a:rPr dirty="0" baseline="25132" sz="3150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r>
              <a:rPr dirty="0" baseline="25132" sz="3150" spc="352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+</a:t>
            </a:r>
            <a:r>
              <a:rPr dirty="0" sz="3200" spc="-2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(a+b)</a:t>
            </a:r>
            <a:r>
              <a:rPr dirty="0" baseline="25132" sz="3150" b="1">
                <a:solidFill>
                  <a:srgbClr val="66FFFF"/>
                </a:solidFill>
                <a:latin typeface="Times New Roman"/>
                <a:cs typeface="Times New Roman"/>
              </a:rPr>
              <a:t>3</a:t>
            </a:r>
            <a:r>
              <a:rPr dirty="0" sz="3200" spc="-5" b="1">
                <a:solidFill>
                  <a:srgbClr val="66FFFF"/>
                </a:solidFill>
                <a:latin typeface="宋体"/>
                <a:cs typeface="宋体"/>
              </a:rPr>
              <a:t>的四元式：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39140" y="5990640"/>
            <a:ext cx="41916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spc="5" b="1">
                <a:solidFill>
                  <a:srgbClr val="66FFFF"/>
                </a:solidFill>
                <a:latin typeface="Times New Roman"/>
                <a:cs typeface="Times New Roman"/>
              </a:rPr>
              <a:t>**</a:t>
            </a:r>
            <a:r>
              <a:rPr dirty="0" sz="3200" spc="-6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66FFFF"/>
                </a:solidFill>
                <a:latin typeface="宋体"/>
                <a:cs typeface="宋体"/>
              </a:rPr>
              <a:t>注</a:t>
            </a:r>
            <a:r>
              <a:rPr dirty="0" sz="3200" spc="-25" b="1">
                <a:solidFill>
                  <a:srgbClr val="66FFFF"/>
                </a:solidFill>
                <a:latin typeface="宋体"/>
                <a:cs typeface="宋体"/>
              </a:rPr>
              <a:t>：</a:t>
            </a:r>
            <a:r>
              <a:rPr dirty="0" sz="3200" spc="-25" b="1">
                <a:solidFill>
                  <a:srgbClr val="66FFFF"/>
                </a:solidFill>
                <a:latin typeface="Times New Roman"/>
                <a:cs typeface="Times New Roman"/>
              </a:rPr>
              <a:t>T</a:t>
            </a:r>
            <a:r>
              <a:rPr dirty="0" baseline="-21164" sz="3150" spc="-37" b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是临时变量。</a:t>
            </a:r>
            <a:endParaRPr sz="3200">
              <a:latin typeface="宋体"/>
              <a:cs typeface="宋体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691574" y="2869882"/>
          <a:ext cx="4330065" cy="3171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9450"/>
                <a:gridCol w="866140"/>
                <a:gridCol w="2740660"/>
              </a:tblGrid>
              <a:tr h="6347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(0)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3660">
                    <a:lnL w="28575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3200" spc="-2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3660">
                    <a:lnL w="53975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00">
                        <a:lnSpc>
                          <a:spcPct val="100000"/>
                        </a:lnSpc>
                        <a:spcBef>
                          <a:spcPts val="580"/>
                        </a:spcBef>
                        <a:tabLst>
                          <a:tab pos="914400" algn="l"/>
                        </a:tabLst>
                      </a:pPr>
                      <a:r>
                        <a:rPr dirty="0" sz="32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a,	</a:t>
                      </a:r>
                      <a:r>
                        <a:rPr dirty="0" sz="32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dirty="0" sz="3200" spc="-5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，</a:t>
                      </a:r>
                      <a:r>
                        <a:rPr dirty="0" sz="3200" spc="63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32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baseline="-14550" sz="3150" spc="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14550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3660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637032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(1)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Wingdings 3"/>
                          <a:cs typeface="Wingdings 3"/>
                        </a:rPr>
                        <a:t></a:t>
                      </a:r>
                      <a:r>
                        <a:rPr dirty="0" sz="3200" spc="5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,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71120">
                    <a:lnL w="53975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0355">
                        <a:lnSpc>
                          <a:spcPct val="100000"/>
                        </a:lnSpc>
                        <a:spcBef>
                          <a:spcPts val="560"/>
                        </a:spcBef>
                        <a:tabLst>
                          <a:tab pos="996315" algn="l"/>
                          <a:tab pos="1892935" algn="l"/>
                        </a:tabLst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baseline="-14550" sz="315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8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sz="28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28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2800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，</a:t>
                      </a:r>
                      <a:r>
                        <a:rPr dirty="0" sz="2800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	</a:t>
                      </a: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baseline="-14550" sz="315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14550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637032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(2)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4930">
                    <a:lnL w="28575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3200" spc="-4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4930">
                    <a:lnL w="53975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28930">
                        <a:lnSpc>
                          <a:spcPct val="100000"/>
                        </a:lnSpc>
                        <a:spcBef>
                          <a:spcPts val="590"/>
                        </a:spcBef>
                        <a:tabLst>
                          <a:tab pos="913765" algn="l"/>
                        </a:tabLst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a,	</a:t>
                      </a:r>
                      <a:r>
                        <a:rPr dirty="0" sz="3200" spc="-1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dirty="0" sz="3200" spc="-1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，</a:t>
                      </a:r>
                      <a:r>
                        <a:rPr dirty="0" sz="3200" spc="64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32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baseline="-14550" sz="3150" spc="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baseline="-14550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4930"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63779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(3)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8580">
                    <a:lnL w="28575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Wingdings 3"/>
                          <a:cs typeface="Wingdings 3"/>
                        </a:rPr>
                        <a:t></a:t>
                      </a:r>
                      <a:r>
                        <a:rPr dirty="0" sz="3200" spc="5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,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68580">
                    <a:lnL w="53975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99085">
                        <a:lnSpc>
                          <a:spcPct val="100000"/>
                        </a:lnSpc>
                        <a:spcBef>
                          <a:spcPts val="540"/>
                        </a:spcBef>
                        <a:tabLst>
                          <a:tab pos="996315" algn="l"/>
                          <a:tab pos="1892935" algn="l"/>
                        </a:tabLst>
                      </a:pPr>
                      <a:r>
                        <a:rPr dirty="0" sz="32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baseline="-14550" sz="3150" spc="-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28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,	</a:t>
                      </a: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2800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，</a:t>
                      </a:r>
                      <a:r>
                        <a:rPr dirty="0" sz="2800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	</a:t>
                      </a: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baseline="-14550" sz="315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baseline="-14550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8580"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9588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(4)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2390">
                    <a:lnL w="28575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3200" spc="-5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dirty="0" sz="3200" spc="-5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，</a:t>
                      </a:r>
                      <a:endParaRPr sz="3200">
                        <a:latin typeface="宋体"/>
                        <a:cs typeface="宋体"/>
                      </a:endParaRPr>
                    </a:p>
                  </a:txBody>
                  <a:tcPr marL="0" marR="0" marB="0" marT="72390">
                    <a:lnL w="53975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9464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baseline="-14550" sz="315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320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，</a:t>
                      </a:r>
                      <a:r>
                        <a:rPr dirty="0" sz="3200" spc="-1225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32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baseline="-14550" sz="3150" spc="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 </a:t>
                      </a:r>
                      <a:r>
                        <a:rPr dirty="0" sz="3200" spc="5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，</a:t>
                      </a:r>
                      <a:r>
                        <a:rPr dirty="0" sz="32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baseline="-14550" sz="3150" spc="7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baseline="-14550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2390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40080" y="2220467"/>
          <a:ext cx="7857490" cy="4171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8615"/>
                <a:gridCol w="2983230"/>
                <a:gridCol w="1626235"/>
                <a:gridCol w="1572894"/>
              </a:tblGrid>
              <a:tr h="876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765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8005">
                        <a:lnSpc>
                          <a:spcPct val="100000"/>
                        </a:lnSpc>
                        <a:spcBef>
                          <a:spcPts val="1950"/>
                        </a:spcBef>
                        <a:tabLst>
                          <a:tab pos="1713864" algn="l"/>
                        </a:tabLst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OP	ARG1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765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2260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ARG2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7650">
                    <a:lnT w="381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6870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Result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7650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850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(1)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24205">
                        <a:lnSpc>
                          <a:spcPct val="100000"/>
                        </a:lnSpc>
                        <a:spcBef>
                          <a:spcPts val="765"/>
                        </a:spcBef>
                        <a:tabLst>
                          <a:tab pos="2245995" algn="l"/>
                        </a:tabLst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&gt;	X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7155">
                    <a:lnL w="38100">
                      <a:solidFill>
                        <a:srgbClr val="FFFF00"/>
                      </a:solidFill>
                      <a:prstDash val="solid"/>
                    </a:lnL>
                    <a:lnT w="53975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8257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7155">
                    <a:lnT w="53975">
                      <a:solidFill>
                        <a:srgbClr val="FFF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16954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7155">
                    <a:lnR w="38100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</a:tcPr>
                </a:tc>
              </a:tr>
              <a:tr h="442504">
                <a:tc>
                  <a:txBody>
                    <a:bodyPr/>
                    <a:lstStyle/>
                    <a:p>
                      <a:pPr algn="ctr">
                        <a:lnSpc>
                          <a:spcPts val="275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(2)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24205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2188210" algn="l"/>
                        </a:tabLst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dirty="0" baseline="-20833" sz="2400" spc="-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	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38100">
                      <a:solidFill>
                        <a:srgbClr val="FFFF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016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(5)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R w="38100">
                      <a:solidFill>
                        <a:srgbClr val="FFFF00"/>
                      </a:solidFill>
                      <a:prstDash val="solid"/>
                    </a:lnR>
                  </a:tcPr>
                </a:tc>
              </a:tr>
              <a:tr h="385185">
                <a:tc>
                  <a:txBody>
                    <a:bodyPr/>
                    <a:lstStyle/>
                    <a:p>
                      <a:pPr algn="ctr">
                        <a:lnSpc>
                          <a:spcPts val="257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(3)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24205">
                        <a:lnSpc>
                          <a:spcPts val="2755"/>
                        </a:lnSpc>
                        <a:tabLst>
                          <a:tab pos="2245995" algn="l"/>
                        </a:tabLst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	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60020">
                        <a:lnSpc>
                          <a:spcPts val="275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00"/>
                      </a:solidFill>
                      <a:prstDash val="solid"/>
                    </a:lnR>
                  </a:tcPr>
                </a:tc>
              </a:tr>
              <a:tr h="404486">
                <a:tc>
                  <a:txBody>
                    <a:bodyPr/>
                    <a:lstStyle/>
                    <a:p>
                      <a:pPr algn="ctr">
                        <a:lnSpc>
                          <a:spcPts val="285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(4)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2420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38100">
                      <a:solidFill>
                        <a:srgbClr val="FFFF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11809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(7)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R w="38100">
                      <a:solidFill>
                        <a:srgbClr val="FFFF00"/>
                      </a:solidFill>
                      <a:prstDash val="solid"/>
                    </a:lnR>
                  </a:tcPr>
                </a:tc>
              </a:tr>
              <a:tr h="40948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(5)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00405">
                        <a:lnSpc>
                          <a:spcPts val="2875"/>
                        </a:lnSpc>
                        <a:tabLst>
                          <a:tab pos="2233930" algn="l"/>
                        </a:tabLst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	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41275">
                        <a:lnSpc>
                          <a:spcPts val="287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51130">
                        <a:lnSpc>
                          <a:spcPts val="287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00"/>
                      </a:solidFill>
                      <a:prstDash val="solid"/>
                    </a:lnR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(6)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00405">
                        <a:lnSpc>
                          <a:spcPts val="2820"/>
                        </a:lnSpc>
                        <a:tabLst>
                          <a:tab pos="2245995" algn="l"/>
                        </a:tabLst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	t2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92710">
                        <a:lnSpc>
                          <a:spcPts val="282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00"/>
                      </a:solidFill>
                      <a:prstDash val="solid"/>
                    </a:lnR>
                  </a:tcPr>
                </a:tc>
              </a:tr>
              <a:tr h="6933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(7)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00"/>
                      </a:solidFill>
                      <a:prstDash val="solid"/>
                    </a:lnR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764540" y="589635"/>
            <a:ext cx="6322060" cy="1303020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927100">
              <a:lnSpc>
                <a:spcPct val="100000"/>
              </a:lnSpc>
              <a:spcBef>
                <a:spcPts val="1290"/>
              </a:spcBef>
            </a:pP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if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X&gt;Y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then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Z = X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else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Z =</a:t>
            </a:r>
            <a:r>
              <a:rPr dirty="0" sz="3200" spc="-325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Y+1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的四元式可以表示为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12494" y="26923"/>
            <a:ext cx="590105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  <a:tab pos="4292600" algn="l"/>
                <a:tab pos="4864100" algn="l"/>
              </a:tabLst>
            </a:pPr>
            <a:r>
              <a:rPr dirty="0" sz="2000" spc="5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>
                <a:solidFill>
                  <a:srgbClr val="A15100"/>
                </a:solidFill>
              </a:rPr>
              <a:t>语义分析与中间代码生</a:t>
            </a:r>
            <a:r>
              <a:rPr dirty="0" sz="2000" spc="-5">
                <a:solidFill>
                  <a:srgbClr val="A15100"/>
                </a:solidFill>
              </a:rPr>
              <a:t>成</a:t>
            </a:r>
            <a:r>
              <a:rPr dirty="0" sz="2000">
                <a:solidFill>
                  <a:srgbClr val="A15100"/>
                </a:solidFill>
              </a:rPr>
              <a:t>	</a:t>
            </a:r>
            <a:r>
              <a:rPr dirty="0" u="sng" sz="200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</a:rPr>
              <a:t>中间语言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1530" y="729488"/>
            <a:ext cx="277939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9640" algn="l"/>
              </a:tabLst>
            </a:pPr>
            <a:r>
              <a:rPr dirty="0" sz="3600" spc="-5">
                <a:solidFill>
                  <a:srgbClr val="FFFF00"/>
                </a:solidFill>
              </a:rPr>
              <a:t>三</a:t>
            </a:r>
            <a:r>
              <a:rPr dirty="0" sz="3600">
                <a:solidFill>
                  <a:srgbClr val="FFFF00"/>
                </a:solidFill>
                <a:latin typeface="Times New Roman"/>
                <a:cs typeface="Times New Roman"/>
              </a:rPr>
              <a:t>.	</a:t>
            </a:r>
            <a:r>
              <a:rPr dirty="0" sz="3600" spc="-5">
                <a:solidFill>
                  <a:srgbClr val="FFFF00"/>
                </a:solidFill>
              </a:rPr>
              <a:t>图（树）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26002" y="2192273"/>
            <a:ext cx="1264920" cy="1249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826002" y="2192273"/>
            <a:ext cx="1264920" cy="125095"/>
          </a:xfrm>
          <a:custGeom>
            <a:avLst/>
            <a:gdLst/>
            <a:ahLst/>
            <a:cxnLst/>
            <a:rect l="l" t="t" r="r" b="b"/>
            <a:pathLst>
              <a:path w="1264920" h="125094">
                <a:moveTo>
                  <a:pt x="0" y="62484"/>
                </a:moveTo>
                <a:lnTo>
                  <a:pt x="251840" y="0"/>
                </a:lnTo>
                <a:lnTo>
                  <a:pt x="251840" y="31241"/>
                </a:lnTo>
                <a:lnTo>
                  <a:pt x="1013078" y="31241"/>
                </a:lnTo>
                <a:lnTo>
                  <a:pt x="1013078" y="0"/>
                </a:lnTo>
                <a:lnTo>
                  <a:pt x="1264920" y="62484"/>
                </a:lnTo>
                <a:lnTo>
                  <a:pt x="1013078" y="124967"/>
                </a:lnTo>
                <a:lnTo>
                  <a:pt x="1013078" y="93725"/>
                </a:lnTo>
                <a:lnTo>
                  <a:pt x="251840" y="93725"/>
                </a:lnTo>
                <a:lnTo>
                  <a:pt x="251840" y="124967"/>
                </a:lnTo>
                <a:lnTo>
                  <a:pt x="0" y="62484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826002" y="2972561"/>
            <a:ext cx="1264920" cy="1249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26002" y="2972561"/>
            <a:ext cx="1264920" cy="125095"/>
          </a:xfrm>
          <a:custGeom>
            <a:avLst/>
            <a:gdLst/>
            <a:ahLst/>
            <a:cxnLst/>
            <a:rect l="l" t="t" r="r" b="b"/>
            <a:pathLst>
              <a:path w="1264920" h="125094">
                <a:moveTo>
                  <a:pt x="0" y="62484"/>
                </a:moveTo>
                <a:lnTo>
                  <a:pt x="251840" y="0"/>
                </a:lnTo>
                <a:lnTo>
                  <a:pt x="251840" y="31241"/>
                </a:lnTo>
                <a:lnTo>
                  <a:pt x="1013078" y="31241"/>
                </a:lnTo>
                <a:lnTo>
                  <a:pt x="1013078" y="0"/>
                </a:lnTo>
                <a:lnTo>
                  <a:pt x="1264920" y="62484"/>
                </a:lnTo>
                <a:lnTo>
                  <a:pt x="1013078" y="124967"/>
                </a:lnTo>
                <a:lnTo>
                  <a:pt x="1013078" y="93725"/>
                </a:lnTo>
                <a:lnTo>
                  <a:pt x="251840" y="93725"/>
                </a:lnTo>
                <a:lnTo>
                  <a:pt x="251840" y="124967"/>
                </a:lnTo>
                <a:lnTo>
                  <a:pt x="0" y="62484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807714" y="3734561"/>
            <a:ext cx="1263396" cy="1249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807714" y="3734561"/>
            <a:ext cx="1263650" cy="125095"/>
          </a:xfrm>
          <a:custGeom>
            <a:avLst/>
            <a:gdLst/>
            <a:ahLst/>
            <a:cxnLst/>
            <a:rect l="l" t="t" r="r" b="b"/>
            <a:pathLst>
              <a:path w="1263650" h="125095">
                <a:moveTo>
                  <a:pt x="0" y="62483"/>
                </a:moveTo>
                <a:lnTo>
                  <a:pt x="251840" y="0"/>
                </a:lnTo>
                <a:lnTo>
                  <a:pt x="251840" y="31242"/>
                </a:lnTo>
                <a:lnTo>
                  <a:pt x="1011555" y="31242"/>
                </a:lnTo>
                <a:lnTo>
                  <a:pt x="1011555" y="0"/>
                </a:lnTo>
                <a:lnTo>
                  <a:pt x="1263396" y="62483"/>
                </a:lnTo>
                <a:lnTo>
                  <a:pt x="1011555" y="124968"/>
                </a:lnTo>
                <a:lnTo>
                  <a:pt x="1011555" y="93725"/>
                </a:lnTo>
                <a:lnTo>
                  <a:pt x="251840" y="93725"/>
                </a:lnTo>
                <a:lnTo>
                  <a:pt x="251840" y="124968"/>
                </a:lnTo>
                <a:lnTo>
                  <a:pt x="0" y="6248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634108" y="1964182"/>
            <a:ext cx="2069464" cy="29673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一个三元式</a:t>
            </a:r>
            <a:endParaRPr sz="3200">
              <a:latin typeface="宋体"/>
              <a:cs typeface="宋体"/>
            </a:endParaRPr>
          </a:p>
          <a:p>
            <a:pPr algn="ctr" marL="479425" marR="472440" indent="-53340">
              <a:lnSpc>
                <a:spcPct val="156300"/>
              </a:lnSpc>
              <a:spcBef>
                <a:spcPts val="11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OP 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ARG1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algn="ctr" marL="38100">
              <a:lnSpc>
                <a:spcPct val="100000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ARG2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26002" y="4648961"/>
            <a:ext cx="1264920" cy="1249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826002" y="4648961"/>
            <a:ext cx="1264920" cy="125095"/>
          </a:xfrm>
          <a:custGeom>
            <a:avLst/>
            <a:gdLst/>
            <a:ahLst/>
            <a:cxnLst/>
            <a:rect l="l" t="t" r="r" b="b"/>
            <a:pathLst>
              <a:path w="1264920" h="125095">
                <a:moveTo>
                  <a:pt x="0" y="62483"/>
                </a:moveTo>
                <a:lnTo>
                  <a:pt x="251840" y="0"/>
                </a:lnTo>
                <a:lnTo>
                  <a:pt x="251840" y="31242"/>
                </a:lnTo>
                <a:lnTo>
                  <a:pt x="1013078" y="31242"/>
                </a:lnTo>
                <a:lnTo>
                  <a:pt x="1013078" y="0"/>
                </a:lnTo>
                <a:lnTo>
                  <a:pt x="1264920" y="62483"/>
                </a:lnTo>
                <a:lnTo>
                  <a:pt x="1013078" y="124968"/>
                </a:lnTo>
                <a:lnTo>
                  <a:pt x="1013078" y="93725"/>
                </a:lnTo>
                <a:lnTo>
                  <a:pt x="251840" y="93725"/>
                </a:lnTo>
                <a:lnTo>
                  <a:pt x="251840" y="124968"/>
                </a:lnTo>
                <a:lnTo>
                  <a:pt x="0" y="6248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261228" y="1964182"/>
            <a:ext cx="2496820" cy="29718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1115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一棵子树</a:t>
            </a:r>
            <a:endParaRPr sz="3200">
              <a:latin typeface="宋体"/>
              <a:cs typeface="宋体"/>
            </a:endParaRPr>
          </a:p>
          <a:p>
            <a:pPr marL="31115">
              <a:lnSpc>
                <a:spcPct val="100000"/>
              </a:lnSpc>
              <a:spcBef>
                <a:spcPts val="231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子树根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子树左叶节点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00">
              <a:latin typeface="宋体"/>
              <a:cs typeface="宋体"/>
            </a:endParaRPr>
          </a:p>
          <a:p>
            <a:pPr marL="31115">
              <a:lnSpc>
                <a:spcPct val="100000"/>
              </a:lnSpc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子树右叶节点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412494" y="26923"/>
            <a:ext cx="348487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692521" y="26923"/>
            <a:ext cx="16211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3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中间语言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39140" y="949832"/>
            <a:ext cx="261175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(a+b)</a:t>
            </a:r>
            <a:r>
              <a:rPr dirty="0" baseline="23809" sz="3150" b="1">
                <a:solidFill>
                  <a:srgbClr val="FFFFFF"/>
                </a:solidFill>
                <a:latin typeface="Times New Roman"/>
                <a:cs typeface="Times New Roman"/>
              </a:rPr>
              <a:t>2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2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(a+b)</a:t>
            </a:r>
            <a:r>
              <a:rPr dirty="0" baseline="23809" sz="3150" spc="7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baseline="23809" sz="3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1816049"/>
            <a:ext cx="125222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3200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宋体"/>
                <a:cs typeface="宋体"/>
              </a:rPr>
              <a:t>三元式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01361" y="4470653"/>
            <a:ext cx="447040" cy="445134"/>
          </a:xfrm>
          <a:custGeom>
            <a:avLst/>
            <a:gdLst/>
            <a:ahLst/>
            <a:cxnLst/>
            <a:rect l="l" t="t" r="r" b="b"/>
            <a:pathLst>
              <a:path w="447039" h="445135">
                <a:moveTo>
                  <a:pt x="0" y="222504"/>
                </a:moveTo>
                <a:lnTo>
                  <a:pt x="4535" y="177647"/>
                </a:lnTo>
                <a:lnTo>
                  <a:pt x="17543" y="135874"/>
                </a:lnTo>
                <a:lnTo>
                  <a:pt x="38127" y="98077"/>
                </a:lnTo>
                <a:lnTo>
                  <a:pt x="65389" y="65151"/>
                </a:lnTo>
                <a:lnTo>
                  <a:pt x="98431" y="37986"/>
                </a:lnTo>
                <a:lnTo>
                  <a:pt x="136356" y="17478"/>
                </a:lnTo>
                <a:lnTo>
                  <a:pt x="178267" y="4518"/>
                </a:lnTo>
                <a:lnTo>
                  <a:pt x="223265" y="0"/>
                </a:lnTo>
                <a:lnTo>
                  <a:pt x="268264" y="4518"/>
                </a:lnTo>
                <a:lnTo>
                  <a:pt x="310175" y="17478"/>
                </a:lnTo>
                <a:lnTo>
                  <a:pt x="348100" y="37986"/>
                </a:lnTo>
                <a:lnTo>
                  <a:pt x="381142" y="65151"/>
                </a:lnTo>
                <a:lnTo>
                  <a:pt x="408404" y="98077"/>
                </a:lnTo>
                <a:lnTo>
                  <a:pt x="428988" y="135874"/>
                </a:lnTo>
                <a:lnTo>
                  <a:pt x="441996" y="177647"/>
                </a:lnTo>
                <a:lnTo>
                  <a:pt x="446532" y="222504"/>
                </a:lnTo>
                <a:lnTo>
                  <a:pt x="441996" y="267360"/>
                </a:lnTo>
                <a:lnTo>
                  <a:pt x="428988" y="309133"/>
                </a:lnTo>
                <a:lnTo>
                  <a:pt x="408404" y="346930"/>
                </a:lnTo>
                <a:lnTo>
                  <a:pt x="381142" y="379856"/>
                </a:lnTo>
                <a:lnTo>
                  <a:pt x="348100" y="407021"/>
                </a:lnTo>
                <a:lnTo>
                  <a:pt x="310175" y="427529"/>
                </a:lnTo>
                <a:lnTo>
                  <a:pt x="268264" y="440489"/>
                </a:lnTo>
                <a:lnTo>
                  <a:pt x="223265" y="445008"/>
                </a:lnTo>
                <a:lnTo>
                  <a:pt x="178267" y="440489"/>
                </a:lnTo>
                <a:lnTo>
                  <a:pt x="136356" y="427529"/>
                </a:lnTo>
                <a:lnTo>
                  <a:pt x="98431" y="407021"/>
                </a:lnTo>
                <a:lnTo>
                  <a:pt x="65389" y="379857"/>
                </a:lnTo>
                <a:lnTo>
                  <a:pt x="38127" y="346930"/>
                </a:lnTo>
                <a:lnTo>
                  <a:pt x="17543" y="309133"/>
                </a:lnTo>
                <a:lnTo>
                  <a:pt x="4535" y="267360"/>
                </a:lnTo>
                <a:lnTo>
                  <a:pt x="0" y="22250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909184" y="4380102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15761" y="4452365"/>
            <a:ext cx="447040" cy="445134"/>
          </a:xfrm>
          <a:custGeom>
            <a:avLst/>
            <a:gdLst/>
            <a:ahLst/>
            <a:cxnLst/>
            <a:rect l="l" t="t" r="r" b="b"/>
            <a:pathLst>
              <a:path w="447039" h="445135">
                <a:moveTo>
                  <a:pt x="0" y="222503"/>
                </a:moveTo>
                <a:lnTo>
                  <a:pt x="4535" y="177647"/>
                </a:lnTo>
                <a:lnTo>
                  <a:pt x="17543" y="135874"/>
                </a:lnTo>
                <a:lnTo>
                  <a:pt x="38127" y="98077"/>
                </a:lnTo>
                <a:lnTo>
                  <a:pt x="65389" y="65150"/>
                </a:lnTo>
                <a:lnTo>
                  <a:pt x="98431" y="37986"/>
                </a:lnTo>
                <a:lnTo>
                  <a:pt x="136356" y="17478"/>
                </a:lnTo>
                <a:lnTo>
                  <a:pt x="178267" y="4518"/>
                </a:lnTo>
                <a:lnTo>
                  <a:pt x="223265" y="0"/>
                </a:lnTo>
                <a:lnTo>
                  <a:pt x="268264" y="4518"/>
                </a:lnTo>
                <a:lnTo>
                  <a:pt x="310175" y="17478"/>
                </a:lnTo>
                <a:lnTo>
                  <a:pt x="348100" y="37986"/>
                </a:lnTo>
                <a:lnTo>
                  <a:pt x="381142" y="65150"/>
                </a:lnTo>
                <a:lnTo>
                  <a:pt x="408404" y="98077"/>
                </a:lnTo>
                <a:lnTo>
                  <a:pt x="428988" y="135874"/>
                </a:lnTo>
                <a:lnTo>
                  <a:pt x="441996" y="177647"/>
                </a:lnTo>
                <a:lnTo>
                  <a:pt x="446532" y="222503"/>
                </a:lnTo>
                <a:lnTo>
                  <a:pt x="441996" y="267360"/>
                </a:lnTo>
                <a:lnTo>
                  <a:pt x="428988" y="309133"/>
                </a:lnTo>
                <a:lnTo>
                  <a:pt x="408404" y="346930"/>
                </a:lnTo>
                <a:lnTo>
                  <a:pt x="381142" y="379856"/>
                </a:lnTo>
                <a:lnTo>
                  <a:pt x="348100" y="407021"/>
                </a:lnTo>
                <a:lnTo>
                  <a:pt x="310175" y="427529"/>
                </a:lnTo>
                <a:lnTo>
                  <a:pt x="268264" y="440489"/>
                </a:lnTo>
                <a:lnTo>
                  <a:pt x="223265" y="445007"/>
                </a:lnTo>
                <a:lnTo>
                  <a:pt x="178267" y="440489"/>
                </a:lnTo>
                <a:lnTo>
                  <a:pt x="136356" y="427529"/>
                </a:lnTo>
                <a:lnTo>
                  <a:pt x="98431" y="407021"/>
                </a:lnTo>
                <a:lnTo>
                  <a:pt x="65389" y="379856"/>
                </a:lnTo>
                <a:lnTo>
                  <a:pt x="38127" y="346930"/>
                </a:lnTo>
                <a:lnTo>
                  <a:pt x="17543" y="309133"/>
                </a:lnTo>
                <a:lnTo>
                  <a:pt x="4535" y="267360"/>
                </a:lnTo>
                <a:lnTo>
                  <a:pt x="0" y="22250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813297" y="4361179"/>
            <a:ext cx="25209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47894" y="3495294"/>
            <a:ext cx="445134" cy="443865"/>
          </a:xfrm>
          <a:custGeom>
            <a:avLst/>
            <a:gdLst/>
            <a:ahLst/>
            <a:cxnLst/>
            <a:rect l="l" t="t" r="r" b="b"/>
            <a:pathLst>
              <a:path w="445135" h="443864">
                <a:moveTo>
                  <a:pt x="0" y="221741"/>
                </a:moveTo>
                <a:lnTo>
                  <a:pt x="4518" y="177063"/>
                </a:lnTo>
                <a:lnTo>
                  <a:pt x="17478" y="135445"/>
                </a:lnTo>
                <a:lnTo>
                  <a:pt x="37986" y="97780"/>
                </a:lnTo>
                <a:lnTo>
                  <a:pt x="65150" y="64960"/>
                </a:lnTo>
                <a:lnTo>
                  <a:pt x="98077" y="37879"/>
                </a:lnTo>
                <a:lnTo>
                  <a:pt x="135874" y="17430"/>
                </a:lnTo>
                <a:lnTo>
                  <a:pt x="177647" y="4506"/>
                </a:lnTo>
                <a:lnTo>
                  <a:pt x="222503" y="0"/>
                </a:lnTo>
                <a:lnTo>
                  <a:pt x="267360" y="4506"/>
                </a:lnTo>
                <a:lnTo>
                  <a:pt x="309133" y="17430"/>
                </a:lnTo>
                <a:lnTo>
                  <a:pt x="346930" y="37879"/>
                </a:lnTo>
                <a:lnTo>
                  <a:pt x="379856" y="64960"/>
                </a:lnTo>
                <a:lnTo>
                  <a:pt x="407021" y="97780"/>
                </a:lnTo>
                <a:lnTo>
                  <a:pt x="427529" y="135445"/>
                </a:lnTo>
                <a:lnTo>
                  <a:pt x="440489" y="177063"/>
                </a:lnTo>
                <a:lnTo>
                  <a:pt x="445007" y="221741"/>
                </a:lnTo>
                <a:lnTo>
                  <a:pt x="440489" y="266420"/>
                </a:lnTo>
                <a:lnTo>
                  <a:pt x="427529" y="308038"/>
                </a:lnTo>
                <a:lnTo>
                  <a:pt x="407021" y="345703"/>
                </a:lnTo>
                <a:lnTo>
                  <a:pt x="379856" y="378523"/>
                </a:lnTo>
                <a:lnTo>
                  <a:pt x="346930" y="405604"/>
                </a:lnTo>
                <a:lnTo>
                  <a:pt x="309133" y="426053"/>
                </a:lnTo>
                <a:lnTo>
                  <a:pt x="267360" y="438977"/>
                </a:lnTo>
                <a:lnTo>
                  <a:pt x="222503" y="443483"/>
                </a:lnTo>
                <a:lnTo>
                  <a:pt x="177647" y="438977"/>
                </a:lnTo>
                <a:lnTo>
                  <a:pt x="135874" y="426053"/>
                </a:lnTo>
                <a:lnTo>
                  <a:pt x="98077" y="405604"/>
                </a:lnTo>
                <a:lnTo>
                  <a:pt x="65150" y="378523"/>
                </a:lnTo>
                <a:lnTo>
                  <a:pt x="37986" y="345703"/>
                </a:lnTo>
                <a:lnTo>
                  <a:pt x="17478" y="308038"/>
                </a:lnTo>
                <a:lnTo>
                  <a:pt x="4518" y="266420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341746" y="3403168"/>
            <a:ext cx="25781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73573" y="3938778"/>
            <a:ext cx="445134" cy="513715"/>
          </a:xfrm>
          <a:custGeom>
            <a:avLst/>
            <a:gdLst/>
            <a:ahLst/>
            <a:cxnLst/>
            <a:rect l="l" t="t" r="r" b="b"/>
            <a:pathLst>
              <a:path w="445135" h="513714">
                <a:moveTo>
                  <a:pt x="445008" y="0"/>
                </a:moveTo>
                <a:lnTo>
                  <a:pt x="0" y="513588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560314" y="3938778"/>
            <a:ext cx="467995" cy="513715"/>
          </a:xfrm>
          <a:custGeom>
            <a:avLst/>
            <a:gdLst/>
            <a:ahLst/>
            <a:cxnLst/>
            <a:rect l="l" t="t" r="r" b="b"/>
            <a:pathLst>
              <a:path w="467995" h="513714">
                <a:moveTo>
                  <a:pt x="0" y="0"/>
                </a:moveTo>
                <a:lnTo>
                  <a:pt x="467868" y="51358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736842" y="4508753"/>
            <a:ext cx="447040" cy="445134"/>
          </a:xfrm>
          <a:custGeom>
            <a:avLst/>
            <a:gdLst/>
            <a:ahLst/>
            <a:cxnLst/>
            <a:rect l="l" t="t" r="r" b="b"/>
            <a:pathLst>
              <a:path w="447040" h="445135">
                <a:moveTo>
                  <a:pt x="0" y="222504"/>
                </a:moveTo>
                <a:lnTo>
                  <a:pt x="4535" y="177647"/>
                </a:lnTo>
                <a:lnTo>
                  <a:pt x="17543" y="135874"/>
                </a:lnTo>
                <a:lnTo>
                  <a:pt x="38127" y="98077"/>
                </a:lnTo>
                <a:lnTo>
                  <a:pt x="65389" y="65151"/>
                </a:lnTo>
                <a:lnTo>
                  <a:pt x="98431" y="37986"/>
                </a:lnTo>
                <a:lnTo>
                  <a:pt x="136356" y="17478"/>
                </a:lnTo>
                <a:lnTo>
                  <a:pt x="178267" y="4518"/>
                </a:lnTo>
                <a:lnTo>
                  <a:pt x="223265" y="0"/>
                </a:lnTo>
                <a:lnTo>
                  <a:pt x="268264" y="4518"/>
                </a:lnTo>
                <a:lnTo>
                  <a:pt x="310175" y="17478"/>
                </a:lnTo>
                <a:lnTo>
                  <a:pt x="348100" y="37986"/>
                </a:lnTo>
                <a:lnTo>
                  <a:pt x="381142" y="65151"/>
                </a:lnTo>
                <a:lnTo>
                  <a:pt x="408404" y="98077"/>
                </a:lnTo>
                <a:lnTo>
                  <a:pt x="428988" y="135874"/>
                </a:lnTo>
                <a:lnTo>
                  <a:pt x="441996" y="177647"/>
                </a:lnTo>
                <a:lnTo>
                  <a:pt x="446531" y="222504"/>
                </a:lnTo>
                <a:lnTo>
                  <a:pt x="441996" y="267360"/>
                </a:lnTo>
                <a:lnTo>
                  <a:pt x="428988" y="309133"/>
                </a:lnTo>
                <a:lnTo>
                  <a:pt x="408404" y="346930"/>
                </a:lnTo>
                <a:lnTo>
                  <a:pt x="381142" y="379856"/>
                </a:lnTo>
                <a:lnTo>
                  <a:pt x="348100" y="407021"/>
                </a:lnTo>
                <a:lnTo>
                  <a:pt x="310175" y="427529"/>
                </a:lnTo>
                <a:lnTo>
                  <a:pt x="268264" y="440489"/>
                </a:lnTo>
                <a:lnTo>
                  <a:pt x="223265" y="445008"/>
                </a:lnTo>
                <a:lnTo>
                  <a:pt x="178267" y="440489"/>
                </a:lnTo>
                <a:lnTo>
                  <a:pt x="136356" y="427529"/>
                </a:lnTo>
                <a:lnTo>
                  <a:pt x="98431" y="407021"/>
                </a:lnTo>
                <a:lnTo>
                  <a:pt x="65389" y="379857"/>
                </a:lnTo>
                <a:lnTo>
                  <a:pt x="38127" y="346930"/>
                </a:lnTo>
                <a:lnTo>
                  <a:pt x="17543" y="309133"/>
                </a:lnTo>
                <a:lnTo>
                  <a:pt x="4535" y="267360"/>
                </a:lnTo>
                <a:lnTo>
                  <a:pt x="0" y="22250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844665" y="4418202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651242" y="4490465"/>
            <a:ext cx="447040" cy="445134"/>
          </a:xfrm>
          <a:custGeom>
            <a:avLst/>
            <a:gdLst/>
            <a:ahLst/>
            <a:cxnLst/>
            <a:rect l="l" t="t" r="r" b="b"/>
            <a:pathLst>
              <a:path w="447040" h="445135">
                <a:moveTo>
                  <a:pt x="0" y="222503"/>
                </a:moveTo>
                <a:lnTo>
                  <a:pt x="4535" y="177647"/>
                </a:lnTo>
                <a:lnTo>
                  <a:pt x="17543" y="135874"/>
                </a:lnTo>
                <a:lnTo>
                  <a:pt x="38127" y="98077"/>
                </a:lnTo>
                <a:lnTo>
                  <a:pt x="65389" y="65150"/>
                </a:lnTo>
                <a:lnTo>
                  <a:pt x="98431" y="37986"/>
                </a:lnTo>
                <a:lnTo>
                  <a:pt x="136356" y="17478"/>
                </a:lnTo>
                <a:lnTo>
                  <a:pt x="178267" y="4518"/>
                </a:lnTo>
                <a:lnTo>
                  <a:pt x="223265" y="0"/>
                </a:lnTo>
                <a:lnTo>
                  <a:pt x="268264" y="4518"/>
                </a:lnTo>
                <a:lnTo>
                  <a:pt x="310175" y="17478"/>
                </a:lnTo>
                <a:lnTo>
                  <a:pt x="348100" y="37986"/>
                </a:lnTo>
                <a:lnTo>
                  <a:pt x="381142" y="65150"/>
                </a:lnTo>
                <a:lnTo>
                  <a:pt x="408404" y="98077"/>
                </a:lnTo>
                <a:lnTo>
                  <a:pt x="428988" y="135874"/>
                </a:lnTo>
                <a:lnTo>
                  <a:pt x="441996" y="177647"/>
                </a:lnTo>
                <a:lnTo>
                  <a:pt x="446531" y="222503"/>
                </a:lnTo>
                <a:lnTo>
                  <a:pt x="441996" y="267360"/>
                </a:lnTo>
                <a:lnTo>
                  <a:pt x="428988" y="309133"/>
                </a:lnTo>
                <a:lnTo>
                  <a:pt x="408404" y="346930"/>
                </a:lnTo>
                <a:lnTo>
                  <a:pt x="381142" y="379856"/>
                </a:lnTo>
                <a:lnTo>
                  <a:pt x="348100" y="407021"/>
                </a:lnTo>
                <a:lnTo>
                  <a:pt x="310175" y="427529"/>
                </a:lnTo>
                <a:lnTo>
                  <a:pt x="268264" y="440489"/>
                </a:lnTo>
                <a:lnTo>
                  <a:pt x="223265" y="445007"/>
                </a:lnTo>
                <a:lnTo>
                  <a:pt x="178267" y="440489"/>
                </a:lnTo>
                <a:lnTo>
                  <a:pt x="136356" y="427529"/>
                </a:lnTo>
                <a:lnTo>
                  <a:pt x="98431" y="407021"/>
                </a:lnTo>
                <a:lnTo>
                  <a:pt x="65389" y="379856"/>
                </a:lnTo>
                <a:lnTo>
                  <a:pt x="38127" y="346930"/>
                </a:lnTo>
                <a:lnTo>
                  <a:pt x="17543" y="309133"/>
                </a:lnTo>
                <a:lnTo>
                  <a:pt x="4535" y="267360"/>
                </a:lnTo>
                <a:lnTo>
                  <a:pt x="0" y="22250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748778" y="4399279"/>
            <a:ext cx="25209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183373" y="3533394"/>
            <a:ext cx="445134" cy="443865"/>
          </a:xfrm>
          <a:custGeom>
            <a:avLst/>
            <a:gdLst/>
            <a:ahLst/>
            <a:cxnLst/>
            <a:rect l="l" t="t" r="r" b="b"/>
            <a:pathLst>
              <a:path w="445134" h="443864">
                <a:moveTo>
                  <a:pt x="0" y="221741"/>
                </a:moveTo>
                <a:lnTo>
                  <a:pt x="4518" y="177063"/>
                </a:lnTo>
                <a:lnTo>
                  <a:pt x="17478" y="135445"/>
                </a:lnTo>
                <a:lnTo>
                  <a:pt x="37986" y="97780"/>
                </a:lnTo>
                <a:lnTo>
                  <a:pt x="65150" y="64960"/>
                </a:lnTo>
                <a:lnTo>
                  <a:pt x="98077" y="37879"/>
                </a:lnTo>
                <a:lnTo>
                  <a:pt x="135874" y="17430"/>
                </a:lnTo>
                <a:lnTo>
                  <a:pt x="177647" y="4506"/>
                </a:lnTo>
                <a:lnTo>
                  <a:pt x="222503" y="0"/>
                </a:lnTo>
                <a:lnTo>
                  <a:pt x="267360" y="4506"/>
                </a:lnTo>
                <a:lnTo>
                  <a:pt x="309133" y="17430"/>
                </a:lnTo>
                <a:lnTo>
                  <a:pt x="346930" y="37879"/>
                </a:lnTo>
                <a:lnTo>
                  <a:pt x="379857" y="64960"/>
                </a:lnTo>
                <a:lnTo>
                  <a:pt x="407021" y="97780"/>
                </a:lnTo>
                <a:lnTo>
                  <a:pt x="427529" y="135445"/>
                </a:lnTo>
                <a:lnTo>
                  <a:pt x="440489" y="177063"/>
                </a:lnTo>
                <a:lnTo>
                  <a:pt x="445007" y="221741"/>
                </a:lnTo>
                <a:lnTo>
                  <a:pt x="440489" y="266420"/>
                </a:lnTo>
                <a:lnTo>
                  <a:pt x="427529" y="308038"/>
                </a:lnTo>
                <a:lnTo>
                  <a:pt x="407021" y="345703"/>
                </a:lnTo>
                <a:lnTo>
                  <a:pt x="379857" y="378523"/>
                </a:lnTo>
                <a:lnTo>
                  <a:pt x="346930" y="405604"/>
                </a:lnTo>
                <a:lnTo>
                  <a:pt x="309133" y="426053"/>
                </a:lnTo>
                <a:lnTo>
                  <a:pt x="267360" y="438977"/>
                </a:lnTo>
                <a:lnTo>
                  <a:pt x="222503" y="443483"/>
                </a:lnTo>
                <a:lnTo>
                  <a:pt x="177647" y="438977"/>
                </a:lnTo>
                <a:lnTo>
                  <a:pt x="135874" y="426053"/>
                </a:lnTo>
                <a:lnTo>
                  <a:pt x="98077" y="405604"/>
                </a:lnTo>
                <a:lnTo>
                  <a:pt x="65150" y="378523"/>
                </a:lnTo>
                <a:lnTo>
                  <a:pt x="37986" y="345703"/>
                </a:lnTo>
                <a:lnTo>
                  <a:pt x="17478" y="308038"/>
                </a:lnTo>
                <a:lnTo>
                  <a:pt x="4518" y="266420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907530" y="3976878"/>
            <a:ext cx="447040" cy="513715"/>
          </a:xfrm>
          <a:custGeom>
            <a:avLst/>
            <a:gdLst/>
            <a:ahLst/>
            <a:cxnLst/>
            <a:rect l="l" t="t" r="r" b="b"/>
            <a:pathLst>
              <a:path w="447040" h="513714">
                <a:moveTo>
                  <a:pt x="446531" y="0"/>
                </a:moveTo>
                <a:lnTo>
                  <a:pt x="0" y="513588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495793" y="3976878"/>
            <a:ext cx="467995" cy="513715"/>
          </a:xfrm>
          <a:custGeom>
            <a:avLst/>
            <a:gdLst/>
            <a:ahLst/>
            <a:cxnLst/>
            <a:rect l="l" t="t" r="r" b="b"/>
            <a:pathLst>
              <a:path w="467995" h="513714">
                <a:moveTo>
                  <a:pt x="0" y="0"/>
                </a:moveTo>
                <a:lnTo>
                  <a:pt x="467867" y="51358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955029" y="2597657"/>
            <a:ext cx="447040" cy="445134"/>
          </a:xfrm>
          <a:custGeom>
            <a:avLst/>
            <a:gdLst/>
            <a:ahLst/>
            <a:cxnLst/>
            <a:rect l="l" t="t" r="r" b="b"/>
            <a:pathLst>
              <a:path w="447039" h="445135">
                <a:moveTo>
                  <a:pt x="0" y="222503"/>
                </a:moveTo>
                <a:lnTo>
                  <a:pt x="4535" y="177647"/>
                </a:lnTo>
                <a:lnTo>
                  <a:pt x="17543" y="135874"/>
                </a:lnTo>
                <a:lnTo>
                  <a:pt x="38127" y="98077"/>
                </a:lnTo>
                <a:lnTo>
                  <a:pt x="65389" y="65150"/>
                </a:lnTo>
                <a:lnTo>
                  <a:pt x="98431" y="37986"/>
                </a:lnTo>
                <a:lnTo>
                  <a:pt x="136356" y="17478"/>
                </a:lnTo>
                <a:lnTo>
                  <a:pt x="178267" y="4518"/>
                </a:lnTo>
                <a:lnTo>
                  <a:pt x="223266" y="0"/>
                </a:lnTo>
                <a:lnTo>
                  <a:pt x="268264" y="4518"/>
                </a:lnTo>
                <a:lnTo>
                  <a:pt x="310175" y="17478"/>
                </a:lnTo>
                <a:lnTo>
                  <a:pt x="348100" y="37986"/>
                </a:lnTo>
                <a:lnTo>
                  <a:pt x="381142" y="65150"/>
                </a:lnTo>
                <a:lnTo>
                  <a:pt x="408404" y="98077"/>
                </a:lnTo>
                <a:lnTo>
                  <a:pt x="428988" y="135874"/>
                </a:lnTo>
                <a:lnTo>
                  <a:pt x="441996" y="177647"/>
                </a:lnTo>
                <a:lnTo>
                  <a:pt x="446532" y="222503"/>
                </a:lnTo>
                <a:lnTo>
                  <a:pt x="441996" y="267360"/>
                </a:lnTo>
                <a:lnTo>
                  <a:pt x="428988" y="309133"/>
                </a:lnTo>
                <a:lnTo>
                  <a:pt x="408404" y="346930"/>
                </a:lnTo>
                <a:lnTo>
                  <a:pt x="381142" y="379856"/>
                </a:lnTo>
                <a:lnTo>
                  <a:pt x="348100" y="407021"/>
                </a:lnTo>
                <a:lnTo>
                  <a:pt x="310175" y="427529"/>
                </a:lnTo>
                <a:lnTo>
                  <a:pt x="268264" y="440489"/>
                </a:lnTo>
                <a:lnTo>
                  <a:pt x="223266" y="445007"/>
                </a:lnTo>
                <a:lnTo>
                  <a:pt x="178267" y="440489"/>
                </a:lnTo>
                <a:lnTo>
                  <a:pt x="136356" y="427529"/>
                </a:lnTo>
                <a:lnTo>
                  <a:pt x="98431" y="407021"/>
                </a:lnTo>
                <a:lnTo>
                  <a:pt x="65389" y="379856"/>
                </a:lnTo>
                <a:lnTo>
                  <a:pt x="38127" y="346930"/>
                </a:lnTo>
                <a:lnTo>
                  <a:pt x="17543" y="309133"/>
                </a:lnTo>
                <a:lnTo>
                  <a:pt x="4535" y="267360"/>
                </a:lnTo>
                <a:lnTo>
                  <a:pt x="0" y="22250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048247" y="2509520"/>
            <a:ext cx="26098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Wingdings 3"/>
                <a:cs typeface="Wingdings 3"/>
              </a:rPr>
              <a:t></a:t>
            </a:r>
            <a:endParaRPr sz="3200">
              <a:latin typeface="Wingdings 3"/>
              <a:cs typeface="Wingdings 3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651242" y="2597657"/>
            <a:ext cx="447040" cy="445134"/>
          </a:xfrm>
          <a:custGeom>
            <a:avLst/>
            <a:gdLst/>
            <a:ahLst/>
            <a:cxnLst/>
            <a:rect l="l" t="t" r="r" b="b"/>
            <a:pathLst>
              <a:path w="447040" h="445135">
                <a:moveTo>
                  <a:pt x="0" y="222503"/>
                </a:moveTo>
                <a:lnTo>
                  <a:pt x="4535" y="177647"/>
                </a:lnTo>
                <a:lnTo>
                  <a:pt x="17543" y="135874"/>
                </a:lnTo>
                <a:lnTo>
                  <a:pt x="38127" y="98077"/>
                </a:lnTo>
                <a:lnTo>
                  <a:pt x="65389" y="65150"/>
                </a:lnTo>
                <a:lnTo>
                  <a:pt x="98431" y="37986"/>
                </a:lnTo>
                <a:lnTo>
                  <a:pt x="136356" y="17478"/>
                </a:lnTo>
                <a:lnTo>
                  <a:pt x="178267" y="4518"/>
                </a:lnTo>
                <a:lnTo>
                  <a:pt x="223265" y="0"/>
                </a:lnTo>
                <a:lnTo>
                  <a:pt x="268264" y="4518"/>
                </a:lnTo>
                <a:lnTo>
                  <a:pt x="310175" y="17478"/>
                </a:lnTo>
                <a:lnTo>
                  <a:pt x="348100" y="37986"/>
                </a:lnTo>
                <a:lnTo>
                  <a:pt x="381142" y="65150"/>
                </a:lnTo>
                <a:lnTo>
                  <a:pt x="408404" y="98077"/>
                </a:lnTo>
                <a:lnTo>
                  <a:pt x="428988" y="135874"/>
                </a:lnTo>
                <a:lnTo>
                  <a:pt x="441996" y="177647"/>
                </a:lnTo>
                <a:lnTo>
                  <a:pt x="446531" y="222503"/>
                </a:lnTo>
                <a:lnTo>
                  <a:pt x="441996" y="267360"/>
                </a:lnTo>
                <a:lnTo>
                  <a:pt x="428988" y="309133"/>
                </a:lnTo>
                <a:lnTo>
                  <a:pt x="408404" y="346930"/>
                </a:lnTo>
                <a:lnTo>
                  <a:pt x="381142" y="379856"/>
                </a:lnTo>
                <a:lnTo>
                  <a:pt x="348100" y="407021"/>
                </a:lnTo>
                <a:lnTo>
                  <a:pt x="310175" y="427529"/>
                </a:lnTo>
                <a:lnTo>
                  <a:pt x="268264" y="440489"/>
                </a:lnTo>
                <a:lnTo>
                  <a:pt x="223265" y="445007"/>
                </a:lnTo>
                <a:lnTo>
                  <a:pt x="178267" y="440489"/>
                </a:lnTo>
                <a:lnTo>
                  <a:pt x="136356" y="427529"/>
                </a:lnTo>
                <a:lnTo>
                  <a:pt x="98431" y="407021"/>
                </a:lnTo>
                <a:lnTo>
                  <a:pt x="65389" y="379856"/>
                </a:lnTo>
                <a:lnTo>
                  <a:pt x="38127" y="346930"/>
                </a:lnTo>
                <a:lnTo>
                  <a:pt x="17543" y="309133"/>
                </a:lnTo>
                <a:lnTo>
                  <a:pt x="4535" y="267360"/>
                </a:lnTo>
                <a:lnTo>
                  <a:pt x="0" y="22250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744206" y="2509520"/>
            <a:ext cx="26098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Wingdings 3"/>
                <a:cs typeface="Wingdings 3"/>
              </a:rPr>
              <a:t></a:t>
            </a:r>
            <a:endParaRPr sz="3200">
              <a:latin typeface="Wingdings 3"/>
              <a:cs typeface="Wingdings 3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825233" y="1486661"/>
            <a:ext cx="447040" cy="445134"/>
          </a:xfrm>
          <a:custGeom>
            <a:avLst/>
            <a:gdLst/>
            <a:ahLst/>
            <a:cxnLst/>
            <a:rect l="l" t="t" r="r" b="b"/>
            <a:pathLst>
              <a:path w="447040" h="445135">
                <a:moveTo>
                  <a:pt x="0" y="222503"/>
                </a:moveTo>
                <a:lnTo>
                  <a:pt x="4535" y="177647"/>
                </a:lnTo>
                <a:lnTo>
                  <a:pt x="17543" y="135874"/>
                </a:lnTo>
                <a:lnTo>
                  <a:pt x="38127" y="98077"/>
                </a:lnTo>
                <a:lnTo>
                  <a:pt x="65389" y="65150"/>
                </a:lnTo>
                <a:lnTo>
                  <a:pt x="98431" y="37986"/>
                </a:lnTo>
                <a:lnTo>
                  <a:pt x="136356" y="17478"/>
                </a:lnTo>
                <a:lnTo>
                  <a:pt x="178267" y="4518"/>
                </a:lnTo>
                <a:lnTo>
                  <a:pt x="223266" y="0"/>
                </a:lnTo>
                <a:lnTo>
                  <a:pt x="268264" y="4518"/>
                </a:lnTo>
                <a:lnTo>
                  <a:pt x="310175" y="17478"/>
                </a:lnTo>
                <a:lnTo>
                  <a:pt x="348100" y="37986"/>
                </a:lnTo>
                <a:lnTo>
                  <a:pt x="381142" y="65150"/>
                </a:lnTo>
                <a:lnTo>
                  <a:pt x="408404" y="98077"/>
                </a:lnTo>
                <a:lnTo>
                  <a:pt x="428988" y="135874"/>
                </a:lnTo>
                <a:lnTo>
                  <a:pt x="441996" y="177647"/>
                </a:lnTo>
                <a:lnTo>
                  <a:pt x="446532" y="222503"/>
                </a:lnTo>
                <a:lnTo>
                  <a:pt x="441996" y="267360"/>
                </a:lnTo>
                <a:lnTo>
                  <a:pt x="428988" y="309133"/>
                </a:lnTo>
                <a:lnTo>
                  <a:pt x="408404" y="346930"/>
                </a:lnTo>
                <a:lnTo>
                  <a:pt x="381142" y="379857"/>
                </a:lnTo>
                <a:lnTo>
                  <a:pt x="348100" y="407021"/>
                </a:lnTo>
                <a:lnTo>
                  <a:pt x="310175" y="427529"/>
                </a:lnTo>
                <a:lnTo>
                  <a:pt x="268264" y="440489"/>
                </a:lnTo>
                <a:lnTo>
                  <a:pt x="223266" y="445008"/>
                </a:lnTo>
                <a:lnTo>
                  <a:pt x="178267" y="440489"/>
                </a:lnTo>
                <a:lnTo>
                  <a:pt x="136356" y="427529"/>
                </a:lnTo>
                <a:lnTo>
                  <a:pt x="98431" y="407021"/>
                </a:lnTo>
                <a:lnTo>
                  <a:pt x="65389" y="379857"/>
                </a:lnTo>
                <a:lnTo>
                  <a:pt x="38127" y="346930"/>
                </a:lnTo>
                <a:lnTo>
                  <a:pt x="17543" y="309133"/>
                </a:lnTo>
                <a:lnTo>
                  <a:pt x="4535" y="267360"/>
                </a:lnTo>
                <a:lnTo>
                  <a:pt x="0" y="22250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919976" y="1394536"/>
            <a:ext cx="25781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378702" y="3554729"/>
            <a:ext cx="447040" cy="445134"/>
          </a:xfrm>
          <a:custGeom>
            <a:avLst/>
            <a:gdLst/>
            <a:ahLst/>
            <a:cxnLst/>
            <a:rect l="l" t="t" r="r" b="b"/>
            <a:pathLst>
              <a:path w="447040" h="445135">
                <a:moveTo>
                  <a:pt x="0" y="222504"/>
                </a:moveTo>
                <a:lnTo>
                  <a:pt x="4535" y="177647"/>
                </a:lnTo>
                <a:lnTo>
                  <a:pt x="17543" y="135874"/>
                </a:lnTo>
                <a:lnTo>
                  <a:pt x="38127" y="98077"/>
                </a:lnTo>
                <a:lnTo>
                  <a:pt x="65389" y="65150"/>
                </a:lnTo>
                <a:lnTo>
                  <a:pt x="98431" y="37986"/>
                </a:lnTo>
                <a:lnTo>
                  <a:pt x="136356" y="17478"/>
                </a:lnTo>
                <a:lnTo>
                  <a:pt x="178267" y="4518"/>
                </a:lnTo>
                <a:lnTo>
                  <a:pt x="223266" y="0"/>
                </a:lnTo>
                <a:lnTo>
                  <a:pt x="268264" y="4518"/>
                </a:lnTo>
                <a:lnTo>
                  <a:pt x="310175" y="17478"/>
                </a:lnTo>
                <a:lnTo>
                  <a:pt x="348100" y="37986"/>
                </a:lnTo>
                <a:lnTo>
                  <a:pt x="381142" y="65150"/>
                </a:lnTo>
                <a:lnTo>
                  <a:pt x="408404" y="98077"/>
                </a:lnTo>
                <a:lnTo>
                  <a:pt x="428988" y="135874"/>
                </a:lnTo>
                <a:lnTo>
                  <a:pt x="441996" y="177647"/>
                </a:lnTo>
                <a:lnTo>
                  <a:pt x="446531" y="222504"/>
                </a:lnTo>
                <a:lnTo>
                  <a:pt x="441996" y="267360"/>
                </a:lnTo>
                <a:lnTo>
                  <a:pt x="428988" y="309133"/>
                </a:lnTo>
                <a:lnTo>
                  <a:pt x="408404" y="346930"/>
                </a:lnTo>
                <a:lnTo>
                  <a:pt x="381142" y="379856"/>
                </a:lnTo>
                <a:lnTo>
                  <a:pt x="348100" y="407021"/>
                </a:lnTo>
                <a:lnTo>
                  <a:pt x="310175" y="427529"/>
                </a:lnTo>
                <a:lnTo>
                  <a:pt x="268264" y="440489"/>
                </a:lnTo>
                <a:lnTo>
                  <a:pt x="223266" y="445008"/>
                </a:lnTo>
                <a:lnTo>
                  <a:pt x="178267" y="440489"/>
                </a:lnTo>
                <a:lnTo>
                  <a:pt x="136356" y="427529"/>
                </a:lnTo>
                <a:lnTo>
                  <a:pt x="98431" y="407021"/>
                </a:lnTo>
                <a:lnTo>
                  <a:pt x="65389" y="379857"/>
                </a:lnTo>
                <a:lnTo>
                  <a:pt x="38127" y="346930"/>
                </a:lnTo>
                <a:lnTo>
                  <a:pt x="17543" y="309133"/>
                </a:lnTo>
                <a:lnTo>
                  <a:pt x="4535" y="267360"/>
                </a:lnTo>
                <a:lnTo>
                  <a:pt x="0" y="22250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6487414" y="3463493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636514" y="3042666"/>
            <a:ext cx="447040" cy="512445"/>
          </a:xfrm>
          <a:custGeom>
            <a:avLst/>
            <a:gdLst/>
            <a:ahLst/>
            <a:cxnLst/>
            <a:rect l="l" t="t" r="r" b="b"/>
            <a:pathLst>
              <a:path w="447039" h="512445">
                <a:moveTo>
                  <a:pt x="446532" y="0"/>
                </a:moveTo>
                <a:lnTo>
                  <a:pt x="0" y="512063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223253" y="3042666"/>
            <a:ext cx="469900" cy="512445"/>
          </a:xfrm>
          <a:custGeom>
            <a:avLst/>
            <a:gdLst/>
            <a:ahLst/>
            <a:cxnLst/>
            <a:rect l="l" t="t" r="r" b="b"/>
            <a:pathLst>
              <a:path w="469900" h="512445">
                <a:moveTo>
                  <a:pt x="0" y="0"/>
                </a:moveTo>
                <a:lnTo>
                  <a:pt x="469392" y="512063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097773" y="3536441"/>
            <a:ext cx="445134" cy="443865"/>
          </a:xfrm>
          <a:custGeom>
            <a:avLst/>
            <a:gdLst/>
            <a:ahLst/>
            <a:cxnLst/>
            <a:rect l="l" t="t" r="r" b="b"/>
            <a:pathLst>
              <a:path w="445134" h="443864">
                <a:moveTo>
                  <a:pt x="0" y="221742"/>
                </a:moveTo>
                <a:lnTo>
                  <a:pt x="4518" y="177063"/>
                </a:lnTo>
                <a:lnTo>
                  <a:pt x="17478" y="135445"/>
                </a:lnTo>
                <a:lnTo>
                  <a:pt x="37986" y="97780"/>
                </a:lnTo>
                <a:lnTo>
                  <a:pt x="65150" y="64960"/>
                </a:lnTo>
                <a:lnTo>
                  <a:pt x="98077" y="37879"/>
                </a:lnTo>
                <a:lnTo>
                  <a:pt x="135874" y="17430"/>
                </a:lnTo>
                <a:lnTo>
                  <a:pt x="177647" y="4506"/>
                </a:lnTo>
                <a:lnTo>
                  <a:pt x="222503" y="0"/>
                </a:lnTo>
                <a:lnTo>
                  <a:pt x="267360" y="4506"/>
                </a:lnTo>
                <a:lnTo>
                  <a:pt x="309133" y="17430"/>
                </a:lnTo>
                <a:lnTo>
                  <a:pt x="346930" y="37879"/>
                </a:lnTo>
                <a:lnTo>
                  <a:pt x="379857" y="64960"/>
                </a:lnTo>
                <a:lnTo>
                  <a:pt x="407021" y="97780"/>
                </a:lnTo>
                <a:lnTo>
                  <a:pt x="427529" y="135445"/>
                </a:lnTo>
                <a:lnTo>
                  <a:pt x="440489" y="177063"/>
                </a:lnTo>
                <a:lnTo>
                  <a:pt x="445007" y="221742"/>
                </a:lnTo>
                <a:lnTo>
                  <a:pt x="440489" y="266420"/>
                </a:lnTo>
                <a:lnTo>
                  <a:pt x="427529" y="308038"/>
                </a:lnTo>
                <a:lnTo>
                  <a:pt x="407021" y="345703"/>
                </a:lnTo>
                <a:lnTo>
                  <a:pt x="379857" y="378523"/>
                </a:lnTo>
                <a:lnTo>
                  <a:pt x="346930" y="405604"/>
                </a:lnTo>
                <a:lnTo>
                  <a:pt x="309133" y="426053"/>
                </a:lnTo>
                <a:lnTo>
                  <a:pt x="267360" y="438977"/>
                </a:lnTo>
                <a:lnTo>
                  <a:pt x="222503" y="443484"/>
                </a:lnTo>
                <a:lnTo>
                  <a:pt x="177647" y="438977"/>
                </a:lnTo>
                <a:lnTo>
                  <a:pt x="135874" y="426053"/>
                </a:lnTo>
                <a:lnTo>
                  <a:pt x="98077" y="405604"/>
                </a:lnTo>
                <a:lnTo>
                  <a:pt x="65150" y="378523"/>
                </a:lnTo>
                <a:lnTo>
                  <a:pt x="37986" y="345703"/>
                </a:lnTo>
                <a:lnTo>
                  <a:pt x="17478" y="308038"/>
                </a:lnTo>
                <a:lnTo>
                  <a:pt x="4518" y="266420"/>
                </a:lnTo>
                <a:lnTo>
                  <a:pt x="0" y="22174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7277227" y="3444697"/>
            <a:ext cx="115697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40435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354061" y="3022854"/>
            <a:ext cx="447040" cy="513715"/>
          </a:xfrm>
          <a:custGeom>
            <a:avLst/>
            <a:gdLst/>
            <a:ahLst/>
            <a:cxnLst/>
            <a:rect l="l" t="t" r="r" b="b"/>
            <a:pathLst>
              <a:path w="447040" h="513714">
                <a:moveTo>
                  <a:pt x="446532" y="0"/>
                </a:moveTo>
                <a:lnTo>
                  <a:pt x="0" y="51358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940802" y="3022854"/>
            <a:ext cx="469900" cy="513715"/>
          </a:xfrm>
          <a:custGeom>
            <a:avLst/>
            <a:gdLst/>
            <a:ahLst/>
            <a:cxnLst/>
            <a:rect l="l" t="t" r="r" b="b"/>
            <a:pathLst>
              <a:path w="469900" h="513714">
                <a:moveTo>
                  <a:pt x="0" y="0"/>
                </a:moveTo>
                <a:lnTo>
                  <a:pt x="469392" y="51358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378702" y="1931670"/>
            <a:ext cx="528955" cy="666115"/>
          </a:xfrm>
          <a:custGeom>
            <a:avLst/>
            <a:gdLst/>
            <a:ahLst/>
            <a:cxnLst/>
            <a:rect l="l" t="t" r="r" b="b"/>
            <a:pathLst>
              <a:path w="528954" h="666114">
                <a:moveTo>
                  <a:pt x="528827" y="0"/>
                </a:moveTo>
                <a:lnTo>
                  <a:pt x="0" y="66598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183373" y="1931670"/>
            <a:ext cx="617220" cy="666115"/>
          </a:xfrm>
          <a:custGeom>
            <a:avLst/>
            <a:gdLst/>
            <a:ahLst/>
            <a:cxnLst/>
            <a:rect l="l" t="t" r="r" b="b"/>
            <a:pathLst>
              <a:path w="617220" h="666114">
                <a:moveTo>
                  <a:pt x="0" y="0"/>
                </a:moveTo>
                <a:lnTo>
                  <a:pt x="617220" y="66598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1412494" y="26923"/>
            <a:ext cx="348487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5692521" y="26923"/>
            <a:ext cx="16211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3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中间语言</a:t>
            </a:r>
            <a:endParaRPr sz="2000">
              <a:latin typeface="宋体"/>
              <a:cs typeface="宋体"/>
            </a:endParaRPr>
          </a:p>
        </p:txBody>
      </p: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428434" y="2792158"/>
          <a:ext cx="3918585" cy="3768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5350"/>
                <a:gridCol w="947419"/>
                <a:gridCol w="875665"/>
                <a:gridCol w="1158239"/>
              </a:tblGrid>
              <a:tr h="753617">
                <a:tc>
                  <a:txBody>
                    <a:bodyPr/>
                    <a:lstStyle/>
                    <a:p>
                      <a:pPr algn="ctr" marL="33020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①</a:t>
                      </a:r>
                      <a:endParaRPr sz="2800">
                        <a:latin typeface="方正舒体"/>
                        <a:cs typeface="方正舒体"/>
                      </a:endParaRPr>
                    </a:p>
                  </a:txBody>
                  <a:tcPr marL="0" marR="0" marB="0" marT="20066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3200" spc="-3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925">
                    <a:lnL w="127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1454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a,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925"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925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19328">
                <a:tc>
                  <a:txBody>
                    <a:bodyPr/>
                    <a:lstStyle/>
                    <a:p>
                      <a:pPr algn="ctr" marL="33020">
                        <a:lnSpc>
                          <a:spcPct val="100000"/>
                        </a:lnSpc>
                        <a:spcBef>
                          <a:spcPts val="145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②</a:t>
                      </a:r>
                      <a:endParaRPr sz="2800">
                        <a:latin typeface="方正舒体"/>
                        <a:cs typeface="方正舒体"/>
                      </a:endParaRPr>
                    </a:p>
                  </a:txBody>
                  <a:tcPr marL="0" marR="0" marB="0" marT="18478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Wingdings 3"/>
                          <a:cs typeface="Wingdings 3"/>
                        </a:rPr>
                        <a:t></a:t>
                      </a:r>
                      <a:r>
                        <a:rPr dirty="0" sz="3200" spc="4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,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14922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①</a:t>
                      </a:r>
                      <a:r>
                        <a:rPr dirty="0" sz="2800" spc="40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 </a:t>
                      </a:r>
                      <a:r>
                        <a:rPr dirty="0" sz="2800" spc="-5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,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200025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0025"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55903">
                <a:tc>
                  <a:txBody>
                    <a:bodyPr/>
                    <a:lstStyle/>
                    <a:p>
                      <a:pPr algn="ctr" marL="33020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③</a:t>
                      </a:r>
                      <a:endParaRPr sz="2800">
                        <a:latin typeface="方正舒体"/>
                        <a:cs typeface="方正舒体"/>
                      </a:endParaRPr>
                    </a:p>
                  </a:txBody>
                  <a:tcPr marL="0" marR="0" marB="0" marT="20256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3200" spc="-3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383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1454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a,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383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3830"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 marL="33020">
                        <a:lnSpc>
                          <a:spcPct val="100000"/>
                        </a:lnSpc>
                        <a:spcBef>
                          <a:spcPts val="159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④</a:t>
                      </a:r>
                      <a:endParaRPr sz="2800">
                        <a:latin typeface="方正舒体"/>
                        <a:cs typeface="方正舒体"/>
                      </a:endParaRPr>
                    </a:p>
                  </a:txBody>
                  <a:tcPr marL="0" marR="0" marB="0" marT="20193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Wingdings 3"/>
                          <a:cs typeface="Wingdings 3"/>
                        </a:rPr>
                        <a:t></a:t>
                      </a:r>
                      <a:r>
                        <a:rPr dirty="0" sz="3200" spc="4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,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ct val="100000"/>
                        </a:lnSpc>
                        <a:spcBef>
                          <a:spcPts val="1710"/>
                        </a:spcBef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③</a:t>
                      </a:r>
                      <a:r>
                        <a:rPr dirty="0" sz="2800" spc="40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 </a:t>
                      </a:r>
                      <a:r>
                        <a:rPr dirty="0" sz="2800" spc="-5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,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21717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ct val="100000"/>
                        </a:lnSpc>
                        <a:spcBef>
                          <a:spcPts val="171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7170"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56666">
                <a:tc>
                  <a:txBody>
                    <a:bodyPr/>
                    <a:lstStyle/>
                    <a:p>
                      <a:pPr algn="ctr" marL="33020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⑤</a:t>
                      </a:r>
                      <a:endParaRPr sz="2800">
                        <a:latin typeface="方正舒体"/>
                        <a:cs typeface="方正舒体"/>
                      </a:endParaRPr>
                    </a:p>
                  </a:txBody>
                  <a:tcPr marL="0" marR="0" marB="0" marT="20256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+,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16573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705"/>
                        </a:spcBef>
                      </a:pPr>
                      <a:r>
                        <a:rPr dirty="0" sz="2800" spc="-15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②</a:t>
                      </a:r>
                      <a:r>
                        <a:rPr dirty="0" sz="2800" spc="40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 </a:t>
                      </a:r>
                      <a:r>
                        <a:rPr dirty="0" sz="2800" spc="-5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,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216535"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8445">
                        <a:lnSpc>
                          <a:spcPct val="100000"/>
                        </a:lnSpc>
                        <a:spcBef>
                          <a:spcPts val="170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方正舒体"/>
                          <a:cs typeface="方正舒体"/>
                        </a:rPr>
                        <a:t>④</a:t>
                      </a:r>
                      <a:endParaRPr sz="2800">
                        <a:latin typeface="方正舒体"/>
                        <a:cs typeface="方正舒体"/>
                      </a:endParaRPr>
                    </a:p>
                  </a:txBody>
                  <a:tcPr marL="0" marR="0" marB="0" marT="216535"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9194" y="740156"/>
            <a:ext cx="540702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solidFill>
                  <a:srgbClr val="FFFF00"/>
                </a:solidFill>
                <a:latin typeface="Times New Roman"/>
                <a:cs typeface="Times New Roman"/>
              </a:rPr>
              <a:t>if </a:t>
            </a:r>
            <a:r>
              <a:rPr dirty="0" sz="3200">
                <a:solidFill>
                  <a:srgbClr val="00FFFF"/>
                </a:solidFill>
                <a:latin typeface="Times New Roman"/>
                <a:cs typeface="Times New Roman"/>
              </a:rPr>
              <a:t>X&gt;Y 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then </a:t>
            </a:r>
            <a:r>
              <a:rPr dirty="0" sz="3200">
                <a:solidFill>
                  <a:srgbClr val="00FFFF"/>
                </a:solidFill>
                <a:latin typeface="Times New Roman"/>
                <a:cs typeface="Times New Roman"/>
              </a:rPr>
              <a:t>Z = X 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else </a:t>
            </a:r>
            <a:r>
              <a:rPr dirty="0" sz="3200">
                <a:solidFill>
                  <a:srgbClr val="00FFFF"/>
                </a:solidFill>
                <a:latin typeface="Times New Roman"/>
                <a:cs typeface="Times New Roman"/>
              </a:rPr>
              <a:t>Z =</a:t>
            </a:r>
            <a:r>
              <a:rPr dirty="0" sz="3200" spc="-325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00FFFF"/>
                </a:solidFill>
                <a:latin typeface="Times New Roman"/>
                <a:cs typeface="Times New Roman"/>
              </a:rPr>
              <a:t>Y+1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12494" y="26923"/>
            <a:ext cx="59010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  <a:tab pos="4292600" algn="l"/>
                <a:tab pos="48641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中间语言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05653" y="4668088"/>
            <a:ext cx="229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25721" y="3909441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45758" y="5020817"/>
            <a:ext cx="309880" cy="457200"/>
          </a:xfrm>
          <a:custGeom>
            <a:avLst/>
            <a:gdLst/>
            <a:ahLst/>
            <a:cxnLst/>
            <a:rect l="l" t="t" r="r" b="b"/>
            <a:pathLst>
              <a:path w="309879" h="457200">
                <a:moveTo>
                  <a:pt x="0" y="457199"/>
                </a:moveTo>
                <a:lnTo>
                  <a:pt x="309371" y="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756654" y="5020817"/>
            <a:ext cx="447040" cy="455930"/>
          </a:xfrm>
          <a:custGeom>
            <a:avLst/>
            <a:gdLst/>
            <a:ahLst/>
            <a:cxnLst/>
            <a:rect l="l" t="t" r="r" b="b"/>
            <a:pathLst>
              <a:path w="447040" h="455929">
                <a:moveTo>
                  <a:pt x="0" y="0"/>
                </a:moveTo>
                <a:lnTo>
                  <a:pt x="446531" y="455675"/>
                </a:lnTo>
              </a:path>
            </a:pathLst>
          </a:custGeom>
          <a:ln w="38099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720334" y="4179570"/>
            <a:ext cx="447040" cy="550545"/>
          </a:xfrm>
          <a:custGeom>
            <a:avLst/>
            <a:gdLst/>
            <a:ahLst/>
            <a:cxnLst/>
            <a:rect l="l" t="t" r="r" b="b"/>
            <a:pathLst>
              <a:path w="447039" h="550545">
                <a:moveTo>
                  <a:pt x="446531" y="0"/>
                </a:moveTo>
                <a:lnTo>
                  <a:pt x="0" y="550163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166865" y="4179570"/>
            <a:ext cx="551815" cy="550545"/>
          </a:xfrm>
          <a:custGeom>
            <a:avLst/>
            <a:gdLst/>
            <a:ahLst/>
            <a:cxnLst/>
            <a:rect l="l" t="t" r="r" b="b"/>
            <a:pathLst>
              <a:path w="551815" h="550545">
                <a:moveTo>
                  <a:pt x="0" y="0"/>
                </a:moveTo>
                <a:lnTo>
                  <a:pt x="551688" y="550163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490599" y="5268848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4540" y="5287771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48105" y="4869941"/>
            <a:ext cx="309880" cy="457200"/>
          </a:xfrm>
          <a:custGeom>
            <a:avLst/>
            <a:gdLst/>
            <a:ahLst/>
            <a:cxnLst/>
            <a:rect l="l" t="t" r="r" b="b"/>
            <a:pathLst>
              <a:path w="309880" h="457200">
                <a:moveTo>
                  <a:pt x="0" y="457199"/>
                </a:moveTo>
                <a:lnTo>
                  <a:pt x="309372" y="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159002" y="4869941"/>
            <a:ext cx="447040" cy="455930"/>
          </a:xfrm>
          <a:custGeom>
            <a:avLst/>
            <a:gdLst/>
            <a:ahLst/>
            <a:cxnLst/>
            <a:rect l="l" t="t" r="r" b="b"/>
            <a:pathLst>
              <a:path w="447040" h="455929">
                <a:moveTo>
                  <a:pt x="0" y="0"/>
                </a:moveTo>
                <a:lnTo>
                  <a:pt x="446531" y="455675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178813" y="4185665"/>
            <a:ext cx="309880" cy="457200"/>
          </a:xfrm>
          <a:custGeom>
            <a:avLst/>
            <a:gdLst/>
            <a:ahLst/>
            <a:cxnLst/>
            <a:rect l="l" t="t" r="r" b="b"/>
            <a:pathLst>
              <a:path w="309880" h="457200">
                <a:moveTo>
                  <a:pt x="0" y="457199"/>
                </a:moveTo>
                <a:lnTo>
                  <a:pt x="309372" y="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489710" y="4185665"/>
            <a:ext cx="447040" cy="455930"/>
          </a:xfrm>
          <a:custGeom>
            <a:avLst/>
            <a:gdLst/>
            <a:ahLst/>
            <a:cxnLst/>
            <a:rect l="l" t="t" r="r" b="b"/>
            <a:pathLst>
              <a:path w="447039" h="455929">
                <a:moveTo>
                  <a:pt x="0" y="0"/>
                </a:moveTo>
                <a:lnTo>
                  <a:pt x="446532" y="455675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073607" y="4571745"/>
            <a:ext cx="11633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4385" algn="l"/>
              </a:tabLst>
            </a:pPr>
            <a:r>
              <a:rPr dirty="0" baseline="2314" sz="3600" b="1">
                <a:solidFill>
                  <a:srgbClr val="FFFFFF"/>
                </a:solidFill>
                <a:latin typeface="Times New Roman"/>
                <a:cs typeface="Times New Roman"/>
              </a:rPr>
              <a:t>&gt;	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(4)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68446" y="4617846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26257" y="4591888"/>
            <a:ext cx="229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907029" y="4193285"/>
            <a:ext cx="309880" cy="457200"/>
          </a:xfrm>
          <a:custGeom>
            <a:avLst/>
            <a:gdLst/>
            <a:ahLst/>
            <a:cxnLst/>
            <a:rect l="l" t="t" r="r" b="b"/>
            <a:pathLst>
              <a:path w="309880" h="457200">
                <a:moveTo>
                  <a:pt x="0" y="457200"/>
                </a:moveTo>
                <a:lnTo>
                  <a:pt x="309371" y="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217926" y="4193285"/>
            <a:ext cx="447040" cy="455930"/>
          </a:xfrm>
          <a:custGeom>
            <a:avLst/>
            <a:gdLst/>
            <a:ahLst/>
            <a:cxnLst/>
            <a:rect l="l" t="t" r="r" b="b"/>
            <a:pathLst>
              <a:path w="447039" h="455929">
                <a:moveTo>
                  <a:pt x="0" y="0"/>
                </a:moveTo>
                <a:lnTo>
                  <a:pt x="446532" y="455675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126104" y="3910660"/>
            <a:ext cx="19939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71746" y="4660214"/>
            <a:ext cx="3816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(5)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723638" y="4260341"/>
            <a:ext cx="0" cy="459105"/>
          </a:xfrm>
          <a:custGeom>
            <a:avLst/>
            <a:gdLst/>
            <a:ahLst/>
            <a:cxnLst/>
            <a:rect l="l" t="t" r="r" b="b"/>
            <a:pathLst>
              <a:path w="0" h="459104">
                <a:moveTo>
                  <a:pt x="0" y="0"/>
                </a:moveTo>
                <a:lnTo>
                  <a:pt x="0" y="458723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310629" y="5498998"/>
            <a:ext cx="9836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7880" algn="l"/>
              </a:tabLst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	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698997" y="3834460"/>
            <a:ext cx="5746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57" sz="3600" b="1">
                <a:solidFill>
                  <a:srgbClr val="FFFF00"/>
                </a:solidFill>
                <a:latin typeface="Times New Roman"/>
                <a:cs typeface="Times New Roman"/>
              </a:rPr>
              <a:t>(4</a:t>
            </a:r>
            <a:r>
              <a:rPr dirty="0" baseline="1157" sz="3600" spc="232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03568" y="4657470"/>
            <a:ext cx="199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649971" y="3896309"/>
            <a:ext cx="68770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66"/>
                </a:solidFill>
                <a:latin typeface="Times New Roman"/>
                <a:cs typeface="Times New Roman"/>
              </a:rPr>
              <a:t>(5</a:t>
            </a:r>
            <a:r>
              <a:rPr dirty="0" sz="2400" spc="5" b="1">
                <a:solidFill>
                  <a:srgbClr val="FFFF66"/>
                </a:solidFill>
                <a:latin typeface="Times New Roman"/>
                <a:cs typeface="Times New Roman"/>
              </a:rPr>
              <a:t>)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2414" y="3834460"/>
            <a:ext cx="111506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786765" algn="l"/>
              </a:tabLst>
            </a:pPr>
            <a:r>
              <a:rPr dirty="0" sz="2400" b="1">
                <a:solidFill>
                  <a:srgbClr val="FFFF66"/>
                </a:solidFill>
                <a:latin typeface="Times New Roman"/>
                <a:cs typeface="Times New Roman"/>
              </a:rPr>
              <a:t>(1)	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baseline="-20833" sz="2400" spc="-7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17394" y="3872560"/>
            <a:ext cx="3816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66"/>
                </a:solidFill>
                <a:latin typeface="Times New Roman"/>
                <a:cs typeface="Times New Roman"/>
              </a:rPr>
              <a:t>(2)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968877" y="3871341"/>
            <a:ext cx="381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66"/>
                </a:solidFill>
                <a:latin typeface="Times New Roman"/>
                <a:cs typeface="Times New Roman"/>
              </a:rPr>
              <a:t>(3)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439161" y="3763517"/>
            <a:ext cx="550545" cy="698500"/>
          </a:xfrm>
          <a:custGeom>
            <a:avLst/>
            <a:gdLst/>
            <a:ahLst/>
            <a:cxnLst/>
            <a:rect l="l" t="t" r="r" b="b"/>
            <a:pathLst>
              <a:path w="550544" h="698500">
                <a:moveTo>
                  <a:pt x="0" y="348995"/>
                </a:moveTo>
                <a:lnTo>
                  <a:pt x="2983" y="297414"/>
                </a:lnTo>
                <a:lnTo>
                  <a:pt x="11649" y="248186"/>
                </a:lnTo>
                <a:lnTo>
                  <a:pt x="25571" y="201850"/>
                </a:lnTo>
                <a:lnTo>
                  <a:pt x="44325" y="158945"/>
                </a:lnTo>
                <a:lnTo>
                  <a:pt x="67483" y="120012"/>
                </a:lnTo>
                <a:lnTo>
                  <a:pt x="94620" y="85589"/>
                </a:lnTo>
                <a:lnTo>
                  <a:pt x="125310" y="56215"/>
                </a:lnTo>
                <a:lnTo>
                  <a:pt x="159128" y="32429"/>
                </a:lnTo>
                <a:lnTo>
                  <a:pt x="195646" y="14772"/>
                </a:lnTo>
                <a:lnTo>
                  <a:pt x="234439" y="3783"/>
                </a:lnTo>
                <a:lnTo>
                  <a:pt x="275081" y="0"/>
                </a:lnTo>
                <a:lnTo>
                  <a:pt x="315724" y="3783"/>
                </a:lnTo>
                <a:lnTo>
                  <a:pt x="354517" y="14772"/>
                </a:lnTo>
                <a:lnTo>
                  <a:pt x="391035" y="32429"/>
                </a:lnTo>
                <a:lnTo>
                  <a:pt x="424853" y="56215"/>
                </a:lnTo>
                <a:lnTo>
                  <a:pt x="455543" y="85589"/>
                </a:lnTo>
                <a:lnTo>
                  <a:pt x="482680" y="120012"/>
                </a:lnTo>
                <a:lnTo>
                  <a:pt x="505838" y="158945"/>
                </a:lnTo>
                <a:lnTo>
                  <a:pt x="524592" y="201850"/>
                </a:lnTo>
                <a:lnTo>
                  <a:pt x="538514" y="248186"/>
                </a:lnTo>
                <a:lnTo>
                  <a:pt x="547180" y="297414"/>
                </a:lnTo>
                <a:lnTo>
                  <a:pt x="550163" y="348995"/>
                </a:lnTo>
                <a:lnTo>
                  <a:pt x="547180" y="400577"/>
                </a:lnTo>
                <a:lnTo>
                  <a:pt x="538514" y="449805"/>
                </a:lnTo>
                <a:lnTo>
                  <a:pt x="524592" y="496141"/>
                </a:lnTo>
                <a:lnTo>
                  <a:pt x="505838" y="539046"/>
                </a:lnTo>
                <a:lnTo>
                  <a:pt x="482680" y="577979"/>
                </a:lnTo>
                <a:lnTo>
                  <a:pt x="455543" y="612402"/>
                </a:lnTo>
                <a:lnTo>
                  <a:pt x="424853" y="641776"/>
                </a:lnTo>
                <a:lnTo>
                  <a:pt x="391035" y="665562"/>
                </a:lnTo>
                <a:lnTo>
                  <a:pt x="354517" y="683219"/>
                </a:lnTo>
                <a:lnTo>
                  <a:pt x="315724" y="694208"/>
                </a:lnTo>
                <a:lnTo>
                  <a:pt x="275081" y="697991"/>
                </a:lnTo>
                <a:lnTo>
                  <a:pt x="234439" y="694208"/>
                </a:lnTo>
                <a:lnTo>
                  <a:pt x="195646" y="683219"/>
                </a:lnTo>
                <a:lnTo>
                  <a:pt x="159128" y="665562"/>
                </a:lnTo>
                <a:lnTo>
                  <a:pt x="125310" y="641776"/>
                </a:lnTo>
                <a:lnTo>
                  <a:pt x="94620" y="612402"/>
                </a:lnTo>
                <a:lnTo>
                  <a:pt x="67483" y="577979"/>
                </a:lnTo>
                <a:lnTo>
                  <a:pt x="44325" y="539046"/>
                </a:lnTo>
                <a:lnTo>
                  <a:pt x="25571" y="496141"/>
                </a:lnTo>
                <a:lnTo>
                  <a:pt x="11649" y="449805"/>
                </a:lnTo>
                <a:lnTo>
                  <a:pt x="2983" y="400577"/>
                </a:lnTo>
                <a:lnTo>
                  <a:pt x="0" y="34899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94766" y="2733294"/>
            <a:ext cx="4182110" cy="959485"/>
          </a:xfrm>
          <a:custGeom>
            <a:avLst/>
            <a:gdLst/>
            <a:ahLst/>
            <a:cxnLst/>
            <a:rect l="l" t="t" r="r" b="b"/>
            <a:pathLst>
              <a:path w="4182110" h="959485">
                <a:moveTo>
                  <a:pt x="0" y="958976"/>
                </a:moveTo>
                <a:lnTo>
                  <a:pt x="4181983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161282" y="2298954"/>
            <a:ext cx="1632585" cy="434340"/>
          </a:xfrm>
          <a:custGeom>
            <a:avLst/>
            <a:gdLst/>
            <a:ahLst/>
            <a:cxnLst/>
            <a:rect l="l" t="t" r="r" b="b"/>
            <a:pathLst>
              <a:path w="1632585" h="434339">
                <a:moveTo>
                  <a:pt x="0" y="434339"/>
                </a:moveTo>
                <a:lnTo>
                  <a:pt x="1632204" y="434339"/>
                </a:lnTo>
                <a:lnTo>
                  <a:pt x="1632204" y="0"/>
                </a:lnTo>
                <a:lnTo>
                  <a:pt x="0" y="0"/>
                </a:lnTo>
                <a:lnTo>
                  <a:pt x="0" y="43433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715005" y="2733294"/>
            <a:ext cx="2263140" cy="1030605"/>
          </a:xfrm>
          <a:custGeom>
            <a:avLst/>
            <a:gdLst/>
            <a:ahLst/>
            <a:cxnLst/>
            <a:rect l="l" t="t" r="r" b="b"/>
            <a:pathLst>
              <a:path w="2263140" h="1030604">
                <a:moveTo>
                  <a:pt x="0" y="1030096"/>
                </a:moveTo>
                <a:lnTo>
                  <a:pt x="2262885" y="0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165853" y="2733294"/>
            <a:ext cx="812165" cy="1030605"/>
          </a:xfrm>
          <a:custGeom>
            <a:avLst/>
            <a:gdLst/>
            <a:ahLst/>
            <a:cxnLst/>
            <a:rect l="l" t="t" r="r" b="b"/>
            <a:pathLst>
              <a:path w="812164" h="1030604">
                <a:moveTo>
                  <a:pt x="0" y="1030096"/>
                </a:moveTo>
                <a:lnTo>
                  <a:pt x="811911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976621" y="2733294"/>
            <a:ext cx="904240" cy="959485"/>
          </a:xfrm>
          <a:custGeom>
            <a:avLst/>
            <a:gdLst/>
            <a:ahLst/>
            <a:cxnLst/>
            <a:rect l="l" t="t" r="r" b="b"/>
            <a:pathLst>
              <a:path w="904239" h="959485">
                <a:moveTo>
                  <a:pt x="903986" y="958976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976621" y="2733294"/>
            <a:ext cx="2828925" cy="1036955"/>
          </a:xfrm>
          <a:custGeom>
            <a:avLst/>
            <a:gdLst/>
            <a:ahLst/>
            <a:cxnLst/>
            <a:rect l="l" t="t" r="r" b="b"/>
            <a:pathLst>
              <a:path w="2828925" h="1036954">
                <a:moveTo>
                  <a:pt x="2828417" y="1036954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17398" y="3685794"/>
            <a:ext cx="548640" cy="698500"/>
          </a:xfrm>
          <a:custGeom>
            <a:avLst/>
            <a:gdLst/>
            <a:ahLst/>
            <a:cxnLst/>
            <a:rect l="l" t="t" r="r" b="b"/>
            <a:pathLst>
              <a:path w="548640" h="698500">
                <a:moveTo>
                  <a:pt x="0" y="348995"/>
                </a:moveTo>
                <a:lnTo>
                  <a:pt x="2974" y="297414"/>
                </a:lnTo>
                <a:lnTo>
                  <a:pt x="11614" y="248186"/>
                </a:lnTo>
                <a:lnTo>
                  <a:pt x="25496" y="201850"/>
                </a:lnTo>
                <a:lnTo>
                  <a:pt x="44195" y="158945"/>
                </a:lnTo>
                <a:lnTo>
                  <a:pt x="67287" y="120012"/>
                </a:lnTo>
                <a:lnTo>
                  <a:pt x="94347" y="85589"/>
                </a:lnTo>
                <a:lnTo>
                  <a:pt x="124951" y="56215"/>
                </a:lnTo>
                <a:lnTo>
                  <a:pt x="158675" y="32429"/>
                </a:lnTo>
                <a:lnTo>
                  <a:pt x="195094" y="14772"/>
                </a:lnTo>
                <a:lnTo>
                  <a:pt x="233784" y="3783"/>
                </a:lnTo>
                <a:lnTo>
                  <a:pt x="274320" y="0"/>
                </a:lnTo>
                <a:lnTo>
                  <a:pt x="314855" y="3783"/>
                </a:lnTo>
                <a:lnTo>
                  <a:pt x="353545" y="14772"/>
                </a:lnTo>
                <a:lnTo>
                  <a:pt x="389964" y="32429"/>
                </a:lnTo>
                <a:lnTo>
                  <a:pt x="423688" y="56215"/>
                </a:lnTo>
                <a:lnTo>
                  <a:pt x="454292" y="85589"/>
                </a:lnTo>
                <a:lnTo>
                  <a:pt x="481352" y="120012"/>
                </a:lnTo>
                <a:lnTo>
                  <a:pt x="504444" y="158945"/>
                </a:lnTo>
                <a:lnTo>
                  <a:pt x="523143" y="201850"/>
                </a:lnTo>
                <a:lnTo>
                  <a:pt x="537025" y="248186"/>
                </a:lnTo>
                <a:lnTo>
                  <a:pt x="545665" y="297414"/>
                </a:lnTo>
                <a:lnTo>
                  <a:pt x="548640" y="348995"/>
                </a:lnTo>
                <a:lnTo>
                  <a:pt x="545665" y="400577"/>
                </a:lnTo>
                <a:lnTo>
                  <a:pt x="537025" y="449805"/>
                </a:lnTo>
                <a:lnTo>
                  <a:pt x="523143" y="496141"/>
                </a:lnTo>
                <a:lnTo>
                  <a:pt x="504444" y="539046"/>
                </a:lnTo>
                <a:lnTo>
                  <a:pt x="481352" y="577979"/>
                </a:lnTo>
                <a:lnTo>
                  <a:pt x="454292" y="612402"/>
                </a:lnTo>
                <a:lnTo>
                  <a:pt x="423688" y="641776"/>
                </a:lnTo>
                <a:lnTo>
                  <a:pt x="389964" y="665562"/>
                </a:lnTo>
                <a:lnTo>
                  <a:pt x="353545" y="683219"/>
                </a:lnTo>
                <a:lnTo>
                  <a:pt x="314855" y="694208"/>
                </a:lnTo>
                <a:lnTo>
                  <a:pt x="274320" y="697991"/>
                </a:lnTo>
                <a:lnTo>
                  <a:pt x="233784" y="694208"/>
                </a:lnTo>
                <a:lnTo>
                  <a:pt x="195094" y="683219"/>
                </a:lnTo>
                <a:lnTo>
                  <a:pt x="158675" y="665562"/>
                </a:lnTo>
                <a:lnTo>
                  <a:pt x="124951" y="641776"/>
                </a:lnTo>
                <a:lnTo>
                  <a:pt x="94347" y="612402"/>
                </a:lnTo>
                <a:lnTo>
                  <a:pt x="67287" y="577979"/>
                </a:lnTo>
                <a:lnTo>
                  <a:pt x="44195" y="539046"/>
                </a:lnTo>
                <a:lnTo>
                  <a:pt x="25496" y="496141"/>
                </a:lnTo>
                <a:lnTo>
                  <a:pt x="11614" y="449805"/>
                </a:lnTo>
                <a:lnTo>
                  <a:pt x="2974" y="400577"/>
                </a:lnTo>
                <a:lnTo>
                  <a:pt x="0" y="34899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886961" y="3755897"/>
            <a:ext cx="548640" cy="699770"/>
          </a:xfrm>
          <a:custGeom>
            <a:avLst/>
            <a:gdLst/>
            <a:ahLst/>
            <a:cxnLst/>
            <a:rect l="l" t="t" r="r" b="b"/>
            <a:pathLst>
              <a:path w="548639" h="699770">
                <a:moveTo>
                  <a:pt x="0" y="349757"/>
                </a:moveTo>
                <a:lnTo>
                  <a:pt x="2974" y="298073"/>
                </a:lnTo>
                <a:lnTo>
                  <a:pt x="11613" y="248742"/>
                </a:lnTo>
                <a:lnTo>
                  <a:pt x="25494" y="202308"/>
                </a:lnTo>
                <a:lnTo>
                  <a:pt x="44192" y="159310"/>
                </a:lnTo>
                <a:lnTo>
                  <a:pt x="67283" y="120290"/>
                </a:lnTo>
                <a:lnTo>
                  <a:pt x="94342" y="85789"/>
                </a:lnTo>
                <a:lnTo>
                  <a:pt x="124946" y="56347"/>
                </a:lnTo>
                <a:lnTo>
                  <a:pt x="158670" y="32507"/>
                </a:lnTo>
                <a:lnTo>
                  <a:pt x="195089" y="14808"/>
                </a:lnTo>
                <a:lnTo>
                  <a:pt x="233781" y="3792"/>
                </a:lnTo>
                <a:lnTo>
                  <a:pt x="274320" y="0"/>
                </a:lnTo>
                <a:lnTo>
                  <a:pt x="314858" y="3792"/>
                </a:lnTo>
                <a:lnTo>
                  <a:pt x="353550" y="14808"/>
                </a:lnTo>
                <a:lnTo>
                  <a:pt x="389969" y="32507"/>
                </a:lnTo>
                <a:lnTo>
                  <a:pt x="423693" y="56347"/>
                </a:lnTo>
                <a:lnTo>
                  <a:pt x="454297" y="85789"/>
                </a:lnTo>
                <a:lnTo>
                  <a:pt x="481356" y="120290"/>
                </a:lnTo>
                <a:lnTo>
                  <a:pt x="504447" y="159310"/>
                </a:lnTo>
                <a:lnTo>
                  <a:pt x="523145" y="202308"/>
                </a:lnTo>
                <a:lnTo>
                  <a:pt x="537026" y="248742"/>
                </a:lnTo>
                <a:lnTo>
                  <a:pt x="545665" y="298073"/>
                </a:lnTo>
                <a:lnTo>
                  <a:pt x="548639" y="349757"/>
                </a:lnTo>
                <a:lnTo>
                  <a:pt x="545665" y="401442"/>
                </a:lnTo>
                <a:lnTo>
                  <a:pt x="537026" y="450773"/>
                </a:lnTo>
                <a:lnTo>
                  <a:pt x="523145" y="497207"/>
                </a:lnTo>
                <a:lnTo>
                  <a:pt x="504447" y="540205"/>
                </a:lnTo>
                <a:lnTo>
                  <a:pt x="481356" y="579225"/>
                </a:lnTo>
                <a:lnTo>
                  <a:pt x="454297" y="613726"/>
                </a:lnTo>
                <a:lnTo>
                  <a:pt x="423693" y="643168"/>
                </a:lnTo>
                <a:lnTo>
                  <a:pt x="389969" y="667008"/>
                </a:lnTo>
                <a:lnTo>
                  <a:pt x="353550" y="684707"/>
                </a:lnTo>
                <a:lnTo>
                  <a:pt x="314858" y="695723"/>
                </a:lnTo>
                <a:lnTo>
                  <a:pt x="274320" y="699515"/>
                </a:lnTo>
                <a:lnTo>
                  <a:pt x="233781" y="695723"/>
                </a:lnTo>
                <a:lnTo>
                  <a:pt x="195089" y="684707"/>
                </a:lnTo>
                <a:lnTo>
                  <a:pt x="158670" y="667008"/>
                </a:lnTo>
                <a:lnTo>
                  <a:pt x="124946" y="643168"/>
                </a:lnTo>
                <a:lnTo>
                  <a:pt x="94342" y="613726"/>
                </a:lnTo>
                <a:lnTo>
                  <a:pt x="67283" y="579225"/>
                </a:lnTo>
                <a:lnTo>
                  <a:pt x="44192" y="540205"/>
                </a:lnTo>
                <a:lnTo>
                  <a:pt x="25494" y="497207"/>
                </a:lnTo>
                <a:lnTo>
                  <a:pt x="11613" y="450773"/>
                </a:lnTo>
                <a:lnTo>
                  <a:pt x="2974" y="401442"/>
                </a:lnTo>
                <a:lnTo>
                  <a:pt x="0" y="349757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602985" y="3685794"/>
            <a:ext cx="548640" cy="698500"/>
          </a:xfrm>
          <a:custGeom>
            <a:avLst/>
            <a:gdLst/>
            <a:ahLst/>
            <a:cxnLst/>
            <a:rect l="l" t="t" r="r" b="b"/>
            <a:pathLst>
              <a:path w="548639" h="698500">
                <a:moveTo>
                  <a:pt x="0" y="348995"/>
                </a:moveTo>
                <a:lnTo>
                  <a:pt x="2974" y="297414"/>
                </a:lnTo>
                <a:lnTo>
                  <a:pt x="11613" y="248186"/>
                </a:lnTo>
                <a:lnTo>
                  <a:pt x="25494" y="201850"/>
                </a:lnTo>
                <a:lnTo>
                  <a:pt x="44192" y="158945"/>
                </a:lnTo>
                <a:lnTo>
                  <a:pt x="67283" y="120012"/>
                </a:lnTo>
                <a:lnTo>
                  <a:pt x="94342" y="85589"/>
                </a:lnTo>
                <a:lnTo>
                  <a:pt x="124946" y="56215"/>
                </a:lnTo>
                <a:lnTo>
                  <a:pt x="158670" y="32429"/>
                </a:lnTo>
                <a:lnTo>
                  <a:pt x="195089" y="14772"/>
                </a:lnTo>
                <a:lnTo>
                  <a:pt x="233781" y="3783"/>
                </a:lnTo>
                <a:lnTo>
                  <a:pt x="274319" y="0"/>
                </a:lnTo>
                <a:lnTo>
                  <a:pt x="314858" y="3783"/>
                </a:lnTo>
                <a:lnTo>
                  <a:pt x="353550" y="14772"/>
                </a:lnTo>
                <a:lnTo>
                  <a:pt x="389969" y="32429"/>
                </a:lnTo>
                <a:lnTo>
                  <a:pt x="423693" y="56215"/>
                </a:lnTo>
                <a:lnTo>
                  <a:pt x="454297" y="85589"/>
                </a:lnTo>
                <a:lnTo>
                  <a:pt x="481356" y="120012"/>
                </a:lnTo>
                <a:lnTo>
                  <a:pt x="504447" y="158945"/>
                </a:lnTo>
                <a:lnTo>
                  <a:pt x="523145" y="201850"/>
                </a:lnTo>
                <a:lnTo>
                  <a:pt x="537026" y="248186"/>
                </a:lnTo>
                <a:lnTo>
                  <a:pt x="545665" y="297414"/>
                </a:lnTo>
                <a:lnTo>
                  <a:pt x="548639" y="348995"/>
                </a:lnTo>
                <a:lnTo>
                  <a:pt x="545665" y="400577"/>
                </a:lnTo>
                <a:lnTo>
                  <a:pt x="537026" y="449805"/>
                </a:lnTo>
                <a:lnTo>
                  <a:pt x="523145" y="496141"/>
                </a:lnTo>
                <a:lnTo>
                  <a:pt x="504447" y="539046"/>
                </a:lnTo>
                <a:lnTo>
                  <a:pt x="481356" y="577979"/>
                </a:lnTo>
                <a:lnTo>
                  <a:pt x="454297" y="612402"/>
                </a:lnTo>
                <a:lnTo>
                  <a:pt x="423693" y="641776"/>
                </a:lnTo>
                <a:lnTo>
                  <a:pt x="389969" y="665562"/>
                </a:lnTo>
                <a:lnTo>
                  <a:pt x="353550" y="683219"/>
                </a:lnTo>
                <a:lnTo>
                  <a:pt x="314858" y="694208"/>
                </a:lnTo>
                <a:lnTo>
                  <a:pt x="274319" y="697991"/>
                </a:lnTo>
                <a:lnTo>
                  <a:pt x="233781" y="694208"/>
                </a:lnTo>
                <a:lnTo>
                  <a:pt x="195089" y="683219"/>
                </a:lnTo>
                <a:lnTo>
                  <a:pt x="158670" y="665562"/>
                </a:lnTo>
                <a:lnTo>
                  <a:pt x="124946" y="641776"/>
                </a:lnTo>
                <a:lnTo>
                  <a:pt x="94342" y="612402"/>
                </a:lnTo>
                <a:lnTo>
                  <a:pt x="67283" y="577979"/>
                </a:lnTo>
                <a:lnTo>
                  <a:pt x="44192" y="539046"/>
                </a:lnTo>
                <a:lnTo>
                  <a:pt x="25494" y="496141"/>
                </a:lnTo>
                <a:lnTo>
                  <a:pt x="11613" y="449805"/>
                </a:lnTo>
                <a:lnTo>
                  <a:pt x="2974" y="400577"/>
                </a:lnTo>
                <a:lnTo>
                  <a:pt x="0" y="34899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527797" y="3763517"/>
            <a:ext cx="548640" cy="698500"/>
          </a:xfrm>
          <a:custGeom>
            <a:avLst/>
            <a:gdLst/>
            <a:ahLst/>
            <a:cxnLst/>
            <a:rect l="l" t="t" r="r" b="b"/>
            <a:pathLst>
              <a:path w="548640" h="698500">
                <a:moveTo>
                  <a:pt x="0" y="348995"/>
                </a:moveTo>
                <a:lnTo>
                  <a:pt x="2974" y="297414"/>
                </a:lnTo>
                <a:lnTo>
                  <a:pt x="11613" y="248186"/>
                </a:lnTo>
                <a:lnTo>
                  <a:pt x="25494" y="201850"/>
                </a:lnTo>
                <a:lnTo>
                  <a:pt x="44192" y="158945"/>
                </a:lnTo>
                <a:lnTo>
                  <a:pt x="67283" y="120012"/>
                </a:lnTo>
                <a:lnTo>
                  <a:pt x="94342" y="85589"/>
                </a:lnTo>
                <a:lnTo>
                  <a:pt x="124946" y="56215"/>
                </a:lnTo>
                <a:lnTo>
                  <a:pt x="158670" y="32429"/>
                </a:lnTo>
                <a:lnTo>
                  <a:pt x="195089" y="14772"/>
                </a:lnTo>
                <a:lnTo>
                  <a:pt x="233781" y="3783"/>
                </a:lnTo>
                <a:lnTo>
                  <a:pt x="274320" y="0"/>
                </a:lnTo>
                <a:lnTo>
                  <a:pt x="314858" y="3783"/>
                </a:lnTo>
                <a:lnTo>
                  <a:pt x="353550" y="14772"/>
                </a:lnTo>
                <a:lnTo>
                  <a:pt x="389969" y="32429"/>
                </a:lnTo>
                <a:lnTo>
                  <a:pt x="423693" y="56215"/>
                </a:lnTo>
                <a:lnTo>
                  <a:pt x="454297" y="85589"/>
                </a:lnTo>
                <a:lnTo>
                  <a:pt x="481356" y="120012"/>
                </a:lnTo>
                <a:lnTo>
                  <a:pt x="504447" y="158945"/>
                </a:lnTo>
                <a:lnTo>
                  <a:pt x="523145" y="201850"/>
                </a:lnTo>
                <a:lnTo>
                  <a:pt x="537026" y="248186"/>
                </a:lnTo>
                <a:lnTo>
                  <a:pt x="545665" y="297414"/>
                </a:lnTo>
                <a:lnTo>
                  <a:pt x="548640" y="348995"/>
                </a:lnTo>
                <a:lnTo>
                  <a:pt x="545665" y="400577"/>
                </a:lnTo>
                <a:lnTo>
                  <a:pt x="537026" y="449805"/>
                </a:lnTo>
                <a:lnTo>
                  <a:pt x="523145" y="496141"/>
                </a:lnTo>
                <a:lnTo>
                  <a:pt x="504447" y="539046"/>
                </a:lnTo>
                <a:lnTo>
                  <a:pt x="481356" y="577979"/>
                </a:lnTo>
                <a:lnTo>
                  <a:pt x="454297" y="612402"/>
                </a:lnTo>
                <a:lnTo>
                  <a:pt x="423693" y="641776"/>
                </a:lnTo>
                <a:lnTo>
                  <a:pt x="389969" y="665562"/>
                </a:lnTo>
                <a:lnTo>
                  <a:pt x="353550" y="683219"/>
                </a:lnTo>
                <a:lnTo>
                  <a:pt x="314858" y="694208"/>
                </a:lnTo>
                <a:lnTo>
                  <a:pt x="274320" y="697991"/>
                </a:lnTo>
                <a:lnTo>
                  <a:pt x="233781" y="694208"/>
                </a:lnTo>
                <a:lnTo>
                  <a:pt x="195089" y="683219"/>
                </a:lnTo>
                <a:lnTo>
                  <a:pt x="158670" y="665562"/>
                </a:lnTo>
                <a:lnTo>
                  <a:pt x="124946" y="641776"/>
                </a:lnTo>
                <a:lnTo>
                  <a:pt x="94342" y="612402"/>
                </a:lnTo>
                <a:lnTo>
                  <a:pt x="67283" y="577979"/>
                </a:lnTo>
                <a:lnTo>
                  <a:pt x="44192" y="539046"/>
                </a:lnTo>
                <a:lnTo>
                  <a:pt x="25494" y="496141"/>
                </a:lnTo>
                <a:lnTo>
                  <a:pt x="11613" y="449805"/>
                </a:lnTo>
                <a:lnTo>
                  <a:pt x="2974" y="400577"/>
                </a:lnTo>
                <a:lnTo>
                  <a:pt x="0" y="34899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91718" y="2725673"/>
            <a:ext cx="4182110" cy="959485"/>
          </a:xfrm>
          <a:custGeom>
            <a:avLst/>
            <a:gdLst/>
            <a:ahLst/>
            <a:cxnLst/>
            <a:rect l="l" t="t" r="r" b="b"/>
            <a:pathLst>
              <a:path w="4182110" h="959485">
                <a:moveTo>
                  <a:pt x="0" y="958976"/>
                </a:moveTo>
                <a:lnTo>
                  <a:pt x="4181982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156709" y="2291333"/>
            <a:ext cx="1633855" cy="434340"/>
          </a:xfrm>
          <a:custGeom>
            <a:avLst/>
            <a:gdLst/>
            <a:ahLst/>
            <a:cxnLst/>
            <a:rect l="l" t="t" r="r" b="b"/>
            <a:pathLst>
              <a:path w="1633854" h="434339">
                <a:moveTo>
                  <a:pt x="0" y="434339"/>
                </a:moveTo>
                <a:lnTo>
                  <a:pt x="1633727" y="434339"/>
                </a:lnTo>
                <a:lnTo>
                  <a:pt x="1633727" y="0"/>
                </a:lnTo>
                <a:lnTo>
                  <a:pt x="0" y="0"/>
                </a:lnTo>
                <a:lnTo>
                  <a:pt x="0" y="43433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764540" y="1378965"/>
            <a:ext cx="5006975" cy="13970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的树可以表示为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00">
              <a:latin typeface="宋体"/>
              <a:cs typeface="宋体"/>
            </a:endParaRPr>
          </a:p>
          <a:p>
            <a:pPr algn="r" marR="175260">
              <a:lnSpc>
                <a:spcPct val="100000"/>
              </a:lnSpc>
            </a:pPr>
            <a:r>
              <a:rPr dirty="0" sz="3200" spc="-3190" b="1">
                <a:solidFill>
                  <a:srgbClr val="FFFFFF"/>
                </a:solidFill>
                <a:latin typeface="宋体"/>
                <a:cs typeface="宋体"/>
              </a:rPr>
              <a:t>树</a:t>
            </a:r>
            <a:r>
              <a:rPr dirty="0" sz="3200" spc="-30" b="1">
                <a:solidFill>
                  <a:srgbClr val="FFFFFF"/>
                </a:solidFill>
                <a:latin typeface="宋体"/>
                <a:cs typeface="宋体"/>
              </a:rPr>
              <a:t>树</a:t>
            </a:r>
            <a:r>
              <a:rPr dirty="0" sz="3200" spc="-3190" b="1">
                <a:solidFill>
                  <a:srgbClr val="FFFFFF"/>
                </a:solidFill>
                <a:latin typeface="宋体"/>
                <a:cs typeface="宋体"/>
              </a:rPr>
              <a:t>编</a:t>
            </a:r>
            <a:r>
              <a:rPr dirty="0" sz="3200" spc="-30" b="1">
                <a:solidFill>
                  <a:srgbClr val="FFFFFF"/>
                </a:solidFill>
                <a:latin typeface="宋体"/>
                <a:cs typeface="宋体"/>
              </a:rPr>
              <a:t>编</a:t>
            </a:r>
            <a:r>
              <a:rPr dirty="0" sz="3200" spc="-3190" b="1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2710433" y="2725673"/>
            <a:ext cx="2263140" cy="1030605"/>
          </a:xfrm>
          <a:custGeom>
            <a:avLst/>
            <a:gdLst/>
            <a:ahLst/>
            <a:cxnLst/>
            <a:rect l="l" t="t" r="r" b="b"/>
            <a:pathLst>
              <a:path w="2263140" h="1030604">
                <a:moveTo>
                  <a:pt x="0" y="1030096"/>
                </a:moveTo>
                <a:lnTo>
                  <a:pt x="2262886" y="0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161282" y="2725673"/>
            <a:ext cx="812165" cy="1030605"/>
          </a:xfrm>
          <a:custGeom>
            <a:avLst/>
            <a:gdLst/>
            <a:ahLst/>
            <a:cxnLst/>
            <a:rect l="l" t="t" r="r" b="b"/>
            <a:pathLst>
              <a:path w="812164" h="1030604">
                <a:moveTo>
                  <a:pt x="0" y="1030096"/>
                </a:moveTo>
                <a:lnTo>
                  <a:pt x="81191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973573" y="2725673"/>
            <a:ext cx="904240" cy="959485"/>
          </a:xfrm>
          <a:custGeom>
            <a:avLst/>
            <a:gdLst/>
            <a:ahLst/>
            <a:cxnLst/>
            <a:rect l="l" t="t" r="r" b="b"/>
            <a:pathLst>
              <a:path w="904239" h="959485">
                <a:moveTo>
                  <a:pt x="903986" y="958976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83741" y="4795265"/>
            <a:ext cx="447040" cy="445134"/>
          </a:xfrm>
          <a:custGeom>
            <a:avLst/>
            <a:gdLst/>
            <a:ahLst/>
            <a:cxnLst/>
            <a:rect l="l" t="t" r="r" b="b"/>
            <a:pathLst>
              <a:path w="447040" h="445135">
                <a:moveTo>
                  <a:pt x="0" y="222503"/>
                </a:moveTo>
                <a:lnTo>
                  <a:pt x="4536" y="177647"/>
                </a:lnTo>
                <a:lnTo>
                  <a:pt x="17545" y="135874"/>
                </a:lnTo>
                <a:lnTo>
                  <a:pt x="38130" y="98077"/>
                </a:lnTo>
                <a:lnTo>
                  <a:pt x="65393" y="65150"/>
                </a:lnTo>
                <a:lnTo>
                  <a:pt x="98436" y="37986"/>
                </a:lnTo>
                <a:lnTo>
                  <a:pt x="136361" y="17478"/>
                </a:lnTo>
                <a:lnTo>
                  <a:pt x="178270" y="4518"/>
                </a:lnTo>
                <a:lnTo>
                  <a:pt x="223266" y="0"/>
                </a:lnTo>
                <a:lnTo>
                  <a:pt x="268264" y="4518"/>
                </a:lnTo>
                <a:lnTo>
                  <a:pt x="310175" y="17478"/>
                </a:lnTo>
                <a:lnTo>
                  <a:pt x="348100" y="37986"/>
                </a:lnTo>
                <a:lnTo>
                  <a:pt x="381142" y="65150"/>
                </a:lnTo>
                <a:lnTo>
                  <a:pt x="408404" y="98077"/>
                </a:lnTo>
                <a:lnTo>
                  <a:pt x="428988" y="135874"/>
                </a:lnTo>
                <a:lnTo>
                  <a:pt x="441996" y="177647"/>
                </a:lnTo>
                <a:lnTo>
                  <a:pt x="446532" y="222503"/>
                </a:lnTo>
                <a:lnTo>
                  <a:pt x="441996" y="267360"/>
                </a:lnTo>
                <a:lnTo>
                  <a:pt x="428988" y="309133"/>
                </a:lnTo>
                <a:lnTo>
                  <a:pt x="408404" y="346930"/>
                </a:lnTo>
                <a:lnTo>
                  <a:pt x="381142" y="379856"/>
                </a:lnTo>
                <a:lnTo>
                  <a:pt x="348100" y="407021"/>
                </a:lnTo>
                <a:lnTo>
                  <a:pt x="310175" y="427529"/>
                </a:lnTo>
                <a:lnTo>
                  <a:pt x="268264" y="440489"/>
                </a:lnTo>
                <a:lnTo>
                  <a:pt x="223266" y="445007"/>
                </a:lnTo>
                <a:lnTo>
                  <a:pt x="178270" y="440489"/>
                </a:lnTo>
                <a:lnTo>
                  <a:pt x="136361" y="427529"/>
                </a:lnTo>
                <a:lnTo>
                  <a:pt x="98436" y="407021"/>
                </a:lnTo>
                <a:lnTo>
                  <a:pt x="65393" y="379856"/>
                </a:lnTo>
                <a:lnTo>
                  <a:pt x="38130" y="346930"/>
                </a:lnTo>
                <a:lnTo>
                  <a:pt x="17545" y="309133"/>
                </a:lnTo>
                <a:lnTo>
                  <a:pt x="4536" y="267360"/>
                </a:lnTo>
                <a:lnTo>
                  <a:pt x="0" y="222503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90675" y="4704079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98142" y="4775453"/>
            <a:ext cx="447040" cy="445134"/>
          </a:xfrm>
          <a:custGeom>
            <a:avLst/>
            <a:gdLst/>
            <a:ahLst/>
            <a:cxnLst/>
            <a:rect l="l" t="t" r="r" b="b"/>
            <a:pathLst>
              <a:path w="447039" h="445135">
                <a:moveTo>
                  <a:pt x="0" y="222504"/>
                </a:moveTo>
                <a:lnTo>
                  <a:pt x="4535" y="177647"/>
                </a:lnTo>
                <a:lnTo>
                  <a:pt x="17543" y="135874"/>
                </a:lnTo>
                <a:lnTo>
                  <a:pt x="38127" y="98077"/>
                </a:lnTo>
                <a:lnTo>
                  <a:pt x="65389" y="65151"/>
                </a:lnTo>
                <a:lnTo>
                  <a:pt x="98431" y="37986"/>
                </a:lnTo>
                <a:lnTo>
                  <a:pt x="136356" y="17478"/>
                </a:lnTo>
                <a:lnTo>
                  <a:pt x="178267" y="4518"/>
                </a:lnTo>
                <a:lnTo>
                  <a:pt x="223265" y="0"/>
                </a:lnTo>
                <a:lnTo>
                  <a:pt x="268264" y="4518"/>
                </a:lnTo>
                <a:lnTo>
                  <a:pt x="310175" y="17478"/>
                </a:lnTo>
                <a:lnTo>
                  <a:pt x="348100" y="37986"/>
                </a:lnTo>
                <a:lnTo>
                  <a:pt x="381142" y="65151"/>
                </a:lnTo>
                <a:lnTo>
                  <a:pt x="408404" y="98077"/>
                </a:lnTo>
                <a:lnTo>
                  <a:pt x="428988" y="135874"/>
                </a:lnTo>
                <a:lnTo>
                  <a:pt x="441996" y="177647"/>
                </a:lnTo>
                <a:lnTo>
                  <a:pt x="446531" y="222504"/>
                </a:lnTo>
                <a:lnTo>
                  <a:pt x="441996" y="267360"/>
                </a:lnTo>
                <a:lnTo>
                  <a:pt x="428988" y="309133"/>
                </a:lnTo>
                <a:lnTo>
                  <a:pt x="408404" y="346930"/>
                </a:lnTo>
                <a:lnTo>
                  <a:pt x="381142" y="379856"/>
                </a:lnTo>
                <a:lnTo>
                  <a:pt x="348100" y="407021"/>
                </a:lnTo>
                <a:lnTo>
                  <a:pt x="310175" y="427529"/>
                </a:lnTo>
                <a:lnTo>
                  <a:pt x="268264" y="440489"/>
                </a:lnTo>
                <a:lnTo>
                  <a:pt x="223265" y="445008"/>
                </a:lnTo>
                <a:lnTo>
                  <a:pt x="178267" y="440489"/>
                </a:lnTo>
                <a:lnTo>
                  <a:pt x="136356" y="427529"/>
                </a:lnTo>
                <a:lnTo>
                  <a:pt x="98431" y="407021"/>
                </a:lnTo>
                <a:lnTo>
                  <a:pt x="65389" y="379857"/>
                </a:lnTo>
                <a:lnTo>
                  <a:pt x="38127" y="346930"/>
                </a:lnTo>
                <a:lnTo>
                  <a:pt x="17543" y="309133"/>
                </a:lnTo>
                <a:lnTo>
                  <a:pt x="4535" y="267360"/>
                </a:lnTo>
                <a:lnTo>
                  <a:pt x="0" y="222504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94661" y="4684598"/>
            <a:ext cx="25209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30274" y="3818382"/>
            <a:ext cx="445134" cy="445134"/>
          </a:xfrm>
          <a:custGeom>
            <a:avLst/>
            <a:gdLst/>
            <a:ahLst/>
            <a:cxnLst/>
            <a:rect l="l" t="t" r="r" b="b"/>
            <a:pathLst>
              <a:path w="445135" h="445135">
                <a:moveTo>
                  <a:pt x="0" y="222504"/>
                </a:moveTo>
                <a:lnTo>
                  <a:pt x="4518" y="177647"/>
                </a:lnTo>
                <a:lnTo>
                  <a:pt x="17478" y="135874"/>
                </a:lnTo>
                <a:lnTo>
                  <a:pt x="37986" y="98077"/>
                </a:lnTo>
                <a:lnTo>
                  <a:pt x="65150" y="65151"/>
                </a:lnTo>
                <a:lnTo>
                  <a:pt x="98077" y="37986"/>
                </a:lnTo>
                <a:lnTo>
                  <a:pt x="135874" y="17478"/>
                </a:lnTo>
                <a:lnTo>
                  <a:pt x="177647" y="4518"/>
                </a:lnTo>
                <a:lnTo>
                  <a:pt x="222503" y="0"/>
                </a:lnTo>
                <a:lnTo>
                  <a:pt x="267360" y="4518"/>
                </a:lnTo>
                <a:lnTo>
                  <a:pt x="309133" y="17478"/>
                </a:lnTo>
                <a:lnTo>
                  <a:pt x="346930" y="37986"/>
                </a:lnTo>
                <a:lnTo>
                  <a:pt x="379856" y="65151"/>
                </a:lnTo>
                <a:lnTo>
                  <a:pt x="407021" y="98077"/>
                </a:lnTo>
                <a:lnTo>
                  <a:pt x="427529" y="135874"/>
                </a:lnTo>
                <a:lnTo>
                  <a:pt x="440489" y="177647"/>
                </a:lnTo>
                <a:lnTo>
                  <a:pt x="445007" y="222504"/>
                </a:lnTo>
                <a:lnTo>
                  <a:pt x="440489" y="267360"/>
                </a:lnTo>
                <a:lnTo>
                  <a:pt x="427529" y="309133"/>
                </a:lnTo>
                <a:lnTo>
                  <a:pt x="407021" y="346930"/>
                </a:lnTo>
                <a:lnTo>
                  <a:pt x="379856" y="379857"/>
                </a:lnTo>
                <a:lnTo>
                  <a:pt x="346930" y="407021"/>
                </a:lnTo>
                <a:lnTo>
                  <a:pt x="309133" y="427529"/>
                </a:lnTo>
                <a:lnTo>
                  <a:pt x="267360" y="440489"/>
                </a:lnTo>
                <a:lnTo>
                  <a:pt x="222503" y="445008"/>
                </a:lnTo>
                <a:lnTo>
                  <a:pt x="177647" y="440489"/>
                </a:lnTo>
                <a:lnTo>
                  <a:pt x="135874" y="427529"/>
                </a:lnTo>
                <a:lnTo>
                  <a:pt x="98077" y="407021"/>
                </a:lnTo>
                <a:lnTo>
                  <a:pt x="65150" y="379857"/>
                </a:lnTo>
                <a:lnTo>
                  <a:pt x="37986" y="346930"/>
                </a:lnTo>
                <a:lnTo>
                  <a:pt x="17478" y="309133"/>
                </a:lnTo>
                <a:lnTo>
                  <a:pt x="4518" y="267360"/>
                </a:lnTo>
                <a:lnTo>
                  <a:pt x="0" y="22250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23238" y="3727450"/>
            <a:ext cx="25781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54430" y="4263390"/>
            <a:ext cx="447040" cy="512445"/>
          </a:xfrm>
          <a:custGeom>
            <a:avLst/>
            <a:gdLst/>
            <a:ahLst/>
            <a:cxnLst/>
            <a:rect l="l" t="t" r="r" b="b"/>
            <a:pathLst>
              <a:path w="447040" h="512445">
                <a:moveTo>
                  <a:pt x="446531" y="0"/>
                </a:moveTo>
                <a:lnTo>
                  <a:pt x="0" y="51206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742694" y="4263390"/>
            <a:ext cx="467995" cy="512445"/>
          </a:xfrm>
          <a:custGeom>
            <a:avLst/>
            <a:gdLst/>
            <a:ahLst/>
            <a:cxnLst/>
            <a:rect l="l" t="t" r="r" b="b"/>
            <a:pathLst>
              <a:path w="467994" h="512445">
                <a:moveTo>
                  <a:pt x="0" y="0"/>
                </a:moveTo>
                <a:lnTo>
                  <a:pt x="467868" y="51206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919222" y="4833365"/>
            <a:ext cx="445134" cy="445134"/>
          </a:xfrm>
          <a:custGeom>
            <a:avLst/>
            <a:gdLst/>
            <a:ahLst/>
            <a:cxnLst/>
            <a:rect l="l" t="t" r="r" b="b"/>
            <a:pathLst>
              <a:path w="445135" h="445135">
                <a:moveTo>
                  <a:pt x="0" y="222503"/>
                </a:moveTo>
                <a:lnTo>
                  <a:pt x="4518" y="177647"/>
                </a:lnTo>
                <a:lnTo>
                  <a:pt x="17478" y="135874"/>
                </a:lnTo>
                <a:lnTo>
                  <a:pt x="37986" y="98077"/>
                </a:lnTo>
                <a:lnTo>
                  <a:pt x="65150" y="65150"/>
                </a:lnTo>
                <a:lnTo>
                  <a:pt x="98077" y="37986"/>
                </a:lnTo>
                <a:lnTo>
                  <a:pt x="135874" y="17478"/>
                </a:lnTo>
                <a:lnTo>
                  <a:pt x="177647" y="4518"/>
                </a:lnTo>
                <a:lnTo>
                  <a:pt x="222503" y="0"/>
                </a:lnTo>
                <a:lnTo>
                  <a:pt x="267360" y="4518"/>
                </a:lnTo>
                <a:lnTo>
                  <a:pt x="309133" y="17478"/>
                </a:lnTo>
                <a:lnTo>
                  <a:pt x="346930" y="37986"/>
                </a:lnTo>
                <a:lnTo>
                  <a:pt x="379856" y="65150"/>
                </a:lnTo>
                <a:lnTo>
                  <a:pt x="407021" y="98077"/>
                </a:lnTo>
                <a:lnTo>
                  <a:pt x="427529" y="135874"/>
                </a:lnTo>
                <a:lnTo>
                  <a:pt x="440489" y="177647"/>
                </a:lnTo>
                <a:lnTo>
                  <a:pt x="445007" y="222503"/>
                </a:lnTo>
                <a:lnTo>
                  <a:pt x="440489" y="267360"/>
                </a:lnTo>
                <a:lnTo>
                  <a:pt x="427529" y="309133"/>
                </a:lnTo>
                <a:lnTo>
                  <a:pt x="407021" y="346930"/>
                </a:lnTo>
                <a:lnTo>
                  <a:pt x="379856" y="379856"/>
                </a:lnTo>
                <a:lnTo>
                  <a:pt x="346930" y="407021"/>
                </a:lnTo>
                <a:lnTo>
                  <a:pt x="309133" y="427529"/>
                </a:lnTo>
                <a:lnTo>
                  <a:pt x="267360" y="440489"/>
                </a:lnTo>
                <a:lnTo>
                  <a:pt x="222503" y="445007"/>
                </a:lnTo>
                <a:lnTo>
                  <a:pt x="177647" y="440489"/>
                </a:lnTo>
                <a:lnTo>
                  <a:pt x="135874" y="427529"/>
                </a:lnTo>
                <a:lnTo>
                  <a:pt x="98077" y="407021"/>
                </a:lnTo>
                <a:lnTo>
                  <a:pt x="65150" y="379856"/>
                </a:lnTo>
                <a:lnTo>
                  <a:pt x="37986" y="346930"/>
                </a:lnTo>
                <a:lnTo>
                  <a:pt x="17478" y="309133"/>
                </a:lnTo>
                <a:lnTo>
                  <a:pt x="4518" y="267360"/>
                </a:lnTo>
                <a:lnTo>
                  <a:pt x="0" y="22250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026155" y="4742179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833621" y="4813553"/>
            <a:ext cx="445134" cy="445134"/>
          </a:xfrm>
          <a:custGeom>
            <a:avLst/>
            <a:gdLst/>
            <a:ahLst/>
            <a:cxnLst/>
            <a:rect l="l" t="t" r="r" b="b"/>
            <a:pathLst>
              <a:path w="445135" h="445135">
                <a:moveTo>
                  <a:pt x="0" y="222504"/>
                </a:moveTo>
                <a:lnTo>
                  <a:pt x="4518" y="177647"/>
                </a:lnTo>
                <a:lnTo>
                  <a:pt x="17478" y="135874"/>
                </a:lnTo>
                <a:lnTo>
                  <a:pt x="37986" y="98077"/>
                </a:lnTo>
                <a:lnTo>
                  <a:pt x="65150" y="65151"/>
                </a:lnTo>
                <a:lnTo>
                  <a:pt x="98077" y="37986"/>
                </a:lnTo>
                <a:lnTo>
                  <a:pt x="135874" y="17478"/>
                </a:lnTo>
                <a:lnTo>
                  <a:pt x="177647" y="4518"/>
                </a:lnTo>
                <a:lnTo>
                  <a:pt x="222503" y="0"/>
                </a:lnTo>
                <a:lnTo>
                  <a:pt x="267360" y="4518"/>
                </a:lnTo>
                <a:lnTo>
                  <a:pt x="309133" y="17478"/>
                </a:lnTo>
                <a:lnTo>
                  <a:pt x="346930" y="37986"/>
                </a:lnTo>
                <a:lnTo>
                  <a:pt x="379856" y="65151"/>
                </a:lnTo>
                <a:lnTo>
                  <a:pt x="407021" y="98077"/>
                </a:lnTo>
                <a:lnTo>
                  <a:pt x="427529" y="135874"/>
                </a:lnTo>
                <a:lnTo>
                  <a:pt x="440489" y="177647"/>
                </a:lnTo>
                <a:lnTo>
                  <a:pt x="445007" y="222504"/>
                </a:lnTo>
                <a:lnTo>
                  <a:pt x="440489" y="267360"/>
                </a:lnTo>
                <a:lnTo>
                  <a:pt x="427529" y="309133"/>
                </a:lnTo>
                <a:lnTo>
                  <a:pt x="407021" y="346930"/>
                </a:lnTo>
                <a:lnTo>
                  <a:pt x="379856" y="379856"/>
                </a:lnTo>
                <a:lnTo>
                  <a:pt x="346930" y="407021"/>
                </a:lnTo>
                <a:lnTo>
                  <a:pt x="309133" y="427529"/>
                </a:lnTo>
                <a:lnTo>
                  <a:pt x="267360" y="440489"/>
                </a:lnTo>
                <a:lnTo>
                  <a:pt x="222503" y="445008"/>
                </a:lnTo>
                <a:lnTo>
                  <a:pt x="177647" y="440489"/>
                </a:lnTo>
                <a:lnTo>
                  <a:pt x="135874" y="427529"/>
                </a:lnTo>
                <a:lnTo>
                  <a:pt x="98077" y="407021"/>
                </a:lnTo>
                <a:lnTo>
                  <a:pt x="65150" y="379857"/>
                </a:lnTo>
                <a:lnTo>
                  <a:pt x="37986" y="346930"/>
                </a:lnTo>
                <a:lnTo>
                  <a:pt x="17478" y="309133"/>
                </a:lnTo>
                <a:lnTo>
                  <a:pt x="4518" y="267360"/>
                </a:lnTo>
                <a:lnTo>
                  <a:pt x="0" y="22250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930141" y="4722698"/>
            <a:ext cx="25209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364229" y="3856482"/>
            <a:ext cx="447040" cy="445134"/>
          </a:xfrm>
          <a:custGeom>
            <a:avLst/>
            <a:gdLst/>
            <a:ahLst/>
            <a:cxnLst/>
            <a:rect l="l" t="t" r="r" b="b"/>
            <a:pathLst>
              <a:path w="447039" h="445135">
                <a:moveTo>
                  <a:pt x="0" y="222504"/>
                </a:moveTo>
                <a:lnTo>
                  <a:pt x="4535" y="177647"/>
                </a:lnTo>
                <a:lnTo>
                  <a:pt x="17543" y="135874"/>
                </a:lnTo>
                <a:lnTo>
                  <a:pt x="38127" y="98077"/>
                </a:lnTo>
                <a:lnTo>
                  <a:pt x="65389" y="65151"/>
                </a:lnTo>
                <a:lnTo>
                  <a:pt x="98431" y="37986"/>
                </a:lnTo>
                <a:lnTo>
                  <a:pt x="136356" y="17478"/>
                </a:lnTo>
                <a:lnTo>
                  <a:pt x="178267" y="4518"/>
                </a:lnTo>
                <a:lnTo>
                  <a:pt x="223266" y="0"/>
                </a:lnTo>
                <a:lnTo>
                  <a:pt x="268264" y="4518"/>
                </a:lnTo>
                <a:lnTo>
                  <a:pt x="310175" y="17478"/>
                </a:lnTo>
                <a:lnTo>
                  <a:pt x="348100" y="37986"/>
                </a:lnTo>
                <a:lnTo>
                  <a:pt x="381142" y="65151"/>
                </a:lnTo>
                <a:lnTo>
                  <a:pt x="408404" y="98077"/>
                </a:lnTo>
                <a:lnTo>
                  <a:pt x="428988" y="135874"/>
                </a:lnTo>
                <a:lnTo>
                  <a:pt x="441996" y="177647"/>
                </a:lnTo>
                <a:lnTo>
                  <a:pt x="446532" y="222504"/>
                </a:lnTo>
                <a:lnTo>
                  <a:pt x="441996" y="267360"/>
                </a:lnTo>
                <a:lnTo>
                  <a:pt x="428988" y="309133"/>
                </a:lnTo>
                <a:lnTo>
                  <a:pt x="408404" y="346930"/>
                </a:lnTo>
                <a:lnTo>
                  <a:pt x="381142" y="379857"/>
                </a:lnTo>
                <a:lnTo>
                  <a:pt x="348100" y="407021"/>
                </a:lnTo>
                <a:lnTo>
                  <a:pt x="310175" y="427529"/>
                </a:lnTo>
                <a:lnTo>
                  <a:pt x="268264" y="440489"/>
                </a:lnTo>
                <a:lnTo>
                  <a:pt x="223266" y="445008"/>
                </a:lnTo>
                <a:lnTo>
                  <a:pt x="178267" y="440489"/>
                </a:lnTo>
                <a:lnTo>
                  <a:pt x="136356" y="427529"/>
                </a:lnTo>
                <a:lnTo>
                  <a:pt x="98431" y="407021"/>
                </a:lnTo>
                <a:lnTo>
                  <a:pt x="65389" y="379857"/>
                </a:lnTo>
                <a:lnTo>
                  <a:pt x="38127" y="346930"/>
                </a:lnTo>
                <a:lnTo>
                  <a:pt x="17543" y="309133"/>
                </a:lnTo>
                <a:lnTo>
                  <a:pt x="4535" y="267360"/>
                </a:lnTo>
                <a:lnTo>
                  <a:pt x="0" y="22250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89910" y="4301490"/>
            <a:ext cx="447040" cy="512445"/>
          </a:xfrm>
          <a:custGeom>
            <a:avLst/>
            <a:gdLst/>
            <a:ahLst/>
            <a:cxnLst/>
            <a:rect l="l" t="t" r="r" b="b"/>
            <a:pathLst>
              <a:path w="447039" h="512445">
                <a:moveTo>
                  <a:pt x="446531" y="0"/>
                </a:moveTo>
                <a:lnTo>
                  <a:pt x="0" y="51206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678173" y="4301490"/>
            <a:ext cx="467995" cy="512445"/>
          </a:xfrm>
          <a:custGeom>
            <a:avLst/>
            <a:gdLst/>
            <a:ahLst/>
            <a:cxnLst/>
            <a:rect l="l" t="t" r="r" b="b"/>
            <a:pathLst>
              <a:path w="467995" h="512445">
                <a:moveTo>
                  <a:pt x="0" y="0"/>
                </a:moveTo>
                <a:lnTo>
                  <a:pt x="467867" y="51206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137410" y="2922270"/>
            <a:ext cx="447040" cy="443865"/>
          </a:xfrm>
          <a:custGeom>
            <a:avLst/>
            <a:gdLst/>
            <a:ahLst/>
            <a:cxnLst/>
            <a:rect l="l" t="t" r="r" b="b"/>
            <a:pathLst>
              <a:path w="447039" h="443864">
                <a:moveTo>
                  <a:pt x="0" y="221741"/>
                </a:moveTo>
                <a:lnTo>
                  <a:pt x="4535" y="177063"/>
                </a:lnTo>
                <a:lnTo>
                  <a:pt x="17543" y="135445"/>
                </a:lnTo>
                <a:lnTo>
                  <a:pt x="38127" y="97780"/>
                </a:lnTo>
                <a:lnTo>
                  <a:pt x="65389" y="64960"/>
                </a:lnTo>
                <a:lnTo>
                  <a:pt x="98431" y="37879"/>
                </a:lnTo>
                <a:lnTo>
                  <a:pt x="136356" y="17430"/>
                </a:lnTo>
                <a:lnTo>
                  <a:pt x="178267" y="4506"/>
                </a:lnTo>
                <a:lnTo>
                  <a:pt x="223265" y="0"/>
                </a:lnTo>
                <a:lnTo>
                  <a:pt x="268264" y="4506"/>
                </a:lnTo>
                <a:lnTo>
                  <a:pt x="310175" y="17430"/>
                </a:lnTo>
                <a:lnTo>
                  <a:pt x="348100" y="37879"/>
                </a:lnTo>
                <a:lnTo>
                  <a:pt x="381142" y="64960"/>
                </a:lnTo>
                <a:lnTo>
                  <a:pt x="408404" y="97780"/>
                </a:lnTo>
                <a:lnTo>
                  <a:pt x="428988" y="135445"/>
                </a:lnTo>
                <a:lnTo>
                  <a:pt x="441996" y="177063"/>
                </a:lnTo>
                <a:lnTo>
                  <a:pt x="446531" y="221741"/>
                </a:lnTo>
                <a:lnTo>
                  <a:pt x="441996" y="266420"/>
                </a:lnTo>
                <a:lnTo>
                  <a:pt x="428988" y="308038"/>
                </a:lnTo>
                <a:lnTo>
                  <a:pt x="408404" y="345703"/>
                </a:lnTo>
                <a:lnTo>
                  <a:pt x="381142" y="378523"/>
                </a:lnTo>
                <a:lnTo>
                  <a:pt x="348100" y="405604"/>
                </a:lnTo>
                <a:lnTo>
                  <a:pt x="310175" y="426053"/>
                </a:lnTo>
                <a:lnTo>
                  <a:pt x="268264" y="438977"/>
                </a:lnTo>
                <a:lnTo>
                  <a:pt x="223265" y="443483"/>
                </a:lnTo>
                <a:lnTo>
                  <a:pt x="178267" y="438977"/>
                </a:lnTo>
                <a:lnTo>
                  <a:pt x="136356" y="426053"/>
                </a:lnTo>
                <a:lnTo>
                  <a:pt x="98431" y="405604"/>
                </a:lnTo>
                <a:lnTo>
                  <a:pt x="65389" y="378523"/>
                </a:lnTo>
                <a:lnTo>
                  <a:pt x="38127" y="345703"/>
                </a:lnTo>
                <a:lnTo>
                  <a:pt x="17543" y="308038"/>
                </a:lnTo>
                <a:lnTo>
                  <a:pt x="4535" y="266420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229739" y="2833497"/>
            <a:ext cx="26098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Wingdings 3"/>
                <a:cs typeface="Wingdings 3"/>
              </a:rPr>
              <a:t></a:t>
            </a:r>
            <a:endParaRPr sz="3200">
              <a:latin typeface="Wingdings 3"/>
              <a:cs typeface="Wingdings 3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833621" y="2922270"/>
            <a:ext cx="445134" cy="443865"/>
          </a:xfrm>
          <a:custGeom>
            <a:avLst/>
            <a:gdLst/>
            <a:ahLst/>
            <a:cxnLst/>
            <a:rect l="l" t="t" r="r" b="b"/>
            <a:pathLst>
              <a:path w="445135" h="443864">
                <a:moveTo>
                  <a:pt x="0" y="221741"/>
                </a:moveTo>
                <a:lnTo>
                  <a:pt x="4518" y="177063"/>
                </a:lnTo>
                <a:lnTo>
                  <a:pt x="17478" y="135445"/>
                </a:lnTo>
                <a:lnTo>
                  <a:pt x="37986" y="97780"/>
                </a:lnTo>
                <a:lnTo>
                  <a:pt x="65150" y="64960"/>
                </a:lnTo>
                <a:lnTo>
                  <a:pt x="98077" y="37879"/>
                </a:lnTo>
                <a:lnTo>
                  <a:pt x="135874" y="17430"/>
                </a:lnTo>
                <a:lnTo>
                  <a:pt x="177647" y="4506"/>
                </a:lnTo>
                <a:lnTo>
                  <a:pt x="222503" y="0"/>
                </a:lnTo>
                <a:lnTo>
                  <a:pt x="267360" y="4506"/>
                </a:lnTo>
                <a:lnTo>
                  <a:pt x="309133" y="17430"/>
                </a:lnTo>
                <a:lnTo>
                  <a:pt x="346930" y="37879"/>
                </a:lnTo>
                <a:lnTo>
                  <a:pt x="379856" y="64960"/>
                </a:lnTo>
                <a:lnTo>
                  <a:pt x="407021" y="97780"/>
                </a:lnTo>
                <a:lnTo>
                  <a:pt x="427529" y="135445"/>
                </a:lnTo>
                <a:lnTo>
                  <a:pt x="440489" y="177063"/>
                </a:lnTo>
                <a:lnTo>
                  <a:pt x="445007" y="221741"/>
                </a:lnTo>
                <a:lnTo>
                  <a:pt x="440489" y="266420"/>
                </a:lnTo>
                <a:lnTo>
                  <a:pt x="427529" y="308038"/>
                </a:lnTo>
                <a:lnTo>
                  <a:pt x="407021" y="345703"/>
                </a:lnTo>
                <a:lnTo>
                  <a:pt x="379856" y="378523"/>
                </a:lnTo>
                <a:lnTo>
                  <a:pt x="346930" y="405604"/>
                </a:lnTo>
                <a:lnTo>
                  <a:pt x="309133" y="426053"/>
                </a:lnTo>
                <a:lnTo>
                  <a:pt x="267360" y="438977"/>
                </a:lnTo>
                <a:lnTo>
                  <a:pt x="222503" y="443483"/>
                </a:lnTo>
                <a:lnTo>
                  <a:pt x="177647" y="438977"/>
                </a:lnTo>
                <a:lnTo>
                  <a:pt x="135874" y="426053"/>
                </a:lnTo>
                <a:lnTo>
                  <a:pt x="98077" y="405604"/>
                </a:lnTo>
                <a:lnTo>
                  <a:pt x="65150" y="378523"/>
                </a:lnTo>
                <a:lnTo>
                  <a:pt x="37986" y="345703"/>
                </a:lnTo>
                <a:lnTo>
                  <a:pt x="17478" y="308038"/>
                </a:lnTo>
                <a:lnTo>
                  <a:pt x="4518" y="266420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925570" y="2833497"/>
            <a:ext cx="26098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Wingdings 3"/>
                <a:cs typeface="Wingdings 3"/>
              </a:rPr>
              <a:t></a:t>
            </a:r>
            <a:endParaRPr sz="3200">
              <a:latin typeface="Wingdings 3"/>
              <a:cs typeface="Wingdings 3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007614" y="1811273"/>
            <a:ext cx="447040" cy="443865"/>
          </a:xfrm>
          <a:custGeom>
            <a:avLst/>
            <a:gdLst/>
            <a:ahLst/>
            <a:cxnLst/>
            <a:rect l="l" t="t" r="r" b="b"/>
            <a:pathLst>
              <a:path w="447039" h="443864">
                <a:moveTo>
                  <a:pt x="0" y="221741"/>
                </a:moveTo>
                <a:lnTo>
                  <a:pt x="4535" y="177063"/>
                </a:lnTo>
                <a:lnTo>
                  <a:pt x="17543" y="135445"/>
                </a:lnTo>
                <a:lnTo>
                  <a:pt x="38127" y="97780"/>
                </a:lnTo>
                <a:lnTo>
                  <a:pt x="65389" y="64960"/>
                </a:lnTo>
                <a:lnTo>
                  <a:pt x="98431" y="37879"/>
                </a:lnTo>
                <a:lnTo>
                  <a:pt x="136356" y="17430"/>
                </a:lnTo>
                <a:lnTo>
                  <a:pt x="178267" y="4506"/>
                </a:lnTo>
                <a:lnTo>
                  <a:pt x="223266" y="0"/>
                </a:lnTo>
                <a:lnTo>
                  <a:pt x="268264" y="4506"/>
                </a:lnTo>
                <a:lnTo>
                  <a:pt x="310175" y="17430"/>
                </a:lnTo>
                <a:lnTo>
                  <a:pt x="348100" y="37879"/>
                </a:lnTo>
                <a:lnTo>
                  <a:pt x="381142" y="64960"/>
                </a:lnTo>
                <a:lnTo>
                  <a:pt x="408404" y="97780"/>
                </a:lnTo>
                <a:lnTo>
                  <a:pt x="428988" y="135445"/>
                </a:lnTo>
                <a:lnTo>
                  <a:pt x="441996" y="177063"/>
                </a:lnTo>
                <a:lnTo>
                  <a:pt x="446532" y="221741"/>
                </a:lnTo>
                <a:lnTo>
                  <a:pt x="441996" y="266420"/>
                </a:lnTo>
                <a:lnTo>
                  <a:pt x="428988" y="308038"/>
                </a:lnTo>
                <a:lnTo>
                  <a:pt x="408404" y="345703"/>
                </a:lnTo>
                <a:lnTo>
                  <a:pt x="381142" y="378523"/>
                </a:lnTo>
                <a:lnTo>
                  <a:pt x="348100" y="405604"/>
                </a:lnTo>
                <a:lnTo>
                  <a:pt x="310175" y="426053"/>
                </a:lnTo>
                <a:lnTo>
                  <a:pt x="268264" y="438977"/>
                </a:lnTo>
                <a:lnTo>
                  <a:pt x="223266" y="443484"/>
                </a:lnTo>
                <a:lnTo>
                  <a:pt x="178267" y="438977"/>
                </a:lnTo>
                <a:lnTo>
                  <a:pt x="136356" y="426053"/>
                </a:lnTo>
                <a:lnTo>
                  <a:pt x="98431" y="405604"/>
                </a:lnTo>
                <a:lnTo>
                  <a:pt x="65389" y="378523"/>
                </a:lnTo>
                <a:lnTo>
                  <a:pt x="38127" y="345703"/>
                </a:lnTo>
                <a:lnTo>
                  <a:pt x="17543" y="308038"/>
                </a:lnTo>
                <a:lnTo>
                  <a:pt x="4535" y="266420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101467" y="1718818"/>
            <a:ext cx="25781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561082" y="3879341"/>
            <a:ext cx="447040" cy="443865"/>
          </a:xfrm>
          <a:custGeom>
            <a:avLst/>
            <a:gdLst/>
            <a:ahLst/>
            <a:cxnLst/>
            <a:rect l="l" t="t" r="r" b="b"/>
            <a:pathLst>
              <a:path w="447039" h="443864">
                <a:moveTo>
                  <a:pt x="0" y="221741"/>
                </a:moveTo>
                <a:lnTo>
                  <a:pt x="4535" y="177063"/>
                </a:lnTo>
                <a:lnTo>
                  <a:pt x="17543" y="135445"/>
                </a:lnTo>
                <a:lnTo>
                  <a:pt x="38127" y="97780"/>
                </a:lnTo>
                <a:lnTo>
                  <a:pt x="65389" y="64960"/>
                </a:lnTo>
                <a:lnTo>
                  <a:pt x="98431" y="37879"/>
                </a:lnTo>
                <a:lnTo>
                  <a:pt x="136356" y="17430"/>
                </a:lnTo>
                <a:lnTo>
                  <a:pt x="178267" y="4506"/>
                </a:lnTo>
                <a:lnTo>
                  <a:pt x="223266" y="0"/>
                </a:lnTo>
                <a:lnTo>
                  <a:pt x="268264" y="4506"/>
                </a:lnTo>
                <a:lnTo>
                  <a:pt x="310175" y="17430"/>
                </a:lnTo>
                <a:lnTo>
                  <a:pt x="348100" y="37879"/>
                </a:lnTo>
                <a:lnTo>
                  <a:pt x="381142" y="64960"/>
                </a:lnTo>
                <a:lnTo>
                  <a:pt x="408404" y="97780"/>
                </a:lnTo>
                <a:lnTo>
                  <a:pt x="428988" y="135445"/>
                </a:lnTo>
                <a:lnTo>
                  <a:pt x="441996" y="177063"/>
                </a:lnTo>
                <a:lnTo>
                  <a:pt x="446531" y="221741"/>
                </a:lnTo>
                <a:lnTo>
                  <a:pt x="441996" y="266420"/>
                </a:lnTo>
                <a:lnTo>
                  <a:pt x="428988" y="308038"/>
                </a:lnTo>
                <a:lnTo>
                  <a:pt x="408404" y="345703"/>
                </a:lnTo>
                <a:lnTo>
                  <a:pt x="381142" y="378523"/>
                </a:lnTo>
                <a:lnTo>
                  <a:pt x="348100" y="405604"/>
                </a:lnTo>
                <a:lnTo>
                  <a:pt x="310175" y="426053"/>
                </a:lnTo>
                <a:lnTo>
                  <a:pt x="268264" y="438977"/>
                </a:lnTo>
                <a:lnTo>
                  <a:pt x="223266" y="443483"/>
                </a:lnTo>
                <a:lnTo>
                  <a:pt x="178267" y="438977"/>
                </a:lnTo>
                <a:lnTo>
                  <a:pt x="136356" y="426053"/>
                </a:lnTo>
                <a:lnTo>
                  <a:pt x="98431" y="405604"/>
                </a:lnTo>
                <a:lnTo>
                  <a:pt x="65389" y="378523"/>
                </a:lnTo>
                <a:lnTo>
                  <a:pt x="38127" y="345703"/>
                </a:lnTo>
                <a:lnTo>
                  <a:pt x="17543" y="308038"/>
                </a:lnTo>
                <a:lnTo>
                  <a:pt x="4535" y="266420"/>
                </a:lnTo>
                <a:lnTo>
                  <a:pt x="0" y="22174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668904" y="3787902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818894" y="3365753"/>
            <a:ext cx="445134" cy="513715"/>
          </a:xfrm>
          <a:custGeom>
            <a:avLst/>
            <a:gdLst/>
            <a:ahLst/>
            <a:cxnLst/>
            <a:rect l="l" t="t" r="r" b="b"/>
            <a:pathLst>
              <a:path w="445135" h="513714">
                <a:moveTo>
                  <a:pt x="445007" y="0"/>
                </a:moveTo>
                <a:lnTo>
                  <a:pt x="0" y="51358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405633" y="3365753"/>
            <a:ext cx="467995" cy="513715"/>
          </a:xfrm>
          <a:custGeom>
            <a:avLst/>
            <a:gdLst/>
            <a:ahLst/>
            <a:cxnLst/>
            <a:rect l="l" t="t" r="r" b="b"/>
            <a:pathLst>
              <a:path w="467994" h="513714">
                <a:moveTo>
                  <a:pt x="0" y="0"/>
                </a:moveTo>
                <a:lnTo>
                  <a:pt x="467868" y="51358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278629" y="3859529"/>
            <a:ext cx="447040" cy="445134"/>
          </a:xfrm>
          <a:custGeom>
            <a:avLst/>
            <a:gdLst/>
            <a:ahLst/>
            <a:cxnLst/>
            <a:rect l="l" t="t" r="r" b="b"/>
            <a:pathLst>
              <a:path w="447039" h="445135">
                <a:moveTo>
                  <a:pt x="0" y="222504"/>
                </a:moveTo>
                <a:lnTo>
                  <a:pt x="4535" y="177647"/>
                </a:lnTo>
                <a:lnTo>
                  <a:pt x="17543" y="135874"/>
                </a:lnTo>
                <a:lnTo>
                  <a:pt x="38127" y="98077"/>
                </a:lnTo>
                <a:lnTo>
                  <a:pt x="65389" y="65151"/>
                </a:lnTo>
                <a:lnTo>
                  <a:pt x="98431" y="37986"/>
                </a:lnTo>
                <a:lnTo>
                  <a:pt x="136356" y="17478"/>
                </a:lnTo>
                <a:lnTo>
                  <a:pt x="178267" y="4518"/>
                </a:lnTo>
                <a:lnTo>
                  <a:pt x="223266" y="0"/>
                </a:lnTo>
                <a:lnTo>
                  <a:pt x="268264" y="4518"/>
                </a:lnTo>
                <a:lnTo>
                  <a:pt x="310175" y="17478"/>
                </a:lnTo>
                <a:lnTo>
                  <a:pt x="348100" y="37986"/>
                </a:lnTo>
                <a:lnTo>
                  <a:pt x="381142" y="65151"/>
                </a:lnTo>
                <a:lnTo>
                  <a:pt x="408404" y="98077"/>
                </a:lnTo>
                <a:lnTo>
                  <a:pt x="428988" y="135874"/>
                </a:lnTo>
                <a:lnTo>
                  <a:pt x="441996" y="177647"/>
                </a:lnTo>
                <a:lnTo>
                  <a:pt x="446532" y="222504"/>
                </a:lnTo>
                <a:lnTo>
                  <a:pt x="441996" y="267360"/>
                </a:lnTo>
                <a:lnTo>
                  <a:pt x="428988" y="309133"/>
                </a:lnTo>
                <a:lnTo>
                  <a:pt x="408404" y="346930"/>
                </a:lnTo>
                <a:lnTo>
                  <a:pt x="381142" y="379856"/>
                </a:lnTo>
                <a:lnTo>
                  <a:pt x="348100" y="407021"/>
                </a:lnTo>
                <a:lnTo>
                  <a:pt x="310175" y="427529"/>
                </a:lnTo>
                <a:lnTo>
                  <a:pt x="268264" y="440489"/>
                </a:lnTo>
                <a:lnTo>
                  <a:pt x="223266" y="445008"/>
                </a:lnTo>
                <a:lnTo>
                  <a:pt x="178267" y="440489"/>
                </a:lnTo>
                <a:lnTo>
                  <a:pt x="136356" y="427529"/>
                </a:lnTo>
                <a:lnTo>
                  <a:pt x="98431" y="407021"/>
                </a:lnTo>
                <a:lnTo>
                  <a:pt x="65389" y="379857"/>
                </a:lnTo>
                <a:lnTo>
                  <a:pt x="38127" y="346930"/>
                </a:lnTo>
                <a:lnTo>
                  <a:pt x="17543" y="309133"/>
                </a:lnTo>
                <a:lnTo>
                  <a:pt x="4535" y="267360"/>
                </a:lnTo>
                <a:lnTo>
                  <a:pt x="0" y="22250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458717" y="3768293"/>
            <a:ext cx="115760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40435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36441" y="3347465"/>
            <a:ext cx="447040" cy="512445"/>
          </a:xfrm>
          <a:custGeom>
            <a:avLst/>
            <a:gdLst/>
            <a:ahLst/>
            <a:cxnLst/>
            <a:rect l="l" t="t" r="r" b="b"/>
            <a:pathLst>
              <a:path w="447039" h="512445">
                <a:moveTo>
                  <a:pt x="446532" y="0"/>
                </a:moveTo>
                <a:lnTo>
                  <a:pt x="0" y="51206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123182" y="3347465"/>
            <a:ext cx="469900" cy="512445"/>
          </a:xfrm>
          <a:custGeom>
            <a:avLst/>
            <a:gdLst/>
            <a:ahLst/>
            <a:cxnLst/>
            <a:rect l="l" t="t" r="r" b="b"/>
            <a:pathLst>
              <a:path w="469900" h="512445">
                <a:moveTo>
                  <a:pt x="0" y="0"/>
                </a:moveTo>
                <a:lnTo>
                  <a:pt x="469391" y="51206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561082" y="2254757"/>
            <a:ext cx="528955" cy="668020"/>
          </a:xfrm>
          <a:custGeom>
            <a:avLst/>
            <a:gdLst/>
            <a:ahLst/>
            <a:cxnLst/>
            <a:rect l="l" t="t" r="r" b="b"/>
            <a:pathLst>
              <a:path w="528955" h="668019">
                <a:moveTo>
                  <a:pt x="528828" y="0"/>
                </a:moveTo>
                <a:lnTo>
                  <a:pt x="0" y="66751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364229" y="2254757"/>
            <a:ext cx="619125" cy="668020"/>
          </a:xfrm>
          <a:custGeom>
            <a:avLst/>
            <a:gdLst/>
            <a:ahLst/>
            <a:cxnLst/>
            <a:rect l="l" t="t" r="r" b="b"/>
            <a:pathLst>
              <a:path w="619125" h="668019">
                <a:moveTo>
                  <a:pt x="0" y="0"/>
                </a:moveTo>
                <a:lnTo>
                  <a:pt x="618744" y="66751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6264655" y="893140"/>
            <a:ext cx="533400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20" b="1">
                <a:solidFill>
                  <a:srgbClr val="66FFFF"/>
                </a:solidFill>
                <a:latin typeface="宋体"/>
                <a:cs typeface="宋体"/>
              </a:rPr>
              <a:t>树</a:t>
            </a:r>
            <a:endParaRPr sz="4000">
              <a:latin typeface="宋体"/>
              <a:cs typeface="宋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549390" y="1685925"/>
            <a:ext cx="114300" cy="1015365"/>
          </a:xfrm>
          <a:custGeom>
            <a:avLst/>
            <a:gdLst/>
            <a:ahLst/>
            <a:cxnLst/>
            <a:rect l="l" t="t" r="r" b="b"/>
            <a:pathLst>
              <a:path w="114300" h="1015364">
                <a:moveTo>
                  <a:pt x="0" y="899922"/>
                </a:moveTo>
                <a:lnTo>
                  <a:pt x="54863" y="1015364"/>
                </a:lnTo>
                <a:lnTo>
                  <a:pt x="104587" y="920496"/>
                </a:lnTo>
                <a:lnTo>
                  <a:pt x="75818" y="920496"/>
                </a:lnTo>
                <a:lnTo>
                  <a:pt x="37718" y="919734"/>
                </a:lnTo>
                <a:lnTo>
                  <a:pt x="38089" y="900684"/>
                </a:lnTo>
                <a:lnTo>
                  <a:pt x="0" y="899922"/>
                </a:lnTo>
                <a:close/>
              </a:path>
              <a:path w="114300" h="1015364">
                <a:moveTo>
                  <a:pt x="38089" y="900684"/>
                </a:moveTo>
                <a:lnTo>
                  <a:pt x="37718" y="919734"/>
                </a:lnTo>
                <a:lnTo>
                  <a:pt x="75818" y="920496"/>
                </a:lnTo>
                <a:lnTo>
                  <a:pt x="76189" y="901447"/>
                </a:lnTo>
                <a:lnTo>
                  <a:pt x="38089" y="900684"/>
                </a:lnTo>
                <a:close/>
              </a:path>
              <a:path w="114300" h="1015364">
                <a:moveTo>
                  <a:pt x="76189" y="901447"/>
                </a:moveTo>
                <a:lnTo>
                  <a:pt x="75818" y="920496"/>
                </a:lnTo>
                <a:lnTo>
                  <a:pt x="104587" y="920496"/>
                </a:lnTo>
                <a:lnTo>
                  <a:pt x="114173" y="902208"/>
                </a:lnTo>
                <a:lnTo>
                  <a:pt x="76189" y="901447"/>
                </a:lnTo>
                <a:close/>
              </a:path>
              <a:path w="114300" h="1015364">
                <a:moveTo>
                  <a:pt x="55625" y="0"/>
                </a:moveTo>
                <a:lnTo>
                  <a:pt x="38089" y="900684"/>
                </a:lnTo>
                <a:lnTo>
                  <a:pt x="76189" y="901447"/>
                </a:lnTo>
                <a:lnTo>
                  <a:pt x="93725" y="762"/>
                </a:lnTo>
                <a:lnTo>
                  <a:pt x="5562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6702932" y="1952701"/>
            <a:ext cx="1452245" cy="816610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12700" marR="5080">
              <a:lnSpc>
                <a:spcPts val="2870"/>
              </a:lnSpc>
              <a:spcBef>
                <a:spcPts val="600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线性化：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后序遍历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966586" y="3013405"/>
            <a:ext cx="166052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逆波兰式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593242" y="26923"/>
            <a:ext cx="4304665" cy="1212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31850">
              <a:lnSpc>
                <a:spcPct val="100000"/>
              </a:lnSpc>
              <a:spcBef>
                <a:spcPts val="100"/>
              </a:spcBef>
              <a:tabLst>
                <a:tab pos="14744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u="heavy" sz="3200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宋体"/>
                <a:cs typeface="宋体"/>
              </a:rPr>
              <a:t>几种表示间关系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692521" y="26923"/>
            <a:ext cx="16211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3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中间语言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549390" y="3818001"/>
            <a:ext cx="114300" cy="1015365"/>
          </a:xfrm>
          <a:custGeom>
            <a:avLst/>
            <a:gdLst/>
            <a:ahLst/>
            <a:cxnLst/>
            <a:rect l="l" t="t" r="r" b="b"/>
            <a:pathLst>
              <a:path w="114300" h="1015364">
                <a:moveTo>
                  <a:pt x="0" y="899922"/>
                </a:moveTo>
                <a:lnTo>
                  <a:pt x="54863" y="1015365"/>
                </a:lnTo>
                <a:lnTo>
                  <a:pt x="104587" y="920496"/>
                </a:lnTo>
                <a:lnTo>
                  <a:pt x="75818" y="920496"/>
                </a:lnTo>
                <a:lnTo>
                  <a:pt x="37718" y="919734"/>
                </a:lnTo>
                <a:lnTo>
                  <a:pt x="38089" y="900684"/>
                </a:lnTo>
                <a:lnTo>
                  <a:pt x="0" y="899922"/>
                </a:lnTo>
                <a:close/>
              </a:path>
              <a:path w="114300" h="1015364">
                <a:moveTo>
                  <a:pt x="38089" y="900684"/>
                </a:moveTo>
                <a:lnTo>
                  <a:pt x="37718" y="919734"/>
                </a:lnTo>
                <a:lnTo>
                  <a:pt x="75818" y="920496"/>
                </a:lnTo>
                <a:lnTo>
                  <a:pt x="76189" y="901447"/>
                </a:lnTo>
                <a:lnTo>
                  <a:pt x="38089" y="900684"/>
                </a:lnTo>
                <a:close/>
              </a:path>
              <a:path w="114300" h="1015364">
                <a:moveTo>
                  <a:pt x="76189" y="901447"/>
                </a:moveTo>
                <a:lnTo>
                  <a:pt x="75818" y="920496"/>
                </a:lnTo>
                <a:lnTo>
                  <a:pt x="104587" y="920496"/>
                </a:lnTo>
                <a:lnTo>
                  <a:pt x="114173" y="902207"/>
                </a:lnTo>
                <a:lnTo>
                  <a:pt x="76189" y="901447"/>
                </a:lnTo>
                <a:close/>
              </a:path>
              <a:path w="114300" h="1015364">
                <a:moveTo>
                  <a:pt x="55625" y="0"/>
                </a:moveTo>
                <a:lnTo>
                  <a:pt x="38089" y="900684"/>
                </a:lnTo>
                <a:lnTo>
                  <a:pt x="76189" y="901447"/>
                </a:lnTo>
                <a:lnTo>
                  <a:pt x="93725" y="762"/>
                </a:lnTo>
                <a:lnTo>
                  <a:pt x="5562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6702932" y="4085590"/>
            <a:ext cx="1452245" cy="81597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12700" marR="5080">
              <a:lnSpc>
                <a:spcPts val="2870"/>
              </a:lnSpc>
              <a:spcBef>
                <a:spcPts val="60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“单步”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表示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5966586" y="5146294"/>
            <a:ext cx="125222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三元式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12494" y="26923"/>
            <a:ext cx="348487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92521" y="26923"/>
            <a:ext cx="16211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35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中间语言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4248" y="1624660"/>
            <a:ext cx="8194040" cy="31483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语法分析的结果为树；</a:t>
            </a:r>
            <a:endParaRPr sz="3200">
              <a:latin typeface="宋体"/>
              <a:cs typeface="宋体"/>
            </a:endParaRPr>
          </a:p>
          <a:p>
            <a:pPr marL="12700" marR="5080">
              <a:lnSpc>
                <a:spcPct val="180100"/>
              </a:lnSpc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逆波兰式适于栈式存储的计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机（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堆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栈机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）；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四元式便于优化；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3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间接三元式优化时的时空效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类似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四元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式。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7340" y="712089"/>
            <a:ext cx="140208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/>
              <a:t>综述：</a:t>
            </a:r>
            <a:endParaRPr sz="3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67309"/>
            <a:ext cx="7167880" cy="6057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第</a:t>
            </a:r>
            <a:r>
              <a:rPr dirty="0" sz="3800" spc="-975">
                <a:solidFill>
                  <a:srgbClr val="FFFF00"/>
                </a:solidFill>
                <a:latin typeface="黑体"/>
                <a:cs typeface="黑体"/>
              </a:rPr>
              <a:t> </a:t>
            </a:r>
            <a:r>
              <a:rPr dirty="0" sz="3800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r>
              <a:rPr dirty="0" sz="3800" spc="-25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章</a:t>
            </a:r>
            <a:r>
              <a:rPr dirty="0" sz="3800" spc="905">
                <a:solidFill>
                  <a:srgbClr val="FFFF00"/>
                </a:solidFill>
                <a:latin typeface="黑体"/>
                <a:cs typeface="黑体"/>
              </a:rPr>
              <a:t> </a:t>
            </a:r>
            <a:r>
              <a:rPr dirty="0" sz="3800" spc="5">
                <a:solidFill>
                  <a:srgbClr val="FFFF00"/>
                </a:solidFill>
                <a:latin typeface="黑体"/>
                <a:cs typeface="黑体"/>
              </a:rPr>
              <a:t>语义</a:t>
            </a:r>
            <a:r>
              <a:rPr dirty="0" sz="3800" spc="-5">
                <a:solidFill>
                  <a:srgbClr val="FFFF00"/>
                </a:solidFill>
                <a:latin typeface="黑体"/>
                <a:cs typeface="黑体"/>
              </a:rPr>
              <a:t>分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析</a:t>
            </a:r>
            <a:r>
              <a:rPr dirty="0" sz="3800" spc="-5">
                <a:solidFill>
                  <a:srgbClr val="FFFF00"/>
                </a:solidFill>
                <a:latin typeface="黑体"/>
                <a:cs typeface="黑体"/>
              </a:rPr>
              <a:t>与中间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代</a:t>
            </a:r>
            <a:r>
              <a:rPr dirty="0" sz="3800" spc="-5">
                <a:solidFill>
                  <a:srgbClr val="FFFF00"/>
                </a:solidFill>
                <a:latin typeface="黑体"/>
                <a:cs typeface="黑体"/>
              </a:rPr>
              <a:t>码生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成</a:t>
            </a:r>
            <a:endParaRPr sz="38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1148" y="1525117"/>
            <a:ext cx="6164580" cy="4519295"/>
          </a:xfrm>
          <a:prstGeom prst="rect">
            <a:avLst/>
          </a:prstGeom>
        </p:spPr>
        <p:txBody>
          <a:bodyPr wrap="square" lIns="0" tIns="232410" rIns="0" bIns="0" rtlCol="0" vert="horz">
            <a:spAutoFit/>
          </a:bodyPr>
          <a:lstStyle/>
          <a:p>
            <a:pPr lvl="1" marL="1251585" indent="-1227455">
              <a:lnSpc>
                <a:spcPct val="100000"/>
              </a:lnSpc>
              <a:spcBef>
                <a:spcPts val="1830"/>
              </a:spcBef>
              <a:buFont typeface="Times New Roman"/>
              <a:buAutoNum type="arabicPeriod"/>
              <a:tabLst>
                <a:tab pos="1251585" algn="l"/>
                <a:tab pos="1252220" algn="l"/>
              </a:tabLst>
            </a:pPr>
            <a:r>
              <a:rPr dirty="0" sz="3500" b="1">
                <a:solidFill>
                  <a:srgbClr val="FFFF66"/>
                </a:solidFill>
                <a:latin typeface="宋体"/>
                <a:cs typeface="宋体"/>
              </a:rPr>
              <a:t>语义分析综述</a:t>
            </a:r>
            <a:endParaRPr sz="3500">
              <a:latin typeface="宋体"/>
              <a:cs typeface="宋体"/>
            </a:endParaRPr>
          </a:p>
          <a:p>
            <a:pPr lvl="1" marL="1238885" indent="-1226820">
              <a:lnSpc>
                <a:spcPct val="100000"/>
              </a:lnSpc>
              <a:spcBef>
                <a:spcPts val="1730"/>
              </a:spcBef>
              <a:buFont typeface="Times New Roman"/>
              <a:buAutoNum type="arabicPeriod"/>
              <a:tabLst>
                <a:tab pos="1238885" algn="l"/>
                <a:tab pos="1239520" algn="l"/>
              </a:tabLst>
            </a:pPr>
            <a:r>
              <a:rPr dirty="0" sz="3500" b="1">
                <a:solidFill>
                  <a:srgbClr val="FFFF66"/>
                </a:solidFill>
                <a:latin typeface="宋体"/>
                <a:cs typeface="宋体"/>
              </a:rPr>
              <a:t>语法制导翻译与属性文法</a:t>
            </a:r>
            <a:endParaRPr sz="3500">
              <a:latin typeface="宋体"/>
              <a:cs typeface="宋体"/>
            </a:endParaRPr>
          </a:p>
          <a:p>
            <a:pPr lvl="1" marL="1234440" indent="-1222375">
              <a:lnSpc>
                <a:spcPct val="100000"/>
              </a:lnSpc>
              <a:spcBef>
                <a:spcPts val="1680"/>
              </a:spcBef>
              <a:buFont typeface="Times New Roman"/>
              <a:buAutoNum type="arabicPeriod"/>
              <a:tabLst>
                <a:tab pos="1234440" algn="l"/>
                <a:tab pos="1235075" algn="l"/>
              </a:tabLst>
            </a:pPr>
            <a:r>
              <a:rPr dirty="0" sz="3500" b="1">
                <a:solidFill>
                  <a:srgbClr val="FFFF66"/>
                </a:solidFill>
                <a:latin typeface="宋体"/>
                <a:cs typeface="宋体"/>
              </a:rPr>
              <a:t>中间语言</a:t>
            </a:r>
            <a:endParaRPr sz="3500">
              <a:latin typeface="宋体"/>
              <a:cs typeface="宋体"/>
            </a:endParaRPr>
          </a:p>
          <a:p>
            <a:pPr lvl="1" marL="1238885" indent="-1226820">
              <a:lnSpc>
                <a:spcPct val="100000"/>
              </a:lnSpc>
              <a:spcBef>
                <a:spcPts val="1680"/>
              </a:spcBef>
              <a:buFont typeface="Times New Roman"/>
              <a:buAutoNum type="arabicPeriod"/>
              <a:tabLst>
                <a:tab pos="1238885" algn="l"/>
                <a:tab pos="1239520" algn="l"/>
              </a:tabLst>
            </a:pP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符号表</a:t>
            </a:r>
            <a:endParaRPr sz="3500">
              <a:latin typeface="宋体"/>
              <a:cs typeface="宋体"/>
            </a:endParaRPr>
          </a:p>
          <a:p>
            <a:pPr lvl="1" marL="1238885" indent="-1226820">
              <a:lnSpc>
                <a:spcPct val="100000"/>
              </a:lnSpc>
              <a:spcBef>
                <a:spcPts val="1680"/>
              </a:spcBef>
              <a:buFont typeface="Times New Roman"/>
              <a:buAutoNum type="arabicPeriod"/>
              <a:tabLst>
                <a:tab pos="1238885" algn="l"/>
                <a:tab pos="1239520" algn="l"/>
              </a:tabLst>
            </a:pPr>
            <a:r>
              <a:rPr dirty="0" sz="3500" spc="-5" b="1">
                <a:solidFill>
                  <a:srgbClr val="FFFFFF"/>
                </a:solidFill>
                <a:latin typeface="宋体"/>
                <a:cs typeface="宋体"/>
              </a:rPr>
              <a:t>类型检</a:t>
            </a: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查</a:t>
            </a:r>
            <a:r>
              <a:rPr dirty="0" sz="3500" spc="-5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自</a:t>
            </a:r>
            <a:r>
              <a:rPr dirty="0" sz="3500" spc="-5" b="1">
                <a:solidFill>
                  <a:srgbClr val="FFFFFF"/>
                </a:solidFill>
                <a:latin typeface="宋体"/>
                <a:cs typeface="宋体"/>
              </a:rPr>
              <a:t>学</a:t>
            </a:r>
            <a:r>
              <a:rPr dirty="0" sz="3500" spc="-1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3500">
              <a:latin typeface="宋体"/>
              <a:cs typeface="宋体"/>
            </a:endParaRPr>
          </a:p>
          <a:p>
            <a:pPr lvl="1" marL="1238885" indent="-1226820">
              <a:lnSpc>
                <a:spcPct val="100000"/>
              </a:lnSpc>
              <a:spcBef>
                <a:spcPts val="1680"/>
              </a:spcBef>
              <a:buFont typeface="Times New Roman"/>
              <a:buAutoNum type="arabicPeriod"/>
              <a:tabLst>
                <a:tab pos="1238885" algn="l"/>
                <a:tab pos="1239520" algn="l"/>
              </a:tabLst>
            </a:pP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语句翻译与中间代码生成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9330" y="5045964"/>
            <a:ext cx="5980430" cy="91440"/>
          </a:xfrm>
          <a:custGeom>
            <a:avLst/>
            <a:gdLst/>
            <a:ahLst/>
            <a:cxnLst/>
            <a:rect l="l" t="t" r="r" b="b"/>
            <a:pathLst>
              <a:path w="5980430" h="91439">
                <a:moveTo>
                  <a:pt x="5980277" y="63500"/>
                </a:moveTo>
                <a:lnTo>
                  <a:pt x="165" y="78740"/>
                </a:lnTo>
                <a:lnTo>
                  <a:pt x="203" y="91440"/>
                </a:lnTo>
                <a:lnTo>
                  <a:pt x="5980404" y="76200"/>
                </a:lnTo>
                <a:lnTo>
                  <a:pt x="5980277" y="63500"/>
                </a:lnTo>
                <a:close/>
              </a:path>
              <a:path w="5980430" h="91439">
                <a:moveTo>
                  <a:pt x="5980277" y="25400"/>
                </a:moveTo>
                <a:lnTo>
                  <a:pt x="63" y="40640"/>
                </a:lnTo>
                <a:lnTo>
                  <a:pt x="139" y="66040"/>
                </a:lnTo>
                <a:lnTo>
                  <a:pt x="5980277" y="50800"/>
                </a:lnTo>
                <a:lnTo>
                  <a:pt x="5980277" y="25400"/>
                </a:lnTo>
                <a:close/>
              </a:path>
              <a:path w="5980430" h="91439">
                <a:moveTo>
                  <a:pt x="5980150" y="0"/>
                </a:moveTo>
                <a:lnTo>
                  <a:pt x="0" y="15240"/>
                </a:lnTo>
                <a:lnTo>
                  <a:pt x="38" y="27940"/>
                </a:lnTo>
                <a:lnTo>
                  <a:pt x="5980150" y="12700"/>
                </a:lnTo>
                <a:lnTo>
                  <a:pt x="59801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69607" y="3938015"/>
            <a:ext cx="1661160" cy="722630"/>
          </a:xfrm>
          <a:custGeom>
            <a:avLst/>
            <a:gdLst/>
            <a:ahLst/>
            <a:cxnLst/>
            <a:rect l="l" t="t" r="r" b="b"/>
            <a:pathLst>
              <a:path w="1661159" h="722629">
                <a:moveTo>
                  <a:pt x="415544" y="0"/>
                </a:moveTo>
                <a:lnTo>
                  <a:pt x="0" y="361187"/>
                </a:lnTo>
                <a:lnTo>
                  <a:pt x="415544" y="722375"/>
                </a:lnTo>
                <a:lnTo>
                  <a:pt x="415544" y="541781"/>
                </a:lnTo>
                <a:lnTo>
                  <a:pt x="1661160" y="541781"/>
                </a:lnTo>
                <a:lnTo>
                  <a:pt x="1661160" y="180593"/>
                </a:lnTo>
                <a:lnTo>
                  <a:pt x="415544" y="180593"/>
                </a:lnTo>
                <a:lnTo>
                  <a:pt x="415544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769607" y="3938015"/>
            <a:ext cx="1661160" cy="722630"/>
          </a:xfrm>
          <a:custGeom>
            <a:avLst/>
            <a:gdLst/>
            <a:ahLst/>
            <a:cxnLst/>
            <a:rect l="l" t="t" r="r" b="b"/>
            <a:pathLst>
              <a:path w="1661159" h="722629">
                <a:moveTo>
                  <a:pt x="0" y="361187"/>
                </a:moveTo>
                <a:lnTo>
                  <a:pt x="415544" y="0"/>
                </a:lnTo>
                <a:lnTo>
                  <a:pt x="415544" y="180593"/>
                </a:lnTo>
                <a:lnTo>
                  <a:pt x="1661160" y="180593"/>
                </a:lnTo>
                <a:lnTo>
                  <a:pt x="1661160" y="541781"/>
                </a:lnTo>
                <a:lnTo>
                  <a:pt x="415544" y="541781"/>
                </a:lnTo>
                <a:lnTo>
                  <a:pt x="415544" y="722375"/>
                </a:lnTo>
                <a:lnTo>
                  <a:pt x="0" y="361187"/>
                </a:lnTo>
                <a:close/>
              </a:path>
            </a:pathLst>
          </a:custGeom>
          <a:ln w="5715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2494" y="26923"/>
            <a:ext cx="348487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56528" y="26923"/>
            <a:ext cx="13011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符号表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72661" y="4380738"/>
            <a:ext cx="1048512" cy="573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772661" y="4380738"/>
            <a:ext cx="1049020" cy="573405"/>
          </a:xfrm>
          <a:custGeom>
            <a:avLst/>
            <a:gdLst/>
            <a:ahLst/>
            <a:cxnLst/>
            <a:rect l="l" t="t" r="r" b="b"/>
            <a:pathLst>
              <a:path w="1049020" h="573404">
                <a:moveTo>
                  <a:pt x="0" y="429768"/>
                </a:moveTo>
                <a:lnTo>
                  <a:pt x="262127" y="429768"/>
                </a:lnTo>
                <a:lnTo>
                  <a:pt x="262127" y="0"/>
                </a:lnTo>
                <a:lnTo>
                  <a:pt x="786384" y="0"/>
                </a:lnTo>
                <a:lnTo>
                  <a:pt x="786384" y="429768"/>
                </a:lnTo>
                <a:lnTo>
                  <a:pt x="1048512" y="429768"/>
                </a:lnTo>
                <a:lnTo>
                  <a:pt x="524255" y="573024"/>
                </a:lnTo>
                <a:lnTo>
                  <a:pt x="0" y="42976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40842" y="820927"/>
            <a:ext cx="7799705" cy="5215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29565" indent="-317500">
              <a:lnSpc>
                <a:spcPct val="100000"/>
              </a:lnSpc>
              <a:spcBef>
                <a:spcPts val="105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33020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源程序流基本组成单位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特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点</a:t>
            </a:r>
            <a:endParaRPr sz="3200">
              <a:latin typeface="宋体"/>
              <a:cs typeface="宋体"/>
            </a:endParaRPr>
          </a:p>
          <a:p>
            <a:pPr marL="438150" marR="5080">
              <a:lnSpc>
                <a:spcPts val="7500"/>
              </a:lnSpc>
              <a:spcBef>
                <a:spcPts val="409"/>
              </a:spcBef>
            </a:pPr>
            <a:r>
              <a:rPr dirty="0" u="heavy" sz="3200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宋体"/>
                <a:cs typeface="宋体"/>
              </a:rPr>
              <a:t>关键字</a:t>
            </a:r>
            <a:r>
              <a:rPr dirty="0" u="heavy" sz="3200" spc="-10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宋体"/>
                <a:cs typeface="宋体"/>
              </a:rPr>
              <a:t>：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表示语句性质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反映语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句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结构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  </a:t>
            </a:r>
            <a:r>
              <a:rPr dirty="0" u="heavy" sz="3200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宋体"/>
                <a:cs typeface="宋体"/>
              </a:rPr>
              <a:t>标识符</a:t>
            </a:r>
            <a:r>
              <a:rPr dirty="0" u="heavy" sz="3200" spc="-5" b="1">
                <a:solidFill>
                  <a:srgbClr val="00FFFF"/>
                </a:solidFill>
                <a:uFill>
                  <a:solidFill>
                    <a:srgbClr val="00FFFF"/>
                  </a:solidFill>
                </a:uFill>
                <a:latin typeface="宋体"/>
                <a:cs typeface="宋体"/>
              </a:rPr>
              <a:t>：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表示程序中各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种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实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体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marL="1250950">
              <a:lnSpc>
                <a:spcPct val="100000"/>
              </a:lnSpc>
              <a:spcBef>
                <a:spcPts val="660"/>
              </a:spcBef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如，变量名；常量名；标号名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；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过程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名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335915">
              <a:lnSpc>
                <a:spcPct val="100000"/>
              </a:lnSpc>
              <a:spcBef>
                <a:spcPts val="1130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函数名；文件名，数组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名</a:t>
            </a:r>
            <a:r>
              <a:rPr dirty="0" sz="2800" spc="-68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…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200">
              <a:latin typeface="Times New Roman"/>
              <a:cs typeface="Times New Roman"/>
            </a:endParaRPr>
          </a:p>
          <a:p>
            <a:pPr marL="539115">
              <a:lnSpc>
                <a:spcPct val="100000"/>
              </a:lnSpc>
              <a:tabLst>
                <a:tab pos="1060450" algn="l"/>
                <a:tab pos="3164205" algn="l"/>
                <a:tab pos="4244975" algn="l"/>
              </a:tabLst>
            </a:pPr>
            <a:r>
              <a:rPr dirty="0" sz="2800" spc="-130" b="1">
                <a:solidFill>
                  <a:srgbClr val="FFFF00"/>
                </a:solidFill>
                <a:latin typeface="Times New Roman"/>
                <a:cs typeface="Times New Roman"/>
              </a:rPr>
              <a:t>V: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name ,</a:t>
            </a:r>
            <a:r>
              <a:rPr dirty="0" sz="2800" spc="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type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	addr</a:t>
            </a:r>
            <a:r>
              <a:rPr dirty="0" sz="28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	level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2800">
              <a:latin typeface="Times New Roman"/>
              <a:cs typeface="Times New Roman"/>
            </a:endParaRPr>
          </a:p>
          <a:p>
            <a:pPr marL="438150">
              <a:lnSpc>
                <a:spcPct val="100000"/>
              </a:lnSpc>
              <a:spcBef>
                <a:spcPts val="1040"/>
              </a:spcBef>
              <a:tabLst>
                <a:tab pos="1706245" algn="l"/>
                <a:tab pos="3809365" algn="l"/>
                <a:tab pos="4890135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array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: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name ,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type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	addr</a:t>
            </a:r>
            <a:r>
              <a:rPr dirty="0" sz="28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	dim , level , 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size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11057" y="6697989"/>
            <a:ext cx="737870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33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2494" y="26923"/>
            <a:ext cx="348487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56528" y="26923"/>
            <a:ext cx="13011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符号表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53205" y="2344420"/>
            <a:ext cx="1104900" cy="4345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829430" y="2296096"/>
            <a:ext cx="552450" cy="32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29430" y="2263933"/>
            <a:ext cx="552450" cy="160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553205" y="2344420"/>
            <a:ext cx="1104900" cy="434975"/>
          </a:xfrm>
          <a:custGeom>
            <a:avLst/>
            <a:gdLst/>
            <a:ahLst/>
            <a:cxnLst/>
            <a:rect l="l" t="t" r="r" b="b"/>
            <a:pathLst>
              <a:path w="1104900" h="434975">
                <a:moveTo>
                  <a:pt x="1104900" y="305815"/>
                </a:moveTo>
                <a:lnTo>
                  <a:pt x="828675" y="305815"/>
                </a:lnTo>
                <a:lnTo>
                  <a:pt x="828675" y="0"/>
                </a:lnTo>
                <a:lnTo>
                  <a:pt x="276225" y="0"/>
                </a:lnTo>
                <a:lnTo>
                  <a:pt x="276225" y="305815"/>
                </a:lnTo>
                <a:lnTo>
                  <a:pt x="0" y="305815"/>
                </a:lnTo>
                <a:lnTo>
                  <a:pt x="552450" y="434593"/>
                </a:lnTo>
                <a:lnTo>
                  <a:pt x="1104900" y="305815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810380" y="2299080"/>
            <a:ext cx="590550" cy="48260"/>
          </a:xfrm>
          <a:custGeom>
            <a:avLst/>
            <a:gdLst/>
            <a:ahLst/>
            <a:cxnLst/>
            <a:rect l="l" t="t" r="r" b="b"/>
            <a:pathLst>
              <a:path w="590550" h="48260">
                <a:moveTo>
                  <a:pt x="0" y="48259"/>
                </a:moveTo>
                <a:lnTo>
                  <a:pt x="590550" y="48259"/>
                </a:lnTo>
                <a:lnTo>
                  <a:pt x="590550" y="0"/>
                </a:lnTo>
                <a:lnTo>
                  <a:pt x="0" y="0"/>
                </a:lnTo>
                <a:lnTo>
                  <a:pt x="0" y="4825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810380" y="2244883"/>
            <a:ext cx="590550" cy="54610"/>
          </a:xfrm>
          <a:custGeom>
            <a:avLst/>
            <a:gdLst/>
            <a:ahLst/>
            <a:cxnLst/>
            <a:rect l="l" t="t" r="r" b="b"/>
            <a:pathLst>
              <a:path w="590550" h="54610">
                <a:moveTo>
                  <a:pt x="0" y="54197"/>
                </a:moveTo>
                <a:lnTo>
                  <a:pt x="590550" y="54197"/>
                </a:lnTo>
                <a:lnTo>
                  <a:pt x="590550" y="0"/>
                </a:lnTo>
                <a:lnTo>
                  <a:pt x="0" y="0"/>
                </a:lnTo>
                <a:lnTo>
                  <a:pt x="0" y="5419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553205" y="3621785"/>
            <a:ext cx="1496568" cy="6278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53205" y="3621785"/>
            <a:ext cx="1496695" cy="628015"/>
          </a:xfrm>
          <a:custGeom>
            <a:avLst/>
            <a:gdLst/>
            <a:ahLst/>
            <a:cxnLst/>
            <a:rect l="l" t="t" r="r" b="b"/>
            <a:pathLst>
              <a:path w="1496695" h="628014">
                <a:moveTo>
                  <a:pt x="0" y="470915"/>
                </a:moveTo>
                <a:lnTo>
                  <a:pt x="374142" y="470915"/>
                </a:lnTo>
                <a:lnTo>
                  <a:pt x="374142" y="0"/>
                </a:lnTo>
                <a:lnTo>
                  <a:pt x="1122426" y="0"/>
                </a:lnTo>
                <a:lnTo>
                  <a:pt x="1122426" y="470915"/>
                </a:lnTo>
                <a:lnTo>
                  <a:pt x="1496568" y="470915"/>
                </a:lnTo>
                <a:lnTo>
                  <a:pt x="748284" y="627888"/>
                </a:lnTo>
                <a:lnTo>
                  <a:pt x="0" y="47091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86231" y="853821"/>
            <a:ext cx="8141970" cy="4820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95"/>
              </a:spcBef>
              <a:tabLst>
                <a:tab pos="1821180" algn="l"/>
                <a:tab pos="3999229" algn="l"/>
              </a:tabLst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语句标号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: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name ,</a:t>
            </a:r>
            <a:r>
              <a:rPr dirty="0" sz="28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addr</a:t>
            </a:r>
            <a:r>
              <a:rPr dirty="0" sz="28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定义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否</a:t>
            </a:r>
            <a:r>
              <a:rPr dirty="0" sz="2800" spc="-8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900">
              <a:latin typeface="Times New Roman"/>
              <a:cs typeface="Times New Roman"/>
            </a:endParaRPr>
          </a:p>
          <a:p>
            <a:pPr marL="95885">
              <a:lnSpc>
                <a:spcPct val="100000"/>
              </a:lnSpc>
              <a:tabLst>
                <a:tab pos="2179320" algn="l"/>
                <a:tab pos="4357370" algn="l"/>
              </a:tabLst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过程、函数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: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name ,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addr</a:t>
            </a:r>
            <a:r>
              <a:rPr dirty="0" sz="28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形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参</a:t>
            </a:r>
            <a:r>
              <a:rPr dirty="0" sz="2800" spc="-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050">
              <a:latin typeface="Times New Roman"/>
              <a:cs typeface="Times New Roman"/>
            </a:endParaRPr>
          </a:p>
          <a:p>
            <a:pPr marL="95885">
              <a:lnSpc>
                <a:spcPct val="100000"/>
              </a:lnSpc>
            </a:pPr>
            <a:r>
              <a:rPr dirty="0" sz="3000" spc="-5" b="1">
                <a:solidFill>
                  <a:srgbClr val="66FFFF"/>
                </a:solidFill>
                <a:latin typeface="宋体"/>
                <a:cs typeface="宋体"/>
              </a:rPr>
              <a:t>反映了标识符的语义特征属性，是翻译的依据。</a:t>
            </a:r>
            <a:endParaRPr sz="3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3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400">
              <a:latin typeface="宋体"/>
              <a:cs typeface="宋体"/>
            </a:endParaRPr>
          </a:p>
          <a:p>
            <a:pPr marL="1029335">
              <a:lnSpc>
                <a:spcPct val="100000"/>
              </a:lnSpc>
              <a:spcBef>
                <a:spcPts val="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记录于符号表中（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namelist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dirty="0" sz="3000" spc="-5" b="1">
                <a:solidFill>
                  <a:srgbClr val="FFFF00"/>
                </a:solidFill>
                <a:latin typeface="宋体"/>
                <a:cs typeface="宋体"/>
              </a:rPr>
              <a:t>整个编译过程中动态地采集、记录、变更、引用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56528" y="26923"/>
            <a:ext cx="13011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符号表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26923"/>
            <a:ext cx="4514215" cy="2675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41400">
              <a:lnSpc>
                <a:spcPct val="100000"/>
              </a:lnSpc>
              <a:spcBef>
                <a:spcPts val="100"/>
              </a:spcBef>
              <a:tabLst>
                <a:tab pos="168465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例如，设有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程序片段</a:t>
            </a:r>
            <a:endParaRPr sz="3200">
              <a:latin typeface="宋体"/>
              <a:cs typeface="宋体"/>
            </a:endParaRPr>
          </a:p>
          <a:p>
            <a:pPr algn="ctr" marR="704215">
              <a:lnSpc>
                <a:spcPct val="100000"/>
              </a:lnSpc>
              <a:spcBef>
                <a:spcPts val="63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algn="ctr" marR="54610">
              <a:lnSpc>
                <a:spcPct val="100000"/>
              </a:lnSpc>
              <a:spcBef>
                <a:spcPts val="60"/>
              </a:spcBef>
              <a:tabLst>
                <a:tab pos="681990" algn="l"/>
                <a:tab pos="113538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int	i ,	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a[4]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  <a:p>
            <a:pPr algn="ctr" marR="1762125">
              <a:lnSpc>
                <a:spcPct val="100000"/>
              </a:lnSpc>
              <a:tabLst>
                <a:tab pos="40576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	…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7294" y="2677109"/>
            <a:ext cx="1128395" cy="8794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i=a[2]</a:t>
            </a:r>
            <a:r>
              <a:rPr dirty="0" sz="2800" spc="-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  <a:p>
            <a:pPr marL="100965">
              <a:lnSpc>
                <a:spcPct val="100000"/>
              </a:lnSpc>
              <a:spcBef>
                <a:spcPts val="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0594" y="3531234"/>
            <a:ext cx="1657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86861" y="2509266"/>
            <a:ext cx="2171700" cy="6156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86861" y="2509266"/>
            <a:ext cx="2171700" cy="615950"/>
          </a:xfrm>
          <a:custGeom>
            <a:avLst/>
            <a:gdLst/>
            <a:ahLst/>
            <a:cxnLst/>
            <a:rect l="l" t="t" r="r" b="b"/>
            <a:pathLst>
              <a:path w="2171700" h="615950">
                <a:moveTo>
                  <a:pt x="0" y="153924"/>
                </a:moveTo>
                <a:lnTo>
                  <a:pt x="1646427" y="153924"/>
                </a:lnTo>
                <a:lnTo>
                  <a:pt x="1646427" y="0"/>
                </a:lnTo>
                <a:lnTo>
                  <a:pt x="2171700" y="307848"/>
                </a:lnTo>
                <a:lnTo>
                  <a:pt x="1646427" y="615696"/>
                </a:lnTo>
                <a:lnTo>
                  <a:pt x="1646427" y="461772"/>
                </a:lnTo>
                <a:lnTo>
                  <a:pt x="0" y="461772"/>
                </a:lnTo>
                <a:lnTo>
                  <a:pt x="0" y="15392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326638" y="3130753"/>
            <a:ext cx="1865630" cy="66929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625475" marR="5080" indent="-613410">
              <a:lnSpc>
                <a:spcPct val="75800"/>
              </a:lnSpc>
              <a:spcBef>
                <a:spcPts val="800"/>
              </a:spcBef>
            </a:pPr>
            <a:r>
              <a:rPr dirty="0" sz="2400" b="1">
                <a:solidFill>
                  <a:srgbClr val="00FFFF"/>
                </a:solidFill>
                <a:latin typeface="宋体"/>
                <a:cs typeface="宋体"/>
              </a:rPr>
              <a:t>词法语法语义 </a:t>
            </a:r>
            <a:r>
              <a:rPr dirty="0" sz="2400" spc="-5" b="1">
                <a:solidFill>
                  <a:srgbClr val="00FFFF"/>
                </a:solidFill>
                <a:latin typeface="宋体"/>
                <a:cs typeface="宋体"/>
              </a:rPr>
              <a:t>分析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58561" y="2001773"/>
            <a:ext cx="3733800" cy="3287395"/>
          </a:xfrm>
          <a:prstGeom prst="rect">
            <a:avLst/>
          </a:prstGeom>
          <a:solidFill>
            <a:srgbClr val="202020"/>
          </a:solidFill>
          <a:ln w="38100">
            <a:solidFill>
              <a:srgbClr val="B0D7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3590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i,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00"/>
                </a:solidFill>
                <a:latin typeface="Lucida Sans Unicode"/>
                <a:cs typeface="Lucida Sans Unicode"/>
              </a:rPr>
              <a:t>⇒</a:t>
            </a:r>
            <a:r>
              <a:rPr dirty="0" sz="2800" b="1">
                <a:solidFill>
                  <a:srgbClr val="FFFF00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符号表</a:t>
            </a:r>
            <a:endParaRPr sz="2800">
              <a:latin typeface="宋体"/>
              <a:cs typeface="宋体"/>
            </a:endParaRPr>
          </a:p>
          <a:p>
            <a:pPr marL="91440">
              <a:lnSpc>
                <a:spcPct val="100000"/>
              </a:lnSpc>
              <a:spcBef>
                <a:spcPts val="1019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i.type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10" b="1">
                <a:solidFill>
                  <a:srgbClr val="FFFF00"/>
                </a:solidFill>
                <a:latin typeface="Cambria Math"/>
                <a:cs typeface="Cambria Math"/>
              </a:rPr>
              <a:t>⇒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符号表</a:t>
            </a:r>
            <a:endParaRPr sz="2800">
              <a:latin typeface="宋体"/>
              <a:cs typeface="宋体"/>
            </a:endParaRPr>
          </a:p>
          <a:p>
            <a:pPr marL="91440">
              <a:lnSpc>
                <a:spcPct val="100000"/>
              </a:lnSpc>
              <a:spcBef>
                <a:spcPts val="101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a.type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10" b="1">
                <a:solidFill>
                  <a:srgbClr val="FFFF00"/>
                </a:solidFill>
                <a:latin typeface="Cambria Math"/>
                <a:cs typeface="Cambria Math"/>
              </a:rPr>
              <a:t>⇒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符号表</a:t>
            </a:r>
            <a:endParaRPr sz="2800">
              <a:latin typeface="宋体"/>
              <a:cs typeface="宋体"/>
            </a:endParaRPr>
          </a:p>
          <a:p>
            <a:pPr marL="91440">
              <a:lnSpc>
                <a:spcPct val="100000"/>
              </a:lnSpc>
              <a:spcBef>
                <a:spcPts val="113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a.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维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2400" spc="-42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FFFF00"/>
                </a:solidFill>
                <a:latin typeface="Lucida Sans Unicode"/>
                <a:cs typeface="Lucida Sans Unicode"/>
              </a:rPr>
              <a:t>⇒</a:t>
            </a:r>
            <a:r>
              <a:rPr dirty="0" sz="2800" b="1">
                <a:solidFill>
                  <a:srgbClr val="FFFF00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符号表</a:t>
            </a:r>
            <a:endParaRPr sz="2800">
              <a:latin typeface="宋体"/>
              <a:cs typeface="宋体"/>
            </a:endParaRPr>
          </a:p>
          <a:p>
            <a:pPr marL="91440">
              <a:lnSpc>
                <a:spcPts val="3660"/>
              </a:lnSpc>
              <a:spcBef>
                <a:spcPts val="115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a.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每维大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小</a:t>
            </a:r>
            <a:r>
              <a:rPr dirty="0" sz="2400" spc="-42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FFFF00"/>
                </a:solidFill>
                <a:latin typeface="Lucida Sans Unicode"/>
                <a:cs typeface="Lucida Sans Unicode"/>
              </a:rPr>
              <a:t>⇒</a:t>
            </a:r>
            <a:r>
              <a:rPr dirty="0" sz="2800" spc="-5" b="1">
                <a:solidFill>
                  <a:srgbClr val="FFFF00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符号表</a:t>
            </a:r>
            <a:endParaRPr sz="2800">
              <a:latin typeface="宋体"/>
              <a:cs typeface="宋体"/>
            </a:endParaRPr>
          </a:p>
          <a:p>
            <a:pPr marL="318135">
              <a:lnSpc>
                <a:spcPts val="3180"/>
              </a:lnSpc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……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77874" y="5020817"/>
            <a:ext cx="3619500" cy="1629410"/>
          </a:xfrm>
          <a:custGeom>
            <a:avLst/>
            <a:gdLst/>
            <a:ahLst/>
            <a:cxnLst/>
            <a:rect l="l" t="t" r="r" b="b"/>
            <a:pathLst>
              <a:path w="3619500" h="1629409">
                <a:moveTo>
                  <a:pt x="0" y="1629155"/>
                </a:moveTo>
                <a:lnTo>
                  <a:pt x="3619500" y="1629155"/>
                </a:lnTo>
                <a:lnTo>
                  <a:pt x="3619500" y="0"/>
                </a:lnTo>
                <a:lnTo>
                  <a:pt x="0" y="0"/>
                </a:lnTo>
                <a:lnTo>
                  <a:pt x="0" y="1629155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77874" y="5020817"/>
            <a:ext cx="3619500" cy="1629410"/>
          </a:xfrm>
          <a:custGeom>
            <a:avLst/>
            <a:gdLst/>
            <a:ahLst/>
            <a:cxnLst/>
            <a:rect l="l" t="t" r="r" b="b"/>
            <a:pathLst>
              <a:path w="3619500" h="1629409">
                <a:moveTo>
                  <a:pt x="0" y="1629155"/>
                </a:moveTo>
                <a:lnTo>
                  <a:pt x="3619500" y="1629155"/>
                </a:lnTo>
                <a:lnTo>
                  <a:pt x="3619500" y="0"/>
                </a:lnTo>
                <a:lnTo>
                  <a:pt x="0" y="0"/>
                </a:lnTo>
                <a:lnTo>
                  <a:pt x="0" y="1629155"/>
                </a:lnTo>
                <a:close/>
              </a:path>
            </a:pathLst>
          </a:custGeom>
          <a:ln w="38100">
            <a:solidFill>
              <a:srgbClr val="B0D7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472819" y="4880236"/>
            <a:ext cx="2511425" cy="1755139"/>
          </a:xfrm>
          <a:prstGeom prst="rect">
            <a:avLst/>
          </a:prstGeom>
        </p:spPr>
        <p:txBody>
          <a:bodyPr wrap="square" lIns="0" tIns="1625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80"/>
              </a:spcBef>
            </a:pPr>
            <a:r>
              <a:rPr dirty="0" sz="2800" spc="-5" b="1">
                <a:latin typeface="宋体"/>
                <a:cs typeface="宋体"/>
              </a:rPr>
              <a:t>类型检查；</a:t>
            </a:r>
            <a:endParaRPr sz="2800">
              <a:latin typeface="宋体"/>
              <a:cs typeface="宋体"/>
            </a:endParaRPr>
          </a:p>
          <a:p>
            <a:pPr marR="5080">
              <a:lnSpc>
                <a:spcPct val="135000"/>
              </a:lnSpc>
              <a:spcBef>
                <a:spcPts val="5"/>
              </a:spcBef>
              <a:tabLst>
                <a:tab pos="1830070" algn="l"/>
              </a:tabLst>
            </a:pPr>
            <a:r>
              <a:rPr dirty="0" sz="2800" spc="-5" b="1">
                <a:latin typeface="宋体"/>
                <a:cs typeface="宋体"/>
              </a:rPr>
              <a:t>数组越界检查； </a:t>
            </a:r>
            <a:r>
              <a:rPr dirty="0" sz="2800" spc="-5" b="1">
                <a:latin typeface="宋体"/>
                <a:cs typeface="宋体"/>
              </a:rPr>
              <a:t>回填</a:t>
            </a:r>
            <a:r>
              <a:rPr dirty="0" sz="2800" spc="-5" b="1">
                <a:latin typeface="Times New Roman"/>
                <a:cs typeface="Times New Roman"/>
              </a:rPr>
              <a:t>addr;	…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897373" y="5289041"/>
            <a:ext cx="1097279" cy="9418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897373" y="5289041"/>
            <a:ext cx="1097280" cy="942340"/>
          </a:xfrm>
          <a:custGeom>
            <a:avLst/>
            <a:gdLst/>
            <a:ahLst/>
            <a:cxnLst/>
            <a:rect l="l" t="t" r="r" b="b"/>
            <a:pathLst>
              <a:path w="1097279" h="942339">
                <a:moveTo>
                  <a:pt x="0" y="676770"/>
                </a:moveTo>
                <a:lnTo>
                  <a:pt x="315595" y="941832"/>
                </a:lnTo>
                <a:lnTo>
                  <a:pt x="315595" y="796239"/>
                </a:lnTo>
                <a:lnTo>
                  <a:pt x="465963" y="796239"/>
                </a:lnTo>
                <a:lnTo>
                  <a:pt x="523418" y="794667"/>
                </a:lnTo>
                <a:lnTo>
                  <a:pt x="579429" y="790044"/>
                </a:lnTo>
                <a:lnTo>
                  <a:pt x="633774" y="782504"/>
                </a:lnTo>
                <a:lnTo>
                  <a:pt x="686229" y="772183"/>
                </a:lnTo>
                <a:lnTo>
                  <a:pt x="736571" y="759217"/>
                </a:lnTo>
                <a:lnTo>
                  <a:pt x="784577" y="743741"/>
                </a:lnTo>
                <a:lnTo>
                  <a:pt x="830025" y="725892"/>
                </a:lnTo>
                <a:lnTo>
                  <a:pt x="872691" y="705805"/>
                </a:lnTo>
                <a:lnTo>
                  <a:pt x="912352" y="683615"/>
                </a:lnTo>
                <a:lnTo>
                  <a:pt x="948785" y="659459"/>
                </a:lnTo>
                <a:lnTo>
                  <a:pt x="981767" y="633472"/>
                </a:lnTo>
                <a:lnTo>
                  <a:pt x="1011075" y="605790"/>
                </a:lnTo>
                <a:lnTo>
                  <a:pt x="1036486" y="576548"/>
                </a:lnTo>
                <a:lnTo>
                  <a:pt x="1074725" y="513928"/>
                </a:lnTo>
                <a:lnTo>
                  <a:pt x="1094699" y="446699"/>
                </a:lnTo>
                <a:lnTo>
                  <a:pt x="1097279" y="411695"/>
                </a:lnTo>
                <a:lnTo>
                  <a:pt x="1097279" y="0"/>
                </a:lnTo>
                <a:lnTo>
                  <a:pt x="812800" y="0"/>
                </a:lnTo>
                <a:lnTo>
                  <a:pt x="812800" y="411695"/>
                </a:lnTo>
                <a:lnTo>
                  <a:pt x="807210" y="437868"/>
                </a:lnTo>
                <a:lnTo>
                  <a:pt x="765438" y="485182"/>
                </a:lnTo>
                <a:lnTo>
                  <a:pt x="731216" y="505502"/>
                </a:lnTo>
                <a:lnTo>
                  <a:pt x="689410" y="523049"/>
                </a:lnTo>
                <a:lnTo>
                  <a:pt x="641001" y="537412"/>
                </a:lnTo>
                <a:lnTo>
                  <a:pt x="586970" y="548180"/>
                </a:lnTo>
                <a:lnTo>
                  <a:pt x="528297" y="554943"/>
                </a:lnTo>
                <a:lnTo>
                  <a:pt x="465963" y="557288"/>
                </a:lnTo>
                <a:lnTo>
                  <a:pt x="315595" y="557288"/>
                </a:lnTo>
                <a:lnTo>
                  <a:pt x="315595" y="411695"/>
                </a:lnTo>
                <a:lnTo>
                  <a:pt x="0" y="67677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5012512"/>
            <a:ext cx="243078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75285" indent="-363220">
              <a:lnSpc>
                <a:spcPct val="100000"/>
              </a:lnSpc>
              <a:spcBef>
                <a:spcPts val="105"/>
              </a:spcBef>
              <a:buClr>
                <a:srgbClr val="66FFFF"/>
              </a:buClr>
              <a:buSzPct val="139062"/>
              <a:buFont typeface="Wingdings"/>
              <a:buChar char=""/>
              <a:tabLst>
                <a:tab pos="37592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符号表作用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65397" y="4271350"/>
            <a:ext cx="4308475" cy="1889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718820">
              <a:lnSpc>
                <a:spcPct val="1474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收集标识符属性信息；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语义检查依据；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代码生成时地址分配依据。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63061" y="4744973"/>
            <a:ext cx="248920" cy="1270000"/>
          </a:xfrm>
          <a:custGeom>
            <a:avLst/>
            <a:gdLst/>
            <a:ahLst/>
            <a:cxnLst/>
            <a:rect l="l" t="t" r="r" b="b"/>
            <a:pathLst>
              <a:path w="248920" h="1270000">
                <a:moveTo>
                  <a:pt x="248412" y="1269492"/>
                </a:moveTo>
                <a:lnTo>
                  <a:pt x="200072" y="1261150"/>
                </a:lnTo>
                <a:lnTo>
                  <a:pt x="160591" y="1238400"/>
                </a:lnTo>
                <a:lnTo>
                  <a:pt x="133969" y="1204657"/>
                </a:lnTo>
                <a:lnTo>
                  <a:pt x="124205" y="1163332"/>
                </a:lnTo>
                <a:lnTo>
                  <a:pt x="124205" y="740917"/>
                </a:lnTo>
                <a:lnTo>
                  <a:pt x="114442" y="699575"/>
                </a:lnTo>
                <a:lnTo>
                  <a:pt x="87820" y="665829"/>
                </a:lnTo>
                <a:lnTo>
                  <a:pt x="48339" y="643084"/>
                </a:lnTo>
                <a:lnTo>
                  <a:pt x="0" y="634745"/>
                </a:lnTo>
                <a:lnTo>
                  <a:pt x="48339" y="626407"/>
                </a:lnTo>
                <a:lnTo>
                  <a:pt x="87820" y="603662"/>
                </a:lnTo>
                <a:lnTo>
                  <a:pt x="114442" y="569916"/>
                </a:lnTo>
                <a:lnTo>
                  <a:pt x="124205" y="528573"/>
                </a:lnTo>
                <a:lnTo>
                  <a:pt x="124205" y="106171"/>
                </a:lnTo>
                <a:lnTo>
                  <a:pt x="133969" y="64829"/>
                </a:lnTo>
                <a:lnTo>
                  <a:pt x="160591" y="31083"/>
                </a:lnTo>
                <a:lnTo>
                  <a:pt x="200072" y="8338"/>
                </a:lnTo>
                <a:lnTo>
                  <a:pt x="248412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55142" y="0"/>
            <a:ext cx="7734934" cy="401701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algn="ctr" marR="367030">
              <a:lnSpc>
                <a:spcPct val="100000"/>
              </a:lnSpc>
              <a:spcBef>
                <a:spcPts val="695"/>
              </a:spcBef>
              <a:tabLst>
                <a:tab pos="642620" algn="l"/>
                <a:tab pos="4343400" algn="l"/>
                <a:tab pos="48514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6.4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符号表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00">
              <a:latin typeface="宋体"/>
              <a:cs typeface="宋体"/>
            </a:endParaRPr>
          </a:p>
          <a:p>
            <a:pPr marL="412750" indent="-344170">
              <a:lnSpc>
                <a:spcPct val="100000"/>
              </a:lnSpc>
              <a:buClr>
                <a:srgbClr val="66FFFF"/>
              </a:buClr>
              <a:buSzPct val="129687"/>
              <a:buFont typeface="Wingdings"/>
              <a:buChar char=""/>
              <a:tabLst>
                <a:tab pos="413384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符号表</a:t>
            </a:r>
            <a:endParaRPr sz="3200">
              <a:latin typeface="宋体"/>
              <a:cs typeface="宋体"/>
            </a:endParaRPr>
          </a:p>
          <a:p>
            <a:pPr marL="69215" marR="5080" indent="711835">
              <a:lnSpc>
                <a:spcPct val="130000"/>
              </a:lnSpc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存放源程序中有关标识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的属性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信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息的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数据结构。</a:t>
            </a:r>
            <a:endParaRPr sz="3200">
              <a:latin typeface="宋体"/>
              <a:cs typeface="宋体"/>
            </a:endParaRPr>
          </a:p>
          <a:p>
            <a:pPr marL="475615" indent="-463550">
              <a:lnSpc>
                <a:spcPct val="100000"/>
              </a:lnSpc>
              <a:spcBef>
                <a:spcPts val="2380"/>
              </a:spcBef>
              <a:buClr>
                <a:srgbClr val="66FFFF"/>
              </a:buClr>
              <a:buSzPct val="139062"/>
              <a:buFont typeface="Wingdings"/>
              <a:buChar char=""/>
              <a:tabLst>
                <a:tab pos="47625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符号表结构</a:t>
            </a:r>
            <a:endParaRPr sz="3200">
              <a:latin typeface="宋体"/>
              <a:cs typeface="宋体"/>
            </a:endParaRPr>
          </a:p>
          <a:p>
            <a:pPr algn="ctr" marL="717550">
              <a:lnSpc>
                <a:spcPct val="100000"/>
              </a:lnSpc>
              <a:spcBef>
                <a:spcPts val="2340"/>
              </a:spcBef>
              <a:tabLst>
                <a:tab pos="3427729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名字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域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属性信息域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24761" y="3391661"/>
            <a:ext cx="6096000" cy="0"/>
          </a:xfrm>
          <a:custGeom>
            <a:avLst/>
            <a:gdLst/>
            <a:ahLst/>
            <a:cxnLst/>
            <a:rect l="l" t="t" r="r" b="b"/>
            <a:pathLst>
              <a:path w="6096000" h="0">
                <a:moveTo>
                  <a:pt x="0" y="0"/>
                </a:moveTo>
                <a:lnTo>
                  <a:pt x="6095999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24761" y="3970782"/>
            <a:ext cx="6096000" cy="0"/>
          </a:xfrm>
          <a:custGeom>
            <a:avLst/>
            <a:gdLst/>
            <a:ahLst/>
            <a:cxnLst/>
            <a:rect l="l" t="t" r="r" b="b"/>
            <a:pathLst>
              <a:path w="6096000" h="0">
                <a:moveTo>
                  <a:pt x="0" y="0"/>
                </a:moveTo>
                <a:lnTo>
                  <a:pt x="6095999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24761" y="3391661"/>
            <a:ext cx="0" cy="579120"/>
          </a:xfrm>
          <a:custGeom>
            <a:avLst/>
            <a:gdLst/>
            <a:ahLst/>
            <a:cxnLst/>
            <a:rect l="l" t="t" r="r" b="b"/>
            <a:pathLst>
              <a:path w="0" h="579120">
                <a:moveTo>
                  <a:pt x="0" y="0"/>
                </a:moveTo>
                <a:lnTo>
                  <a:pt x="0" y="579119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72000" y="3390900"/>
            <a:ext cx="0" cy="579120"/>
          </a:xfrm>
          <a:custGeom>
            <a:avLst/>
            <a:gdLst/>
            <a:ahLst/>
            <a:cxnLst/>
            <a:rect l="l" t="t" r="r" b="b"/>
            <a:pathLst>
              <a:path w="0" h="579120">
                <a:moveTo>
                  <a:pt x="0" y="0"/>
                </a:moveTo>
                <a:lnTo>
                  <a:pt x="0" y="57911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620761" y="3391661"/>
            <a:ext cx="0" cy="579120"/>
          </a:xfrm>
          <a:custGeom>
            <a:avLst/>
            <a:gdLst/>
            <a:ahLst/>
            <a:cxnLst/>
            <a:rect l="l" t="t" r="r" b="b"/>
            <a:pathLst>
              <a:path w="0" h="579120">
                <a:moveTo>
                  <a:pt x="0" y="0"/>
                </a:moveTo>
                <a:lnTo>
                  <a:pt x="0" y="579119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72761" y="3391661"/>
            <a:ext cx="0" cy="546100"/>
          </a:xfrm>
          <a:custGeom>
            <a:avLst/>
            <a:gdLst/>
            <a:ahLst/>
            <a:cxnLst/>
            <a:rect l="l" t="t" r="r" b="b"/>
            <a:pathLst>
              <a:path w="0" h="546100">
                <a:moveTo>
                  <a:pt x="0" y="0"/>
                </a:moveTo>
                <a:lnTo>
                  <a:pt x="0" y="545592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5440" y="0"/>
            <a:ext cx="8787765" cy="5688965"/>
          </a:xfrm>
          <a:prstGeom prst="rect">
            <a:avLst/>
          </a:prstGeom>
        </p:spPr>
        <p:txBody>
          <a:bodyPr wrap="square" lIns="0" tIns="142240" rIns="0" bIns="0" rtlCol="0" vert="horz">
            <a:spAutoFit/>
          </a:bodyPr>
          <a:lstStyle/>
          <a:p>
            <a:pPr marL="1079500">
              <a:lnSpc>
                <a:spcPct val="100000"/>
              </a:lnSpc>
              <a:spcBef>
                <a:spcPts val="1120"/>
              </a:spcBef>
              <a:tabLst>
                <a:tab pos="1722755" algn="l"/>
                <a:tab pos="5423535" algn="l"/>
                <a:tab pos="59309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6.4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符号表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宋体"/>
              <a:cs typeface="宋体"/>
            </a:endParaRPr>
          </a:p>
          <a:p>
            <a:pPr marL="329565" indent="-317500">
              <a:lnSpc>
                <a:spcPct val="100000"/>
              </a:lnSpc>
              <a:buClr>
                <a:srgbClr val="66FFFF"/>
              </a:buClr>
              <a:buSzPct val="114062"/>
              <a:buFont typeface="Wingdings"/>
              <a:buChar char=""/>
              <a:tabLst>
                <a:tab pos="33020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常见标识符类的主要属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性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与作用</a:t>
            </a:r>
            <a:endParaRPr sz="3200">
              <a:latin typeface="宋体"/>
              <a:cs typeface="宋体"/>
            </a:endParaRPr>
          </a:p>
          <a:p>
            <a:pPr lvl="1" marL="730885" indent="-509270">
              <a:lnSpc>
                <a:spcPct val="100000"/>
              </a:lnSpc>
              <a:spcBef>
                <a:spcPts val="2160"/>
              </a:spcBef>
              <a:buFont typeface="Times New Roman"/>
              <a:buAutoNum type="arabicPeriod"/>
              <a:tabLst>
                <a:tab pos="730885" algn="l"/>
                <a:tab pos="73152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标识符名。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作用：</a:t>
            </a: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查重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考虑作用域和可视性前</a:t>
            </a:r>
            <a:r>
              <a:rPr dirty="0" sz="2800" b="1">
                <a:solidFill>
                  <a:srgbClr val="00FFFF"/>
                </a:solidFill>
                <a:latin typeface="宋体"/>
                <a:cs typeface="宋体"/>
              </a:rPr>
              <a:t>提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lvl="1" marL="768985" indent="-509270">
              <a:lnSpc>
                <a:spcPct val="100000"/>
              </a:lnSpc>
              <a:spcBef>
                <a:spcPts val="1415"/>
              </a:spcBef>
              <a:buFont typeface="Times New Roman"/>
              <a:buAutoNum type="arabicPeriod"/>
              <a:tabLst>
                <a:tab pos="768985" algn="l"/>
                <a:tab pos="76962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类型。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作用：</a:t>
            </a: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存储空间分配；可施加运算的检</a:t>
            </a:r>
            <a:r>
              <a:rPr dirty="0" sz="2800" spc="5" b="1">
                <a:solidFill>
                  <a:srgbClr val="00FFFF"/>
                </a:solidFill>
                <a:latin typeface="宋体"/>
                <a:cs typeface="宋体"/>
              </a:rPr>
              <a:t>查</a:t>
            </a:r>
            <a:r>
              <a:rPr dirty="0" sz="2800" spc="-15" b="1">
                <a:solidFill>
                  <a:srgbClr val="00FFFF"/>
                </a:solidFill>
                <a:latin typeface="宋体"/>
                <a:cs typeface="宋体"/>
              </a:rPr>
              <a:t>等</a:t>
            </a:r>
            <a:endParaRPr sz="28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FFFFFF"/>
              </a:buClr>
              <a:buFont typeface="Times New Roman"/>
              <a:buAutoNum type="arabicPeriod"/>
            </a:pPr>
            <a:endParaRPr sz="2750">
              <a:latin typeface="宋体"/>
              <a:cs typeface="宋体"/>
            </a:endParaRPr>
          </a:p>
          <a:p>
            <a:pPr lvl="1" marL="750570" indent="-509905">
              <a:lnSpc>
                <a:spcPct val="100000"/>
              </a:lnSpc>
              <a:buFont typeface="Times New Roman"/>
              <a:buAutoNum type="arabicPeriod"/>
              <a:tabLst>
                <a:tab pos="749935" algn="l"/>
                <a:tab pos="751205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存储类别。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作用：</a:t>
            </a: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提供语义处理、检查、存储</a:t>
            </a:r>
            <a:endParaRPr sz="2800">
              <a:latin typeface="宋体"/>
              <a:cs typeface="宋体"/>
            </a:endParaRPr>
          </a:p>
          <a:p>
            <a:pPr marL="2730500">
              <a:lnSpc>
                <a:spcPct val="100000"/>
              </a:lnSpc>
              <a:spcBef>
                <a:spcPts val="1015"/>
              </a:spcBef>
            </a:pP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分配的依据。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900">
              <a:latin typeface="宋体"/>
              <a:cs typeface="宋体"/>
            </a:endParaRPr>
          </a:p>
          <a:p>
            <a:pPr lvl="1" marL="743585" indent="-407670">
              <a:lnSpc>
                <a:spcPct val="100000"/>
              </a:lnSpc>
              <a:buFont typeface="Times New Roman"/>
              <a:buAutoNum type="arabicPeriod" startAt="4"/>
              <a:tabLst>
                <a:tab pos="74422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作用域、可视性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作用：</a:t>
            </a: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动态活动环境支持，提</a:t>
            </a:r>
            <a:endParaRPr sz="2800">
              <a:latin typeface="宋体"/>
              <a:cs typeface="宋体"/>
            </a:endParaRPr>
          </a:p>
          <a:p>
            <a:pPr marL="5049520">
              <a:lnSpc>
                <a:spcPct val="100000"/>
              </a:lnSpc>
              <a:spcBef>
                <a:spcPts val="1015"/>
              </a:spcBef>
            </a:pP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供量所在层次；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67309"/>
            <a:ext cx="7167880" cy="6057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第</a:t>
            </a:r>
            <a:r>
              <a:rPr dirty="0" sz="3800" spc="-975">
                <a:solidFill>
                  <a:srgbClr val="FFFF00"/>
                </a:solidFill>
                <a:latin typeface="黑体"/>
                <a:cs typeface="黑体"/>
              </a:rPr>
              <a:t> </a:t>
            </a:r>
            <a:r>
              <a:rPr dirty="0" sz="3800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r>
              <a:rPr dirty="0" sz="3800" spc="-25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章</a:t>
            </a:r>
            <a:r>
              <a:rPr dirty="0" sz="3800" spc="905">
                <a:solidFill>
                  <a:srgbClr val="FFFF00"/>
                </a:solidFill>
                <a:latin typeface="黑体"/>
                <a:cs typeface="黑体"/>
              </a:rPr>
              <a:t> </a:t>
            </a:r>
            <a:r>
              <a:rPr dirty="0" sz="3800" spc="5">
                <a:solidFill>
                  <a:srgbClr val="FFFF00"/>
                </a:solidFill>
                <a:latin typeface="黑体"/>
                <a:cs typeface="黑体"/>
              </a:rPr>
              <a:t>语义</a:t>
            </a:r>
            <a:r>
              <a:rPr dirty="0" sz="3800" spc="-5">
                <a:solidFill>
                  <a:srgbClr val="FFFF00"/>
                </a:solidFill>
                <a:latin typeface="黑体"/>
                <a:cs typeface="黑体"/>
              </a:rPr>
              <a:t>分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析</a:t>
            </a:r>
            <a:r>
              <a:rPr dirty="0" sz="3800" spc="-5">
                <a:solidFill>
                  <a:srgbClr val="FFFF00"/>
                </a:solidFill>
                <a:latin typeface="黑体"/>
                <a:cs typeface="黑体"/>
              </a:rPr>
              <a:t>与中间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代</a:t>
            </a:r>
            <a:r>
              <a:rPr dirty="0" sz="3800" spc="-5">
                <a:solidFill>
                  <a:srgbClr val="FFFF00"/>
                </a:solidFill>
                <a:latin typeface="黑体"/>
                <a:cs typeface="黑体"/>
              </a:rPr>
              <a:t>码生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成</a:t>
            </a:r>
            <a:endParaRPr sz="38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1148" y="1525117"/>
            <a:ext cx="6164580" cy="4519295"/>
          </a:xfrm>
          <a:prstGeom prst="rect">
            <a:avLst/>
          </a:prstGeom>
        </p:spPr>
        <p:txBody>
          <a:bodyPr wrap="square" lIns="0" tIns="232410" rIns="0" bIns="0" rtlCol="0" vert="horz">
            <a:spAutoFit/>
          </a:bodyPr>
          <a:lstStyle/>
          <a:p>
            <a:pPr lvl="1" marL="1251585" indent="-1227455">
              <a:lnSpc>
                <a:spcPct val="100000"/>
              </a:lnSpc>
              <a:spcBef>
                <a:spcPts val="1830"/>
              </a:spcBef>
              <a:buFont typeface="Times New Roman"/>
              <a:buAutoNum type="arabicPeriod"/>
              <a:tabLst>
                <a:tab pos="1251585" algn="l"/>
                <a:tab pos="1252220" algn="l"/>
              </a:tabLst>
            </a:pPr>
            <a:r>
              <a:rPr dirty="0" sz="3500" b="1">
                <a:solidFill>
                  <a:srgbClr val="FFFF66"/>
                </a:solidFill>
                <a:latin typeface="宋体"/>
                <a:cs typeface="宋体"/>
              </a:rPr>
              <a:t>语义分析综述</a:t>
            </a:r>
            <a:endParaRPr sz="3500">
              <a:latin typeface="宋体"/>
              <a:cs typeface="宋体"/>
            </a:endParaRPr>
          </a:p>
          <a:p>
            <a:pPr lvl="1" marL="1238885" indent="-1226820">
              <a:lnSpc>
                <a:spcPct val="100000"/>
              </a:lnSpc>
              <a:spcBef>
                <a:spcPts val="1730"/>
              </a:spcBef>
              <a:buFont typeface="Times New Roman"/>
              <a:buAutoNum type="arabicPeriod"/>
              <a:tabLst>
                <a:tab pos="1238885" algn="l"/>
                <a:tab pos="1239520" algn="l"/>
              </a:tabLst>
            </a:pPr>
            <a:r>
              <a:rPr dirty="0" sz="3500" b="1">
                <a:solidFill>
                  <a:srgbClr val="FFFF66"/>
                </a:solidFill>
                <a:latin typeface="宋体"/>
                <a:cs typeface="宋体"/>
              </a:rPr>
              <a:t>语法制导翻译与属性文法</a:t>
            </a:r>
            <a:endParaRPr sz="3500">
              <a:latin typeface="宋体"/>
              <a:cs typeface="宋体"/>
            </a:endParaRPr>
          </a:p>
          <a:p>
            <a:pPr lvl="1" marL="1234440" indent="-1222375">
              <a:lnSpc>
                <a:spcPct val="100000"/>
              </a:lnSpc>
              <a:spcBef>
                <a:spcPts val="1680"/>
              </a:spcBef>
              <a:buFont typeface="Times New Roman"/>
              <a:buAutoNum type="arabicPeriod"/>
              <a:tabLst>
                <a:tab pos="1234440" algn="l"/>
                <a:tab pos="1235075" algn="l"/>
              </a:tabLst>
            </a:pPr>
            <a:r>
              <a:rPr dirty="0" sz="3500" b="1">
                <a:solidFill>
                  <a:srgbClr val="FFFF66"/>
                </a:solidFill>
                <a:latin typeface="宋体"/>
                <a:cs typeface="宋体"/>
              </a:rPr>
              <a:t>中间语言</a:t>
            </a:r>
            <a:endParaRPr sz="3500">
              <a:latin typeface="宋体"/>
              <a:cs typeface="宋体"/>
            </a:endParaRPr>
          </a:p>
          <a:p>
            <a:pPr lvl="1" marL="1238885" indent="-1226820">
              <a:lnSpc>
                <a:spcPct val="100000"/>
              </a:lnSpc>
              <a:spcBef>
                <a:spcPts val="1680"/>
              </a:spcBef>
              <a:buFont typeface="Times New Roman"/>
              <a:buAutoNum type="arabicPeriod"/>
              <a:tabLst>
                <a:tab pos="1238885" algn="l"/>
                <a:tab pos="1239520" algn="l"/>
              </a:tabLst>
            </a:pPr>
            <a:r>
              <a:rPr dirty="0" sz="3500" b="1">
                <a:solidFill>
                  <a:srgbClr val="FFFF66"/>
                </a:solidFill>
                <a:latin typeface="宋体"/>
                <a:cs typeface="宋体"/>
              </a:rPr>
              <a:t>符号表</a:t>
            </a:r>
            <a:endParaRPr sz="3500">
              <a:latin typeface="宋体"/>
              <a:cs typeface="宋体"/>
            </a:endParaRPr>
          </a:p>
          <a:p>
            <a:pPr lvl="1" marL="1238885" indent="-1226820">
              <a:lnSpc>
                <a:spcPct val="100000"/>
              </a:lnSpc>
              <a:spcBef>
                <a:spcPts val="1680"/>
              </a:spcBef>
              <a:buFont typeface="Times New Roman"/>
              <a:buAutoNum type="arabicPeriod"/>
              <a:tabLst>
                <a:tab pos="1238885" algn="l"/>
                <a:tab pos="1239520" algn="l"/>
              </a:tabLst>
            </a:pPr>
            <a:r>
              <a:rPr dirty="0" sz="3500" spc="-5" b="1">
                <a:solidFill>
                  <a:srgbClr val="FFFFFF"/>
                </a:solidFill>
                <a:latin typeface="宋体"/>
                <a:cs typeface="宋体"/>
              </a:rPr>
              <a:t>类型检</a:t>
            </a: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查</a:t>
            </a:r>
            <a:r>
              <a:rPr dirty="0" sz="3500" spc="-5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自</a:t>
            </a:r>
            <a:r>
              <a:rPr dirty="0" sz="3500" spc="-5" b="1">
                <a:solidFill>
                  <a:srgbClr val="FFFFFF"/>
                </a:solidFill>
                <a:latin typeface="宋体"/>
                <a:cs typeface="宋体"/>
              </a:rPr>
              <a:t>学</a:t>
            </a:r>
            <a:r>
              <a:rPr dirty="0" sz="3500" spc="-1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3500">
              <a:latin typeface="宋体"/>
              <a:cs typeface="宋体"/>
            </a:endParaRPr>
          </a:p>
          <a:p>
            <a:pPr lvl="1" marL="1238885" indent="-1226820">
              <a:lnSpc>
                <a:spcPct val="100000"/>
              </a:lnSpc>
              <a:spcBef>
                <a:spcPts val="1680"/>
              </a:spcBef>
              <a:buFont typeface="Times New Roman"/>
              <a:buAutoNum type="arabicPeriod"/>
              <a:tabLst>
                <a:tab pos="1238885" algn="l"/>
                <a:tab pos="1239520" algn="l"/>
              </a:tabLst>
            </a:pP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语句翻译与中间代码生成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9330" y="5045964"/>
            <a:ext cx="5980430" cy="91440"/>
          </a:xfrm>
          <a:custGeom>
            <a:avLst/>
            <a:gdLst/>
            <a:ahLst/>
            <a:cxnLst/>
            <a:rect l="l" t="t" r="r" b="b"/>
            <a:pathLst>
              <a:path w="5980430" h="91439">
                <a:moveTo>
                  <a:pt x="5980277" y="63500"/>
                </a:moveTo>
                <a:lnTo>
                  <a:pt x="165" y="78740"/>
                </a:lnTo>
                <a:lnTo>
                  <a:pt x="203" y="91440"/>
                </a:lnTo>
                <a:lnTo>
                  <a:pt x="5980404" y="76200"/>
                </a:lnTo>
                <a:lnTo>
                  <a:pt x="5980277" y="63500"/>
                </a:lnTo>
                <a:close/>
              </a:path>
              <a:path w="5980430" h="91439">
                <a:moveTo>
                  <a:pt x="5980277" y="25400"/>
                </a:moveTo>
                <a:lnTo>
                  <a:pt x="63" y="40640"/>
                </a:lnTo>
                <a:lnTo>
                  <a:pt x="139" y="66040"/>
                </a:lnTo>
                <a:lnTo>
                  <a:pt x="5980277" y="50800"/>
                </a:lnTo>
                <a:lnTo>
                  <a:pt x="5980277" y="25400"/>
                </a:lnTo>
                <a:close/>
              </a:path>
              <a:path w="5980430" h="91439">
                <a:moveTo>
                  <a:pt x="5980150" y="0"/>
                </a:moveTo>
                <a:lnTo>
                  <a:pt x="0" y="15240"/>
                </a:lnTo>
                <a:lnTo>
                  <a:pt x="38" y="27940"/>
                </a:lnTo>
                <a:lnTo>
                  <a:pt x="5980150" y="12700"/>
                </a:lnTo>
                <a:lnTo>
                  <a:pt x="59801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367016" y="5475732"/>
            <a:ext cx="1663064" cy="722630"/>
          </a:xfrm>
          <a:custGeom>
            <a:avLst/>
            <a:gdLst/>
            <a:ahLst/>
            <a:cxnLst/>
            <a:rect l="l" t="t" r="r" b="b"/>
            <a:pathLst>
              <a:path w="1663065" h="722629">
                <a:moveTo>
                  <a:pt x="415543" y="0"/>
                </a:moveTo>
                <a:lnTo>
                  <a:pt x="0" y="361188"/>
                </a:lnTo>
                <a:lnTo>
                  <a:pt x="415543" y="722376"/>
                </a:lnTo>
                <a:lnTo>
                  <a:pt x="415543" y="541782"/>
                </a:lnTo>
                <a:lnTo>
                  <a:pt x="1662683" y="541782"/>
                </a:lnTo>
                <a:lnTo>
                  <a:pt x="1662683" y="180594"/>
                </a:lnTo>
                <a:lnTo>
                  <a:pt x="415543" y="180594"/>
                </a:lnTo>
                <a:lnTo>
                  <a:pt x="415543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67016" y="5475732"/>
            <a:ext cx="1663064" cy="722630"/>
          </a:xfrm>
          <a:custGeom>
            <a:avLst/>
            <a:gdLst/>
            <a:ahLst/>
            <a:cxnLst/>
            <a:rect l="l" t="t" r="r" b="b"/>
            <a:pathLst>
              <a:path w="1663065" h="722629">
                <a:moveTo>
                  <a:pt x="0" y="361188"/>
                </a:moveTo>
                <a:lnTo>
                  <a:pt x="415543" y="0"/>
                </a:lnTo>
                <a:lnTo>
                  <a:pt x="415543" y="180594"/>
                </a:lnTo>
                <a:lnTo>
                  <a:pt x="1662683" y="180594"/>
                </a:lnTo>
                <a:lnTo>
                  <a:pt x="1662683" y="541782"/>
                </a:lnTo>
                <a:lnTo>
                  <a:pt x="415543" y="541782"/>
                </a:lnTo>
                <a:lnTo>
                  <a:pt x="415543" y="722376"/>
                </a:lnTo>
                <a:lnTo>
                  <a:pt x="0" y="361188"/>
                </a:lnTo>
                <a:close/>
              </a:path>
            </a:pathLst>
          </a:custGeom>
          <a:ln w="5715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4642" y="0"/>
            <a:ext cx="8015605" cy="235521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424180">
              <a:lnSpc>
                <a:spcPct val="100000"/>
              </a:lnSpc>
              <a:spcBef>
                <a:spcPts val="545"/>
              </a:spcBef>
              <a:tabLst>
                <a:tab pos="1068070" algn="l"/>
                <a:tab pos="4387850" algn="l"/>
                <a:tab pos="489648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语句翻译与中间代码生成</a:t>
            </a:r>
            <a:endParaRPr sz="2000">
              <a:latin typeface="宋体"/>
              <a:cs typeface="宋体"/>
            </a:endParaRPr>
          </a:p>
          <a:p>
            <a:pPr marL="329565" indent="-317500">
              <a:lnSpc>
                <a:spcPct val="100000"/>
              </a:lnSpc>
              <a:spcBef>
                <a:spcPts val="1300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33020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语句翻译设计要点</a:t>
            </a:r>
            <a:endParaRPr sz="3200">
              <a:latin typeface="宋体"/>
              <a:cs typeface="宋体"/>
            </a:endParaRPr>
          </a:p>
          <a:p>
            <a:pPr lvl="1" marL="1327150" indent="-508000">
              <a:lnSpc>
                <a:spcPct val="100000"/>
              </a:lnSpc>
              <a:spcBef>
                <a:spcPts val="509"/>
              </a:spcBef>
              <a:buFont typeface="Times New Roman"/>
              <a:buAutoNum type="arabicPeriod"/>
              <a:tabLst>
                <a:tab pos="1327150" algn="l"/>
                <a:tab pos="1327785" algn="l"/>
              </a:tabLst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根据语义确定语句的目标结</a:t>
            </a:r>
            <a:r>
              <a:rPr dirty="0" sz="3200" spc="760" b="1">
                <a:solidFill>
                  <a:srgbClr val="FFFFFF"/>
                </a:solidFill>
                <a:latin typeface="宋体"/>
                <a:cs typeface="宋体"/>
              </a:rPr>
              <a:t>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marL="869950">
              <a:lnSpc>
                <a:spcPct val="100000"/>
              </a:lnSpc>
              <a:spcBef>
                <a:spcPts val="2165"/>
              </a:spcBef>
              <a:tabLst>
                <a:tab pos="391795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源语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句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	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中间及目标代码的布局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07741" y="1887473"/>
            <a:ext cx="1013332" cy="4130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95219" y="1990725"/>
            <a:ext cx="75056" cy="2065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20161" y="1990725"/>
            <a:ext cx="37528" cy="2065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07741" y="1887473"/>
            <a:ext cx="1013460" cy="413384"/>
          </a:xfrm>
          <a:custGeom>
            <a:avLst/>
            <a:gdLst/>
            <a:ahLst/>
            <a:cxnLst/>
            <a:rect l="l" t="t" r="r" b="b"/>
            <a:pathLst>
              <a:path w="1013460" h="413385">
                <a:moveTo>
                  <a:pt x="713105" y="0"/>
                </a:moveTo>
                <a:lnTo>
                  <a:pt x="713105" y="103250"/>
                </a:lnTo>
                <a:lnTo>
                  <a:pt x="0" y="103250"/>
                </a:lnTo>
                <a:lnTo>
                  <a:pt x="0" y="309752"/>
                </a:lnTo>
                <a:lnTo>
                  <a:pt x="713105" y="309752"/>
                </a:lnTo>
                <a:lnTo>
                  <a:pt x="713105" y="413003"/>
                </a:lnTo>
                <a:lnTo>
                  <a:pt x="1013332" y="206501"/>
                </a:lnTo>
                <a:lnTo>
                  <a:pt x="713105" y="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895219" y="1990725"/>
            <a:ext cx="75565" cy="207010"/>
          </a:xfrm>
          <a:custGeom>
            <a:avLst/>
            <a:gdLst/>
            <a:ahLst/>
            <a:cxnLst/>
            <a:rect l="l" t="t" r="r" b="b"/>
            <a:pathLst>
              <a:path w="75564" h="207010">
                <a:moveTo>
                  <a:pt x="0" y="206501"/>
                </a:moveTo>
                <a:lnTo>
                  <a:pt x="75056" y="206501"/>
                </a:lnTo>
                <a:lnTo>
                  <a:pt x="75056" y="0"/>
                </a:lnTo>
                <a:lnTo>
                  <a:pt x="0" y="0"/>
                </a:lnTo>
                <a:lnTo>
                  <a:pt x="0" y="20650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838926" y="1971675"/>
            <a:ext cx="0" cy="245110"/>
          </a:xfrm>
          <a:custGeom>
            <a:avLst/>
            <a:gdLst/>
            <a:ahLst/>
            <a:cxnLst/>
            <a:rect l="l" t="t" r="r" b="b"/>
            <a:pathLst>
              <a:path w="0" h="245110">
                <a:moveTo>
                  <a:pt x="0" y="0"/>
                </a:moveTo>
                <a:lnTo>
                  <a:pt x="0" y="244601"/>
                </a:lnTo>
              </a:path>
            </a:pathLst>
          </a:custGeom>
          <a:ln w="75628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34340" y="4341063"/>
            <a:ext cx="237934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535305" algn="l"/>
                <a:tab pos="1008380" algn="l"/>
                <a:tab pos="1978660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If	E	then	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baseline="-15873" sz="3150" spc="7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baseline="-15873" sz="31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124961" y="2934461"/>
            <a:ext cx="439420" cy="3525520"/>
          </a:xfrm>
          <a:custGeom>
            <a:avLst/>
            <a:gdLst/>
            <a:ahLst/>
            <a:cxnLst/>
            <a:rect l="l" t="t" r="r" b="b"/>
            <a:pathLst>
              <a:path w="439420" h="3525520">
                <a:moveTo>
                  <a:pt x="438912" y="3525012"/>
                </a:moveTo>
                <a:lnTo>
                  <a:pt x="399476" y="3520272"/>
                </a:lnTo>
                <a:lnTo>
                  <a:pt x="362354" y="3506606"/>
                </a:lnTo>
                <a:lnTo>
                  <a:pt x="328167" y="3484846"/>
                </a:lnTo>
                <a:lnTo>
                  <a:pt x="297537" y="3455822"/>
                </a:lnTo>
                <a:lnTo>
                  <a:pt x="271083" y="3420364"/>
                </a:lnTo>
                <a:lnTo>
                  <a:pt x="249427" y="3379304"/>
                </a:lnTo>
                <a:lnTo>
                  <a:pt x="233190" y="3333472"/>
                </a:lnTo>
                <a:lnTo>
                  <a:pt x="222993" y="3283699"/>
                </a:lnTo>
                <a:lnTo>
                  <a:pt x="219455" y="3230816"/>
                </a:lnTo>
                <a:lnTo>
                  <a:pt x="219455" y="2056764"/>
                </a:lnTo>
                <a:lnTo>
                  <a:pt x="215918" y="2003859"/>
                </a:lnTo>
                <a:lnTo>
                  <a:pt x="205721" y="1954070"/>
                </a:lnTo>
                <a:lnTo>
                  <a:pt x="189483" y="1908226"/>
                </a:lnTo>
                <a:lnTo>
                  <a:pt x="167828" y="1867159"/>
                </a:lnTo>
                <a:lnTo>
                  <a:pt x="141374" y="1831697"/>
                </a:lnTo>
                <a:lnTo>
                  <a:pt x="110743" y="1802670"/>
                </a:lnTo>
                <a:lnTo>
                  <a:pt x="76557" y="1780910"/>
                </a:lnTo>
                <a:lnTo>
                  <a:pt x="39435" y="1767245"/>
                </a:lnTo>
                <a:lnTo>
                  <a:pt x="0" y="1762506"/>
                </a:lnTo>
                <a:lnTo>
                  <a:pt x="39435" y="1757766"/>
                </a:lnTo>
                <a:lnTo>
                  <a:pt x="76557" y="1744101"/>
                </a:lnTo>
                <a:lnTo>
                  <a:pt x="110743" y="1722341"/>
                </a:lnTo>
                <a:lnTo>
                  <a:pt x="141374" y="1693314"/>
                </a:lnTo>
                <a:lnTo>
                  <a:pt x="167828" y="1657852"/>
                </a:lnTo>
                <a:lnTo>
                  <a:pt x="189483" y="1616785"/>
                </a:lnTo>
                <a:lnTo>
                  <a:pt x="205721" y="1570941"/>
                </a:lnTo>
                <a:lnTo>
                  <a:pt x="215918" y="1521152"/>
                </a:lnTo>
                <a:lnTo>
                  <a:pt x="219455" y="1468246"/>
                </a:lnTo>
                <a:lnTo>
                  <a:pt x="219455" y="294259"/>
                </a:lnTo>
                <a:lnTo>
                  <a:pt x="222993" y="241353"/>
                </a:lnTo>
                <a:lnTo>
                  <a:pt x="233190" y="191564"/>
                </a:lnTo>
                <a:lnTo>
                  <a:pt x="249427" y="145720"/>
                </a:lnTo>
                <a:lnTo>
                  <a:pt x="271083" y="104653"/>
                </a:lnTo>
                <a:lnTo>
                  <a:pt x="297537" y="69191"/>
                </a:lnTo>
                <a:lnTo>
                  <a:pt x="328167" y="40164"/>
                </a:lnTo>
                <a:lnTo>
                  <a:pt x="362354" y="18404"/>
                </a:lnTo>
                <a:lnTo>
                  <a:pt x="399476" y="4739"/>
                </a:lnTo>
                <a:lnTo>
                  <a:pt x="438912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358640" y="3683508"/>
            <a:ext cx="1786255" cy="748665"/>
          </a:xfrm>
          <a:custGeom>
            <a:avLst/>
            <a:gdLst/>
            <a:ahLst/>
            <a:cxnLst/>
            <a:rect l="l" t="t" r="r" b="b"/>
            <a:pathLst>
              <a:path w="1786254" h="748664">
                <a:moveTo>
                  <a:pt x="0" y="748283"/>
                </a:moveTo>
                <a:lnTo>
                  <a:pt x="1786127" y="748283"/>
                </a:lnTo>
                <a:lnTo>
                  <a:pt x="1786127" y="0"/>
                </a:lnTo>
                <a:lnTo>
                  <a:pt x="0" y="0"/>
                </a:lnTo>
                <a:lnTo>
                  <a:pt x="0" y="748283"/>
                </a:lnTo>
                <a:close/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358640" y="4418076"/>
            <a:ext cx="1786255" cy="749935"/>
          </a:xfrm>
          <a:custGeom>
            <a:avLst/>
            <a:gdLst/>
            <a:ahLst/>
            <a:cxnLst/>
            <a:rect l="l" t="t" r="r" b="b"/>
            <a:pathLst>
              <a:path w="1786254" h="749935">
                <a:moveTo>
                  <a:pt x="0" y="749807"/>
                </a:moveTo>
                <a:lnTo>
                  <a:pt x="1786127" y="749807"/>
                </a:lnTo>
                <a:lnTo>
                  <a:pt x="1786127" y="0"/>
                </a:lnTo>
                <a:lnTo>
                  <a:pt x="0" y="0"/>
                </a:lnTo>
                <a:lnTo>
                  <a:pt x="0" y="749807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358640" y="5154167"/>
            <a:ext cx="0" cy="899160"/>
          </a:xfrm>
          <a:custGeom>
            <a:avLst/>
            <a:gdLst/>
            <a:ahLst/>
            <a:cxnLst/>
            <a:rect l="l" t="t" r="r" b="b"/>
            <a:pathLst>
              <a:path w="0" h="899160">
                <a:moveTo>
                  <a:pt x="0" y="0"/>
                </a:moveTo>
                <a:lnTo>
                  <a:pt x="0" y="899159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138671" y="5154167"/>
            <a:ext cx="0" cy="899160"/>
          </a:xfrm>
          <a:custGeom>
            <a:avLst/>
            <a:gdLst/>
            <a:ahLst/>
            <a:cxnLst/>
            <a:rect l="l" t="t" r="r" b="b"/>
            <a:pathLst>
              <a:path w="0" h="899160">
                <a:moveTo>
                  <a:pt x="0" y="0"/>
                </a:moveTo>
                <a:lnTo>
                  <a:pt x="0" y="899159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387597" y="5160721"/>
            <a:ext cx="67056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E.f: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84034" y="3812488"/>
            <a:ext cx="149352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Goto</a:t>
            </a:r>
            <a:r>
              <a:rPr dirty="0" sz="3200" spc="-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E.f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899403" y="4020311"/>
            <a:ext cx="946785" cy="76200"/>
          </a:xfrm>
          <a:custGeom>
            <a:avLst/>
            <a:gdLst/>
            <a:ahLst/>
            <a:cxnLst/>
            <a:rect l="l" t="t" r="r" b="b"/>
            <a:pathLst>
              <a:path w="946784" h="76200">
                <a:moveTo>
                  <a:pt x="870203" y="0"/>
                </a:moveTo>
                <a:lnTo>
                  <a:pt x="870203" y="76200"/>
                </a:lnTo>
                <a:lnTo>
                  <a:pt x="933703" y="44450"/>
                </a:lnTo>
                <a:lnTo>
                  <a:pt x="882903" y="44450"/>
                </a:lnTo>
                <a:lnTo>
                  <a:pt x="882903" y="31750"/>
                </a:lnTo>
                <a:lnTo>
                  <a:pt x="933703" y="31750"/>
                </a:lnTo>
                <a:lnTo>
                  <a:pt x="870203" y="0"/>
                </a:lnTo>
                <a:close/>
              </a:path>
              <a:path w="946784" h="76200">
                <a:moveTo>
                  <a:pt x="870203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870203" y="44450"/>
                </a:lnTo>
                <a:lnTo>
                  <a:pt x="870203" y="31750"/>
                </a:lnTo>
                <a:close/>
              </a:path>
              <a:path w="946784" h="76200">
                <a:moveTo>
                  <a:pt x="933703" y="31750"/>
                </a:moveTo>
                <a:lnTo>
                  <a:pt x="882903" y="31750"/>
                </a:lnTo>
                <a:lnTo>
                  <a:pt x="882903" y="44450"/>
                </a:lnTo>
                <a:lnTo>
                  <a:pt x="933703" y="44450"/>
                </a:lnTo>
                <a:lnTo>
                  <a:pt x="946403" y="38100"/>
                </a:lnTo>
                <a:lnTo>
                  <a:pt x="933703" y="31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358640" y="2933700"/>
            <a:ext cx="1786255" cy="749935"/>
          </a:xfrm>
          <a:custGeom>
            <a:avLst/>
            <a:gdLst/>
            <a:ahLst/>
            <a:cxnLst/>
            <a:rect l="l" t="t" r="r" b="b"/>
            <a:pathLst>
              <a:path w="1786254" h="749935">
                <a:moveTo>
                  <a:pt x="0" y="749807"/>
                </a:moveTo>
                <a:lnTo>
                  <a:pt x="1786127" y="749807"/>
                </a:lnTo>
                <a:lnTo>
                  <a:pt x="1786127" y="0"/>
                </a:lnTo>
                <a:lnTo>
                  <a:pt x="0" y="0"/>
                </a:lnTo>
                <a:lnTo>
                  <a:pt x="0" y="749807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541011" y="2773273"/>
            <a:ext cx="1350010" cy="310261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>
              <a:lnSpc>
                <a:spcPct val="152200"/>
              </a:lnSpc>
              <a:spcBef>
                <a:spcPts val="19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E.code 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测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endParaRPr sz="3200">
              <a:latin typeface="Times New Roman"/>
              <a:cs typeface="Times New Roman"/>
            </a:endParaRPr>
          </a:p>
          <a:p>
            <a:pPr marL="190500">
              <a:lnSpc>
                <a:spcPct val="100000"/>
              </a:lnSpc>
              <a:spcBef>
                <a:spcPts val="2760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7840" y="0"/>
            <a:ext cx="8038465" cy="5076825"/>
          </a:xfrm>
          <a:prstGeom prst="rect">
            <a:avLst/>
          </a:prstGeom>
        </p:spPr>
        <p:txBody>
          <a:bodyPr wrap="square" lIns="0" tIns="150495" rIns="0" bIns="0" rtlCol="0" vert="horz">
            <a:spAutoFit/>
          </a:bodyPr>
          <a:lstStyle/>
          <a:p>
            <a:pPr marL="291465">
              <a:lnSpc>
                <a:spcPct val="100000"/>
              </a:lnSpc>
              <a:spcBef>
                <a:spcPts val="1185"/>
              </a:spcBef>
              <a:tabLst>
                <a:tab pos="934719" algn="l"/>
                <a:tab pos="4254500" algn="l"/>
                <a:tab pos="47637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语句翻译与中间代码生成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50">
              <a:latin typeface="宋体"/>
              <a:cs typeface="宋体"/>
            </a:endParaRPr>
          </a:p>
          <a:p>
            <a:pPr marL="476250" indent="-464184">
              <a:lnSpc>
                <a:spcPct val="100000"/>
              </a:lnSpc>
              <a:buClr>
                <a:srgbClr val="66FFFF"/>
              </a:buClr>
              <a:buSzPct val="123611"/>
              <a:buFont typeface="Wingdings"/>
              <a:buChar char=""/>
              <a:tabLst>
                <a:tab pos="476884" algn="l"/>
              </a:tabLst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语句翻译设计要点</a:t>
            </a:r>
            <a:endParaRPr sz="3600">
              <a:latin typeface="宋体"/>
              <a:cs typeface="宋体"/>
            </a:endParaRPr>
          </a:p>
          <a:p>
            <a:pPr lvl="1" marL="1436370" indent="-509270">
              <a:lnSpc>
                <a:spcPct val="100000"/>
              </a:lnSpc>
              <a:spcBef>
                <a:spcPts val="1360"/>
              </a:spcBef>
              <a:buFont typeface="Times New Roman"/>
              <a:buAutoNum type="arabicPeriod"/>
              <a:tabLst>
                <a:tab pos="1435735" algn="l"/>
                <a:tab pos="143637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根据语义确定语句的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标结</a:t>
            </a:r>
            <a:r>
              <a:rPr dirty="0" sz="3200" spc="765" b="1">
                <a:solidFill>
                  <a:srgbClr val="FFFFFF"/>
                </a:solidFill>
                <a:latin typeface="宋体"/>
                <a:cs typeface="宋体"/>
              </a:rPr>
              <a:t>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lvl="1" marL="1498600" indent="-610235">
              <a:lnSpc>
                <a:spcPct val="100000"/>
              </a:lnSpc>
              <a:spcBef>
                <a:spcPts val="2295"/>
              </a:spcBef>
              <a:buFont typeface="Times New Roman"/>
              <a:buAutoNum type="arabicPeriod"/>
              <a:tabLst>
                <a:tab pos="1498600" algn="l"/>
                <a:tab pos="1499235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确定中间代</a:t>
            </a:r>
            <a:r>
              <a:rPr dirty="0" sz="3200" spc="785" b="1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lvl="1" marL="1491615" marR="5080" indent="-610235">
              <a:lnSpc>
                <a:spcPct val="130000"/>
              </a:lnSpc>
              <a:spcBef>
                <a:spcPts val="1160"/>
              </a:spcBef>
              <a:buFont typeface="Times New Roman"/>
              <a:buAutoNum type="arabicPeriod"/>
              <a:tabLst>
                <a:tab pos="1491615" algn="l"/>
                <a:tab pos="149225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根据目标结构和语义规则，构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造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语义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子程序（转换翻译程序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3200" spc="-84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lvl="1" marL="1479550" indent="-610235">
              <a:lnSpc>
                <a:spcPct val="100000"/>
              </a:lnSpc>
              <a:spcBef>
                <a:spcPts val="2360"/>
              </a:spcBef>
              <a:buFont typeface="Times New Roman"/>
              <a:buAutoNum type="arabicPeriod"/>
              <a:tabLst>
                <a:tab pos="1479550" algn="l"/>
                <a:tab pos="1480185" algn="l"/>
              </a:tabLst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涉及的实现技术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3744" y="1001395"/>
            <a:ext cx="6436995" cy="60515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97915" algn="l"/>
              </a:tabLst>
            </a:pPr>
            <a:r>
              <a:rPr dirty="0" sz="3800">
                <a:solidFill>
                  <a:srgbClr val="FFFF00"/>
                </a:solidFill>
                <a:latin typeface="Times New Roman"/>
                <a:cs typeface="Times New Roman"/>
              </a:rPr>
              <a:t>6.6	</a:t>
            </a:r>
            <a:r>
              <a:rPr dirty="0" sz="3800">
                <a:solidFill>
                  <a:srgbClr val="FFFF00"/>
                </a:solidFill>
                <a:latin typeface="黑体"/>
                <a:cs typeface="黑体"/>
              </a:rPr>
              <a:t>语句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翻译与中</a:t>
            </a: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间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代码生</a:t>
            </a: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成</a:t>
            </a:r>
            <a:endParaRPr sz="3800">
              <a:latin typeface="黑体"/>
              <a:cs typeface="黑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85750" rIns="0" bIns="0" rtlCol="0" vert="horz">
            <a:spAutoFit/>
          </a:bodyPr>
          <a:lstStyle/>
          <a:p>
            <a:pPr lvl="2" marL="1731645" indent="-1336675">
              <a:lnSpc>
                <a:spcPct val="100000"/>
              </a:lnSpc>
              <a:spcBef>
                <a:spcPts val="2250"/>
              </a:spcBef>
              <a:buFont typeface="Times New Roman"/>
              <a:buAutoNum type="arabicPeriod"/>
              <a:tabLst>
                <a:tab pos="1732280" algn="l"/>
                <a:tab pos="1732914" algn="l"/>
              </a:tabLst>
            </a:pP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说明类语句的翻译</a:t>
            </a:r>
            <a:endParaRPr sz="3500">
              <a:latin typeface="宋体"/>
              <a:cs typeface="宋体"/>
            </a:endParaRPr>
          </a:p>
          <a:p>
            <a:pPr lvl="2" marL="1719580" indent="-1336675">
              <a:lnSpc>
                <a:spcPct val="100000"/>
              </a:lnSpc>
              <a:spcBef>
                <a:spcPts val="2150"/>
              </a:spcBef>
              <a:buFont typeface="Times New Roman"/>
              <a:buAutoNum type="arabicPeriod"/>
              <a:tabLst>
                <a:tab pos="1720214" algn="l"/>
                <a:tab pos="1720850" algn="l"/>
              </a:tabLst>
            </a:pP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赋值语句与表达式翻译</a:t>
            </a:r>
            <a:endParaRPr sz="3500">
              <a:latin typeface="宋体"/>
              <a:cs typeface="宋体"/>
            </a:endParaRPr>
          </a:p>
          <a:p>
            <a:pPr lvl="2" marL="1719580" indent="-1336675">
              <a:lnSpc>
                <a:spcPct val="100000"/>
              </a:lnSpc>
              <a:spcBef>
                <a:spcPts val="2105"/>
              </a:spcBef>
              <a:buFont typeface="Times New Roman"/>
              <a:buAutoNum type="arabicPeriod"/>
              <a:tabLst>
                <a:tab pos="1720214" algn="l"/>
                <a:tab pos="1720850" algn="l"/>
              </a:tabLst>
            </a:pP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控制流类语句翻译</a:t>
            </a:r>
            <a:endParaRPr sz="3500">
              <a:latin typeface="宋体"/>
              <a:cs typeface="宋体"/>
            </a:endParaRPr>
          </a:p>
          <a:p>
            <a:pPr lvl="2" marL="1719580" indent="-1336675">
              <a:lnSpc>
                <a:spcPct val="100000"/>
              </a:lnSpc>
              <a:spcBef>
                <a:spcPts val="2100"/>
              </a:spcBef>
              <a:buFont typeface="Times New Roman"/>
              <a:buAutoNum type="arabicPeriod"/>
              <a:tabLst>
                <a:tab pos="1720214" algn="l"/>
                <a:tab pos="1720850" algn="l"/>
              </a:tabLst>
            </a:pP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数组说明与数组元素引用</a:t>
            </a:r>
            <a:r>
              <a:rPr dirty="0" sz="35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翻译</a:t>
            </a:r>
            <a:endParaRPr sz="3500">
              <a:latin typeface="宋体"/>
              <a:cs typeface="宋体"/>
            </a:endParaRPr>
          </a:p>
          <a:p>
            <a:pPr lvl="2" marL="1719580" indent="-1336675">
              <a:lnSpc>
                <a:spcPct val="100000"/>
              </a:lnSpc>
              <a:spcBef>
                <a:spcPts val="2100"/>
              </a:spcBef>
              <a:buFont typeface="Times New Roman"/>
              <a:buAutoNum type="arabicPeriod"/>
              <a:tabLst>
                <a:tab pos="1720214" algn="l"/>
                <a:tab pos="1720850" algn="l"/>
              </a:tabLst>
            </a:pP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过程、函数说明和调用的</a:t>
            </a:r>
            <a:r>
              <a:rPr dirty="0" sz="3500" spc="-10" b="1">
                <a:solidFill>
                  <a:srgbClr val="FFFFFF"/>
                </a:solidFill>
                <a:latin typeface="宋体"/>
                <a:cs typeface="宋体"/>
              </a:rPr>
              <a:t>翻译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76731" y="26923"/>
            <a:ext cx="73145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975735" algn="l"/>
                <a:tab pos="44843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语句翻译与中间代码生成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36435" y="1856232"/>
            <a:ext cx="1661160" cy="722630"/>
          </a:xfrm>
          <a:custGeom>
            <a:avLst/>
            <a:gdLst/>
            <a:ahLst/>
            <a:cxnLst/>
            <a:rect l="l" t="t" r="r" b="b"/>
            <a:pathLst>
              <a:path w="1661159" h="722630">
                <a:moveTo>
                  <a:pt x="415544" y="0"/>
                </a:moveTo>
                <a:lnTo>
                  <a:pt x="0" y="361188"/>
                </a:lnTo>
                <a:lnTo>
                  <a:pt x="415544" y="722376"/>
                </a:lnTo>
                <a:lnTo>
                  <a:pt x="415544" y="541781"/>
                </a:lnTo>
                <a:lnTo>
                  <a:pt x="1661160" y="541781"/>
                </a:lnTo>
                <a:lnTo>
                  <a:pt x="1661160" y="180593"/>
                </a:lnTo>
                <a:lnTo>
                  <a:pt x="415544" y="180593"/>
                </a:lnTo>
                <a:lnTo>
                  <a:pt x="415544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536435" y="1856232"/>
            <a:ext cx="1661160" cy="722630"/>
          </a:xfrm>
          <a:custGeom>
            <a:avLst/>
            <a:gdLst/>
            <a:ahLst/>
            <a:cxnLst/>
            <a:rect l="l" t="t" r="r" b="b"/>
            <a:pathLst>
              <a:path w="1661159" h="722630">
                <a:moveTo>
                  <a:pt x="0" y="361188"/>
                </a:moveTo>
                <a:lnTo>
                  <a:pt x="415544" y="0"/>
                </a:lnTo>
                <a:lnTo>
                  <a:pt x="415544" y="180593"/>
                </a:lnTo>
                <a:lnTo>
                  <a:pt x="1661160" y="180593"/>
                </a:lnTo>
                <a:lnTo>
                  <a:pt x="1661160" y="541781"/>
                </a:lnTo>
                <a:lnTo>
                  <a:pt x="415544" y="541781"/>
                </a:lnTo>
                <a:lnTo>
                  <a:pt x="415544" y="722376"/>
                </a:lnTo>
                <a:lnTo>
                  <a:pt x="0" y="361188"/>
                </a:lnTo>
                <a:close/>
              </a:path>
            </a:pathLst>
          </a:custGeom>
          <a:ln w="5715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247" y="26923"/>
            <a:ext cx="8330565" cy="6177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  <a:tab pos="4292600" algn="l"/>
                <a:tab pos="56959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6.6.1</a:t>
            </a:r>
            <a:r>
              <a:rPr dirty="0" u="sng" sz="2000" spc="45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说明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00">
              <a:latin typeface="宋体"/>
              <a:cs typeface="宋体"/>
            </a:endParaRPr>
          </a:p>
          <a:p>
            <a:pPr marL="474980" indent="-317500">
              <a:lnSpc>
                <a:spcPct val="100000"/>
              </a:lnSpc>
              <a:buClr>
                <a:srgbClr val="66FFFF"/>
              </a:buClr>
              <a:buSzPct val="114062"/>
              <a:buFont typeface="Wingdings"/>
              <a:buChar char=""/>
              <a:tabLst>
                <a:tab pos="47561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说明类语句</a:t>
            </a:r>
            <a:endParaRPr sz="3200">
              <a:latin typeface="宋体"/>
              <a:cs typeface="宋体"/>
            </a:endParaRPr>
          </a:p>
          <a:p>
            <a:pPr marL="158115" marR="204470" indent="202565">
              <a:lnSpc>
                <a:spcPct val="130000"/>
              </a:lnSpc>
              <a:spcBef>
                <a:spcPts val="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语言中定义性信息，一般不产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生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目标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码，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其作用是辅助完成编译。</a:t>
            </a:r>
            <a:endParaRPr sz="3200">
              <a:latin typeface="宋体"/>
              <a:cs typeface="宋体"/>
            </a:endParaRPr>
          </a:p>
          <a:p>
            <a:pPr marL="2037714" marR="156210" indent="-1422400">
              <a:lnSpc>
                <a:spcPct val="130100"/>
              </a:lnSpc>
              <a:spcBef>
                <a:spcPts val="1970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例如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spc="-3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spc="-5" b="1">
                <a:solidFill>
                  <a:srgbClr val="00FFFF"/>
                </a:solidFill>
                <a:latin typeface="宋体"/>
                <a:cs typeface="宋体"/>
              </a:rPr>
              <a:t>常量说明，变量说明，</a:t>
            </a:r>
            <a:r>
              <a:rPr dirty="0" sz="3200" spc="-15" b="1">
                <a:solidFill>
                  <a:srgbClr val="00FFFF"/>
                </a:solidFill>
                <a:latin typeface="宋体"/>
                <a:cs typeface="宋体"/>
              </a:rPr>
              <a:t>类</a:t>
            </a:r>
            <a:r>
              <a:rPr dirty="0" sz="3200" spc="-5" b="1">
                <a:solidFill>
                  <a:srgbClr val="00FFFF"/>
                </a:solidFill>
                <a:latin typeface="宋体"/>
                <a:cs typeface="宋体"/>
              </a:rPr>
              <a:t>型说</a:t>
            </a:r>
            <a:r>
              <a:rPr dirty="0" sz="3200" spc="-15" b="1">
                <a:solidFill>
                  <a:srgbClr val="00FFFF"/>
                </a:solidFill>
                <a:latin typeface="宋体"/>
                <a:cs typeface="宋体"/>
              </a:rPr>
              <a:t>明</a:t>
            </a:r>
            <a:r>
              <a:rPr dirty="0" sz="3200" spc="-10" b="1">
                <a:solidFill>
                  <a:srgbClr val="00FFFF"/>
                </a:solidFill>
                <a:latin typeface="宋体"/>
                <a:cs typeface="宋体"/>
              </a:rPr>
              <a:t>，  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对象说明，标号说</a:t>
            </a:r>
            <a:r>
              <a:rPr dirty="0" sz="3200" spc="770" b="1">
                <a:solidFill>
                  <a:srgbClr val="00FFFF"/>
                </a:solidFill>
                <a:latin typeface="宋体"/>
                <a:cs typeface="宋体"/>
              </a:rPr>
              <a:t>明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……</a:t>
            </a:r>
            <a:endParaRPr sz="3200">
              <a:latin typeface="Times New Roman"/>
              <a:cs typeface="Times New Roman"/>
            </a:endParaRPr>
          </a:p>
          <a:p>
            <a:pPr marL="474980" indent="-317500">
              <a:lnSpc>
                <a:spcPct val="100000"/>
              </a:lnSpc>
              <a:spcBef>
                <a:spcPts val="2570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475615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说明类语句的处理</a:t>
            </a:r>
            <a:endParaRPr sz="3200">
              <a:latin typeface="宋体"/>
              <a:cs typeface="宋体"/>
            </a:endParaRPr>
          </a:p>
          <a:p>
            <a:pPr marL="158115" marR="5080" indent="812165">
              <a:lnSpc>
                <a:spcPct val="130000"/>
              </a:lnSpc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相关说明的属性信息填入符号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，提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供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语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义检查和存储分配的依据。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41173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3275" y="26923"/>
            <a:ext cx="39185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6050" algn="l"/>
              </a:tabLst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6.6.1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说明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01521" y="2279141"/>
            <a:ext cx="4841240" cy="2439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3600" spc="-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常量定义语句的翻译</a:t>
            </a:r>
            <a:endParaRPr sz="3600">
              <a:latin typeface="宋体"/>
              <a:cs typeface="宋体"/>
            </a:endParaRPr>
          </a:p>
          <a:p>
            <a:pPr marL="12700" marR="349250">
              <a:lnSpc>
                <a:spcPct val="170000"/>
              </a:lnSpc>
              <a:tabLst>
                <a:tab pos="814069" algn="l"/>
              </a:tabLst>
            </a:pP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二</a:t>
            </a: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.	</a:t>
            </a: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简单说明类语句 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三</a:t>
            </a: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.	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复合类型说明语句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41605">
              <a:lnSpc>
                <a:spcPct val="100000"/>
              </a:lnSpc>
              <a:spcBef>
                <a:spcPts val="105"/>
              </a:spcBef>
              <a:tabLst>
                <a:tab pos="1539240" algn="l"/>
              </a:tabLst>
            </a:pPr>
            <a:r>
              <a:rPr dirty="0">
                <a:latin typeface="Times New Roman"/>
                <a:cs typeface="Times New Roman"/>
              </a:rPr>
              <a:t>6.6.1	</a:t>
            </a:r>
            <a:r>
              <a:rPr dirty="0" spc="-5"/>
              <a:t>说明类语句的翻译</a:t>
            </a:r>
          </a:p>
        </p:txBody>
      </p:sp>
      <p:sp>
        <p:nvSpPr>
          <p:cNvPr id="8" name="object 8"/>
          <p:cNvSpPr/>
          <p:nvPr/>
        </p:nvSpPr>
        <p:spPr>
          <a:xfrm>
            <a:off x="6536435" y="2215895"/>
            <a:ext cx="1661160" cy="722630"/>
          </a:xfrm>
          <a:custGeom>
            <a:avLst/>
            <a:gdLst/>
            <a:ahLst/>
            <a:cxnLst/>
            <a:rect l="l" t="t" r="r" b="b"/>
            <a:pathLst>
              <a:path w="1661159" h="722630">
                <a:moveTo>
                  <a:pt x="415544" y="0"/>
                </a:moveTo>
                <a:lnTo>
                  <a:pt x="0" y="361188"/>
                </a:lnTo>
                <a:lnTo>
                  <a:pt x="415544" y="722376"/>
                </a:lnTo>
                <a:lnTo>
                  <a:pt x="415544" y="541781"/>
                </a:lnTo>
                <a:lnTo>
                  <a:pt x="1661160" y="541781"/>
                </a:lnTo>
                <a:lnTo>
                  <a:pt x="1661160" y="180593"/>
                </a:lnTo>
                <a:lnTo>
                  <a:pt x="415544" y="180593"/>
                </a:lnTo>
                <a:lnTo>
                  <a:pt x="415544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536435" y="2215895"/>
            <a:ext cx="1661160" cy="722630"/>
          </a:xfrm>
          <a:custGeom>
            <a:avLst/>
            <a:gdLst/>
            <a:ahLst/>
            <a:cxnLst/>
            <a:rect l="l" t="t" r="r" b="b"/>
            <a:pathLst>
              <a:path w="1661159" h="722630">
                <a:moveTo>
                  <a:pt x="0" y="361188"/>
                </a:moveTo>
                <a:lnTo>
                  <a:pt x="415544" y="0"/>
                </a:lnTo>
                <a:lnTo>
                  <a:pt x="415544" y="180593"/>
                </a:lnTo>
                <a:lnTo>
                  <a:pt x="1661160" y="180593"/>
                </a:lnTo>
                <a:lnTo>
                  <a:pt x="1661160" y="541781"/>
                </a:lnTo>
                <a:lnTo>
                  <a:pt x="415544" y="541781"/>
                </a:lnTo>
                <a:lnTo>
                  <a:pt x="415544" y="722376"/>
                </a:lnTo>
                <a:lnTo>
                  <a:pt x="0" y="361188"/>
                </a:lnTo>
                <a:close/>
              </a:path>
            </a:pathLst>
          </a:custGeom>
          <a:ln w="5715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23757" y="6710689"/>
            <a:ext cx="447040" cy="1974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dirty="0" sz="1400" spc="-10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400" spc="5" b="1">
                <a:solidFill>
                  <a:srgbClr val="FFFFFF"/>
                </a:solidFill>
                <a:latin typeface="Times New Roman"/>
                <a:cs typeface="Times New Roman"/>
              </a:rPr>
              <a:t>44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44839" y="6678574"/>
            <a:ext cx="2038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33247" y="26923"/>
            <a:ext cx="819848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  <a:tab pos="4292600" algn="l"/>
                <a:tab pos="56959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6.6.1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说明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200" y="3595115"/>
            <a:ext cx="8402320" cy="3263265"/>
          </a:xfrm>
          <a:custGeom>
            <a:avLst/>
            <a:gdLst/>
            <a:ahLst/>
            <a:cxnLst/>
            <a:rect l="l" t="t" r="r" b="b"/>
            <a:pathLst>
              <a:path w="8402320" h="3263265">
                <a:moveTo>
                  <a:pt x="8401812" y="3262882"/>
                </a:moveTo>
                <a:lnTo>
                  <a:pt x="8401812" y="0"/>
                </a:lnTo>
                <a:lnTo>
                  <a:pt x="0" y="0"/>
                </a:lnTo>
                <a:lnTo>
                  <a:pt x="0" y="3262882"/>
                </a:lnTo>
                <a:lnTo>
                  <a:pt x="8401812" y="3262882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35940" y="2037080"/>
            <a:ext cx="6955155" cy="47650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2705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&lt;con_list&gt; →</a:t>
            </a:r>
            <a:r>
              <a:rPr dirty="0" sz="32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&lt;con_list&gt;;&lt;CD&gt;</a:t>
            </a:r>
            <a:endParaRPr sz="3200">
              <a:latin typeface="Times New Roman"/>
              <a:cs typeface="Times New Roman"/>
            </a:endParaRPr>
          </a:p>
          <a:p>
            <a:pPr marL="527050">
              <a:lnSpc>
                <a:spcPct val="100000"/>
              </a:lnSpc>
              <a:spcBef>
                <a:spcPts val="19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&lt;con_list&gt; →</a:t>
            </a:r>
            <a:r>
              <a:rPr dirty="0" sz="32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&lt;CD&gt;</a:t>
            </a:r>
            <a:endParaRPr sz="3200">
              <a:latin typeface="Times New Roman"/>
              <a:cs typeface="Times New Roman"/>
            </a:endParaRPr>
          </a:p>
          <a:p>
            <a:pPr marL="1136650">
              <a:lnSpc>
                <a:spcPct val="100000"/>
              </a:lnSpc>
              <a:spcBef>
                <a:spcPts val="190"/>
              </a:spcBef>
              <a:tabLst>
                <a:tab pos="2390775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&lt;CD&gt;	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id=num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3200" b="1">
                <a:solidFill>
                  <a:srgbClr val="550055"/>
                </a:solidFill>
                <a:latin typeface="宋体"/>
                <a:cs typeface="宋体"/>
              </a:rPr>
              <a:t>常量说明语句的语义子程序</a:t>
            </a:r>
            <a:endParaRPr sz="3200">
              <a:latin typeface="宋体"/>
              <a:cs typeface="宋体"/>
            </a:endParaRPr>
          </a:p>
          <a:p>
            <a:pPr marL="724535" marR="5080" indent="-712470">
              <a:lnSpc>
                <a:spcPct val="105000"/>
              </a:lnSpc>
              <a:spcBef>
                <a:spcPts val="1000"/>
              </a:spcBef>
            </a:pPr>
            <a:r>
              <a:rPr dirty="0" sz="3200" b="1">
                <a:latin typeface="Times New Roman"/>
                <a:cs typeface="Times New Roman"/>
              </a:rPr>
              <a:t>{ </a:t>
            </a:r>
            <a:r>
              <a:rPr dirty="0" sz="3200" spc="-5" b="1">
                <a:latin typeface="Times New Roman"/>
                <a:cs typeface="Times New Roman"/>
              </a:rPr>
              <a:t>num.ord=look_con_table(num.lexval);  id.ord=num.ord;</a:t>
            </a:r>
            <a:endParaRPr sz="3200">
              <a:latin typeface="Times New Roman"/>
              <a:cs typeface="Times New Roman"/>
            </a:endParaRPr>
          </a:p>
          <a:p>
            <a:pPr marL="622300" marR="3032125">
              <a:lnSpc>
                <a:spcPct val="105000"/>
              </a:lnSpc>
              <a:spcBef>
                <a:spcPts val="5"/>
              </a:spcBef>
            </a:pPr>
            <a:r>
              <a:rPr dirty="0" sz="3200" spc="-5" b="1">
                <a:latin typeface="Times New Roman"/>
                <a:cs typeface="Times New Roman"/>
              </a:rPr>
              <a:t>id.type=</a:t>
            </a:r>
            <a:r>
              <a:rPr dirty="0" sz="3200" spc="-7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num.type;  id.kind=constant;</a:t>
            </a:r>
            <a:endParaRPr sz="3200">
              <a:latin typeface="Times New Roman"/>
              <a:cs typeface="Times New Roman"/>
            </a:endParaRPr>
          </a:p>
          <a:p>
            <a:pPr marL="215265">
              <a:lnSpc>
                <a:spcPct val="100000"/>
              </a:lnSpc>
              <a:spcBef>
                <a:spcPts val="190"/>
              </a:spcBef>
            </a:pPr>
            <a:r>
              <a:rPr dirty="0" sz="3200" b="1">
                <a:latin typeface="Times New Roman"/>
                <a:cs typeface="Times New Roman"/>
              </a:rPr>
              <a:t>add(id.entry;id.ord; id.type; </a:t>
            </a:r>
            <a:r>
              <a:rPr dirty="0" sz="3200" spc="-5" b="1">
                <a:latin typeface="Times New Roman"/>
                <a:cs typeface="Times New Roman"/>
              </a:rPr>
              <a:t>id.kind)</a:t>
            </a:r>
            <a:r>
              <a:rPr dirty="0" sz="3200" spc="-14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34411" y="4832603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 h="0">
                <a:moveTo>
                  <a:pt x="0" y="0"/>
                </a:moveTo>
                <a:lnTo>
                  <a:pt x="2743200" y="0"/>
                </a:lnTo>
              </a:path>
            </a:pathLst>
          </a:custGeom>
          <a:ln w="57150">
            <a:solidFill>
              <a:srgbClr val="FF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620011" y="6815328"/>
            <a:ext cx="1219200" cy="0"/>
          </a:xfrm>
          <a:custGeom>
            <a:avLst/>
            <a:gdLst/>
            <a:ahLst/>
            <a:cxnLst/>
            <a:rect l="l" t="t" r="r" b="b"/>
            <a:pathLst>
              <a:path w="1219200" h="0">
                <a:moveTo>
                  <a:pt x="0" y="0"/>
                </a:moveTo>
                <a:lnTo>
                  <a:pt x="1219200" y="0"/>
                </a:lnTo>
              </a:path>
            </a:pathLst>
          </a:custGeom>
          <a:ln w="57150">
            <a:solidFill>
              <a:srgbClr val="FF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14350" y="442823"/>
            <a:ext cx="6591934" cy="1595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9065" marR="2284095" indent="-127000">
              <a:lnSpc>
                <a:spcPct val="108600"/>
              </a:lnSpc>
              <a:spcBef>
                <a:spcPts val="100"/>
              </a:spcBef>
            </a:pPr>
            <a:r>
              <a:rPr dirty="0" sz="3200">
                <a:solidFill>
                  <a:srgbClr val="FFFF00"/>
                </a:solidFill>
              </a:rPr>
              <a:t>一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3200" spc="-9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00"/>
                </a:solidFill>
              </a:rPr>
              <a:t>常量定义语句的翻译 </a:t>
            </a:r>
            <a:r>
              <a:rPr dirty="0" sz="3200"/>
              <a:t>常量说明语句的文法</a:t>
            </a:r>
            <a:endParaRPr sz="3200">
              <a:latin typeface="Times New Roman"/>
              <a:cs typeface="Times New Roman"/>
            </a:endParaRPr>
          </a:p>
          <a:p>
            <a:pPr marL="139065">
              <a:lnSpc>
                <a:spcPct val="100000"/>
              </a:lnSpc>
              <a:spcBef>
                <a:spcPts val="180"/>
              </a:spcBef>
            </a:pP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CONST_DEF → CONST</a:t>
            </a:r>
            <a:r>
              <a:rPr dirty="0" sz="3200" spc="-2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&lt;con_list&gt;;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819848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  <a:tab pos="4292600" algn="l"/>
                <a:tab pos="56959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6.6.1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说明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01817" y="2511551"/>
            <a:ext cx="1085088" cy="7780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73090" y="2425096"/>
            <a:ext cx="542543" cy="5762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673090" y="2367549"/>
            <a:ext cx="542543" cy="288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401817" y="2511551"/>
            <a:ext cx="1085215" cy="778510"/>
          </a:xfrm>
          <a:custGeom>
            <a:avLst/>
            <a:gdLst/>
            <a:ahLst/>
            <a:cxnLst/>
            <a:rect l="l" t="t" r="r" b="b"/>
            <a:pathLst>
              <a:path w="1085214" h="778510">
                <a:moveTo>
                  <a:pt x="1085088" y="547497"/>
                </a:moveTo>
                <a:lnTo>
                  <a:pt x="813816" y="547497"/>
                </a:lnTo>
                <a:lnTo>
                  <a:pt x="813816" y="0"/>
                </a:lnTo>
                <a:lnTo>
                  <a:pt x="271272" y="0"/>
                </a:lnTo>
                <a:lnTo>
                  <a:pt x="271272" y="547497"/>
                </a:lnTo>
                <a:lnTo>
                  <a:pt x="0" y="547497"/>
                </a:lnTo>
                <a:lnTo>
                  <a:pt x="542544" y="778001"/>
                </a:lnTo>
                <a:lnTo>
                  <a:pt x="1085088" y="547497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673090" y="2425096"/>
            <a:ext cx="542925" cy="57785"/>
          </a:xfrm>
          <a:custGeom>
            <a:avLst/>
            <a:gdLst/>
            <a:ahLst/>
            <a:cxnLst/>
            <a:rect l="l" t="t" r="r" b="b"/>
            <a:pathLst>
              <a:path w="542925" h="57785">
                <a:moveTo>
                  <a:pt x="0" y="57626"/>
                </a:moveTo>
                <a:lnTo>
                  <a:pt x="542543" y="57626"/>
                </a:lnTo>
                <a:lnTo>
                  <a:pt x="542543" y="0"/>
                </a:lnTo>
                <a:lnTo>
                  <a:pt x="0" y="0"/>
                </a:lnTo>
                <a:lnTo>
                  <a:pt x="0" y="5762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54040" y="2381956"/>
            <a:ext cx="581025" cy="0"/>
          </a:xfrm>
          <a:custGeom>
            <a:avLst/>
            <a:gdLst/>
            <a:ahLst/>
            <a:cxnLst/>
            <a:rect l="l" t="t" r="r" b="b"/>
            <a:pathLst>
              <a:path w="581025" h="0">
                <a:moveTo>
                  <a:pt x="0" y="0"/>
                </a:moveTo>
                <a:lnTo>
                  <a:pt x="580643" y="0"/>
                </a:lnTo>
              </a:path>
            </a:pathLst>
          </a:custGeom>
          <a:ln w="66913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64540" y="1216866"/>
            <a:ext cx="5464175" cy="1146810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1710055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CONST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标识符＝常量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  <a:tabLst>
                <a:tab pos="1609725" algn="l"/>
                <a:tab pos="3736340" algn="l"/>
                <a:tab pos="5450840" algn="l"/>
              </a:tabLst>
            </a:pP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CONST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pi=3.1416;	true=1</a:t>
            </a:r>
            <a:r>
              <a:rPr dirty="0" u="heavy" sz="3200" b="1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;	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4611" y="4160520"/>
            <a:ext cx="5619115" cy="0"/>
          </a:xfrm>
          <a:custGeom>
            <a:avLst/>
            <a:gdLst/>
            <a:ahLst/>
            <a:cxnLst/>
            <a:rect l="l" t="t" r="r" b="b"/>
            <a:pathLst>
              <a:path w="5619115" h="0">
                <a:moveTo>
                  <a:pt x="0" y="0"/>
                </a:moveTo>
                <a:lnTo>
                  <a:pt x="5618988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24611" y="4680203"/>
            <a:ext cx="4876800" cy="0"/>
          </a:xfrm>
          <a:custGeom>
            <a:avLst/>
            <a:gdLst/>
            <a:ahLst/>
            <a:cxnLst/>
            <a:rect l="l" t="t" r="r" b="b"/>
            <a:pathLst>
              <a:path w="4876800" h="0">
                <a:moveTo>
                  <a:pt x="0" y="0"/>
                </a:moveTo>
                <a:lnTo>
                  <a:pt x="487680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24611" y="5198364"/>
            <a:ext cx="4876800" cy="0"/>
          </a:xfrm>
          <a:custGeom>
            <a:avLst/>
            <a:gdLst/>
            <a:ahLst/>
            <a:cxnLst/>
            <a:rect l="l" t="t" r="r" b="b"/>
            <a:pathLst>
              <a:path w="4876800" h="0">
                <a:moveTo>
                  <a:pt x="0" y="0"/>
                </a:moveTo>
                <a:lnTo>
                  <a:pt x="487680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25374" y="5779770"/>
            <a:ext cx="5619115" cy="0"/>
          </a:xfrm>
          <a:custGeom>
            <a:avLst/>
            <a:gdLst/>
            <a:ahLst/>
            <a:cxnLst/>
            <a:rect l="l" t="t" r="r" b="b"/>
            <a:pathLst>
              <a:path w="5619115" h="0">
                <a:moveTo>
                  <a:pt x="0" y="0"/>
                </a:moveTo>
                <a:lnTo>
                  <a:pt x="5618988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068573" y="3692144"/>
            <a:ext cx="6775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y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pe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25374" y="3582161"/>
            <a:ext cx="5619115" cy="0"/>
          </a:xfrm>
          <a:custGeom>
            <a:avLst/>
            <a:gdLst/>
            <a:ahLst/>
            <a:cxnLst/>
            <a:rect l="l" t="t" r="r" b="b"/>
            <a:pathLst>
              <a:path w="5619115" h="0">
                <a:moveTo>
                  <a:pt x="0" y="0"/>
                </a:moveTo>
                <a:lnTo>
                  <a:pt x="5618988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25374" y="3582161"/>
            <a:ext cx="0" cy="2870200"/>
          </a:xfrm>
          <a:custGeom>
            <a:avLst/>
            <a:gdLst/>
            <a:ahLst/>
            <a:cxnLst/>
            <a:rect l="l" t="t" r="r" b="b"/>
            <a:pathLst>
              <a:path w="0" h="2870200">
                <a:moveTo>
                  <a:pt x="0" y="0"/>
                </a:moveTo>
                <a:lnTo>
                  <a:pt x="0" y="2869692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562100" y="3581400"/>
            <a:ext cx="0" cy="2197735"/>
          </a:xfrm>
          <a:custGeom>
            <a:avLst/>
            <a:gdLst/>
            <a:ahLst/>
            <a:cxnLst/>
            <a:rect l="l" t="t" r="r" b="b"/>
            <a:pathLst>
              <a:path w="0" h="2197735">
                <a:moveTo>
                  <a:pt x="0" y="0"/>
                </a:moveTo>
                <a:lnTo>
                  <a:pt x="0" y="2197608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877311" y="3581400"/>
            <a:ext cx="0" cy="2197735"/>
          </a:xfrm>
          <a:custGeom>
            <a:avLst/>
            <a:gdLst/>
            <a:ahLst/>
            <a:cxnLst/>
            <a:rect l="l" t="t" r="r" b="b"/>
            <a:pathLst>
              <a:path w="0" h="2197735">
                <a:moveTo>
                  <a:pt x="0" y="0"/>
                </a:moveTo>
                <a:lnTo>
                  <a:pt x="0" y="2197608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982211" y="3581400"/>
            <a:ext cx="0" cy="2197735"/>
          </a:xfrm>
          <a:custGeom>
            <a:avLst/>
            <a:gdLst/>
            <a:ahLst/>
            <a:cxnLst/>
            <a:rect l="l" t="t" r="r" b="b"/>
            <a:pathLst>
              <a:path w="0" h="2197735">
                <a:moveTo>
                  <a:pt x="0" y="0"/>
                </a:moveTo>
                <a:lnTo>
                  <a:pt x="0" y="2197608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201411" y="3581400"/>
            <a:ext cx="0" cy="2197735"/>
          </a:xfrm>
          <a:custGeom>
            <a:avLst/>
            <a:gdLst/>
            <a:ahLst/>
            <a:cxnLst/>
            <a:rect l="l" t="t" r="r" b="b"/>
            <a:pathLst>
              <a:path w="0" h="2197735">
                <a:moveTo>
                  <a:pt x="0" y="0"/>
                </a:moveTo>
                <a:lnTo>
                  <a:pt x="0" y="2197608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944361" y="3582161"/>
            <a:ext cx="0" cy="3022600"/>
          </a:xfrm>
          <a:custGeom>
            <a:avLst/>
            <a:gdLst/>
            <a:ahLst/>
            <a:cxnLst/>
            <a:rect l="l" t="t" r="r" b="b"/>
            <a:pathLst>
              <a:path w="0" h="3022600">
                <a:moveTo>
                  <a:pt x="0" y="0"/>
                </a:moveTo>
                <a:lnTo>
                  <a:pt x="0" y="3022092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6728206" y="2764663"/>
            <a:ext cx="131572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c</a:t>
            </a:r>
            <a:r>
              <a:rPr dirty="0" sz="3200" spc="5" b="1">
                <a:solidFill>
                  <a:srgbClr val="00FFFF"/>
                </a:solidFill>
                <a:latin typeface="Times New Roman"/>
                <a:cs typeface="Times New Roman"/>
              </a:rPr>
              <a:t>o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nslist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81050" y="3487064"/>
            <a:ext cx="4326890" cy="1184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9230" marR="5080" indent="-177165">
              <a:lnSpc>
                <a:spcPct val="135800"/>
              </a:lnSpc>
              <a:spcBef>
                <a:spcPts val="100"/>
              </a:spcBef>
              <a:tabLst>
                <a:tab pos="1144905" algn="l"/>
                <a:tab pos="1250950" algn="l"/>
                <a:tab pos="2719705" algn="l"/>
                <a:tab pos="3580765" algn="l"/>
              </a:tabLst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me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		</a:t>
            </a:r>
            <a:r>
              <a:rPr dirty="0" sz="2800" spc="-25" b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ind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		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addr 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pi	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CONS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716017" y="4332732"/>
            <a:ext cx="2048510" cy="114300"/>
          </a:xfrm>
          <a:custGeom>
            <a:avLst/>
            <a:gdLst/>
            <a:ahLst/>
            <a:cxnLst/>
            <a:rect l="l" t="t" r="r" b="b"/>
            <a:pathLst>
              <a:path w="2048509" h="114300">
                <a:moveTo>
                  <a:pt x="1857756" y="0"/>
                </a:moveTo>
                <a:lnTo>
                  <a:pt x="1857756" y="114300"/>
                </a:lnTo>
                <a:lnTo>
                  <a:pt x="1984756" y="76200"/>
                </a:lnTo>
                <a:lnTo>
                  <a:pt x="1876806" y="76200"/>
                </a:lnTo>
                <a:lnTo>
                  <a:pt x="1876806" y="38100"/>
                </a:lnTo>
                <a:lnTo>
                  <a:pt x="1984756" y="38100"/>
                </a:lnTo>
                <a:lnTo>
                  <a:pt x="1857756" y="0"/>
                </a:lnTo>
                <a:close/>
              </a:path>
              <a:path w="2048509" h="114300">
                <a:moveTo>
                  <a:pt x="185775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857756" y="76200"/>
                </a:lnTo>
                <a:lnTo>
                  <a:pt x="1857756" y="38100"/>
                </a:lnTo>
                <a:close/>
              </a:path>
              <a:path w="2048509" h="114300">
                <a:moveTo>
                  <a:pt x="1984756" y="38100"/>
                </a:moveTo>
                <a:lnTo>
                  <a:pt x="1876806" y="38100"/>
                </a:lnTo>
                <a:lnTo>
                  <a:pt x="1876806" y="76200"/>
                </a:lnTo>
                <a:lnTo>
                  <a:pt x="1984756" y="76200"/>
                </a:lnTo>
                <a:lnTo>
                  <a:pt x="2048256" y="57150"/>
                </a:lnTo>
                <a:lnTo>
                  <a:pt x="198475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628294" y="4658332"/>
            <a:ext cx="2931795" cy="111379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53340">
              <a:lnSpc>
                <a:spcPct val="100000"/>
              </a:lnSpc>
              <a:spcBef>
                <a:spcPts val="730"/>
              </a:spcBef>
              <a:tabLst>
                <a:tab pos="1097280" algn="l"/>
                <a:tab pos="268160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true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CON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3200" spc="5" b="1">
                <a:solidFill>
                  <a:srgbClr val="FFFF00"/>
                </a:solidFill>
                <a:latin typeface="Arial"/>
                <a:cs typeface="Arial"/>
              </a:rPr>
              <a:t>…</a:t>
            </a:r>
            <a:endParaRPr sz="32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716017" y="4931664"/>
            <a:ext cx="2048510" cy="114300"/>
          </a:xfrm>
          <a:custGeom>
            <a:avLst/>
            <a:gdLst/>
            <a:ahLst/>
            <a:cxnLst/>
            <a:rect l="l" t="t" r="r" b="b"/>
            <a:pathLst>
              <a:path w="2048509" h="114300">
                <a:moveTo>
                  <a:pt x="1857756" y="0"/>
                </a:moveTo>
                <a:lnTo>
                  <a:pt x="1857756" y="114300"/>
                </a:lnTo>
                <a:lnTo>
                  <a:pt x="1984756" y="76200"/>
                </a:lnTo>
                <a:lnTo>
                  <a:pt x="1876806" y="76200"/>
                </a:lnTo>
                <a:lnTo>
                  <a:pt x="1876806" y="38100"/>
                </a:lnTo>
                <a:lnTo>
                  <a:pt x="1984756" y="38100"/>
                </a:lnTo>
                <a:lnTo>
                  <a:pt x="1857756" y="0"/>
                </a:lnTo>
                <a:close/>
              </a:path>
              <a:path w="2048509" h="114300">
                <a:moveTo>
                  <a:pt x="185775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857756" y="76200"/>
                </a:lnTo>
                <a:lnTo>
                  <a:pt x="1857756" y="38100"/>
                </a:lnTo>
                <a:close/>
              </a:path>
              <a:path w="2048509" h="114300">
                <a:moveTo>
                  <a:pt x="1984756" y="38100"/>
                </a:moveTo>
                <a:lnTo>
                  <a:pt x="1876806" y="38100"/>
                </a:lnTo>
                <a:lnTo>
                  <a:pt x="1876806" y="76200"/>
                </a:lnTo>
                <a:lnTo>
                  <a:pt x="1984756" y="76200"/>
                </a:lnTo>
                <a:lnTo>
                  <a:pt x="2048256" y="57150"/>
                </a:lnTo>
                <a:lnTo>
                  <a:pt x="198475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21640" y="2530805"/>
            <a:ext cx="4398645" cy="9721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2425">
              <a:lnSpc>
                <a:spcPts val="3720"/>
              </a:lnSpc>
              <a:spcBef>
                <a:spcPts val="105"/>
              </a:spcBef>
              <a:tabLst>
                <a:tab pos="194945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CONST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=3.1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159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6;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ts val="3720"/>
              </a:lnSpc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namelist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469510" y="4372990"/>
            <a:ext cx="2294890" cy="1196975"/>
          </a:xfrm>
          <a:custGeom>
            <a:avLst/>
            <a:gdLst/>
            <a:ahLst/>
            <a:cxnLst/>
            <a:rect l="l" t="t" r="r" b="b"/>
            <a:pathLst>
              <a:path w="2294890" h="1196975">
                <a:moveTo>
                  <a:pt x="2184491" y="1160936"/>
                </a:moveTo>
                <a:lnTo>
                  <a:pt x="2167000" y="1194815"/>
                </a:lnTo>
                <a:lnTo>
                  <a:pt x="2294763" y="1196466"/>
                </a:lnTo>
                <a:lnTo>
                  <a:pt x="2275217" y="1169669"/>
                </a:lnTo>
                <a:lnTo>
                  <a:pt x="2201417" y="1169669"/>
                </a:lnTo>
                <a:lnTo>
                  <a:pt x="2184491" y="1160936"/>
                </a:lnTo>
                <a:close/>
              </a:path>
              <a:path w="2294890" h="1196975">
                <a:moveTo>
                  <a:pt x="2201922" y="1127170"/>
                </a:moveTo>
                <a:lnTo>
                  <a:pt x="2184491" y="1160936"/>
                </a:lnTo>
                <a:lnTo>
                  <a:pt x="2201417" y="1169669"/>
                </a:lnTo>
                <a:lnTo>
                  <a:pt x="2218816" y="1135887"/>
                </a:lnTo>
                <a:lnTo>
                  <a:pt x="2201922" y="1127170"/>
                </a:lnTo>
                <a:close/>
              </a:path>
              <a:path w="2294890" h="1196975">
                <a:moveTo>
                  <a:pt x="2219452" y="1093215"/>
                </a:moveTo>
                <a:lnTo>
                  <a:pt x="2201922" y="1127170"/>
                </a:lnTo>
                <a:lnTo>
                  <a:pt x="2218816" y="1135887"/>
                </a:lnTo>
                <a:lnTo>
                  <a:pt x="2201417" y="1169669"/>
                </a:lnTo>
                <a:lnTo>
                  <a:pt x="2275217" y="1169669"/>
                </a:lnTo>
                <a:lnTo>
                  <a:pt x="2219452" y="1093215"/>
                </a:lnTo>
                <a:close/>
              </a:path>
              <a:path w="2294890" h="1196975">
                <a:moveTo>
                  <a:pt x="17525" y="0"/>
                </a:moveTo>
                <a:lnTo>
                  <a:pt x="0" y="33781"/>
                </a:lnTo>
                <a:lnTo>
                  <a:pt x="2184491" y="1160936"/>
                </a:lnTo>
                <a:lnTo>
                  <a:pt x="2201922" y="1127170"/>
                </a:lnTo>
                <a:lnTo>
                  <a:pt x="17525" y="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6724078" y="3465766"/>
          <a:ext cx="1954530" cy="3152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1350"/>
              </a:tblGrid>
              <a:tr h="598932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value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98932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3.1416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97407">
                <a:tc>
                  <a:txBody>
                    <a:bodyPr/>
                    <a:lstStyle/>
                    <a:p>
                      <a:pPr algn="ctr" marR="381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21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98932">
                <a:tc>
                  <a:txBody>
                    <a:bodyPr/>
                    <a:lstStyle/>
                    <a:p>
                      <a:pPr algn="ctr" marL="54610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3.1415926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2229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29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339039" y="595071"/>
            <a:ext cx="2069464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举例说明：</a:t>
            </a:r>
            <a:endParaRPr sz="32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41173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3275" y="26923"/>
            <a:ext cx="39185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6050" algn="l"/>
              </a:tabLst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6.6.1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说明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01521" y="2279141"/>
            <a:ext cx="4841240" cy="2439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 b="1">
                <a:solidFill>
                  <a:srgbClr val="FFFF66"/>
                </a:solidFill>
                <a:latin typeface="宋体"/>
                <a:cs typeface="宋体"/>
              </a:rPr>
              <a:t>一</a:t>
            </a:r>
            <a:r>
              <a:rPr dirty="0" sz="3600" b="1">
                <a:solidFill>
                  <a:srgbClr val="FFFF66"/>
                </a:solidFill>
                <a:latin typeface="Times New Roman"/>
                <a:cs typeface="Times New Roman"/>
              </a:rPr>
              <a:t>.</a:t>
            </a:r>
            <a:r>
              <a:rPr dirty="0" sz="3600" spc="-8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3600" spc="-5" b="1">
                <a:solidFill>
                  <a:srgbClr val="FFFF66"/>
                </a:solidFill>
                <a:latin typeface="宋体"/>
                <a:cs typeface="宋体"/>
              </a:rPr>
              <a:t>常量定义语句的翻译</a:t>
            </a:r>
            <a:endParaRPr sz="3600">
              <a:latin typeface="宋体"/>
              <a:cs typeface="宋体"/>
            </a:endParaRPr>
          </a:p>
          <a:p>
            <a:pPr marL="12700" marR="349250">
              <a:lnSpc>
                <a:spcPct val="170000"/>
              </a:lnSpc>
              <a:tabLst>
                <a:tab pos="814069" algn="l"/>
              </a:tabLst>
            </a:pP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二</a:t>
            </a: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.	</a:t>
            </a: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简单说明类语句 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三</a:t>
            </a: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.	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复合类型说明语句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41605">
              <a:lnSpc>
                <a:spcPct val="100000"/>
              </a:lnSpc>
              <a:spcBef>
                <a:spcPts val="105"/>
              </a:spcBef>
              <a:tabLst>
                <a:tab pos="1539240" algn="l"/>
              </a:tabLst>
            </a:pPr>
            <a:r>
              <a:rPr dirty="0">
                <a:latin typeface="Times New Roman"/>
                <a:cs typeface="Times New Roman"/>
              </a:rPr>
              <a:t>6.6.1	</a:t>
            </a:r>
            <a:r>
              <a:rPr dirty="0" spc="-5"/>
              <a:t>说明类语句的翻译</a:t>
            </a:r>
          </a:p>
        </p:txBody>
      </p:sp>
      <p:sp>
        <p:nvSpPr>
          <p:cNvPr id="8" name="object 8"/>
          <p:cNvSpPr/>
          <p:nvPr/>
        </p:nvSpPr>
        <p:spPr>
          <a:xfrm>
            <a:off x="6536435" y="3144011"/>
            <a:ext cx="1661160" cy="721360"/>
          </a:xfrm>
          <a:custGeom>
            <a:avLst/>
            <a:gdLst/>
            <a:ahLst/>
            <a:cxnLst/>
            <a:rect l="l" t="t" r="r" b="b"/>
            <a:pathLst>
              <a:path w="1661159" h="721360">
                <a:moveTo>
                  <a:pt x="414655" y="0"/>
                </a:moveTo>
                <a:lnTo>
                  <a:pt x="0" y="360425"/>
                </a:lnTo>
                <a:lnTo>
                  <a:pt x="414655" y="720851"/>
                </a:lnTo>
                <a:lnTo>
                  <a:pt x="414655" y="540638"/>
                </a:lnTo>
                <a:lnTo>
                  <a:pt x="1661160" y="540638"/>
                </a:lnTo>
                <a:lnTo>
                  <a:pt x="1661160" y="180212"/>
                </a:lnTo>
                <a:lnTo>
                  <a:pt x="414655" y="180212"/>
                </a:lnTo>
                <a:lnTo>
                  <a:pt x="414655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536435" y="3144011"/>
            <a:ext cx="1661160" cy="721360"/>
          </a:xfrm>
          <a:custGeom>
            <a:avLst/>
            <a:gdLst/>
            <a:ahLst/>
            <a:cxnLst/>
            <a:rect l="l" t="t" r="r" b="b"/>
            <a:pathLst>
              <a:path w="1661159" h="721360">
                <a:moveTo>
                  <a:pt x="0" y="360425"/>
                </a:moveTo>
                <a:lnTo>
                  <a:pt x="414655" y="0"/>
                </a:lnTo>
                <a:lnTo>
                  <a:pt x="414655" y="180212"/>
                </a:lnTo>
                <a:lnTo>
                  <a:pt x="1661160" y="180212"/>
                </a:lnTo>
                <a:lnTo>
                  <a:pt x="1661160" y="540638"/>
                </a:lnTo>
                <a:lnTo>
                  <a:pt x="414655" y="540638"/>
                </a:lnTo>
                <a:lnTo>
                  <a:pt x="414655" y="720851"/>
                </a:lnTo>
                <a:lnTo>
                  <a:pt x="0" y="360425"/>
                </a:lnTo>
                <a:close/>
              </a:path>
            </a:pathLst>
          </a:custGeom>
          <a:ln w="5715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819848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  <a:tab pos="4292600" algn="l"/>
                <a:tab pos="56959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6.6.1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说明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843" y="922782"/>
            <a:ext cx="441642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105"/>
              </a:spcBef>
              <a:buClr>
                <a:srgbClr val="66FFFF"/>
              </a:buClr>
              <a:buSzPct val="109375"/>
              <a:buFont typeface="Wingdings"/>
              <a:buChar char=""/>
              <a:tabLst>
                <a:tab pos="319405" algn="l"/>
              </a:tabLst>
            </a:pPr>
            <a:r>
              <a:rPr dirty="0" sz="3200" b="1">
                <a:solidFill>
                  <a:srgbClr val="FFCCFF"/>
                </a:solidFill>
                <a:latin typeface="宋体"/>
                <a:cs typeface="宋体"/>
              </a:rPr>
              <a:t>翻译方案和语义子程序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7540" y="1457325"/>
            <a:ext cx="174117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88745" algn="l"/>
              </a:tabLst>
            </a:pP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D→in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59279" y="1509141"/>
            <a:ext cx="56438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9565" algn="l"/>
                <a:tab pos="5490210" algn="l"/>
              </a:tabLst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{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fi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l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l(ENT</a:t>
            </a:r>
            <a:r>
              <a:rPr dirty="0" sz="2800" spc="-110" b="1">
                <a:solidFill>
                  <a:srgbClr val="66FFFF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Y(i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d</a:t>
            </a:r>
            <a:r>
              <a:rPr dirty="0" sz="2800" spc="5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in</a:t>
            </a:r>
            <a:r>
              <a:rPr dirty="0" sz="2800" spc="5" b="1">
                <a:solidFill>
                  <a:srgbClr val="66FFFF"/>
                </a:solidFill>
                <a:latin typeface="Times New Roman"/>
                <a:cs typeface="Times New Roman"/>
              </a:rPr>
              <a:t>t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；</a:t>
            </a:r>
            <a:r>
              <a:rPr dirty="0" sz="2800" spc="-10" b="1">
                <a:solidFill>
                  <a:srgbClr val="66FFFF"/>
                </a:solidFill>
                <a:latin typeface="Times New Roman"/>
                <a:cs typeface="Times New Roman"/>
              </a:rPr>
              <a:t>D</a:t>
            </a:r>
            <a:r>
              <a:rPr dirty="0" sz="2800" spc="-10" b="1">
                <a:solidFill>
                  <a:srgbClr val="66FFFF"/>
                </a:solidFill>
                <a:latin typeface="Times New Roman"/>
                <a:cs typeface="Times New Roman"/>
              </a:rPr>
              <a:t>.</a:t>
            </a:r>
            <a:r>
              <a:rPr dirty="0" sz="2800" spc="-215" b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T=int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7540" y="2091004"/>
            <a:ext cx="832929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145030" algn="l"/>
                <a:tab pos="2461895" algn="l"/>
                <a:tab pos="8176259" algn="l"/>
              </a:tabLst>
            </a:pP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D→floa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32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{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fil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l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(EN</a:t>
            </a:r>
            <a:r>
              <a:rPr dirty="0" sz="2800" spc="-20" b="1">
                <a:solidFill>
                  <a:srgbClr val="66FFFF"/>
                </a:solidFill>
                <a:latin typeface="Times New Roman"/>
                <a:cs typeface="Times New Roman"/>
              </a:rPr>
              <a:t>T</a:t>
            </a:r>
            <a:r>
              <a:rPr dirty="0" sz="2800" spc="-110" b="1">
                <a:solidFill>
                  <a:srgbClr val="66FFFF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Y(id</a:t>
            </a:r>
            <a:r>
              <a:rPr dirty="0" sz="2800" spc="10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fl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o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t</a:t>
            </a:r>
            <a:r>
              <a:rPr dirty="0" sz="2800" spc="5" b="1">
                <a:solidFill>
                  <a:srgbClr val="66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；</a:t>
            </a:r>
            <a:r>
              <a:rPr dirty="0" sz="2800" spc="-10" b="1">
                <a:solidFill>
                  <a:srgbClr val="66FFFF"/>
                </a:solidFill>
                <a:latin typeface="Times New Roman"/>
                <a:cs typeface="Times New Roman"/>
              </a:rPr>
              <a:t>D</a:t>
            </a:r>
            <a:r>
              <a:rPr dirty="0" sz="2800" spc="-10" b="1">
                <a:solidFill>
                  <a:srgbClr val="66FFFF"/>
                </a:solidFill>
                <a:latin typeface="Times New Roman"/>
                <a:cs typeface="Times New Roman"/>
              </a:rPr>
              <a:t>.</a:t>
            </a:r>
            <a:r>
              <a:rPr dirty="0" sz="2800" spc="-215" b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T=flo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t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7540" y="2730245"/>
            <a:ext cx="190373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D→D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id;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17191" y="2711348"/>
            <a:ext cx="4465955" cy="1019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4780" marR="5080" indent="-132715">
              <a:lnSpc>
                <a:spcPct val="116399"/>
              </a:lnSpc>
              <a:spcBef>
                <a:spcPts val="100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{ </a:t>
            </a:r>
            <a:r>
              <a:rPr dirty="0" sz="2800" spc="-10" b="1">
                <a:solidFill>
                  <a:srgbClr val="66FFFF"/>
                </a:solidFill>
                <a:latin typeface="Times New Roman"/>
                <a:cs typeface="Times New Roman"/>
              </a:rPr>
              <a:t>fill(ENTRY(id)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66FFFF"/>
                </a:solidFill>
                <a:latin typeface="Times New Roman"/>
                <a:cs typeface="Times New Roman"/>
              </a:rPr>
              <a:t>D1 </a:t>
            </a:r>
            <a:r>
              <a:rPr dirty="0" sz="2800" spc="-50" b="1">
                <a:solidFill>
                  <a:srgbClr val="66FFFF"/>
                </a:solidFill>
                <a:latin typeface="Times New Roman"/>
                <a:cs typeface="Times New Roman"/>
              </a:rPr>
              <a:t>.AT)</a:t>
            </a:r>
            <a:r>
              <a:rPr dirty="0" sz="2800" spc="-50" b="1">
                <a:solidFill>
                  <a:srgbClr val="66FFFF"/>
                </a:solidFill>
                <a:latin typeface="宋体"/>
                <a:cs typeface="宋体"/>
              </a:rPr>
              <a:t>；  </a:t>
            </a:r>
            <a:r>
              <a:rPr dirty="0" sz="2800" spc="-35" b="1">
                <a:solidFill>
                  <a:srgbClr val="66FFFF"/>
                </a:solidFill>
                <a:latin typeface="Times New Roman"/>
                <a:cs typeface="Times New Roman"/>
              </a:rPr>
              <a:t>D.AT=D1 </a:t>
            </a:r>
            <a:r>
              <a:rPr dirty="0" sz="2800" spc="-75" b="1">
                <a:solidFill>
                  <a:srgbClr val="66FFFF"/>
                </a:solidFill>
                <a:latin typeface="Times New Roman"/>
                <a:cs typeface="Times New Roman"/>
              </a:rPr>
              <a:t>.AT</a:t>
            </a:r>
            <a:r>
              <a:rPr dirty="0" sz="2800" spc="1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0970" y="1480566"/>
            <a:ext cx="8801100" cy="2421890"/>
          </a:xfrm>
          <a:custGeom>
            <a:avLst/>
            <a:gdLst/>
            <a:ahLst/>
            <a:cxnLst/>
            <a:rect l="l" t="t" r="r" b="b"/>
            <a:pathLst>
              <a:path w="8801100" h="2421890">
                <a:moveTo>
                  <a:pt x="0" y="2421636"/>
                </a:moveTo>
                <a:lnTo>
                  <a:pt x="8801100" y="2421636"/>
                </a:lnTo>
                <a:lnTo>
                  <a:pt x="8801100" y="0"/>
                </a:lnTo>
                <a:lnTo>
                  <a:pt x="0" y="0"/>
                </a:lnTo>
                <a:lnTo>
                  <a:pt x="0" y="2421636"/>
                </a:lnTo>
                <a:close/>
              </a:path>
            </a:pathLst>
          </a:custGeom>
          <a:ln w="38100">
            <a:solidFill>
              <a:srgbClr val="FF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94843" y="3936263"/>
            <a:ext cx="8467090" cy="247967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*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其中：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2800" spc="-50" b="1">
                <a:solidFill>
                  <a:srgbClr val="FFFF00"/>
                </a:solidFill>
                <a:latin typeface="Times New Roman"/>
                <a:cs typeface="Times New Roman"/>
              </a:rPr>
              <a:t>D.AT</a:t>
            </a:r>
            <a:r>
              <a:rPr dirty="0" sz="2800" spc="-5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非终结符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的属</a:t>
            </a:r>
            <a:r>
              <a:rPr dirty="0" sz="2800" spc="10" b="1">
                <a:solidFill>
                  <a:srgbClr val="FFFFFF"/>
                </a:solidFill>
                <a:latin typeface="宋体"/>
                <a:cs typeface="宋体"/>
              </a:rPr>
              <a:t>性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2700" marR="5080">
              <a:lnSpc>
                <a:spcPct val="114999"/>
              </a:lnSpc>
              <a:spcBef>
                <a:spcPts val="5"/>
              </a:spcBef>
              <a:tabLst>
                <a:tab pos="1562100" algn="l"/>
              </a:tabLst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fi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l(</a:t>
            </a:r>
            <a:r>
              <a:rPr dirty="0" sz="2800" spc="-254" b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-16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完成把性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质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填入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所指的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号表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相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应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数据项中的函数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ENTRY(i)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给出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所代表的量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符号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入口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函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260591" y="2001011"/>
            <a:ext cx="788035" cy="0"/>
          </a:xfrm>
          <a:custGeom>
            <a:avLst/>
            <a:gdLst/>
            <a:ahLst/>
            <a:cxnLst/>
            <a:rect l="l" t="t" r="r" b="b"/>
            <a:pathLst>
              <a:path w="788034" h="0">
                <a:moveTo>
                  <a:pt x="0" y="0"/>
                </a:moveTo>
                <a:lnTo>
                  <a:pt x="787908" y="0"/>
                </a:lnTo>
              </a:path>
            </a:pathLst>
          </a:custGeom>
          <a:ln w="57150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320796" y="2001011"/>
            <a:ext cx="1163320" cy="0"/>
          </a:xfrm>
          <a:custGeom>
            <a:avLst/>
            <a:gdLst/>
            <a:ahLst/>
            <a:cxnLst/>
            <a:rect l="l" t="t" r="r" b="b"/>
            <a:pathLst>
              <a:path w="1163320" h="0">
                <a:moveTo>
                  <a:pt x="0" y="0"/>
                </a:moveTo>
                <a:lnTo>
                  <a:pt x="1162812" y="0"/>
                </a:lnTo>
              </a:path>
            </a:pathLst>
          </a:custGeom>
          <a:ln w="57150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686811" y="2001011"/>
            <a:ext cx="399415" cy="0"/>
          </a:xfrm>
          <a:custGeom>
            <a:avLst/>
            <a:gdLst/>
            <a:ahLst/>
            <a:cxnLst/>
            <a:rect l="l" t="t" r="r" b="b"/>
            <a:pathLst>
              <a:path w="399414" h="0">
                <a:moveTo>
                  <a:pt x="0" y="0"/>
                </a:moveTo>
                <a:lnTo>
                  <a:pt x="399288" y="0"/>
                </a:lnTo>
              </a:path>
            </a:pathLst>
          </a:custGeom>
          <a:ln w="57150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87248" y="438403"/>
            <a:ext cx="359981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25805" algn="l"/>
              </a:tabLst>
            </a:pPr>
            <a:r>
              <a:rPr dirty="0" sz="3200">
                <a:solidFill>
                  <a:srgbClr val="FFFF00"/>
                </a:solidFill>
              </a:rPr>
              <a:t>二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>
                <a:solidFill>
                  <a:srgbClr val="FFFF00"/>
                </a:solidFill>
              </a:rPr>
              <a:t>简单说明类语句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41173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3275" y="26923"/>
            <a:ext cx="39185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6050" algn="l"/>
              </a:tabLst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6.6.1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说明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2311" y="1242415"/>
            <a:ext cx="1257300" cy="1293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8455" marR="118745">
              <a:lnSpc>
                <a:spcPct val="13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int 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flo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67711" y="1242415"/>
            <a:ext cx="1257300" cy="1293495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marL="126364">
              <a:lnSpc>
                <a:spcPct val="100000"/>
              </a:lnSpc>
              <a:spcBef>
                <a:spcPts val="125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i , j</a:t>
            </a:r>
            <a:r>
              <a:rPr dirty="0" sz="32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3200">
              <a:latin typeface="Times New Roman"/>
              <a:cs typeface="Times New Roman"/>
            </a:endParaRPr>
          </a:p>
          <a:p>
            <a:pPr marL="135890">
              <a:lnSpc>
                <a:spcPct val="100000"/>
              </a:lnSpc>
              <a:spcBef>
                <a:spcPts val="115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 ,b</a:t>
            </a:r>
            <a:r>
              <a:rPr dirty="0" sz="32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3261" y="1448561"/>
            <a:ext cx="1257300" cy="1391920"/>
          </a:xfrm>
          <a:custGeom>
            <a:avLst/>
            <a:gdLst/>
            <a:ahLst/>
            <a:cxnLst/>
            <a:rect l="l" t="t" r="r" b="b"/>
            <a:pathLst>
              <a:path w="1257300" h="1391920">
                <a:moveTo>
                  <a:pt x="0" y="1391412"/>
                </a:moveTo>
                <a:lnTo>
                  <a:pt x="1257300" y="1391412"/>
                </a:lnTo>
                <a:lnTo>
                  <a:pt x="1257300" y="0"/>
                </a:lnTo>
                <a:lnTo>
                  <a:pt x="0" y="0"/>
                </a:lnTo>
                <a:lnTo>
                  <a:pt x="0" y="1391412"/>
                </a:lnTo>
                <a:close/>
              </a:path>
            </a:pathLst>
          </a:custGeom>
          <a:ln w="38100">
            <a:solidFill>
              <a:srgbClr val="FFFF0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943861" y="1882139"/>
            <a:ext cx="2171700" cy="114300"/>
          </a:xfrm>
          <a:custGeom>
            <a:avLst/>
            <a:gdLst/>
            <a:ahLst/>
            <a:cxnLst/>
            <a:rect l="l" t="t" r="r" b="b"/>
            <a:pathLst>
              <a:path w="2171700" h="114300">
                <a:moveTo>
                  <a:pt x="2057400" y="0"/>
                </a:moveTo>
                <a:lnTo>
                  <a:pt x="2057400" y="114300"/>
                </a:lnTo>
                <a:lnTo>
                  <a:pt x="2133600" y="76200"/>
                </a:lnTo>
                <a:lnTo>
                  <a:pt x="2076450" y="76200"/>
                </a:lnTo>
                <a:lnTo>
                  <a:pt x="2076450" y="38100"/>
                </a:lnTo>
                <a:lnTo>
                  <a:pt x="2133600" y="38100"/>
                </a:lnTo>
                <a:lnTo>
                  <a:pt x="2057400" y="0"/>
                </a:lnTo>
                <a:close/>
              </a:path>
              <a:path w="2171700" h="114300">
                <a:moveTo>
                  <a:pt x="20574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057400" y="76200"/>
                </a:lnTo>
                <a:lnTo>
                  <a:pt x="2057400" y="38100"/>
                </a:lnTo>
                <a:close/>
              </a:path>
              <a:path w="2171700" h="114300">
                <a:moveTo>
                  <a:pt x="2133600" y="38100"/>
                </a:moveTo>
                <a:lnTo>
                  <a:pt x="2076450" y="38100"/>
                </a:lnTo>
                <a:lnTo>
                  <a:pt x="2076450" y="76200"/>
                </a:lnTo>
                <a:lnTo>
                  <a:pt x="2133600" y="76200"/>
                </a:lnTo>
                <a:lnTo>
                  <a:pt x="2171700" y="57150"/>
                </a:lnTo>
                <a:lnTo>
                  <a:pt x="2133600" y="38100"/>
                </a:lnTo>
                <a:close/>
              </a:path>
            </a:pathLst>
          </a:custGeom>
          <a:solidFill>
            <a:srgbClr val="FFFF0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86761" y="1430274"/>
            <a:ext cx="1257300" cy="1390015"/>
          </a:xfrm>
          <a:custGeom>
            <a:avLst/>
            <a:gdLst/>
            <a:ahLst/>
            <a:cxnLst/>
            <a:rect l="l" t="t" r="r" b="b"/>
            <a:pathLst>
              <a:path w="1257300" h="1390014">
                <a:moveTo>
                  <a:pt x="0" y="1389888"/>
                </a:moveTo>
                <a:lnTo>
                  <a:pt x="1257300" y="1389888"/>
                </a:lnTo>
                <a:lnTo>
                  <a:pt x="1257300" y="0"/>
                </a:lnTo>
                <a:lnTo>
                  <a:pt x="0" y="0"/>
                </a:lnTo>
                <a:lnTo>
                  <a:pt x="0" y="1389888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144773" y="2491739"/>
            <a:ext cx="894715" cy="114300"/>
          </a:xfrm>
          <a:custGeom>
            <a:avLst/>
            <a:gdLst/>
            <a:ahLst/>
            <a:cxnLst/>
            <a:rect l="l" t="t" r="r" b="b"/>
            <a:pathLst>
              <a:path w="894714" h="114300">
                <a:moveTo>
                  <a:pt x="780288" y="0"/>
                </a:moveTo>
                <a:lnTo>
                  <a:pt x="780288" y="114300"/>
                </a:lnTo>
                <a:lnTo>
                  <a:pt x="856488" y="76200"/>
                </a:lnTo>
                <a:lnTo>
                  <a:pt x="799338" y="76200"/>
                </a:lnTo>
                <a:lnTo>
                  <a:pt x="799338" y="38100"/>
                </a:lnTo>
                <a:lnTo>
                  <a:pt x="856488" y="38100"/>
                </a:lnTo>
                <a:lnTo>
                  <a:pt x="780288" y="0"/>
                </a:lnTo>
                <a:close/>
              </a:path>
              <a:path w="894714" h="114300">
                <a:moveTo>
                  <a:pt x="7802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80288" y="76200"/>
                </a:lnTo>
                <a:lnTo>
                  <a:pt x="780288" y="38100"/>
                </a:lnTo>
                <a:close/>
              </a:path>
              <a:path w="894714" h="114300">
                <a:moveTo>
                  <a:pt x="856488" y="38100"/>
                </a:moveTo>
                <a:lnTo>
                  <a:pt x="799338" y="38100"/>
                </a:lnTo>
                <a:lnTo>
                  <a:pt x="799338" y="76200"/>
                </a:lnTo>
                <a:lnTo>
                  <a:pt x="856488" y="76200"/>
                </a:lnTo>
                <a:lnTo>
                  <a:pt x="894588" y="57150"/>
                </a:lnTo>
                <a:lnTo>
                  <a:pt x="856488" y="3810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194175" y="1441170"/>
            <a:ext cx="1250950" cy="1391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类型 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变量表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716017" y="3043935"/>
            <a:ext cx="1085088" cy="3858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987290" y="3001136"/>
            <a:ext cx="542543" cy="285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987290" y="2972498"/>
            <a:ext cx="542543" cy="142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16017" y="3043935"/>
            <a:ext cx="1085215" cy="386080"/>
          </a:xfrm>
          <a:custGeom>
            <a:avLst/>
            <a:gdLst/>
            <a:ahLst/>
            <a:cxnLst/>
            <a:rect l="l" t="t" r="r" b="b"/>
            <a:pathLst>
              <a:path w="1085214" h="386079">
                <a:moveTo>
                  <a:pt x="1085088" y="271525"/>
                </a:moveTo>
                <a:lnTo>
                  <a:pt x="813816" y="271525"/>
                </a:lnTo>
                <a:lnTo>
                  <a:pt x="813816" y="0"/>
                </a:lnTo>
                <a:lnTo>
                  <a:pt x="271272" y="0"/>
                </a:lnTo>
                <a:lnTo>
                  <a:pt x="271272" y="271525"/>
                </a:lnTo>
                <a:lnTo>
                  <a:pt x="0" y="271525"/>
                </a:lnTo>
                <a:lnTo>
                  <a:pt x="542544" y="385825"/>
                </a:lnTo>
                <a:lnTo>
                  <a:pt x="1085088" y="27152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968240" y="3005835"/>
            <a:ext cx="581025" cy="43180"/>
          </a:xfrm>
          <a:custGeom>
            <a:avLst/>
            <a:gdLst/>
            <a:ahLst/>
            <a:cxnLst/>
            <a:rect l="l" t="t" r="r" b="b"/>
            <a:pathLst>
              <a:path w="581025" h="43180">
                <a:moveTo>
                  <a:pt x="0" y="42925"/>
                </a:moveTo>
                <a:lnTo>
                  <a:pt x="580643" y="42925"/>
                </a:lnTo>
                <a:lnTo>
                  <a:pt x="580643" y="0"/>
                </a:lnTo>
                <a:lnTo>
                  <a:pt x="0" y="0"/>
                </a:lnTo>
                <a:lnTo>
                  <a:pt x="0" y="4292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968240" y="2953448"/>
            <a:ext cx="581025" cy="52705"/>
          </a:xfrm>
          <a:custGeom>
            <a:avLst/>
            <a:gdLst/>
            <a:ahLst/>
            <a:cxnLst/>
            <a:rect l="l" t="t" r="r" b="b"/>
            <a:pathLst>
              <a:path w="581025" h="52705">
                <a:moveTo>
                  <a:pt x="0" y="52387"/>
                </a:moveTo>
                <a:lnTo>
                  <a:pt x="580643" y="52387"/>
                </a:lnTo>
                <a:lnTo>
                  <a:pt x="580643" y="0"/>
                </a:lnTo>
                <a:lnTo>
                  <a:pt x="0" y="0"/>
                </a:lnTo>
                <a:lnTo>
                  <a:pt x="0" y="5238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1281112" y="3567112"/>
          <a:ext cx="6139180" cy="3274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0650"/>
                <a:gridCol w="1162050"/>
                <a:gridCol w="1104900"/>
                <a:gridCol w="1219200"/>
                <a:gridCol w="1219200"/>
              </a:tblGrid>
              <a:tr h="581279">
                <a:tc>
                  <a:txBody>
                    <a:bodyPr/>
                    <a:lstStyle/>
                    <a:p>
                      <a:pPr marL="2698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66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spc="-1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kind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5560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dirty="0" sz="28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type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25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addr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4350">
                        <a:latin typeface="Times New Roman"/>
                        <a:cs typeface="Times New Roman"/>
                      </a:endParaRPr>
                    </a:p>
                    <a:p>
                      <a:pPr marL="358775">
                        <a:lnSpc>
                          <a:spcPct val="100000"/>
                        </a:lnSpc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0661">
                <a:tc>
                  <a:txBody>
                    <a:bodyPr/>
                    <a:lstStyle/>
                    <a:p>
                      <a:pPr marL="35814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35814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81232">
                <a:tc>
                  <a:txBody>
                    <a:bodyPr/>
                    <a:lstStyle/>
                    <a:p>
                      <a:pPr marL="31686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393316" y="3026791"/>
            <a:ext cx="149479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namelist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339039" y="595071"/>
            <a:ext cx="2069464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举例说明：</a:t>
            </a:r>
            <a:endParaRPr sz="32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41173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3275" y="26923"/>
            <a:ext cx="39185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6050" algn="l"/>
              </a:tabLst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6.6.1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说明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01521" y="2279141"/>
            <a:ext cx="4841240" cy="2439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 b="1">
                <a:solidFill>
                  <a:srgbClr val="FFFF66"/>
                </a:solidFill>
                <a:latin typeface="宋体"/>
                <a:cs typeface="宋体"/>
              </a:rPr>
              <a:t>一</a:t>
            </a:r>
            <a:r>
              <a:rPr dirty="0" sz="3600" b="1">
                <a:solidFill>
                  <a:srgbClr val="FFFF66"/>
                </a:solidFill>
                <a:latin typeface="Times New Roman"/>
                <a:cs typeface="Times New Roman"/>
              </a:rPr>
              <a:t>.</a:t>
            </a:r>
            <a:r>
              <a:rPr dirty="0" sz="3600" spc="-8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3600" spc="-5" b="1">
                <a:solidFill>
                  <a:srgbClr val="FFFF66"/>
                </a:solidFill>
                <a:latin typeface="宋体"/>
                <a:cs typeface="宋体"/>
              </a:rPr>
              <a:t>常量定义语句的翻译</a:t>
            </a:r>
            <a:endParaRPr sz="3600">
              <a:latin typeface="宋体"/>
              <a:cs typeface="宋体"/>
            </a:endParaRPr>
          </a:p>
          <a:p>
            <a:pPr marL="12700" marR="349250">
              <a:lnSpc>
                <a:spcPct val="170000"/>
              </a:lnSpc>
              <a:tabLst>
                <a:tab pos="814069" algn="l"/>
              </a:tabLst>
            </a:pPr>
            <a:r>
              <a:rPr dirty="0" sz="3600" spc="-10" b="1">
                <a:solidFill>
                  <a:srgbClr val="FFFF66"/>
                </a:solidFill>
                <a:latin typeface="宋体"/>
                <a:cs typeface="宋体"/>
              </a:rPr>
              <a:t>二</a:t>
            </a:r>
            <a:r>
              <a:rPr dirty="0" sz="3600" b="1">
                <a:solidFill>
                  <a:srgbClr val="FFFF66"/>
                </a:solidFill>
                <a:latin typeface="Times New Roman"/>
                <a:cs typeface="Times New Roman"/>
              </a:rPr>
              <a:t>.	</a:t>
            </a:r>
            <a:r>
              <a:rPr dirty="0" sz="3600" spc="-10" b="1">
                <a:solidFill>
                  <a:srgbClr val="FFFF66"/>
                </a:solidFill>
                <a:latin typeface="宋体"/>
                <a:cs typeface="宋体"/>
              </a:rPr>
              <a:t>简单说明类语句 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三</a:t>
            </a: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.	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复合类型说明语句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41605">
              <a:lnSpc>
                <a:spcPct val="100000"/>
              </a:lnSpc>
              <a:spcBef>
                <a:spcPts val="105"/>
              </a:spcBef>
              <a:tabLst>
                <a:tab pos="1539240" algn="l"/>
              </a:tabLst>
            </a:pPr>
            <a:r>
              <a:rPr dirty="0">
                <a:latin typeface="Times New Roman"/>
                <a:cs typeface="Times New Roman"/>
              </a:rPr>
              <a:t>6.6.1	</a:t>
            </a:r>
            <a:r>
              <a:rPr dirty="0" spc="-5"/>
              <a:t>说明类语句的翻译</a:t>
            </a:r>
          </a:p>
        </p:txBody>
      </p:sp>
      <p:sp>
        <p:nvSpPr>
          <p:cNvPr id="8" name="object 8"/>
          <p:cNvSpPr/>
          <p:nvPr/>
        </p:nvSpPr>
        <p:spPr>
          <a:xfrm>
            <a:off x="6536435" y="4069079"/>
            <a:ext cx="1661160" cy="722630"/>
          </a:xfrm>
          <a:custGeom>
            <a:avLst/>
            <a:gdLst/>
            <a:ahLst/>
            <a:cxnLst/>
            <a:rect l="l" t="t" r="r" b="b"/>
            <a:pathLst>
              <a:path w="1661159" h="722629">
                <a:moveTo>
                  <a:pt x="415544" y="0"/>
                </a:moveTo>
                <a:lnTo>
                  <a:pt x="0" y="361188"/>
                </a:lnTo>
                <a:lnTo>
                  <a:pt x="415544" y="722376"/>
                </a:lnTo>
                <a:lnTo>
                  <a:pt x="415544" y="541782"/>
                </a:lnTo>
                <a:lnTo>
                  <a:pt x="1661160" y="541782"/>
                </a:lnTo>
                <a:lnTo>
                  <a:pt x="1661160" y="180594"/>
                </a:lnTo>
                <a:lnTo>
                  <a:pt x="415544" y="180594"/>
                </a:lnTo>
                <a:lnTo>
                  <a:pt x="415544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536435" y="4069079"/>
            <a:ext cx="1661160" cy="722630"/>
          </a:xfrm>
          <a:custGeom>
            <a:avLst/>
            <a:gdLst/>
            <a:ahLst/>
            <a:cxnLst/>
            <a:rect l="l" t="t" r="r" b="b"/>
            <a:pathLst>
              <a:path w="1661159" h="722629">
                <a:moveTo>
                  <a:pt x="0" y="361188"/>
                </a:moveTo>
                <a:lnTo>
                  <a:pt x="415544" y="0"/>
                </a:lnTo>
                <a:lnTo>
                  <a:pt x="415544" y="180594"/>
                </a:lnTo>
                <a:lnTo>
                  <a:pt x="1661160" y="180594"/>
                </a:lnTo>
                <a:lnTo>
                  <a:pt x="1661160" y="541782"/>
                </a:lnTo>
                <a:lnTo>
                  <a:pt x="415544" y="541782"/>
                </a:lnTo>
                <a:lnTo>
                  <a:pt x="415544" y="722376"/>
                </a:lnTo>
                <a:lnTo>
                  <a:pt x="0" y="361188"/>
                </a:lnTo>
                <a:close/>
              </a:path>
            </a:pathLst>
          </a:custGeom>
          <a:ln w="5715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41173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3275" y="26923"/>
            <a:ext cx="39185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6050" algn="l"/>
              </a:tabLst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6.6.1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说明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23748" y="610946"/>
            <a:ext cx="400685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25805" algn="l"/>
              </a:tabLst>
            </a:pPr>
            <a:r>
              <a:rPr dirty="0" sz="3200">
                <a:solidFill>
                  <a:srgbClr val="FFFF00"/>
                </a:solidFill>
              </a:rPr>
              <a:t>三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.	</a:t>
            </a:r>
            <a:r>
              <a:rPr dirty="0" sz="3200" spc="-5">
                <a:solidFill>
                  <a:srgbClr val="FFFF00"/>
                </a:solidFill>
              </a:rPr>
              <a:t>复合类型说明语句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11273" y="1430274"/>
            <a:ext cx="4991100" cy="27630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811273" y="1430274"/>
            <a:ext cx="4991100" cy="2763520"/>
          </a:xfrm>
          <a:custGeom>
            <a:avLst/>
            <a:gdLst/>
            <a:ahLst/>
            <a:cxnLst/>
            <a:rect l="l" t="t" r="r" b="b"/>
            <a:pathLst>
              <a:path w="4991100" h="2763520">
                <a:moveTo>
                  <a:pt x="0" y="2763012"/>
                </a:moveTo>
                <a:lnTo>
                  <a:pt x="4991100" y="2763012"/>
                </a:lnTo>
                <a:lnTo>
                  <a:pt x="4991100" y="0"/>
                </a:lnTo>
                <a:lnTo>
                  <a:pt x="0" y="0"/>
                </a:lnTo>
                <a:lnTo>
                  <a:pt x="0" y="276301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811273" y="1314043"/>
            <a:ext cx="4991100" cy="2833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04569" marR="655955">
              <a:lnSpc>
                <a:spcPct val="115300"/>
              </a:lnSpc>
              <a:spcBef>
                <a:spcPts val="100"/>
              </a:spcBef>
              <a:tabLst>
                <a:tab pos="3054350" algn="l"/>
              </a:tabLst>
            </a:pPr>
            <a:r>
              <a:rPr dirty="0" sz="3200" b="1">
                <a:latin typeface="Times New Roman"/>
                <a:cs typeface="Times New Roman"/>
              </a:rPr>
              <a:t>T</a:t>
            </a:r>
            <a:r>
              <a:rPr dirty="0" sz="3200" spc="-5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Wingdings 3"/>
                <a:cs typeface="Wingdings 3"/>
              </a:rPr>
              <a:t></a:t>
            </a:r>
            <a:r>
              <a:rPr dirty="0" sz="3200" spc="-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struct	</a:t>
            </a:r>
            <a:r>
              <a:rPr dirty="0" sz="3200" spc="-5" b="1">
                <a:latin typeface="Times New Roman"/>
                <a:cs typeface="Times New Roman"/>
              </a:rPr>
              <a:t>L</a:t>
            </a:r>
            <a:r>
              <a:rPr dirty="0" sz="3200" spc="-5" b="1">
                <a:solidFill>
                  <a:srgbClr val="FF6600"/>
                </a:solidFill>
                <a:latin typeface="Times New Roman"/>
                <a:cs typeface="Times New Roman"/>
              </a:rPr>
              <a:t>{</a:t>
            </a:r>
            <a:r>
              <a:rPr dirty="0" sz="3200" spc="-5" b="1">
                <a:latin typeface="Times New Roman"/>
                <a:cs typeface="Times New Roman"/>
              </a:rPr>
              <a:t>D</a:t>
            </a:r>
            <a:r>
              <a:rPr dirty="0" sz="3200" spc="-5" b="1">
                <a:solidFill>
                  <a:srgbClr val="FF6600"/>
                </a:solidFill>
                <a:latin typeface="Times New Roman"/>
                <a:cs typeface="Times New Roman"/>
              </a:rPr>
              <a:t>}</a:t>
            </a:r>
            <a:r>
              <a:rPr dirty="0" sz="3200" spc="-150" b="1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V  L </a:t>
            </a:r>
            <a:r>
              <a:rPr dirty="0" sz="3200" b="1">
                <a:latin typeface="Wingdings 3"/>
                <a:cs typeface="Wingdings 3"/>
              </a:rPr>
              <a:t></a:t>
            </a:r>
            <a:r>
              <a:rPr dirty="0" sz="320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id |</a:t>
            </a:r>
            <a:r>
              <a:rPr dirty="0" sz="3200" spc="-22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Symbol"/>
                <a:cs typeface="Symbol"/>
              </a:rPr>
              <a:t></a:t>
            </a:r>
            <a:endParaRPr sz="3200">
              <a:latin typeface="Symbol"/>
              <a:cs typeface="Symbol"/>
            </a:endParaRPr>
          </a:p>
          <a:p>
            <a:pPr marL="1004569">
              <a:lnSpc>
                <a:spcPct val="100000"/>
              </a:lnSpc>
              <a:spcBef>
                <a:spcPts val="560"/>
              </a:spcBef>
            </a:pPr>
            <a:r>
              <a:rPr dirty="0" sz="3200" b="1">
                <a:latin typeface="Times New Roman"/>
                <a:cs typeface="Times New Roman"/>
              </a:rPr>
              <a:t>D </a:t>
            </a:r>
            <a:r>
              <a:rPr dirty="0" sz="3200" b="1">
                <a:latin typeface="Wingdings 3"/>
                <a:cs typeface="Wingdings 3"/>
              </a:rPr>
              <a:t></a:t>
            </a:r>
            <a:r>
              <a:rPr dirty="0" sz="320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D;F |</a:t>
            </a:r>
            <a:r>
              <a:rPr dirty="0" sz="3200" spc="-16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F</a:t>
            </a:r>
            <a:endParaRPr sz="3200">
              <a:latin typeface="Times New Roman"/>
              <a:cs typeface="Times New Roman"/>
            </a:endParaRPr>
          </a:p>
          <a:p>
            <a:pPr marL="1004569" marR="1880870">
              <a:lnSpc>
                <a:spcPts val="4430"/>
              </a:lnSpc>
              <a:spcBef>
                <a:spcPts val="235"/>
              </a:spcBef>
            </a:pPr>
            <a:r>
              <a:rPr dirty="0" sz="3200" b="1">
                <a:latin typeface="Times New Roman"/>
                <a:cs typeface="Times New Roman"/>
              </a:rPr>
              <a:t>F </a:t>
            </a:r>
            <a:r>
              <a:rPr dirty="0" sz="3200" b="1">
                <a:latin typeface="Wingdings 3"/>
                <a:cs typeface="Wingdings 3"/>
              </a:rPr>
              <a:t></a:t>
            </a:r>
            <a:r>
              <a:rPr dirty="0" sz="320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type</a:t>
            </a:r>
            <a:r>
              <a:rPr dirty="0" sz="3200" spc="-27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V;  V </a:t>
            </a:r>
            <a:r>
              <a:rPr dirty="0" sz="3200" b="1">
                <a:latin typeface="Wingdings 3"/>
                <a:cs typeface="Wingdings 3"/>
              </a:rPr>
              <a:t></a:t>
            </a:r>
            <a:r>
              <a:rPr dirty="0" sz="3200" b="1">
                <a:latin typeface="Times New Roman"/>
                <a:cs typeface="Times New Roman"/>
              </a:rPr>
              <a:t> </a:t>
            </a:r>
            <a:r>
              <a:rPr dirty="0" sz="3200" spc="-200" b="1">
                <a:latin typeface="Times New Roman"/>
                <a:cs typeface="Times New Roman"/>
              </a:rPr>
              <a:t>V, </a:t>
            </a:r>
            <a:r>
              <a:rPr dirty="0" sz="3200" b="1">
                <a:latin typeface="Times New Roman"/>
                <a:cs typeface="Times New Roman"/>
              </a:rPr>
              <a:t>id |</a:t>
            </a:r>
            <a:r>
              <a:rPr dirty="0" sz="3200" spc="-4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Symbol"/>
                <a:cs typeface="Symbol"/>
              </a:rPr>
              <a:t>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78942" y="4288307"/>
            <a:ext cx="3383279" cy="169037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algn="ctr" marR="2279650">
              <a:lnSpc>
                <a:spcPct val="100000"/>
              </a:lnSpc>
              <a:spcBef>
                <a:spcPts val="110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其中：</a:t>
            </a:r>
            <a:endParaRPr sz="2800">
              <a:latin typeface="宋体"/>
              <a:cs typeface="宋体"/>
            </a:endParaRPr>
          </a:p>
          <a:p>
            <a:pPr algn="ctr" marL="532765">
              <a:lnSpc>
                <a:spcPct val="100000"/>
              </a:lnSpc>
              <a:spcBef>
                <a:spcPts val="1010"/>
              </a:spcBef>
            </a:pP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800" spc="-79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结构类型名；</a:t>
            </a:r>
            <a:endParaRPr sz="2800">
              <a:latin typeface="宋体"/>
              <a:cs typeface="宋体"/>
            </a:endParaRPr>
          </a:p>
          <a:p>
            <a:pPr algn="ctr" marL="513080">
              <a:lnSpc>
                <a:spcPct val="100000"/>
              </a:lnSpc>
              <a:spcBef>
                <a:spcPts val="1010"/>
              </a:spcBef>
            </a:pP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800" spc="-79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结构成员项；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86859" y="4842713"/>
            <a:ext cx="4566920" cy="1136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7780">
              <a:lnSpc>
                <a:spcPct val="13010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结构成员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2800" spc="-8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V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变量表； 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id: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标识符；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247" y="0"/>
            <a:ext cx="8198484" cy="6245860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  <a:tabLst>
                <a:tab pos="655955" algn="l"/>
                <a:tab pos="3784600" algn="l"/>
                <a:tab pos="4292600" algn="l"/>
                <a:tab pos="56959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6.6.1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说明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  <a:p>
            <a:pPr marL="74930">
              <a:lnSpc>
                <a:spcPct val="100000"/>
              </a:lnSpc>
              <a:spcBef>
                <a:spcPts val="1730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例如，</a:t>
            </a:r>
            <a:endParaRPr sz="3200">
              <a:latin typeface="宋体"/>
              <a:cs typeface="宋体"/>
            </a:endParaRPr>
          </a:p>
          <a:p>
            <a:pPr marL="584200">
              <a:lnSpc>
                <a:spcPct val="100000"/>
              </a:lnSpc>
              <a:spcBef>
                <a:spcPts val="540"/>
              </a:spcBef>
              <a:tabLst>
                <a:tab pos="180340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struct	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date</a:t>
            </a:r>
            <a:endParaRPr sz="3200">
              <a:latin typeface="Times New Roman"/>
              <a:cs typeface="Times New Roman"/>
            </a:endParaRPr>
          </a:p>
          <a:p>
            <a:pPr marL="989330">
              <a:lnSpc>
                <a:spcPct val="100000"/>
              </a:lnSpc>
              <a:spcBef>
                <a:spcPts val="575"/>
              </a:spcBef>
              <a:tabLst>
                <a:tab pos="522224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int </a:t>
            </a:r>
            <a:r>
              <a:rPr dirty="0" sz="3200" spc="-55" b="1">
                <a:solidFill>
                  <a:srgbClr val="FFFFFF"/>
                </a:solidFill>
                <a:latin typeface="Times New Roman"/>
                <a:cs typeface="Times New Roman"/>
              </a:rPr>
              <a:t>year,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month,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day;}	</a:t>
            </a:r>
            <a:r>
              <a:rPr dirty="0" sz="3200" spc="-30" b="1">
                <a:solidFill>
                  <a:srgbClr val="FFFF00"/>
                </a:solidFill>
                <a:latin typeface="Times New Roman"/>
                <a:cs typeface="Times New Roman"/>
              </a:rPr>
              <a:t>today,</a:t>
            </a:r>
            <a:r>
              <a:rPr dirty="0" sz="3200" spc="-7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yesterday;</a:t>
            </a:r>
            <a:endParaRPr sz="3200">
              <a:latin typeface="Times New Roman"/>
              <a:cs typeface="Times New Roman"/>
            </a:endParaRPr>
          </a:p>
          <a:p>
            <a:pPr marL="577850" indent="-363220">
              <a:lnSpc>
                <a:spcPct val="100000"/>
              </a:lnSpc>
              <a:spcBef>
                <a:spcPts val="2330"/>
              </a:spcBef>
              <a:buClr>
                <a:srgbClr val="66FFFF"/>
              </a:buClr>
              <a:buSzPct val="139062"/>
              <a:buFont typeface="Wingdings"/>
              <a:buChar char=""/>
              <a:tabLst>
                <a:tab pos="578485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语义处理涉及</a:t>
            </a:r>
            <a:endParaRPr sz="3200">
              <a:latin typeface="宋体"/>
              <a:cs typeface="宋体"/>
            </a:endParaRPr>
          </a:p>
          <a:p>
            <a:pPr lvl="1" marL="1399540" indent="-677545">
              <a:lnSpc>
                <a:spcPct val="100000"/>
              </a:lnSpc>
              <a:spcBef>
                <a:spcPts val="1155"/>
              </a:spcBef>
              <a:buFont typeface="Times New Roman"/>
              <a:buAutoNum type="arabicParenBoth"/>
              <a:tabLst>
                <a:tab pos="1399540" algn="l"/>
                <a:tab pos="1400175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结构成员与该结构相关；</a:t>
            </a:r>
            <a:endParaRPr sz="3200">
              <a:latin typeface="宋体"/>
              <a:cs typeface="宋体"/>
            </a:endParaRPr>
          </a:p>
          <a:p>
            <a:pPr lvl="1" marL="1434465" marR="257175" indent="-711835">
              <a:lnSpc>
                <a:spcPts val="4990"/>
              </a:lnSpc>
              <a:spcBef>
                <a:spcPts val="359"/>
              </a:spcBef>
              <a:buFont typeface="Times New Roman"/>
              <a:buAutoNum type="arabicParenBoth"/>
              <a:tabLst>
                <a:tab pos="1399540" algn="l"/>
                <a:tab pos="1400175" algn="l"/>
              </a:tabLst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结构的存储：一个结构的所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成员项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连续存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放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简单方式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lvl="1" marL="1434465" marR="222250" indent="-711835">
              <a:lnSpc>
                <a:spcPts val="4990"/>
              </a:lnSpc>
              <a:spcBef>
                <a:spcPts val="5"/>
              </a:spcBef>
              <a:buFont typeface="Times New Roman"/>
              <a:buAutoNum type="arabicParenBoth"/>
              <a:tabLst>
                <a:tab pos="1399540" algn="l"/>
                <a:tab pos="1400175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结构的引用是结构成员的引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，不能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整体引用；（成员信息须单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独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记录）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939986" y="3435286"/>
          <a:ext cx="6215380" cy="3203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2680"/>
                <a:gridCol w="1125220"/>
                <a:gridCol w="1009650"/>
                <a:gridCol w="991235"/>
                <a:gridCol w="1925955"/>
              </a:tblGrid>
              <a:tr h="517398">
                <a:tc>
                  <a:txBody>
                    <a:bodyPr/>
                    <a:lstStyle/>
                    <a:p>
                      <a:pPr marL="17843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28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21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731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2800" spc="-1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kind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type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2800" spc="-1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LEN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877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2800" spc="-1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OFFSET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9683">
                <a:tc>
                  <a:txBody>
                    <a:bodyPr/>
                    <a:lstStyle/>
                    <a:p>
                      <a:pPr algn="ctr" marR="4572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marR="26034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9683">
                <a:tc>
                  <a:txBody>
                    <a:bodyPr/>
                    <a:lstStyle/>
                    <a:p>
                      <a:pPr algn="ctr" marR="6604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75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array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686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9684">
                <a:tc>
                  <a:txBody>
                    <a:bodyPr/>
                    <a:lstStyle/>
                    <a:p>
                      <a:pPr algn="ctr" marR="26034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79882">
                <a:tc>
                  <a:txBody>
                    <a:bodyPr/>
                    <a:lstStyle/>
                    <a:p>
                      <a:pPr marL="31559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3229482" y="2985896"/>
            <a:ext cx="18637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宋体"/>
                <a:cs typeface="宋体"/>
              </a:rPr>
              <a:t>结构成员分表</a:t>
            </a:r>
            <a:endParaRPr sz="2400">
              <a:latin typeface="宋体"/>
              <a:cs typeface="宋体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33362" y="1087437"/>
          <a:ext cx="4043679" cy="165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8075"/>
                <a:gridCol w="1231264"/>
                <a:gridCol w="650875"/>
                <a:gridCol w="1010285"/>
              </a:tblGrid>
              <a:tr h="52044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spc="-1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kind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addr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20573">
                <a:tc>
                  <a:txBody>
                    <a:bodyPr/>
                    <a:lstStyle/>
                    <a:p>
                      <a:pPr marL="35814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struct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81405">
                <a:tc>
                  <a:txBody>
                    <a:bodyPr/>
                    <a:lstStyle/>
                    <a:p>
                      <a:pPr marL="26987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56743" y="0"/>
            <a:ext cx="3561715" cy="89916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345"/>
              </a:spcBef>
              <a:tabLst>
                <a:tab pos="73215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namelist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58061" y="1849373"/>
            <a:ext cx="2133600" cy="2352040"/>
          </a:xfrm>
          <a:custGeom>
            <a:avLst/>
            <a:gdLst/>
            <a:ahLst/>
            <a:cxnLst/>
            <a:rect l="l" t="t" r="r" b="b"/>
            <a:pathLst>
              <a:path w="2133600" h="2352040">
                <a:moveTo>
                  <a:pt x="2133600" y="0"/>
                </a:moveTo>
                <a:lnTo>
                  <a:pt x="0" y="235153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58061" y="4143755"/>
            <a:ext cx="1620520" cy="114300"/>
          </a:xfrm>
          <a:custGeom>
            <a:avLst/>
            <a:gdLst/>
            <a:ahLst/>
            <a:cxnLst/>
            <a:rect l="l" t="t" r="r" b="b"/>
            <a:pathLst>
              <a:path w="1620520" h="114300">
                <a:moveTo>
                  <a:pt x="1505712" y="0"/>
                </a:moveTo>
                <a:lnTo>
                  <a:pt x="1505712" y="114300"/>
                </a:lnTo>
                <a:lnTo>
                  <a:pt x="1581912" y="76200"/>
                </a:lnTo>
                <a:lnTo>
                  <a:pt x="1524762" y="76200"/>
                </a:lnTo>
                <a:lnTo>
                  <a:pt x="1524762" y="38100"/>
                </a:lnTo>
                <a:lnTo>
                  <a:pt x="1581912" y="38100"/>
                </a:lnTo>
                <a:lnTo>
                  <a:pt x="1505712" y="0"/>
                </a:lnTo>
                <a:close/>
              </a:path>
              <a:path w="1620520" h="114300">
                <a:moveTo>
                  <a:pt x="15057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505712" y="76200"/>
                </a:lnTo>
                <a:lnTo>
                  <a:pt x="1505712" y="38100"/>
                </a:lnTo>
                <a:close/>
              </a:path>
              <a:path w="1620520" h="114300">
                <a:moveTo>
                  <a:pt x="1581912" y="38100"/>
                </a:moveTo>
                <a:lnTo>
                  <a:pt x="1524762" y="38100"/>
                </a:lnTo>
                <a:lnTo>
                  <a:pt x="1524762" y="76200"/>
                </a:lnTo>
                <a:lnTo>
                  <a:pt x="1581912" y="76200"/>
                </a:lnTo>
                <a:lnTo>
                  <a:pt x="1620012" y="57150"/>
                </a:lnTo>
                <a:lnTo>
                  <a:pt x="158191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105783" y="26923"/>
            <a:ext cx="4425950" cy="815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390"/>
              </a:lnSpc>
              <a:spcBef>
                <a:spcPts val="100"/>
              </a:spcBef>
              <a:tabLst>
                <a:tab pos="520065" algn="l"/>
                <a:tab pos="192341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6.6.1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说明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  <a:p>
            <a:pPr algn="ctr" marR="478155">
              <a:lnSpc>
                <a:spcPts val="3829"/>
              </a:lnSpc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例如，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450204" y="766317"/>
            <a:ext cx="3162300" cy="2494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670"/>
              </a:lnSpc>
              <a:spcBef>
                <a:spcPts val="100"/>
              </a:spcBef>
            </a:pP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struct k1{</a:t>
            </a:r>
            <a:endParaRPr sz="3600">
              <a:latin typeface="Times New Roman"/>
              <a:cs typeface="Times New Roman"/>
            </a:endParaRPr>
          </a:p>
          <a:p>
            <a:pPr marL="1384300">
              <a:lnSpc>
                <a:spcPts val="3025"/>
              </a:lnSpc>
              <a:tabLst>
                <a:tab pos="2146300" algn="l"/>
              </a:tabLst>
            </a:pP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int	</a:t>
            </a:r>
            <a:r>
              <a:rPr dirty="0" sz="3600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3600">
              <a:latin typeface="Times New Roman"/>
              <a:cs typeface="Times New Roman"/>
            </a:endParaRPr>
          </a:p>
          <a:p>
            <a:pPr marL="1384300">
              <a:lnSpc>
                <a:spcPts val="3025"/>
              </a:lnSpc>
              <a:tabLst>
                <a:tab pos="2501265" algn="l"/>
              </a:tabLst>
            </a:pP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float	</a:t>
            </a:r>
            <a:r>
              <a:rPr dirty="0" sz="3600" b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3600">
              <a:latin typeface="Times New Roman"/>
              <a:cs typeface="Times New Roman"/>
            </a:endParaRPr>
          </a:p>
          <a:p>
            <a:pPr marL="1384300">
              <a:lnSpc>
                <a:spcPts val="3025"/>
              </a:lnSpc>
            </a:pP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int</a:t>
            </a:r>
            <a:r>
              <a:rPr dirty="0" sz="36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spc="-5" b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[10];</a:t>
            </a:r>
            <a:endParaRPr sz="3600">
              <a:latin typeface="Times New Roman"/>
              <a:cs typeface="Times New Roman"/>
            </a:endParaRPr>
          </a:p>
          <a:p>
            <a:pPr marL="1384300">
              <a:lnSpc>
                <a:spcPts val="3025"/>
              </a:lnSpc>
              <a:tabLst>
                <a:tab pos="2493645" algn="l"/>
              </a:tabLst>
            </a:pP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char	</a:t>
            </a:r>
            <a:r>
              <a:rPr dirty="0" sz="3600" spc="-5" b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3600">
              <a:latin typeface="Times New Roman"/>
              <a:cs typeface="Times New Roman"/>
            </a:endParaRPr>
          </a:p>
          <a:p>
            <a:pPr marL="1155700">
              <a:lnSpc>
                <a:spcPts val="3670"/>
              </a:lnSpc>
            </a:pP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1032" y="1001395"/>
            <a:ext cx="7164070" cy="60515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3800" spc="-15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黑体"/>
                <a:cs typeface="黑体"/>
                <a:hlinkClick r:id="rId2" action="ppaction://hlinksldjump"/>
              </a:rPr>
              <a:t>第</a:t>
            </a:r>
            <a:r>
              <a:rPr dirty="0" u="heavy" sz="3800" spc="-965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黑体"/>
                <a:cs typeface="黑体"/>
                <a:hlinkClick r:id="rId2" action="ppaction://hlinksldjump"/>
              </a:rPr>
              <a:t> </a:t>
            </a:r>
            <a:r>
              <a:rPr dirty="0" u="heavy" sz="3800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Times New Roman"/>
                <a:cs typeface="Times New Roman"/>
                <a:hlinkClick r:id="rId2" action="ppaction://hlinksldjump"/>
              </a:rPr>
              <a:t>6</a:t>
            </a:r>
            <a:r>
              <a:rPr dirty="0" u="heavy" sz="3800" spc="-20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dirty="0" u="heavy" sz="3800" spc="-15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黑体"/>
                <a:cs typeface="黑体"/>
                <a:hlinkClick r:id="rId2" action="ppaction://hlinksldjump"/>
              </a:rPr>
              <a:t>章</a:t>
            </a:r>
            <a:r>
              <a:rPr dirty="0" sz="3800" spc="925">
                <a:solidFill>
                  <a:srgbClr val="EAEAEA"/>
                </a:solidFill>
                <a:latin typeface="黑体"/>
                <a:cs typeface="黑体"/>
                <a:hlinkClick r:id="rId2" action="ppaction://hlinksldjump"/>
              </a:rPr>
              <a:t> </a:t>
            </a:r>
            <a:r>
              <a:rPr dirty="0" sz="3800">
                <a:solidFill>
                  <a:srgbClr val="FFFF00"/>
                </a:solidFill>
                <a:latin typeface="黑体"/>
                <a:cs typeface="黑体"/>
              </a:rPr>
              <a:t>语义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分</a:t>
            </a: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析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与中间</a:t>
            </a: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代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码生</a:t>
            </a: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成</a:t>
            </a:r>
            <a:endParaRPr sz="3800">
              <a:latin typeface="黑体"/>
              <a:cs typeface="黑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85750" rIns="0" bIns="0" rtlCol="0" vert="horz">
            <a:spAutoFit/>
          </a:bodyPr>
          <a:lstStyle/>
          <a:p>
            <a:pPr lvl="2" marL="1731645" indent="-1336675">
              <a:lnSpc>
                <a:spcPct val="100000"/>
              </a:lnSpc>
              <a:spcBef>
                <a:spcPts val="2250"/>
              </a:spcBef>
              <a:buFont typeface="Times New Roman"/>
              <a:buAutoNum type="arabicPeriod"/>
              <a:tabLst>
                <a:tab pos="1732280" algn="l"/>
                <a:tab pos="1732914" algn="l"/>
              </a:tabLst>
            </a:pPr>
            <a:r>
              <a:rPr dirty="0" sz="3500" b="1">
                <a:solidFill>
                  <a:srgbClr val="FFFF66"/>
                </a:solidFill>
                <a:latin typeface="宋体"/>
                <a:cs typeface="宋体"/>
              </a:rPr>
              <a:t>说明类语句的翻译</a:t>
            </a:r>
            <a:endParaRPr sz="3500">
              <a:latin typeface="宋体"/>
              <a:cs typeface="宋体"/>
            </a:endParaRPr>
          </a:p>
          <a:p>
            <a:pPr lvl="2" marL="1719580" indent="-1336675">
              <a:lnSpc>
                <a:spcPct val="100000"/>
              </a:lnSpc>
              <a:spcBef>
                <a:spcPts val="2150"/>
              </a:spcBef>
              <a:buFont typeface="Times New Roman"/>
              <a:buAutoNum type="arabicPeriod"/>
              <a:tabLst>
                <a:tab pos="1720214" algn="l"/>
                <a:tab pos="1720850" algn="l"/>
              </a:tabLst>
            </a:pP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赋值语句与表达式翻译</a:t>
            </a:r>
            <a:endParaRPr sz="3500">
              <a:latin typeface="宋体"/>
              <a:cs typeface="宋体"/>
            </a:endParaRPr>
          </a:p>
          <a:p>
            <a:pPr lvl="2" marL="1719580" indent="-1336675">
              <a:lnSpc>
                <a:spcPct val="100000"/>
              </a:lnSpc>
              <a:spcBef>
                <a:spcPts val="2105"/>
              </a:spcBef>
              <a:buFont typeface="Times New Roman"/>
              <a:buAutoNum type="arabicPeriod"/>
              <a:tabLst>
                <a:tab pos="1720214" algn="l"/>
                <a:tab pos="1720850" algn="l"/>
              </a:tabLst>
            </a:pP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控制流类语句翻译</a:t>
            </a:r>
            <a:endParaRPr sz="3500">
              <a:latin typeface="宋体"/>
              <a:cs typeface="宋体"/>
            </a:endParaRPr>
          </a:p>
          <a:p>
            <a:pPr lvl="2" marL="1719580" indent="-1336675">
              <a:lnSpc>
                <a:spcPct val="100000"/>
              </a:lnSpc>
              <a:spcBef>
                <a:spcPts val="2100"/>
              </a:spcBef>
              <a:buFont typeface="Times New Roman"/>
              <a:buAutoNum type="arabicPeriod"/>
              <a:tabLst>
                <a:tab pos="1720214" algn="l"/>
                <a:tab pos="1720850" algn="l"/>
              </a:tabLst>
            </a:pP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数组说明与数组元素引用</a:t>
            </a:r>
            <a:r>
              <a:rPr dirty="0" sz="35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翻译</a:t>
            </a:r>
            <a:endParaRPr sz="3500">
              <a:latin typeface="宋体"/>
              <a:cs typeface="宋体"/>
            </a:endParaRPr>
          </a:p>
          <a:p>
            <a:pPr lvl="2" marL="1719580" indent="-1336675">
              <a:lnSpc>
                <a:spcPct val="100000"/>
              </a:lnSpc>
              <a:spcBef>
                <a:spcPts val="2100"/>
              </a:spcBef>
              <a:buFont typeface="Times New Roman"/>
              <a:buAutoNum type="arabicPeriod"/>
              <a:tabLst>
                <a:tab pos="1720214" algn="l"/>
                <a:tab pos="1720850" algn="l"/>
              </a:tabLst>
            </a:pP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过程、函数说明和调用的</a:t>
            </a:r>
            <a:r>
              <a:rPr dirty="0" sz="3500" spc="-10" b="1">
                <a:solidFill>
                  <a:srgbClr val="FFFFFF"/>
                </a:solidFill>
                <a:latin typeface="宋体"/>
                <a:cs typeface="宋体"/>
              </a:rPr>
              <a:t>翻译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76731" y="26923"/>
            <a:ext cx="34855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40021" y="26923"/>
            <a:ext cx="33508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.6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语句翻译与中间代码生成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813804" y="2578607"/>
            <a:ext cx="1661160" cy="722630"/>
          </a:xfrm>
          <a:custGeom>
            <a:avLst/>
            <a:gdLst/>
            <a:ahLst/>
            <a:cxnLst/>
            <a:rect l="l" t="t" r="r" b="b"/>
            <a:pathLst>
              <a:path w="1661159" h="722629">
                <a:moveTo>
                  <a:pt x="415544" y="0"/>
                </a:moveTo>
                <a:lnTo>
                  <a:pt x="0" y="361188"/>
                </a:lnTo>
                <a:lnTo>
                  <a:pt x="415544" y="722376"/>
                </a:lnTo>
                <a:lnTo>
                  <a:pt x="415544" y="541781"/>
                </a:lnTo>
                <a:lnTo>
                  <a:pt x="1661160" y="541781"/>
                </a:lnTo>
                <a:lnTo>
                  <a:pt x="1661160" y="180593"/>
                </a:lnTo>
                <a:lnTo>
                  <a:pt x="415544" y="180593"/>
                </a:lnTo>
                <a:lnTo>
                  <a:pt x="415544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813804" y="2578607"/>
            <a:ext cx="1661160" cy="722630"/>
          </a:xfrm>
          <a:custGeom>
            <a:avLst/>
            <a:gdLst/>
            <a:ahLst/>
            <a:cxnLst/>
            <a:rect l="l" t="t" r="r" b="b"/>
            <a:pathLst>
              <a:path w="1661159" h="722629">
                <a:moveTo>
                  <a:pt x="0" y="361188"/>
                </a:moveTo>
                <a:lnTo>
                  <a:pt x="415544" y="0"/>
                </a:lnTo>
                <a:lnTo>
                  <a:pt x="415544" y="180593"/>
                </a:lnTo>
                <a:lnTo>
                  <a:pt x="1661160" y="180593"/>
                </a:lnTo>
                <a:lnTo>
                  <a:pt x="1661160" y="541781"/>
                </a:lnTo>
                <a:lnTo>
                  <a:pt x="415544" y="541781"/>
                </a:lnTo>
                <a:lnTo>
                  <a:pt x="415544" y="722376"/>
                </a:lnTo>
                <a:lnTo>
                  <a:pt x="0" y="361188"/>
                </a:lnTo>
                <a:close/>
              </a:path>
            </a:pathLst>
          </a:custGeom>
          <a:ln w="5715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2747" y="26923"/>
            <a:ext cx="88404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  <a:tab pos="3721100" algn="l"/>
                <a:tab pos="5505450" algn="l"/>
                <a:tab pos="62039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6.6.2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赋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值</a:t>
            </a:r>
            <a:r>
              <a:rPr dirty="0" u="sng" sz="2000" spc="-57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语句与表达式翻译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4040" y="585286"/>
            <a:ext cx="3766185" cy="2202815"/>
          </a:xfrm>
          <a:prstGeom prst="rect">
            <a:avLst/>
          </a:prstGeom>
        </p:spPr>
        <p:txBody>
          <a:bodyPr wrap="square" lIns="0" tIns="153670" rIns="0" bIns="0" rtlCol="0" vert="horz">
            <a:spAutoFit/>
          </a:bodyPr>
          <a:lstStyle/>
          <a:p>
            <a:pPr marL="485140" indent="-473075">
              <a:lnSpc>
                <a:spcPct val="100000"/>
              </a:lnSpc>
              <a:spcBef>
                <a:spcPts val="1210"/>
              </a:spcBef>
              <a:buClr>
                <a:srgbClr val="66FFFF"/>
              </a:buClr>
              <a:buSzPct val="145312"/>
              <a:buFont typeface="Wingdings"/>
              <a:buChar char=""/>
              <a:tabLst>
                <a:tab pos="48577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赋值语句形式定义</a:t>
            </a:r>
            <a:endParaRPr sz="3200">
              <a:latin typeface="宋体"/>
              <a:cs typeface="宋体"/>
            </a:endParaRPr>
          </a:p>
          <a:p>
            <a:pPr marL="1231900">
              <a:lnSpc>
                <a:spcPct val="100000"/>
              </a:lnSpc>
              <a:spcBef>
                <a:spcPts val="1245"/>
              </a:spcBef>
              <a:tabLst>
                <a:tab pos="1765300" algn="l"/>
                <a:tab pos="2507615" algn="l"/>
              </a:tabLst>
            </a:pP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A	</a:t>
            </a:r>
            <a:r>
              <a:rPr dirty="0" sz="3600" spc="-5" b="1">
                <a:solidFill>
                  <a:srgbClr val="FFFFFF"/>
                </a:solidFill>
                <a:latin typeface="Wingdings 3"/>
                <a:cs typeface="Wingdings 3"/>
              </a:rPr>
              <a:t></a:t>
            </a:r>
            <a:r>
              <a:rPr dirty="0" sz="3600" spc="-5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V </a:t>
            </a: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600" spc="-1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3600">
              <a:latin typeface="Times New Roman"/>
              <a:cs typeface="Times New Roman"/>
            </a:endParaRPr>
          </a:p>
          <a:p>
            <a:pPr marL="485140" indent="-473075">
              <a:lnSpc>
                <a:spcPct val="100000"/>
              </a:lnSpc>
              <a:spcBef>
                <a:spcPts val="2495"/>
              </a:spcBef>
              <a:buClr>
                <a:srgbClr val="66FFFF"/>
              </a:buClr>
              <a:buSzPct val="145312"/>
              <a:buFont typeface="Wingdings"/>
              <a:buChar char=""/>
              <a:tabLst>
                <a:tab pos="48577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赋值语句目标结构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7542" y="5031994"/>
            <a:ext cx="757364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1665" algn="l"/>
              </a:tabLst>
            </a:pPr>
            <a:r>
              <a:rPr dirty="0" u="heavy" sz="3200" b="1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Times New Roman"/>
                <a:cs typeface="Times New Roman"/>
              </a:rPr>
              <a:t>**	</a:t>
            </a:r>
            <a:r>
              <a:rPr dirty="0" u="heavy" sz="3200" b="1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宋体"/>
                <a:cs typeface="宋体"/>
              </a:rPr>
              <a:t>赋值语句的处理集中在表达</a:t>
            </a:r>
            <a:r>
              <a:rPr dirty="0" u="heavy" sz="3200" spc="-15" b="1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宋体"/>
                <a:cs typeface="宋体"/>
              </a:rPr>
              <a:t>式</a:t>
            </a:r>
            <a:r>
              <a:rPr dirty="0" u="heavy" sz="3200" b="1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宋体"/>
                <a:cs typeface="宋体"/>
              </a:rPr>
              <a:t>的处</a:t>
            </a:r>
            <a:r>
              <a:rPr dirty="0" u="heavy" sz="3200" spc="-15" b="1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宋体"/>
                <a:cs typeface="宋体"/>
              </a:rPr>
              <a:t>理</a:t>
            </a:r>
            <a:r>
              <a:rPr dirty="0" u="heavy" sz="3200" spc="-10" b="1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宋体"/>
                <a:cs typeface="宋体"/>
              </a:rPr>
              <a:t>上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24861" y="3124961"/>
            <a:ext cx="3677920" cy="1440180"/>
          </a:xfrm>
          <a:custGeom>
            <a:avLst/>
            <a:gdLst/>
            <a:ahLst/>
            <a:cxnLst/>
            <a:rect l="l" t="t" r="r" b="b"/>
            <a:pathLst>
              <a:path w="3677920" h="1440179">
                <a:moveTo>
                  <a:pt x="0" y="1440180"/>
                </a:moveTo>
                <a:lnTo>
                  <a:pt x="3677412" y="1440180"/>
                </a:lnTo>
                <a:lnTo>
                  <a:pt x="3677412" y="0"/>
                </a:lnTo>
                <a:lnTo>
                  <a:pt x="0" y="0"/>
                </a:lnTo>
                <a:lnTo>
                  <a:pt x="0" y="144018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312161" y="3050895"/>
            <a:ext cx="3703320" cy="1293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10540" marR="5080" indent="-498475">
              <a:lnSpc>
                <a:spcPct val="130000"/>
              </a:lnSpc>
              <a:spcBef>
                <a:spcPts val="100"/>
              </a:spcBef>
              <a:tabLst>
                <a:tab pos="510540" algn="l"/>
                <a:tab pos="1972310" algn="l"/>
                <a:tab pos="3689985" algn="l"/>
              </a:tabLst>
            </a:pPr>
            <a:r>
              <a:rPr dirty="0" u="heavy" sz="3200" b="1">
                <a:solidFill>
                  <a:srgbClr val="66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200" b="1">
                <a:solidFill>
                  <a:srgbClr val="66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3200" b="1">
                <a:solidFill>
                  <a:srgbClr val="66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计算</a:t>
            </a:r>
            <a:r>
              <a:rPr dirty="0" u="heavy" sz="3200" b="1">
                <a:solidFill>
                  <a:srgbClr val="66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E.c</a:t>
            </a:r>
            <a:r>
              <a:rPr dirty="0" u="heavy" sz="3200" spc="5" b="1">
                <a:solidFill>
                  <a:srgbClr val="66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o</a:t>
            </a:r>
            <a:r>
              <a:rPr dirty="0" u="heavy" sz="3200" b="1">
                <a:solidFill>
                  <a:srgbClr val="66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d</a:t>
            </a:r>
            <a:r>
              <a:rPr dirty="0" u="heavy" sz="3200" b="1">
                <a:solidFill>
                  <a:srgbClr val="66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e </a:t>
            </a:r>
            <a:r>
              <a:rPr dirty="0" u="heavy" sz="3200" b="1">
                <a:solidFill>
                  <a:srgbClr val="66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66FFFF"/>
                </a:solidFill>
                <a:latin typeface="Times New Roman"/>
                <a:cs typeface="Times New Roman"/>
              </a:rPr>
              <a:t>          </a:t>
            </a:r>
            <a:r>
              <a:rPr dirty="0" sz="3200" spc="5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66FFFF"/>
                </a:solidFill>
                <a:latin typeface="Times New Roman"/>
                <a:cs typeface="Times New Roman"/>
              </a:rPr>
              <a:t>E</a:t>
            </a:r>
            <a:r>
              <a:rPr dirty="0" sz="3200" spc="-10" b="1">
                <a:solidFill>
                  <a:srgbClr val="66FFFF"/>
                </a:solidFill>
                <a:latin typeface="宋体"/>
                <a:cs typeface="宋体"/>
              </a:rPr>
              <a:t>值</a:t>
            </a:r>
            <a:r>
              <a:rPr dirty="0" sz="3200" spc="-5" b="1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66FFFF"/>
                </a:solidFill>
                <a:latin typeface="Wingdings 3"/>
                <a:cs typeface="Wingdings 3"/>
              </a:rPr>
              <a:t></a:t>
            </a:r>
            <a:r>
              <a:rPr dirty="0" sz="3200">
                <a:solidFill>
                  <a:srgbClr val="66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87261" y="3124961"/>
            <a:ext cx="172720" cy="1440180"/>
          </a:xfrm>
          <a:custGeom>
            <a:avLst/>
            <a:gdLst/>
            <a:ahLst/>
            <a:cxnLst/>
            <a:rect l="l" t="t" r="r" b="b"/>
            <a:pathLst>
              <a:path w="172720" h="1440179">
                <a:moveTo>
                  <a:pt x="0" y="0"/>
                </a:moveTo>
                <a:lnTo>
                  <a:pt x="33492" y="9473"/>
                </a:lnTo>
                <a:lnTo>
                  <a:pt x="60864" y="35306"/>
                </a:lnTo>
                <a:lnTo>
                  <a:pt x="79331" y="73616"/>
                </a:lnTo>
                <a:lnTo>
                  <a:pt x="86105" y="120523"/>
                </a:lnTo>
                <a:lnTo>
                  <a:pt x="86105" y="599567"/>
                </a:lnTo>
                <a:lnTo>
                  <a:pt x="92880" y="646473"/>
                </a:lnTo>
                <a:lnTo>
                  <a:pt x="111347" y="684783"/>
                </a:lnTo>
                <a:lnTo>
                  <a:pt x="138719" y="710616"/>
                </a:lnTo>
                <a:lnTo>
                  <a:pt x="172212" y="720089"/>
                </a:lnTo>
                <a:lnTo>
                  <a:pt x="138719" y="729563"/>
                </a:lnTo>
                <a:lnTo>
                  <a:pt x="111347" y="755395"/>
                </a:lnTo>
                <a:lnTo>
                  <a:pt x="92880" y="793706"/>
                </a:lnTo>
                <a:lnTo>
                  <a:pt x="86105" y="840613"/>
                </a:lnTo>
                <a:lnTo>
                  <a:pt x="86105" y="1319657"/>
                </a:lnTo>
                <a:lnTo>
                  <a:pt x="79331" y="1366563"/>
                </a:lnTo>
                <a:lnTo>
                  <a:pt x="60864" y="1404874"/>
                </a:lnTo>
                <a:lnTo>
                  <a:pt x="33492" y="1430706"/>
                </a:lnTo>
                <a:lnTo>
                  <a:pt x="0" y="144018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537706" y="3469640"/>
            <a:ext cx="133794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Cod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区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2747" y="0"/>
            <a:ext cx="8840470" cy="6642100"/>
          </a:xfrm>
          <a:prstGeom prst="rect">
            <a:avLst/>
          </a:prstGeom>
        </p:spPr>
        <p:txBody>
          <a:bodyPr wrap="square" lIns="0" tIns="184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5"/>
              </a:spcBef>
              <a:tabLst>
                <a:tab pos="655320" algn="l"/>
                <a:tab pos="3721100" algn="l"/>
                <a:tab pos="5505450" algn="l"/>
                <a:tab pos="62039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6.6.2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赋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值</a:t>
            </a:r>
            <a:r>
              <a:rPr dirty="0" u="sng" sz="2000" spc="-57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语句与表达式翻译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100">
              <a:latin typeface="宋体"/>
              <a:cs typeface="宋体"/>
            </a:endParaRPr>
          </a:p>
          <a:p>
            <a:pPr marL="597535" indent="-306705">
              <a:lnSpc>
                <a:spcPct val="100000"/>
              </a:lnSpc>
              <a:buClr>
                <a:srgbClr val="66FFFF"/>
              </a:buClr>
              <a:buSzPct val="109375"/>
              <a:buFont typeface="Wingdings"/>
              <a:buChar char=""/>
              <a:tabLst>
                <a:tab pos="59817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赋值语句翻译语义子程序</a:t>
            </a:r>
            <a:endParaRPr sz="3200">
              <a:latin typeface="宋体"/>
              <a:cs typeface="宋体"/>
            </a:endParaRPr>
          </a:p>
          <a:p>
            <a:pPr marL="710565">
              <a:lnSpc>
                <a:spcPct val="100000"/>
              </a:lnSpc>
              <a:spcBef>
                <a:spcPts val="187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1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→i=E</a:t>
            </a:r>
            <a:endParaRPr sz="3200">
              <a:latin typeface="Times New Roman"/>
              <a:cs typeface="Times New Roman"/>
            </a:endParaRPr>
          </a:p>
          <a:p>
            <a:pPr marL="1663064">
              <a:lnSpc>
                <a:spcPct val="100000"/>
              </a:lnSpc>
              <a:spcBef>
                <a:spcPts val="39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{ GEN(=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E.PLACE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，</a:t>
            </a:r>
            <a:r>
              <a:rPr dirty="0" sz="3200" spc="-894" b="1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dirty="0" sz="3200" spc="-10" b="1">
                <a:solidFill>
                  <a:srgbClr val="66FFFF"/>
                </a:solidFill>
                <a:latin typeface="Times New Roman"/>
                <a:cs typeface="Times New Roman"/>
              </a:rPr>
              <a:t>_</a:t>
            </a:r>
            <a:r>
              <a:rPr dirty="0" sz="3200" spc="-10" b="1">
                <a:solidFill>
                  <a:srgbClr val="66FFFF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66FFFF"/>
                </a:solidFill>
                <a:latin typeface="Times New Roman"/>
                <a:cs typeface="Times New Roman"/>
              </a:rPr>
              <a:t>ENTRY(i)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291465">
              <a:lnSpc>
                <a:spcPct val="100000"/>
              </a:lnSpc>
              <a:spcBef>
                <a:spcPts val="2290"/>
              </a:spcBef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其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中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1446530" marR="741045" indent="-533400">
              <a:lnSpc>
                <a:spcPct val="130000"/>
              </a:lnSpc>
              <a:spcBef>
                <a:spcPts val="5"/>
              </a:spcBef>
            </a:pP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GEN</a:t>
            </a:r>
            <a:r>
              <a:rPr dirty="0" sz="2800" spc="-15" b="1">
                <a:solidFill>
                  <a:srgbClr val="FFFF66"/>
                </a:solidFill>
                <a:latin typeface="Times New Roman"/>
                <a:cs typeface="Times New Roman"/>
              </a:rPr>
              <a:t>(OP</a:t>
            </a:r>
            <a:r>
              <a:rPr dirty="0" sz="2800" spc="-15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spc="-15" b="1">
                <a:solidFill>
                  <a:srgbClr val="FFFF66"/>
                </a:solidFill>
                <a:latin typeface="Times New Roman"/>
                <a:cs typeface="Times New Roman"/>
              </a:rPr>
              <a:t>ARG1</a:t>
            </a:r>
            <a:r>
              <a:rPr dirty="0" sz="2800" spc="-15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spc="-15" b="1">
                <a:solidFill>
                  <a:srgbClr val="FFFF66"/>
                </a:solidFill>
                <a:latin typeface="Times New Roman"/>
                <a:cs typeface="Times New Roman"/>
              </a:rPr>
              <a:t>ARG2</a:t>
            </a:r>
            <a:r>
              <a:rPr dirty="0" sz="2800" spc="-15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spc="-15" b="1">
                <a:solidFill>
                  <a:srgbClr val="FFFF66"/>
                </a:solidFill>
                <a:latin typeface="Times New Roman"/>
                <a:cs typeface="Times New Roman"/>
              </a:rPr>
              <a:t>RESULT):</a:t>
            </a:r>
            <a:r>
              <a:rPr dirty="0" sz="2800" spc="1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函数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把四元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(OP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ARG1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ARG2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RESULT)</a:t>
            </a:r>
            <a:endParaRPr sz="2800">
              <a:latin typeface="Times New Roman"/>
              <a:cs typeface="Times New Roman"/>
            </a:endParaRPr>
          </a:p>
          <a:p>
            <a:pPr marL="735965">
              <a:lnSpc>
                <a:spcPct val="100000"/>
              </a:lnSpc>
              <a:spcBef>
                <a:spcPts val="101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填入四元式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646430" marR="713740" indent="266700">
              <a:lnSpc>
                <a:spcPct val="130000"/>
              </a:lnSpc>
            </a:pP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.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AC</a:t>
            </a:r>
            <a:r>
              <a:rPr dirty="0" sz="2800" spc="-20" b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表示存放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的变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名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符号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的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入口地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址。</a:t>
            </a:r>
            <a:endParaRPr sz="2800">
              <a:latin typeface="宋体"/>
              <a:cs typeface="宋体"/>
            </a:endParaRPr>
          </a:p>
          <a:p>
            <a:pPr marL="913130">
              <a:lnSpc>
                <a:spcPct val="100000"/>
              </a:lnSpc>
              <a:spcBef>
                <a:spcPts val="1010"/>
              </a:spcBef>
            </a:pP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ENTRY(i)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给出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表示的单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词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在符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表中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800" spc="50" b="1">
                <a:solidFill>
                  <a:srgbClr val="FFFFFF"/>
                </a:solidFill>
                <a:latin typeface="宋体"/>
                <a:cs typeface="宋体"/>
              </a:rPr>
              <a:t>口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62911" y="2566416"/>
            <a:ext cx="1161415" cy="0"/>
          </a:xfrm>
          <a:custGeom>
            <a:avLst/>
            <a:gdLst/>
            <a:ahLst/>
            <a:cxnLst/>
            <a:rect l="l" t="t" r="r" b="b"/>
            <a:pathLst>
              <a:path w="1161414" h="0">
                <a:moveTo>
                  <a:pt x="0" y="0"/>
                </a:moveTo>
                <a:lnTo>
                  <a:pt x="1161288" y="0"/>
                </a:lnTo>
              </a:path>
            </a:pathLst>
          </a:custGeom>
          <a:ln w="57150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57600" y="2586227"/>
            <a:ext cx="1943100" cy="0"/>
          </a:xfrm>
          <a:custGeom>
            <a:avLst/>
            <a:gdLst/>
            <a:ahLst/>
            <a:cxnLst/>
            <a:rect l="l" t="t" r="r" b="b"/>
            <a:pathLst>
              <a:path w="1943100" h="0">
                <a:moveTo>
                  <a:pt x="0" y="0"/>
                </a:moveTo>
                <a:lnTo>
                  <a:pt x="1943100" y="0"/>
                </a:lnTo>
              </a:path>
            </a:pathLst>
          </a:custGeom>
          <a:ln w="57150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611111" y="2586227"/>
            <a:ext cx="1943100" cy="0"/>
          </a:xfrm>
          <a:custGeom>
            <a:avLst/>
            <a:gdLst/>
            <a:ahLst/>
            <a:cxnLst/>
            <a:rect l="l" t="t" r="r" b="b"/>
            <a:pathLst>
              <a:path w="1943100" h="0">
                <a:moveTo>
                  <a:pt x="0" y="0"/>
                </a:moveTo>
                <a:lnTo>
                  <a:pt x="1943100" y="0"/>
                </a:lnTo>
              </a:path>
            </a:pathLst>
          </a:custGeom>
          <a:ln w="57150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2747" y="26923"/>
            <a:ext cx="884047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  <a:tab pos="3721100" algn="l"/>
                <a:tab pos="5505450" algn="l"/>
                <a:tab pos="6203950" algn="l"/>
              </a:tabLst>
            </a:pPr>
            <a:r>
              <a:rPr dirty="0" sz="200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>
                <a:solidFill>
                  <a:srgbClr val="A15100"/>
                </a:solidFill>
              </a:rPr>
              <a:t>语义分析与中间代码生</a:t>
            </a:r>
            <a:r>
              <a:rPr dirty="0" sz="2000" spc="-5">
                <a:solidFill>
                  <a:srgbClr val="A15100"/>
                </a:solidFill>
              </a:rPr>
              <a:t>成	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6.6</a:t>
            </a:r>
            <a:r>
              <a:rPr dirty="0" sz="2000" spc="495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A15100"/>
                </a:solidFill>
              </a:rPr>
              <a:t>语句翻</a:t>
            </a:r>
            <a:r>
              <a:rPr dirty="0" sz="2000" spc="-5">
                <a:solidFill>
                  <a:srgbClr val="A15100"/>
                </a:solidFill>
              </a:rPr>
              <a:t>译</a:t>
            </a:r>
            <a:r>
              <a:rPr dirty="0" u="sng" sz="2000" spc="-5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</a:rPr>
              <a:t> 	</a:t>
            </a:r>
            <a:r>
              <a:rPr dirty="0" u="sng" sz="200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6.6.2	</a:t>
            </a:r>
            <a:r>
              <a:rPr dirty="0" u="sng" sz="2000" spc="5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</a:rPr>
              <a:t>赋</a:t>
            </a:r>
            <a:r>
              <a:rPr dirty="0" u="sng" sz="2000" spc="-5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</a:rPr>
              <a:t>值</a:t>
            </a:r>
            <a:r>
              <a:rPr dirty="0" u="sng" sz="2000" spc="-575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</a:rPr>
              <a:t> </a:t>
            </a:r>
            <a:r>
              <a:rPr dirty="0" u="sng" sz="2000" spc="5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</a:rPr>
              <a:t>语句与表达式翻译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5440" y="820927"/>
            <a:ext cx="8091805" cy="34029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29565" indent="-317500">
              <a:lnSpc>
                <a:spcPct val="100000"/>
              </a:lnSpc>
              <a:spcBef>
                <a:spcPts val="105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33020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赋值语句语义处理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66FFFF"/>
              </a:buClr>
              <a:buFont typeface="Wingdings"/>
              <a:buChar char=""/>
            </a:pPr>
            <a:endParaRPr sz="4050">
              <a:latin typeface="宋体"/>
              <a:cs typeface="宋体"/>
            </a:endParaRPr>
          </a:p>
          <a:p>
            <a:pPr lvl="1" marL="892175" indent="-677545">
              <a:lnSpc>
                <a:spcPct val="100000"/>
              </a:lnSpc>
              <a:buFont typeface="Times New Roman"/>
              <a:buAutoNum type="arabicParenBoth"/>
              <a:tabLst>
                <a:tab pos="892175" algn="l"/>
                <a:tab pos="89281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表达式处理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产生表达式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中间代</a:t>
            </a:r>
            <a:r>
              <a:rPr dirty="0" sz="3200" spc="10" b="1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60"/>
              </a:spcBef>
              <a:buClr>
                <a:srgbClr val="FFFFFF"/>
              </a:buClr>
              <a:buFont typeface="Times New Roman"/>
              <a:buAutoNum type="arabicParenBoth"/>
            </a:pPr>
            <a:endParaRPr sz="2850">
              <a:latin typeface="宋体"/>
              <a:cs typeface="宋体"/>
            </a:endParaRPr>
          </a:p>
          <a:p>
            <a:pPr lvl="1" marL="101600" marR="5080" indent="202565">
              <a:lnSpc>
                <a:spcPct val="130000"/>
              </a:lnSpc>
              <a:buFont typeface="Times New Roman"/>
              <a:buAutoNum type="arabicParenBoth"/>
              <a:tabLst>
                <a:tab pos="980440" algn="l"/>
                <a:tab pos="981075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”的处理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3200" spc="-9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”左右部类型相容性 检查和转</a:t>
            </a:r>
            <a:r>
              <a:rPr dirty="0" sz="3200" spc="780" b="1">
                <a:solidFill>
                  <a:srgbClr val="FFFFFF"/>
                </a:solidFill>
                <a:latin typeface="宋体"/>
                <a:cs typeface="宋体"/>
              </a:rPr>
              <a:t>换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2747" y="26923"/>
            <a:ext cx="88404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  <a:tab pos="3721100" algn="l"/>
                <a:tab pos="5505450" algn="l"/>
                <a:tab pos="62039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6.6.2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赋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值</a:t>
            </a:r>
            <a:r>
              <a:rPr dirty="0" u="sng" sz="2000" spc="-57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语句与表达式翻译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79875" y="1566418"/>
            <a:ext cx="242951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78815" algn="l"/>
                <a:tab pos="1309370" algn="l"/>
                <a:tab pos="1784985" algn="l"/>
                <a:tab pos="207772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|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	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o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|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	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2140" y="795025"/>
            <a:ext cx="3488690" cy="2400300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329565" indent="-317500">
              <a:lnSpc>
                <a:spcPct val="100000"/>
              </a:lnSpc>
              <a:spcBef>
                <a:spcPts val="1220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33020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表达式形式定义</a:t>
            </a:r>
            <a:endParaRPr sz="3200">
              <a:latin typeface="宋体"/>
              <a:cs typeface="宋体"/>
            </a:endParaRPr>
          </a:p>
          <a:p>
            <a:pPr algn="ctr" marL="922019">
              <a:lnSpc>
                <a:spcPct val="100000"/>
              </a:lnSpc>
              <a:spcBef>
                <a:spcPts val="1115"/>
              </a:spcBef>
              <a:tabLst>
                <a:tab pos="1396365" algn="l"/>
                <a:tab pos="1963420" algn="l"/>
                <a:tab pos="243713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	</a:t>
            </a:r>
            <a:r>
              <a:rPr dirty="0" sz="3200" b="1">
                <a:solidFill>
                  <a:srgbClr val="FFFF66"/>
                </a:solidFill>
                <a:latin typeface="Wingdings 3"/>
                <a:cs typeface="Wingdings 3"/>
              </a:rPr>
              <a:t></a:t>
            </a:r>
            <a:r>
              <a:rPr dirty="0" sz="3200">
                <a:solidFill>
                  <a:srgbClr val="FFFF66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	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op</a:t>
            </a:r>
            <a:endParaRPr sz="3200">
              <a:latin typeface="Times New Roman"/>
              <a:cs typeface="Times New Roman"/>
            </a:endParaRPr>
          </a:p>
          <a:p>
            <a:pPr marL="279400">
              <a:lnSpc>
                <a:spcPct val="100000"/>
              </a:lnSpc>
              <a:spcBef>
                <a:spcPts val="1050"/>
              </a:spcBef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其中：</a:t>
            </a:r>
            <a:endParaRPr sz="2800">
              <a:latin typeface="宋体"/>
              <a:cs typeface="宋体"/>
            </a:endParaRPr>
          </a:p>
          <a:p>
            <a:pPr algn="ctr" marL="888365">
              <a:lnSpc>
                <a:spcPct val="100000"/>
              </a:lnSpc>
              <a:spcBef>
                <a:spcPts val="1010"/>
              </a:spcBef>
              <a:tabLst>
                <a:tab pos="1679575" algn="l"/>
              </a:tabLst>
            </a:pP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OP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为运算符；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0030" y="3298063"/>
            <a:ext cx="28174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1981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E,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id: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运算对象。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11" y="26923"/>
            <a:ext cx="90868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0"/>
              </a:spcBef>
              <a:tabLst>
                <a:tab pos="778510" algn="l"/>
                <a:tab pos="3843654" algn="l"/>
                <a:tab pos="5628640" algn="l"/>
                <a:tab pos="632650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6.6.2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赋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值</a:t>
            </a:r>
            <a:r>
              <a:rPr dirty="0" u="sng" sz="2000" spc="-53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语句与表达式翻译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740" y="613028"/>
            <a:ext cx="8775700" cy="54489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02615" indent="-317500">
              <a:lnSpc>
                <a:spcPct val="100000"/>
              </a:lnSpc>
              <a:spcBef>
                <a:spcPts val="105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60325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表达式翻译的语义子程序</a:t>
            </a:r>
            <a:endParaRPr sz="3200">
              <a:latin typeface="宋体"/>
              <a:cs typeface="宋体"/>
            </a:endParaRPr>
          </a:p>
          <a:p>
            <a:pPr marL="905510" indent="-829944">
              <a:lnSpc>
                <a:spcPct val="100000"/>
              </a:lnSpc>
              <a:spcBef>
                <a:spcPts val="2490"/>
              </a:spcBef>
              <a:buAutoNum type="arabicParenBoth"/>
              <a:tabLst>
                <a:tab pos="904875" algn="l"/>
                <a:tab pos="906144" algn="l"/>
                <a:tab pos="2081530" algn="l"/>
                <a:tab pos="2781300" algn="l"/>
              </a:tabLst>
            </a:pPr>
            <a:r>
              <a:rPr dirty="0" sz="3000" b="1">
                <a:solidFill>
                  <a:srgbClr val="FFFF00"/>
                </a:solidFill>
                <a:latin typeface="Times New Roman"/>
                <a:cs typeface="Times New Roman"/>
              </a:rPr>
              <a:t>E </a:t>
            </a:r>
            <a:r>
              <a:rPr dirty="0" sz="3000" spc="-5" b="1">
                <a:solidFill>
                  <a:srgbClr val="FFFF00"/>
                </a:solidFill>
                <a:latin typeface="Times New Roman"/>
                <a:cs typeface="Times New Roman"/>
              </a:rPr>
              <a:t>→E	OP	</a:t>
            </a:r>
            <a:r>
              <a:rPr dirty="0" sz="3000" b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endParaRPr sz="3000">
              <a:latin typeface="Times New Roman"/>
              <a:cs typeface="Times New Roman"/>
            </a:endParaRPr>
          </a:p>
          <a:p>
            <a:pPr marL="845819">
              <a:lnSpc>
                <a:spcPct val="100000"/>
              </a:lnSpc>
              <a:spcBef>
                <a:spcPts val="1080"/>
              </a:spcBef>
            </a:pPr>
            <a:r>
              <a:rPr dirty="0" sz="3000" spc="-15" b="1">
                <a:solidFill>
                  <a:srgbClr val="66FFFF"/>
                </a:solidFill>
                <a:latin typeface="宋体"/>
                <a:cs typeface="宋体"/>
              </a:rPr>
              <a:t>{</a:t>
            </a:r>
            <a:r>
              <a:rPr dirty="0" sz="3000" spc="5" b="1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dirty="0" sz="3000" b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000" b="1">
                <a:solidFill>
                  <a:srgbClr val="FFFF00"/>
                </a:solidFill>
                <a:latin typeface="宋体"/>
                <a:cs typeface="宋体"/>
              </a:rPr>
              <a:t>.</a:t>
            </a:r>
            <a:r>
              <a:rPr dirty="0" sz="3000" b="1">
                <a:solidFill>
                  <a:srgbClr val="FFFF00"/>
                </a:solidFill>
                <a:latin typeface="Times New Roman"/>
                <a:cs typeface="Times New Roman"/>
              </a:rPr>
              <a:t>PLACE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=NEWTEMP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000">
              <a:latin typeface="宋体"/>
              <a:cs typeface="宋体"/>
            </a:endParaRPr>
          </a:p>
          <a:p>
            <a:pPr marL="845819">
              <a:lnSpc>
                <a:spcPct val="100000"/>
              </a:lnSpc>
              <a:spcBef>
                <a:spcPts val="1085"/>
              </a:spcBef>
            </a:pPr>
            <a:r>
              <a:rPr dirty="0" sz="3000" spc="-45" b="1">
                <a:solidFill>
                  <a:srgbClr val="99FFCC"/>
                </a:solidFill>
                <a:latin typeface="Times New Roman"/>
                <a:cs typeface="Times New Roman"/>
              </a:rPr>
              <a:t>GEN</a:t>
            </a:r>
            <a:r>
              <a:rPr dirty="0" sz="3000" spc="-45" b="1">
                <a:solidFill>
                  <a:srgbClr val="FFFFFF"/>
                </a:solidFill>
                <a:latin typeface="宋体"/>
                <a:cs typeface="宋体"/>
              </a:rPr>
              <a:t>(</a:t>
            </a:r>
            <a:r>
              <a:rPr dirty="0" sz="3000" spc="-45" b="1">
                <a:solidFill>
                  <a:srgbClr val="FFFFFF"/>
                </a:solidFill>
                <a:latin typeface="Times New Roman"/>
                <a:cs typeface="Times New Roman"/>
              </a:rPr>
              <a:t>OP</a:t>
            </a:r>
            <a:r>
              <a:rPr dirty="0" sz="3000" spc="-45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baseline="-15277" sz="30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PLACE</a:t>
            </a:r>
            <a:r>
              <a:rPr dirty="0" sz="3000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baseline="-15277" sz="30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PLACE</a:t>
            </a:r>
            <a:r>
              <a:rPr dirty="0" sz="30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3000" spc="-4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FFFF00"/>
                </a:solidFill>
                <a:latin typeface="Times New Roman"/>
                <a:cs typeface="Times New Roman"/>
              </a:rPr>
              <a:t>E.PLACE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)</a:t>
            </a:r>
            <a:r>
              <a:rPr dirty="0" sz="3000" b="1">
                <a:solidFill>
                  <a:srgbClr val="66FFFF"/>
                </a:solidFill>
                <a:latin typeface="宋体"/>
                <a:cs typeface="宋体"/>
              </a:rPr>
              <a:t>}</a:t>
            </a:r>
            <a:endParaRPr sz="3000">
              <a:latin typeface="宋体"/>
              <a:cs typeface="宋体"/>
            </a:endParaRPr>
          </a:p>
          <a:p>
            <a:pPr marL="905510" indent="-829944">
              <a:lnSpc>
                <a:spcPct val="100000"/>
              </a:lnSpc>
              <a:spcBef>
                <a:spcPts val="1080"/>
              </a:spcBef>
              <a:buAutoNum type="arabicParenBoth" startAt="2"/>
              <a:tabLst>
                <a:tab pos="904875" algn="l"/>
                <a:tab pos="906144" algn="l"/>
                <a:tab pos="1350010" algn="l"/>
              </a:tabLst>
            </a:pPr>
            <a:r>
              <a:rPr dirty="0" sz="3000" b="1">
                <a:solidFill>
                  <a:srgbClr val="FFFF00"/>
                </a:solidFill>
                <a:latin typeface="Times New Roman"/>
                <a:cs typeface="Times New Roman"/>
              </a:rPr>
              <a:t>E	</a:t>
            </a:r>
            <a:r>
              <a:rPr dirty="0" sz="3000" spc="-5" b="1">
                <a:solidFill>
                  <a:srgbClr val="FFFF00"/>
                </a:solidFill>
                <a:latin typeface="宋体"/>
                <a:cs typeface="宋体"/>
              </a:rPr>
              <a:t>→</a:t>
            </a:r>
            <a:r>
              <a:rPr dirty="0" sz="3000" spc="-5" b="1">
                <a:solidFill>
                  <a:srgbClr val="FFFF00"/>
                </a:solidFill>
                <a:latin typeface="Times New Roman"/>
                <a:cs typeface="Times New Roman"/>
              </a:rPr>
              <a:t>OP</a:t>
            </a:r>
            <a:r>
              <a:rPr dirty="0" sz="3000" spc="-15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endParaRPr sz="3000">
              <a:latin typeface="Times New Roman"/>
              <a:cs typeface="Times New Roman"/>
            </a:endParaRPr>
          </a:p>
          <a:p>
            <a:pPr marL="845819">
              <a:lnSpc>
                <a:spcPct val="100000"/>
              </a:lnSpc>
              <a:spcBef>
                <a:spcPts val="1080"/>
              </a:spcBef>
            </a:pPr>
            <a:r>
              <a:rPr dirty="0" sz="3000" spc="-15" b="1">
                <a:solidFill>
                  <a:srgbClr val="66FFFF"/>
                </a:solidFill>
                <a:latin typeface="宋体"/>
                <a:cs typeface="宋体"/>
              </a:rPr>
              <a:t>{</a:t>
            </a:r>
            <a:r>
              <a:rPr dirty="0" sz="3000" b="1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dirty="0" sz="3000" b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000" b="1">
                <a:solidFill>
                  <a:srgbClr val="FFFF00"/>
                </a:solidFill>
                <a:latin typeface="宋体"/>
                <a:cs typeface="宋体"/>
              </a:rPr>
              <a:t>.</a:t>
            </a:r>
            <a:r>
              <a:rPr dirty="0" sz="3000" b="1">
                <a:solidFill>
                  <a:srgbClr val="FFFF00"/>
                </a:solidFill>
                <a:latin typeface="Times New Roman"/>
                <a:cs typeface="Times New Roman"/>
              </a:rPr>
              <a:t>PLACE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NEWTEMP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000">
              <a:latin typeface="宋体"/>
              <a:cs typeface="宋体"/>
            </a:endParaRPr>
          </a:p>
          <a:p>
            <a:pPr marL="1229995">
              <a:lnSpc>
                <a:spcPct val="100000"/>
              </a:lnSpc>
              <a:spcBef>
                <a:spcPts val="1080"/>
              </a:spcBef>
              <a:tabLst>
                <a:tab pos="5657850" algn="l"/>
              </a:tabLst>
            </a:pPr>
            <a:r>
              <a:rPr dirty="0" sz="3000" spc="-45" b="1">
                <a:solidFill>
                  <a:srgbClr val="99FFCC"/>
                </a:solidFill>
                <a:latin typeface="Times New Roman"/>
                <a:cs typeface="Times New Roman"/>
              </a:rPr>
              <a:t>GEN</a:t>
            </a:r>
            <a:r>
              <a:rPr dirty="0" sz="3000" spc="-45" b="1">
                <a:solidFill>
                  <a:srgbClr val="FFFFFF"/>
                </a:solidFill>
                <a:latin typeface="Times New Roman"/>
                <a:cs typeface="Times New Roman"/>
              </a:rPr>
              <a:t>(OP</a:t>
            </a:r>
            <a:r>
              <a:rPr dirty="0" sz="3000" spc="-4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3000" spc="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E1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PLACE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，_</a:t>
            </a:r>
            <a:r>
              <a:rPr dirty="0" sz="3000" b="1">
                <a:solidFill>
                  <a:srgbClr val="FFFF00"/>
                </a:solidFill>
                <a:latin typeface="Times New Roman"/>
                <a:cs typeface="Times New Roman"/>
              </a:rPr>
              <a:t>,	E.PLACE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)</a:t>
            </a:r>
            <a:r>
              <a:rPr dirty="0" sz="3000" b="1">
                <a:solidFill>
                  <a:srgbClr val="66FFFF"/>
                </a:solidFill>
                <a:latin typeface="宋体"/>
                <a:cs typeface="宋体"/>
              </a:rPr>
              <a:t>}</a:t>
            </a:r>
            <a:endParaRPr sz="3000">
              <a:latin typeface="宋体"/>
              <a:cs typeface="宋体"/>
            </a:endParaRPr>
          </a:p>
          <a:p>
            <a:pPr marL="902335" indent="-826769">
              <a:lnSpc>
                <a:spcPct val="100000"/>
              </a:lnSpc>
              <a:spcBef>
                <a:spcPts val="1080"/>
              </a:spcBef>
              <a:buAutoNum type="arabicParenBoth" startAt="3"/>
              <a:tabLst>
                <a:tab pos="902335" algn="l"/>
                <a:tab pos="902969" algn="l"/>
              </a:tabLst>
            </a:pPr>
            <a:r>
              <a:rPr dirty="0" sz="3000" b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0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FFFF00"/>
                </a:solidFill>
                <a:latin typeface="Times New Roman"/>
                <a:cs typeface="Times New Roman"/>
              </a:rPr>
              <a:t>→id</a:t>
            </a:r>
            <a:endParaRPr sz="3000">
              <a:latin typeface="Times New Roman"/>
              <a:cs typeface="Times New Roman"/>
            </a:endParaRPr>
          </a:p>
          <a:p>
            <a:pPr marL="845819">
              <a:lnSpc>
                <a:spcPct val="100000"/>
              </a:lnSpc>
              <a:spcBef>
                <a:spcPts val="1080"/>
              </a:spcBef>
              <a:tabLst>
                <a:tab pos="5267325" algn="l"/>
              </a:tabLst>
            </a:pPr>
            <a:r>
              <a:rPr dirty="0" sz="3000" spc="-15" b="1">
                <a:solidFill>
                  <a:srgbClr val="66FFFF"/>
                </a:solidFill>
                <a:latin typeface="宋体"/>
                <a:cs typeface="宋体"/>
              </a:rPr>
              <a:t>{</a:t>
            </a:r>
            <a:r>
              <a:rPr dirty="0" sz="3000" spc="40" b="1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dirty="0" sz="3000" spc="-1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000" spc="-10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3000" spc="-10" b="1">
                <a:solidFill>
                  <a:srgbClr val="FFFFFF"/>
                </a:solidFill>
                <a:latin typeface="Times New Roman"/>
                <a:cs typeface="Times New Roman"/>
              </a:rPr>
              <a:t>PLACE=ENTRY(id)	</a:t>
            </a:r>
            <a:r>
              <a:rPr dirty="0" sz="3000" spc="-15" b="1">
                <a:solidFill>
                  <a:srgbClr val="66FFFF"/>
                </a:solidFill>
                <a:latin typeface="宋体"/>
                <a:cs typeface="宋体"/>
              </a:rPr>
              <a:t>}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92261" y="457962"/>
            <a:ext cx="914400" cy="518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455152" y="522731"/>
            <a:ext cx="388620" cy="388620"/>
          </a:xfrm>
          <a:custGeom>
            <a:avLst/>
            <a:gdLst/>
            <a:ahLst/>
            <a:cxnLst/>
            <a:rect l="l" t="t" r="r" b="b"/>
            <a:pathLst>
              <a:path w="388620" h="388619">
                <a:moveTo>
                  <a:pt x="388620" y="194309"/>
                </a:moveTo>
                <a:lnTo>
                  <a:pt x="0" y="388619"/>
                </a:lnTo>
                <a:lnTo>
                  <a:pt x="0" y="0"/>
                </a:lnTo>
                <a:lnTo>
                  <a:pt x="388620" y="19430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192261" y="457962"/>
            <a:ext cx="914400" cy="518159"/>
          </a:xfrm>
          <a:custGeom>
            <a:avLst/>
            <a:gdLst/>
            <a:ahLst/>
            <a:cxnLst/>
            <a:rect l="l" t="t" r="r" b="b"/>
            <a:pathLst>
              <a:path w="914400" h="518159">
                <a:moveTo>
                  <a:pt x="0" y="518160"/>
                </a:moveTo>
                <a:lnTo>
                  <a:pt x="914400" y="518160"/>
                </a:lnTo>
                <a:lnTo>
                  <a:pt x="914400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2747" y="0"/>
            <a:ext cx="8840470" cy="1963420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  <a:tabLst>
                <a:tab pos="655320" algn="l"/>
                <a:tab pos="3721100" algn="l"/>
                <a:tab pos="5505450" algn="l"/>
                <a:tab pos="62039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6.6.2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赋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值</a:t>
            </a:r>
            <a:r>
              <a:rPr dirty="0" u="sng" sz="2000" spc="-57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语句与表达式翻译</a:t>
            </a:r>
            <a:endParaRPr sz="2000">
              <a:latin typeface="宋体"/>
              <a:cs typeface="宋体"/>
            </a:endParaRPr>
          </a:p>
          <a:p>
            <a:pPr marL="563245" indent="-215265">
              <a:lnSpc>
                <a:spcPct val="100000"/>
              </a:lnSpc>
              <a:spcBef>
                <a:spcPts val="1764"/>
              </a:spcBef>
              <a:buClr>
                <a:srgbClr val="66FFFF"/>
              </a:buClr>
              <a:buSzPct val="110937"/>
              <a:buFont typeface="Wingdings"/>
              <a:buChar char=""/>
              <a:tabLst>
                <a:tab pos="563880" algn="l"/>
              </a:tabLst>
            </a:pPr>
            <a:r>
              <a:rPr dirty="0" u="heavy" sz="3200" b="1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宋体"/>
                <a:cs typeface="宋体"/>
              </a:rPr>
              <a:t>赋</a:t>
            </a:r>
            <a:r>
              <a:rPr dirty="0" u="heavy" sz="3200" spc="-10" b="1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宋体"/>
                <a:cs typeface="宋体"/>
              </a:rPr>
              <a:t>值</a:t>
            </a:r>
            <a:r>
              <a:rPr dirty="0" u="heavy" sz="3200" spc="-815" b="1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宋体"/>
                <a:cs typeface="宋体"/>
              </a:rPr>
              <a:t> </a:t>
            </a:r>
            <a:r>
              <a:rPr dirty="0" u="heavy" sz="3200" b="1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宋体"/>
                <a:cs typeface="宋体"/>
              </a:rPr>
              <a:t>语句与表达式翻译举例：</a:t>
            </a:r>
            <a:endParaRPr sz="3200">
              <a:latin typeface="宋体"/>
              <a:cs typeface="宋体"/>
            </a:endParaRPr>
          </a:p>
          <a:p>
            <a:pPr marL="303530">
              <a:lnSpc>
                <a:spcPct val="100000"/>
              </a:lnSpc>
              <a:spcBef>
                <a:spcPts val="192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写出语句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a=b+c+d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翻译后的四元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代码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5441" y="1902942"/>
            <a:ext cx="1986914" cy="1927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3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(+ b c</a:t>
            </a:r>
            <a:r>
              <a:rPr dirty="0" sz="3200" spc="70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t1)  (+ t1 d t2)  (= t2 --</a:t>
            </a:r>
            <a:r>
              <a:rPr dirty="0" sz="3200" spc="70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72706" y="5473446"/>
            <a:ext cx="661670" cy="574675"/>
          </a:xfrm>
          <a:custGeom>
            <a:avLst/>
            <a:gdLst/>
            <a:ahLst/>
            <a:cxnLst/>
            <a:rect l="l" t="t" r="r" b="b"/>
            <a:pathLst>
              <a:path w="661670" h="574675">
                <a:moveTo>
                  <a:pt x="330708" y="0"/>
                </a:moveTo>
                <a:lnTo>
                  <a:pt x="281842" y="3114"/>
                </a:lnTo>
                <a:lnTo>
                  <a:pt x="235202" y="12162"/>
                </a:lnTo>
                <a:lnTo>
                  <a:pt x="191298" y="26699"/>
                </a:lnTo>
                <a:lnTo>
                  <a:pt x="150642" y="46280"/>
                </a:lnTo>
                <a:lnTo>
                  <a:pt x="113746" y="70462"/>
                </a:lnTo>
                <a:lnTo>
                  <a:pt x="81123" y="98799"/>
                </a:lnTo>
                <a:lnTo>
                  <a:pt x="53283" y="130848"/>
                </a:lnTo>
                <a:lnTo>
                  <a:pt x="30739" y="166164"/>
                </a:lnTo>
                <a:lnTo>
                  <a:pt x="14003" y="204303"/>
                </a:lnTo>
                <a:lnTo>
                  <a:pt x="3586" y="244821"/>
                </a:lnTo>
                <a:lnTo>
                  <a:pt x="0" y="287273"/>
                </a:lnTo>
                <a:lnTo>
                  <a:pt x="3586" y="329726"/>
                </a:lnTo>
                <a:lnTo>
                  <a:pt x="14003" y="370244"/>
                </a:lnTo>
                <a:lnTo>
                  <a:pt x="30739" y="408383"/>
                </a:lnTo>
                <a:lnTo>
                  <a:pt x="53283" y="443699"/>
                </a:lnTo>
                <a:lnTo>
                  <a:pt x="81123" y="475748"/>
                </a:lnTo>
                <a:lnTo>
                  <a:pt x="113746" y="504085"/>
                </a:lnTo>
                <a:lnTo>
                  <a:pt x="150642" y="528267"/>
                </a:lnTo>
                <a:lnTo>
                  <a:pt x="191298" y="547848"/>
                </a:lnTo>
                <a:lnTo>
                  <a:pt x="235202" y="562385"/>
                </a:lnTo>
                <a:lnTo>
                  <a:pt x="281842" y="571433"/>
                </a:lnTo>
                <a:lnTo>
                  <a:pt x="330708" y="574547"/>
                </a:lnTo>
                <a:lnTo>
                  <a:pt x="379573" y="571433"/>
                </a:lnTo>
                <a:lnTo>
                  <a:pt x="426213" y="562385"/>
                </a:lnTo>
                <a:lnTo>
                  <a:pt x="470117" y="547848"/>
                </a:lnTo>
                <a:lnTo>
                  <a:pt x="510773" y="528267"/>
                </a:lnTo>
                <a:lnTo>
                  <a:pt x="547669" y="504085"/>
                </a:lnTo>
                <a:lnTo>
                  <a:pt x="580292" y="475748"/>
                </a:lnTo>
                <a:lnTo>
                  <a:pt x="608132" y="443699"/>
                </a:lnTo>
                <a:lnTo>
                  <a:pt x="630676" y="408383"/>
                </a:lnTo>
                <a:lnTo>
                  <a:pt x="647412" y="370244"/>
                </a:lnTo>
                <a:lnTo>
                  <a:pt x="657829" y="329726"/>
                </a:lnTo>
                <a:lnTo>
                  <a:pt x="661416" y="287273"/>
                </a:lnTo>
                <a:lnTo>
                  <a:pt x="657829" y="244821"/>
                </a:lnTo>
                <a:lnTo>
                  <a:pt x="647412" y="204303"/>
                </a:lnTo>
                <a:lnTo>
                  <a:pt x="630676" y="166164"/>
                </a:lnTo>
                <a:lnTo>
                  <a:pt x="608132" y="130848"/>
                </a:lnTo>
                <a:lnTo>
                  <a:pt x="580292" y="98799"/>
                </a:lnTo>
                <a:lnTo>
                  <a:pt x="547669" y="70462"/>
                </a:lnTo>
                <a:lnTo>
                  <a:pt x="510773" y="46280"/>
                </a:lnTo>
                <a:lnTo>
                  <a:pt x="470117" y="26699"/>
                </a:lnTo>
                <a:lnTo>
                  <a:pt x="426213" y="12162"/>
                </a:lnTo>
                <a:lnTo>
                  <a:pt x="379573" y="3114"/>
                </a:lnTo>
                <a:lnTo>
                  <a:pt x="330708" y="0"/>
                </a:lnTo>
                <a:close/>
              </a:path>
            </a:pathLst>
          </a:custGeom>
          <a:solidFill>
            <a:srgbClr val="1E2D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172706" y="5473446"/>
            <a:ext cx="661670" cy="574675"/>
          </a:xfrm>
          <a:custGeom>
            <a:avLst/>
            <a:gdLst/>
            <a:ahLst/>
            <a:cxnLst/>
            <a:rect l="l" t="t" r="r" b="b"/>
            <a:pathLst>
              <a:path w="661670" h="574675">
                <a:moveTo>
                  <a:pt x="0" y="287273"/>
                </a:moveTo>
                <a:lnTo>
                  <a:pt x="3586" y="244821"/>
                </a:lnTo>
                <a:lnTo>
                  <a:pt x="14003" y="204303"/>
                </a:lnTo>
                <a:lnTo>
                  <a:pt x="30739" y="166164"/>
                </a:lnTo>
                <a:lnTo>
                  <a:pt x="53283" y="130848"/>
                </a:lnTo>
                <a:lnTo>
                  <a:pt x="81123" y="98799"/>
                </a:lnTo>
                <a:lnTo>
                  <a:pt x="113746" y="70462"/>
                </a:lnTo>
                <a:lnTo>
                  <a:pt x="150642" y="46280"/>
                </a:lnTo>
                <a:lnTo>
                  <a:pt x="191298" y="26699"/>
                </a:lnTo>
                <a:lnTo>
                  <a:pt x="235202" y="12162"/>
                </a:lnTo>
                <a:lnTo>
                  <a:pt x="281842" y="3114"/>
                </a:lnTo>
                <a:lnTo>
                  <a:pt x="330708" y="0"/>
                </a:lnTo>
                <a:lnTo>
                  <a:pt x="379573" y="3114"/>
                </a:lnTo>
                <a:lnTo>
                  <a:pt x="426213" y="12162"/>
                </a:lnTo>
                <a:lnTo>
                  <a:pt x="470117" y="26699"/>
                </a:lnTo>
                <a:lnTo>
                  <a:pt x="510773" y="46280"/>
                </a:lnTo>
                <a:lnTo>
                  <a:pt x="547669" y="70462"/>
                </a:lnTo>
                <a:lnTo>
                  <a:pt x="580292" y="98799"/>
                </a:lnTo>
                <a:lnTo>
                  <a:pt x="608132" y="130848"/>
                </a:lnTo>
                <a:lnTo>
                  <a:pt x="630676" y="166164"/>
                </a:lnTo>
                <a:lnTo>
                  <a:pt x="647412" y="204303"/>
                </a:lnTo>
                <a:lnTo>
                  <a:pt x="657829" y="244821"/>
                </a:lnTo>
                <a:lnTo>
                  <a:pt x="661416" y="287273"/>
                </a:lnTo>
                <a:lnTo>
                  <a:pt x="657829" y="329726"/>
                </a:lnTo>
                <a:lnTo>
                  <a:pt x="647412" y="370244"/>
                </a:lnTo>
                <a:lnTo>
                  <a:pt x="630676" y="408383"/>
                </a:lnTo>
                <a:lnTo>
                  <a:pt x="608132" y="443699"/>
                </a:lnTo>
                <a:lnTo>
                  <a:pt x="580292" y="475748"/>
                </a:lnTo>
                <a:lnTo>
                  <a:pt x="547669" y="504085"/>
                </a:lnTo>
                <a:lnTo>
                  <a:pt x="510773" y="528267"/>
                </a:lnTo>
                <a:lnTo>
                  <a:pt x="470117" y="547848"/>
                </a:lnTo>
                <a:lnTo>
                  <a:pt x="426213" y="562385"/>
                </a:lnTo>
                <a:lnTo>
                  <a:pt x="379573" y="571433"/>
                </a:lnTo>
                <a:lnTo>
                  <a:pt x="330708" y="574547"/>
                </a:lnTo>
                <a:lnTo>
                  <a:pt x="281842" y="571433"/>
                </a:lnTo>
                <a:lnTo>
                  <a:pt x="235202" y="562385"/>
                </a:lnTo>
                <a:lnTo>
                  <a:pt x="191298" y="547848"/>
                </a:lnTo>
                <a:lnTo>
                  <a:pt x="150642" y="528267"/>
                </a:lnTo>
                <a:lnTo>
                  <a:pt x="113746" y="504085"/>
                </a:lnTo>
                <a:lnTo>
                  <a:pt x="81123" y="475748"/>
                </a:lnTo>
                <a:lnTo>
                  <a:pt x="53283" y="443699"/>
                </a:lnTo>
                <a:lnTo>
                  <a:pt x="30739" y="408383"/>
                </a:lnTo>
                <a:lnTo>
                  <a:pt x="14003" y="370244"/>
                </a:lnTo>
                <a:lnTo>
                  <a:pt x="3586" y="329726"/>
                </a:lnTo>
                <a:lnTo>
                  <a:pt x="0" y="28727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53105" y="5545073"/>
            <a:ext cx="661670" cy="574675"/>
          </a:xfrm>
          <a:custGeom>
            <a:avLst/>
            <a:gdLst/>
            <a:ahLst/>
            <a:cxnLst/>
            <a:rect l="l" t="t" r="r" b="b"/>
            <a:pathLst>
              <a:path w="661670" h="574675">
                <a:moveTo>
                  <a:pt x="330707" y="0"/>
                </a:moveTo>
                <a:lnTo>
                  <a:pt x="281842" y="3114"/>
                </a:lnTo>
                <a:lnTo>
                  <a:pt x="235202" y="12162"/>
                </a:lnTo>
                <a:lnTo>
                  <a:pt x="191298" y="26699"/>
                </a:lnTo>
                <a:lnTo>
                  <a:pt x="150642" y="46280"/>
                </a:lnTo>
                <a:lnTo>
                  <a:pt x="113746" y="70462"/>
                </a:lnTo>
                <a:lnTo>
                  <a:pt x="81123" y="98799"/>
                </a:lnTo>
                <a:lnTo>
                  <a:pt x="53283" y="130848"/>
                </a:lnTo>
                <a:lnTo>
                  <a:pt x="30739" y="166164"/>
                </a:lnTo>
                <a:lnTo>
                  <a:pt x="14003" y="204303"/>
                </a:lnTo>
                <a:lnTo>
                  <a:pt x="3586" y="244821"/>
                </a:lnTo>
                <a:lnTo>
                  <a:pt x="0" y="287273"/>
                </a:lnTo>
                <a:lnTo>
                  <a:pt x="3586" y="329726"/>
                </a:lnTo>
                <a:lnTo>
                  <a:pt x="14003" y="370244"/>
                </a:lnTo>
                <a:lnTo>
                  <a:pt x="30739" y="408383"/>
                </a:lnTo>
                <a:lnTo>
                  <a:pt x="53283" y="443699"/>
                </a:lnTo>
                <a:lnTo>
                  <a:pt x="81123" y="475748"/>
                </a:lnTo>
                <a:lnTo>
                  <a:pt x="113746" y="504085"/>
                </a:lnTo>
                <a:lnTo>
                  <a:pt x="150642" y="528267"/>
                </a:lnTo>
                <a:lnTo>
                  <a:pt x="191298" y="547848"/>
                </a:lnTo>
                <a:lnTo>
                  <a:pt x="235202" y="562385"/>
                </a:lnTo>
                <a:lnTo>
                  <a:pt x="281842" y="571433"/>
                </a:lnTo>
                <a:lnTo>
                  <a:pt x="330707" y="574547"/>
                </a:lnTo>
                <a:lnTo>
                  <a:pt x="379573" y="571433"/>
                </a:lnTo>
                <a:lnTo>
                  <a:pt x="426213" y="562385"/>
                </a:lnTo>
                <a:lnTo>
                  <a:pt x="470117" y="547848"/>
                </a:lnTo>
                <a:lnTo>
                  <a:pt x="510773" y="528267"/>
                </a:lnTo>
                <a:lnTo>
                  <a:pt x="547669" y="504085"/>
                </a:lnTo>
                <a:lnTo>
                  <a:pt x="580292" y="475748"/>
                </a:lnTo>
                <a:lnTo>
                  <a:pt x="608132" y="443699"/>
                </a:lnTo>
                <a:lnTo>
                  <a:pt x="630676" y="408383"/>
                </a:lnTo>
                <a:lnTo>
                  <a:pt x="647412" y="370244"/>
                </a:lnTo>
                <a:lnTo>
                  <a:pt x="657829" y="329726"/>
                </a:lnTo>
                <a:lnTo>
                  <a:pt x="661416" y="287273"/>
                </a:lnTo>
                <a:lnTo>
                  <a:pt x="657829" y="244821"/>
                </a:lnTo>
                <a:lnTo>
                  <a:pt x="647412" y="204303"/>
                </a:lnTo>
                <a:lnTo>
                  <a:pt x="630676" y="166164"/>
                </a:lnTo>
                <a:lnTo>
                  <a:pt x="608132" y="130848"/>
                </a:lnTo>
                <a:lnTo>
                  <a:pt x="580292" y="98799"/>
                </a:lnTo>
                <a:lnTo>
                  <a:pt x="547669" y="70462"/>
                </a:lnTo>
                <a:lnTo>
                  <a:pt x="510773" y="46280"/>
                </a:lnTo>
                <a:lnTo>
                  <a:pt x="470117" y="26699"/>
                </a:lnTo>
                <a:lnTo>
                  <a:pt x="426213" y="12162"/>
                </a:lnTo>
                <a:lnTo>
                  <a:pt x="379573" y="3114"/>
                </a:lnTo>
                <a:lnTo>
                  <a:pt x="330707" y="0"/>
                </a:lnTo>
                <a:close/>
              </a:path>
            </a:pathLst>
          </a:custGeom>
          <a:solidFill>
            <a:srgbClr val="1E2D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753105" y="5545073"/>
            <a:ext cx="661670" cy="574675"/>
          </a:xfrm>
          <a:custGeom>
            <a:avLst/>
            <a:gdLst/>
            <a:ahLst/>
            <a:cxnLst/>
            <a:rect l="l" t="t" r="r" b="b"/>
            <a:pathLst>
              <a:path w="661670" h="574675">
                <a:moveTo>
                  <a:pt x="0" y="287273"/>
                </a:moveTo>
                <a:lnTo>
                  <a:pt x="3586" y="244821"/>
                </a:lnTo>
                <a:lnTo>
                  <a:pt x="14003" y="204303"/>
                </a:lnTo>
                <a:lnTo>
                  <a:pt x="30739" y="166164"/>
                </a:lnTo>
                <a:lnTo>
                  <a:pt x="53283" y="130848"/>
                </a:lnTo>
                <a:lnTo>
                  <a:pt x="81123" y="98799"/>
                </a:lnTo>
                <a:lnTo>
                  <a:pt x="113746" y="70462"/>
                </a:lnTo>
                <a:lnTo>
                  <a:pt x="150642" y="46280"/>
                </a:lnTo>
                <a:lnTo>
                  <a:pt x="191298" y="26699"/>
                </a:lnTo>
                <a:lnTo>
                  <a:pt x="235202" y="12162"/>
                </a:lnTo>
                <a:lnTo>
                  <a:pt x="281842" y="3114"/>
                </a:lnTo>
                <a:lnTo>
                  <a:pt x="330707" y="0"/>
                </a:lnTo>
                <a:lnTo>
                  <a:pt x="379573" y="3114"/>
                </a:lnTo>
                <a:lnTo>
                  <a:pt x="426213" y="12162"/>
                </a:lnTo>
                <a:lnTo>
                  <a:pt x="470117" y="26699"/>
                </a:lnTo>
                <a:lnTo>
                  <a:pt x="510773" y="46280"/>
                </a:lnTo>
                <a:lnTo>
                  <a:pt x="547669" y="70462"/>
                </a:lnTo>
                <a:lnTo>
                  <a:pt x="580292" y="98799"/>
                </a:lnTo>
                <a:lnTo>
                  <a:pt x="608132" y="130848"/>
                </a:lnTo>
                <a:lnTo>
                  <a:pt x="630676" y="166164"/>
                </a:lnTo>
                <a:lnTo>
                  <a:pt x="647412" y="204303"/>
                </a:lnTo>
                <a:lnTo>
                  <a:pt x="657829" y="244821"/>
                </a:lnTo>
                <a:lnTo>
                  <a:pt x="661416" y="287273"/>
                </a:lnTo>
                <a:lnTo>
                  <a:pt x="657829" y="329726"/>
                </a:lnTo>
                <a:lnTo>
                  <a:pt x="647412" y="370244"/>
                </a:lnTo>
                <a:lnTo>
                  <a:pt x="630676" y="408383"/>
                </a:lnTo>
                <a:lnTo>
                  <a:pt x="608132" y="443699"/>
                </a:lnTo>
                <a:lnTo>
                  <a:pt x="580292" y="475748"/>
                </a:lnTo>
                <a:lnTo>
                  <a:pt x="547669" y="504085"/>
                </a:lnTo>
                <a:lnTo>
                  <a:pt x="510773" y="528267"/>
                </a:lnTo>
                <a:lnTo>
                  <a:pt x="470117" y="547848"/>
                </a:lnTo>
                <a:lnTo>
                  <a:pt x="426213" y="562385"/>
                </a:lnTo>
                <a:lnTo>
                  <a:pt x="379573" y="571433"/>
                </a:lnTo>
                <a:lnTo>
                  <a:pt x="330707" y="574547"/>
                </a:lnTo>
                <a:lnTo>
                  <a:pt x="281842" y="571433"/>
                </a:lnTo>
                <a:lnTo>
                  <a:pt x="235202" y="562385"/>
                </a:lnTo>
                <a:lnTo>
                  <a:pt x="191298" y="547848"/>
                </a:lnTo>
                <a:lnTo>
                  <a:pt x="150642" y="528267"/>
                </a:lnTo>
                <a:lnTo>
                  <a:pt x="113746" y="504085"/>
                </a:lnTo>
                <a:lnTo>
                  <a:pt x="81123" y="475748"/>
                </a:lnTo>
                <a:lnTo>
                  <a:pt x="53283" y="443699"/>
                </a:lnTo>
                <a:lnTo>
                  <a:pt x="30739" y="408383"/>
                </a:lnTo>
                <a:lnTo>
                  <a:pt x="14003" y="370244"/>
                </a:lnTo>
                <a:lnTo>
                  <a:pt x="3586" y="329726"/>
                </a:lnTo>
                <a:lnTo>
                  <a:pt x="0" y="28727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902076" y="5549290"/>
            <a:ext cx="36449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58005" y="5531358"/>
            <a:ext cx="661670" cy="574675"/>
          </a:xfrm>
          <a:custGeom>
            <a:avLst/>
            <a:gdLst/>
            <a:ahLst/>
            <a:cxnLst/>
            <a:rect l="l" t="t" r="r" b="b"/>
            <a:pathLst>
              <a:path w="661670" h="574675">
                <a:moveTo>
                  <a:pt x="330708" y="0"/>
                </a:moveTo>
                <a:lnTo>
                  <a:pt x="281842" y="3114"/>
                </a:lnTo>
                <a:lnTo>
                  <a:pt x="235202" y="12162"/>
                </a:lnTo>
                <a:lnTo>
                  <a:pt x="191298" y="26699"/>
                </a:lnTo>
                <a:lnTo>
                  <a:pt x="150642" y="46280"/>
                </a:lnTo>
                <a:lnTo>
                  <a:pt x="113746" y="70462"/>
                </a:lnTo>
                <a:lnTo>
                  <a:pt x="81123" y="98799"/>
                </a:lnTo>
                <a:lnTo>
                  <a:pt x="53283" y="130848"/>
                </a:lnTo>
                <a:lnTo>
                  <a:pt x="30739" y="166164"/>
                </a:lnTo>
                <a:lnTo>
                  <a:pt x="14003" y="204303"/>
                </a:lnTo>
                <a:lnTo>
                  <a:pt x="3586" y="244821"/>
                </a:lnTo>
                <a:lnTo>
                  <a:pt x="0" y="287273"/>
                </a:lnTo>
                <a:lnTo>
                  <a:pt x="3586" y="329726"/>
                </a:lnTo>
                <a:lnTo>
                  <a:pt x="14003" y="370244"/>
                </a:lnTo>
                <a:lnTo>
                  <a:pt x="30739" y="408383"/>
                </a:lnTo>
                <a:lnTo>
                  <a:pt x="53283" y="443699"/>
                </a:lnTo>
                <a:lnTo>
                  <a:pt x="81123" y="475748"/>
                </a:lnTo>
                <a:lnTo>
                  <a:pt x="113746" y="504085"/>
                </a:lnTo>
                <a:lnTo>
                  <a:pt x="150642" y="528267"/>
                </a:lnTo>
                <a:lnTo>
                  <a:pt x="191298" y="547848"/>
                </a:lnTo>
                <a:lnTo>
                  <a:pt x="235202" y="562385"/>
                </a:lnTo>
                <a:lnTo>
                  <a:pt x="281842" y="571433"/>
                </a:lnTo>
                <a:lnTo>
                  <a:pt x="330708" y="574547"/>
                </a:lnTo>
                <a:lnTo>
                  <a:pt x="379573" y="571433"/>
                </a:lnTo>
                <a:lnTo>
                  <a:pt x="426213" y="562385"/>
                </a:lnTo>
                <a:lnTo>
                  <a:pt x="470117" y="547848"/>
                </a:lnTo>
                <a:lnTo>
                  <a:pt x="510773" y="528267"/>
                </a:lnTo>
                <a:lnTo>
                  <a:pt x="547669" y="504085"/>
                </a:lnTo>
                <a:lnTo>
                  <a:pt x="580292" y="475748"/>
                </a:lnTo>
                <a:lnTo>
                  <a:pt x="608132" y="443699"/>
                </a:lnTo>
                <a:lnTo>
                  <a:pt x="630676" y="408383"/>
                </a:lnTo>
                <a:lnTo>
                  <a:pt x="647412" y="370244"/>
                </a:lnTo>
                <a:lnTo>
                  <a:pt x="657829" y="329726"/>
                </a:lnTo>
                <a:lnTo>
                  <a:pt x="661416" y="287273"/>
                </a:lnTo>
                <a:lnTo>
                  <a:pt x="657829" y="244821"/>
                </a:lnTo>
                <a:lnTo>
                  <a:pt x="647412" y="204303"/>
                </a:lnTo>
                <a:lnTo>
                  <a:pt x="630676" y="166164"/>
                </a:lnTo>
                <a:lnTo>
                  <a:pt x="608132" y="130848"/>
                </a:lnTo>
                <a:lnTo>
                  <a:pt x="580292" y="98799"/>
                </a:lnTo>
                <a:lnTo>
                  <a:pt x="547669" y="70462"/>
                </a:lnTo>
                <a:lnTo>
                  <a:pt x="510773" y="46280"/>
                </a:lnTo>
                <a:lnTo>
                  <a:pt x="470117" y="26699"/>
                </a:lnTo>
                <a:lnTo>
                  <a:pt x="426213" y="12162"/>
                </a:lnTo>
                <a:lnTo>
                  <a:pt x="379573" y="3114"/>
                </a:lnTo>
                <a:lnTo>
                  <a:pt x="330708" y="0"/>
                </a:lnTo>
                <a:close/>
              </a:path>
            </a:pathLst>
          </a:custGeom>
          <a:solidFill>
            <a:srgbClr val="1E2D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858005" y="5531358"/>
            <a:ext cx="661670" cy="574675"/>
          </a:xfrm>
          <a:custGeom>
            <a:avLst/>
            <a:gdLst/>
            <a:ahLst/>
            <a:cxnLst/>
            <a:rect l="l" t="t" r="r" b="b"/>
            <a:pathLst>
              <a:path w="661670" h="574675">
                <a:moveTo>
                  <a:pt x="0" y="287273"/>
                </a:moveTo>
                <a:lnTo>
                  <a:pt x="3586" y="244821"/>
                </a:lnTo>
                <a:lnTo>
                  <a:pt x="14003" y="204303"/>
                </a:lnTo>
                <a:lnTo>
                  <a:pt x="30739" y="166164"/>
                </a:lnTo>
                <a:lnTo>
                  <a:pt x="53283" y="130848"/>
                </a:lnTo>
                <a:lnTo>
                  <a:pt x="81123" y="98799"/>
                </a:lnTo>
                <a:lnTo>
                  <a:pt x="113746" y="70462"/>
                </a:lnTo>
                <a:lnTo>
                  <a:pt x="150642" y="46280"/>
                </a:lnTo>
                <a:lnTo>
                  <a:pt x="191298" y="26699"/>
                </a:lnTo>
                <a:lnTo>
                  <a:pt x="235202" y="12162"/>
                </a:lnTo>
                <a:lnTo>
                  <a:pt x="281842" y="3114"/>
                </a:lnTo>
                <a:lnTo>
                  <a:pt x="330708" y="0"/>
                </a:lnTo>
                <a:lnTo>
                  <a:pt x="379573" y="3114"/>
                </a:lnTo>
                <a:lnTo>
                  <a:pt x="426213" y="12162"/>
                </a:lnTo>
                <a:lnTo>
                  <a:pt x="470117" y="26699"/>
                </a:lnTo>
                <a:lnTo>
                  <a:pt x="510773" y="46280"/>
                </a:lnTo>
                <a:lnTo>
                  <a:pt x="547669" y="70462"/>
                </a:lnTo>
                <a:lnTo>
                  <a:pt x="580292" y="98799"/>
                </a:lnTo>
                <a:lnTo>
                  <a:pt x="608132" y="130848"/>
                </a:lnTo>
                <a:lnTo>
                  <a:pt x="630676" y="166164"/>
                </a:lnTo>
                <a:lnTo>
                  <a:pt x="647412" y="204303"/>
                </a:lnTo>
                <a:lnTo>
                  <a:pt x="657829" y="244821"/>
                </a:lnTo>
                <a:lnTo>
                  <a:pt x="661416" y="287273"/>
                </a:lnTo>
                <a:lnTo>
                  <a:pt x="657829" y="329726"/>
                </a:lnTo>
                <a:lnTo>
                  <a:pt x="647412" y="370244"/>
                </a:lnTo>
                <a:lnTo>
                  <a:pt x="630676" y="408383"/>
                </a:lnTo>
                <a:lnTo>
                  <a:pt x="608132" y="443699"/>
                </a:lnTo>
                <a:lnTo>
                  <a:pt x="580292" y="475748"/>
                </a:lnTo>
                <a:lnTo>
                  <a:pt x="547669" y="504085"/>
                </a:lnTo>
                <a:lnTo>
                  <a:pt x="510773" y="528267"/>
                </a:lnTo>
                <a:lnTo>
                  <a:pt x="470117" y="547848"/>
                </a:lnTo>
                <a:lnTo>
                  <a:pt x="426213" y="562385"/>
                </a:lnTo>
                <a:lnTo>
                  <a:pt x="379573" y="571433"/>
                </a:lnTo>
                <a:lnTo>
                  <a:pt x="330708" y="574547"/>
                </a:lnTo>
                <a:lnTo>
                  <a:pt x="281842" y="571433"/>
                </a:lnTo>
                <a:lnTo>
                  <a:pt x="235202" y="562385"/>
                </a:lnTo>
                <a:lnTo>
                  <a:pt x="191298" y="547848"/>
                </a:lnTo>
                <a:lnTo>
                  <a:pt x="150642" y="528267"/>
                </a:lnTo>
                <a:lnTo>
                  <a:pt x="113746" y="504085"/>
                </a:lnTo>
                <a:lnTo>
                  <a:pt x="81123" y="475748"/>
                </a:lnTo>
                <a:lnTo>
                  <a:pt x="53283" y="443699"/>
                </a:lnTo>
                <a:lnTo>
                  <a:pt x="30739" y="408383"/>
                </a:lnTo>
                <a:lnTo>
                  <a:pt x="14003" y="370244"/>
                </a:lnTo>
                <a:lnTo>
                  <a:pt x="3586" y="329726"/>
                </a:lnTo>
                <a:lnTo>
                  <a:pt x="0" y="28727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058792" y="5536488"/>
            <a:ext cx="25781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572505" y="5488685"/>
            <a:ext cx="661670" cy="574675"/>
          </a:xfrm>
          <a:custGeom>
            <a:avLst/>
            <a:gdLst/>
            <a:ahLst/>
            <a:cxnLst/>
            <a:rect l="l" t="t" r="r" b="b"/>
            <a:pathLst>
              <a:path w="661670" h="574675">
                <a:moveTo>
                  <a:pt x="330708" y="0"/>
                </a:moveTo>
                <a:lnTo>
                  <a:pt x="281842" y="3114"/>
                </a:lnTo>
                <a:lnTo>
                  <a:pt x="235202" y="12162"/>
                </a:lnTo>
                <a:lnTo>
                  <a:pt x="191298" y="26699"/>
                </a:lnTo>
                <a:lnTo>
                  <a:pt x="150642" y="46280"/>
                </a:lnTo>
                <a:lnTo>
                  <a:pt x="113746" y="70462"/>
                </a:lnTo>
                <a:lnTo>
                  <a:pt x="81123" y="98799"/>
                </a:lnTo>
                <a:lnTo>
                  <a:pt x="53283" y="130848"/>
                </a:lnTo>
                <a:lnTo>
                  <a:pt x="30739" y="166164"/>
                </a:lnTo>
                <a:lnTo>
                  <a:pt x="14003" y="204303"/>
                </a:lnTo>
                <a:lnTo>
                  <a:pt x="3586" y="244821"/>
                </a:lnTo>
                <a:lnTo>
                  <a:pt x="0" y="287273"/>
                </a:lnTo>
                <a:lnTo>
                  <a:pt x="3586" y="329726"/>
                </a:lnTo>
                <a:lnTo>
                  <a:pt x="14003" y="370244"/>
                </a:lnTo>
                <a:lnTo>
                  <a:pt x="30739" y="408383"/>
                </a:lnTo>
                <a:lnTo>
                  <a:pt x="53283" y="443699"/>
                </a:lnTo>
                <a:lnTo>
                  <a:pt x="81123" y="475748"/>
                </a:lnTo>
                <a:lnTo>
                  <a:pt x="113746" y="504085"/>
                </a:lnTo>
                <a:lnTo>
                  <a:pt x="150642" y="528267"/>
                </a:lnTo>
                <a:lnTo>
                  <a:pt x="191298" y="547848"/>
                </a:lnTo>
                <a:lnTo>
                  <a:pt x="235202" y="562385"/>
                </a:lnTo>
                <a:lnTo>
                  <a:pt x="281842" y="571433"/>
                </a:lnTo>
                <a:lnTo>
                  <a:pt x="330708" y="574547"/>
                </a:lnTo>
                <a:lnTo>
                  <a:pt x="379573" y="571433"/>
                </a:lnTo>
                <a:lnTo>
                  <a:pt x="426213" y="562385"/>
                </a:lnTo>
                <a:lnTo>
                  <a:pt x="470117" y="547848"/>
                </a:lnTo>
                <a:lnTo>
                  <a:pt x="510773" y="528267"/>
                </a:lnTo>
                <a:lnTo>
                  <a:pt x="547669" y="504085"/>
                </a:lnTo>
                <a:lnTo>
                  <a:pt x="580292" y="475748"/>
                </a:lnTo>
                <a:lnTo>
                  <a:pt x="608132" y="443699"/>
                </a:lnTo>
                <a:lnTo>
                  <a:pt x="630676" y="408383"/>
                </a:lnTo>
                <a:lnTo>
                  <a:pt x="647412" y="370244"/>
                </a:lnTo>
                <a:lnTo>
                  <a:pt x="657829" y="329726"/>
                </a:lnTo>
                <a:lnTo>
                  <a:pt x="661416" y="287273"/>
                </a:lnTo>
                <a:lnTo>
                  <a:pt x="657829" y="244821"/>
                </a:lnTo>
                <a:lnTo>
                  <a:pt x="647412" y="204303"/>
                </a:lnTo>
                <a:lnTo>
                  <a:pt x="630676" y="166164"/>
                </a:lnTo>
                <a:lnTo>
                  <a:pt x="608132" y="130848"/>
                </a:lnTo>
                <a:lnTo>
                  <a:pt x="580292" y="98799"/>
                </a:lnTo>
                <a:lnTo>
                  <a:pt x="547669" y="70462"/>
                </a:lnTo>
                <a:lnTo>
                  <a:pt x="510773" y="46280"/>
                </a:lnTo>
                <a:lnTo>
                  <a:pt x="470117" y="26699"/>
                </a:lnTo>
                <a:lnTo>
                  <a:pt x="426213" y="12162"/>
                </a:lnTo>
                <a:lnTo>
                  <a:pt x="379573" y="3114"/>
                </a:lnTo>
                <a:lnTo>
                  <a:pt x="330708" y="0"/>
                </a:lnTo>
                <a:close/>
              </a:path>
            </a:pathLst>
          </a:custGeom>
          <a:solidFill>
            <a:srgbClr val="1E2D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572505" y="5488685"/>
            <a:ext cx="661670" cy="574675"/>
          </a:xfrm>
          <a:custGeom>
            <a:avLst/>
            <a:gdLst/>
            <a:ahLst/>
            <a:cxnLst/>
            <a:rect l="l" t="t" r="r" b="b"/>
            <a:pathLst>
              <a:path w="661670" h="574675">
                <a:moveTo>
                  <a:pt x="0" y="287273"/>
                </a:moveTo>
                <a:lnTo>
                  <a:pt x="3586" y="244821"/>
                </a:lnTo>
                <a:lnTo>
                  <a:pt x="14003" y="204303"/>
                </a:lnTo>
                <a:lnTo>
                  <a:pt x="30739" y="166164"/>
                </a:lnTo>
                <a:lnTo>
                  <a:pt x="53283" y="130848"/>
                </a:lnTo>
                <a:lnTo>
                  <a:pt x="81123" y="98799"/>
                </a:lnTo>
                <a:lnTo>
                  <a:pt x="113746" y="70462"/>
                </a:lnTo>
                <a:lnTo>
                  <a:pt x="150642" y="46280"/>
                </a:lnTo>
                <a:lnTo>
                  <a:pt x="191298" y="26699"/>
                </a:lnTo>
                <a:lnTo>
                  <a:pt x="235202" y="12162"/>
                </a:lnTo>
                <a:lnTo>
                  <a:pt x="281842" y="3114"/>
                </a:lnTo>
                <a:lnTo>
                  <a:pt x="330708" y="0"/>
                </a:lnTo>
                <a:lnTo>
                  <a:pt x="379573" y="3114"/>
                </a:lnTo>
                <a:lnTo>
                  <a:pt x="426213" y="12162"/>
                </a:lnTo>
                <a:lnTo>
                  <a:pt x="470117" y="26699"/>
                </a:lnTo>
                <a:lnTo>
                  <a:pt x="510773" y="46280"/>
                </a:lnTo>
                <a:lnTo>
                  <a:pt x="547669" y="70462"/>
                </a:lnTo>
                <a:lnTo>
                  <a:pt x="580292" y="98799"/>
                </a:lnTo>
                <a:lnTo>
                  <a:pt x="608132" y="130848"/>
                </a:lnTo>
                <a:lnTo>
                  <a:pt x="630676" y="166164"/>
                </a:lnTo>
                <a:lnTo>
                  <a:pt x="647412" y="204303"/>
                </a:lnTo>
                <a:lnTo>
                  <a:pt x="657829" y="244821"/>
                </a:lnTo>
                <a:lnTo>
                  <a:pt x="661416" y="287273"/>
                </a:lnTo>
                <a:lnTo>
                  <a:pt x="657829" y="329726"/>
                </a:lnTo>
                <a:lnTo>
                  <a:pt x="647412" y="370244"/>
                </a:lnTo>
                <a:lnTo>
                  <a:pt x="630676" y="408383"/>
                </a:lnTo>
                <a:lnTo>
                  <a:pt x="608132" y="443699"/>
                </a:lnTo>
                <a:lnTo>
                  <a:pt x="580292" y="475748"/>
                </a:lnTo>
                <a:lnTo>
                  <a:pt x="547669" y="504085"/>
                </a:lnTo>
                <a:lnTo>
                  <a:pt x="510773" y="528267"/>
                </a:lnTo>
                <a:lnTo>
                  <a:pt x="470117" y="547848"/>
                </a:lnTo>
                <a:lnTo>
                  <a:pt x="426213" y="562385"/>
                </a:lnTo>
                <a:lnTo>
                  <a:pt x="379573" y="571433"/>
                </a:lnTo>
                <a:lnTo>
                  <a:pt x="330708" y="574547"/>
                </a:lnTo>
                <a:lnTo>
                  <a:pt x="281842" y="571433"/>
                </a:lnTo>
                <a:lnTo>
                  <a:pt x="235202" y="562385"/>
                </a:lnTo>
                <a:lnTo>
                  <a:pt x="191298" y="547848"/>
                </a:lnTo>
                <a:lnTo>
                  <a:pt x="150642" y="528267"/>
                </a:lnTo>
                <a:lnTo>
                  <a:pt x="113746" y="504085"/>
                </a:lnTo>
                <a:lnTo>
                  <a:pt x="81123" y="475748"/>
                </a:lnTo>
                <a:lnTo>
                  <a:pt x="53283" y="443699"/>
                </a:lnTo>
                <a:lnTo>
                  <a:pt x="30739" y="408383"/>
                </a:lnTo>
                <a:lnTo>
                  <a:pt x="14003" y="370244"/>
                </a:lnTo>
                <a:lnTo>
                  <a:pt x="3586" y="329726"/>
                </a:lnTo>
                <a:lnTo>
                  <a:pt x="0" y="28727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773673" y="5493207"/>
            <a:ext cx="25781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798314" y="5511546"/>
            <a:ext cx="660400" cy="574675"/>
          </a:xfrm>
          <a:custGeom>
            <a:avLst/>
            <a:gdLst/>
            <a:ahLst/>
            <a:cxnLst/>
            <a:rect l="l" t="t" r="r" b="b"/>
            <a:pathLst>
              <a:path w="660400" h="574675">
                <a:moveTo>
                  <a:pt x="329946" y="0"/>
                </a:moveTo>
                <a:lnTo>
                  <a:pt x="281184" y="3114"/>
                </a:lnTo>
                <a:lnTo>
                  <a:pt x="234645" y="12162"/>
                </a:lnTo>
                <a:lnTo>
                  <a:pt x="190840" y="26699"/>
                </a:lnTo>
                <a:lnTo>
                  <a:pt x="150277" y="46280"/>
                </a:lnTo>
                <a:lnTo>
                  <a:pt x="113468" y="70462"/>
                </a:lnTo>
                <a:lnTo>
                  <a:pt x="80923" y="98799"/>
                </a:lnTo>
                <a:lnTo>
                  <a:pt x="53151" y="130848"/>
                </a:lnTo>
                <a:lnTo>
                  <a:pt x="30662" y="166164"/>
                </a:lnTo>
                <a:lnTo>
                  <a:pt x="13967" y="204303"/>
                </a:lnTo>
                <a:lnTo>
                  <a:pt x="3576" y="244821"/>
                </a:lnTo>
                <a:lnTo>
                  <a:pt x="0" y="287273"/>
                </a:lnTo>
                <a:lnTo>
                  <a:pt x="3576" y="329726"/>
                </a:lnTo>
                <a:lnTo>
                  <a:pt x="13967" y="370244"/>
                </a:lnTo>
                <a:lnTo>
                  <a:pt x="30662" y="408383"/>
                </a:lnTo>
                <a:lnTo>
                  <a:pt x="53151" y="443699"/>
                </a:lnTo>
                <a:lnTo>
                  <a:pt x="80923" y="475748"/>
                </a:lnTo>
                <a:lnTo>
                  <a:pt x="113468" y="504085"/>
                </a:lnTo>
                <a:lnTo>
                  <a:pt x="150277" y="528267"/>
                </a:lnTo>
                <a:lnTo>
                  <a:pt x="190840" y="547848"/>
                </a:lnTo>
                <a:lnTo>
                  <a:pt x="234645" y="562385"/>
                </a:lnTo>
                <a:lnTo>
                  <a:pt x="281184" y="571433"/>
                </a:lnTo>
                <a:lnTo>
                  <a:pt x="329946" y="574547"/>
                </a:lnTo>
                <a:lnTo>
                  <a:pt x="378707" y="571433"/>
                </a:lnTo>
                <a:lnTo>
                  <a:pt x="425246" y="562385"/>
                </a:lnTo>
                <a:lnTo>
                  <a:pt x="469051" y="547848"/>
                </a:lnTo>
                <a:lnTo>
                  <a:pt x="509614" y="528267"/>
                </a:lnTo>
                <a:lnTo>
                  <a:pt x="546423" y="504085"/>
                </a:lnTo>
                <a:lnTo>
                  <a:pt x="578968" y="475748"/>
                </a:lnTo>
                <a:lnTo>
                  <a:pt x="606740" y="443699"/>
                </a:lnTo>
                <a:lnTo>
                  <a:pt x="629229" y="408383"/>
                </a:lnTo>
                <a:lnTo>
                  <a:pt x="645924" y="370244"/>
                </a:lnTo>
                <a:lnTo>
                  <a:pt x="656315" y="329726"/>
                </a:lnTo>
                <a:lnTo>
                  <a:pt x="659891" y="287273"/>
                </a:lnTo>
                <a:lnTo>
                  <a:pt x="656315" y="244821"/>
                </a:lnTo>
                <a:lnTo>
                  <a:pt x="645924" y="204303"/>
                </a:lnTo>
                <a:lnTo>
                  <a:pt x="629229" y="166164"/>
                </a:lnTo>
                <a:lnTo>
                  <a:pt x="606740" y="130848"/>
                </a:lnTo>
                <a:lnTo>
                  <a:pt x="578968" y="98799"/>
                </a:lnTo>
                <a:lnTo>
                  <a:pt x="546423" y="70462"/>
                </a:lnTo>
                <a:lnTo>
                  <a:pt x="509614" y="46280"/>
                </a:lnTo>
                <a:lnTo>
                  <a:pt x="469051" y="26699"/>
                </a:lnTo>
                <a:lnTo>
                  <a:pt x="425246" y="12162"/>
                </a:lnTo>
                <a:lnTo>
                  <a:pt x="378707" y="3114"/>
                </a:lnTo>
                <a:lnTo>
                  <a:pt x="329946" y="0"/>
                </a:lnTo>
                <a:close/>
              </a:path>
            </a:pathLst>
          </a:custGeom>
          <a:solidFill>
            <a:srgbClr val="1E2D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98314" y="5511546"/>
            <a:ext cx="660400" cy="574675"/>
          </a:xfrm>
          <a:custGeom>
            <a:avLst/>
            <a:gdLst/>
            <a:ahLst/>
            <a:cxnLst/>
            <a:rect l="l" t="t" r="r" b="b"/>
            <a:pathLst>
              <a:path w="660400" h="574675">
                <a:moveTo>
                  <a:pt x="0" y="287273"/>
                </a:moveTo>
                <a:lnTo>
                  <a:pt x="3576" y="244821"/>
                </a:lnTo>
                <a:lnTo>
                  <a:pt x="13967" y="204303"/>
                </a:lnTo>
                <a:lnTo>
                  <a:pt x="30662" y="166164"/>
                </a:lnTo>
                <a:lnTo>
                  <a:pt x="53151" y="130848"/>
                </a:lnTo>
                <a:lnTo>
                  <a:pt x="80923" y="98799"/>
                </a:lnTo>
                <a:lnTo>
                  <a:pt x="113468" y="70462"/>
                </a:lnTo>
                <a:lnTo>
                  <a:pt x="150277" y="46280"/>
                </a:lnTo>
                <a:lnTo>
                  <a:pt x="190840" y="26699"/>
                </a:lnTo>
                <a:lnTo>
                  <a:pt x="234645" y="12162"/>
                </a:lnTo>
                <a:lnTo>
                  <a:pt x="281184" y="3114"/>
                </a:lnTo>
                <a:lnTo>
                  <a:pt x="329946" y="0"/>
                </a:lnTo>
                <a:lnTo>
                  <a:pt x="378707" y="3114"/>
                </a:lnTo>
                <a:lnTo>
                  <a:pt x="425246" y="12162"/>
                </a:lnTo>
                <a:lnTo>
                  <a:pt x="469051" y="26699"/>
                </a:lnTo>
                <a:lnTo>
                  <a:pt x="509614" y="46280"/>
                </a:lnTo>
                <a:lnTo>
                  <a:pt x="546423" y="70462"/>
                </a:lnTo>
                <a:lnTo>
                  <a:pt x="578968" y="98799"/>
                </a:lnTo>
                <a:lnTo>
                  <a:pt x="606740" y="130848"/>
                </a:lnTo>
                <a:lnTo>
                  <a:pt x="629229" y="166164"/>
                </a:lnTo>
                <a:lnTo>
                  <a:pt x="645924" y="204303"/>
                </a:lnTo>
                <a:lnTo>
                  <a:pt x="656315" y="244821"/>
                </a:lnTo>
                <a:lnTo>
                  <a:pt x="659891" y="287273"/>
                </a:lnTo>
                <a:lnTo>
                  <a:pt x="656315" y="329726"/>
                </a:lnTo>
                <a:lnTo>
                  <a:pt x="645924" y="370244"/>
                </a:lnTo>
                <a:lnTo>
                  <a:pt x="629229" y="408383"/>
                </a:lnTo>
                <a:lnTo>
                  <a:pt x="606740" y="443699"/>
                </a:lnTo>
                <a:lnTo>
                  <a:pt x="578968" y="475748"/>
                </a:lnTo>
                <a:lnTo>
                  <a:pt x="546423" y="504085"/>
                </a:lnTo>
                <a:lnTo>
                  <a:pt x="509614" y="528267"/>
                </a:lnTo>
                <a:lnTo>
                  <a:pt x="469051" y="547848"/>
                </a:lnTo>
                <a:lnTo>
                  <a:pt x="425246" y="562385"/>
                </a:lnTo>
                <a:lnTo>
                  <a:pt x="378707" y="571433"/>
                </a:lnTo>
                <a:lnTo>
                  <a:pt x="329946" y="574547"/>
                </a:lnTo>
                <a:lnTo>
                  <a:pt x="281184" y="571433"/>
                </a:lnTo>
                <a:lnTo>
                  <a:pt x="234645" y="562385"/>
                </a:lnTo>
                <a:lnTo>
                  <a:pt x="190840" y="547848"/>
                </a:lnTo>
                <a:lnTo>
                  <a:pt x="150277" y="528267"/>
                </a:lnTo>
                <a:lnTo>
                  <a:pt x="113468" y="504085"/>
                </a:lnTo>
                <a:lnTo>
                  <a:pt x="80923" y="475748"/>
                </a:lnTo>
                <a:lnTo>
                  <a:pt x="53151" y="443699"/>
                </a:lnTo>
                <a:lnTo>
                  <a:pt x="30662" y="408383"/>
                </a:lnTo>
                <a:lnTo>
                  <a:pt x="13967" y="370244"/>
                </a:lnTo>
                <a:lnTo>
                  <a:pt x="3576" y="329726"/>
                </a:lnTo>
                <a:lnTo>
                  <a:pt x="0" y="28727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947030" y="5515457"/>
            <a:ext cx="36449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436614" y="5478017"/>
            <a:ext cx="660400" cy="574675"/>
          </a:xfrm>
          <a:custGeom>
            <a:avLst/>
            <a:gdLst/>
            <a:ahLst/>
            <a:cxnLst/>
            <a:rect l="l" t="t" r="r" b="b"/>
            <a:pathLst>
              <a:path w="660400" h="574675">
                <a:moveTo>
                  <a:pt x="329945" y="0"/>
                </a:moveTo>
                <a:lnTo>
                  <a:pt x="281184" y="3114"/>
                </a:lnTo>
                <a:lnTo>
                  <a:pt x="234645" y="12162"/>
                </a:lnTo>
                <a:lnTo>
                  <a:pt x="190840" y="26699"/>
                </a:lnTo>
                <a:lnTo>
                  <a:pt x="150277" y="46280"/>
                </a:lnTo>
                <a:lnTo>
                  <a:pt x="113468" y="70462"/>
                </a:lnTo>
                <a:lnTo>
                  <a:pt x="80923" y="98799"/>
                </a:lnTo>
                <a:lnTo>
                  <a:pt x="53151" y="130848"/>
                </a:lnTo>
                <a:lnTo>
                  <a:pt x="30662" y="166164"/>
                </a:lnTo>
                <a:lnTo>
                  <a:pt x="13967" y="204303"/>
                </a:lnTo>
                <a:lnTo>
                  <a:pt x="3576" y="244821"/>
                </a:lnTo>
                <a:lnTo>
                  <a:pt x="0" y="287273"/>
                </a:lnTo>
                <a:lnTo>
                  <a:pt x="3576" y="329726"/>
                </a:lnTo>
                <a:lnTo>
                  <a:pt x="13967" y="370244"/>
                </a:lnTo>
                <a:lnTo>
                  <a:pt x="30662" y="408383"/>
                </a:lnTo>
                <a:lnTo>
                  <a:pt x="53151" y="443699"/>
                </a:lnTo>
                <a:lnTo>
                  <a:pt x="80923" y="475748"/>
                </a:lnTo>
                <a:lnTo>
                  <a:pt x="113468" y="504085"/>
                </a:lnTo>
                <a:lnTo>
                  <a:pt x="150277" y="528267"/>
                </a:lnTo>
                <a:lnTo>
                  <a:pt x="190840" y="547848"/>
                </a:lnTo>
                <a:lnTo>
                  <a:pt x="234645" y="562385"/>
                </a:lnTo>
                <a:lnTo>
                  <a:pt x="281184" y="571433"/>
                </a:lnTo>
                <a:lnTo>
                  <a:pt x="329945" y="574547"/>
                </a:lnTo>
                <a:lnTo>
                  <a:pt x="378707" y="571433"/>
                </a:lnTo>
                <a:lnTo>
                  <a:pt x="425246" y="562385"/>
                </a:lnTo>
                <a:lnTo>
                  <a:pt x="469051" y="547848"/>
                </a:lnTo>
                <a:lnTo>
                  <a:pt x="509614" y="528267"/>
                </a:lnTo>
                <a:lnTo>
                  <a:pt x="546423" y="504085"/>
                </a:lnTo>
                <a:lnTo>
                  <a:pt x="578968" y="475748"/>
                </a:lnTo>
                <a:lnTo>
                  <a:pt x="606740" y="443699"/>
                </a:lnTo>
                <a:lnTo>
                  <a:pt x="629229" y="408383"/>
                </a:lnTo>
                <a:lnTo>
                  <a:pt x="645924" y="370244"/>
                </a:lnTo>
                <a:lnTo>
                  <a:pt x="656315" y="329726"/>
                </a:lnTo>
                <a:lnTo>
                  <a:pt x="659891" y="287273"/>
                </a:lnTo>
                <a:lnTo>
                  <a:pt x="656315" y="244821"/>
                </a:lnTo>
                <a:lnTo>
                  <a:pt x="645924" y="204303"/>
                </a:lnTo>
                <a:lnTo>
                  <a:pt x="629229" y="166164"/>
                </a:lnTo>
                <a:lnTo>
                  <a:pt x="606740" y="130848"/>
                </a:lnTo>
                <a:lnTo>
                  <a:pt x="578968" y="98799"/>
                </a:lnTo>
                <a:lnTo>
                  <a:pt x="546423" y="70462"/>
                </a:lnTo>
                <a:lnTo>
                  <a:pt x="509614" y="46280"/>
                </a:lnTo>
                <a:lnTo>
                  <a:pt x="469051" y="26699"/>
                </a:lnTo>
                <a:lnTo>
                  <a:pt x="425246" y="12162"/>
                </a:lnTo>
                <a:lnTo>
                  <a:pt x="378707" y="3114"/>
                </a:lnTo>
                <a:lnTo>
                  <a:pt x="329945" y="0"/>
                </a:lnTo>
                <a:close/>
              </a:path>
            </a:pathLst>
          </a:custGeom>
          <a:solidFill>
            <a:srgbClr val="1E2D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436614" y="5478017"/>
            <a:ext cx="660400" cy="574675"/>
          </a:xfrm>
          <a:custGeom>
            <a:avLst/>
            <a:gdLst/>
            <a:ahLst/>
            <a:cxnLst/>
            <a:rect l="l" t="t" r="r" b="b"/>
            <a:pathLst>
              <a:path w="660400" h="574675">
                <a:moveTo>
                  <a:pt x="0" y="287273"/>
                </a:moveTo>
                <a:lnTo>
                  <a:pt x="3576" y="244821"/>
                </a:lnTo>
                <a:lnTo>
                  <a:pt x="13967" y="204303"/>
                </a:lnTo>
                <a:lnTo>
                  <a:pt x="30662" y="166164"/>
                </a:lnTo>
                <a:lnTo>
                  <a:pt x="53151" y="130848"/>
                </a:lnTo>
                <a:lnTo>
                  <a:pt x="80923" y="98799"/>
                </a:lnTo>
                <a:lnTo>
                  <a:pt x="113468" y="70462"/>
                </a:lnTo>
                <a:lnTo>
                  <a:pt x="150277" y="46280"/>
                </a:lnTo>
                <a:lnTo>
                  <a:pt x="190840" y="26699"/>
                </a:lnTo>
                <a:lnTo>
                  <a:pt x="234645" y="12162"/>
                </a:lnTo>
                <a:lnTo>
                  <a:pt x="281184" y="3114"/>
                </a:lnTo>
                <a:lnTo>
                  <a:pt x="329945" y="0"/>
                </a:lnTo>
                <a:lnTo>
                  <a:pt x="378707" y="3114"/>
                </a:lnTo>
                <a:lnTo>
                  <a:pt x="425246" y="12162"/>
                </a:lnTo>
                <a:lnTo>
                  <a:pt x="469051" y="26699"/>
                </a:lnTo>
                <a:lnTo>
                  <a:pt x="509614" y="46280"/>
                </a:lnTo>
                <a:lnTo>
                  <a:pt x="546423" y="70462"/>
                </a:lnTo>
                <a:lnTo>
                  <a:pt x="578968" y="98799"/>
                </a:lnTo>
                <a:lnTo>
                  <a:pt x="606740" y="130848"/>
                </a:lnTo>
                <a:lnTo>
                  <a:pt x="629229" y="166164"/>
                </a:lnTo>
                <a:lnTo>
                  <a:pt x="645924" y="204303"/>
                </a:lnTo>
                <a:lnTo>
                  <a:pt x="656315" y="244821"/>
                </a:lnTo>
                <a:lnTo>
                  <a:pt x="659891" y="287273"/>
                </a:lnTo>
                <a:lnTo>
                  <a:pt x="656315" y="329726"/>
                </a:lnTo>
                <a:lnTo>
                  <a:pt x="645924" y="370244"/>
                </a:lnTo>
                <a:lnTo>
                  <a:pt x="629229" y="408383"/>
                </a:lnTo>
                <a:lnTo>
                  <a:pt x="606740" y="443699"/>
                </a:lnTo>
                <a:lnTo>
                  <a:pt x="578968" y="475748"/>
                </a:lnTo>
                <a:lnTo>
                  <a:pt x="546423" y="504085"/>
                </a:lnTo>
                <a:lnTo>
                  <a:pt x="509614" y="528267"/>
                </a:lnTo>
                <a:lnTo>
                  <a:pt x="469051" y="547848"/>
                </a:lnTo>
                <a:lnTo>
                  <a:pt x="425246" y="562385"/>
                </a:lnTo>
                <a:lnTo>
                  <a:pt x="378707" y="571433"/>
                </a:lnTo>
                <a:lnTo>
                  <a:pt x="329945" y="574547"/>
                </a:lnTo>
                <a:lnTo>
                  <a:pt x="281184" y="571433"/>
                </a:lnTo>
                <a:lnTo>
                  <a:pt x="234645" y="562385"/>
                </a:lnTo>
                <a:lnTo>
                  <a:pt x="190840" y="547848"/>
                </a:lnTo>
                <a:lnTo>
                  <a:pt x="150277" y="528267"/>
                </a:lnTo>
                <a:lnTo>
                  <a:pt x="113468" y="504085"/>
                </a:lnTo>
                <a:lnTo>
                  <a:pt x="80923" y="475748"/>
                </a:lnTo>
                <a:lnTo>
                  <a:pt x="53151" y="443699"/>
                </a:lnTo>
                <a:lnTo>
                  <a:pt x="30662" y="408383"/>
                </a:lnTo>
                <a:lnTo>
                  <a:pt x="13967" y="370244"/>
                </a:lnTo>
                <a:lnTo>
                  <a:pt x="3576" y="329726"/>
                </a:lnTo>
                <a:lnTo>
                  <a:pt x="0" y="28727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481821" y="5488685"/>
            <a:ext cx="660400" cy="574675"/>
          </a:xfrm>
          <a:custGeom>
            <a:avLst/>
            <a:gdLst/>
            <a:ahLst/>
            <a:cxnLst/>
            <a:rect l="l" t="t" r="r" b="b"/>
            <a:pathLst>
              <a:path w="660400" h="574675">
                <a:moveTo>
                  <a:pt x="329946" y="0"/>
                </a:moveTo>
                <a:lnTo>
                  <a:pt x="281184" y="3114"/>
                </a:lnTo>
                <a:lnTo>
                  <a:pt x="234645" y="12162"/>
                </a:lnTo>
                <a:lnTo>
                  <a:pt x="190840" y="26699"/>
                </a:lnTo>
                <a:lnTo>
                  <a:pt x="150277" y="46280"/>
                </a:lnTo>
                <a:lnTo>
                  <a:pt x="113468" y="70462"/>
                </a:lnTo>
                <a:lnTo>
                  <a:pt x="80923" y="98799"/>
                </a:lnTo>
                <a:lnTo>
                  <a:pt x="53151" y="130848"/>
                </a:lnTo>
                <a:lnTo>
                  <a:pt x="30662" y="166164"/>
                </a:lnTo>
                <a:lnTo>
                  <a:pt x="13967" y="204303"/>
                </a:lnTo>
                <a:lnTo>
                  <a:pt x="3576" y="244821"/>
                </a:lnTo>
                <a:lnTo>
                  <a:pt x="0" y="287273"/>
                </a:lnTo>
                <a:lnTo>
                  <a:pt x="3576" y="329726"/>
                </a:lnTo>
                <a:lnTo>
                  <a:pt x="13967" y="370244"/>
                </a:lnTo>
                <a:lnTo>
                  <a:pt x="30662" y="408383"/>
                </a:lnTo>
                <a:lnTo>
                  <a:pt x="53151" y="443699"/>
                </a:lnTo>
                <a:lnTo>
                  <a:pt x="80923" y="475748"/>
                </a:lnTo>
                <a:lnTo>
                  <a:pt x="113468" y="504085"/>
                </a:lnTo>
                <a:lnTo>
                  <a:pt x="150277" y="528267"/>
                </a:lnTo>
                <a:lnTo>
                  <a:pt x="190840" y="547848"/>
                </a:lnTo>
                <a:lnTo>
                  <a:pt x="234645" y="562385"/>
                </a:lnTo>
                <a:lnTo>
                  <a:pt x="281184" y="571433"/>
                </a:lnTo>
                <a:lnTo>
                  <a:pt x="329946" y="574547"/>
                </a:lnTo>
                <a:lnTo>
                  <a:pt x="378707" y="571433"/>
                </a:lnTo>
                <a:lnTo>
                  <a:pt x="425246" y="562385"/>
                </a:lnTo>
                <a:lnTo>
                  <a:pt x="469051" y="547848"/>
                </a:lnTo>
                <a:lnTo>
                  <a:pt x="509614" y="528267"/>
                </a:lnTo>
                <a:lnTo>
                  <a:pt x="546423" y="504085"/>
                </a:lnTo>
                <a:lnTo>
                  <a:pt x="578968" y="475748"/>
                </a:lnTo>
                <a:lnTo>
                  <a:pt x="606740" y="443699"/>
                </a:lnTo>
                <a:lnTo>
                  <a:pt x="629229" y="408383"/>
                </a:lnTo>
                <a:lnTo>
                  <a:pt x="645924" y="370244"/>
                </a:lnTo>
                <a:lnTo>
                  <a:pt x="656315" y="329726"/>
                </a:lnTo>
                <a:lnTo>
                  <a:pt x="659892" y="287273"/>
                </a:lnTo>
                <a:lnTo>
                  <a:pt x="656315" y="244821"/>
                </a:lnTo>
                <a:lnTo>
                  <a:pt x="645924" y="204303"/>
                </a:lnTo>
                <a:lnTo>
                  <a:pt x="629229" y="166164"/>
                </a:lnTo>
                <a:lnTo>
                  <a:pt x="606740" y="130848"/>
                </a:lnTo>
                <a:lnTo>
                  <a:pt x="578968" y="98799"/>
                </a:lnTo>
                <a:lnTo>
                  <a:pt x="546423" y="70462"/>
                </a:lnTo>
                <a:lnTo>
                  <a:pt x="509614" y="46280"/>
                </a:lnTo>
                <a:lnTo>
                  <a:pt x="469051" y="26699"/>
                </a:lnTo>
                <a:lnTo>
                  <a:pt x="425246" y="12162"/>
                </a:lnTo>
                <a:lnTo>
                  <a:pt x="378707" y="3114"/>
                </a:lnTo>
                <a:lnTo>
                  <a:pt x="329946" y="0"/>
                </a:lnTo>
                <a:close/>
              </a:path>
            </a:pathLst>
          </a:custGeom>
          <a:solidFill>
            <a:srgbClr val="1E2D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481821" y="5488685"/>
            <a:ext cx="660400" cy="574675"/>
          </a:xfrm>
          <a:custGeom>
            <a:avLst/>
            <a:gdLst/>
            <a:ahLst/>
            <a:cxnLst/>
            <a:rect l="l" t="t" r="r" b="b"/>
            <a:pathLst>
              <a:path w="660400" h="574675">
                <a:moveTo>
                  <a:pt x="0" y="287273"/>
                </a:moveTo>
                <a:lnTo>
                  <a:pt x="3576" y="244821"/>
                </a:lnTo>
                <a:lnTo>
                  <a:pt x="13967" y="204303"/>
                </a:lnTo>
                <a:lnTo>
                  <a:pt x="30662" y="166164"/>
                </a:lnTo>
                <a:lnTo>
                  <a:pt x="53151" y="130848"/>
                </a:lnTo>
                <a:lnTo>
                  <a:pt x="80923" y="98799"/>
                </a:lnTo>
                <a:lnTo>
                  <a:pt x="113468" y="70462"/>
                </a:lnTo>
                <a:lnTo>
                  <a:pt x="150277" y="46280"/>
                </a:lnTo>
                <a:lnTo>
                  <a:pt x="190840" y="26699"/>
                </a:lnTo>
                <a:lnTo>
                  <a:pt x="234645" y="12162"/>
                </a:lnTo>
                <a:lnTo>
                  <a:pt x="281184" y="3114"/>
                </a:lnTo>
                <a:lnTo>
                  <a:pt x="329946" y="0"/>
                </a:lnTo>
                <a:lnTo>
                  <a:pt x="378707" y="3114"/>
                </a:lnTo>
                <a:lnTo>
                  <a:pt x="425246" y="12162"/>
                </a:lnTo>
                <a:lnTo>
                  <a:pt x="469051" y="26699"/>
                </a:lnTo>
                <a:lnTo>
                  <a:pt x="509614" y="46280"/>
                </a:lnTo>
                <a:lnTo>
                  <a:pt x="546423" y="70462"/>
                </a:lnTo>
                <a:lnTo>
                  <a:pt x="578968" y="98799"/>
                </a:lnTo>
                <a:lnTo>
                  <a:pt x="606740" y="130848"/>
                </a:lnTo>
                <a:lnTo>
                  <a:pt x="629229" y="166164"/>
                </a:lnTo>
                <a:lnTo>
                  <a:pt x="645924" y="204303"/>
                </a:lnTo>
                <a:lnTo>
                  <a:pt x="656315" y="244821"/>
                </a:lnTo>
                <a:lnTo>
                  <a:pt x="659892" y="287273"/>
                </a:lnTo>
                <a:lnTo>
                  <a:pt x="656315" y="329726"/>
                </a:lnTo>
                <a:lnTo>
                  <a:pt x="645924" y="370244"/>
                </a:lnTo>
                <a:lnTo>
                  <a:pt x="629229" y="408383"/>
                </a:lnTo>
                <a:lnTo>
                  <a:pt x="606740" y="443699"/>
                </a:lnTo>
                <a:lnTo>
                  <a:pt x="578968" y="475748"/>
                </a:lnTo>
                <a:lnTo>
                  <a:pt x="546423" y="504085"/>
                </a:lnTo>
                <a:lnTo>
                  <a:pt x="509614" y="528267"/>
                </a:lnTo>
                <a:lnTo>
                  <a:pt x="469051" y="547848"/>
                </a:lnTo>
                <a:lnTo>
                  <a:pt x="425246" y="562385"/>
                </a:lnTo>
                <a:lnTo>
                  <a:pt x="378707" y="571433"/>
                </a:lnTo>
                <a:lnTo>
                  <a:pt x="329946" y="574547"/>
                </a:lnTo>
                <a:lnTo>
                  <a:pt x="281184" y="571433"/>
                </a:lnTo>
                <a:lnTo>
                  <a:pt x="234645" y="562385"/>
                </a:lnTo>
                <a:lnTo>
                  <a:pt x="190840" y="547848"/>
                </a:lnTo>
                <a:lnTo>
                  <a:pt x="150277" y="528267"/>
                </a:lnTo>
                <a:lnTo>
                  <a:pt x="113468" y="504085"/>
                </a:lnTo>
                <a:lnTo>
                  <a:pt x="80923" y="475748"/>
                </a:lnTo>
                <a:lnTo>
                  <a:pt x="53151" y="443699"/>
                </a:lnTo>
                <a:lnTo>
                  <a:pt x="30662" y="408383"/>
                </a:lnTo>
                <a:lnTo>
                  <a:pt x="13967" y="370244"/>
                </a:lnTo>
                <a:lnTo>
                  <a:pt x="3576" y="329726"/>
                </a:lnTo>
                <a:lnTo>
                  <a:pt x="0" y="287273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8630539" y="5493207"/>
            <a:ext cx="36449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874770" y="1966722"/>
            <a:ext cx="660400" cy="574675"/>
          </a:xfrm>
          <a:custGeom>
            <a:avLst/>
            <a:gdLst/>
            <a:ahLst/>
            <a:cxnLst/>
            <a:rect l="l" t="t" r="r" b="b"/>
            <a:pathLst>
              <a:path w="660400" h="574675">
                <a:moveTo>
                  <a:pt x="329945" y="0"/>
                </a:moveTo>
                <a:lnTo>
                  <a:pt x="281184" y="3115"/>
                </a:lnTo>
                <a:lnTo>
                  <a:pt x="234645" y="12165"/>
                </a:lnTo>
                <a:lnTo>
                  <a:pt x="190840" y="26705"/>
                </a:lnTo>
                <a:lnTo>
                  <a:pt x="150277" y="46290"/>
                </a:lnTo>
                <a:lnTo>
                  <a:pt x="113468" y="70474"/>
                </a:lnTo>
                <a:lnTo>
                  <a:pt x="80923" y="98814"/>
                </a:lnTo>
                <a:lnTo>
                  <a:pt x="53151" y="130865"/>
                </a:lnTo>
                <a:lnTo>
                  <a:pt x="30662" y="166181"/>
                </a:lnTo>
                <a:lnTo>
                  <a:pt x="13967" y="204317"/>
                </a:lnTo>
                <a:lnTo>
                  <a:pt x="3576" y="244830"/>
                </a:lnTo>
                <a:lnTo>
                  <a:pt x="0" y="287274"/>
                </a:lnTo>
                <a:lnTo>
                  <a:pt x="3576" y="329717"/>
                </a:lnTo>
                <a:lnTo>
                  <a:pt x="13967" y="370230"/>
                </a:lnTo>
                <a:lnTo>
                  <a:pt x="30662" y="408366"/>
                </a:lnTo>
                <a:lnTo>
                  <a:pt x="53151" y="443682"/>
                </a:lnTo>
                <a:lnTo>
                  <a:pt x="80923" y="475733"/>
                </a:lnTo>
                <a:lnTo>
                  <a:pt x="113468" y="504073"/>
                </a:lnTo>
                <a:lnTo>
                  <a:pt x="150277" y="528257"/>
                </a:lnTo>
                <a:lnTo>
                  <a:pt x="190840" y="547842"/>
                </a:lnTo>
                <a:lnTo>
                  <a:pt x="234645" y="562382"/>
                </a:lnTo>
                <a:lnTo>
                  <a:pt x="281184" y="571432"/>
                </a:lnTo>
                <a:lnTo>
                  <a:pt x="329945" y="574548"/>
                </a:lnTo>
                <a:lnTo>
                  <a:pt x="378707" y="571432"/>
                </a:lnTo>
                <a:lnTo>
                  <a:pt x="425246" y="562382"/>
                </a:lnTo>
                <a:lnTo>
                  <a:pt x="469051" y="547842"/>
                </a:lnTo>
                <a:lnTo>
                  <a:pt x="509614" y="528257"/>
                </a:lnTo>
                <a:lnTo>
                  <a:pt x="546423" y="504073"/>
                </a:lnTo>
                <a:lnTo>
                  <a:pt x="578968" y="475733"/>
                </a:lnTo>
                <a:lnTo>
                  <a:pt x="606740" y="443682"/>
                </a:lnTo>
                <a:lnTo>
                  <a:pt x="629229" y="408366"/>
                </a:lnTo>
                <a:lnTo>
                  <a:pt x="645924" y="370230"/>
                </a:lnTo>
                <a:lnTo>
                  <a:pt x="656315" y="329717"/>
                </a:lnTo>
                <a:lnTo>
                  <a:pt x="659891" y="287274"/>
                </a:lnTo>
                <a:lnTo>
                  <a:pt x="656315" y="244830"/>
                </a:lnTo>
                <a:lnTo>
                  <a:pt x="645924" y="204317"/>
                </a:lnTo>
                <a:lnTo>
                  <a:pt x="629229" y="166181"/>
                </a:lnTo>
                <a:lnTo>
                  <a:pt x="606740" y="130865"/>
                </a:lnTo>
                <a:lnTo>
                  <a:pt x="578968" y="98814"/>
                </a:lnTo>
                <a:lnTo>
                  <a:pt x="546423" y="70474"/>
                </a:lnTo>
                <a:lnTo>
                  <a:pt x="509614" y="46290"/>
                </a:lnTo>
                <a:lnTo>
                  <a:pt x="469051" y="26705"/>
                </a:lnTo>
                <a:lnTo>
                  <a:pt x="425246" y="12165"/>
                </a:lnTo>
                <a:lnTo>
                  <a:pt x="378707" y="3115"/>
                </a:lnTo>
                <a:lnTo>
                  <a:pt x="329945" y="0"/>
                </a:lnTo>
                <a:close/>
              </a:path>
            </a:pathLst>
          </a:custGeom>
          <a:solidFill>
            <a:srgbClr val="1E2D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874770" y="1966722"/>
            <a:ext cx="660400" cy="574675"/>
          </a:xfrm>
          <a:custGeom>
            <a:avLst/>
            <a:gdLst/>
            <a:ahLst/>
            <a:cxnLst/>
            <a:rect l="l" t="t" r="r" b="b"/>
            <a:pathLst>
              <a:path w="660400" h="574675">
                <a:moveTo>
                  <a:pt x="0" y="287274"/>
                </a:moveTo>
                <a:lnTo>
                  <a:pt x="3576" y="244830"/>
                </a:lnTo>
                <a:lnTo>
                  <a:pt x="13967" y="204317"/>
                </a:lnTo>
                <a:lnTo>
                  <a:pt x="30662" y="166181"/>
                </a:lnTo>
                <a:lnTo>
                  <a:pt x="53151" y="130865"/>
                </a:lnTo>
                <a:lnTo>
                  <a:pt x="80923" y="98814"/>
                </a:lnTo>
                <a:lnTo>
                  <a:pt x="113468" y="70474"/>
                </a:lnTo>
                <a:lnTo>
                  <a:pt x="150277" y="46290"/>
                </a:lnTo>
                <a:lnTo>
                  <a:pt x="190840" y="26705"/>
                </a:lnTo>
                <a:lnTo>
                  <a:pt x="234645" y="12165"/>
                </a:lnTo>
                <a:lnTo>
                  <a:pt x="281184" y="3115"/>
                </a:lnTo>
                <a:lnTo>
                  <a:pt x="329945" y="0"/>
                </a:lnTo>
                <a:lnTo>
                  <a:pt x="378707" y="3115"/>
                </a:lnTo>
                <a:lnTo>
                  <a:pt x="425246" y="12165"/>
                </a:lnTo>
                <a:lnTo>
                  <a:pt x="469051" y="26705"/>
                </a:lnTo>
                <a:lnTo>
                  <a:pt x="509614" y="46290"/>
                </a:lnTo>
                <a:lnTo>
                  <a:pt x="546423" y="70474"/>
                </a:lnTo>
                <a:lnTo>
                  <a:pt x="578968" y="98814"/>
                </a:lnTo>
                <a:lnTo>
                  <a:pt x="606740" y="130865"/>
                </a:lnTo>
                <a:lnTo>
                  <a:pt x="629229" y="166181"/>
                </a:lnTo>
                <a:lnTo>
                  <a:pt x="645924" y="204317"/>
                </a:lnTo>
                <a:lnTo>
                  <a:pt x="656315" y="244830"/>
                </a:lnTo>
                <a:lnTo>
                  <a:pt x="659891" y="287274"/>
                </a:lnTo>
                <a:lnTo>
                  <a:pt x="656315" y="329717"/>
                </a:lnTo>
                <a:lnTo>
                  <a:pt x="645924" y="370230"/>
                </a:lnTo>
                <a:lnTo>
                  <a:pt x="629229" y="408366"/>
                </a:lnTo>
                <a:lnTo>
                  <a:pt x="606740" y="443682"/>
                </a:lnTo>
                <a:lnTo>
                  <a:pt x="578968" y="475733"/>
                </a:lnTo>
                <a:lnTo>
                  <a:pt x="546423" y="504073"/>
                </a:lnTo>
                <a:lnTo>
                  <a:pt x="509614" y="528257"/>
                </a:lnTo>
                <a:lnTo>
                  <a:pt x="469051" y="547842"/>
                </a:lnTo>
                <a:lnTo>
                  <a:pt x="425246" y="562382"/>
                </a:lnTo>
                <a:lnTo>
                  <a:pt x="378707" y="571432"/>
                </a:lnTo>
                <a:lnTo>
                  <a:pt x="329945" y="574548"/>
                </a:lnTo>
                <a:lnTo>
                  <a:pt x="281184" y="571432"/>
                </a:lnTo>
                <a:lnTo>
                  <a:pt x="234645" y="562382"/>
                </a:lnTo>
                <a:lnTo>
                  <a:pt x="190840" y="547842"/>
                </a:lnTo>
                <a:lnTo>
                  <a:pt x="150277" y="528257"/>
                </a:lnTo>
                <a:lnTo>
                  <a:pt x="113468" y="504073"/>
                </a:lnTo>
                <a:lnTo>
                  <a:pt x="80923" y="475733"/>
                </a:lnTo>
                <a:lnTo>
                  <a:pt x="53151" y="443682"/>
                </a:lnTo>
                <a:lnTo>
                  <a:pt x="30662" y="408366"/>
                </a:lnTo>
                <a:lnTo>
                  <a:pt x="13967" y="370230"/>
                </a:lnTo>
                <a:lnTo>
                  <a:pt x="3576" y="329717"/>
                </a:lnTo>
                <a:lnTo>
                  <a:pt x="0" y="28727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044188" y="1970277"/>
            <a:ext cx="31940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188714" y="2541270"/>
            <a:ext cx="15875" cy="2990850"/>
          </a:xfrm>
          <a:custGeom>
            <a:avLst/>
            <a:gdLst/>
            <a:ahLst/>
            <a:cxnLst/>
            <a:rect l="l" t="t" r="r" b="b"/>
            <a:pathLst>
              <a:path w="15875" h="2990850">
                <a:moveTo>
                  <a:pt x="15875" y="0"/>
                </a:moveTo>
                <a:lnTo>
                  <a:pt x="0" y="299084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083814" y="2455926"/>
            <a:ext cx="887730" cy="3088005"/>
          </a:xfrm>
          <a:custGeom>
            <a:avLst/>
            <a:gdLst/>
            <a:ahLst/>
            <a:cxnLst/>
            <a:rect l="l" t="t" r="r" b="b"/>
            <a:pathLst>
              <a:path w="887729" h="3088004">
                <a:moveTo>
                  <a:pt x="887476" y="0"/>
                </a:moveTo>
                <a:lnTo>
                  <a:pt x="0" y="308762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437126" y="2475738"/>
            <a:ext cx="2954655" cy="587375"/>
          </a:xfrm>
          <a:custGeom>
            <a:avLst/>
            <a:gdLst/>
            <a:ahLst/>
            <a:cxnLst/>
            <a:rect l="l" t="t" r="r" b="b"/>
            <a:pathLst>
              <a:path w="2954654" h="587375">
                <a:moveTo>
                  <a:pt x="0" y="0"/>
                </a:moveTo>
                <a:lnTo>
                  <a:pt x="2954401" y="587375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061454" y="3082289"/>
            <a:ext cx="661670" cy="574675"/>
          </a:xfrm>
          <a:custGeom>
            <a:avLst/>
            <a:gdLst/>
            <a:ahLst/>
            <a:cxnLst/>
            <a:rect l="l" t="t" r="r" b="b"/>
            <a:pathLst>
              <a:path w="661670" h="574675">
                <a:moveTo>
                  <a:pt x="330707" y="0"/>
                </a:moveTo>
                <a:lnTo>
                  <a:pt x="281842" y="3115"/>
                </a:lnTo>
                <a:lnTo>
                  <a:pt x="235202" y="12165"/>
                </a:lnTo>
                <a:lnTo>
                  <a:pt x="191298" y="26705"/>
                </a:lnTo>
                <a:lnTo>
                  <a:pt x="150642" y="46290"/>
                </a:lnTo>
                <a:lnTo>
                  <a:pt x="113746" y="70474"/>
                </a:lnTo>
                <a:lnTo>
                  <a:pt x="81123" y="98814"/>
                </a:lnTo>
                <a:lnTo>
                  <a:pt x="53283" y="130865"/>
                </a:lnTo>
                <a:lnTo>
                  <a:pt x="30739" y="166181"/>
                </a:lnTo>
                <a:lnTo>
                  <a:pt x="14003" y="204317"/>
                </a:lnTo>
                <a:lnTo>
                  <a:pt x="3586" y="244830"/>
                </a:lnTo>
                <a:lnTo>
                  <a:pt x="0" y="287274"/>
                </a:lnTo>
                <a:lnTo>
                  <a:pt x="3586" y="329717"/>
                </a:lnTo>
                <a:lnTo>
                  <a:pt x="14003" y="370230"/>
                </a:lnTo>
                <a:lnTo>
                  <a:pt x="30739" y="408366"/>
                </a:lnTo>
                <a:lnTo>
                  <a:pt x="53283" y="443682"/>
                </a:lnTo>
                <a:lnTo>
                  <a:pt x="81123" y="475733"/>
                </a:lnTo>
                <a:lnTo>
                  <a:pt x="113746" y="504073"/>
                </a:lnTo>
                <a:lnTo>
                  <a:pt x="150642" y="528257"/>
                </a:lnTo>
                <a:lnTo>
                  <a:pt x="191298" y="547842"/>
                </a:lnTo>
                <a:lnTo>
                  <a:pt x="235202" y="562382"/>
                </a:lnTo>
                <a:lnTo>
                  <a:pt x="281842" y="571432"/>
                </a:lnTo>
                <a:lnTo>
                  <a:pt x="330707" y="574548"/>
                </a:lnTo>
                <a:lnTo>
                  <a:pt x="379573" y="571432"/>
                </a:lnTo>
                <a:lnTo>
                  <a:pt x="426213" y="562382"/>
                </a:lnTo>
                <a:lnTo>
                  <a:pt x="470117" y="547842"/>
                </a:lnTo>
                <a:lnTo>
                  <a:pt x="510773" y="528257"/>
                </a:lnTo>
                <a:lnTo>
                  <a:pt x="547669" y="504073"/>
                </a:lnTo>
                <a:lnTo>
                  <a:pt x="580292" y="475733"/>
                </a:lnTo>
                <a:lnTo>
                  <a:pt x="608132" y="443682"/>
                </a:lnTo>
                <a:lnTo>
                  <a:pt x="630676" y="408366"/>
                </a:lnTo>
                <a:lnTo>
                  <a:pt x="647412" y="370230"/>
                </a:lnTo>
                <a:lnTo>
                  <a:pt x="657829" y="329717"/>
                </a:lnTo>
                <a:lnTo>
                  <a:pt x="661416" y="287274"/>
                </a:lnTo>
                <a:lnTo>
                  <a:pt x="657829" y="244830"/>
                </a:lnTo>
                <a:lnTo>
                  <a:pt x="647412" y="204317"/>
                </a:lnTo>
                <a:lnTo>
                  <a:pt x="630676" y="166181"/>
                </a:lnTo>
                <a:lnTo>
                  <a:pt x="608132" y="130865"/>
                </a:lnTo>
                <a:lnTo>
                  <a:pt x="580292" y="98814"/>
                </a:lnTo>
                <a:lnTo>
                  <a:pt x="547669" y="70474"/>
                </a:lnTo>
                <a:lnTo>
                  <a:pt x="510773" y="46290"/>
                </a:lnTo>
                <a:lnTo>
                  <a:pt x="470117" y="26705"/>
                </a:lnTo>
                <a:lnTo>
                  <a:pt x="426213" y="12165"/>
                </a:lnTo>
                <a:lnTo>
                  <a:pt x="379573" y="3115"/>
                </a:lnTo>
                <a:lnTo>
                  <a:pt x="330707" y="0"/>
                </a:lnTo>
                <a:close/>
              </a:path>
            </a:pathLst>
          </a:custGeom>
          <a:solidFill>
            <a:srgbClr val="1E2D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061454" y="3082289"/>
            <a:ext cx="661670" cy="574675"/>
          </a:xfrm>
          <a:custGeom>
            <a:avLst/>
            <a:gdLst/>
            <a:ahLst/>
            <a:cxnLst/>
            <a:rect l="l" t="t" r="r" b="b"/>
            <a:pathLst>
              <a:path w="661670" h="574675">
                <a:moveTo>
                  <a:pt x="0" y="287274"/>
                </a:moveTo>
                <a:lnTo>
                  <a:pt x="3586" y="244830"/>
                </a:lnTo>
                <a:lnTo>
                  <a:pt x="14003" y="204317"/>
                </a:lnTo>
                <a:lnTo>
                  <a:pt x="30739" y="166181"/>
                </a:lnTo>
                <a:lnTo>
                  <a:pt x="53283" y="130865"/>
                </a:lnTo>
                <a:lnTo>
                  <a:pt x="81123" y="98814"/>
                </a:lnTo>
                <a:lnTo>
                  <a:pt x="113746" y="70474"/>
                </a:lnTo>
                <a:lnTo>
                  <a:pt x="150642" y="46290"/>
                </a:lnTo>
                <a:lnTo>
                  <a:pt x="191298" y="26705"/>
                </a:lnTo>
                <a:lnTo>
                  <a:pt x="235202" y="12165"/>
                </a:lnTo>
                <a:lnTo>
                  <a:pt x="281842" y="3115"/>
                </a:lnTo>
                <a:lnTo>
                  <a:pt x="330707" y="0"/>
                </a:lnTo>
                <a:lnTo>
                  <a:pt x="379573" y="3115"/>
                </a:lnTo>
                <a:lnTo>
                  <a:pt x="426213" y="12165"/>
                </a:lnTo>
                <a:lnTo>
                  <a:pt x="470117" y="26705"/>
                </a:lnTo>
                <a:lnTo>
                  <a:pt x="510773" y="46290"/>
                </a:lnTo>
                <a:lnTo>
                  <a:pt x="547669" y="70474"/>
                </a:lnTo>
                <a:lnTo>
                  <a:pt x="580292" y="98814"/>
                </a:lnTo>
                <a:lnTo>
                  <a:pt x="608132" y="130865"/>
                </a:lnTo>
                <a:lnTo>
                  <a:pt x="630676" y="166181"/>
                </a:lnTo>
                <a:lnTo>
                  <a:pt x="647412" y="204317"/>
                </a:lnTo>
                <a:lnTo>
                  <a:pt x="657829" y="244830"/>
                </a:lnTo>
                <a:lnTo>
                  <a:pt x="661416" y="287274"/>
                </a:lnTo>
                <a:lnTo>
                  <a:pt x="657829" y="329717"/>
                </a:lnTo>
                <a:lnTo>
                  <a:pt x="647412" y="370230"/>
                </a:lnTo>
                <a:lnTo>
                  <a:pt x="630676" y="408366"/>
                </a:lnTo>
                <a:lnTo>
                  <a:pt x="608132" y="443682"/>
                </a:lnTo>
                <a:lnTo>
                  <a:pt x="580292" y="475733"/>
                </a:lnTo>
                <a:lnTo>
                  <a:pt x="547669" y="504073"/>
                </a:lnTo>
                <a:lnTo>
                  <a:pt x="510773" y="528257"/>
                </a:lnTo>
                <a:lnTo>
                  <a:pt x="470117" y="547842"/>
                </a:lnTo>
                <a:lnTo>
                  <a:pt x="426213" y="562382"/>
                </a:lnTo>
                <a:lnTo>
                  <a:pt x="379573" y="571432"/>
                </a:lnTo>
                <a:lnTo>
                  <a:pt x="330707" y="574548"/>
                </a:lnTo>
                <a:lnTo>
                  <a:pt x="281842" y="571432"/>
                </a:lnTo>
                <a:lnTo>
                  <a:pt x="235202" y="562382"/>
                </a:lnTo>
                <a:lnTo>
                  <a:pt x="191298" y="547842"/>
                </a:lnTo>
                <a:lnTo>
                  <a:pt x="150642" y="528257"/>
                </a:lnTo>
                <a:lnTo>
                  <a:pt x="113746" y="504073"/>
                </a:lnTo>
                <a:lnTo>
                  <a:pt x="81123" y="475733"/>
                </a:lnTo>
                <a:lnTo>
                  <a:pt x="53283" y="443682"/>
                </a:lnTo>
                <a:lnTo>
                  <a:pt x="30739" y="408366"/>
                </a:lnTo>
                <a:lnTo>
                  <a:pt x="14003" y="370230"/>
                </a:lnTo>
                <a:lnTo>
                  <a:pt x="3586" y="329717"/>
                </a:lnTo>
                <a:lnTo>
                  <a:pt x="0" y="287274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7243064" y="3086481"/>
            <a:ext cx="2971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392161" y="3656838"/>
            <a:ext cx="111125" cy="1816100"/>
          </a:xfrm>
          <a:custGeom>
            <a:avLst/>
            <a:gdLst/>
            <a:ahLst/>
            <a:cxnLst/>
            <a:rect l="l" t="t" r="r" b="b"/>
            <a:pathLst>
              <a:path w="111125" h="1816100">
                <a:moveTo>
                  <a:pt x="0" y="0"/>
                </a:moveTo>
                <a:lnTo>
                  <a:pt x="111125" y="181610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918453" y="3591305"/>
            <a:ext cx="1240155" cy="300355"/>
          </a:xfrm>
          <a:custGeom>
            <a:avLst/>
            <a:gdLst/>
            <a:ahLst/>
            <a:cxnLst/>
            <a:rect l="l" t="t" r="r" b="b"/>
            <a:pathLst>
              <a:path w="1240154" h="300354">
                <a:moveTo>
                  <a:pt x="1239901" y="0"/>
                </a:moveTo>
                <a:lnTo>
                  <a:pt x="0" y="29997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625333" y="3591305"/>
            <a:ext cx="1151255" cy="300355"/>
          </a:xfrm>
          <a:custGeom>
            <a:avLst/>
            <a:gdLst/>
            <a:ahLst/>
            <a:cxnLst/>
            <a:rect l="l" t="t" r="r" b="b"/>
            <a:pathLst>
              <a:path w="1151254" h="300354">
                <a:moveTo>
                  <a:pt x="0" y="0"/>
                </a:moveTo>
                <a:lnTo>
                  <a:pt x="1151001" y="29997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589270" y="3911346"/>
            <a:ext cx="660400" cy="574675"/>
          </a:xfrm>
          <a:custGeom>
            <a:avLst/>
            <a:gdLst/>
            <a:ahLst/>
            <a:cxnLst/>
            <a:rect l="l" t="t" r="r" b="b"/>
            <a:pathLst>
              <a:path w="660400" h="574675">
                <a:moveTo>
                  <a:pt x="329945" y="0"/>
                </a:moveTo>
                <a:lnTo>
                  <a:pt x="281184" y="3115"/>
                </a:lnTo>
                <a:lnTo>
                  <a:pt x="234645" y="12165"/>
                </a:lnTo>
                <a:lnTo>
                  <a:pt x="190840" y="26705"/>
                </a:lnTo>
                <a:lnTo>
                  <a:pt x="150277" y="46290"/>
                </a:lnTo>
                <a:lnTo>
                  <a:pt x="113468" y="70474"/>
                </a:lnTo>
                <a:lnTo>
                  <a:pt x="80923" y="98814"/>
                </a:lnTo>
                <a:lnTo>
                  <a:pt x="53151" y="130865"/>
                </a:lnTo>
                <a:lnTo>
                  <a:pt x="30662" y="166181"/>
                </a:lnTo>
                <a:lnTo>
                  <a:pt x="13967" y="204317"/>
                </a:lnTo>
                <a:lnTo>
                  <a:pt x="3576" y="244830"/>
                </a:lnTo>
                <a:lnTo>
                  <a:pt x="0" y="287273"/>
                </a:lnTo>
                <a:lnTo>
                  <a:pt x="3576" y="329717"/>
                </a:lnTo>
                <a:lnTo>
                  <a:pt x="13967" y="370230"/>
                </a:lnTo>
                <a:lnTo>
                  <a:pt x="30662" y="408366"/>
                </a:lnTo>
                <a:lnTo>
                  <a:pt x="53151" y="443682"/>
                </a:lnTo>
                <a:lnTo>
                  <a:pt x="80923" y="475733"/>
                </a:lnTo>
                <a:lnTo>
                  <a:pt x="113468" y="504073"/>
                </a:lnTo>
                <a:lnTo>
                  <a:pt x="150277" y="528257"/>
                </a:lnTo>
                <a:lnTo>
                  <a:pt x="190840" y="547842"/>
                </a:lnTo>
                <a:lnTo>
                  <a:pt x="234645" y="562382"/>
                </a:lnTo>
                <a:lnTo>
                  <a:pt x="281184" y="571432"/>
                </a:lnTo>
                <a:lnTo>
                  <a:pt x="329945" y="574547"/>
                </a:lnTo>
                <a:lnTo>
                  <a:pt x="378707" y="571432"/>
                </a:lnTo>
                <a:lnTo>
                  <a:pt x="425246" y="562382"/>
                </a:lnTo>
                <a:lnTo>
                  <a:pt x="469051" y="547842"/>
                </a:lnTo>
                <a:lnTo>
                  <a:pt x="509614" y="528257"/>
                </a:lnTo>
                <a:lnTo>
                  <a:pt x="546423" y="504073"/>
                </a:lnTo>
                <a:lnTo>
                  <a:pt x="578968" y="475733"/>
                </a:lnTo>
                <a:lnTo>
                  <a:pt x="606740" y="443682"/>
                </a:lnTo>
                <a:lnTo>
                  <a:pt x="629229" y="408366"/>
                </a:lnTo>
                <a:lnTo>
                  <a:pt x="645924" y="370230"/>
                </a:lnTo>
                <a:lnTo>
                  <a:pt x="656315" y="329717"/>
                </a:lnTo>
                <a:lnTo>
                  <a:pt x="659891" y="287273"/>
                </a:lnTo>
                <a:lnTo>
                  <a:pt x="656315" y="244830"/>
                </a:lnTo>
                <a:lnTo>
                  <a:pt x="645924" y="204317"/>
                </a:lnTo>
                <a:lnTo>
                  <a:pt x="629229" y="166181"/>
                </a:lnTo>
                <a:lnTo>
                  <a:pt x="606740" y="130865"/>
                </a:lnTo>
                <a:lnTo>
                  <a:pt x="578968" y="98814"/>
                </a:lnTo>
                <a:lnTo>
                  <a:pt x="546423" y="70474"/>
                </a:lnTo>
                <a:lnTo>
                  <a:pt x="509614" y="46290"/>
                </a:lnTo>
                <a:lnTo>
                  <a:pt x="469051" y="26705"/>
                </a:lnTo>
                <a:lnTo>
                  <a:pt x="425246" y="12165"/>
                </a:lnTo>
                <a:lnTo>
                  <a:pt x="378707" y="3115"/>
                </a:lnTo>
                <a:lnTo>
                  <a:pt x="329945" y="0"/>
                </a:lnTo>
                <a:close/>
              </a:path>
            </a:pathLst>
          </a:custGeom>
          <a:solidFill>
            <a:srgbClr val="1E2D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589270" y="3911346"/>
            <a:ext cx="660400" cy="574675"/>
          </a:xfrm>
          <a:custGeom>
            <a:avLst/>
            <a:gdLst/>
            <a:ahLst/>
            <a:cxnLst/>
            <a:rect l="l" t="t" r="r" b="b"/>
            <a:pathLst>
              <a:path w="660400" h="574675">
                <a:moveTo>
                  <a:pt x="0" y="287273"/>
                </a:moveTo>
                <a:lnTo>
                  <a:pt x="3576" y="244830"/>
                </a:lnTo>
                <a:lnTo>
                  <a:pt x="13967" y="204317"/>
                </a:lnTo>
                <a:lnTo>
                  <a:pt x="30662" y="166181"/>
                </a:lnTo>
                <a:lnTo>
                  <a:pt x="53151" y="130865"/>
                </a:lnTo>
                <a:lnTo>
                  <a:pt x="80923" y="98814"/>
                </a:lnTo>
                <a:lnTo>
                  <a:pt x="113468" y="70474"/>
                </a:lnTo>
                <a:lnTo>
                  <a:pt x="150277" y="46290"/>
                </a:lnTo>
                <a:lnTo>
                  <a:pt x="190840" y="26705"/>
                </a:lnTo>
                <a:lnTo>
                  <a:pt x="234645" y="12165"/>
                </a:lnTo>
                <a:lnTo>
                  <a:pt x="281184" y="3115"/>
                </a:lnTo>
                <a:lnTo>
                  <a:pt x="329945" y="0"/>
                </a:lnTo>
                <a:lnTo>
                  <a:pt x="378707" y="3115"/>
                </a:lnTo>
                <a:lnTo>
                  <a:pt x="425246" y="12165"/>
                </a:lnTo>
                <a:lnTo>
                  <a:pt x="469051" y="26705"/>
                </a:lnTo>
                <a:lnTo>
                  <a:pt x="509614" y="46290"/>
                </a:lnTo>
                <a:lnTo>
                  <a:pt x="546423" y="70474"/>
                </a:lnTo>
                <a:lnTo>
                  <a:pt x="578968" y="98814"/>
                </a:lnTo>
                <a:lnTo>
                  <a:pt x="606740" y="130865"/>
                </a:lnTo>
                <a:lnTo>
                  <a:pt x="629229" y="166181"/>
                </a:lnTo>
                <a:lnTo>
                  <a:pt x="645924" y="204317"/>
                </a:lnTo>
                <a:lnTo>
                  <a:pt x="656315" y="244830"/>
                </a:lnTo>
                <a:lnTo>
                  <a:pt x="659891" y="287273"/>
                </a:lnTo>
                <a:lnTo>
                  <a:pt x="656315" y="329717"/>
                </a:lnTo>
                <a:lnTo>
                  <a:pt x="645924" y="370230"/>
                </a:lnTo>
                <a:lnTo>
                  <a:pt x="629229" y="408366"/>
                </a:lnTo>
                <a:lnTo>
                  <a:pt x="606740" y="443682"/>
                </a:lnTo>
                <a:lnTo>
                  <a:pt x="578968" y="475733"/>
                </a:lnTo>
                <a:lnTo>
                  <a:pt x="546423" y="504073"/>
                </a:lnTo>
                <a:lnTo>
                  <a:pt x="509614" y="528257"/>
                </a:lnTo>
                <a:lnTo>
                  <a:pt x="469051" y="547842"/>
                </a:lnTo>
                <a:lnTo>
                  <a:pt x="425246" y="562382"/>
                </a:lnTo>
                <a:lnTo>
                  <a:pt x="378707" y="571432"/>
                </a:lnTo>
                <a:lnTo>
                  <a:pt x="329945" y="574547"/>
                </a:lnTo>
                <a:lnTo>
                  <a:pt x="281184" y="571432"/>
                </a:lnTo>
                <a:lnTo>
                  <a:pt x="234645" y="562382"/>
                </a:lnTo>
                <a:lnTo>
                  <a:pt x="190840" y="547842"/>
                </a:lnTo>
                <a:lnTo>
                  <a:pt x="150277" y="528257"/>
                </a:lnTo>
                <a:lnTo>
                  <a:pt x="113468" y="504073"/>
                </a:lnTo>
                <a:lnTo>
                  <a:pt x="80923" y="475733"/>
                </a:lnTo>
                <a:lnTo>
                  <a:pt x="53151" y="443682"/>
                </a:lnTo>
                <a:lnTo>
                  <a:pt x="30662" y="408366"/>
                </a:lnTo>
                <a:lnTo>
                  <a:pt x="13967" y="370230"/>
                </a:lnTo>
                <a:lnTo>
                  <a:pt x="3576" y="329717"/>
                </a:lnTo>
                <a:lnTo>
                  <a:pt x="0" y="28727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5769609" y="3914978"/>
            <a:ext cx="29718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118353" y="4420361"/>
            <a:ext cx="567055" cy="262255"/>
          </a:xfrm>
          <a:custGeom>
            <a:avLst/>
            <a:gdLst/>
            <a:ahLst/>
            <a:cxnLst/>
            <a:rect l="l" t="t" r="r" b="b"/>
            <a:pathLst>
              <a:path w="567054" h="262254">
                <a:moveTo>
                  <a:pt x="566674" y="0"/>
                </a:moveTo>
                <a:lnTo>
                  <a:pt x="0" y="26187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903214" y="4485894"/>
            <a:ext cx="15875" cy="1003300"/>
          </a:xfrm>
          <a:custGeom>
            <a:avLst/>
            <a:gdLst/>
            <a:ahLst/>
            <a:cxnLst/>
            <a:rect l="l" t="t" r="r" b="b"/>
            <a:pathLst>
              <a:path w="15875" h="1003300">
                <a:moveTo>
                  <a:pt x="15875" y="0"/>
                </a:moveTo>
                <a:lnTo>
                  <a:pt x="0" y="100329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151626" y="4420361"/>
            <a:ext cx="617855" cy="262255"/>
          </a:xfrm>
          <a:custGeom>
            <a:avLst/>
            <a:gdLst/>
            <a:ahLst/>
            <a:cxnLst/>
            <a:rect l="l" t="t" r="r" b="b"/>
            <a:pathLst>
              <a:path w="617854" h="262254">
                <a:moveTo>
                  <a:pt x="0" y="0"/>
                </a:moveTo>
                <a:lnTo>
                  <a:pt x="617601" y="26187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789170" y="4700778"/>
            <a:ext cx="660400" cy="574675"/>
          </a:xfrm>
          <a:custGeom>
            <a:avLst/>
            <a:gdLst/>
            <a:ahLst/>
            <a:cxnLst/>
            <a:rect l="l" t="t" r="r" b="b"/>
            <a:pathLst>
              <a:path w="660400" h="574675">
                <a:moveTo>
                  <a:pt x="329945" y="0"/>
                </a:moveTo>
                <a:lnTo>
                  <a:pt x="281184" y="3115"/>
                </a:lnTo>
                <a:lnTo>
                  <a:pt x="234645" y="12165"/>
                </a:lnTo>
                <a:lnTo>
                  <a:pt x="190840" y="26705"/>
                </a:lnTo>
                <a:lnTo>
                  <a:pt x="150277" y="46290"/>
                </a:lnTo>
                <a:lnTo>
                  <a:pt x="113468" y="70474"/>
                </a:lnTo>
                <a:lnTo>
                  <a:pt x="80923" y="98814"/>
                </a:lnTo>
                <a:lnTo>
                  <a:pt x="53151" y="130865"/>
                </a:lnTo>
                <a:lnTo>
                  <a:pt x="30662" y="166181"/>
                </a:lnTo>
                <a:lnTo>
                  <a:pt x="13967" y="204317"/>
                </a:lnTo>
                <a:lnTo>
                  <a:pt x="3576" y="244830"/>
                </a:lnTo>
                <a:lnTo>
                  <a:pt x="0" y="287274"/>
                </a:lnTo>
                <a:lnTo>
                  <a:pt x="3576" y="329717"/>
                </a:lnTo>
                <a:lnTo>
                  <a:pt x="13967" y="370230"/>
                </a:lnTo>
                <a:lnTo>
                  <a:pt x="30662" y="408366"/>
                </a:lnTo>
                <a:lnTo>
                  <a:pt x="53151" y="443682"/>
                </a:lnTo>
                <a:lnTo>
                  <a:pt x="80923" y="475733"/>
                </a:lnTo>
                <a:lnTo>
                  <a:pt x="113468" y="504073"/>
                </a:lnTo>
                <a:lnTo>
                  <a:pt x="150277" y="528257"/>
                </a:lnTo>
                <a:lnTo>
                  <a:pt x="190840" y="547842"/>
                </a:lnTo>
                <a:lnTo>
                  <a:pt x="234645" y="562382"/>
                </a:lnTo>
                <a:lnTo>
                  <a:pt x="281184" y="571432"/>
                </a:lnTo>
                <a:lnTo>
                  <a:pt x="329945" y="574548"/>
                </a:lnTo>
                <a:lnTo>
                  <a:pt x="378707" y="571432"/>
                </a:lnTo>
                <a:lnTo>
                  <a:pt x="425246" y="562382"/>
                </a:lnTo>
                <a:lnTo>
                  <a:pt x="469051" y="547842"/>
                </a:lnTo>
                <a:lnTo>
                  <a:pt x="509614" y="528257"/>
                </a:lnTo>
                <a:lnTo>
                  <a:pt x="546423" y="504073"/>
                </a:lnTo>
                <a:lnTo>
                  <a:pt x="578968" y="475733"/>
                </a:lnTo>
                <a:lnTo>
                  <a:pt x="606740" y="443682"/>
                </a:lnTo>
                <a:lnTo>
                  <a:pt x="629229" y="408366"/>
                </a:lnTo>
                <a:lnTo>
                  <a:pt x="645924" y="370230"/>
                </a:lnTo>
                <a:lnTo>
                  <a:pt x="656315" y="329717"/>
                </a:lnTo>
                <a:lnTo>
                  <a:pt x="659891" y="287274"/>
                </a:lnTo>
                <a:lnTo>
                  <a:pt x="656315" y="244830"/>
                </a:lnTo>
                <a:lnTo>
                  <a:pt x="645924" y="204317"/>
                </a:lnTo>
                <a:lnTo>
                  <a:pt x="629229" y="166181"/>
                </a:lnTo>
                <a:lnTo>
                  <a:pt x="606740" y="130865"/>
                </a:lnTo>
                <a:lnTo>
                  <a:pt x="578968" y="98814"/>
                </a:lnTo>
                <a:lnTo>
                  <a:pt x="546423" y="70474"/>
                </a:lnTo>
                <a:lnTo>
                  <a:pt x="509614" y="46290"/>
                </a:lnTo>
                <a:lnTo>
                  <a:pt x="469051" y="26705"/>
                </a:lnTo>
                <a:lnTo>
                  <a:pt x="425246" y="12165"/>
                </a:lnTo>
                <a:lnTo>
                  <a:pt x="378707" y="3115"/>
                </a:lnTo>
                <a:lnTo>
                  <a:pt x="329945" y="0"/>
                </a:lnTo>
                <a:close/>
              </a:path>
            </a:pathLst>
          </a:custGeom>
          <a:solidFill>
            <a:srgbClr val="1E2D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789170" y="4700778"/>
            <a:ext cx="660400" cy="574675"/>
          </a:xfrm>
          <a:custGeom>
            <a:avLst/>
            <a:gdLst/>
            <a:ahLst/>
            <a:cxnLst/>
            <a:rect l="l" t="t" r="r" b="b"/>
            <a:pathLst>
              <a:path w="660400" h="574675">
                <a:moveTo>
                  <a:pt x="0" y="287274"/>
                </a:moveTo>
                <a:lnTo>
                  <a:pt x="3576" y="244830"/>
                </a:lnTo>
                <a:lnTo>
                  <a:pt x="13967" y="204317"/>
                </a:lnTo>
                <a:lnTo>
                  <a:pt x="30662" y="166181"/>
                </a:lnTo>
                <a:lnTo>
                  <a:pt x="53151" y="130865"/>
                </a:lnTo>
                <a:lnTo>
                  <a:pt x="80923" y="98814"/>
                </a:lnTo>
                <a:lnTo>
                  <a:pt x="113468" y="70474"/>
                </a:lnTo>
                <a:lnTo>
                  <a:pt x="150277" y="46290"/>
                </a:lnTo>
                <a:lnTo>
                  <a:pt x="190840" y="26705"/>
                </a:lnTo>
                <a:lnTo>
                  <a:pt x="234645" y="12165"/>
                </a:lnTo>
                <a:lnTo>
                  <a:pt x="281184" y="3115"/>
                </a:lnTo>
                <a:lnTo>
                  <a:pt x="329945" y="0"/>
                </a:lnTo>
                <a:lnTo>
                  <a:pt x="378707" y="3115"/>
                </a:lnTo>
                <a:lnTo>
                  <a:pt x="425246" y="12165"/>
                </a:lnTo>
                <a:lnTo>
                  <a:pt x="469051" y="26705"/>
                </a:lnTo>
                <a:lnTo>
                  <a:pt x="509614" y="46290"/>
                </a:lnTo>
                <a:lnTo>
                  <a:pt x="546423" y="70474"/>
                </a:lnTo>
                <a:lnTo>
                  <a:pt x="578968" y="98814"/>
                </a:lnTo>
                <a:lnTo>
                  <a:pt x="606740" y="130865"/>
                </a:lnTo>
                <a:lnTo>
                  <a:pt x="629229" y="166181"/>
                </a:lnTo>
                <a:lnTo>
                  <a:pt x="645924" y="204317"/>
                </a:lnTo>
                <a:lnTo>
                  <a:pt x="656315" y="244830"/>
                </a:lnTo>
                <a:lnTo>
                  <a:pt x="659891" y="287274"/>
                </a:lnTo>
                <a:lnTo>
                  <a:pt x="656315" y="329717"/>
                </a:lnTo>
                <a:lnTo>
                  <a:pt x="645924" y="370230"/>
                </a:lnTo>
                <a:lnTo>
                  <a:pt x="629229" y="408366"/>
                </a:lnTo>
                <a:lnTo>
                  <a:pt x="606740" y="443682"/>
                </a:lnTo>
                <a:lnTo>
                  <a:pt x="578968" y="475733"/>
                </a:lnTo>
                <a:lnTo>
                  <a:pt x="546423" y="504073"/>
                </a:lnTo>
                <a:lnTo>
                  <a:pt x="509614" y="528257"/>
                </a:lnTo>
                <a:lnTo>
                  <a:pt x="469051" y="547842"/>
                </a:lnTo>
                <a:lnTo>
                  <a:pt x="425246" y="562382"/>
                </a:lnTo>
                <a:lnTo>
                  <a:pt x="378707" y="571432"/>
                </a:lnTo>
                <a:lnTo>
                  <a:pt x="329945" y="574548"/>
                </a:lnTo>
                <a:lnTo>
                  <a:pt x="281184" y="571432"/>
                </a:lnTo>
                <a:lnTo>
                  <a:pt x="234645" y="562382"/>
                </a:lnTo>
                <a:lnTo>
                  <a:pt x="190840" y="547842"/>
                </a:lnTo>
                <a:lnTo>
                  <a:pt x="150277" y="528257"/>
                </a:lnTo>
                <a:lnTo>
                  <a:pt x="113468" y="504073"/>
                </a:lnTo>
                <a:lnTo>
                  <a:pt x="80923" y="475733"/>
                </a:lnTo>
                <a:lnTo>
                  <a:pt x="53151" y="443682"/>
                </a:lnTo>
                <a:lnTo>
                  <a:pt x="30662" y="408366"/>
                </a:lnTo>
                <a:lnTo>
                  <a:pt x="13967" y="370230"/>
                </a:lnTo>
                <a:lnTo>
                  <a:pt x="3576" y="329717"/>
                </a:lnTo>
                <a:lnTo>
                  <a:pt x="0" y="28727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4969509" y="4706239"/>
            <a:ext cx="29718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118353" y="5275326"/>
            <a:ext cx="9525" cy="234950"/>
          </a:xfrm>
          <a:custGeom>
            <a:avLst/>
            <a:gdLst/>
            <a:ahLst/>
            <a:cxnLst/>
            <a:rect l="l" t="t" r="r" b="b"/>
            <a:pathLst>
              <a:path w="9525" h="234950">
                <a:moveTo>
                  <a:pt x="4762" y="-19050"/>
                </a:moveTo>
                <a:lnTo>
                  <a:pt x="4762" y="254000"/>
                </a:lnTo>
              </a:path>
            </a:pathLst>
          </a:custGeom>
          <a:ln w="4762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439661" y="4700778"/>
            <a:ext cx="660400" cy="574675"/>
          </a:xfrm>
          <a:custGeom>
            <a:avLst/>
            <a:gdLst/>
            <a:ahLst/>
            <a:cxnLst/>
            <a:rect l="l" t="t" r="r" b="b"/>
            <a:pathLst>
              <a:path w="660400" h="574675">
                <a:moveTo>
                  <a:pt x="329945" y="0"/>
                </a:moveTo>
                <a:lnTo>
                  <a:pt x="281184" y="3115"/>
                </a:lnTo>
                <a:lnTo>
                  <a:pt x="234645" y="12165"/>
                </a:lnTo>
                <a:lnTo>
                  <a:pt x="190840" y="26705"/>
                </a:lnTo>
                <a:lnTo>
                  <a:pt x="150277" y="46290"/>
                </a:lnTo>
                <a:lnTo>
                  <a:pt x="113468" y="70474"/>
                </a:lnTo>
                <a:lnTo>
                  <a:pt x="80923" y="98814"/>
                </a:lnTo>
                <a:lnTo>
                  <a:pt x="53151" y="130865"/>
                </a:lnTo>
                <a:lnTo>
                  <a:pt x="30662" y="166181"/>
                </a:lnTo>
                <a:lnTo>
                  <a:pt x="13967" y="204317"/>
                </a:lnTo>
                <a:lnTo>
                  <a:pt x="3576" y="244830"/>
                </a:lnTo>
                <a:lnTo>
                  <a:pt x="0" y="287274"/>
                </a:lnTo>
                <a:lnTo>
                  <a:pt x="3576" y="329717"/>
                </a:lnTo>
                <a:lnTo>
                  <a:pt x="13967" y="370230"/>
                </a:lnTo>
                <a:lnTo>
                  <a:pt x="30662" y="408366"/>
                </a:lnTo>
                <a:lnTo>
                  <a:pt x="53151" y="443682"/>
                </a:lnTo>
                <a:lnTo>
                  <a:pt x="80923" y="475733"/>
                </a:lnTo>
                <a:lnTo>
                  <a:pt x="113468" y="504073"/>
                </a:lnTo>
                <a:lnTo>
                  <a:pt x="150277" y="528257"/>
                </a:lnTo>
                <a:lnTo>
                  <a:pt x="190840" y="547842"/>
                </a:lnTo>
                <a:lnTo>
                  <a:pt x="234645" y="562382"/>
                </a:lnTo>
                <a:lnTo>
                  <a:pt x="281184" y="571432"/>
                </a:lnTo>
                <a:lnTo>
                  <a:pt x="329945" y="574548"/>
                </a:lnTo>
                <a:lnTo>
                  <a:pt x="378707" y="571432"/>
                </a:lnTo>
                <a:lnTo>
                  <a:pt x="425246" y="562382"/>
                </a:lnTo>
                <a:lnTo>
                  <a:pt x="469051" y="547842"/>
                </a:lnTo>
                <a:lnTo>
                  <a:pt x="509614" y="528257"/>
                </a:lnTo>
                <a:lnTo>
                  <a:pt x="546423" y="504073"/>
                </a:lnTo>
                <a:lnTo>
                  <a:pt x="578968" y="475733"/>
                </a:lnTo>
                <a:lnTo>
                  <a:pt x="606740" y="443682"/>
                </a:lnTo>
                <a:lnTo>
                  <a:pt x="629229" y="408366"/>
                </a:lnTo>
                <a:lnTo>
                  <a:pt x="645924" y="370230"/>
                </a:lnTo>
                <a:lnTo>
                  <a:pt x="656315" y="329717"/>
                </a:lnTo>
                <a:lnTo>
                  <a:pt x="659891" y="287274"/>
                </a:lnTo>
                <a:lnTo>
                  <a:pt x="656315" y="244830"/>
                </a:lnTo>
                <a:lnTo>
                  <a:pt x="645924" y="204317"/>
                </a:lnTo>
                <a:lnTo>
                  <a:pt x="629229" y="166181"/>
                </a:lnTo>
                <a:lnTo>
                  <a:pt x="606740" y="130865"/>
                </a:lnTo>
                <a:lnTo>
                  <a:pt x="578968" y="98814"/>
                </a:lnTo>
                <a:lnTo>
                  <a:pt x="546423" y="70474"/>
                </a:lnTo>
                <a:lnTo>
                  <a:pt x="509614" y="46290"/>
                </a:lnTo>
                <a:lnTo>
                  <a:pt x="469051" y="26705"/>
                </a:lnTo>
                <a:lnTo>
                  <a:pt x="425246" y="12165"/>
                </a:lnTo>
                <a:lnTo>
                  <a:pt x="378707" y="3115"/>
                </a:lnTo>
                <a:lnTo>
                  <a:pt x="329945" y="0"/>
                </a:lnTo>
                <a:close/>
              </a:path>
            </a:pathLst>
          </a:custGeom>
          <a:solidFill>
            <a:srgbClr val="1E2D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439661" y="4700778"/>
            <a:ext cx="660400" cy="574675"/>
          </a:xfrm>
          <a:custGeom>
            <a:avLst/>
            <a:gdLst/>
            <a:ahLst/>
            <a:cxnLst/>
            <a:rect l="l" t="t" r="r" b="b"/>
            <a:pathLst>
              <a:path w="660400" h="574675">
                <a:moveTo>
                  <a:pt x="0" y="287274"/>
                </a:moveTo>
                <a:lnTo>
                  <a:pt x="3576" y="244830"/>
                </a:lnTo>
                <a:lnTo>
                  <a:pt x="13967" y="204317"/>
                </a:lnTo>
                <a:lnTo>
                  <a:pt x="30662" y="166181"/>
                </a:lnTo>
                <a:lnTo>
                  <a:pt x="53151" y="130865"/>
                </a:lnTo>
                <a:lnTo>
                  <a:pt x="80923" y="98814"/>
                </a:lnTo>
                <a:lnTo>
                  <a:pt x="113468" y="70474"/>
                </a:lnTo>
                <a:lnTo>
                  <a:pt x="150277" y="46290"/>
                </a:lnTo>
                <a:lnTo>
                  <a:pt x="190840" y="26705"/>
                </a:lnTo>
                <a:lnTo>
                  <a:pt x="234645" y="12165"/>
                </a:lnTo>
                <a:lnTo>
                  <a:pt x="281184" y="3115"/>
                </a:lnTo>
                <a:lnTo>
                  <a:pt x="329945" y="0"/>
                </a:lnTo>
                <a:lnTo>
                  <a:pt x="378707" y="3115"/>
                </a:lnTo>
                <a:lnTo>
                  <a:pt x="425246" y="12165"/>
                </a:lnTo>
                <a:lnTo>
                  <a:pt x="469051" y="26705"/>
                </a:lnTo>
                <a:lnTo>
                  <a:pt x="509614" y="46290"/>
                </a:lnTo>
                <a:lnTo>
                  <a:pt x="546423" y="70474"/>
                </a:lnTo>
                <a:lnTo>
                  <a:pt x="578968" y="98814"/>
                </a:lnTo>
                <a:lnTo>
                  <a:pt x="606740" y="130865"/>
                </a:lnTo>
                <a:lnTo>
                  <a:pt x="629229" y="166181"/>
                </a:lnTo>
                <a:lnTo>
                  <a:pt x="645924" y="204317"/>
                </a:lnTo>
                <a:lnTo>
                  <a:pt x="656315" y="244830"/>
                </a:lnTo>
                <a:lnTo>
                  <a:pt x="659891" y="287274"/>
                </a:lnTo>
                <a:lnTo>
                  <a:pt x="656315" y="329717"/>
                </a:lnTo>
                <a:lnTo>
                  <a:pt x="645924" y="370230"/>
                </a:lnTo>
                <a:lnTo>
                  <a:pt x="629229" y="408366"/>
                </a:lnTo>
                <a:lnTo>
                  <a:pt x="606740" y="443682"/>
                </a:lnTo>
                <a:lnTo>
                  <a:pt x="578968" y="475733"/>
                </a:lnTo>
                <a:lnTo>
                  <a:pt x="546423" y="504073"/>
                </a:lnTo>
                <a:lnTo>
                  <a:pt x="509614" y="528257"/>
                </a:lnTo>
                <a:lnTo>
                  <a:pt x="469051" y="547842"/>
                </a:lnTo>
                <a:lnTo>
                  <a:pt x="425246" y="562382"/>
                </a:lnTo>
                <a:lnTo>
                  <a:pt x="378707" y="571432"/>
                </a:lnTo>
                <a:lnTo>
                  <a:pt x="329945" y="574548"/>
                </a:lnTo>
                <a:lnTo>
                  <a:pt x="281184" y="571432"/>
                </a:lnTo>
                <a:lnTo>
                  <a:pt x="234645" y="562382"/>
                </a:lnTo>
                <a:lnTo>
                  <a:pt x="190840" y="547842"/>
                </a:lnTo>
                <a:lnTo>
                  <a:pt x="150277" y="528257"/>
                </a:lnTo>
                <a:lnTo>
                  <a:pt x="113468" y="504073"/>
                </a:lnTo>
                <a:lnTo>
                  <a:pt x="80923" y="475733"/>
                </a:lnTo>
                <a:lnTo>
                  <a:pt x="53151" y="443682"/>
                </a:lnTo>
                <a:lnTo>
                  <a:pt x="30662" y="408366"/>
                </a:lnTo>
                <a:lnTo>
                  <a:pt x="13967" y="370230"/>
                </a:lnTo>
                <a:lnTo>
                  <a:pt x="3576" y="329717"/>
                </a:lnTo>
                <a:lnTo>
                  <a:pt x="0" y="28727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6585584" y="4418748"/>
            <a:ext cx="1046480" cy="1577975"/>
          </a:xfrm>
          <a:prstGeom prst="rect">
            <a:avLst/>
          </a:prstGeom>
        </p:spPr>
        <p:txBody>
          <a:bodyPr wrap="square" lIns="0" tIns="300355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36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75"/>
              </a:spcBef>
              <a:tabLst>
                <a:tab pos="800735" algn="l"/>
              </a:tabLst>
            </a:pP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767321" y="5275326"/>
            <a:ext cx="3175" cy="201930"/>
          </a:xfrm>
          <a:custGeom>
            <a:avLst/>
            <a:gdLst/>
            <a:ahLst/>
            <a:cxnLst/>
            <a:rect l="l" t="t" r="r" b="b"/>
            <a:pathLst>
              <a:path w="3175" h="201929">
                <a:moveTo>
                  <a:pt x="1587" y="-19050"/>
                </a:moveTo>
                <a:lnTo>
                  <a:pt x="1587" y="220725"/>
                </a:lnTo>
              </a:path>
            </a:pathLst>
          </a:custGeom>
          <a:ln w="412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446769" y="3911346"/>
            <a:ext cx="660400" cy="574675"/>
          </a:xfrm>
          <a:custGeom>
            <a:avLst/>
            <a:gdLst/>
            <a:ahLst/>
            <a:cxnLst/>
            <a:rect l="l" t="t" r="r" b="b"/>
            <a:pathLst>
              <a:path w="660400" h="574675">
                <a:moveTo>
                  <a:pt x="329946" y="0"/>
                </a:moveTo>
                <a:lnTo>
                  <a:pt x="281184" y="3115"/>
                </a:lnTo>
                <a:lnTo>
                  <a:pt x="234645" y="12165"/>
                </a:lnTo>
                <a:lnTo>
                  <a:pt x="190840" y="26705"/>
                </a:lnTo>
                <a:lnTo>
                  <a:pt x="150277" y="46290"/>
                </a:lnTo>
                <a:lnTo>
                  <a:pt x="113468" y="70474"/>
                </a:lnTo>
                <a:lnTo>
                  <a:pt x="80923" y="98814"/>
                </a:lnTo>
                <a:lnTo>
                  <a:pt x="53151" y="130865"/>
                </a:lnTo>
                <a:lnTo>
                  <a:pt x="30662" y="166181"/>
                </a:lnTo>
                <a:lnTo>
                  <a:pt x="13967" y="204317"/>
                </a:lnTo>
                <a:lnTo>
                  <a:pt x="3576" y="244830"/>
                </a:lnTo>
                <a:lnTo>
                  <a:pt x="0" y="287273"/>
                </a:lnTo>
                <a:lnTo>
                  <a:pt x="3576" y="329717"/>
                </a:lnTo>
                <a:lnTo>
                  <a:pt x="13967" y="370230"/>
                </a:lnTo>
                <a:lnTo>
                  <a:pt x="30662" y="408366"/>
                </a:lnTo>
                <a:lnTo>
                  <a:pt x="53151" y="443682"/>
                </a:lnTo>
                <a:lnTo>
                  <a:pt x="80923" y="475733"/>
                </a:lnTo>
                <a:lnTo>
                  <a:pt x="113468" y="504073"/>
                </a:lnTo>
                <a:lnTo>
                  <a:pt x="150277" y="528257"/>
                </a:lnTo>
                <a:lnTo>
                  <a:pt x="190840" y="547842"/>
                </a:lnTo>
                <a:lnTo>
                  <a:pt x="234645" y="562382"/>
                </a:lnTo>
                <a:lnTo>
                  <a:pt x="281184" y="571432"/>
                </a:lnTo>
                <a:lnTo>
                  <a:pt x="329946" y="574547"/>
                </a:lnTo>
                <a:lnTo>
                  <a:pt x="378707" y="571432"/>
                </a:lnTo>
                <a:lnTo>
                  <a:pt x="425246" y="562382"/>
                </a:lnTo>
                <a:lnTo>
                  <a:pt x="469051" y="547842"/>
                </a:lnTo>
                <a:lnTo>
                  <a:pt x="509614" y="528257"/>
                </a:lnTo>
                <a:lnTo>
                  <a:pt x="546423" y="504073"/>
                </a:lnTo>
                <a:lnTo>
                  <a:pt x="578968" y="475733"/>
                </a:lnTo>
                <a:lnTo>
                  <a:pt x="606740" y="443682"/>
                </a:lnTo>
                <a:lnTo>
                  <a:pt x="629229" y="408366"/>
                </a:lnTo>
                <a:lnTo>
                  <a:pt x="645924" y="370230"/>
                </a:lnTo>
                <a:lnTo>
                  <a:pt x="656315" y="329717"/>
                </a:lnTo>
                <a:lnTo>
                  <a:pt x="659891" y="287273"/>
                </a:lnTo>
                <a:lnTo>
                  <a:pt x="656315" y="244830"/>
                </a:lnTo>
                <a:lnTo>
                  <a:pt x="645924" y="204317"/>
                </a:lnTo>
                <a:lnTo>
                  <a:pt x="629229" y="166181"/>
                </a:lnTo>
                <a:lnTo>
                  <a:pt x="606740" y="130865"/>
                </a:lnTo>
                <a:lnTo>
                  <a:pt x="578968" y="98814"/>
                </a:lnTo>
                <a:lnTo>
                  <a:pt x="546423" y="70474"/>
                </a:lnTo>
                <a:lnTo>
                  <a:pt x="509614" y="46290"/>
                </a:lnTo>
                <a:lnTo>
                  <a:pt x="469051" y="26705"/>
                </a:lnTo>
                <a:lnTo>
                  <a:pt x="425246" y="12165"/>
                </a:lnTo>
                <a:lnTo>
                  <a:pt x="378707" y="3115"/>
                </a:lnTo>
                <a:lnTo>
                  <a:pt x="329946" y="0"/>
                </a:lnTo>
                <a:close/>
              </a:path>
            </a:pathLst>
          </a:custGeom>
          <a:solidFill>
            <a:srgbClr val="1E2D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446769" y="3911346"/>
            <a:ext cx="660400" cy="574675"/>
          </a:xfrm>
          <a:custGeom>
            <a:avLst/>
            <a:gdLst/>
            <a:ahLst/>
            <a:cxnLst/>
            <a:rect l="l" t="t" r="r" b="b"/>
            <a:pathLst>
              <a:path w="660400" h="574675">
                <a:moveTo>
                  <a:pt x="0" y="287273"/>
                </a:moveTo>
                <a:lnTo>
                  <a:pt x="3576" y="244830"/>
                </a:lnTo>
                <a:lnTo>
                  <a:pt x="13967" y="204317"/>
                </a:lnTo>
                <a:lnTo>
                  <a:pt x="30662" y="166181"/>
                </a:lnTo>
                <a:lnTo>
                  <a:pt x="53151" y="130865"/>
                </a:lnTo>
                <a:lnTo>
                  <a:pt x="80923" y="98814"/>
                </a:lnTo>
                <a:lnTo>
                  <a:pt x="113468" y="70474"/>
                </a:lnTo>
                <a:lnTo>
                  <a:pt x="150277" y="46290"/>
                </a:lnTo>
                <a:lnTo>
                  <a:pt x="190840" y="26705"/>
                </a:lnTo>
                <a:lnTo>
                  <a:pt x="234645" y="12165"/>
                </a:lnTo>
                <a:lnTo>
                  <a:pt x="281184" y="3115"/>
                </a:lnTo>
                <a:lnTo>
                  <a:pt x="329946" y="0"/>
                </a:lnTo>
                <a:lnTo>
                  <a:pt x="378707" y="3115"/>
                </a:lnTo>
                <a:lnTo>
                  <a:pt x="425246" y="12165"/>
                </a:lnTo>
                <a:lnTo>
                  <a:pt x="469051" y="26705"/>
                </a:lnTo>
                <a:lnTo>
                  <a:pt x="509614" y="46290"/>
                </a:lnTo>
                <a:lnTo>
                  <a:pt x="546423" y="70474"/>
                </a:lnTo>
                <a:lnTo>
                  <a:pt x="578968" y="98814"/>
                </a:lnTo>
                <a:lnTo>
                  <a:pt x="606740" y="130865"/>
                </a:lnTo>
                <a:lnTo>
                  <a:pt x="629229" y="166181"/>
                </a:lnTo>
                <a:lnTo>
                  <a:pt x="645924" y="204317"/>
                </a:lnTo>
                <a:lnTo>
                  <a:pt x="656315" y="244830"/>
                </a:lnTo>
                <a:lnTo>
                  <a:pt x="659891" y="287273"/>
                </a:lnTo>
                <a:lnTo>
                  <a:pt x="656315" y="329717"/>
                </a:lnTo>
                <a:lnTo>
                  <a:pt x="645924" y="370230"/>
                </a:lnTo>
                <a:lnTo>
                  <a:pt x="629229" y="408366"/>
                </a:lnTo>
                <a:lnTo>
                  <a:pt x="606740" y="443682"/>
                </a:lnTo>
                <a:lnTo>
                  <a:pt x="578968" y="475733"/>
                </a:lnTo>
                <a:lnTo>
                  <a:pt x="546423" y="504073"/>
                </a:lnTo>
                <a:lnTo>
                  <a:pt x="509614" y="528257"/>
                </a:lnTo>
                <a:lnTo>
                  <a:pt x="469051" y="547842"/>
                </a:lnTo>
                <a:lnTo>
                  <a:pt x="425246" y="562382"/>
                </a:lnTo>
                <a:lnTo>
                  <a:pt x="378707" y="571432"/>
                </a:lnTo>
                <a:lnTo>
                  <a:pt x="329946" y="574547"/>
                </a:lnTo>
                <a:lnTo>
                  <a:pt x="281184" y="571432"/>
                </a:lnTo>
                <a:lnTo>
                  <a:pt x="234645" y="562382"/>
                </a:lnTo>
                <a:lnTo>
                  <a:pt x="190840" y="547842"/>
                </a:lnTo>
                <a:lnTo>
                  <a:pt x="150277" y="528257"/>
                </a:lnTo>
                <a:lnTo>
                  <a:pt x="113468" y="504073"/>
                </a:lnTo>
                <a:lnTo>
                  <a:pt x="80923" y="475733"/>
                </a:lnTo>
                <a:lnTo>
                  <a:pt x="53151" y="443682"/>
                </a:lnTo>
                <a:lnTo>
                  <a:pt x="30662" y="408366"/>
                </a:lnTo>
                <a:lnTo>
                  <a:pt x="13967" y="370230"/>
                </a:lnTo>
                <a:lnTo>
                  <a:pt x="3576" y="329717"/>
                </a:lnTo>
                <a:lnTo>
                  <a:pt x="0" y="28727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8627744" y="3914978"/>
            <a:ext cx="29718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8775954" y="4485894"/>
            <a:ext cx="34925" cy="1003300"/>
          </a:xfrm>
          <a:custGeom>
            <a:avLst/>
            <a:gdLst/>
            <a:ahLst/>
            <a:cxnLst/>
            <a:rect l="l" t="t" r="r" b="b"/>
            <a:pathLst>
              <a:path w="34925" h="1003300">
                <a:moveTo>
                  <a:pt x="0" y="0"/>
                </a:moveTo>
                <a:lnTo>
                  <a:pt x="34925" y="100329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230361" y="649986"/>
            <a:ext cx="876300" cy="4846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8486775" y="710565"/>
            <a:ext cx="363855" cy="363855"/>
          </a:xfrm>
          <a:custGeom>
            <a:avLst/>
            <a:gdLst/>
            <a:ahLst/>
            <a:cxnLst/>
            <a:rect l="l" t="t" r="r" b="b"/>
            <a:pathLst>
              <a:path w="363854" h="363855">
                <a:moveTo>
                  <a:pt x="0" y="181737"/>
                </a:moveTo>
                <a:lnTo>
                  <a:pt x="363474" y="0"/>
                </a:lnTo>
                <a:lnTo>
                  <a:pt x="363474" y="363474"/>
                </a:lnTo>
                <a:lnTo>
                  <a:pt x="0" y="181737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8230361" y="649986"/>
            <a:ext cx="876300" cy="485140"/>
          </a:xfrm>
          <a:custGeom>
            <a:avLst/>
            <a:gdLst/>
            <a:ahLst/>
            <a:cxnLst/>
            <a:rect l="l" t="t" r="r" b="b"/>
            <a:pathLst>
              <a:path w="876300" h="485140">
                <a:moveTo>
                  <a:pt x="0" y="484632"/>
                </a:moveTo>
                <a:lnTo>
                  <a:pt x="876300" y="484632"/>
                </a:lnTo>
                <a:lnTo>
                  <a:pt x="876300" y="0"/>
                </a:lnTo>
                <a:lnTo>
                  <a:pt x="0" y="0"/>
                </a:lnTo>
                <a:lnTo>
                  <a:pt x="0" y="48463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1032" y="1001395"/>
            <a:ext cx="7164070" cy="60515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3800" spc="-15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黑体"/>
                <a:cs typeface="黑体"/>
                <a:hlinkClick r:id="rId2" action="ppaction://hlinksldjump"/>
              </a:rPr>
              <a:t>第</a:t>
            </a:r>
            <a:r>
              <a:rPr dirty="0" u="heavy" sz="3800" spc="-965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黑体"/>
                <a:cs typeface="黑体"/>
                <a:hlinkClick r:id="rId2" action="ppaction://hlinksldjump"/>
              </a:rPr>
              <a:t> </a:t>
            </a:r>
            <a:r>
              <a:rPr dirty="0" u="heavy" sz="3800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Times New Roman"/>
                <a:cs typeface="Times New Roman"/>
                <a:hlinkClick r:id="rId2" action="ppaction://hlinksldjump"/>
              </a:rPr>
              <a:t>6</a:t>
            </a:r>
            <a:r>
              <a:rPr dirty="0" u="heavy" sz="3800" spc="-20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dirty="0" u="heavy" sz="3800" spc="-15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黑体"/>
                <a:cs typeface="黑体"/>
                <a:hlinkClick r:id="rId2" action="ppaction://hlinksldjump"/>
              </a:rPr>
              <a:t>章</a:t>
            </a:r>
            <a:r>
              <a:rPr dirty="0" sz="3800" spc="925">
                <a:solidFill>
                  <a:srgbClr val="EAEAEA"/>
                </a:solidFill>
                <a:latin typeface="黑体"/>
                <a:cs typeface="黑体"/>
                <a:hlinkClick r:id="rId2" action="ppaction://hlinksldjump"/>
              </a:rPr>
              <a:t> </a:t>
            </a:r>
            <a:r>
              <a:rPr dirty="0" sz="3800">
                <a:solidFill>
                  <a:srgbClr val="FFFF00"/>
                </a:solidFill>
                <a:latin typeface="黑体"/>
                <a:cs typeface="黑体"/>
              </a:rPr>
              <a:t>语义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分</a:t>
            </a: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析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与中间</a:t>
            </a: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代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码生</a:t>
            </a: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成</a:t>
            </a:r>
            <a:endParaRPr sz="3800">
              <a:latin typeface="黑体"/>
              <a:cs typeface="黑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85750" rIns="0" bIns="0" rtlCol="0" vert="horz">
            <a:spAutoFit/>
          </a:bodyPr>
          <a:lstStyle/>
          <a:p>
            <a:pPr lvl="2" marL="1731645" indent="-1336675">
              <a:lnSpc>
                <a:spcPct val="100000"/>
              </a:lnSpc>
              <a:spcBef>
                <a:spcPts val="2250"/>
              </a:spcBef>
              <a:buFont typeface="Times New Roman"/>
              <a:buAutoNum type="arabicPeriod"/>
              <a:tabLst>
                <a:tab pos="1732280" algn="l"/>
                <a:tab pos="1732914" algn="l"/>
              </a:tabLst>
            </a:pPr>
            <a:r>
              <a:rPr dirty="0" sz="3500" b="1">
                <a:solidFill>
                  <a:srgbClr val="FFFF66"/>
                </a:solidFill>
                <a:latin typeface="宋体"/>
                <a:cs typeface="宋体"/>
              </a:rPr>
              <a:t>说明类语句的翻译</a:t>
            </a:r>
            <a:endParaRPr sz="3500">
              <a:latin typeface="宋体"/>
              <a:cs typeface="宋体"/>
            </a:endParaRPr>
          </a:p>
          <a:p>
            <a:pPr lvl="2" marL="1719580" indent="-1336675">
              <a:lnSpc>
                <a:spcPct val="100000"/>
              </a:lnSpc>
              <a:spcBef>
                <a:spcPts val="2150"/>
              </a:spcBef>
              <a:buFont typeface="Times New Roman"/>
              <a:buAutoNum type="arabicPeriod"/>
              <a:tabLst>
                <a:tab pos="1720214" algn="l"/>
                <a:tab pos="1720850" algn="l"/>
              </a:tabLst>
            </a:pPr>
            <a:r>
              <a:rPr dirty="0" sz="3500" b="1">
                <a:solidFill>
                  <a:srgbClr val="FFFF66"/>
                </a:solidFill>
                <a:latin typeface="宋体"/>
                <a:cs typeface="宋体"/>
              </a:rPr>
              <a:t>赋值语句与表达式翻译</a:t>
            </a:r>
            <a:endParaRPr sz="3500">
              <a:latin typeface="宋体"/>
              <a:cs typeface="宋体"/>
            </a:endParaRPr>
          </a:p>
          <a:p>
            <a:pPr lvl="2" marL="1719580" indent="-1336675">
              <a:lnSpc>
                <a:spcPct val="100000"/>
              </a:lnSpc>
              <a:spcBef>
                <a:spcPts val="2105"/>
              </a:spcBef>
              <a:buFont typeface="Times New Roman"/>
              <a:buAutoNum type="arabicPeriod"/>
              <a:tabLst>
                <a:tab pos="1720214" algn="l"/>
                <a:tab pos="1720850" algn="l"/>
              </a:tabLst>
            </a:pP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控制流类语句翻译</a:t>
            </a:r>
            <a:endParaRPr sz="3500">
              <a:latin typeface="宋体"/>
              <a:cs typeface="宋体"/>
            </a:endParaRPr>
          </a:p>
          <a:p>
            <a:pPr lvl="2" marL="1719580" indent="-1336675">
              <a:lnSpc>
                <a:spcPct val="100000"/>
              </a:lnSpc>
              <a:spcBef>
                <a:spcPts val="2100"/>
              </a:spcBef>
              <a:buFont typeface="Times New Roman"/>
              <a:buAutoNum type="arabicPeriod"/>
              <a:tabLst>
                <a:tab pos="1720214" algn="l"/>
                <a:tab pos="1720850" algn="l"/>
              </a:tabLst>
            </a:pP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数组说明与数组元素引用</a:t>
            </a:r>
            <a:r>
              <a:rPr dirty="0" sz="35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翻译</a:t>
            </a:r>
            <a:endParaRPr sz="3500">
              <a:latin typeface="宋体"/>
              <a:cs typeface="宋体"/>
            </a:endParaRPr>
          </a:p>
          <a:p>
            <a:pPr lvl="2" marL="1719580" indent="-1336675">
              <a:lnSpc>
                <a:spcPct val="100000"/>
              </a:lnSpc>
              <a:spcBef>
                <a:spcPts val="2235"/>
              </a:spcBef>
              <a:buFont typeface="Times New Roman"/>
              <a:buAutoNum type="arabicPeriod"/>
              <a:tabLst>
                <a:tab pos="1720214" algn="l"/>
                <a:tab pos="1720850" algn="l"/>
              </a:tabLst>
            </a:pP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过程、函数说明和调用的</a:t>
            </a:r>
            <a:r>
              <a:rPr dirty="0" sz="3500" spc="-10" b="1">
                <a:solidFill>
                  <a:srgbClr val="FFFFFF"/>
                </a:solidFill>
                <a:latin typeface="宋体"/>
                <a:cs typeface="宋体"/>
              </a:rPr>
              <a:t>翻译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76731" y="26923"/>
            <a:ext cx="34855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40021" y="26923"/>
            <a:ext cx="33508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语句翻译与中间代码生成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635495" y="3454908"/>
            <a:ext cx="1663064" cy="722630"/>
          </a:xfrm>
          <a:custGeom>
            <a:avLst/>
            <a:gdLst/>
            <a:ahLst/>
            <a:cxnLst/>
            <a:rect l="l" t="t" r="r" b="b"/>
            <a:pathLst>
              <a:path w="1663065" h="722629">
                <a:moveTo>
                  <a:pt x="415544" y="0"/>
                </a:moveTo>
                <a:lnTo>
                  <a:pt x="0" y="361187"/>
                </a:lnTo>
                <a:lnTo>
                  <a:pt x="415544" y="722375"/>
                </a:lnTo>
                <a:lnTo>
                  <a:pt x="415544" y="541781"/>
                </a:lnTo>
                <a:lnTo>
                  <a:pt x="1662683" y="541781"/>
                </a:lnTo>
                <a:lnTo>
                  <a:pt x="1662683" y="180593"/>
                </a:lnTo>
                <a:lnTo>
                  <a:pt x="415544" y="180593"/>
                </a:lnTo>
                <a:lnTo>
                  <a:pt x="415544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635495" y="3454908"/>
            <a:ext cx="1663064" cy="722630"/>
          </a:xfrm>
          <a:custGeom>
            <a:avLst/>
            <a:gdLst/>
            <a:ahLst/>
            <a:cxnLst/>
            <a:rect l="l" t="t" r="r" b="b"/>
            <a:pathLst>
              <a:path w="1663065" h="722629">
                <a:moveTo>
                  <a:pt x="0" y="361187"/>
                </a:moveTo>
                <a:lnTo>
                  <a:pt x="415544" y="0"/>
                </a:lnTo>
                <a:lnTo>
                  <a:pt x="415544" y="180593"/>
                </a:lnTo>
                <a:lnTo>
                  <a:pt x="1662683" y="180593"/>
                </a:lnTo>
                <a:lnTo>
                  <a:pt x="1662683" y="541781"/>
                </a:lnTo>
                <a:lnTo>
                  <a:pt x="415544" y="541781"/>
                </a:lnTo>
                <a:lnTo>
                  <a:pt x="415544" y="722375"/>
                </a:lnTo>
                <a:lnTo>
                  <a:pt x="0" y="361187"/>
                </a:lnTo>
                <a:close/>
              </a:path>
            </a:pathLst>
          </a:custGeom>
          <a:ln w="5715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247" y="0"/>
            <a:ext cx="8514715" cy="5616575"/>
          </a:xfrm>
          <a:prstGeom prst="rect">
            <a:avLst/>
          </a:prstGeom>
        </p:spPr>
        <p:txBody>
          <a:bodyPr wrap="square" lIns="0" tIns="187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75"/>
              </a:spcBef>
              <a:tabLst>
                <a:tab pos="655955" algn="l"/>
                <a:tab pos="3784600" algn="l"/>
                <a:tab pos="4292600" algn="l"/>
                <a:tab pos="56959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4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  <a:p>
            <a:pPr marL="215265" marR="198755">
              <a:lnSpc>
                <a:spcPct val="131600"/>
              </a:lnSpc>
              <a:spcBef>
                <a:spcPts val="1910"/>
              </a:spcBef>
              <a:buClr>
                <a:srgbClr val="66FFFF"/>
              </a:buClr>
              <a:buSzPct val="114705"/>
              <a:buFont typeface="Wingdings"/>
              <a:buChar char=""/>
              <a:tabLst>
                <a:tab pos="658495" algn="l"/>
                <a:tab pos="659765" algn="l"/>
              </a:tabLst>
            </a:pPr>
            <a:r>
              <a:rPr dirty="0" sz="3400" spc="-10" b="1">
                <a:solidFill>
                  <a:srgbClr val="FFFF00"/>
                </a:solidFill>
                <a:latin typeface="宋体"/>
                <a:cs typeface="宋体"/>
              </a:rPr>
              <a:t>控制流语句</a:t>
            </a:r>
            <a:r>
              <a:rPr dirty="0" sz="3400" spc="-5" b="1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r>
              <a:rPr dirty="0" sz="3400" spc="-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400" spc="-10" b="1">
                <a:solidFill>
                  <a:srgbClr val="FFFFFF"/>
                </a:solidFill>
                <a:latin typeface="宋体"/>
                <a:cs typeface="宋体"/>
              </a:rPr>
              <a:t>改变程序执行顺序，引起程 序执行发生跳转的语</a:t>
            </a:r>
            <a:r>
              <a:rPr dirty="0" sz="3400" spc="-25" b="1">
                <a:solidFill>
                  <a:srgbClr val="FFFFFF"/>
                </a:solidFill>
                <a:latin typeface="宋体"/>
                <a:cs typeface="宋体"/>
              </a:rPr>
              <a:t>句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（向前或向后</a:t>
            </a:r>
            <a:r>
              <a:rPr dirty="0" sz="3600" spc="-1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3600" spc="-9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400" spc="-2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400">
              <a:latin typeface="宋体"/>
              <a:cs typeface="宋体"/>
            </a:endParaRPr>
          </a:p>
          <a:p>
            <a:pPr lvl="1" marL="1050290" indent="-645160">
              <a:lnSpc>
                <a:spcPct val="100000"/>
              </a:lnSpc>
              <a:spcBef>
                <a:spcPts val="2860"/>
              </a:spcBef>
              <a:buClr>
                <a:srgbClr val="FFFF00"/>
              </a:buClr>
              <a:buSzPct val="104687"/>
              <a:buFont typeface="Wingdings"/>
              <a:buChar char=""/>
              <a:tabLst>
                <a:tab pos="1050290" algn="l"/>
                <a:tab pos="1050925" algn="l"/>
              </a:tabLst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程序设计语言中出现频繁的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句；</a:t>
            </a:r>
            <a:endParaRPr sz="3200">
              <a:latin typeface="宋体"/>
              <a:cs typeface="宋体"/>
            </a:endParaRPr>
          </a:p>
          <a:p>
            <a:pPr lvl="1" marL="1152525" indent="-747395">
              <a:lnSpc>
                <a:spcPct val="100000"/>
              </a:lnSpc>
              <a:spcBef>
                <a:spcPts val="2910"/>
              </a:spcBef>
              <a:buClr>
                <a:srgbClr val="FFFF00"/>
              </a:buClr>
              <a:buSzPct val="104687"/>
              <a:buFont typeface="Wingdings"/>
              <a:buChar char=""/>
              <a:tabLst>
                <a:tab pos="1152525" algn="l"/>
                <a:tab pos="1153160" algn="l"/>
              </a:tabLst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为可执行语句，要产生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相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应的目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代码；</a:t>
            </a:r>
            <a:endParaRPr sz="3200">
              <a:latin typeface="宋体"/>
              <a:cs typeface="宋体"/>
            </a:endParaRPr>
          </a:p>
          <a:p>
            <a:pPr lvl="1" marL="1117600" marR="413384" indent="-712470">
              <a:lnSpc>
                <a:spcPct val="140000"/>
              </a:lnSpc>
              <a:spcBef>
                <a:spcPts val="3155"/>
              </a:spcBef>
              <a:buClr>
                <a:srgbClr val="FFFF00"/>
              </a:buClr>
              <a:buSzPct val="104687"/>
              <a:buFont typeface="Wingdings"/>
              <a:buChar char=""/>
              <a:tabLst>
                <a:tab pos="1152525" algn="l"/>
                <a:tab pos="1153160" algn="l"/>
              </a:tabLst>
            </a:pPr>
            <a:r>
              <a:rPr dirty="0"/>
              <a:t>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控制流程的变换，依靠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码中的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跳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转指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令与对应跳转的语句标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13275" y="26923"/>
            <a:ext cx="411035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6050" algn="l"/>
              </a:tabLst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9992" y="4361"/>
            <a:ext cx="4260215" cy="956944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55575">
              <a:lnSpc>
                <a:spcPct val="100000"/>
              </a:lnSpc>
              <a:spcBef>
                <a:spcPts val="280"/>
              </a:spcBef>
              <a:tabLst>
                <a:tab pos="798830" algn="l"/>
                <a:tab pos="392811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  <a:p>
            <a:pPr marL="429895" indent="-417830">
              <a:lnSpc>
                <a:spcPct val="100000"/>
              </a:lnSpc>
              <a:spcBef>
                <a:spcPts val="815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429895" algn="l"/>
                <a:tab pos="43053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跳转目标与依据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2313" y="932038"/>
            <a:ext cx="8691880" cy="1424305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2056130">
              <a:lnSpc>
                <a:spcPct val="100000"/>
              </a:lnSpc>
              <a:spcBef>
                <a:spcPts val="640"/>
              </a:spcBef>
            </a:pP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显式：</a:t>
            </a:r>
            <a:r>
              <a:rPr dirty="0" sz="2800" spc="-5" b="1">
                <a:solidFill>
                  <a:srgbClr val="99FFCC"/>
                </a:solidFill>
                <a:latin typeface="宋体"/>
                <a:cs typeface="宋体"/>
              </a:rPr>
              <a:t>位于源语句之前；</a:t>
            </a: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（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67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L1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-74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S;</a:t>
            </a: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ts val="3479"/>
              </a:lnSpc>
              <a:spcBef>
                <a:spcPts val="63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语句标号</a:t>
            </a:r>
            <a:endParaRPr sz="3200">
              <a:latin typeface="宋体"/>
              <a:cs typeface="宋体"/>
            </a:endParaRPr>
          </a:p>
          <a:p>
            <a:pPr marL="2145030">
              <a:lnSpc>
                <a:spcPts val="3000"/>
              </a:lnSpc>
            </a:pP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隐式</a:t>
            </a:r>
            <a:r>
              <a:rPr dirty="0" sz="2800" spc="-10" b="1">
                <a:solidFill>
                  <a:srgbClr val="FFFF66"/>
                </a:solidFill>
                <a:latin typeface="宋体"/>
                <a:cs typeface="宋体"/>
              </a:rPr>
              <a:t>：</a:t>
            </a:r>
            <a:r>
              <a:rPr dirty="0" sz="2800" spc="-10" b="1">
                <a:solidFill>
                  <a:srgbClr val="99FFCC"/>
                </a:solidFill>
                <a:latin typeface="宋体"/>
                <a:cs typeface="宋体"/>
              </a:rPr>
              <a:t>含于源语句之中但未标识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90522" y="1119377"/>
            <a:ext cx="335280" cy="1112520"/>
          </a:xfrm>
          <a:custGeom>
            <a:avLst/>
            <a:gdLst/>
            <a:ahLst/>
            <a:cxnLst/>
            <a:rect l="l" t="t" r="r" b="b"/>
            <a:pathLst>
              <a:path w="335280" h="1112520">
                <a:moveTo>
                  <a:pt x="335279" y="1112520"/>
                </a:moveTo>
                <a:lnTo>
                  <a:pt x="290715" y="1105680"/>
                </a:lnTo>
                <a:lnTo>
                  <a:pt x="250669" y="1086381"/>
                </a:lnTo>
                <a:lnTo>
                  <a:pt x="216741" y="1056449"/>
                </a:lnTo>
                <a:lnTo>
                  <a:pt x="190528" y="1017712"/>
                </a:lnTo>
                <a:lnTo>
                  <a:pt x="173628" y="971996"/>
                </a:lnTo>
                <a:lnTo>
                  <a:pt x="167639" y="921131"/>
                </a:lnTo>
                <a:lnTo>
                  <a:pt x="167639" y="747649"/>
                </a:lnTo>
                <a:lnTo>
                  <a:pt x="161651" y="696783"/>
                </a:lnTo>
                <a:lnTo>
                  <a:pt x="144751" y="651067"/>
                </a:lnTo>
                <a:lnTo>
                  <a:pt x="118538" y="612330"/>
                </a:lnTo>
                <a:lnTo>
                  <a:pt x="84610" y="582398"/>
                </a:lnTo>
                <a:lnTo>
                  <a:pt x="44564" y="563099"/>
                </a:lnTo>
                <a:lnTo>
                  <a:pt x="0" y="556260"/>
                </a:lnTo>
                <a:lnTo>
                  <a:pt x="44564" y="549420"/>
                </a:lnTo>
                <a:lnTo>
                  <a:pt x="84610" y="530121"/>
                </a:lnTo>
                <a:lnTo>
                  <a:pt x="118538" y="500189"/>
                </a:lnTo>
                <a:lnTo>
                  <a:pt x="144751" y="461452"/>
                </a:lnTo>
                <a:lnTo>
                  <a:pt x="161651" y="415736"/>
                </a:lnTo>
                <a:lnTo>
                  <a:pt x="167639" y="364871"/>
                </a:lnTo>
                <a:lnTo>
                  <a:pt x="167639" y="191388"/>
                </a:lnTo>
                <a:lnTo>
                  <a:pt x="173628" y="140523"/>
                </a:lnTo>
                <a:lnTo>
                  <a:pt x="190528" y="94807"/>
                </a:lnTo>
                <a:lnTo>
                  <a:pt x="216741" y="56070"/>
                </a:lnTo>
                <a:lnTo>
                  <a:pt x="250669" y="26138"/>
                </a:lnTo>
                <a:lnTo>
                  <a:pt x="290715" y="6839"/>
                </a:lnTo>
                <a:lnTo>
                  <a:pt x="335279" y="0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144511" y="862583"/>
            <a:ext cx="952500" cy="681355"/>
          </a:xfrm>
          <a:custGeom>
            <a:avLst/>
            <a:gdLst/>
            <a:ahLst/>
            <a:cxnLst/>
            <a:rect l="l" t="t" r="r" b="b"/>
            <a:pathLst>
              <a:path w="952500" h="681355">
                <a:moveTo>
                  <a:pt x="0" y="681227"/>
                </a:moveTo>
                <a:lnTo>
                  <a:pt x="952500" y="681227"/>
                </a:lnTo>
                <a:lnTo>
                  <a:pt x="952500" y="0"/>
                </a:lnTo>
                <a:lnTo>
                  <a:pt x="0" y="0"/>
                </a:lnTo>
                <a:lnTo>
                  <a:pt x="0" y="681227"/>
                </a:lnTo>
                <a:close/>
              </a:path>
            </a:pathLst>
          </a:custGeom>
          <a:ln w="5715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58417" y="3286505"/>
            <a:ext cx="1485900" cy="969644"/>
          </a:xfrm>
          <a:prstGeom prst="rect">
            <a:avLst/>
          </a:prstGeom>
          <a:ln w="38100">
            <a:solidFill>
              <a:srgbClr val="FF66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3625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baseline="-14550" sz="3150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=T</a:t>
            </a:r>
            <a:endParaRPr sz="3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跳转目标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1614" y="2645740"/>
            <a:ext cx="412496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724535" algn="l"/>
                <a:tab pos="2611755" algn="l"/>
              </a:tabLst>
            </a:pP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If	</a:t>
            </a:r>
            <a:r>
              <a:rPr dirty="0" sz="3600" spc="-70" b="1">
                <a:solidFill>
                  <a:srgbClr val="FFFFFF"/>
                </a:solidFill>
                <a:latin typeface="Times New Roman"/>
                <a:cs typeface="Times New Roman"/>
              </a:rPr>
              <a:t>(e</a:t>
            </a:r>
            <a:r>
              <a:rPr dirty="0" baseline="-15046" sz="3600" spc="-104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600" spc="-7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baseline="-16865" sz="4200" spc="-104" b="1">
                <a:solidFill>
                  <a:srgbClr val="FFFF00"/>
                </a:solidFill>
                <a:latin typeface="Wingdings 3"/>
                <a:cs typeface="Wingdings 3"/>
              </a:rPr>
              <a:t></a:t>
            </a:r>
            <a:r>
              <a:rPr dirty="0" baseline="-16865" sz="4200" spc="-607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baseline="-15046" sz="3600" spc="-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;	</a:t>
            </a:r>
            <a:r>
              <a:rPr dirty="0" sz="3600" spc="-10" b="1">
                <a:solidFill>
                  <a:srgbClr val="FFFFFF"/>
                </a:solidFill>
                <a:latin typeface="Times New Roman"/>
                <a:cs typeface="Times New Roman"/>
              </a:rPr>
              <a:t>else</a:t>
            </a:r>
            <a:r>
              <a:rPr dirty="0" baseline="-19841" sz="4200" spc="-15" b="1">
                <a:solidFill>
                  <a:srgbClr val="FFFF00"/>
                </a:solidFill>
                <a:latin typeface="Wingdings 3"/>
                <a:cs typeface="Wingdings 3"/>
              </a:rPr>
              <a:t></a:t>
            </a:r>
            <a:r>
              <a:rPr dirty="0" sz="3600" spc="-10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baseline="-15046" sz="3600" spc="-1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baseline="-15046" sz="3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23438" y="3265170"/>
            <a:ext cx="1567180" cy="967740"/>
          </a:xfrm>
          <a:prstGeom prst="rect">
            <a:avLst/>
          </a:prstGeom>
          <a:ln w="38100">
            <a:solidFill>
              <a:srgbClr val="FF66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3615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baseline="-14550" sz="3150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=F</a:t>
            </a:r>
            <a:endParaRPr sz="3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跳转目标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43425" y="2887421"/>
            <a:ext cx="3733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Wingdings 3"/>
                <a:cs typeface="Wingdings 3"/>
              </a:rPr>
              <a:t></a:t>
            </a:r>
            <a:endParaRPr sz="2800">
              <a:latin typeface="Wingdings 3"/>
              <a:cs typeface="Wingdings 3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99838" y="2670810"/>
            <a:ext cx="1896110" cy="390525"/>
          </a:xfrm>
          <a:prstGeom prst="rect">
            <a:avLst/>
          </a:prstGeom>
          <a:ln w="38100">
            <a:solidFill>
              <a:srgbClr val="FF66FF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5"/>
              </a:spcBef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跳出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dirty="0" sz="24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继续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8191" y="4850129"/>
            <a:ext cx="399732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838835" algn="l"/>
                <a:tab pos="1176655" algn="l"/>
                <a:tab pos="1870075" algn="l"/>
                <a:tab pos="2564130" algn="l"/>
                <a:tab pos="3461385" algn="l"/>
              </a:tabLst>
            </a:pP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for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	</a:t>
            </a: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baseline="-15046" sz="3600" spc="-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;	</a:t>
            </a: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baseline="-15046" sz="3600" spc="-7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;	</a:t>
            </a: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baseline="-15046" sz="3600" spc="-7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1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54702" y="5692902"/>
            <a:ext cx="1515110" cy="899160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L="168275">
              <a:lnSpc>
                <a:spcPct val="100000"/>
              </a:lnSpc>
              <a:spcBef>
                <a:spcPts val="3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跳出循</a:t>
            </a:r>
            <a:endParaRPr sz="2400">
              <a:latin typeface="宋体"/>
              <a:cs typeface="宋体"/>
            </a:endParaRPr>
          </a:p>
          <a:p>
            <a:pPr marL="92075">
              <a:lnSpc>
                <a:spcPct val="100000"/>
              </a:lnSpc>
              <a:spcBef>
                <a:spcPts val="86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环体继续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64000" y="5167706"/>
            <a:ext cx="3733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Wingdings 3"/>
                <a:cs typeface="Wingdings 3"/>
              </a:rPr>
              <a:t></a:t>
            </a:r>
            <a:endParaRPr sz="2800">
              <a:latin typeface="Wingdings 3"/>
              <a:cs typeface="Wingdings 3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61765" y="5692902"/>
            <a:ext cx="1228725" cy="899160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L="167005">
              <a:lnSpc>
                <a:spcPct val="100000"/>
              </a:lnSpc>
              <a:spcBef>
                <a:spcPts val="3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循环体</a:t>
            </a:r>
            <a:endParaRPr sz="2400">
              <a:latin typeface="宋体"/>
              <a:cs typeface="宋体"/>
            </a:endParaRPr>
          </a:p>
          <a:p>
            <a:pPr marL="243204">
              <a:lnSpc>
                <a:spcPct val="100000"/>
              </a:lnSpc>
              <a:spcBef>
                <a:spcPts val="865"/>
              </a:spcBef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开</a:t>
            </a:r>
            <a:r>
              <a:rPr dirty="0" sz="2400" spc="-62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22295" y="5195061"/>
            <a:ext cx="28759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14600" algn="l"/>
              </a:tabLst>
            </a:pPr>
            <a:r>
              <a:rPr dirty="0" sz="2800" spc="-10" b="1">
                <a:solidFill>
                  <a:srgbClr val="FFFF00"/>
                </a:solidFill>
                <a:latin typeface="Wingdings 3"/>
                <a:cs typeface="Wingdings 3"/>
              </a:rPr>
              <a:t></a:t>
            </a:r>
            <a:r>
              <a:rPr dirty="0" sz="2800" spc="-1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800" spc="-10" b="1">
                <a:solidFill>
                  <a:srgbClr val="FFFF00"/>
                </a:solidFill>
                <a:latin typeface="Wingdings 3"/>
                <a:cs typeface="Wingdings 3"/>
              </a:rPr>
              <a:t></a:t>
            </a:r>
            <a:endParaRPr sz="2800">
              <a:latin typeface="Wingdings 3"/>
              <a:cs typeface="Wingdings 3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15617" y="5692902"/>
            <a:ext cx="1515110" cy="899160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L="166370">
              <a:lnSpc>
                <a:spcPct val="100000"/>
              </a:lnSpc>
              <a:spcBef>
                <a:spcPts val="3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循环体</a:t>
            </a:r>
            <a:endParaRPr sz="2400">
              <a:latin typeface="宋体"/>
              <a:cs typeface="宋体"/>
            </a:endParaRPr>
          </a:p>
          <a:p>
            <a:pPr marL="90170">
              <a:lnSpc>
                <a:spcPct val="100000"/>
              </a:lnSpc>
              <a:spcBef>
                <a:spcPts val="86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终止判别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297173" y="4876038"/>
            <a:ext cx="349250" cy="266700"/>
          </a:xfrm>
          <a:custGeom>
            <a:avLst/>
            <a:gdLst/>
            <a:ahLst/>
            <a:cxnLst/>
            <a:rect l="l" t="t" r="r" b="b"/>
            <a:pathLst>
              <a:path w="349250" h="266700">
                <a:moveTo>
                  <a:pt x="348996" y="0"/>
                </a:moveTo>
                <a:lnTo>
                  <a:pt x="0" y="0"/>
                </a:lnTo>
                <a:lnTo>
                  <a:pt x="174498" y="266700"/>
                </a:lnTo>
                <a:lnTo>
                  <a:pt x="348996" y="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297173" y="4876038"/>
            <a:ext cx="349250" cy="266700"/>
          </a:xfrm>
          <a:custGeom>
            <a:avLst/>
            <a:gdLst/>
            <a:ahLst/>
            <a:cxnLst/>
            <a:rect l="l" t="t" r="r" b="b"/>
            <a:pathLst>
              <a:path w="349250" h="266700">
                <a:moveTo>
                  <a:pt x="348996" y="0"/>
                </a:moveTo>
                <a:lnTo>
                  <a:pt x="174498" y="266700"/>
                </a:lnTo>
                <a:lnTo>
                  <a:pt x="0" y="0"/>
                </a:lnTo>
                <a:lnTo>
                  <a:pt x="348996" y="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869692" y="4443984"/>
            <a:ext cx="2338070" cy="407034"/>
          </a:xfrm>
          <a:prstGeom prst="rect">
            <a:avLst/>
          </a:prstGeom>
          <a:ln w="57150">
            <a:solidFill>
              <a:srgbClr val="99FFCC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marL="97155">
              <a:lnSpc>
                <a:spcPct val="100000"/>
              </a:lnSpc>
              <a:spcBef>
                <a:spcPts val="17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循环变量重赋值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83908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  <a:tab pos="4292600" algn="l"/>
                <a:tab pos="56959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0241" y="1784731"/>
            <a:ext cx="5231765" cy="3074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25805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.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语句标号与拉链返填技术</a:t>
            </a:r>
            <a:endParaRPr sz="3200">
              <a:latin typeface="宋体"/>
              <a:cs typeface="宋体"/>
            </a:endParaRPr>
          </a:p>
          <a:p>
            <a:pPr marL="12700" marR="1229995">
              <a:lnSpc>
                <a:spcPts val="6720"/>
              </a:lnSpc>
              <a:spcBef>
                <a:spcPts val="700"/>
              </a:spcBef>
              <a:tabLst>
                <a:tab pos="725805" algn="l"/>
              </a:tabLst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二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.条件语句的翻译 三.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循环语句的翻译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四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多分支语句的翻译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05600" y="1816607"/>
            <a:ext cx="1663064" cy="722630"/>
          </a:xfrm>
          <a:custGeom>
            <a:avLst/>
            <a:gdLst/>
            <a:ahLst/>
            <a:cxnLst/>
            <a:rect l="l" t="t" r="r" b="b"/>
            <a:pathLst>
              <a:path w="1663065" h="722630">
                <a:moveTo>
                  <a:pt x="415544" y="0"/>
                </a:moveTo>
                <a:lnTo>
                  <a:pt x="0" y="361188"/>
                </a:lnTo>
                <a:lnTo>
                  <a:pt x="415544" y="722376"/>
                </a:lnTo>
                <a:lnTo>
                  <a:pt x="415544" y="541781"/>
                </a:lnTo>
                <a:lnTo>
                  <a:pt x="1662683" y="541781"/>
                </a:lnTo>
                <a:lnTo>
                  <a:pt x="1662683" y="180593"/>
                </a:lnTo>
                <a:lnTo>
                  <a:pt x="415544" y="180593"/>
                </a:lnTo>
                <a:lnTo>
                  <a:pt x="415544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05600" y="1816607"/>
            <a:ext cx="1663064" cy="722630"/>
          </a:xfrm>
          <a:custGeom>
            <a:avLst/>
            <a:gdLst/>
            <a:ahLst/>
            <a:cxnLst/>
            <a:rect l="l" t="t" r="r" b="b"/>
            <a:pathLst>
              <a:path w="1663065" h="722630">
                <a:moveTo>
                  <a:pt x="0" y="361188"/>
                </a:moveTo>
                <a:lnTo>
                  <a:pt x="415544" y="0"/>
                </a:lnTo>
                <a:lnTo>
                  <a:pt x="415544" y="180593"/>
                </a:lnTo>
                <a:lnTo>
                  <a:pt x="1662683" y="180593"/>
                </a:lnTo>
                <a:lnTo>
                  <a:pt x="1662683" y="541781"/>
                </a:lnTo>
                <a:lnTo>
                  <a:pt x="415544" y="541781"/>
                </a:lnTo>
                <a:lnTo>
                  <a:pt x="415544" y="722376"/>
                </a:lnTo>
                <a:lnTo>
                  <a:pt x="0" y="361188"/>
                </a:lnTo>
                <a:close/>
              </a:path>
            </a:pathLst>
          </a:custGeom>
          <a:ln w="5715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755394" y="737997"/>
            <a:ext cx="536765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82065" algn="l"/>
              </a:tabLst>
            </a:pPr>
            <a:r>
              <a:rPr dirty="0" sz="4000" spc="-5">
                <a:latin typeface="Times New Roman"/>
                <a:cs typeface="Times New Roman"/>
              </a:rPr>
              <a:t>6.</a:t>
            </a:r>
            <a:r>
              <a:rPr dirty="0" sz="4000">
                <a:latin typeface="Times New Roman"/>
                <a:cs typeface="Times New Roman"/>
              </a:rPr>
              <a:t>6</a:t>
            </a:r>
            <a:r>
              <a:rPr dirty="0" sz="4000" spc="-5">
                <a:latin typeface="Times New Roman"/>
                <a:cs typeface="Times New Roman"/>
              </a:rPr>
              <a:t>.3</a:t>
            </a:r>
            <a:r>
              <a:rPr dirty="0" sz="4000">
                <a:latin typeface="Times New Roman"/>
                <a:cs typeface="Times New Roman"/>
              </a:rPr>
              <a:t>	</a:t>
            </a:r>
            <a:r>
              <a:rPr dirty="0" sz="4000" spc="-10"/>
              <a:t>控制流类语句翻译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247" y="26923"/>
            <a:ext cx="41173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13275" y="26923"/>
            <a:ext cx="411035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6050" algn="l"/>
              </a:tabLst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740" y="903244"/>
            <a:ext cx="8086090" cy="451294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430530" indent="-418465">
              <a:lnSpc>
                <a:spcPct val="100000"/>
              </a:lnSpc>
              <a:spcBef>
                <a:spcPts val="1060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429895" algn="l"/>
                <a:tab pos="431165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语句标号处理</a:t>
            </a:r>
            <a:endParaRPr sz="3200">
              <a:latin typeface="宋体"/>
              <a:cs typeface="宋体"/>
            </a:endParaRPr>
          </a:p>
          <a:p>
            <a:pPr marL="12700" marR="5080" indent="711835">
              <a:lnSpc>
                <a:spcPct val="125000"/>
              </a:lnSpc>
              <a:spcBef>
                <a:spcPts val="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控制流类语句处理面对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公共问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题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和实现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技术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050">
              <a:latin typeface="宋体"/>
              <a:cs typeface="宋体"/>
            </a:endParaRPr>
          </a:p>
          <a:p>
            <a:pPr marL="3563620">
              <a:lnSpc>
                <a:spcPts val="3625"/>
              </a:lnSpc>
            </a:pP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先定义后引用</a:t>
            </a:r>
            <a:endParaRPr sz="3200">
              <a:latin typeface="宋体"/>
              <a:cs typeface="宋体"/>
            </a:endParaRPr>
          </a:p>
          <a:p>
            <a:pPr lvl="1" marL="544830" indent="-418465">
              <a:lnSpc>
                <a:spcPts val="3625"/>
              </a:lnSpc>
              <a:buClr>
                <a:srgbClr val="66FFFF"/>
              </a:buClr>
              <a:buSzPct val="114062"/>
              <a:buFont typeface="Wingdings"/>
              <a:buChar char=""/>
              <a:tabLst>
                <a:tab pos="544195" algn="l"/>
                <a:tab pos="545465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语句标号处理</a:t>
            </a:r>
            <a:endParaRPr sz="3200">
              <a:latin typeface="宋体"/>
              <a:cs typeface="宋体"/>
            </a:endParaRPr>
          </a:p>
          <a:p>
            <a:pPr marL="3543935">
              <a:lnSpc>
                <a:spcPct val="100000"/>
              </a:lnSpc>
              <a:spcBef>
                <a:spcPts val="1790"/>
              </a:spcBef>
            </a:pP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先引用后定义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25773" y="4033265"/>
            <a:ext cx="247015" cy="1149350"/>
          </a:xfrm>
          <a:custGeom>
            <a:avLst/>
            <a:gdLst/>
            <a:ahLst/>
            <a:cxnLst/>
            <a:rect l="l" t="t" r="r" b="b"/>
            <a:pathLst>
              <a:path w="247014" h="1149350">
                <a:moveTo>
                  <a:pt x="246887" y="1149095"/>
                </a:moveTo>
                <a:lnTo>
                  <a:pt x="198828" y="1141585"/>
                </a:lnTo>
                <a:lnTo>
                  <a:pt x="159591" y="1121108"/>
                </a:lnTo>
                <a:lnTo>
                  <a:pt x="133141" y="1090749"/>
                </a:lnTo>
                <a:lnTo>
                  <a:pt x="123443" y="1053591"/>
                </a:lnTo>
                <a:lnTo>
                  <a:pt x="123443" y="670051"/>
                </a:lnTo>
                <a:lnTo>
                  <a:pt x="113746" y="632894"/>
                </a:lnTo>
                <a:lnTo>
                  <a:pt x="87296" y="602535"/>
                </a:lnTo>
                <a:lnTo>
                  <a:pt x="48059" y="582058"/>
                </a:lnTo>
                <a:lnTo>
                  <a:pt x="0" y="574547"/>
                </a:lnTo>
                <a:lnTo>
                  <a:pt x="48059" y="567037"/>
                </a:lnTo>
                <a:lnTo>
                  <a:pt x="87296" y="546560"/>
                </a:lnTo>
                <a:lnTo>
                  <a:pt x="113746" y="516201"/>
                </a:lnTo>
                <a:lnTo>
                  <a:pt x="123443" y="479043"/>
                </a:lnTo>
                <a:lnTo>
                  <a:pt x="123443" y="95503"/>
                </a:lnTo>
                <a:lnTo>
                  <a:pt x="133141" y="58346"/>
                </a:lnTo>
                <a:lnTo>
                  <a:pt x="159591" y="27987"/>
                </a:lnTo>
                <a:lnTo>
                  <a:pt x="198828" y="7510"/>
                </a:lnTo>
                <a:lnTo>
                  <a:pt x="24688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41173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3275" y="26923"/>
            <a:ext cx="411035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6050" algn="l"/>
              </a:tabLst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8891" y="1348232"/>
            <a:ext cx="165925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语句标号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767964" y="815441"/>
            <a:ext cx="5967095" cy="14198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38100">
              <a:lnSpc>
                <a:spcPct val="142900"/>
              </a:lnSpc>
              <a:spcBef>
                <a:spcPts val="100"/>
              </a:spcBef>
              <a:tabLst>
                <a:tab pos="2560955" algn="l"/>
                <a:tab pos="4534535" algn="l"/>
                <a:tab pos="4834890" algn="l"/>
              </a:tabLst>
            </a:pPr>
            <a:r>
              <a:rPr dirty="0" sz="3200">
                <a:solidFill>
                  <a:srgbClr val="00FFFF"/>
                </a:solidFill>
              </a:rPr>
              <a:t>定义性出</a:t>
            </a:r>
            <a:r>
              <a:rPr dirty="0" sz="3200" spc="-10">
                <a:solidFill>
                  <a:srgbClr val="00FFFF"/>
                </a:solidFill>
              </a:rPr>
              <a:t>现</a:t>
            </a:r>
            <a:r>
              <a:rPr dirty="0" sz="3200" spc="800">
                <a:solidFill>
                  <a:srgbClr val="00FFFF"/>
                </a:solidFill>
              </a:rPr>
              <a:t> </a:t>
            </a:r>
            <a:r>
              <a:rPr dirty="0" sz="3200">
                <a:solidFill>
                  <a:srgbClr val="00FFFF"/>
                </a:solidFill>
              </a:rPr>
              <a:t>（</a:t>
            </a:r>
            <a:r>
              <a:rPr dirty="0" sz="3200">
                <a:solidFill>
                  <a:srgbClr val="FFFFFF"/>
                </a:solidFill>
              </a:rPr>
              <a:t>如</a:t>
            </a:r>
            <a:r>
              <a:rPr dirty="0" sz="3200" spc="-10">
                <a:solidFill>
                  <a:srgbClr val="FFFFFF"/>
                </a:solidFill>
              </a:rPr>
              <a:t>，</a:t>
            </a:r>
            <a:r>
              <a:rPr dirty="0" sz="3200" spc="-805">
                <a:solidFill>
                  <a:srgbClr val="FFFFFF"/>
                </a:solidFill>
              </a:rPr>
              <a:t> 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L1:	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3200" spc="-10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r>
              <a:rPr dirty="0" sz="3200" spc="-10">
                <a:solidFill>
                  <a:srgbClr val="00FFFF"/>
                </a:solidFill>
              </a:rPr>
              <a:t>）  </a:t>
            </a:r>
            <a:r>
              <a:rPr dirty="0" sz="3200">
                <a:solidFill>
                  <a:srgbClr val="00FFFF"/>
                </a:solidFill>
              </a:rPr>
              <a:t>使用性出</a:t>
            </a:r>
            <a:r>
              <a:rPr dirty="0" sz="3200" spc="-10">
                <a:solidFill>
                  <a:srgbClr val="00FFFF"/>
                </a:solidFill>
              </a:rPr>
              <a:t>现	</a:t>
            </a:r>
            <a:r>
              <a:rPr dirty="0" sz="3200">
                <a:solidFill>
                  <a:srgbClr val="00FFFF"/>
                </a:solidFill>
              </a:rPr>
              <a:t>（</a:t>
            </a:r>
            <a:r>
              <a:rPr dirty="0" sz="3200">
                <a:solidFill>
                  <a:srgbClr val="FFFFFF"/>
                </a:solidFill>
              </a:rPr>
              <a:t>如</a:t>
            </a:r>
            <a:r>
              <a:rPr dirty="0" sz="3200" spc="-10">
                <a:solidFill>
                  <a:srgbClr val="FFFFFF"/>
                </a:solidFill>
              </a:rPr>
              <a:t>，</a:t>
            </a:r>
            <a:r>
              <a:rPr dirty="0" sz="3200" spc="-800">
                <a:solidFill>
                  <a:srgbClr val="FFFFFF"/>
                </a:solidFill>
              </a:rPr>
              <a:t> 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goto	</a:t>
            </a:r>
            <a:r>
              <a:rPr dirty="0" sz="3200" spc="-5">
                <a:solidFill>
                  <a:srgbClr val="FFFF00"/>
                </a:solidFill>
                <a:latin typeface="Times New Roman"/>
                <a:cs typeface="Times New Roman"/>
              </a:rPr>
              <a:t>L1</a:t>
            </a:r>
            <a:r>
              <a:rPr dirty="0" sz="3200" spc="-85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-5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r>
              <a:rPr dirty="0" sz="3200" spc="-5">
                <a:solidFill>
                  <a:srgbClr val="00FFFF"/>
                </a:solidFill>
              </a:rPr>
              <a:t>）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68117" y="1194053"/>
            <a:ext cx="247015" cy="904240"/>
          </a:xfrm>
          <a:custGeom>
            <a:avLst/>
            <a:gdLst/>
            <a:ahLst/>
            <a:cxnLst/>
            <a:rect l="l" t="t" r="r" b="b"/>
            <a:pathLst>
              <a:path w="247014" h="904239">
                <a:moveTo>
                  <a:pt x="246887" y="903732"/>
                </a:moveTo>
                <a:lnTo>
                  <a:pt x="198828" y="897826"/>
                </a:lnTo>
                <a:lnTo>
                  <a:pt x="159591" y="881729"/>
                </a:lnTo>
                <a:lnTo>
                  <a:pt x="133141" y="857869"/>
                </a:lnTo>
                <a:lnTo>
                  <a:pt x="123443" y="828675"/>
                </a:lnTo>
                <a:lnTo>
                  <a:pt x="123443" y="526923"/>
                </a:lnTo>
                <a:lnTo>
                  <a:pt x="113746" y="497728"/>
                </a:lnTo>
                <a:lnTo>
                  <a:pt x="87296" y="473868"/>
                </a:lnTo>
                <a:lnTo>
                  <a:pt x="48059" y="457771"/>
                </a:lnTo>
                <a:lnTo>
                  <a:pt x="0" y="451866"/>
                </a:lnTo>
                <a:lnTo>
                  <a:pt x="48059" y="445960"/>
                </a:lnTo>
                <a:lnTo>
                  <a:pt x="87296" y="429863"/>
                </a:lnTo>
                <a:lnTo>
                  <a:pt x="113746" y="406003"/>
                </a:lnTo>
                <a:lnTo>
                  <a:pt x="123443" y="376809"/>
                </a:lnTo>
                <a:lnTo>
                  <a:pt x="123443" y="75057"/>
                </a:lnTo>
                <a:lnTo>
                  <a:pt x="133141" y="45862"/>
                </a:lnTo>
                <a:lnTo>
                  <a:pt x="159591" y="22002"/>
                </a:lnTo>
                <a:lnTo>
                  <a:pt x="198828" y="5905"/>
                </a:lnTo>
                <a:lnTo>
                  <a:pt x="24688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615630" y="3397186"/>
          <a:ext cx="6520180" cy="676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7095"/>
                <a:gridCol w="2413635"/>
                <a:gridCol w="1905635"/>
              </a:tblGrid>
              <a:tr h="647700">
                <a:tc>
                  <a:txBody>
                    <a:bodyPr/>
                    <a:lstStyle/>
                    <a:p>
                      <a:pPr marL="46609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标号名</a:t>
                      </a:r>
                      <a:endParaRPr sz="3200">
                        <a:latin typeface="宋体"/>
                        <a:cs typeface="宋体"/>
                      </a:endParaRPr>
                    </a:p>
                  </a:txBody>
                  <a:tcPr marL="0" marR="0" marB="0" marT="7493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5104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定义否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(flag)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49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989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addr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1707895" y="2856102"/>
            <a:ext cx="29610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语句标号表（</a:t>
            </a:r>
            <a:r>
              <a:rPr dirty="0" sz="2800" spc="-265" b="1">
                <a:solidFill>
                  <a:srgbClr val="00FFFF"/>
                </a:solidFill>
                <a:latin typeface="Times New Roman"/>
                <a:cs typeface="Times New Roman"/>
              </a:rPr>
              <a:t>L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T</a:t>
            </a:r>
            <a:r>
              <a:rPr dirty="0" sz="2800" spc="-15" b="1">
                <a:solidFill>
                  <a:srgbClr val="00FFFF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00505" y="2097785"/>
            <a:ext cx="0" cy="1675130"/>
          </a:xfrm>
          <a:custGeom>
            <a:avLst/>
            <a:gdLst/>
            <a:ahLst/>
            <a:cxnLst/>
            <a:rect l="l" t="t" r="r" b="b"/>
            <a:pathLst>
              <a:path w="0" h="1675129">
                <a:moveTo>
                  <a:pt x="0" y="0"/>
                </a:moveTo>
                <a:lnTo>
                  <a:pt x="0" y="1674876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000505" y="3715511"/>
            <a:ext cx="477520" cy="114300"/>
          </a:xfrm>
          <a:custGeom>
            <a:avLst/>
            <a:gdLst/>
            <a:ahLst/>
            <a:cxnLst/>
            <a:rect l="l" t="t" r="r" b="b"/>
            <a:pathLst>
              <a:path w="477519" h="114300">
                <a:moveTo>
                  <a:pt x="362712" y="0"/>
                </a:moveTo>
                <a:lnTo>
                  <a:pt x="362712" y="114300"/>
                </a:lnTo>
                <a:lnTo>
                  <a:pt x="438912" y="76200"/>
                </a:lnTo>
                <a:lnTo>
                  <a:pt x="381762" y="76200"/>
                </a:lnTo>
                <a:lnTo>
                  <a:pt x="381762" y="38100"/>
                </a:lnTo>
                <a:lnTo>
                  <a:pt x="438912" y="38100"/>
                </a:lnTo>
                <a:lnTo>
                  <a:pt x="362712" y="0"/>
                </a:lnTo>
                <a:close/>
              </a:path>
              <a:path w="477519" h="114300">
                <a:moveTo>
                  <a:pt x="3627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62712" y="76200"/>
                </a:lnTo>
                <a:lnTo>
                  <a:pt x="362712" y="38100"/>
                </a:lnTo>
                <a:close/>
              </a:path>
              <a:path w="477519" h="114300">
                <a:moveTo>
                  <a:pt x="438912" y="38100"/>
                </a:moveTo>
                <a:lnTo>
                  <a:pt x="381762" y="38100"/>
                </a:lnTo>
                <a:lnTo>
                  <a:pt x="381762" y="76200"/>
                </a:lnTo>
                <a:lnTo>
                  <a:pt x="438912" y="76200"/>
                </a:lnTo>
                <a:lnTo>
                  <a:pt x="477012" y="57150"/>
                </a:lnTo>
                <a:lnTo>
                  <a:pt x="43891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745223" y="4059173"/>
            <a:ext cx="114300" cy="1615440"/>
          </a:xfrm>
          <a:custGeom>
            <a:avLst/>
            <a:gdLst/>
            <a:ahLst/>
            <a:cxnLst/>
            <a:rect l="l" t="t" r="r" b="b"/>
            <a:pathLst>
              <a:path w="114300" h="1615439">
                <a:moveTo>
                  <a:pt x="38100" y="1501139"/>
                </a:moveTo>
                <a:lnTo>
                  <a:pt x="0" y="1501139"/>
                </a:lnTo>
                <a:lnTo>
                  <a:pt x="57150" y="1615439"/>
                </a:lnTo>
                <a:lnTo>
                  <a:pt x="104775" y="1520189"/>
                </a:lnTo>
                <a:lnTo>
                  <a:pt x="38100" y="1520189"/>
                </a:lnTo>
                <a:lnTo>
                  <a:pt x="38100" y="1501139"/>
                </a:lnTo>
                <a:close/>
              </a:path>
              <a:path w="114300" h="1615439">
                <a:moveTo>
                  <a:pt x="76200" y="0"/>
                </a:moveTo>
                <a:lnTo>
                  <a:pt x="38100" y="0"/>
                </a:lnTo>
                <a:lnTo>
                  <a:pt x="38100" y="1520189"/>
                </a:lnTo>
                <a:lnTo>
                  <a:pt x="76200" y="1520189"/>
                </a:lnTo>
                <a:lnTo>
                  <a:pt x="76200" y="0"/>
                </a:lnTo>
                <a:close/>
              </a:path>
              <a:path w="114300" h="1615439">
                <a:moveTo>
                  <a:pt x="114300" y="1501139"/>
                </a:moveTo>
                <a:lnTo>
                  <a:pt x="76200" y="1501139"/>
                </a:lnTo>
                <a:lnTo>
                  <a:pt x="76200" y="1520189"/>
                </a:lnTo>
                <a:lnTo>
                  <a:pt x="104775" y="1520189"/>
                </a:lnTo>
                <a:lnTo>
                  <a:pt x="114300" y="150113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344923" y="4059173"/>
            <a:ext cx="114300" cy="475615"/>
          </a:xfrm>
          <a:custGeom>
            <a:avLst/>
            <a:gdLst/>
            <a:ahLst/>
            <a:cxnLst/>
            <a:rect l="l" t="t" r="r" b="b"/>
            <a:pathLst>
              <a:path w="114300" h="475614">
                <a:moveTo>
                  <a:pt x="38100" y="361188"/>
                </a:moveTo>
                <a:lnTo>
                  <a:pt x="0" y="361188"/>
                </a:lnTo>
                <a:lnTo>
                  <a:pt x="57150" y="475488"/>
                </a:lnTo>
                <a:lnTo>
                  <a:pt x="104775" y="380238"/>
                </a:lnTo>
                <a:lnTo>
                  <a:pt x="38100" y="380238"/>
                </a:lnTo>
                <a:lnTo>
                  <a:pt x="38100" y="361188"/>
                </a:lnTo>
                <a:close/>
              </a:path>
              <a:path w="114300" h="475614">
                <a:moveTo>
                  <a:pt x="76200" y="0"/>
                </a:moveTo>
                <a:lnTo>
                  <a:pt x="38100" y="0"/>
                </a:lnTo>
                <a:lnTo>
                  <a:pt x="38100" y="380238"/>
                </a:lnTo>
                <a:lnTo>
                  <a:pt x="76200" y="380238"/>
                </a:lnTo>
                <a:lnTo>
                  <a:pt x="76200" y="0"/>
                </a:lnTo>
                <a:close/>
              </a:path>
              <a:path w="114300" h="475614">
                <a:moveTo>
                  <a:pt x="114300" y="361188"/>
                </a:moveTo>
                <a:lnTo>
                  <a:pt x="76200" y="361188"/>
                </a:lnTo>
                <a:lnTo>
                  <a:pt x="76200" y="380238"/>
                </a:lnTo>
                <a:lnTo>
                  <a:pt x="104775" y="380238"/>
                </a:lnTo>
                <a:lnTo>
                  <a:pt x="114300" y="3611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383919" y="4404249"/>
            <a:ext cx="6964045" cy="2329815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708150">
              <a:lnSpc>
                <a:spcPct val="100000"/>
              </a:lnSpc>
              <a:spcBef>
                <a:spcPts val="270"/>
              </a:spcBef>
            </a:pP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表示定义性出现</a:t>
            </a:r>
            <a:endParaRPr sz="2800">
              <a:latin typeface="宋体"/>
              <a:cs typeface="宋体"/>
            </a:endParaRPr>
          </a:p>
          <a:p>
            <a:pPr marL="1708150">
              <a:lnSpc>
                <a:spcPct val="100000"/>
              </a:lnSpc>
              <a:spcBef>
                <a:spcPts val="170"/>
              </a:spcBef>
            </a:pP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表示使用性出现</a:t>
            </a:r>
            <a:endParaRPr sz="2800">
              <a:latin typeface="宋体"/>
              <a:cs typeface="宋体"/>
            </a:endParaRPr>
          </a:p>
          <a:p>
            <a:pPr marL="12700" marR="5080">
              <a:lnSpc>
                <a:spcPct val="110100"/>
              </a:lnSpc>
              <a:spcBef>
                <a:spcPts val="262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标号所标识的源语句的中间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代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码序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列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的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第一条代码的存放地址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15005" y="1061466"/>
            <a:ext cx="1362710" cy="485140"/>
          </a:xfrm>
          <a:custGeom>
            <a:avLst/>
            <a:gdLst/>
            <a:ahLst/>
            <a:cxnLst/>
            <a:rect l="l" t="t" r="r" b="b"/>
            <a:pathLst>
              <a:path w="1362710" h="485140">
                <a:moveTo>
                  <a:pt x="0" y="484631"/>
                </a:moveTo>
                <a:lnTo>
                  <a:pt x="1362456" y="484631"/>
                </a:lnTo>
                <a:lnTo>
                  <a:pt x="1362456" y="0"/>
                </a:lnTo>
                <a:lnTo>
                  <a:pt x="0" y="0"/>
                </a:lnTo>
                <a:lnTo>
                  <a:pt x="0" y="484631"/>
                </a:lnTo>
                <a:close/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315461" y="724662"/>
            <a:ext cx="472440" cy="337185"/>
          </a:xfrm>
          <a:custGeom>
            <a:avLst/>
            <a:gdLst/>
            <a:ahLst/>
            <a:cxnLst/>
            <a:rect l="l" t="t" r="r" b="b"/>
            <a:pathLst>
              <a:path w="472439" h="337184">
                <a:moveTo>
                  <a:pt x="0" y="336803"/>
                </a:moveTo>
                <a:lnTo>
                  <a:pt x="472439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787902" y="724662"/>
            <a:ext cx="2613660" cy="0"/>
          </a:xfrm>
          <a:custGeom>
            <a:avLst/>
            <a:gdLst/>
            <a:ahLst/>
            <a:cxnLst/>
            <a:rect l="l" t="t" r="r" b="b"/>
            <a:pathLst>
              <a:path w="2613660" h="0">
                <a:moveTo>
                  <a:pt x="0" y="0"/>
                </a:moveTo>
                <a:lnTo>
                  <a:pt x="261366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389242" y="710056"/>
            <a:ext cx="413384" cy="351790"/>
          </a:xfrm>
          <a:custGeom>
            <a:avLst/>
            <a:gdLst/>
            <a:ahLst/>
            <a:cxnLst/>
            <a:rect l="l" t="t" r="r" b="b"/>
            <a:pathLst>
              <a:path w="413384" h="351790">
                <a:moveTo>
                  <a:pt x="313346" y="292435"/>
                </a:moveTo>
                <a:lnTo>
                  <a:pt x="288798" y="321690"/>
                </a:lnTo>
                <a:lnTo>
                  <a:pt x="413131" y="351408"/>
                </a:lnTo>
                <a:lnTo>
                  <a:pt x="392898" y="304672"/>
                </a:lnTo>
                <a:lnTo>
                  <a:pt x="327913" y="304672"/>
                </a:lnTo>
                <a:lnTo>
                  <a:pt x="313346" y="292435"/>
                </a:lnTo>
                <a:close/>
              </a:path>
              <a:path w="413384" h="351790">
                <a:moveTo>
                  <a:pt x="337798" y="263297"/>
                </a:moveTo>
                <a:lnTo>
                  <a:pt x="313346" y="292435"/>
                </a:lnTo>
                <a:lnTo>
                  <a:pt x="327913" y="304672"/>
                </a:lnTo>
                <a:lnTo>
                  <a:pt x="352425" y="275589"/>
                </a:lnTo>
                <a:lnTo>
                  <a:pt x="337798" y="263297"/>
                </a:lnTo>
                <a:close/>
              </a:path>
              <a:path w="413384" h="351790">
                <a:moveTo>
                  <a:pt x="362331" y="234060"/>
                </a:moveTo>
                <a:lnTo>
                  <a:pt x="337798" y="263297"/>
                </a:lnTo>
                <a:lnTo>
                  <a:pt x="352425" y="275589"/>
                </a:lnTo>
                <a:lnTo>
                  <a:pt x="327913" y="304672"/>
                </a:lnTo>
                <a:lnTo>
                  <a:pt x="392898" y="304672"/>
                </a:lnTo>
                <a:lnTo>
                  <a:pt x="362331" y="234060"/>
                </a:lnTo>
                <a:close/>
              </a:path>
              <a:path w="413384" h="351790">
                <a:moveTo>
                  <a:pt x="24511" y="0"/>
                </a:moveTo>
                <a:lnTo>
                  <a:pt x="0" y="29209"/>
                </a:lnTo>
                <a:lnTo>
                  <a:pt x="313346" y="292435"/>
                </a:lnTo>
                <a:lnTo>
                  <a:pt x="337798" y="263297"/>
                </a:lnTo>
                <a:lnTo>
                  <a:pt x="2451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430261" y="1777745"/>
            <a:ext cx="800100" cy="483234"/>
          </a:xfrm>
          <a:custGeom>
            <a:avLst/>
            <a:gdLst/>
            <a:ahLst/>
            <a:cxnLst/>
            <a:rect l="l" t="t" r="r" b="b"/>
            <a:pathLst>
              <a:path w="800100" h="483235">
                <a:moveTo>
                  <a:pt x="0" y="483108"/>
                </a:moveTo>
                <a:lnTo>
                  <a:pt x="800100" y="483108"/>
                </a:lnTo>
                <a:lnTo>
                  <a:pt x="800100" y="0"/>
                </a:lnTo>
                <a:lnTo>
                  <a:pt x="0" y="0"/>
                </a:lnTo>
                <a:lnTo>
                  <a:pt x="0" y="483108"/>
                </a:lnTo>
                <a:close/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696717" y="1765554"/>
            <a:ext cx="1362710" cy="485140"/>
          </a:xfrm>
          <a:custGeom>
            <a:avLst/>
            <a:gdLst/>
            <a:ahLst/>
            <a:cxnLst/>
            <a:rect l="l" t="t" r="r" b="b"/>
            <a:pathLst>
              <a:path w="1362710" h="485139">
                <a:moveTo>
                  <a:pt x="0" y="484632"/>
                </a:moveTo>
                <a:lnTo>
                  <a:pt x="1362456" y="484632"/>
                </a:lnTo>
                <a:lnTo>
                  <a:pt x="1362456" y="0"/>
                </a:lnTo>
                <a:lnTo>
                  <a:pt x="0" y="0"/>
                </a:lnTo>
                <a:lnTo>
                  <a:pt x="0" y="484632"/>
                </a:lnTo>
                <a:close/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167244" y="2259329"/>
            <a:ext cx="555625" cy="351790"/>
          </a:xfrm>
          <a:custGeom>
            <a:avLst/>
            <a:gdLst/>
            <a:ahLst/>
            <a:cxnLst/>
            <a:rect l="l" t="t" r="r" b="b"/>
            <a:pathLst>
              <a:path w="555625" h="351789">
                <a:moveTo>
                  <a:pt x="383315" y="83502"/>
                </a:moveTo>
                <a:lnTo>
                  <a:pt x="0" y="319024"/>
                </a:lnTo>
                <a:lnTo>
                  <a:pt x="20065" y="351536"/>
                </a:lnTo>
                <a:lnTo>
                  <a:pt x="403305" y="115986"/>
                </a:lnTo>
                <a:lnTo>
                  <a:pt x="383315" y="83502"/>
                </a:lnTo>
                <a:close/>
              </a:path>
              <a:path w="555625" h="351789">
                <a:moveTo>
                  <a:pt x="490080" y="73533"/>
                </a:moveTo>
                <a:lnTo>
                  <a:pt x="399541" y="73533"/>
                </a:lnTo>
                <a:lnTo>
                  <a:pt x="419480" y="106045"/>
                </a:lnTo>
                <a:lnTo>
                  <a:pt x="403305" y="115986"/>
                </a:lnTo>
                <a:lnTo>
                  <a:pt x="423290" y="148462"/>
                </a:lnTo>
                <a:lnTo>
                  <a:pt x="490080" y="73533"/>
                </a:lnTo>
                <a:close/>
              </a:path>
              <a:path w="555625" h="351789">
                <a:moveTo>
                  <a:pt x="399541" y="73533"/>
                </a:moveTo>
                <a:lnTo>
                  <a:pt x="383315" y="83502"/>
                </a:lnTo>
                <a:lnTo>
                  <a:pt x="403305" y="115986"/>
                </a:lnTo>
                <a:lnTo>
                  <a:pt x="419480" y="106045"/>
                </a:lnTo>
                <a:lnTo>
                  <a:pt x="399541" y="73533"/>
                </a:lnTo>
                <a:close/>
              </a:path>
              <a:path w="555625" h="351789">
                <a:moveTo>
                  <a:pt x="555625" y="0"/>
                </a:moveTo>
                <a:lnTo>
                  <a:pt x="363347" y="51054"/>
                </a:lnTo>
                <a:lnTo>
                  <a:pt x="383315" y="83502"/>
                </a:lnTo>
                <a:lnTo>
                  <a:pt x="399541" y="73533"/>
                </a:lnTo>
                <a:lnTo>
                  <a:pt x="490080" y="73533"/>
                </a:lnTo>
                <a:lnTo>
                  <a:pt x="55562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173473" y="2596133"/>
            <a:ext cx="3004185" cy="0"/>
          </a:xfrm>
          <a:custGeom>
            <a:avLst/>
            <a:gdLst/>
            <a:ahLst/>
            <a:cxnLst/>
            <a:rect l="l" t="t" r="r" b="b"/>
            <a:pathLst>
              <a:path w="3004184" h="0">
                <a:moveTo>
                  <a:pt x="3003804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713226" y="2260854"/>
            <a:ext cx="462280" cy="335280"/>
          </a:xfrm>
          <a:custGeom>
            <a:avLst/>
            <a:gdLst/>
            <a:ahLst/>
            <a:cxnLst/>
            <a:rect l="l" t="t" r="r" b="b"/>
            <a:pathLst>
              <a:path w="462279" h="335280">
                <a:moveTo>
                  <a:pt x="461772" y="33528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247" y="26923"/>
            <a:ext cx="8390890" cy="18662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  <a:tab pos="4292600" algn="l"/>
                <a:tab pos="56959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500">
              <a:latin typeface="宋体"/>
              <a:cs typeface="宋体"/>
            </a:endParaRPr>
          </a:p>
          <a:p>
            <a:pPr marL="537845" indent="-418465">
              <a:lnSpc>
                <a:spcPct val="100000"/>
              </a:lnSpc>
              <a:buClr>
                <a:srgbClr val="66FFFF"/>
              </a:buClr>
              <a:buSzPct val="114062"/>
              <a:buFont typeface="Wingdings"/>
              <a:buChar char=""/>
              <a:tabLst>
                <a:tab pos="537210" algn="l"/>
                <a:tab pos="53848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对多遍扫描的编译器</a:t>
            </a:r>
            <a:endParaRPr sz="3200">
              <a:latin typeface="宋体"/>
              <a:cs typeface="宋体"/>
            </a:endParaRPr>
          </a:p>
          <a:p>
            <a:pPr marL="932180">
              <a:lnSpc>
                <a:spcPct val="100000"/>
              </a:lnSpc>
              <a:spcBef>
                <a:spcPts val="115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视为一种情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况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先定义后引</a:t>
            </a:r>
            <a:r>
              <a:rPr dirty="0" sz="3200" spc="-10" b="1">
                <a:solidFill>
                  <a:srgbClr val="00FFFF"/>
                </a:solidFill>
                <a:latin typeface="宋体"/>
                <a:cs typeface="宋体"/>
              </a:rPr>
              <a:t>用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处理。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6440" y="2273935"/>
            <a:ext cx="125222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例如，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43961" y="2692145"/>
            <a:ext cx="3982212" cy="38206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3961" y="2692145"/>
            <a:ext cx="3982720" cy="3820795"/>
          </a:xfrm>
          <a:custGeom>
            <a:avLst/>
            <a:gdLst/>
            <a:ahLst/>
            <a:cxnLst/>
            <a:rect l="l" t="t" r="r" b="b"/>
            <a:pathLst>
              <a:path w="3982720" h="3820795">
                <a:moveTo>
                  <a:pt x="0" y="3820667"/>
                </a:moveTo>
                <a:lnTo>
                  <a:pt x="3982212" y="3820667"/>
                </a:lnTo>
                <a:lnTo>
                  <a:pt x="3982212" y="0"/>
                </a:lnTo>
                <a:lnTo>
                  <a:pt x="0" y="0"/>
                </a:lnTo>
                <a:lnTo>
                  <a:pt x="0" y="3820667"/>
                </a:lnTo>
                <a:close/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432175" y="2520268"/>
            <a:ext cx="2358390" cy="1708150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algn="ctr" marL="513080">
              <a:lnSpc>
                <a:spcPct val="100000"/>
              </a:lnSpc>
              <a:spcBef>
                <a:spcPts val="670"/>
              </a:spcBef>
            </a:pPr>
            <a:r>
              <a:rPr dirty="0" sz="3200" b="1"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75"/>
              </a:spcBef>
              <a:tabLst>
                <a:tab pos="1049655" algn="l"/>
              </a:tabLst>
            </a:pPr>
            <a:r>
              <a:rPr dirty="0" sz="3200" b="1">
                <a:latin typeface="Times New Roman"/>
                <a:cs typeface="Times New Roman"/>
              </a:rPr>
              <a:t>20:	c=a*b</a:t>
            </a:r>
            <a:r>
              <a:rPr dirty="0" sz="3200" spc="-9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;</a:t>
            </a:r>
            <a:endParaRPr sz="3200">
              <a:latin typeface="Times New Roman"/>
              <a:cs typeface="Times New Roman"/>
            </a:endParaRPr>
          </a:p>
          <a:p>
            <a:pPr algn="ctr" marL="307975">
              <a:lnSpc>
                <a:spcPct val="100000"/>
              </a:lnSpc>
              <a:spcBef>
                <a:spcPts val="580"/>
              </a:spcBef>
            </a:pPr>
            <a:r>
              <a:rPr dirty="0" sz="3200" b="1"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49266" y="4201979"/>
            <a:ext cx="1519555" cy="227012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962025" algn="l"/>
              </a:tabLst>
            </a:pPr>
            <a:r>
              <a:rPr dirty="0" sz="3200" b="1">
                <a:latin typeface="Times New Roman"/>
                <a:cs typeface="Times New Roman"/>
              </a:rPr>
              <a:t>g</a:t>
            </a:r>
            <a:r>
              <a:rPr dirty="0" sz="3200" spc="5" b="1">
                <a:latin typeface="Times New Roman"/>
                <a:cs typeface="Times New Roman"/>
              </a:rPr>
              <a:t>o</a:t>
            </a:r>
            <a:r>
              <a:rPr dirty="0" sz="3200" b="1">
                <a:latin typeface="Times New Roman"/>
                <a:cs typeface="Times New Roman"/>
              </a:rPr>
              <a:t>to</a:t>
            </a:r>
            <a:r>
              <a:rPr dirty="0" sz="3200" b="1">
                <a:latin typeface="Times New Roman"/>
                <a:cs typeface="Times New Roman"/>
              </a:rPr>
              <a:t>	</a:t>
            </a:r>
            <a:r>
              <a:rPr dirty="0" sz="3200" spc="5" b="1">
                <a:latin typeface="Times New Roman"/>
                <a:cs typeface="Times New Roman"/>
              </a:rPr>
              <a:t>2</a:t>
            </a:r>
            <a:r>
              <a:rPr dirty="0" sz="3200" b="1">
                <a:latin typeface="Times New Roman"/>
                <a:cs typeface="Times New Roman"/>
              </a:rPr>
              <a:t>0;</a:t>
            </a:r>
            <a:endParaRPr sz="3200">
              <a:latin typeface="Times New Roman"/>
              <a:cs typeface="Times New Roman"/>
            </a:endParaRPr>
          </a:p>
          <a:p>
            <a:pPr marL="114935">
              <a:lnSpc>
                <a:spcPct val="100000"/>
              </a:lnSpc>
              <a:spcBef>
                <a:spcPts val="580"/>
              </a:spcBef>
            </a:pPr>
            <a:r>
              <a:rPr dirty="0" sz="3200" b="1"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  <a:tabLst>
                <a:tab pos="962025" algn="l"/>
              </a:tabLst>
            </a:pPr>
            <a:r>
              <a:rPr dirty="0" sz="3200" b="1">
                <a:latin typeface="Times New Roman"/>
                <a:cs typeface="Times New Roman"/>
              </a:rPr>
              <a:t>g</a:t>
            </a:r>
            <a:r>
              <a:rPr dirty="0" sz="3200" spc="10" b="1">
                <a:latin typeface="Times New Roman"/>
                <a:cs typeface="Times New Roman"/>
              </a:rPr>
              <a:t>o</a:t>
            </a:r>
            <a:r>
              <a:rPr dirty="0" sz="3200" b="1">
                <a:latin typeface="Times New Roman"/>
                <a:cs typeface="Times New Roman"/>
              </a:rPr>
              <a:t>to</a:t>
            </a:r>
            <a:r>
              <a:rPr dirty="0" sz="3200" b="1">
                <a:latin typeface="Times New Roman"/>
                <a:cs typeface="Times New Roman"/>
              </a:rPr>
              <a:t>	</a:t>
            </a:r>
            <a:r>
              <a:rPr dirty="0" sz="3200" spc="5" b="1">
                <a:latin typeface="Times New Roman"/>
                <a:cs typeface="Times New Roman"/>
              </a:rPr>
              <a:t>2</a:t>
            </a:r>
            <a:r>
              <a:rPr dirty="0" sz="3200" b="1">
                <a:latin typeface="Times New Roman"/>
                <a:cs typeface="Times New Roman"/>
              </a:rPr>
              <a:t>0;</a:t>
            </a:r>
            <a:endParaRPr sz="3200">
              <a:latin typeface="Times New Roman"/>
              <a:cs typeface="Times New Roman"/>
            </a:endParaRPr>
          </a:p>
          <a:p>
            <a:pPr marL="114935">
              <a:lnSpc>
                <a:spcPct val="100000"/>
              </a:lnSpc>
              <a:spcBef>
                <a:spcPts val="575"/>
              </a:spcBef>
            </a:pPr>
            <a:r>
              <a:rPr dirty="0" sz="3200" b="1"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72661" y="4668773"/>
            <a:ext cx="723900" cy="0"/>
          </a:xfrm>
          <a:custGeom>
            <a:avLst/>
            <a:gdLst/>
            <a:ahLst/>
            <a:cxnLst/>
            <a:rect l="l" t="t" r="r" b="b"/>
            <a:pathLst>
              <a:path w="723900" h="0">
                <a:moveTo>
                  <a:pt x="0" y="0"/>
                </a:moveTo>
                <a:lnTo>
                  <a:pt x="723900" y="0"/>
                </a:lnTo>
              </a:path>
            </a:pathLst>
          </a:custGeom>
          <a:ln w="38100">
            <a:solidFill>
              <a:srgbClr val="A737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15511" y="3734561"/>
            <a:ext cx="114300" cy="934719"/>
          </a:xfrm>
          <a:custGeom>
            <a:avLst/>
            <a:gdLst/>
            <a:ahLst/>
            <a:cxnLst/>
            <a:rect l="l" t="t" r="r" b="b"/>
            <a:pathLst>
              <a:path w="114300" h="934720">
                <a:moveTo>
                  <a:pt x="76200" y="95250"/>
                </a:moveTo>
                <a:lnTo>
                  <a:pt x="38100" y="95250"/>
                </a:lnTo>
                <a:lnTo>
                  <a:pt x="38100" y="934212"/>
                </a:lnTo>
                <a:lnTo>
                  <a:pt x="76200" y="934212"/>
                </a:lnTo>
                <a:lnTo>
                  <a:pt x="76200" y="95250"/>
                </a:lnTo>
                <a:close/>
              </a:path>
              <a:path w="114300" h="93472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93472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A737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563873" y="5773673"/>
            <a:ext cx="932815" cy="0"/>
          </a:xfrm>
          <a:custGeom>
            <a:avLst/>
            <a:gdLst/>
            <a:ahLst/>
            <a:cxnLst/>
            <a:rect l="l" t="t" r="r" b="b"/>
            <a:pathLst>
              <a:path w="932814" h="0">
                <a:moveTo>
                  <a:pt x="0" y="0"/>
                </a:moveTo>
                <a:lnTo>
                  <a:pt x="932688" y="0"/>
                </a:lnTo>
              </a:path>
            </a:pathLst>
          </a:custGeom>
          <a:ln w="38100">
            <a:solidFill>
              <a:srgbClr val="A737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06723" y="3754373"/>
            <a:ext cx="114300" cy="2019300"/>
          </a:xfrm>
          <a:custGeom>
            <a:avLst/>
            <a:gdLst/>
            <a:ahLst/>
            <a:cxnLst/>
            <a:rect l="l" t="t" r="r" b="b"/>
            <a:pathLst>
              <a:path w="114300" h="2019300">
                <a:moveTo>
                  <a:pt x="76200" y="95250"/>
                </a:moveTo>
                <a:lnTo>
                  <a:pt x="38100" y="95250"/>
                </a:lnTo>
                <a:lnTo>
                  <a:pt x="38100" y="2019300"/>
                </a:lnTo>
                <a:lnTo>
                  <a:pt x="76200" y="2019300"/>
                </a:lnTo>
                <a:lnTo>
                  <a:pt x="76200" y="95250"/>
                </a:lnTo>
                <a:close/>
              </a:path>
              <a:path w="114300" h="20193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0193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A737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115811" y="3334511"/>
            <a:ext cx="1485900" cy="228600"/>
          </a:xfrm>
          <a:custGeom>
            <a:avLst/>
            <a:gdLst/>
            <a:ahLst/>
            <a:cxnLst/>
            <a:rect l="l" t="t" r="r" b="b"/>
            <a:pathLst>
              <a:path w="1485900" h="228600">
                <a:moveTo>
                  <a:pt x="381000" y="0"/>
                </a:moveTo>
                <a:lnTo>
                  <a:pt x="0" y="114300"/>
                </a:lnTo>
                <a:lnTo>
                  <a:pt x="381000" y="228600"/>
                </a:lnTo>
                <a:lnTo>
                  <a:pt x="381000" y="152400"/>
                </a:lnTo>
                <a:lnTo>
                  <a:pt x="342900" y="152400"/>
                </a:lnTo>
                <a:lnTo>
                  <a:pt x="342900" y="76200"/>
                </a:lnTo>
                <a:lnTo>
                  <a:pt x="381000" y="76200"/>
                </a:lnTo>
                <a:lnTo>
                  <a:pt x="381000" y="0"/>
                </a:lnTo>
                <a:close/>
              </a:path>
              <a:path w="1485900" h="228600">
                <a:moveTo>
                  <a:pt x="381000" y="76200"/>
                </a:moveTo>
                <a:lnTo>
                  <a:pt x="342900" y="76200"/>
                </a:lnTo>
                <a:lnTo>
                  <a:pt x="342900" y="152400"/>
                </a:lnTo>
                <a:lnTo>
                  <a:pt x="381000" y="152400"/>
                </a:lnTo>
                <a:lnTo>
                  <a:pt x="381000" y="76200"/>
                </a:lnTo>
                <a:close/>
              </a:path>
              <a:path w="1485900" h="228600">
                <a:moveTo>
                  <a:pt x="1485899" y="76200"/>
                </a:moveTo>
                <a:lnTo>
                  <a:pt x="381000" y="76200"/>
                </a:lnTo>
                <a:lnTo>
                  <a:pt x="381000" y="152400"/>
                </a:lnTo>
                <a:lnTo>
                  <a:pt x="1485899" y="152400"/>
                </a:lnTo>
                <a:lnTo>
                  <a:pt x="1485899" y="7620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230111" y="4515611"/>
            <a:ext cx="1485900" cy="228600"/>
          </a:xfrm>
          <a:custGeom>
            <a:avLst/>
            <a:gdLst/>
            <a:ahLst/>
            <a:cxnLst/>
            <a:rect l="l" t="t" r="r" b="b"/>
            <a:pathLst>
              <a:path w="1485900" h="228600">
                <a:moveTo>
                  <a:pt x="380999" y="0"/>
                </a:moveTo>
                <a:lnTo>
                  <a:pt x="0" y="114300"/>
                </a:lnTo>
                <a:lnTo>
                  <a:pt x="380999" y="228600"/>
                </a:lnTo>
                <a:lnTo>
                  <a:pt x="380999" y="152400"/>
                </a:lnTo>
                <a:lnTo>
                  <a:pt x="342899" y="152400"/>
                </a:lnTo>
                <a:lnTo>
                  <a:pt x="342899" y="76200"/>
                </a:lnTo>
                <a:lnTo>
                  <a:pt x="380999" y="76200"/>
                </a:lnTo>
                <a:lnTo>
                  <a:pt x="380999" y="0"/>
                </a:lnTo>
                <a:close/>
              </a:path>
              <a:path w="1485900" h="228600">
                <a:moveTo>
                  <a:pt x="380999" y="76200"/>
                </a:moveTo>
                <a:lnTo>
                  <a:pt x="342899" y="76200"/>
                </a:lnTo>
                <a:lnTo>
                  <a:pt x="342899" y="152400"/>
                </a:lnTo>
                <a:lnTo>
                  <a:pt x="380999" y="152400"/>
                </a:lnTo>
                <a:lnTo>
                  <a:pt x="380999" y="76200"/>
                </a:lnTo>
                <a:close/>
              </a:path>
              <a:path w="1485900" h="228600">
                <a:moveTo>
                  <a:pt x="1485899" y="76200"/>
                </a:moveTo>
                <a:lnTo>
                  <a:pt x="380999" y="76200"/>
                </a:lnTo>
                <a:lnTo>
                  <a:pt x="380999" y="152400"/>
                </a:lnTo>
                <a:lnTo>
                  <a:pt x="1485899" y="152400"/>
                </a:lnTo>
                <a:lnTo>
                  <a:pt x="1485899" y="7620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268211" y="5658611"/>
            <a:ext cx="1485900" cy="228600"/>
          </a:xfrm>
          <a:custGeom>
            <a:avLst/>
            <a:gdLst/>
            <a:ahLst/>
            <a:cxnLst/>
            <a:rect l="l" t="t" r="r" b="b"/>
            <a:pathLst>
              <a:path w="1485900" h="228600">
                <a:moveTo>
                  <a:pt x="380999" y="0"/>
                </a:moveTo>
                <a:lnTo>
                  <a:pt x="0" y="114300"/>
                </a:lnTo>
                <a:lnTo>
                  <a:pt x="380999" y="228600"/>
                </a:lnTo>
                <a:lnTo>
                  <a:pt x="380999" y="152400"/>
                </a:lnTo>
                <a:lnTo>
                  <a:pt x="342899" y="152400"/>
                </a:lnTo>
                <a:lnTo>
                  <a:pt x="342899" y="76200"/>
                </a:lnTo>
                <a:lnTo>
                  <a:pt x="380999" y="76200"/>
                </a:lnTo>
                <a:lnTo>
                  <a:pt x="380999" y="0"/>
                </a:lnTo>
                <a:close/>
              </a:path>
              <a:path w="1485900" h="228600">
                <a:moveTo>
                  <a:pt x="380999" y="76200"/>
                </a:moveTo>
                <a:lnTo>
                  <a:pt x="342899" y="76200"/>
                </a:lnTo>
                <a:lnTo>
                  <a:pt x="342899" y="152400"/>
                </a:lnTo>
                <a:lnTo>
                  <a:pt x="380999" y="152400"/>
                </a:lnTo>
                <a:lnTo>
                  <a:pt x="380999" y="76200"/>
                </a:lnTo>
                <a:close/>
              </a:path>
              <a:path w="1485900" h="228600">
                <a:moveTo>
                  <a:pt x="1485899" y="76200"/>
                </a:moveTo>
                <a:lnTo>
                  <a:pt x="380999" y="76200"/>
                </a:lnTo>
                <a:lnTo>
                  <a:pt x="380999" y="152400"/>
                </a:lnTo>
                <a:lnTo>
                  <a:pt x="1485899" y="152400"/>
                </a:lnTo>
                <a:lnTo>
                  <a:pt x="1485899" y="7620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247" y="26923"/>
            <a:ext cx="34855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05783" y="26923"/>
            <a:ext cx="46183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  <a:tab pos="192341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52625" y="2538602"/>
            <a:ext cx="2752725" cy="0"/>
          </a:xfrm>
          <a:custGeom>
            <a:avLst/>
            <a:gdLst/>
            <a:ahLst/>
            <a:cxnLst/>
            <a:rect l="l" t="t" r="r" b="b"/>
            <a:pathLst>
              <a:path w="2752725" h="0">
                <a:moveTo>
                  <a:pt x="0" y="0"/>
                </a:moveTo>
                <a:lnTo>
                  <a:pt x="2752598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52625" y="3119882"/>
            <a:ext cx="2752725" cy="0"/>
          </a:xfrm>
          <a:custGeom>
            <a:avLst/>
            <a:gdLst/>
            <a:ahLst/>
            <a:cxnLst/>
            <a:rect l="l" t="t" r="r" b="b"/>
            <a:pathLst>
              <a:path w="2752725" h="0">
                <a:moveTo>
                  <a:pt x="0" y="0"/>
                </a:moveTo>
                <a:lnTo>
                  <a:pt x="2752598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52625" y="3701160"/>
            <a:ext cx="2752725" cy="0"/>
          </a:xfrm>
          <a:custGeom>
            <a:avLst/>
            <a:gdLst/>
            <a:ahLst/>
            <a:cxnLst/>
            <a:rect l="l" t="t" r="r" b="b"/>
            <a:pathLst>
              <a:path w="2752725" h="0">
                <a:moveTo>
                  <a:pt x="0" y="0"/>
                </a:moveTo>
                <a:lnTo>
                  <a:pt x="2752598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452625" y="4282440"/>
            <a:ext cx="2752725" cy="0"/>
          </a:xfrm>
          <a:custGeom>
            <a:avLst/>
            <a:gdLst/>
            <a:ahLst/>
            <a:cxnLst/>
            <a:rect l="l" t="t" r="r" b="b"/>
            <a:pathLst>
              <a:path w="2752725" h="0">
                <a:moveTo>
                  <a:pt x="0" y="0"/>
                </a:moveTo>
                <a:lnTo>
                  <a:pt x="2752598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452625" y="4863719"/>
            <a:ext cx="2752725" cy="0"/>
          </a:xfrm>
          <a:custGeom>
            <a:avLst/>
            <a:gdLst/>
            <a:ahLst/>
            <a:cxnLst/>
            <a:rect l="l" t="t" r="r" b="b"/>
            <a:pathLst>
              <a:path w="2752725" h="0">
                <a:moveTo>
                  <a:pt x="0" y="0"/>
                </a:moveTo>
                <a:lnTo>
                  <a:pt x="2752598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452625" y="5444997"/>
            <a:ext cx="2752725" cy="0"/>
          </a:xfrm>
          <a:custGeom>
            <a:avLst/>
            <a:gdLst/>
            <a:ahLst/>
            <a:cxnLst/>
            <a:rect l="l" t="t" r="r" b="b"/>
            <a:pathLst>
              <a:path w="2752725" h="0">
                <a:moveTo>
                  <a:pt x="0" y="0"/>
                </a:moveTo>
                <a:lnTo>
                  <a:pt x="2752598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466850" y="1943100"/>
            <a:ext cx="0" cy="4097654"/>
          </a:xfrm>
          <a:custGeom>
            <a:avLst/>
            <a:gdLst/>
            <a:ahLst/>
            <a:cxnLst/>
            <a:rect l="l" t="t" r="r" b="b"/>
            <a:pathLst>
              <a:path w="0" h="4097654">
                <a:moveTo>
                  <a:pt x="0" y="0"/>
                </a:moveTo>
                <a:lnTo>
                  <a:pt x="0" y="4097401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191000" y="1943100"/>
            <a:ext cx="0" cy="4097654"/>
          </a:xfrm>
          <a:custGeom>
            <a:avLst/>
            <a:gdLst/>
            <a:ahLst/>
            <a:cxnLst/>
            <a:rect l="l" t="t" r="r" b="b"/>
            <a:pathLst>
              <a:path w="0" h="4097654">
                <a:moveTo>
                  <a:pt x="0" y="0"/>
                </a:moveTo>
                <a:lnTo>
                  <a:pt x="0" y="4097401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52625" y="1957451"/>
            <a:ext cx="2752725" cy="0"/>
          </a:xfrm>
          <a:custGeom>
            <a:avLst/>
            <a:gdLst/>
            <a:ahLst/>
            <a:cxnLst/>
            <a:rect l="l" t="t" r="r" b="b"/>
            <a:pathLst>
              <a:path w="2752725" h="0">
                <a:moveTo>
                  <a:pt x="0" y="0"/>
                </a:moveTo>
                <a:lnTo>
                  <a:pt x="2752598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452625" y="6026213"/>
            <a:ext cx="2752725" cy="0"/>
          </a:xfrm>
          <a:custGeom>
            <a:avLst/>
            <a:gdLst/>
            <a:ahLst/>
            <a:cxnLst/>
            <a:rect l="l" t="t" r="r" b="b"/>
            <a:pathLst>
              <a:path w="2752725" h="0">
                <a:moveTo>
                  <a:pt x="0" y="0"/>
                </a:moveTo>
                <a:lnTo>
                  <a:pt x="2752598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613405" y="2015439"/>
            <a:ext cx="43307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5" b="1">
                <a:solidFill>
                  <a:srgbClr val="FFFF00"/>
                </a:solidFill>
                <a:latin typeface="Arial"/>
                <a:cs typeface="Arial"/>
              </a:rPr>
              <a:t>…</a:t>
            </a:r>
            <a:endParaRPr sz="3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58492" y="2595752"/>
            <a:ext cx="214757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11505" algn="l"/>
                <a:tab pos="1220470" algn="l"/>
                <a:tab pos="1953895" algn="l"/>
              </a:tabLst>
            </a:pPr>
            <a:r>
              <a:rPr dirty="0" sz="3200" b="1">
                <a:solidFill>
                  <a:srgbClr val="FFFF00"/>
                </a:solidFill>
                <a:latin typeface="Arial"/>
                <a:cs typeface="Arial"/>
              </a:rPr>
              <a:t>*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a,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b,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13405" y="3178251"/>
            <a:ext cx="43307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5" b="1">
                <a:solidFill>
                  <a:srgbClr val="FFFF00"/>
                </a:solidFill>
                <a:latin typeface="Arial"/>
                <a:cs typeface="Arial"/>
              </a:rPr>
              <a:t>…</a:t>
            </a:r>
            <a:endParaRPr sz="3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71269" y="3758565"/>
            <a:ext cx="211899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58190" algn="l"/>
                <a:tab pos="1471295" algn="l"/>
                <a:tab pos="1878964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j,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48408" y="4249648"/>
            <a:ext cx="2118995" cy="1185545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algn="ctr" marL="43180">
              <a:lnSpc>
                <a:spcPct val="100000"/>
              </a:lnSpc>
              <a:spcBef>
                <a:spcPts val="825"/>
              </a:spcBef>
            </a:pPr>
            <a:r>
              <a:rPr dirty="0" sz="3200" b="1">
                <a:solidFill>
                  <a:srgbClr val="FFFF00"/>
                </a:solidFill>
                <a:latin typeface="Arial"/>
                <a:cs typeface="Arial"/>
              </a:rPr>
              <a:t>…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25"/>
              </a:spcBef>
              <a:tabLst>
                <a:tab pos="746760" algn="l"/>
                <a:tab pos="1459865" algn="l"/>
                <a:tab pos="1866900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j,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13405" y="5504179"/>
            <a:ext cx="432434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00"/>
                </a:solidFill>
                <a:latin typeface="Arial"/>
                <a:cs typeface="Arial"/>
              </a:rPr>
              <a:t>…</a:t>
            </a:r>
            <a:endParaRPr sz="3200">
              <a:latin typeface="Arial"/>
              <a:cs typeface="Arial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783742" y="2100985"/>
          <a:ext cx="678180" cy="3343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545"/>
              </a:tblGrid>
              <a:tr h="459715">
                <a:tc>
                  <a:txBody>
                    <a:bodyPr/>
                    <a:lstStyle/>
                    <a:p>
                      <a:pPr marL="127000">
                        <a:lnSpc>
                          <a:spcPts val="2620"/>
                        </a:lnSpc>
                      </a:pP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q-1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921542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265"/>
                </a:tc>
              </a:tr>
              <a:tr h="12123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  <a:p>
                      <a:pPr marL="200025">
                        <a:lnSpc>
                          <a:spcPct val="100000"/>
                        </a:lnSpc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k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"/>
                </a:tc>
              </a:tr>
              <a:tr h="7501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163195">
                        <a:lnSpc>
                          <a:spcPts val="2820"/>
                        </a:lnSpc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/>
                </a:tc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1545716" y="1450289"/>
            <a:ext cx="11709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Code</a:t>
            </a:r>
            <a:r>
              <a:rPr dirty="0" sz="2800" spc="-15" b="1">
                <a:solidFill>
                  <a:srgbClr val="00FFFF"/>
                </a:solidFill>
                <a:latin typeface="宋体"/>
                <a:cs typeface="宋体"/>
              </a:rPr>
              <a:t>区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092820" y="2484247"/>
            <a:ext cx="2228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116829" y="2426970"/>
            <a:ext cx="3619500" cy="0"/>
          </a:xfrm>
          <a:custGeom>
            <a:avLst/>
            <a:gdLst/>
            <a:ahLst/>
            <a:cxnLst/>
            <a:rect l="l" t="t" r="r" b="b"/>
            <a:pathLst>
              <a:path w="3619500" h="0">
                <a:moveTo>
                  <a:pt x="0" y="0"/>
                </a:moveTo>
                <a:lnTo>
                  <a:pt x="3619500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116829" y="2945129"/>
            <a:ext cx="3619500" cy="0"/>
          </a:xfrm>
          <a:custGeom>
            <a:avLst/>
            <a:gdLst/>
            <a:ahLst/>
            <a:cxnLst/>
            <a:rect l="l" t="t" r="r" b="b"/>
            <a:pathLst>
              <a:path w="3619500" h="0">
                <a:moveTo>
                  <a:pt x="0" y="0"/>
                </a:moveTo>
                <a:lnTo>
                  <a:pt x="3619500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116829" y="2426970"/>
            <a:ext cx="0" cy="518159"/>
          </a:xfrm>
          <a:custGeom>
            <a:avLst/>
            <a:gdLst/>
            <a:ahLst/>
            <a:cxnLst/>
            <a:rect l="l" t="t" r="r" b="b"/>
            <a:pathLst>
              <a:path w="0" h="518160">
                <a:moveTo>
                  <a:pt x="0" y="0"/>
                </a:moveTo>
                <a:lnTo>
                  <a:pt x="0" y="518159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323076" y="2426207"/>
            <a:ext cx="0" cy="518159"/>
          </a:xfrm>
          <a:custGeom>
            <a:avLst/>
            <a:gdLst/>
            <a:ahLst/>
            <a:cxnLst/>
            <a:rect l="l" t="t" r="r" b="b"/>
            <a:pathLst>
              <a:path w="0" h="518160">
                <a:moveTo>
                  <a:pt x="0" y="0"/>
                </a:moveTo>
                <a:lnTo>
                  <a:pt x="0" y="51815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670292" y="2426207"/>
            <a:ext cx="0" cy="518159"/>
          </a:xfrm>
          <a:custGeom>
            <a:avLst/>
            <a:gdLst/>
            <a:ahLst/>
            <a:cxnLst/>
            <a:rect l="l" t="t" r="r" b="b"/>
            <a:pathLst>
              <a:path w="0" h="518160">
                <a:moveTo>
                  <a:pt x="0" y="0"/>
                </a:moveTo>
                <a:lnTo>
                  <a:pt x="0" y="51815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736330" y="2426970"/>
            <a:ext cx="0" cy="518159"/>
          </a:xfrm>
          <a:custGeom>
            <a:avLst/>
            <a:gdLst/>
            <a:ahLst/>
            <a:cxnLst/>
            <a:rect l="l" t="t" r="r" b="b"/>
            <a:pathLst>
              <a:path w="0" h="518160">
                <a:moveTo>
                  <a:pt x="0" y="0"/>
                </a:moveTo>
                <a:lnTo>
                  <a:pt x="0" y="518159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284470" y="1935225"/>
            <a:ext cx="4540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65" b="1">
                <a:solidFill>
                  <a:srgbClr val="00FFFF"/>
                </a:solidFill>
                <a:latin typeface="Times New Roman"/>
                <a:cs typeface="Times New Roman"/>
              </a:rPr>
              <a:t>LT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478773" y="2966466"/>
            <a:ext cx="0" cy="2204085"/>
          </a:xfrm>
          <a:custGeom>
            <a:avLst/>
            <a:gdLst/>
            <a:ahLst/>
            <a:cxnLst/>
            <a:rect l="l" t="t" r="r" b="b"/>
            <a:pathLst>
              <a:path w="0" h="2204085">
                <a:moveTo>
                  <a:pt x="0" y="0"/>
                </a:moveTo>
                <a:lnTo>
                  <a:pt x="0" y="220370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191761" y="5113020"/>
            <a:ext cx="4287520" cy="114300"/>
          </a:xfrm>
          <a:custGeom>
            <a:avLst/>
            <a:gdLst/>
            <a:ahLst/>
            <a:cxnLst/>
            <a:rect l="l" t="t" r="r" b="b"/>
            <a:pathLst>
              <a:path w="4287520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4287520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4287520" h="114300">
                <a:moveTo>
                  <a:pt x="4287012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4287012" y="76199"/>
                </a:lnTo>
                <a:lnTo>
                  <a:pt x="4287012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356352" y="4643704"/>
            <a:ext cx="12414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goto</a:t>
            </a:r>
            <a:r>
              <a:rPr dirty="0" sz="2800" spc="-8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20;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963661" y="2940557"/>
            <a:ext cx="0" cy="1143000"/>
          </a:xfrm>
          <a:custGeom>
            <a:avLst/>
            <a:gdLst/>
            <a:ahLst/>
            <a:cxnLst/>
            <a:rect l="l" t="t" r="r" b="b"/>
            <a:pathLst>
              <a:path w="0" h="1143000">
                <a:moveTo>
                  <a:pt x="0" y="0"/>
                </a:moveTo>
                <a:lnTo>
                  <a:pt x="0" y="114299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191761" y="4026408"/>
            <a:ext cx="3771900" cy="114300"/>
          </a:xfrm>
          <a:custGeom>
            <a:avLst/>
            <a:gdLst/>
            <a:ahLst/>
            <a:cxnLst/>
            <a:rect l="l" t="t" r="r" b="b"/>
            <a:pathLst>
              <a:path w="37719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37719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3771900" h="114300">
                <a:moveTo>
                  <a:pt x="3771899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3771899" y="76200"/>
                </a:lnTo>
                <a:lnTo>
                  <a:pt x="3771899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5356352" y="2436774"/>
            <a:ext cx="1742439" cy="162877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5420">
              <a:lnSpc>
                <a:spcPct val="100000"/>
              </a:lnSpc>
              <a:spcBef>
                <a:spcPts val="470"/>
              </a:spcBef>
              <a:tabLst>
                <a:tab pos="1551940" algn="l"/>
              </a:tabLst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  <a:tabLst>
                <a:tab pos="664845" algn="l"/>
              </a:tabLst>
            </a:pP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20:	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c=a*b;</a:t>
            </a:r>
            <a:endParaRPr sz="2800">
              <a:latin typeface="Times New Roman"/>
              <a:cs typeface="Times New Roman"/>
            </a:endParaRPr>
          </a:p>
          <a:p>
            <a:pPr marL="23495">
              <a:lnSpc>
                <a:spcPct val="100000"/>
              </a:lnSpc>
              <a:spcBef>
                <a:spcPts val="1805"/>
              </a:spcBef>
            </a:pP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goto</a:t>
            </a:r>
            <a:r>
              <a:rPr dirty="0" sz="2800" spc="-3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20;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30173" y="2558033"/>
            <a:ext cx="4000500" cy="579120"/>
          </a:xfrm>
          <a:custGeom>
            <a:avLst/>
            <a:gdLst/>
            <a:ahLst/>
            <a:cxnLst/>
            <a:rect l="l" t="t" r="r" b="b"/>
            <a:pathLst>
              <a:path w="4000500" h="579119">
                <a:moveTo>
                  <a:pt x="0" y="289560"/>
                </a:moveTo>
                <a:lnTo>
                  <a:pt x="22697" y="245803"/>
                </a:lnTo>
                <a:lnTo>
                  <a:pt x="68240" y="214304"/>
                </a:lnTo>
                <a:lnTo>
                  <a:pt x="111407" y="194046"/>
                </a:lnTo>
                <a:lnTo>
                  <a:pt x="164333" y="174450"/>
                </a:lnTo>
                <a:lnTo>
                  <a:pt x="226605" y="155576"/>
                </a:lnTo>
                <a:lnTo>
                  <a:pt x="297807" y="137485"/>
                </a:lnTo>
                <a:lnTo>
                  <a:pt x="336627" y="128752"/>
                </a:lnTo>
                <a:lnTo>
                  <a:pt x="377525" y="120237"/>
                </a:lnTo>
                <a:lnTo>
                  <a:pt x="420448" y="111947"/>
                </a:lnTo>
                <a:lnTo>
                  <a:pt x="465345" y="103891"/>
                </a:lnTo>
                <a:lnTo>
                  <a:pt x="512164" y="96075"/>
                </a:lnTo>
                <a:lnTo>
                  <a:pt x="560853" y="88508"/>
                </a:lnTo>
                <a:lnTo>
                  <a:pt x="611360" y="81196"/>
                </a:lnTo>
                <a:lnTo>
                  <a:pt x="663633" y="74148"/>
                </a:lnTo>
                <a:lnTo>
                  <a:pt x="717621" y="67370"/>
                </a:lnTo>
                <a:lnTo>
                  <a:pt x="773272" y="60870"/>
                </a:lnTo>
                <a:lnTo>
                  <a:pt x="830533" y="54656"/>
                </a:lnTo>
                <a:lnTo>
                  <a:pt x="889354" y="48735"/>
                </a:lnTo>
                <a:lnTo>
                  <a:pt x="949682" y="43115"/>
                </a:lnTo>
                <a:lnTo>
                  <a:pt x="1011465" y="37803"/>
                </a:lnTo>
                <a:lnTo>
                  <a:pt x="1074653" y="32807"/>
                </a:lnTo>
                <a:lnTo>
                  <a:pt x="1139192" y="28134"/>
                </a:lnTo>
                <a:lnTo>
                  <a:pt x="1205031" y="23791"/>
                </a:lnTo>
                <a:lnTo>
                  <a:pt x="1272119" y="19787"/>
                </a:lnTo>
                <a:lnTo>
                  <a:pt x="1340402" y="16129"/>
                </a:lnTo>
                <a:lnTo>
                  <a:pt x="1409831" y="12824"/>
                </a:lnTo>
                <a:lnTo>
                  <a:pt x="1480352" y="9879"/>
                </a:lnTo>
                <a:lnTo>
                  <a:pt x="1551915" y="7303"/>
                </a:lnTo>
                <a:lnTo>
                  <a:pt x="1624467" y="5103"/>
                </a:lnTo>
                <a:lnTo>
                  <a:pt x="1697956" y="3286"/>
                </a:lnTo>
                <a:lnTo>
                  <a:pt x="1772330" y="1859"/>
                </a:lnTo>
                <a:lnTo>
                  <a:pt x="1847539" y="831"/>
                </a:lnTo>
                <a:lnTo>
                  <a:pt x="1923529" y="209"/>
                </a:lnTo>
                <a:lnTo>
                  <a:pt x="2000250" y="0"/>
                </a:lnTo>
                <a:lnTo>
                  <a:pt x="2076970" y="209"/>
                </a:lnTo>
                <a:lnTo>
                  <a:pt x="2152960" y="831"/>
                </a:lnTo>
                <a:lnTo>
                  <a:pt x="2228169" y="1859"/>
                </a:lnTo>
                <a:lnTo>
                  <a:pt x="2302543" y="3286"/>
                </a:lnTo>
                <a:lnTo>
                  <a:pt x="2376032" y="5103"/>
                </a:lnTo>
                <a:lnTo>
                  <a:pt x="2448584" y="7303"/>
                </a:lnTo>
                <a:lnTo>
                  <a:pt x="2520147" y="9879"/>
                </a:lnTo>
                <a:lnTo>
                  <a:pt x="2590668" y="12824"/>
                </a:lnTo>
                <a:lnTo>
                  <a:pt x="2660097" y="16129"/>
                </a:lnTo>
                <a:lnTo>
                  <a:pt x="2728380" y="19787"/>
                </a:lnTo>
                <a:lnTo>
                  <a:pt x="2795468" y="23791"/>
                </a:lnTo>
                <a:lnTo>
                  <a:pt x="2861307" y="28134"/>
                </a:lnTo>
                <a:lnTo>
                  <a:pt x="2925846" y="32807"/>
                </a:lnTo>
                <a:lnTo>
                  <a:pt x="2989034" y="37803"/>
                </a:lnTo>
                <a:lnTo>
                  <a:pt x="3050817" y="43115"/>
                </a:lnTo>
                <a:lnTo>
                  <a:pt x="3111145" y="48735"/>
                </a:lnTo>
                <a:lnTo>
                  <a:pt x="3169966" y="54656"/>
                </a:lnTo>
                <a:lnTo>
                  <a:pt x="3227227" y="60870"/>
                </a:lnTo>
                <a:lnTo>
                  <a:pt x="3282878" y="67370"/>
                </a:lnTo>
                <a:lnTo>
                  <a:pt x="3336866" y="74148"/>
                </a:lnTo>
                <a:lnTo>
                  <a:pt x="3389139" y="81196"/>
                </a:lnTo>
                <a:lnTo>
                  <a:pt x="3439646" y="88508"/>
                </a:lnTo>
                <a:lnTo>
                  <a:pt x="3488335" y="96075"/>
                </a:lnTo>
                <a:lnTo>
                  <a:pt x="3535154" y="103891"/>
                </a:lnTo>
                <a:lnTo>
                  <a:pt x="3580051" y="111947"/>
                </a:lnTo>
                <a:lnTo>
                  <a:pt x="3622974" y="120237"/>
                </a:lnTo>
                <a:lnTo>
                  <a:pt x="3663872" y="128752"/>
                </a:lnTo>
                <a:lnTo>
                  <a:pt x="3702692" y="137485"/>
                </a:lnTo>
                <a:lnTo>
                  <a:pt x="3773894" y="155576"/>
                </a:lnTo>
                <a:lnTo>
                  <a:pt x="3836166" y="174450"/>
                </a:lnTo>
                <a:lnTo>
                  <a:pt x="3889092" y="194046"/>
                </a:lnTo>
                <a:lnTo>
                  <a:pt x="3932259" y="214304"/>
                </a:lnTo>
                <a:lnTo>
                  <a:pt x="3965251" y="235165"/>
                </a:lnTo>
                <a:lnTo>
                  <a:pt x="3994756" y="267455"/>
                </a:lnTo>
                <a:lnTo>
                  <a:pt x="4000500" y="289560"/>
                </a:lnTo>
                <a:lnTo>
                  <a:pt x="3999055" y="300665"/>
                </a:lnTo>
                <a:lnTo>
                  <a:pt x="3977802" y="333316"/>
                </a:lnTo>
                <a:lnTo>
                  <a:pt x="3932259" y="364815"/>
                </a:lnTo>
                <a:lnTo>
                  <a:pt x="3889092" y="385073"/>
                </a:lnTo>
                <a:lnTo>
                  <a:pt x="3836166" y="404669"/>
                </a:lnTo>
                <a:lnTo>
                  <a:pt x="3773894" y="423543"/>
                </a:lnTo>
                <a:lnTo>
                  <a:pt x="3702692" y="441634"/>
                </a:lnTo>
                <a:lnTo>
                  <a:pt x="3663872" y="450367"/>
                </a:lnTo>
                <a:lnTo>
                  <a:pt x="3622974" y="458882"/>
                </a:lnTo>
                <a:lnTo>
                  <a:pt x="3580051" y="467172"/>
                </a:lnTo>
                <a:lnTo>
                  <a:pt x="3535154" y="475228"/>
                </a:lnTo>
                <a:lnTo>
                  <a:pt x="3488335" y="483044"/>
                </a:lnTo>
                <a:lnTo>
                  <a:pt x="3439646" y="490611"/>
                </a:lnTo>
                <a:lnTo>
                  <a:pt x="3389139" y="497923"/>
                </a:lnTo>
                <a:lnTo>
                  <a:pt x="3336866" y="504971"/>
                </a:lnTo>
                <a:lnTo>
                  <a:pt x="3282878" y="511749"/>
                </a:lnTo>
                <a:lnTo>
                  <a:pt x="3227227" y="518249"/>
                </a:lnTo>
                <a:lnTo>
                  <a:pt x="3169966" y="524463"/>
                </a:lnTo>
                <a:lnTo>
                  <a:pt x="3111145" y="530384"/>
                </a:lnTo>
                <a:lnTo>
                  <a:pt x="3050817" y="536004"/>
                </a:lnTo>
                <a:lnTo>
                  <a:pt x="2989034" y="541316"/>
                </a:lnTo>
                <a:lnTo>
                  <a:pt x="2925846" y="546312"/>
                </a:lnTo>
                <a:lnTo>
                  <a:pt x="2861307" y="550985"/>
                </a:lnTo>
                <a:lnTo>
                  <a:pt x="2795468" y="555328"/>
                </a:lnTo>
                <a:lnTo>
                  <a:pt x="2728380" y="559332"/>
                </a:lnTo>
                <a:lnTo>
                  <a:pt x="2660097" y="562990"/>
                </a:lnTo>
                <a:lnTo>
                  <a:pt x="2590668" y="566295"/>
                </a:lnTo>
                <a:lnTo>
                  <a:pt x="2520147" y="569240"/>
                </a:lnTo>
                <a:lnTo>
                  <a:pt x="2448584" y="571816"/>
                </a:lnTo>
                <a:lnTo>
                  <a:pt x="2376032" y="574016"/>
                </a:lnTo>
                <a:lnTo>
                  <a:pt x="2302543" y="575833"/>
                </a:lnTo>
                <a:lnTo>
                  <a:pt x="2228169" y="577260"/>
                </a:lnTo>
                <a:lnTo>
                  <a:pt x="2152960" y="578288"/>
                </a:lnTo>
                <a:lnTo>
                  <a:pt x="2076970" y="578910"/>
                </a:lnTo>
                <a:lnTo>
                  <a:pt x="2000250" y="579119"/>
                </a:lnTo>
                <a:lnTo>
                  <a:pt x="1923529" y="578910"/>
                </a:lnTo>
                <a:lnTo>
                  <a:pt x="1847539" y="578288"/>
                </a:lnTo>
                <a:lnTo>
                  <a:pt x="1772330" y="577260"/>
                </a:lnTo>
                <a:lnTo>
                  <a:pt x="1697956" y="575833"/>
                </a:lnTo>
                <a:lnTo>
                  <a:pt x="1624467" y="574016"/>
                </a:lnTo>
                <a:lnTo>
                  <a:pt x="1551915" y="571816"/>
                </a:lnTo>
                <a:lnTo>
                  <a:pt x="1480352" y="569240"/>
                </a:lnTo>
                <a:lnTo>
                  <a:pt x="1409831" y="566295"/>
                </a:lnTo>
                <a:lnTo>
                  <a:pt x="1340402" y="562990"/>
                </a:lnTo>
                <a:lnTo>
                  <a:pt x="1272119" y="559332"/>
                </a:lnTo>
                <a:lnTo>
                  <a:pt x="1205031" y="555328"/>
                </a:lnTo>
                <a:lnTo>
                  <a:pt x="1139192" y="550985"/>
                </a:lnTo>
                <a:lnTo>
                  <a:pt x="1074653" y="546312"/>
                </a:lnTo>
                <a:lnTo>
                  <a:pt x="1011465" y="541316"/>
                </a:lnTo>
                <a:lnTo>
                  <a:pt x="949682" y="536004"/>
                </a:lnTo>
                <a:lnTo>
                  <a:pt x="889354" y="530384"/>
                </a:lnTo>
                <a:lnTo>
                  <a:pt x="830533" y="524463"/>
                </a:lnTo>
                <a:lnTo>
                  <a:pt x="773272" y="518249"/>
                </a:lnTo>
                <a:lnTo>
                  <a:pt x="717621" y="511749"/>
                </a:lnTo>
                <a:lnTo>
                  <a:pt x="663633" y="504971"/>
                </a:lnTo>
                <a:lnTo>
                  <a:pt x="611360" y="497923"/>
                </a:lnTo>
                <a:lnTo>
                  <a:pt x="560853" y="490611"/>
                </a:lnTo>
                <a:lnTo>
                  <a:pt x="512164" y="483044"/>
                </a:lnTo>
                <a:lnTo>
                  <a:pt x="465345" y="475228"/>
                </a:lnTo>
                <a:lnTo>
                  <a:pt x="420448" y="467172"/>
                </a:lnTo>
                <a:lnTo>
                  <a:pt x="377525" y="458882"/>
                </a:lnTo>
                <a:lnTo>
                  <a:pt x="336627" y="450367"/>
                </a:lnTo>
                <a:lnTo>
                  <a:pt x="297807" y="441634"/>
                </a:lnTo>
                <a:lnTo>
                  <a:pt x="226605" y="423543"/>
                </a:lnTo>
                <a:lnTo>
                  <a:pt x="164333" y="404669"/>
                </a:lnTo>
                <a:lnTo>
                  <a:pt x="111407" y="385073"/>
                </a:lnTo>
                <a:lnTo>
                  <a:pt x="68240" y="364815"/>
                </a:lnTo>
                <a:lnTo>
                  <a:pt x="35248" y="343954"/>
                </a:lnTo>
                <a:lnTo>
                  <a:pt x="5743" y="311664"/>
                </a:lnTo>
                <a:lnTo>
                  <a:pt x="0" y="289560"/>
                </a:lnTo>
                <a:close/>
              </a:path>
            </a:pathLst>
          </a:custGeom>
          <a:ln w="38099">
            <a:solidFill>
              <a:srgbClr val="FF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77773" y="3784853"/>
            <a:ext cx="4000500" cy="581025"/>
          </a:xfrm>
          <a:custGeom>
            <a:avLst/>
            <a:gdLst/>
            <a:ahLst/>
            <a:cxnLst/>
            <a:rect l="l" t="t" r="r" b="b"/>
            <a:pathLst>
              <a:path w="4000500" h="581025">
                <a:moveTo>
                  <a:pt x="0" y="290322"/>
                </a:moveTo>
                <a:lnTo>
                  <a:pt x="22697" y="246430"/>
                </a:lnTo>
                <a:lnTo>
                  <a:pt x="68240" y="214838"/>
                </a:lnTo>
                <a:lnTo>
                  <a:pt x="111407" y="194522"/>
                </a:lnTo>
                <a:lnTo>
                  <a:pt x="164333" y="174872"/>
                </a:lnTo>
                <a:lnTo>
                  <a:pt x="226605" y="155947"/>
                </a:lnTo>
                <a:lnTo>
                  <a:pt x="297807" y="137808"/>
                </a:lnTo>
                <a:lnTo>
                  <a:pt x="336627" y="129052"/>
                </a:lnTo>
                <a:lnTo>
                  <a:pt x="377525" y="120515"/>
                </a:lnTo>
                <a:lnTo>
                  <a:pt x="420448" y="112205"/>
                </a:lnTo>
                <a:lnTo>
                  <a:pt x="465345" y="104128"/>
                </a:lnTo>
                <a:lnTo>
                  <a:pt x="512164" y="96293"/>
                </a:lnTo>
                <a:lnTo>
                  <a:pt x="560853" y="88707"/>
                </a:lnTo>
                <a:lnTo>
                  <a:pt x="611360" y="81378"/>
                </a:lnTo>
                <a:lnTo>
                  <a:pt x="663633" y="74312"/>
                </a:lnTo>
                <a:lnTo>
                  <a:pt x="717621" y="67518"/>
                </a:lnTo>
                <a:lnTo>
                  <a:pt x="773272" y="61003"/>
                </a:lnTo>
                <a:lnTo>
                  <a:pt x="830533" y="54775"/>
                </a:lnTo>
                <a:lnTo>
                  <a:pt x="889354" y="48840"/>
                </a:lnTo>
                <a:lnTo>
                  <a:pt x="949682" y="43208"/>
                </a:lnTo>
                <a:lnTo>
                  <a:pt x="1011465" y="37884"/>
                </a:lnTo>
                <a:lnTo>
                  <a:pt x="1074653" y="32876"/>
                </a:lnTo>
                <a:lnTo>
                  <a:pt x="1139192" y="28193"/>
                </a:lnTo>
                <a:lnTo>
                  <a:pt x="1205031" y="23841"/>
                </a:lnTo>
                <a:lnTo>
                  <a:pt x="1272119" y="19828"/>
                </a:lnTo>
                <a:lnTo>
                  <a:pt x="1340402" y="16162"/>
                </a:lnTo>
                <a:lnTo>
                  <a:pt x="1409831" y="12850"/>
                </a:lnTo>
                <a:lnTo>
                  <a:pt x="1480352" y="9900"/>
                </a:lnTo>
                <a:lnTo>
                  <a:pt x="1551915" y="7318"/>
                </a:lnTo>
                <a:lnTo>
                  <a:pt x="1624467" y="5113"/>
                </a:lnTo>
                <a:lnTo>
                  <a:pt x="1697956" y="3292"/>
                </a:lnTo>
                <a:lnTo>
                  <a:pt x="1772330" y="1863"/>
                </a:lnTo>
                <a:lnTo>
                  <a:pt x="1847539" y="833"/>
                </a:lnTo>
                <a:lnTo>
                  <a:pt x="1923529" y="209"/>
                </a:lnTo>
                <a:lnTo>
                  <a:pt x="2000250" y="0"/>
                </a:lnTo>
                <a:lnTo>
                  <a:pt x="2076970" y="209"/>
                </a:lnTo>
                <a:lnTo>
                  <a:pt x="2152960" y="833"/>
                </a:lnTo>
                <a:lnTo>
                  <a:pt x="2228169" y="1863"/>
                </a:lnTo>
                <a:lnTo>
                  <a:pt x="2302543" y="3292"/>
                </a:lnTo>
                <a:lnTo>
                  <a:pt x="2376032" y="5113"/>
                </a:lnTo>
                <a:lnTo>
                  <a:pt x="2448584" y="7318"/>
                </a:lnTo>
                <a:lnTo>
                  <a:pt x="2520147" y="9900"/>
                </a:lnTo>
                <a:lnTo>
                  <a:pt x="2590668" y="12850"/>
                </a:lnTo>
                <a:lnTo>
                  <a:pt x="2660097" y="16162"/>
                </a:lnTo>
                <a:lnTo>
                  <a:pt x="2728380" y="19828"/>
                </a:lnTo>
                <a:lnTo>
                  <a:pt x="2795468" y="23841"/>
                </a:lnTo>
                <a:lnTo>
                  <a:pt x="2861307" y="28193"/>
                </a:lnTo>
                <a:lnTo>
                  <a:pt x="2925846" y="32876"/>
                </a:lnTo>
                <a:lnTo>
                  <a:pt x="2989034" y="37884"/>
                </a:lnTo>
                <a:lnTo>
                  <a:pt x="3050817" y="43208"/>
                </a:lnTo>
                <a:lnTo>
                  <a:pt x="3111145" y="48840"/>
                </a:lnTo>
                <a:lnTo>
                  <a:pt x="3169966" y="54775"/>
                </a:lnTo>
                <a:lnTo>
                  <a:pt x="3227227" y="61003"/>
                </a:lnTo>
                <a:lnTo>
                  <a:pt x="3282878" y="67518"/>
                </a:lnTo>
                <a:lnTo>
                  <a:pt x="3336866" y="74312"/>
                </a:lnTo>
                <a:lnTo>
                  <a:pt x="3389139" y="81378"/>
                </a:lnTo>
                <a:lnTo>
                  <a:pt x="3439646" y="88707"/>
                </a:lnTo>
                <a:lnTo>
                  <a:pt x="3488335" y="96293"/>
                </a:lnTo>
                <a:lnTo>
                  <a:pt x="3535154" y="104128"/>
                </a:lnTo>
                <a:lnTo>
                  <a:pt x="3580051" y="112205"/>
                </a:lnTo>
                <a:lnTo>
                  <a:pt x="3622974" y="120515"/>
                </a:lnTo>
                <a:lnTo>
                  <a:pt x="3663872" y="129052"/>
                </a:lnTo>
                <a:lnTo>
                  <a:pt x="3702692" y="137808"/>
                </a:lnTo>
                <a:lnTo>
                  <a:pt x="3773894" y="155947"/>
                </a:lnTo>
                <a:lnTo>
                  <a:pt x="3836166" y="174872"/>
                </a:lnTo>
                <a:lnTo>
                  <a:pt x="3889092" y="194522"/>
                </a:lnTo>
                <a:lnTo>
                  <a:pt x="3932259" y="214838"/>
                </a:lnTo>
                <a:lnTo>
                  <a:pt x="3965251" y="235760"/>
                </a:lnTo>
                <a:lnTo>
                  <a:pt x="3994756" y="268148"/>
                </a:lnTo>
                <a:lnTo>
                  <a:pt x="4000500" y="290322"/>
                </a:lnTo>
                <a:lnTo>
                  <a:pt x="3999055" y="301462"/>
                </a:lnTo>
                <a:lnTo>
                  <a:pt x="3977802" y="334213"/>
                </a:lnTo>
                <a:lnTo>
                  <a:pt x="3932259" y="365805"/>
                </a:lnTo>
                <a:lnTo>
                  <a:pt x="3889092" y="386121"/>
                </a:lnTo>
                <a:lnTo>
                  <a:pt x="3836166" y="405771"/>
                </a:lnTo>
                <a:lnTo>
                  <a:pt x="3773894" y="424696"/>
                </a:lnTo>
                <a:lnTo>
                  <a:pt x="3702692" y="442835"/>
                </a:lnTo>
                <a:lnTo>
                  <a:pt x="3663872" y="451591"/>
                </a:lnTo>
                <a:lnTo>
                  <a:pt x="3622974" y="460128"/>
                </a:lnTo>
                <a:lnTo>
                  <a:pt x="3580051" y="468438"/>
                </a:lnTo>
                <a:lnTo>
                  <a:pt x="3535154" y="476515"/>
                </a:lnTo>
                <a:lnTo>
                  <a:pt x="3488335" y="484350"/>
                </a:lnTo>
                <a:lnTo>
                  <a:pt x="3439646" y="491936"/>
                </a:lnTo>
                <a:lnTo>
                  <a:pt x="3389139" y="499265"/>
                </a:lnTo>
                <a:lnTo>
                  <a:pt x="3336866" y="506331"/>
                </a:lnTo>
                <a:lnTo>
                  <a:pt x="3282878" y="513125"/>
                </a:lnTo>
                <a:lnTo>
                  <a:pt x="3227227" y="519640"/>
                </a:lnTo>
                <a:lnTo>
                  <a:pt x="3169966" y="525868"/>
                </a:lnTo>
                <a:lnTo>
                  <a:pt x="3111145" y="531803"/>
                </a:lnTo>
                <a:lnTo>
                  <a:pt x="3050817" y="537435"/>
                </a:lnTo>
                <a:lnTo>
                  <a:pt x="2989034" y="542759"/>
                </a:lnTo>
                <a:lnTo>
                  <a:pt x="2925846" y="547767"/>
                </a:lnTo>
                <a:lnTo>
                  <a:pt x="2861307" y="552450"/>
                </a:lnTo>
                <a:lnTo>
                  <a:pt x="2795468" y="556802"/>
                </a:lnTo>
                <a:lnTo>
                  <a:pt x="2728380" y="560815"/>
                </a:lnTo>
                <a:lnTo>
                  <a:pt x="2660097" y="564481"/>
                </a:lnTo>
                <a:lnTo>
                  <a:pt x="2590668" y="567793"/>
                </a:lnTo>
                <a:lnTo>
                  <a:pt x="2520147" y="570743"/>
                </a:lnTo>
                <a:lnTo>
                  <a:pt x="2448584" y="573325"/>
                </a:lnTo>
                <a:lnTo>
                  <a:pt x="2376032" y="575530"/>
                </a:lnTo>
                <a:lnTo>
                  <a:pt x="2302543" y="577351"/>
                </a:lnTo>
                <a:lnTo>
                  <a:pt x="2228169" y="578780"/>
                </a:lnTo>
                <a:lnTo>
                  <a:pt x="2152960" y="579810"/>
                </a:lnTo>
                <a:lnTo>
                  <a:pt x="2076970" y="580434"/>
                </a:lnTo>
                <a:lnTo>
                  <a:pt x="2000250" y="580644"/>
                </a:lnTo>
                <a:lnTo>
                  <a:pt x="1923529" y="580434"/>
                </a:lnTo>
                <a:lnTo>
                  <a:pt x="1847539" y="579810"/>
                </a:lnTo>
                <a:lnTo>
                  <a:pt x="1772330" y="578780"/>
                </a:lnTo>
                <a:lnTo>
                  <a:pt x="1697956" y="577351"/>
                </a:lnTo>
                <a:lnTo>
                  <a:pt x="1624467" y="575530"/>
                </a:lnTo>
                <a:lnTo>
                  <a:pt x="1551915" y="573325"/>
                </a:lnTo>
                <a:lnTo>
                  <a:pt x="1480352" y="570743"/>
                </a:lnTo>
                <a:lnTo>
                  <a:pt x="1409831" y="567793"/>
                </a:lnTo>
                <a:lnTo>
                  <a:pt x="1340402" y="564481"/>
                </a:lnTo>
                <a:lnTo>
                  <a:pt x="1272119" y="560815"/>
                </a:lnTo>
                <a:lnTo>
                  <a:pt x="1205031" y="556802"/>
                </a:lnTo>
                <a:lnTo>
                  <a:pt x="1139192" y="552450"/>
                </a:lnTo>
                <a:lnTo>
                  <a:pt x="1074653" y="547767"/>
                </a:lnTo>
                <a:lnTo>
                  <a:pt x="1011465" y="542759"/>
                </a:lnTo>
                <a:lnTo>
                  <a:pt x="949682" y="537435"/>
                </a:lnTo>
                <a:lnTo>
                  <a:pt x="889354" y="531803"/>
                </a:lnTo>
                <a:lnTo>
                  <a:pt x="830533" y="525868"/>
                </a:lnTo>
                <a:lnTo>
                  <a:pt x="773272" y="519640"/>
                </a:lnTo>
                <a:lnTo>
                  <a:pt x="717621" y="513125"/>
                </a:lnTo>
                <a:lnTo>
                  <a:pt x="663633" y="506331"/>
                </a:lnTo>
                <a:lnTo>
                  <a:pt x="611360" y="499265"/>
                </a:lnTo>
                <a:lnTo>
                  <a:pt x="560853" y="491936"/>
                </a:lnTo>
                <a:lnTo>
                  <a:pt x="512164" y="484350"/>
                </a:lnTo>
                <a:lnTo>
                  <a:pt x="465345" y="476515"/>
                </a:lnTo>
                <a:lnTo>
                  <a:pt x="420448" y="468438"/>
                </a:lnTo>
                <a:lnTo>
                  <a:pt x="377525" y="460128"/>
                </a:lnTo>
                <a:lnTo>
                  <a:pt x="336627" y="451591"/>
                </a:lnTo>
                <a:lnTo>
                  <a:pt x="297807" y="442835"/>
                </a:lnTo>
                <a:lnTo>
                  <a:pt x="226605" y="424696"/>
                </a:lnTo>
                <a:lnTo>
                  <a:pt x="164333" y="405771"/>
                </a:lnTo>
                <a:lnTo>
                  <a:pt x="111407" y="386121"/>
                </a:lnTo>
                <a:lnTo>
                  <a:pt x="68240" y="365805"/>
                </a:lnTo>
                <a:lnTo>
                  <a:pt x="35248" y="344883"/>
                </a:lnTo>
                <a:lnTo>
                  <a:pt x="5743" y="312495"/>
                </a:lnTo>
                <a:lnTo>
                  <a:pt x="0" y="290322"/>
                </a:lnTo>
                <a:close/>
              </a:path>
            </a:pathLst>
          </a:custGeom>
          <a:ln w="38099">
            <a:solidFill>
              <a:srgbClr val="FF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96062" y="4976621"/>
            <a:ext cx="4000500" cy="579120"/>
          </a:xfrm>
          <a:custGeom>
            <a:avLst/>
            <a:gdLst/>
            <a:ahLst/>
            <a:cxnLst/>
            <a:rect l="l" t="t" r="r" b="b"/>
            <a:pathLst>
              <a:path w="4000500" h="579120">
                <a:moveTo>
                  <a:pt x="0" y="289559"/>
                </a:moveTo>
                <a:lnTo>
                  <a:pt x="22697" y="245803"/>
                </a:lnTo>
                <a:lnTo>
                  <a:pt x="68240" y="214304"/>
                </a:lnTo>
                <a:lnTo>
                  <a:pt x="111407" y="194046"/>
                </a:lnTo>
                <a:lnTo>
                  <a:pt x="164333" y="174450"/>
                </a:lnTo>
                <a:lnTo>
                  <a:pt x="226605" y="155576"/>
                </a:lnTo>
                <a:lnTo>
                  <a:pt x="297807" y="137485"/>
                </a:lnTo>
                <a:lnTo>
                  <a:pt x="336627" y="128752"/>
                </a:lnTo>
                <a:lnTo>
                  <a:pt x="377525" y="120237"/>
                </a:lnTo>
                <a:lnTo>
                  <a:pt x="420448" y="111947"/>
                </a:lnTo>
                <a:lnTo>
                  <a:pt x="465345" y="103891"/>
                </a:lnTo>
                <a:lnTo>
                  <a:pt x="512164" y="96075"/>
                </a:lnTo>
                <a:lnTo>
                  <a:pt x="560853" y="88508"/>
                </a:lnTo>
                <a:lnTo>
                  <a:pt x="611360" y="81196"/>
                </a:lnTo>
                <a:lnTo>
                  <a:pt x="663633" y="74148"/>
                </a:lnTo>
                <a:lnTo>
                  <a:pt x="717621" y="67370"/>
                </a:lnTo>
                <a:lnTo>
                  <a:pt x="773272" y="60870"/>
                </a:lnTo>
                <a:lnTo>
                  <a:pt x="830533" y="54656"/>
                </a:lnTo>
                <a:lnTo>
                  <a:pt x="889354" y="48735"/>
                </a:lnTo>
                <a:lnTo>
                  <a:pt x="949682" y="43115"/>
                </a:lnTo>
                <a:lnTo>
                  <a:pt x="1011465" y="37803"/>
                </a:lnTo>
                <a:lnTo>
                  <a:pt x="1074653" y="32807"/>
                </a:lnTo>
                <a:lnTo>
                  <a:pt x="1139192" y="28134"/>
                </a:lnTo>
                <a:lnTo>
                  <a:pt x="1205031" y="23791"/>
                </a:lnTo>
                <a:lnTo>
                  <a:pt x="1272119" y="19787"/>
                </a:lnTo>
                <a:lnTo>
                  <a:pt x="1340402" y="16129"/>
                </a:lnTo>
                <a:lnTo>
                  <a:pt x="1409831" y="12824"/>
                </a:lnTo>
                <a:lnTo>
                  <a:pt x="1480352" y="9879"/>
                </a:lnTo>
                <a:lnTo>
                  <a:pt x="1551915" y="7303"/>
                </a:lnTo>
                <a:lnTo>
                  <a:pt x="1624467" y="5103"/>
                </a:lnTo>
                <a:lnTo>
                  <a:pt x="1697956" y="3286"/>
                </a:lnTo>
                <a:lnTo>
                  <a:pt x="1772330" y="1859"/>
                </a:lnTo>
                <a:lnTo>
                  <a:pt x="1847539" y="831"/>
                </a:lnTo>
                <a:lnTo>
                  <a:pt x="1923529" y="209"/>
                </a:lnTo>
                <a:lnTo>
                  <a:pt x="2000250" y="0"/>
                </a:lnTo>
                <a:lnTo>
                  <a:pt x="2076970" y="209"/>
                </a:lnTo>
                <a:lnTo>
                  <a:pt x="2152960" y="831"/>
                </a:lnTo>
                <a:lnTo>
                  <a:pt x="2228169" y="1859"/>
                </a:lnTo>
                <a:lnTo>
                  <a:pt x="2302543" y="3286"/>
                </a:lnTo>
                <a:lnTo>
                  <a:pt x="2376032" y="5103"/>
                </a:lnTo>
                <a:lnTo>
                  <a:pt x="2448584" y="7303"/>
                </a:lnTo>
                <a:lnTo>
                  <a:pt x="2520147" y="9879"/>
                </a:lnTo>
                <a:lnTo>
                  <a:pt x="2590668" y="12824"/>
                </a:lnTo>
                <a:lnTo>
                  <a:pt x="2660097" y="16129"/>
                </a:lnTo>
                <a:lnTo>
                  <a:pt x="2728380" y="19787"/>
                </a:lnTo>
                <a:lnTo>
                  <a:pt x="2795468" y="23791"/>
                </a:lnTo>
                <a:lnTo>
                  <a:pt x="2861307" y="28134"/>
                </a:lnTo>
                <a:lnTo>
                  <a:pt x="2925846" y="32807"/>
                </a:lnTo>
                <a:lnTo>
                  <a:pt x="2989034" y="37803"/>
                </a:lnTo>
                <a:lnTo>
                  <a:pt x="3050817" y="43115"/>
                </a:lnTo>
                <a:lnTo>
                  <a:pt x="3111145" y="48735"/>
                </a:lnTo>
                <a:lnTo>
                  <a:pt x="3169966" y="54656"/>
                </a:lnTo>
                <a:lnTo>
                  <a:pt x="3227227" y="60870"/>
                </a:lnTo>
                <a:lnTo>
                  <a:pt x="3282878" y="67370"/>
                </a:lnTo>
                <a:lnTo>
                  <a:pt x="3336866" y="74148"/>
                </a:lnTo>
                <a:lnTo>
                  <a:pt x="3389139" y="81196"/>
                </a:lnTo>
                <a:lnTo>
                  <a:pt x="3439646" y="88508"/>
                </a:lnTo>
                <a:lnTo>
                  <a:pt x="3488335" y="96075"/>
                </a:lnTo>
                <a:lnTo>
                  <a:pt x="3535154" y="103891"/>
                </a:lnTo>
                <a:lnTo>
                  <a:pt x="3580051" y="111947"/>
                </a:lnTo>
                <a:lnTo>
                  <a:pt x="3622974" y="120237"/>
                </a:lnTo>
                <a:lnTo>
                  <a:pt x="3663872" y="128752"/>
                </a:lnTo>
                <a:lnTo>
                  <a:pt x="3702692" y="137485"/>
                </a:lnTo>
                <a:lnTo>
                  <a:pt x="3773894" y="155576"/>
                </a:lnTo>
                <a:lnTo>
                  <a:pt x="3836166" y="174450"/>
                </a:lnTo>
                <a:lnTo>
                  <a:pt x="3889092" y="194046"/>
                </a:lnTo>
                <a:lnTo>
                  <a:pt x="3932259" y="214304"/>
                </a:lnTo>
                <a:lnTo>
                  <a:pt x="3965251" y="235165"/>
                </a:lnTo>
                <a:lnTo>
                  <a:pt x="3994756" y="267455"/>
                </a:lnTo>
                <a:lnTo>
                  <a:pt x="4000500" y="289559"/>
                </a:lnTo>
                <a:lnTo>
                  <a:pt x="3999055" y="300665"/>
                </a:lnTo>
                <a:lnTo>
                  <a:pt x="3977802" y="333316"/>
                </a:lnTo>
                <a:lnTo>
                  <a:pt x="3932259" y="364815"/>
                </a:lnTo>
                <a:lnTo>
                  <a:pt x="3889092" y="385073"/>
                </a:lnTo>
                <a:lnTo>
                  <a:pt x="3836166" y="404669"/>
                </a:lnTo>
                <a:lnTo>
                  <a:pt x="3773894" y="423543"/>
                </a:lnTo>
                <a:lnTo>
                  <a:pt x="3702692" y="441634"/>
                </a:lnTo>
                <a:lnTo>
                  <a:pt x="3663872" y="450367"/>
                </a:lnTo>
                <a:lnTo>
                  <a:pt x="3622974" y="458882"/>
                </a:lnTo>
                <a:lnTo>
                  <a:pt x="3580051" y="467172"/>
                </a:lnTo>
                <a:lnTo>
                  <a:pt x="3535154" y="475228"/>
                </a:lnTo>
                <a:lnTo>
                  <a:pt x="3488335" y="483044"/>
                </a:lnTo>
                <a:lnTo>
                  <a:pt x="3439646" y="490611"/>
                </a:lnTo>
                <a:lnTo>
                  <a:pt x="3389139" y="497923"/>
                </a:lnTo>
                <a:lnTo>
                  <a:pt x="3336866" y="504971"/>
                </a:lnTo>
                <a:lnTo>
                  <a:pt x="3282878" y="511749"/>
                </a:lnTo>
                <a:lnTo>
                  <a:pt x="3227227" y="518249"/>
                </a:lnTo>
                <a:lnTo>
                  <a:pt x="3169966" y="524463"/>
                </a:lnTo>
                <a:lnTo>
                  <a:pt x="3111145" y="530384"/>
                </a:lnTo>
                <a:lnTo>
                  <a:pt x="3050817" y="536004"/>
                </a:lnTo>
                <a:lnTo>
                  <a:pt x="2989034" y="541316"/>
                </a:lnTo>
                <a:lnTo>
                  <a:pt x="2925846" y="546312"/>
                </a:lnTo>
                <a:lnTo>
                  <a:pt x="2861307" y="550985"/>
                </a:lnTo>
                <a:lnTo>
                  <a:pt x="2795468" y="555328"/>
                </a:lnTo>
                <a:lnTo>
                  <a:pt x="2728380" y="559332"/>
                </a:lnTo>
                <a:lnTo>
                  <a:pt x="2660097" y="562990"/>
                </a:lnTo>
                <a:lnTo>
                  <a:pt x="2590668" y="566295"/>
                </a:lnTo>
                <a:lnTo>
                  <a:pt x="2520147" y="569240"/>
                </a:lnTo>
                <a:lnTo>
                  <a:pt x="2448584" y="571816"/>
                </a:lnTo>
                <a:lnTo>
                  <a:pt x="2376032" y="574016"/>
                </a:lnTo>
                <a:lnTo>
                  <a:pt x="2302543" y="575833"/>
                </a:lnTo>
                <a:lnTo>
                  <a:pt x="2228169" y="577260"/>
                </a:lnTo>
                <a:lnTo>
                  <a:pt x="2152960" y="578288"/>
                </a:lnTo>
                <a:lnTo>
                  <a:pt x="2076970" y="578910"/>
                </a:lnTo>
                <a:lnTo>
                  <a:pt x="2000250" y="579119"/>
                </a:lnTo>
                <a:lnTo>
                  <a:pt x="1923529" y="578910"/>
                </a:lnTo>
                <a:lnTo>
                  <a:pt x="1847539" y="578288"/>
                </a:lnTo>
                <a:lnTo>
                  <a:pt x="1772330" y="577260"/>
                </a:lnTo>
                <a:lnTo>
                  <a:pt x="1697956" y="575833"/>
                </a:lnTo>
                <a:lnTo>
                  <a:pt x="1624467" y="574016"/>
                </a:lnTo>
                <a:lnTo>
                  <a:pt x="1551915" y="571816"/>
                </a:lnTo>
                <a:lnTo>
                  <a:pt x="1480352" y="569240"/>
                </a:lnTo>
                <a:lnTo>
                  <a:pt x="1409831" y="566295"/>
                </a:lnTo>
                <a:lnTo>
                  <a:pt x="1340402" y="562990"/>
                </a:lnTo>
                <a:lnTo>
                  <a:pt x="1272119" y="559332"/>
                </a:lnTo>
                <a:lnTo>
                  <a:pt x="1205031" y="555328"/>
                </a:lnTo>
                <a:lnTo>
                  <a:pt x="1139192" y="550985"/>
                </a:lnTo>
                <a:lnTo>
                  <a:pt x="1074653" y="546312"/>
                </a:lnTo>
                <a:lnTo>
                  <a:pt x="1011465" y="541316"/>
                </a:lnTo>
                <a:lnTo>
                  <a:pt x="949682" y="536004"/>
                </a:lnTo>
                <a:lnTo>
                  <a:pt x="889354" y="530384"/>
                </a:lnTo>
                <a:lnTo>
                  <a:pt x="830533" y="524463"/>
                </a:lnTo>
                <a:lnTo>
                  <a:pt x="773272" y="518249"/>
                </a:lnTo>
                <a:lnTo>
                  <a:pt x="717621" y="511749"/>
                </a:lnTo>
                <a:lnTo>
                  <a:pt x="663633" y="504971"/>
                </a:lnTo>
                <a:lnTo>
                  <a:pt x="611360" y="497923"/>
                </a:lnTo>
                <a:lnTo>
                  <a:pt x="560853" y="490611"/>
                </a:lnTo>
                <a:lnTo>
                  <a:pt x="512164" y="483044"/>
                </a:lnTo>
                <a:lnTo>
                  <a:pt x="465345" y="475228"/>
                </a:lnTo>
                <a:lnTo>
                  <a:pt x="420448" y="467172"/>
                </a:lnTo>
                <a:lnTo>
                  <a:pt x="377525" y="458882"/>
                </a:lnTo>
                <a:lnTo>
                  <a:pt x="336627" y="450367"/>
                </a:lnTo>
                <a:lnTo>
                  <a:pt x="297807" y="441634"/>
                </a:lnTo>
                <a:lnTo>
                  <a:pt x="226605" y="423543"/>
                </a:lnTo>
                <a:lnTo>
                  <a:pt x="164333" y="404669"/>
                </a:lnTo>
                <a:lnTo>
                  <a:pt x="111407" y="385073"/>
                </a:lnTo>
                <a:lnTo>
                  <a:pt x="68240" y="364815"/>
                </a:lnTo>
                <a:lnTo>
                  <a:pt x="35248" y="343954"/>
                </a:lnTo>
                <a:lnTo>
                  <a:pt x="5743" y="311664"/>
                </a:lnTo>
                <a:lnTo>
                  <a:pt x="0" y="289559"/>
                </a:lnTo>
                <a:close/>
              </a:path>
            </a:pathLst>
          </a:custGeom>
          <a:ln w="38100">
            <a:solidFill>
              <a:srgbClr val="FF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922769" y="435101"/>
            <a:ext cx="2222500" cy="1598930"/>
          </a:xfrm>
          <a:custGeom>
            <a:avLst/>
            <a:gdLst/>
            <a:ahLst/>
            <a:cxnLst/>
            <a:rect l="l" t="t" r="r" b="b"/>
            <a:pathLst>
              <a:path w="2222500" h="1598930">
                <a:moveTo>
                  <a:pt x="0" y="1598676"/>
                </a:moveTo>
                <a:lnTo>
                  <a:pt x="2221992" y="1598676"/>
                </a:lnTo>
                <a:lnTo>
                  <a:pt x="2221992" y="0"/>
                </a:lnTo>
                <a:lnTo>
                  <a:pt x="0" y="0"/>
                </a:lnTo>
                <a:lnTo>
                  <a:pt x="0" y="1598676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922769" y="435101"/>
            <a:ext cx="2222500" cy="1598930"/>
          </a:xfrm>
          <a:custGeom>
            <a:avLst/>
            <a:gdLst/>
            <a:ahLst/>
            <a:cxnLst/>
            <a:rect l="l" t="t" r="r" b="b"/>
            <a:pathLst>
              <a:path w="2222500" h="1598930">
                <a:moveTo>
                  <a:pt x="0" y="1598676"/>
                </a:moveTo>
                <a:lnTo>
                  <a:pt x="2221992" y="1598676"/>
                </a:lnTo>
                <a:lnTo>
                  <a:pt x="2221992" y="0"/>
                </a:lnTo>
                <a:lnTo>
                  <a:pt x="0" y="0"/>
                </a:lnTo>
                <a:lnTo>
                  <a:pt x="0" y="159867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7001382" y="435101"/>
            <a:ext cx="1529080" cy="1550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166370">
              <a:lnSpc>
                <a:spcPts val="2160"/>
              </a:lnSpc>
              <a:spcBef>
                <a:spcPts val="105"/>
              </a:spcBef>
              <a:tabLst>
                <a:tab pos="528320" algn="l"/>
              </a:tabLst>
            </a:pPr>
            <a:r>
              <a:rPr dirty="0" sz="2000" spc="5" b="1">
                <a:latin typeface="Times New Roman"/>
                <a:cs typeface="Times New Roman"/>
              </a:rPr>
              <a:t>20:	</a:t>
            </a:r>
            <a:r>
              <a:rPr dirty="0" sz="2000" b="1">
                <a:latin typeface="Times New Roman"/>
                <a:cs typeface="Times New Roman"/>
              </a:rPr>
              <a:t>c=a*b</a:t>
            </a:r>
            <a:r>
              <a:rPr dirty="0" sz="2000" spc="-9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;</a:t>
            </a:r>
            <a:endParaRPr sz="2000">
              <a:latin typeface="Times New Roman"/>
              <a:cs typeface="Times New Roman"/>
            </a:endParaRPr>
          </a:p>
          <a:p>
            <a:pPr algn="ctr" marR="97790">
              <a:lnSpc>
                <a:spcPts val="1920"/>
              </a:lnSpc>
            </a:pPr>
            <a:r>
              <a:rPr dirty="0" sz="2000" spc="5" b="1">
                <a:latin typeface="Times New Roman"/>
                <a:cs typeface="Times New Roman"/>
              </a:rPr>
              <a:t>…</a:t>
            </a:r>
            <a:endParaRPr sz="2000">
              <a:latin typeface="Times New Roman"/>
              <a:cs typeface="Times New Roman"/>
            </a:endParaRPr>
          </a:p>
          <a:p>
            <a:pPr marL="584200">
              <a:lnSpc>
                <a:spcPts val="1920"/>
              </a:lnSpc>
            </a:pPr>
            <a:r>
              <a:rPr dirty="0" sz="2000" b="1">
                <a:latin typeface="Times New Roman"/>
                <a:cs typeface="Times New Roman"/>
              </a:rPr>
              <a:t>goto</a:t>
            </a:r>
            <a:r>
              <a:rPr dirty="0" sz="2000" spc="40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20;</a:t>
            </a:r>
            <a:endParaRPr sz="2000">
              <a:latin typeface="Times New Roman"/>
              <a:cs typeface="Times New Roman"/>
            </a:endParaRPr>
          </a:p>
          <a:p>
            <a:pPr marL="647700">
              <a:lnSpc>
                <a:spcPts val="1920"/>
              </a:lnSpc>
            </a:pPr>
            <a:r>
              <a:rPr dirty="0" sz="2000" b="1">
                <a:latin typeface="Times New Roman"/>
                <a:cs typeface="Times New Roman"/>
              </a:rPr>
              <a:t>…</a:t>
            </a:r>
            <a:endParaRPr sz="2000">
              <a:latin typeface="Times New Roman"/>
              <a:cs typeface="Times New Roman"/>
            </a:endParaRPr>
          </a:p>
          <a:p>
            <a:pPr marL="584200">
              <a:lnSpc>
                <a:spcPts val="1920"/>
              </a:lnSpc>
            </a:pPr>
            <a:r>
              <a:rPr dirty="0" sz="2000" b="1">
                <a:latin typeface="Times New Roman"/>
                <a:cs typeface="Times New Roman"/>
              </a:rPr>
              <a:t>goto</a:t>
            </a:r>
            <a:r>
              <a:rPr dirty="0" sz="2000" spc="40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20;</a:t>
            </a:r>
            <a:endParaRPr sz="2000">
              <a:latin typeface="Times New Roman"/>
              <a:cs typeface="Times New Roman"/>
            </a:endParaRPr>
          </a:p>
          <a:p>
            <a:pPr marL="710565">
              <a:lnSpc>
                <a:spcPts val="2160"/>
              </a:lnSpc>
            </a:pPr>
            <a:r>
              <a:rPr dirty="0" sz="2000" b="1">
                <a:latin typeface="Times New Roman"/>
                <a:cs typeface="Times New Roman"/>
              </a:rPr>
              <a:t>…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96973" y="3091433"/>
            <a:ext cx="3980688" cy="33101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696973" y="3091433"/>
            <a:ext cx="3980815" cy="3310254"/>
          </a:xfrm>
          <a:custGeom>
            <a:avLst/>
            <a:gdLst/>
            <a:ahLst/>
            <a:cxnLst/>
            <a:rect l="l" t="t" r="r" b="b"/>
            <a:pathLst>
              <a:path w="3980815" h="3310254">
                <a:moveTo>
                  <a:pt x="0" y="3310128"/>
                </a:moveTo>
                <a:lnTo>
                  <a:pt x="3980688" y="3310128"/>
                </a:lnTo>
                <a:lnTo>
                  <a:pt x="3980688" y="0"/>
                </a:lnTo>
                <a:lnTo>
                  <a:pt x="0" y="0"/>
                </a:lnTo>
                <a:lnTo>
                  <a:pt x="0" y="3310128"/>
                </a:lnTo>
                <a:close/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096005" y="2937763"/>
            <a:ext cx="432434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76805" y="3425444"/>
            <a:ext cx="2329180" cy="2952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824865">
              <a:lnSpc>
                <a:spcPct val="100000"/>
              </a:lnSpc>
              <a:spcBef>
                <a:spcPts val="105"/>
              </a:spcBef>
              <a:tabLst>
                <a:tab pos="1771650" algn="l"/>
              </a:tabLst>
            </a:pPr>
            <a:r>
              <a:rPr dirty="0" sz="3200" b="1">
                <a:latin typeface="Times New Roman"/>
                <a:cs typeface="Times New Roman"/>
              </a:rPr>
              <a:t>g</a:t>
            </a:r>
            <a:r>
              <a:rPr dirty="0" sz="3200" spc="5" b="1">
                <a:latin typeface="Times New Roman"/>
                <a:cs typeface="Times New Roman"/>
              </a:rPr>
              <a:t>o</a:t>
            </a:r>
            <a:r>
              <a:rPr dirty="0" sz="3200" b="1">
                <a:latin typeface="Times New Roman"/>
                <a:cs typeface="Times New Roman"/>
              </a:rPr>
              <a:t>to</a:t>
            </a:r>
            <a:r>
              <a:rPr dirty="0" sz="3200" b="1">
                <a:latin typeface="Times New Roman"/>
                <a:cs typeface="Times New Roman"/>
              </a:rPr>
              <a:t>	</a:t>
            </a:r>
            <a:r>
              <a:rPr dirty="0" sz="3200" b="1">
                <a:latin typeface="Times New Roman"/>
                <a:cs typeface="Times New Roman"/>
              </a:rPr>
              <a:t>2</a:t>
            </a:r>
            <a:r>
              <a:rPr dirty="0" sz="3200" spc="10" b="1">
                <a:latin typeface="Times New Roman"/>
                <a:cs typeface="Times New Roman"/>
              </a:rPr>
              <a:t>0</a:t>
            </a:r>
            <a:r>
              <a:rPr dirty="0" sz="3200" b="1">
                <a:latin typeface="Times New Roman"/>
                <a:cs typeface="Times New Roman"/>
              </a:rPr>
              <a:t>;</a:t>
            </a:r>
            <a:endParaRPr sz="3200">
              <a:latin typeface="Times New Roman"/>
              <a:cs typeface="Times New Roman"/>
            </a:endParaRPr>
          </a:p>
          <a:p>
            <a:pPr marL="824865" marR="5080" indent="507365">
              <a:lnSpc>
                <a:spcPct val="100000"/>
              </a:lnSpc>
              <a:tabLst>
                <a:tab pos="1771650" algn="l"/>
              </a:tabLst>
            </a:pPr>
            <a:r>
              <a:rPr dirty="0" sz="3200" b="1">
                <a:latin typeface="Times New Roman"/>
                <a:cs typeface="Times New Roman"/>
              </a:rPr>
              <a:t>…  </a:t>
            </a:r>
            <a:r>
              <a:rPr dirty="0" sz="3200" b="1">
                <a:latin typeface="Times New Roman"/>
                <a:cs typeface="Times New Roman"/>
              </a:rPr>
              <a:t>g</a:t>
            </a:r>
            <a:r>
              <a:rPr dirty="0" sz="3200" spc="5" b="1">
                <a:latin typeface="Times New Roman"/>
                <a:cs typeface="Times New Roman"/>
              </a:rPr>
              <a:t>o</a:t>
            </a:r>
            <a:r>
              <a:rPr dirty="0" sz="3200" b="1">
                <a:latin typeface="Times New Roman"/>
                <a:cs typeface="Times New Roman"/>
              </a:rPr>
              <a:t>to</a:t>
            </a:r>
            <a:r>
              <a:rPr dirty="0" sz="3200" b="1">
                <a:latin typeface="Times New Roman"/>
                <a:cs typeface="Times New Roman"/>
              </a:rPr>
              <a:t>	</a:t>
            </a:r>
            <a:r>
              <a:rPr dirty="0" sz="3200" b="1">
                <a:latin typeface="Times New Roman"/>
                <a:cs typeface="Times New Roman"/>
              </a:rPr>
              <a:t>2</a:t>
            </a:r>
            <a:r>
              <a:rPr dirty="0" sz="3200" spc="10" b="1">
                <a:latin typeface="Times New Roman"/>
                <a:cs typeface="Times New Roman"/>
              </a:rPr>
              <a:t>0</a:t>
            </a:r>
            <a:r>
              <a:rPr dirty="0" sz="3200" b="1">
                <a:latin typeface="Times New Roman"/>
                <a:cs typeface="Times New Roman"/>
              </a:rPr>
              <a:t>;</a:t>
            </a:r>
            <a:endParaRPr sz="3200">
              <a:latin typeface="Times New Roman"/>
              <a:cs typeface="Times New Roman"/>
            </a:endParaRPr>
          </a:p>
          <a:p>
            <a:pPr marL="12700" marR="79375" indent="1319530">
              <a:lnSpc>
                <a:spcPct val="100000"/>
              </a:lnSpc>
              <a:tabLst>
                <a:tab pos="960119" algn="l"/>
              </a:tabLst>
            </a:pPr>
            <a:r>
              <a:rPr dirty="0" sz="3200" spc="5" b="1">
                <a:latin typeface="Times New Roman"/>
                <a:cs typeface="Times New Roman"/>
              </a:rPr>
              <a:t>…  </a:t>
            </a:r>
            <a:r>
              <a:rPr dirty="0" sz="3200" b="1">
                <a:latin typeface="Times New Roman"/>
                <a:cs typeface="Times New Roman"/>
              </a:rPr>
              <a:t>20:	c=a*b</a:t>
            </a:r>
            <a:r>
              <a:rPr dirty="0" sz="3200" spc="-10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;</a:t>
            </a:r>
            <a:endParaRPr sz="3200">
              <a:latin typeface="Times New Roman"/>
              <a:cs typeface="Times New Roman"/>
            </a:endParaRPr>
          </a:p>
          <a:p>
            <a:pPr marL="1434465">
              <a:lnSpc>
                <a:spcPct val="100000"/>
              </a:lnSpc>
            </a:pPr>
            <a:r>
              <a:rPr dirty="0" sz="3200" b="1"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01773" y="3792473"/>
            <a:ext cx="589915" cy="0"/>
          </a:xfrm>
          <a:custGeom>
            <a:avLst/>
            <a:gdLst/>
            <a:ahLst/>
            <a:cxnLst/>
            <a:rect l="l" t="t" r="r" b="b"/>
            <a:pathLst>
              <a:path w="589914" h="0">
                <a:moveTo>
                  <a:pt x="0" y="0"/>
                </a:moveTo>
                <a:lnTo>
                  <a:pt x="589788" y="0"/>
                </a:lnTo>
              </a:path>
            </a:pathLst>
          </a:custGeom>
          <a:ln w="38100">
            <a:solidFill>
              <a:srgbClr val="A737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944623" y="3792473"/>
            <a:ext cx="114300" cy="1656714"/>
          </a:xfrm>
          <a:custGeom>
            <a:avLst/>
            <a:gdLst/>
            <a:ahLst/>
            <a:cxnLst/>
            <a:rect l="l" t="t" r="r" b="b"/>
            <a:pathLst>
              <a:path w="114300" h="1656714">
                <a:moveTo>
                  <a:pt x="38100" y="1542288"/>
                </a:moveTo>
                <a:lnTo>
                  <a:pt x="0" y="1542288"/>
                </a:lnTo>
                <a:lnTo>
                  <a:pt x="57150" y="1656588"/>
                </a:lnTo>
                <a:lnTo>
                  <a:pt x="104775" y="1561338"/>
                </a:lnTo>
                <a:lnTo>
                  <a:pt x="38100" y="1561338"/>
                </a:lnTo>
                <a:lnTo>
                  <a:pt x="38100" y="1542288"/>
                </a:lnTo>
                <a:close/>
              </a:path>
              <a:path w="114300" h="1656714">
                <a:moveTo>
                  <a:pt x="76200" y="0"/>
                </a:moveTo>
                <a:lnTo>
                  <a:pt x="38100" y="0"/>
                </a:lnTo>
                <a:lnTo>
                  <a:pt x="38100" y="1561338"/>
                </a:lnTo>
                <a:lnTo>
                  <a:pt x="76200" y="1561338"/>
                </a:lnTo>
                <a:lnTo>
                  <a:pt x="76200" y="0"/>
                </a:lnTo>
                <a:close/>
              </a:path>
              <a:path w="114300" h="1656714">
                <a:moveTo>
                  <a:pt x="114300" y="1542288"/>
                </a:moveTo>
                <a:lnTo>
                  <a:pt x="76200" y="1542288"/>
                </a:lnTo>
                <a:lnTo>
                  <a:pt x="76200" y="1561338"/>
                </a:lnTo>
                <a:lnTo>
                  <a:pt x="104775" y="1561338"/>
                </a:lnTo>
                <a:lnTo>
                  <a:pt x="114300" y="1542288"/>
                </a:lnTo>
                <a:close/>
              </a:path>
            </a:pathLst>
          </a:custGeom>
          <a:solidFill>
            <a:srgbClr val="A737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210561" y="4744973"/>
            <a:ext cx="439420" cy="0"/>
          </a:xfrm>
          <a:custGeom>
            <a:avLst/>
            <a:gdLst/>
            <a:ahLst/>
            <a:cxnLst/>
            <a:rect l="l" t="t" r="r" b="b"/>
            <a:pathLst>
              <a:path w="439419" h="0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38100">
            <a:solidFill>
              <a:srgbClr val="A737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153411" y="4744973"/>
            <a:ext cx="114300" cy="685800"/>
          </a:xfrm>
          <a:custGeom>
            <a:avLst/>
            <a:gdLst/>
            <a:ahLst/>
            <a:cxnLst/>
            <a:rect l="l" t="t" r="r" b="b"/>
            <a:pathLst>
              <a:path w="114300" h="685800">
                <a:moveTo>
                  <a:pt x="38100" y="571500"/>
                </a:moveTo>
                <a:lnTo>
                  <a:pt x="0" y="571500"/>
                </a:lnTo>
                <a:lnTo>
                  <a:pt x="57150" y="685800"/>
                </a:lnTo>
                <a:lnTo>
                  <a:pt x="104775" y="590550"/>
                </a:lnTo>
                <a:lnTo>
                  <a:pt x="38100" y="590550"/>
                </a:lnTo>
                <a:lnTo>
                  <a:pt x="38100" y="571500"/>
                </a:lnTo>
                <a:close/>
              </a:path>
              <a:path w="114300" h="685800">
                <a:moveTo>
                  <a:pt x="76200" y="0"/>
                </a:moveTo>
                <a:lnTo>
                  <a:pt x="38100" y="0"/>
                </a:lnTo>
                <a:lnTo>
                  <a:pt x="38100" y="590550"/>
                </a:lnTo>
                <a:lnTo>
                  <a:pt x="76200" y="590550"/>
                </a:lnTo>
                <a:lnTo>
                  <a:pt x="76200" y="0"/>
                </a:lnTo>
                <a:close/>
              </a:path>
              <a:path w="114300" h="685800">
                <a:moveTo>
                  <a:pt x="114300" y="571500"/>
                </a:moveTo>
                <a:lnTo>
                  <a:pt x="76200" y="571500"/>
                </a:lnTo>
                <a:lnTo>
                  <a:pt x="76200" y="590550"/>
                </a:lnTo>
                <a:lnTo>
                  <a:pt x="104775" y="590550"/>
                </a:lnTo>
                <a:lnTo>
                  <a:pt x="114300" y="571500"/>
                </a:lnTo>
                <a:close/>
              </a:path>
            </a:pathLst>
          </a:custGeom>
          <a:solidFill>
            <a:srgbClr val="A737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668773" y="3792473"/>
            <a:ext cx="381000" cy="952500"/>
          </a:xfrm>
          <a:custGeom>
            <a:avLst/>
            <a:gdLst/>
            <a:ahLst/>
            <a:cxnLst/>
            <a:rect l="l" t="t" r="r" b="b"/>
            <a:pathLst>
              <a:path w="381000" h="952500">
                <a:moveTo>
                  <a:pt x="0" y="0"/>
                </a:moveTo>
                <a:lnTo>
                  <a:pt x="60191" y="4048"/>
                </a:lnTo>
                <a:lnTo>
                  <a:pt x="112483" y="15321"/>
                </a:lnTo>
                <a:lnTo>
                  <a:pt x="153728" y="32506"/>
                </a:lnTo>
                <a:lnTo>
                  <a:pt x="190500" y="79375"/>
                </a:lnTo>
                <a:lnTo>
                  <a:pt x="190500" y="396875"/>
                </a:lnTo>
                <a:lnTo>
                  <a:pt x="200217" y="421954"/>
                </a:lnTo>
                <a:lnTo>
                  <a:pt x="227271" y="443743"/>
                </a:lnTo>
                <a:lnTo>
                  <a:pt x="268516" y="460928"/>
                </a:lnTo>
                <a:lnTo>
                  <a:pt x="320808" y="472201"/>
                </a:lnTo>
                <a:lnTo>
                  <a:pt x="381000" y="476250"/>
                </a:lnTo>
                <a:lnTo>
                  <a:pt x="320808" y="480298"/>
                </a:lnTo>
                <a:lnTo>
                  <a:pt x="268516" y="491571"/>
                </a:lnTo>
                <a:lnTo>
                  <a:pt x="227271" y="508756"/>
                </a:lnTo>
                <a:lnTo>
                  <a:pt x="200217" y="530545"/>
                </a:lnTo>
                <a:lnTo>
                  <a:pt x="190500" y="555625"/>
                </a:lnTo>
                <a:lnTo>
                  <a:pt x="190500" y="873125"/>
                </a:lnTo>
                <a:lnTo>
                  <a:pt x="180782" y="898204"/>
                </a:lnTo>
                <a:lnTo>
                  <a:pt x="153728" y="919993"/>
                </a:lnTo>
                <a:lnTo>
                  <a:pt x="112483" y="937178"/>
                </a:lnTo>
                <a:lnTo>
                  <a:pt x="60191" y="948451"/>
                </a:lnTo>
                <a:lnTo>
                  <a:pt x="0" y="952500"/>
                </a:lnTo>
              </a:path>
            </a:pathLst>
          </a:custGeom>
          <a:ln w="3810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049392" y="4212844"/>
            <a:ext cx="1143635" cy="114300"/>
          </a:xfrm>
          <a:custGeom>
            <a:avLst/>
            <a:gdLst/>
            <a:ahLst/>
            <a:cxnLst/>
            <a:rect l="l" t="t" r="r" b="b"/>
            <a:pathLst>
              <a:path w="1143635" h="114300">
                <a:moveTo>
                  <a:pt x="1106979" y="37718"/>
                </a:moveTo>
                <a:lnTo>
                  <a:pt x="1047877" y="37718"/>
                </a:lnTo>
                <a:lnTo>
                  <a:pt x="1048512" y="75818"/>
                </a:lnTo>
                <a:lnTo>
                  <a:pt x="1029418" y="76149"/>
                </a:lnTo>
                <a:lnTo>
                  <a:pt x="1030097" y="114299"/>
                </a:lnTo>
                <a:lnTo>
                  <a:pt x="1143381" y="55117"/>
                </a:lnTo>
                <a:lnTo>
                  <a:pt x="1106979" y="37718"/>
                </a:lnTo>
                <a:close/>
              </a:path>
              <a:path w="1143635" h="114300">
                <a:moveTo>
                  <a:pt x="1028741" y="38050"/>
                </a:moveTo>
                <a:lnTo>
                  <a:pt x="0" y="55879"/>
                </a:lnTo>
                <a:lnTo>
                  <a:pt x="762" y="93979"/>
                </a:lnTo>
                <a:lnTo>
                  <a:pt x="1029418" y="76149"/>
                </a:lnTo>
                <a:lnTo>
                  <a:pt x="1028741" y="38050"/>
                </a:lnTo>
                <a:close/>
              </a:path>
              <a:path w="1143635" h="114300">
                <a:moveTo>
                  <a:pt x="1047877" y="37718"/>
                </a:moveTo>
                <a:lnTo>
                  <a:pt x="1028741" y="38050"/>
                </a:lnTo>
                <a:lnTo>
                  <a:pt x="1029418" y="76149"/>
                </a:lnTo>
                <a:lnTo>
                  <a:pt x="1048512" y="75818"/>
                </a:lnTo>
                <a:lnTo>
                  <a:pt x="1047877" y="37718"/>
                </a:lnTo>
                <a:close/>
              </a:path>
              <a:path w="1143635" h="114300">
                <a:moveTo>
                  <a:pt x="1028065" y="0"/>
                </a:moveTo>
                <a:lnTo>
                  <a:pt x="1028741" y="38050"/>
                </a:lnTo>
                <a:lnTo>
                  <a:pt x="1047877" y="37718"/>
                </a:lnTo>
                <a:lnTo>
                  <a:pt x="1106979" y="37718"/>
                </a:lnTo>
                <a:lnTo>
                  <a:pt x="1028065" y="0"/>
                </a:lnTo>
                <a:close/>
              </a:path>
            </a:pathLst>
          </a:custGeom>
          <a:solidFill>
            <a:srgbClr val="FFB6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287261" y="2672333"/>
            <a:ext cx="2857500" cy="3784600"/>
          </a:xfrm>
          <a:custGeom>
            <a:avLst/>
            <a:gdLst/>
            <a:ahLst/>
            <a:cxnLst/>
            <a:rect l="l" t="t" r="r" b="b"/>
            <a:pathLst>
              <a:path w="2857500" h="3784600">
                <a:moveTo>
                  <a:pt x="0" y="3784091"/>
                </a:moveTo>
                <a:lnTo>
                  <a:pt x="2857499" y="3784091"/>
                </a:lnTo>
                <a:lnTo>
                  <a:pt x="2857499" y="0"/>
                </a:lnTo>
                <a:lnTo>
                  <a:pt x="0" y="0"/>
                </a:lnTo>
                <a:lnTo>
                  <a:pt x="0" y="3784091"/>
                </a:lnTo>
                <a:close/>
              </a:path>
            </a:pathLst>
          </a:custGeom>
          <a:ln w="38100">
            <a:solidFill>
              <a:srgbClr val="FFB66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366128" y="2711348"/>
            <a:ext cx="2524125" cy="3462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产生这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条语句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的代码时，还未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扫描到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20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号语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句，即没有生成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该语句的代码， 因此转向的目标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地址未定。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4142" y="0"/>
            <a:ext cx="8990330" cy="285369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171450">
              <a:lnSpc>
                <a:spcPct val="100000"/>
              </a:lnSpc>
              <a:spcBef>
                <a:spcPts val="835"/>
              </a:spcBef>
              <a:tabLst>
                <a:tab pos="814705" algn="l"/>
                <a:tab pos="3943985" algn="l"/>
                <a:tab pos="4451350" algn="l"/>
                <a:tab pos="585533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  <a:p>
            <a:pPr marL="253365" indent="-241300">
              <a:lnSpc>
                <a:spcPct val="100000"/>
              </a:lnSpc>
              <a:spcBef>
                <a:spcPts val="1500"/>
              </a:spcBef>
              <a:buClr>
                <a:srgbClr val="66FFFF"/>
              </a:buClr>
              <a:buSzPct val="112500"/>
              <a:buFont typeface="Wingdings"/>
              <a:buChar char=""/>
              <a:tabLst>
                <a:tab pos="254000" algn="l"/>
              </a:tabLst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拉链</a:t>
            </a:r>
            <a:r>
              <a:rPr dirty="0" sz="3600" b="1">
                <a:solidFill>
                  <a:srgbClr val="FFFF00"/>
                </a:solidFill>
                <a:latin typeface="Times New Roman"/>
                <a:cs typeface="Times New Roman"/>
              </a:rPr>
              <a:t>-</a:t>
            </a: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返填技术处</a:t>
            </a:r>
            <a:r>
              <a:rPr dirty="0" sz="3600" spc="-10" b="1">
                <a:solidFill>
                  <a:srgbClr val="FFFF00"/>
                </a:solidFill>
                <a:latin typeface="宋体"/>
                <a:cs typeface="宋体"/>
              </a:rPr>
              <a:t>理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标号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先引用后定义的情况：</a:t>
            </a:r>
            <a:endParaRPr sz="3200">
              <a:latin typeface="宋体"/>
              <a:cs typeface="宋体"/>
            </a:endParaRPr>
          </a:p>
          <a:p>
            <a:pPr marL="381000">
              <a:lnSpc>
                <a:spcPct val="100000"/>
              </a:lnSpc>
              <a:spcBef>
                <a:spcPts val="2095"/>
              </a:spcBef>
            </a:pPr>
            <a:r>
              <a:rPr dirty="0" sz="3200" spc="-5" b="1">
                <a:solidFill>
                  <a:srgbClr val="66FFFF"/>
                </a:solidFill>
                <a:latin typeface="宋体"/>
                <a:cs typeface="宋体"/>
              </a:rPr>
              <a:t>适用于一遍扫描的编译</a:t>
            </a:r>
            <a:r>
              <a:rPr dirty="0" sz="3200" spc="-15" b="1">
                <a:solidFill>
                  <a:srgbClr val="66FFFF"/>
                </a:solidFill>
                <a:latin typeface="宋体"/>
                <a:cs typeface="宋体"/>
              </a:rPr>
              <a:t>器</a:t>
            </a:r>
            <a:r>
              <a:rPr dirty="0" sz="3200" spc="-10" b="1">
                <a:solidFill>
                  <a:srgbClr val="66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marL="564515">
              <a:lnSpc>
                <a:spcPct val="100000"/>
              </a:lnSpc>
              <a:spcBef>
                <a:spcPts val="287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例如，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247" y="26923"/>
            <a:ext cx="41173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13275" y="26923"/>
            <a:ext cx="10509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25744" y="26923"/>
            <a:ext cx="28981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383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3950" y="1543049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5350" y="1977085"/>
            <a:ext cx="132778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40740" algn="l"/>
              </a:tabLst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o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to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20;</a:t>
            </a:r>
            <a:endParaRPr sz="28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9442" y="2831083"/>
            <a:ext cx="132969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4201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  <a:p>
            <a:pPr marL="304800">
              <a:lnSpc>
                <a:spcPct val="10000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-42265" y="3684778"/>
            <a:ext cx="197675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42644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20:	c=a*b</a:t>
            </a:r>
            <a:r>
              <a:rPr dirty="0" sz="2800" spc="-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  <a:p>
            <a:pPr marL="990600">
              <a:lnSpc>
                <a:spcPct val="10000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63470" y="2422982"/>
            <a:ext cx="2235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99002" y="1791970"/>
            <a:ext cx="432434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Arial"/>
                <a:cs typeface="Arial"/>
              </a:rPr>
              <a:t>…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172461" y="1735073"/>
            <a:ext cx="3086100" cy="0"/>
          </a:xfrm>
          <a:custGeom>
            <a:avLst/>
            <a:gdLst/>
            <a:ahLst/>
            <a:cxnLst/>
            <a:rect l="l" t="t" r="r" b="b"/>
            <a:pathLst>
              <a:path w="3086100" h="0">
                <a:moveTo>
                  <a:pt x="0" y="0"/>
                </a:moveTo>
                <a:lnTo>
                  <a:pt x="3086100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171700" y="2313432"/>
            <a:ext cx="3086100" cy="0"/>
          </a:xfrm>
          <a:custGeom>
            <a:avLst/>
            <a:gdLst/>
            <a:ahLst/>
            <a:cxnLst/>
            <a:rect l="l" t="t" r="r" b="b"/>
            <a:pathLst>
              <a:path w="3086100" h="0">
                <a:moveTo>
                  <a:pt x="0" y="0"/>
                </a:moveTo>
                <a:lnTo>
                  <a:pt x="308610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172461" y="5689853"/>
            <a:ext cx="3086100" cy="0"/>
          </a:xfrm>
          <a:custGeom>
            <a:avLst/>
            <a:gdLst/>
            <a:ahLst/>
            <a:cxnLst/>
            <a:rect l="l" t="t" r="r" b="b"/>
            <a:pathLst>
              <a:path w="3086100" h="0">
                <a:moveTo>
                  <a:pt x="0" y="0"/>
                </a:moveTo>
                <a:lnTo>
                  <a:pt x="3086100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172461" y="1735073"/>
            <a:ext cx="0" cy="3954779"/>
          </a:xfrm>
          <a:custGeom>
            <a:avLst/>
            <a:gdLst/>
            <a:ahLst/>
            <a:cxnLst/>
            <a:rect l="l" t="t" r="r" b="b"/>
            <a:pathLst>
              <a:path w="0" h="3954779">
                <a:moveTo>
                  <a:pt x="0" y="0"/>
                </a:moveTo>
                <a:lnTo>
                  <a:pt x="0" y="3954779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781300" y="1734311"/>
            <a:ext cx="0" cy="3954779"/>
          </a:xfrm>
          <a:custGeom>
            <a:avLst/>
            <a:gdLst/>
            <a:ahLst/>
            <a:cxnLst/>
            <a:rect l="l" t="t" r="r" b="b"/>
            <a:pathLst>
              <a:path w="0" h="3954779">
                <a:moveTo>
                  <a:pt x="0" y="0"/>
                </a:moveTo>
                <a:lnTo>
                  <a:pt x="0" y="395477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258561" y="1735073"/>
            <a:ext cx="0" cy="3954779"/>
          </a:xfrm>
          <a:custGeom>
            <a:avLst/>
            <a:gdLst/>
            <a:ahLst/>
            <a:cxnLst/>
            <a:rect l="l" t="t" r="r" b="b"/>
            <a:pathLst>
              <a:path w="0" h="3954779">
                <a:moveTo>
                  <a:pt x="0" y="0"/>
                </a:moveTo>
                <a:lnTo>
                  <a:pt x="0" y="3954779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165475" y="1123568"/>
            <a:ext cx="11703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Co</a:t>
            </a:r>
            <a:r>
              <a:rPr dirty="0" sz="2800" b="1">
                <a:solidFill>
                  <a:srgbClr val="00FFFF"/>
                </a:solidFill>
                <a:latin typeface="Times New Roman"/>
                <a:cs typeface="Times New Roman"/>
              </a:rPr>
              <a:t>d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r>
              <a:rPr dirty="0" sz="2800" spc="-15" b="1">
                <a:solidFill>
                  <a:srgbClr val="00FFFF"/>
                </a:solidFill>
                <a:latin typeface="宋体"/>
                <a:cs typeface="宋体"/>
              </a:rPr>
              <a:t>区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68818" y="2068195"/>
            <a:ext cx="20955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46316" y="2068195"/>
            <a:ext cx="105600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77569" algn="l"/>
              </a:tabLst>
            </a:pPr>
            <a:r>
              <a:rPr dirty="0" sz="2600" spc="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154673" y="2010917"/>
            <a:ext cx="2476500" cy="0"/>
          </a:xfrm>
          <a:custGeom>
            <a:avLst/>
            <a:gdLst/>
            <a:ahLst/>
            <a:cxnLst/>
            <a:rect l="l" t="t" r="r" b="b"/>
            <a:pathLst>
              <a:path w="2476500" h="0">
                <a:moveTo>
                  <a:pt x="0" y="0"/>
                </a:moveTo>
                <a:lnTo>
                  <a:pt x="2476500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154673" y="2500122"/>
            <a:ext cx="2476500" cy="0"/>
          </a:xfrm>
          <a:custGeom>
            <a:avLst/>
            <a:gdLst/>
            <a:ahLst/>
            <a:cxnLst/>
            <a:rect l="l" t="t" r="r" b="b"/>
            <a:pathLst>
              <a:path w="2476500" h="0">
                <a:moveTo>
                  <a:pt x="0" y="0"/>
                </a:moveTo>
                <a:lnTo>
                  <a:pt x="2476500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154673" y="2010917"/>
            <a:ext cx="0" cy="489584"/>
          </a:xfrm>
          <a:custGeom>
            <a:avLst/>
            <a:gdLst/>
            <a:ahLst/>
            <a:cxnLst/>
            <a:rect l="l" t="t" r="r" b="b"/>
            <a:pathLst>
              <a:path w="0" h="489585">
                <a:moveTo>
                  <a:pt x="0" y="0"/>
                </a:moveTo>
                <a:lnTo>
                  <a:pt x="0" y="489204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896100" y="2010155"/>
            <a:ext cx="0" cy="489584"/>
          </a:xfrm>
          <a:custGeom>
            <a:avLst/>
            <a:gdLst/>
            <a:ahLst/>
            <a:cxnLst/>
            <a:rect l="l" t="t" r="r" b="b"/>
            <a:pathLst>
              <a:path w="0" h="489585">
                <a:moveTo>
                  <a:pt x="0" y="0"/>
                </a:moveTo>
                <a:lnTo>
                  <a:pt x="0" y="489204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716011" y="2010155"/>
            <a:ext cx="0" cy="489584"/>
          </a:xfrm>
          <a:custGeom>
            <a:avLst/>
            <a:gdLst/>
            <a:ahLst/>
            <a:cxnLst/>
            <a:rect l="l" t="t" r="r" b="b"/>
            <a:pathLst>
              <a:path w="0" h="489585">
                <a:moveTo>
                  <a:pt x="0" y="0"/>
                </a:moveTo>
                <a:lnTo>
                  <a:pt x="0" y="489204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631173" y="2010917"/>
            <a:ext cx="0" cy="489584"/>
          </a:xfrm>
          <a:custGeom>
            <a:avLst/>
            <a:gdLst/>
            <a:ahLst/>
            <a:cxnLst/>
            <a:rect l="l" t="t" r="r" b="b"/>
            <a:pathLst>
              <a:path w="0" h="489585">
                <a:moveTo>
                  <a:pt x="0" y="0"/>
                </a:moveTo>
                <a:lnTo>
                  <a:pt x="0" y="489204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321297" y="1519173"/>
            <a:ext cx="4540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65" b="1">
                <a:solidFill>
                  <a:srgbClr val="00FFFF"/>
                </a:solidFill>
                <a:latin typeface="Times New Roman"/>
                <a:cs typeface="Times New Roman"/>
              </a:rPr>
              <a:t>LT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458973" y="1108710"/>
            <a:ext cx="0" cy="1321435"/>
          </a:xfrm>
          <a:custGeom>
            <a:avLst/>
            <a:gdLst/>
            <a:ahLst/>
            <a:cxnLst/>
            <a:rect l="l" t="t" r="r" b="b"/>
            <a:pathLst>
              <a:path w="0" h="1321435">
                <a:moveTo>
                  <a:pt x="0" y="0"/>
                </a:moveTo>
                <a:lnTo>
                  <a:pt x="0" y="1321307"/>
                </a:lnTo>
              </a:path>
            </a:pathLst>
          </a:custGeom>
          <a:ln w="38100">
            <a:solidFill>
              <a:srgbClr val="FFB66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458973" y="1108710"/>
            <a:ext cx="5657215" cy="0"/>
          </a:xfrm>
          <a:custGeom>
            <a:avLst/>
            <a:gdLst/>
            <a:ahLst/>
            <a:cxnLst/>
            <a:rect l="l" t="t" r="r" b="b"/>
            <a:pathLst>
              <a:path w="5657215" h="0">
                <a:moveTo>
                  <a:pt x="0" y="0"/>
                </a:moveTo>
                <a:lnTo>
                  <a:pt x="5657087" y="0"/>
                </a:lnTo>
              </a:path>
            </a:pathLst>
          </a:custGeom>
          <a:ln w="38100">
            <a:solidFill>
              <a:srgbClr val="FFB66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040623" y="1090422"/>
            <a:ext cx="114300" cy="862965"/>
          </a:xfrm>
          <a:custGeom>
            <a:avLst/>
            <a:gdLst/>
            <a:ahLst/>
            <a:cxnLst/>
            <a:rect l="l" t="t" r="r" b="b"/>
            <a:pathLst>
              <a:path w="114300" h="862964">
                <a:moveTo>
                  <a:pt x="38100" y="748283"/>
                </a:moveTo>
                <a:lnTo>
                  <a:pt x="0" y="748283"/>
                </a:lnTo>
                <a:lnTo>
                  <a:pt x="57150" y="862583"/>
                </a:lnTo>
                <a:lnTo>
                  <a:pt x="104775" y="767333"/>
                </a:lnTo>
                <a:lnTo>
                  <a:pt x="38100" y="767333"/>
                </a:lnTo>
                <a:lnTo>
                  <a:pt x="38100" y="748283"/>
                </a:lnTo>
                <a:close/>
              </a:path>
              <a:path w="114300" h="862964">
                <a:moveTo>
                  <a:pt x="76200" y="0"/>
                </a:moveTo>
                <a:lnTo>
                  <a:pt x="38100" y="0"/>
                </a:lnTo>
                <a:lnTo>
                  <a:pt x="38100" y="767333"/>
                </a:lnTo>
                <a:lnTo>
                  <a:pt x="76200" y="767333"/>
                </a:lnTo>
                <a:lnTo>
                  <a:pt x="76200" y="0"/>
                </a:lnTo>
                <a:close/>
              </a:path>
              <a:path w="114300" h="862964">
                <a:moveTo>
                  <a:pt x="114300" y="748283"/>
                </a:moveTo>
                <a:lnTo>
                  <a:pt x="76200" y="748283"/>
                </a:lnTo>
                <a:lnTo>
                  <a:pt x="76200" y="767333"/>
                </a:lnTo>
                <a:lnTo>
                  <a:pt x="104775" y="767333"/>
                </a:lnTo>
                <a:lnTo>
                  <a:pt x="114300" y="748283"/>
                </a:lnTo>
                <a:close/>
              </a:path>
            </a:pathLst>
          </a:custGeom>
          <a:solidFill>
            <a:srgbClr val="FFB6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031998" y="2266151"/>
            <a:ext cx="1980564" cy="1122045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  <a:tabLst>
                <a:tab pos="872490" algn="l"/>
                <a:tab pos="1316355" algn="l"/>
                <a:tab pos="1583055" algn="l"/>
              </a:tabLst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j</a:t>
            </a:r>
            <a:r>
              <a:rPr dirty="0" sz="2800" spc="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	,	,	0</a:t>
            </a:r>
            <a:r>
              <a:rPr dirty="0" sz="2800" spc="-9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46050">
              <a:lnSpc>
                <a:spcPct val="100000"/>
              </a:lnSpc>
              <a:spcBef>
                <a:spcPts val="76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39085" y="3372358"/>
            <a:ext cx="2228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953250" y="3324225"/>
            <a:ext cx="0" cy="519430"/>
          </a:xfrm>
          <a:custGeom>
            <a:avLst/>
            <a:gdLst/>
            <a:ahLst/>
            <a:cxnLst/>
            <a:rect l="l" t="t" r="r" b="b"/>
            <a:pathLst>
              <a:path w="0" h="519429">
                <a:moveTo>
                  <a:pt x="0" y="0"/>
                </a:moveTo>
                <a:lnTo>
                  <a:pt x="0" y="51904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772400" y="3324225"/>
            <a:ext cx="0" cy="519430"/>
          </a:xfrm>
          <a:custGeom>
            <a:avLst/>
            <a:gdLst/>
            <a:ahLst/>
            <a:cxnLst/>
            <a:rect l="l" t="t" r="r" b="b"/>
            <a:pathLst>
              <a:path w="0" h="519429">
                <a:moveTo>
                  <a:pt x="0" y="0"/>
                </a:moveTo>
                <a:lnTo>
                  <a:pt x="0" y="51904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210300" y="3324225"/>
            <a:ext cx="0" cy="519430"/>
          </a:xfrm>
          <a:custGeom>
            <a:avLst/>
            <a:gdLst/>
            <a:ahLst/>
            <a:cxnLst/>
            <a:rect l="l" t="t" r="r" b="b"/>
            <a:pathLst>
              <a:path w="0" h="519429">
                <a:moveTo>
                  <a:pt x="0" y="0"/>
                </a:moveTo>
                <a:lnTo>
                  <a:pt x="0" y="519049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8686800" y="3324225"/>
            <a:ext cx="0" cy="519430"/>
          </a:xfrm>
          <a:custGeom>
            <a:avLst/>
            <a:gdLst/>
            <a:ahLst/>
            <a:cxnLst/>
            <a:rect l="l" t="t" r="r" b="b"/>
            <a:pathLst>
              <a:path w="0" h="519429">
                <a:moveTo>
                  <a:pt x="0" y="0"/>
                </a:moveTo>
                <a:lnTo>
                  <a:pt x="0" y="519049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196076" y="3338448"/>
            <a:ext cx="2505075" cy="0"/>
          </a:xfrm>
          <a:custGeom>
            <a:avLst/>
            <a:gdLst/>
            <a:ahLst/>
            <a:cxnLst/>
            <a:rect l="l" t="t" r="r" b="b"/>
            <a:pathLst>
              <a:path w="2505075" h="0">
                <a:moveTo>
                  <a:pt x="0" y="0"/>
                </a:moveTo>
                <a:lnTo>
                  <a:pt x="2504948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196076" y="3829050"/>
            <a:ext cx="2505075" cy="0"/>
          </a:xfrm>
          <a:custGeom>
            <a:avLst/>
            <a:gdLst/>
            <a:ahLst/>
            <a:cxnLst/>
            <a:rect l="l" t="t" r="r" b="b"/>
            <a:pathLst>
              <a:path w="2505075" h="0">
                <a:moveTo>
                  <a:pt x="0" y="0"/>
                </a:moveTo>
                <a:lnTo>
                  <a:pt x="2504948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6403594" y="3397377"/>
            <a:ext cx="105600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76935" algn="l"/>
              </a:tabLst>
            </a:pPr>
            <a:r>
              <a:rPr dirty="0" sz="2600" spc="5" b="1">
                <a:solidFill>
                  <a:srgbClr val="00FFFF"/>
                </a:solidFill>
                <a:latin typeface="Times New Roman"/>
                <a:cs typeface="Times New Roman"/>
              </a:rPr>
              <a:t>2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0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	</a:t>
            </a:r>
            <a:r>
              <a:rPr dirty="0" sz="2600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125714" y="3397377"/>
            <a:ext cx="20955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458973" y="3019805"/>
            <a:ext cx="0" cy="471170"/>
          </a:xfrm>
          <a:custGeom>
            <a:avLst/>
            <a:gdLst/>
            <a:ahLst/>
            <a:cxnLst/>
            <a:rect l="l" t="t" r="r" b="b"/>
            <a:pathLst>
              <a:path w="0" h="471170">
                <a:moveTo>
                  <a:pt x="0" y="0"/>
                </a:moveTo>
                <a:lnTo>
                  <a:pt x="0" y="470916"/>
                </a:lnTo>
              </a:path>
            </a:pathLst>
          </a:custGeom>
          <a:ln w="38100">
            <a:solidFill>
              <a:srgbClr val="FFB66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458973" y="3019805"/>
            <a:ext cx="5657215" cy="0"/>
          </a:xfrm>
          <a:custGeom>
            <a:avLst/>
            <a:gdLst/>
            <a:ahLst/>
            <a:cxnLst/>
            <a:rect l="l" t="t" r="r" b="b"/>
            <a:pathLst>
              <a:path w="5657215" h="0">
                <a:moveTo>
                  <a:pt x="0" y="0"/>
                </a:moveTo>
                <a:lnTo>
                  <a:pt x="5657087" y="0"/>
                </a:lnTo>
              </a:path>
            </a:pathLst>
          </a:custGeom>
          <a:ln w="38100">
            <a:solidFill>
              <a:srgbClr val="FFB66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8040623" y="3013710"/>
            <a:ext cx="114300" cy="306705"/>
          </a:xfrm>
          <a:custGeom>
            <a:avLst/>
            <a:gdLst/>
            <a:ahLst/>
            <a:cxnLst/>
            <a:rect l="l" t="t" r="r" b="b"/>
            <a:pathLst>
              <a:path w="114300" h="306704">
                <a:moveTo>
                  <a:pt x="38100" y="192024"/>
                </a:moveTo>
                <a:lnTo>
                  <a:pt x="0" y="192024"/>
                </a:lnTo>
                <a:lnTo>
                  <a:pt x="57150" y="306324"/>
                </a:lnTo>
                <a:lnTo>
                  <a:pt x="104775" y="211074"/>
                </a:lnTo>
                <a:lnTo>
                  <a:pt x="38100" y="211074"/>
                </a:lnTo>
                <a:lnTo>
                  <a:pt x="38100" y="192024"/>
                </a:lnTo>
                <a:close/>
              </a:path>
              <a:path w="114300" h="306704">
                <a:moveTo>
                  <a:pt x="76200" y="0"/>
                </a:moveTo>
                <a:lnTo>
                  <a:pt x="38100" y="0"/>
                </a:lnTo>
                <a:lnTo>
                  <a:pt x="38100" y="211074"/>
                </a:lnTo>
                <a:lnTo>
                  <a:pt x="76200" y="211074"/>
                </a:lnTo>
                <a:lnTo>
                  <a:pt x="76200" y="0"/>
                </a:lnTo>
                <a:close/>
              </a:path>
              <a:path w="114300" h="306704">
                <a:moveTo>
                  <a:pt x="114300" y="192024"/>
                </a:moveTo>
                <a:lnTo>
                  <a:pt x="76200" y="192024"/>
                </a:lnTo>
                <a:lnTo>
                  <a:pt x="76200" y="211074"/>
                </a:lnTo>
                <a:lnTo>
                  <a:pt x="104775" y="211074"/>
                </a:lnTo>
                <a:lnTo>
                  <a:pt x="114300" y="192024"/>
                </a:lnTo>
                <a:close/>
              </a:path>
            </a:pathLst>
          </a:custGeom>
          <a:solidFill>
            <a:srgbClr val="FFB6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96062" y="2468117"/>
            <a:ext cx="1676400" cy="0"/>
          </a:xfrm>
          <a:custGeom>
            <a:avLst/>
            <a:gdLst/>
            <a:ahLst/>
            <a:cxnLst/>
            <a:rect l="l" t="t" r="r" b="b"/>
            <a:pathLst>
              <a:path w="1676400" h="0">
                <a:moveTo>
                  <a:pt x="0" y="0"/>
                </a:moveTo>
                <a:lnTo>
                  <a:pt x="1676400" y="0"/>
                </a:lnTo>
              </a:path>
            </a:pathLst>
          </a:custGeom>
          <a:ln w="38100">
            <a:solidFill>
              <a:srgbClr val="99FF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634617" y="2467864"/>
            <a:ext cx="766445" cy="229235"/>
          </a:xfrm>
          <a:custGeom>
            <a:avLst/>
            <a:gdLst/>
            <a:ahLst/>
            <a:cxnLst/>
            <a:rect l="l" t="t" r="r" b="b"/>
            <a:pathLst>
              <a:path w="766444" h="229235">
                <a:moveTo>
                  <a:pt x="650836" y="191921"/>
                </a:moveTo>
                <a:lnTo>
                  <a:pt x="641984" y="228981"/>
                </a:lnTo>
                <a:lnTo>
                  <a:pt x="766444" y="199898"/>
                </a:lnTo>
                <a:lnTo>
                  <a:pt x="762200" y="196341"/>
                </a:lnTo>
                <a:lnTo>
                  <a:pt x="669416" y="196341"/>
                </a:lnTo>
                <a:lnTo>
                  <a:pt x="650836" y="191921"/>
                </a:lnTo>
                <a:close/>
              </a:path>
              <a:path w="766444" h="229235">
                <a:moveTo>
                  <a:pt x="659689" y="154858"/>
                </a:moveTo>
                <a:lnTo>
                  <a:pt x="650836" y="191921"/>
                </a:lnTo>
                <a:lnTo>
                  <a:pt x="669416" y="196341"/>
                </a:lnTo>
                <a:lnTo>
                  <a:pt x="678180" y="159258"/>
                </a:lnTo>
                <a:lnTo>
                  <a:pt x="659689" y="154858"/>
                </a:lnTo>
                <a:close/>
              </a:path>
              <a:path w="766444" h="229235">
                <a:moveTo>
                  <a:pt x="668527" y="117856"/>
                </a:moveTo>
                <a:lnTo>
                  <a:pt x="659689" y="154858"/>
                </a:lnTo>
                <a:lnTo>
                  <a:pt x="678180" y="159258"/>
                </a:lnTo>
                <a:lnTo>
                  <a:pt x="669416" y="196341"/>
                </a:lnTo>
                <a:lnTo>
                  <a:pt x="762200" y="196341"/>
                </a:lnTo>
                <a:lnTo>
                  <a:pt x="668527" y="117856"/>
                </a:lnTo>
                <a:close/>
              </a:path>
              <a:path w="766444" h="229235">
                <a:moveTo>
                  <a:pt x="8889" y="0"/>
                </a:moveTo>
                <a:lnTo>
                  <a:pt x="0" y="37084"/>
                </a:lnTo>
                <a:lnTo>
                  <a:pt x="650836" y="191921"/>
                </a:lnTo>
                <a:lnTo>
                  <a:pt x="659689" y="154858"/>
                </a:lnTo>
                <a:lnTo>
                  <a:pt x="8889" y="0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554473" y="2329433"/>
            <a:ext cx="361315" cy="624840"/>
          </a:xfrm>
          <a:custGeom>
            <a:avLst/>
            <a:gdLst/>
            <a:ahLst/>
            <a:cxnLst/>
            <a:rect l="l" t="t" r="r" b="b"/>
            <a:pathLst>
              <a:path w="361314" h="624839">
                <a:moveTo>
                  <a:pt x="0" y="624839"/>
                </a:moveTo>
                <a:lnTo>
                  <a:pt x="361188" y="624839"/>
                </a:lnTo>
                <a:lnTo>
                  <a:pt x="361188" y="0"/>
                </a:lnTo>
                <a:lnTo>
                  <a:pt x="0" y="0"/>
                </a:lnTo>
                <a:lnTo>
                  <a:pt x="0" y="624839"/>
                </a:lnTo>
                <a:close/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903851" y="2006345"/>
            <a:ext cx="545465" cy="435609"/>
          </a:xfrm>
          <a:custGeom>
            <a:avLst/>
            <a:gdLst/>
            <a:ahLst/>
            <a:cxnLst/>
            <a:rect l="l" t="t" r="r" b="b"/>
            <a:pathLst>
              <a:path w="545464" h="435610">
                <a:moveTo>
                  <a:pt x="443685" y="55825"/>
                </a:moveTo>
                <a:lnTo>
                  <a:pt x="0" y="405638"/>
                </a:lnTo>
                <a:lnTo>
                  <a:pt x="23622" y="435609"/>
                </a:lnTo>
                <a:lnTo>
                  <a:pt x="467242" y="85725"/>
                </a:lnTo>
                <a:lnTo>
                  <a:pt x="443685" y="55825"/>
                </a:lnTo>
                <a:close/>
              </a:path>
              <a:path w="545464" h="435610">
                <a:moveTo>
                  <a:pt x="524506" y="44068"/>
                </a:moveTo>
                <a:lnTo>
                  <a:pt x="458597" y="44068"/>
                </a:lnTo>
                <a:lnTo>
                  <a:pt x="482219" y="73913"/>
                </a:lnTo>
                <a:lnTo>
                  <a:pt x="467242" y="85725"/>
                </a:lnTo>
                <a:lnTo>
                  <a:pt x="490854" y="115696"/>
                </a:lnTo>
                <a:lnTo>
                  <a:pt x="524506" y="44068"/>
                </a:lnTo>
                <a:close/>
              </a:path>
              <a:path w="545464" h="435610">
                <a:moveTo>
                  <a:pt x="458597" y="44068"/>
                </a:moveTo>
                <a:lnTo>
                  <a:pt x="443685" y="55825"/>
                </a:lnTo>
                <a:lnTo>
                  <a:pt x="467242" y="85725"/>
                </a:lnTo>
                <a:lnTo>
                  <a:pt x="482219" y="73913"/>
                </a:lnTo>
                <a:lnTo>
                  <a:pt x="458597" y="44068"/>
                </a:lnTo>
                <a:close/>
              </a:path>
              <a:path w="545464" h="435610">
                <a:moveTo>
                  <a:pt x="545211" y="0"/>
                </a:moveTo>
                <a:lnTo>
                  <a:pt x="420115" y="25907"/>
                </a:lnTo>
                <a:lnTo>
                  <a:pt x="443685" y="55825"/>
                </a:lnTo>
                <a:lnTo>
                  <a:pt x="458597" y="44068"/>
                </a:lnTo>
                <a:lnTo>
                  <a:pt x="524506" y="44068"/>
                </a:lnTo>
                <a:lnTo>
                  <a:pt x="545211" y="0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5432552" y="1750822"/>
            <a:ext cx="280035" cy="56134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690"/>
              </a:spcBef>
            </a:pPr>
            <a:r>
              <a:rPr dirty="0" sz="2000" spc="-5" b="1">
                <a:solidFill>
                  <a:srgbClr val="FF66FF"/>
                </a:solidFill>
                <a:latin typeface="宋体"/>
                <a:cs typeface="宋体"/>
              </a:rPr>
              <a:t>链 尾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19862" y="3377946"/>
            <a:ext cx="1676400" cy="0"/>
          </a:xfrm>
          <a:custGeom>
            <a:avLst/>
            <a:gdLst/>
            <a:ahLst/>
            <a:cxnLst/>
            <a:rect l="l" t="t" r="r" b="b"/>
            <a:pathLst>
              <a:path w="1676400" h="0">
                <a:moveTo>
                  <a:pt x="0" y="0"/>
                </a:moveTo>
                <a:lnTo>
                  <a:pt x="1676400" y="0"/>
                </a:lnTo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558416" y="3377691"/>
            <a:ext cx="766445" cy="229235"/>
          </a:xfrm>
          <a:custGeom>
            <a:avLst/>
            <a:gdLst/>
            <a:ahLst/>
            <a:cxnLst/>
            <a:rect l="l" t="t" r="r" b="b"/>
            <a:pathLst>
              <a:path w="766444" h="229235">
                <a:moveTo>
                  <a:pt x="650836" y="191921"/>
                </a:moveTo>
                <a:lnTo>
                  <a:pt x="641985" y="228981"/>
                </a:lnTo>
                <a:lnTo>
                  <a:pt x="766445" y="199898"/>
                </a:lnTo>
                <a:lnTo>
                  <a:pt x="762200" y="196342"/>
                </a:lnTo>
                <a:lnTo>
                  <a:pt x="669416" y="196342"/>
                </a:lnTo>
                <a:lnTo>
                  <a:pt x="650836" y="191921"/>
                </a:lnTo>
                <a:close/>
              </a:path>
              <a:path w="766444" h="229235">
                <a:moveTo>
                  <a:pt x="659689" y="154858"/>
                </a:moveTo>
                <a:lnTo>
                  <a:pt x="650836" y="191921"/>
                </a:lnTo>
                <a:lnTo>
                  <a:pt x="669416" y="196342"/>
                </a:lnTo>
                <a:lnTo>
                  <a:pt x="678180" y="159258"/>
                </a:lnTo>
                <a:lnTo>
                  <a:pt x="659689" y="154858"/>
                </a:lnTo>
                <a:close/>
              </a:path>
              <a:path w="766444" h="229235">
                <a:moveTo>
                  <a:pt x="668528" y="117856"/>
                </a:moveTo>
                <a:lnTo>
                  <a:pt x="659689" y="154858"/>
                </a:lnTo>
                <a:lnTo>
                  <a:pt x="678180" y="159258"/>
                </a:lnTo>
                <a:lnTo>
                  <a:pt x="669416" y="196342"/>
                </a:lnTo>
                <a:lnTo>
                  <a:pt x="762200" y="196342"/>
                </a:lnTo>
                <a:lnTo>
                  <a:pt x="668528" y="117856"/>
                </a:lnTo>
                <a:close/>
              </a:path>
              <a:path w="766444" h="229235">
                <a:moveTo>
                  <a:pt x="8890" y="0"/>
                </a:moveTo>
                <a:lnTo>
                  <a:pt x="0" y="37084"/>
                </a:lnTo>
                <a:lnTo>
                  <a:pt x="650836" y="191921"/>
                </a:lnTo>
                <a:lnTo>
                  <a:pt x="659689" y="154858"/>
                </a:lnTo>
                <a:lnTo>
                  <a:pt x="8890" y="0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2950591" y="3428642"/>
            <a:ext cx="2002155" cy="100266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  <a:tabLst>
                <a:tab pos="873125" algn="l"/>
                <a:tab pos="1316990" algn="l"/>
                <a:tab pos="1584325" algn="l"/>
              </a:tabLst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r>
              <a:rPr dirty="0" sz="2800" spc="1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j</a:t>
            </a:r>
            <a:r>
              <a:rPr dirty="0" sz="280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,	,	,	p</a:t>
            </a:r>
            <a:r>
              <a:rPr dirty="0" sz="2800" spc="-9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284480">
              <a:lnSpc>
                <a:spcPct val="100000"/>
              </a:lnSpc>
              <a:spcBef>
                <a:spcPts val="265"/>
              </a:spcBef>
            </a:pP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318766" y="4528184"/>
            <a:ext cx="1835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761" y="4211573"/>
            <a:ext cx="2095500" cy="0"/>
          </a:xfrm>
          <a:custGeom>
            <a:avLst/>
            <a:gdLst/>
            <a:ahLst/>
            <a:cxnLst/>
            <a:rect l="l" t="t" r="r" b="b"/>
            <a:pathLst>
              <a:path w="2095500" h="0">
                <a:moveTo>
                  <a:pt x="0" y="0"/>
                </a:moveTo>
                <a:lnTo>
                  <a:pt x="20955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456308" y="4177029"/>
            <a:ext cx="850265" cy="702310"/>
          </a:xfrm>
          <a:custGeom>
            <a:avLst/>
            <a:gdLst/>
            <a:ahLst/>
            <a:cxnLst/>
            <a:rect l="l" t="t" r="r" b="b"/>
            <a:pathLst>
              <a:path w="850264" h="702310">
                <a:moveTo>
                  <a:pt x="749814" y="644262"/>
                </a:moveTo>
                <a:lnTo>
                  <a:pt x="725678" y="673735"/>
                </a:lnTo>
                <a:lnTo>
                  <a:pt x="850265" y="702056"/>
                </a:lnTo>
                <a:lnTo>
                  <a:pt x="829817" y="656336"/>
                </a:lnTo>
                <a:lnTo>
                  <a:pt x="764540" y="656336"/>
                </a:lnTo>
                <a:lnTo>
                  <a:pt x="749814" y="644262"/>
                </a:lnTo>
                <a:close/>
              </a:path>
              <a:path w="850264" h="702310">
                <a:moveTo>
                  <a:pt x="773944" y="614798"/>
                </a:moveTo>
                <a:lnTo>
                  <a:pt x="749814" y="644262"/>
                </a:lnTo>
                <a:lnTo>
                  <a:pt x="764540" y="656336"/>
                </a:lnTo>
                <a:lnTo>
                  <a:pt x="788670" y="626872"/>
                </a:lnTo>
                <a:lnTo>
                  <a:pt x="773944" y="614798"/>
                </a:lnTo>
                <a:close/>
              </a:path>
              <a:path w="850264" h="702310">
                <a:moveTo>
                  <a:pt x="798067" y="585343"/>
                </a:moveTo>
                <a:lnTo>
                  <a:pt x="773944" y="614798"/>
                </a:lnTo>
                <a:lnTo>
                  <a:pt x="788670" y="626872"/>
                </a:lnTo>
                <a:lnTo>
                  <a:pt x="764540" y="656336"/>
                </a:lnTo>
                <a:lnTo>
                  <a:pt x="829817" y="656336"/>
                </a:lnTo>
                <a:lnTo>
                  <a:pt x="798067" y="585343"/>
                </a:lnTo>
                <a:close/>
              </a:path>
              <a:path w="850264" h="702310">
                <a:moveTo>
                  <a:pt x="24129" y="0"/>
                </a:moveTo>
                <a:lnTo>
                  <a:pt x="0" y="29464"/>
                </a:lnTo>
                <a:lnTo>
                  <a:pt x="749814" y="644262"/>
                </a:lnTo>
                <a:lnTo>
                  <a:pt x="773944" y="614798"/>
                </a:lnTo>
                <a:lnTo>
                  <a:pt x="2412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038975" y="5105400"/>
            <a:ext cx="0" cy="519430"/>
          </a:xfrm>
          <a:custGeom>
            <a:avLst/>
            <a:gdLst/>
            <a:ahLst/>
            <a:cxnLst/>
            <a:rect l="l" t="t" r="r" b="b"/>
            <a:pathLst>
              <a:path w="0" h="519429">
                <a:moveTo>
                  <a:pt x="0" y="0"/>
                </a:moveTo>
                <a:lnTo>
                  <a:pt x="0" y="5191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858125" y="5105400"/>
            <a:ext cx="0" cy="519430"/>
          </a:xfrm>
          <a:custGeom>
            <a:avLst/>
            <a:gdLst/>
            <a:ahLst/>
            <a:cxnLst/>
            <a:rect l="l" t="t" r="r" b="b"/>
            <a:pathLst>
              <a:path w="0" h="519429">
                <a:moveTo>
                  <a:pt x="0" y="0"/>
                </a:moveTo>
                <a:lnTo>
                  <a:pt x="0" y="5191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296025" y="5105400"/>
            <a:ext cx="0" cy="519430"/>
          </a:xfrm>
          <a:custGeom>
            <a:avLst/>
            <a:gdLst/>
            <a:ahLst/>
            <a:cxnLst/>
            <a:rect l="l" t="t" r="r" b="b"/>
            <a:pathLst>
              <a:path w="0" h="519429">
                <a:moveTo>
                  <a:pt x="0" y="0"/>
                </a:moveTo>
                <a:lnTo>
                  <a:pt x="0" y="519112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8772525" y="5105400"/>
            <a:ext cx="0" cy="519430"/>
          </a:xfrm>
          <a:custGeom>
            <a:avLst/>
            <a:gdLst/>
            <a:ahLst/>
            <a:cxnLst/>
            <a:rect l="l" t="t" r="r" b="b"/>
            <a:pathLst>
              <a:path w="0" h="519429">
                <a:moveTo>
                  <a:pt x="0" y="0"/>
                </a:moveTo>
                <a:lnTo>
                  <a:pt x="0" y="519112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281801" y="5119623"/>
            <a:ext cx="2505075" cy="0"/>
          </a:xfrm>
          <a:custGeom>
            <a:avLst/>
            <a:gdLst/>
            <a:ahLst/>
            <a:cxnLst/>
            <a:rect l="l" t="t" r="r" b="b"/>
            <a:pathLst>
              <a:path w="2505075" h="0">
                <a:moveTo>
                  <a:pt x="0" y="0"/>
                </a:moveTo>
                <a:lnTo>
                  <a:pt x="2504948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281801" y="5610225"/>
            <a:ext cx="2505075" cy="0"/>
          </a:xfrm>
          <a:custGeom>
            <a:avLst/>
            <a:gdLst/>
            <a:ahLst/>
            <a:cxnLst/>
            <a:rect l="l" t="t" r="r" b="b"/>
            <a:pathLst>
              <a:path w="2505075" h="0">
                <a:moveTo>
                  <a:pt x="0" y="0"/>
                </a:moveTo>
                <a:lnTo>
                  <a:pt x="2504948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6489319" y="5178933"/>
            <a:ext cx="105600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77569" algn="l"/>
              </a:tabLst>
            </a:pPr>
            <a:r>
              <a:rPr dirty="0" sz="2600" spc="5" b="1">
                <a:solidFill>
                  <a:srgbClr val="00FFFF"/>
                </a:solidFill>
                <a:latin typeface="Times New Roman"/>
                <a:cs typeface="Times New Roman"/>
              </a:rPr>
              <a:t>2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0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	</a:t>
            </a:r>
            <a:r>
              <a:rPr dirty="0" sz="260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229981" y="5178933"/>
            <a:ext cx="17272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929889" y="4571822"/>
            <a:ext cx="9747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9532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b="1">
                <a:solidFill>
                  <a:srgbClr val="FFFFFF"/>
                </a:solidFill>
                <a:latin typeface="Arial"/>
                <a:cs typeface="Arial"/>
              </a:rPr>
              <a:t>,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a,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145737" y="4571822"/>
            <a:ext cx="9461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56590" algn="l"/>
              </a:tabLst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c)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5549646" y="4555997"/>
            <a:ext cx="3595370" cy="1941830"/>
          </a:xfrm>
          <a:custGeom>
            <a:avLst/>
            <a:gdLst/>
            <a:ahLst/>
            <a:cxnLst/>
            <a:rect l="l" t="t" r="r" b="b"/>
            <a:pathLst>
              <a:path w="3595370" h="1941829">
                <a:moveTo>
                  <a:pt x="0" y="1941576"/>
                </a:moveTo>
                <a:lnTo>
                  <a:pt x="3595115" y="1941576"/>
                </a:lnTo>
                <a:lnTo>
                  <a:pt x="3595115" y="0"/>
                </a:lnTo>
                <a:lnTo>
                  <a:pt x="0" y="0"/>
                </a:lnTo>
                <a:lnTo>
                  <a:pt x="0" y="1941576"/>
                </a:lnTo>
                <a:close/>
              </a:path>
            </a:pathLst>
          </a:custGeom>
          <a:ln w="38100">
            <a:solidFill>
              <a:srgbClr val="99FF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516373" y="6135623"/>
            <a:ext cx="1033780" cy="114300"/>
          </a:xfrm>
          <a:custGeom>
            <a:avLst/>
            <a:gdLst/>
            <a:ahLst/>
            <a:cxnLst/>
            <a:rect l="l" t="t" r="r" b="b"/>
            <a:pathLst>
              <a:path w="1033779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1033779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1033779" h="114300">
                <a:moveTo>
                  <a:pt x="1033272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1033272" y="76199"/>
                </a:lnTo>
                <a:lnTo>
                  <a:pt x="1033272" y="38099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3527297" y="5908040"/>
            <a:ext cx="84328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99FF33"/>
                </a:solidFill>
                <a:latin typeface="宋体"/>
                <a:cs typeface="宋体"/>
              </a:rPr>
              <a:t>返填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8262366" y="2650489"/>
            <a:ext cx="586739" cy="5735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8409051" y="2586799"/>
            <a:ext cx="293370" cy="424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8409051" y="2544286"/>
            <a:ext cx="293370" cy="212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8262366" y="2650489"/>
            <a:ext cx="586740" cy="574040"/>
          </a:xfrm>
          <a:custGeom>
            <a:avLst/>
            <a:gdLst/>
            <a:ahLst/>
            <a:cxnLst/>
            <a:rect l="l" t="t" r="r" b="b"/>
            <a:pathLst>
              <a:path w="586740" h="574039">
                <a:moveTo>
                  <a:pt x="586739" y="403606"/>
                </a:moveTo>
                <a:lnTo>
                  <a:pt x="440054" y="403606"/>
                </a:lnTo>
                <a:lnTo>
                  <a:pt x="440054" y="0"/>
                </a:lnTo>
                <a:lnTo>
                  <a:pt x="146684" y="0"/>
                </a:lnTo>
                <a:lnTo>
                  <a:pt x="146684" y="403606"/>
                </a:lnTo>
                <a:lnTo>
                  <a:pt x="0" y="403606"/>
                </a:lnTo>
                <a:lnTo>
                  <a:pt x="293369" y="573532"/>
                </a:lnTo>
                <a:lnTo>
                  <a:pt x="586739" y="40360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8390001" y="2584576"/>
            <a:ext cx="331470" cy="64135"/>
          </a:xfrm>
          <a:custGeom>
            <a:avLst/>
            <a:gdLst/>
            <a:ahLst/>
            <a:cxnLst/>
            <a:rect l="l" t="t" r="r" b="b"/>
            <a:pathLst>
              <a:path w="331470" h="64135">
                <a:moveTo>
                  <a:pt x="0" y="63753"/>
                </a:moveTo>
                <a:lnTo>
                  <a:pt x="331470" y="63753"/>
                </a:lnTo>
                <a:lnTo>
                  <a:pt x="331470" y="0"/>
                </a:lnTo>
                <a:lnTo>
                  <a:pt x="0" y="0"/>
                </a:lnTo>
                <a:lnTo>
                  <a:pt x="0" y="6375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8390001" y="2525236"/>
            <a:ext cx="331470" cy="59690"/>
          </a:xfrm>
          <a:custGeom>
            <a:avLst/>
            <a:gdLst/>
            <a:ahLst/>
            <a:cxnLst/>
            <a:rect l="l" t="t" r="r" b="b"/>
            <a:pathLst>
              <a:path w="331470" h="59689">
                <a:moveTo>
                  <a:pt x="0" y="59340"/>
                </a:moveTo>
                <a:lnTo>
                  <a:pt x="331470" y="59340"/>
                </a:lnTo>
                <a:lnTo>
                  <a:pt x="331470" y="0"/>
                </a:lnTo>
                <a:lnTo>
                  <a:pt x="0" y="0"/>
                </a:lnTo>
                <a:lnTo>
                  <a:pt x="0" y="5934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153911" y="1738883"/>
            <a:ext cx="2618740" cy="746760"/>
          </a:xfrm>
          <a:custGeom>
            <a:avLst/>
            <a:gdLst/>
            <a:ahLst/>
            <a:cxnLst/>
            <a:rect l="l" t="t" r="r" b="b"/>
            <a:pathLst>
              <a:path w="2618740" h="746760">
                <a:moveTo>
                  <a:pt x="0" y="0"/>
                </a:moveTo>
                <a:lnTo>
                  <a:pt x="2618232" y="746760"/>
                </a:lnTo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8367521" y="4165091"/>
            <a:ext cx="586739" cy="57226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8514206" y="4101496"/>
            <a:ext cx="293370" cy="4238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8514206" y="4059189"/>
            <a:ext cx="293370" cy="2119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8367521" y="4165091"/>
            <a:ext cx="586740" cy="572770"/>
          </a:xfrm>
          <a:custGeom>
            <a:avLst/>
            <a:gdLst/>
            <a:ahLst/>
            <a:cxnLst/>
            <a:rect l="l" t="t" r="r" b="b"/>
            <a:pathLst>
              <a:path w="586740" h="572770">
                <a:moveTo>
                  <a:pt x="586739" y="402716"/>
                </a:moveTo>
                <a:lnTo>
                  <a:pt x="440054" y="402716"/>
                </a:lnTo>
                <a:lnTo>
                  <a:pt x="440054" y="0"/>
                </a:lnTo>
                <a:lnTo>
                  <a:pt x="146684" y="0"/>
                </a:lnTo>
                <a:lnTo>
                  <a:pt x="146684" y="402716"/>
                </a:lnTo>
                <a:lnTo>
                  <a:pt x="0" y="402716"/>
                </a:lnTo>
                <a:lnTo>
                  <a:pt x="293370" y="572261"/>
                </a:lnTo>
                <a:lnTo>
                  <a:pt x="586739" y="40271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8495156" y="4099433"/>
            <a:ext cx="331470" cy="63500"/>
          </a:xfrm>
          <a:custGeom>
            <a:avLst/>
            <a:gdLst/>
            <a:ahLst/>
            <a:cxnLst/>
            <a:rect l="l" t="t" r="r" b="b"/>
            <a:pathLst>
              <a:path w="331470" h="63500">
                <a:moveTo>
                  <a:pt x="0" y="63500"/>
                </a:moveTo>
                <a:lnTo>
                  <a:pt x="331470" y="63500"/>
                </a:lnTo>
                <a:lnTo>
                  <a:pt x="331470" y="0"/>
                </a:lnTo>
                <a:lnTo>
                  <a:pt x="0" y="0"/>
                </a:lnTo>
                <a:lnTo>
                  <a:pt x="0" y="635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8495156" y="4040139"/>
            <a:ext cx="331470" cy="59690"/>
          </a:xfrm>
          <a:custGeom>
            <a:avLst/>
            <a:gdLst/>
            <a:ahLst/>
            <a:cxnLst/>
            <a:rect l="l" t="t" r="r" b="b"/>
            <a:pathLst>
              <a:path w="331470" h="59689">
                <a:moveTo>
                  <a:pt x="0" y="59293"/>
                </a:moveTo>
                <a:lnTo>
                  <a:pt x="331470" y="59293"/>
                </a:lnTo>
                <a:lnTo>
                  <a:pt x="331470" y="0"/>
                </a:lnTo>
                <a:lnTo>
                  <a:pt x="0" y="0"/>
                </a:lnTo>
                <a:lnTo>
                  <a:pt x="0" y="5929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6153911" y="3223260"/>
            <a:ext cx="2694940" cy="696595"/>
          </a:xfrm>
          <a:custGeom>
            <a:avLst/>
            <a:gdLst/>
            <a:ahLst/>
            <a:cxnLst/>
            <a:rect l="l" t="t" r="r" b="b"/>
            <a:pathLst>
              <a:path w="2694940" h="696595">
                <a:moveTo>
                  <a:pt x="0" y="0"/>
                </a:moveTo>
                <a:lnTo>
                  <a:pt x="2694432" y="696467"/>
                </a:lnTo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4572761" y="2410586"/>
            <a:ext cx="3550285" cy="1320800"/>
          </a:xfrm>
          <a:custGeom>
            <a:avLst/>
            <a:gdLst/>
            <a:ahLst/>
            <a:cxnLst/>
            <a:rect l="l" t="t" r="r" b="b"/>
            <a:pathLst>
              <a:path w="3550284" h="1320800">
                <a:moveTo>
                  <a:pt x="87884" y="1212977"/>
                </a:moveTo>
                <a:lnTo>
                  <a:pt x="0" y="1305687"/>
                </a:lnTo>
                <a:lnTo>
                  <a:pt x="127000" y="1320419"/>
                </a:lnTo>
                <a:lnTo>
                  <a:pt x="116319" y="1291082"/>
                </a:lnTo>
                <a:lnTo>
                  <a:pt x="96012" y="1291082"/>
                </a:lnTo>
                <a:lnTo>
                  <a:pt x="83058" y="1255268"/>
                </a:lnTo>
                <a:lnTo>
                  <a:pt x="100917" y="1248776"/>
                </a:lnTo>
                <a:lnTo>
                  <a:pt x="87884" y="1212977"/>
                </a:lnTo>
                <a:close/>
              </a:path>
              <a:path w="3550284" h="1320800">
                <a:moveTo>
                  <a:pt x="100917" y="1248776"/>
                </a:moveTo>
                <a:lnTo>
                  <a:pt x="83058" y="1255268"/>
                </a:lnTo>
                <a:lnTo>
                  <a:pt x="96012" y="1291082"/>
                </a:lnTo>
                <a:lnTo>
                  <a:pt x="113946" y="1284563"/>
                </a:lnTo>
                <a:lnTo>
                  <a:pt x="100917" y="1248776"/>
                </a:lnTo>
                <a:close/>
              </a:path>
              <a:path w="3550284" h="1320800">
                <a:moveTo>
                  <a:pt x="113946" y="1284563"/>
                </a:moveTo>
                <a:lnTo>
                  <a:pt x="96012" y="1291082"/>
                </a:lnTo>
                <a:lnTo>
                  <a:pt x="116319" y="1291082"/>
                </a:lnTo>
                <a:lnTo>
                  <a:pt x="113946" y="1284563"/>
                </a:lnTo>
                <a:close/>
              </a:path>
              <a:path w="3550284" h="1320800">
                <a:moveTo>
                  <a:pt x="3536822" y="0"/>
                </a:moveTo>
                <a:lnTo>
                  <a:pt x="100917" y="1248776"/>
                </a:lnTo>
                <a:lnTo>
                  <a:pt x="113946" y="1284563"/>
                </a:lnTo>
                <a:lnTo>
                  <a:pt x="3549777" y="35813"/>
                </a:lnTo>
                <a:lnTo>
                  <a:pt x="353682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4946903" y="2455036"/>
            <a:ext cx="666750" cy="1405890"/>
          </a:xfrm>
          <a:custGeom>
            <a:avLst/>
            <a:gdLst/>
            <a:ahLst/>
            <a:cxnLst/>
            <a:rect l="l" t="t" r="r" b="b"/>
            <a:pathLst>
              <a:path w="666750" h="1405889">
                <a:moveTo>
                  <a:pt x="13716" y="1261999"/>
                </a:moveTo>
                <a:lnTo>
                  <a:pt x="0" y="1297558"/>
                </a:lnTo>
                <a:lnTo>
                  <a:pt x="44704" y="1314831"/>
                </a:lnTo>
                <a:lnTo>
                  <a:pt x="133476" y="1347851"/>
                </a:lnTo>
                <a:lnTo>
                  <a:pt x="177292" y="1362837"/>
                </a:lnTo>
                <a:lnTo>
                  <a:pt x="220345" y="1376171"/>
                </a:lnTo>
                <a:lnTo>
                  <a:pt x="262763" y="1387602"/>
                </a:lnTo>
                <a:lnTo>
                  <a:pt x="303911" y="1396619"/>
                </a:lnTo>
                <a:lnTo>
                  <a:pt x="344043" y="1402842"/>
                </a:lnTo>
                <a:lnTo>
                  <a:pt x="382778" y="1405636"/>
                </a:lnTo>
                <a:lnTo>
                  <a:pt x="401574" y="1405636"/>
                </a:lnTo>
                <a:lnTo>
                  <a:pt x="455549" y="1399286"/>
                </a:lnTo>
                <a:lnTo>
                  <a:pt x="505206" y="1381887"/>
                </a:lnTo>
                <a:lnTo>
                  <a:pt x="528763" y="1367536"/>
                </a:lnTo>
                <a:lnTo>
                  <a:pt x="384556" y="1367536"/>
                </a:lnTo>
                <a:lnTo>
                  <a:pt x="367157" y="1366774"/>
                </a:lnTo>
                <a:lnTo>
                  <a:pt x="311531" y="1359408"/>
                </a:lnTo>
                <a:lnTo>
                  <a:pt x="272288" y="1350771"/>
                </a:lnTo>
                <a:lnTo>
                  <a:pt x="231648" y="1339850"/>
                </a:lnTo>
                <a:lnTo>
                  <a:pt x="189611" y="1326769"/>
                </a:lnTo>
                <a:lnTo>
                  <a:pt x="146558" y="1312037"/>
                </a:lnTo>
                <a:lnTo>
                  <a:pt x="102743" y="1296035"/>
                </a:lnTo>
                <a:lnTo>
                  <a:pt x="13716" y="1261999"/>
                </a:lnTo>
                <a:close/>
              </a:path>
              <a:path w="666750" h="1405889">
                <a:moveTo>
                  <a:pt x="535901" y="81787"/>
                </a:moveTo>
                <a:lnTo>
                  <a:pt x="397637" y="81787"/>
                </a:lnTo>
                <a:lnTo>
                  <a:pt x="416051" y="82803"/>
                </a:lnTo>
                <a:lnTo>
                  <a:pt x="433832" y="84709"/>
                </a:lnTo>
                <a:lnTo>
                  <a:pt x="482346" y="96520"/>
                </a:lnTo>
                <a:lnTo>
                  <a:pt x="522350" y="118872"/>
                </a:lnTo>
                <a:lnTo>
                  <a:pt x="553085" y="153797"/>
                </a:lnTo>
                <a:lnTo>
                  <a:pt x="572262" y="199009"/>
                </a:lnTo>
                <a:lnTo>
                  <a:pt x="585978" y="248538"/>
                </a:lnTo>
                <a:lnTo>
                  <a:pt x="595122" y="292608"/>
                </a:lnTo>
                <a:lnTo>
                  <a:pt x="605663" y="359283"/>
                </a:lnTo>
                <a:lnTo>
                  <a:pt x="614299" y="433070"/>
                </a:lnTo>
                <a:lnTo>
                  <a:pt x="617855" y="472186"/>
                </a:lnTo>
                <a:lnTo>
                  <a:pt x="621030" y="512445"/>
                </a:lnTo>
                <a:lnTo>
                  <a:pt x="623443" y="553847"/>
                </a:lnTo>
                <a:lnTo>
                  <a:pt x="625475" y="595884"/>
                </a:lnTo>
                <a:lnTo>
                  <a:pt x="626999" y="638428"/>
                </a:lnTo>
                <a:lnTo>
                  <a:pt x="628394" y="724915"/>
                </a:lnTo>
                <a:lnTo>
                  <a:pt x="627761" y="810895"/>
                </a:lnTo>
                <a:lnTo>
                  <a:pt x="626618" y="853313"/>
                </a:lnTo>
                <a:lnTo>
                  <a:pt x="624967" y="895096"/>
                </a:lnTo>
                <a:lnTo>
                  <a:pt x="622681" y="936116"/>
                </a:lnTo>
                <a:lnTo>
                  <a:pt x="619887" y="976122"/>
                </a:lnTo>
                <a:lnTo>
                  <a:pt x="616585" y="1014729"/>
                </a:lnTo>
                <a:lnTo>
                  <a:pt x="608203" y="1087501"/>
                </a:lnTo>
                <a:lnTo>
                  <a:pt x="597535" y="1152906"/>
                </a:lnTo>
                <a:lnTo>
                  <a:pt x="588263" y="1195705"/>
                </a:lnTo>
                <a:lnTo>
                  <a:pt x="577723" y="1232662"/>
                </a:lnTo>
                <a:lnTo>
                  <a:pt x="562483" y="1270508"/>
                </a:lnTo>
                <a:lnTo>
                  <a:pt x="534924" y="1311529"/>
                </a:lnTo>
                <a:lnTo>
                  <a:pt x="501776" y="1340104"/>
                </a:lnTo>
                <a:lnTo>
                  <a:pt x="462915" y="1358011"/>
                </a:lnTo>
                <a:lnTo>
                  <a:pt x="417830" y="1366646"/>
                </a:lnTo>
                <a:lnTo>
                  <a:pt x="401574" y="1367536"/>
                </a:lnTo>
                <a:lnTo>
                  <a:pt x="528763" y="1367536"/>
                </a:lnTo>
                <a:lnTo>
                  <a:pt x="562229" y="1338199"/>
                </a:lnTo>
                <a:lnTo>
                  <a:pt x="585470" y="1307083"/>
                </a:lnTo>
                <a:lnTo>
                  <a:pt x="605155" y="1268476"/>
                </a:lnTo>
                <a:lnTo>
                  <a:pt x="621411" y="1219200"/>
                </a:lnTo>
                <a:lnTo>
                  <a:pt x="631825" y="1176020"/>
                </a:lnTo>
                <a:lnTo>
                  <a:pt x="640715" y="1127760"/>
                </a:lnTo>
                <a:lnTo>
                  <a:pt x="650367" y="1056766"/>
                </a:lnTo>
                <a:lnTo>
                  <a:pt x="654431" y="1018793"/>
                </a:lnTo>
                <a:lnTo>
                  <a:pt x="657860" y="979424"/>
                </a:lnTo>
                <a:lnTo>
                  <a:pt x="660654" y="938784"/>
                </a:lnTo>
                <a:lnTo>
                  <a:pt x="663067" y="897254"/>
                </a:lnTo>
                <a:lnTo>
                  <a:pt x="664718" y="854837"/>
                </a:lnTo>
                <a:lnTo>
                  <a:pt x="665861" y="811911"/>
                </a:lnTo>
                <a:lnTo>
                  <a:pt x="666491" y="724662"/>
                </a:lnTo>
                <a:lnTo>
                  <a:pt x="665099" y="637793"/>
                </a:lnTo>
                <a:lnTo>
                  <a:pt x="663575" y="594487"/>
                </a:lnTo>
                <a:lnTo>
                  <a:pt x="661543" y="551941"/>
                </a:lnTo>
                <a:lnTo>
                  <a:pt x="659003" y="510159"/>
                </a:lnTo>
                <a:lnTo>
                  <a:pt x="655828" y="469264"/>
                </a:lnTo>
                <a:lnTo>
                  <a:pt x="652272" y="429640"/>
                </a:lnTo>
                <a:lnTo>
                  <a:pt x="648208" y="391287"/>
                </a:lnTo>
                <a:lnTo>
                  <a:pt x="638301" y="319404"/>
                </a:lnTo>
                <a:lnTo>
                  <a:pt x="629666" y="270255"/>
                </a:lnTo>
                <a:lnTo>
                  <a:pt x="619760" y="226187"/>
                </a:lnTo>
                <a:lnTo>
                  <a:pt x="608584" y="187578"/>
                </a:lnTo>
                <a:lnTo>
                  <a:pt x="587121" y="136778"/>
                </a:lnTo>
                <a:lnTo>
                  <a:pt x="562483" y="104012"/>
                </a:lnTo>
                <a:lnTo>
                  <a:pt x="547878" y="90550"/>
                </a:lnTo>
                <a:lnTo>
                  <a:pt x="535901" y="81787"/>
                </a:lnTo>
                <a:close/>
              </a:path>
              <a:path w="666750" h="1405889">
                <a:moveTo>
                  <a:pt x="155829" y="0"/>
                </a:moveTo>
                <a:lnTo>
                  <a:pt x="57658" y="111887"/>
                </a:lnTo>
                <a:lnTo>
                  <a:pt x="185420" y="188213"/>
                </a:lnTo>
                <a:lnTo>
                  <a:pt x="174038" y="115824"/>
                </a:lnTo>
                <a:lnTo>
                  <a:pt x="155194" y="115824"/>
                </a:lnTo>
                <a:lnTo>
                  <a:pt x="148462" y="78359"/>
                </a:lnTo>
                <a:lnTo>
                  <a:pt x="167607" y="74916"/>
                </a:lnTo>
                <a:lnTo>
                  <a:pt x="155829" y="0"/>
                </a:lnTo>
                <a:close/>
              </a:path>
              <a:path w="666750" h="1405889">
                <a:moveTo>
                  <a:pt x="167607" y="74916"/>
                </a:moveTo>
                <a:lnTo>
                  <a:pt x="148462" y="78359"/>
                </a:lnTo>
                <a:lnTo>
                  <a:pt x="155194" y="115824"/>
                </a:lnTo>
                <a:lnTo>
                  <a:pt x="173520" y="112526"/>
                </a:lnTo>
                <a:lnTo>
                  <a:pt x="167607" y="74916"/>
                </a:lnTo>
                <a:close/>
              </a:path>
              <a:path w="666750" h="1405889">
                <a:moveTo>
                  <a:pt x="173520" y="112526"/>
                </a:moveTo>
                <a:lnTo>
                  <a:pt x="155194" y="115824"/>
                </a:lnTo>
                <a:lnTo>
                  <a:pt x="174038" y="115824"/>
                </a:lnTo>
                <a:lnTo>
                  <a:pt x="173520" y="112526"/>
                </a:lnTo>
                <a:close/>
              </a:path>
              <a:path w="666750" h="1405889">
                <a:moveTo>
                  <a:pt x="379095" y="43687"/>
                </a:moveTo>
                <a:lnTo>
                  <a:pt x="337312" y="45847"/>
                </a:lnTo>
                <a:lnTo>
                  <a:pt x="275209" y="53848"/>
                </a:lnTo>
                <a:lnTo>
                  <a:pt x="234569" y="61213"/>
                </a:lnTo>
                <a:lnTo>
                  <a:pt x="195961" y="69087"/>
                </a:lnTo>
                <a:lnTo>
                  <a:pt x="177419" y="73151"/>
                </a:lnTo>
                <a:lnTo>
                  <a:pt x="167607" y="74916"/>
                </a:lnTo>
                <a:lnTo>
                  <a:pt x="173520" y="112526"/>
                </a:lnTo>
                <a:lnTo>
                  <a:pt x="185547" y="110362"/>
                </a:lnTo>
                <a:lnTo>
                  <a:pt x="203581" y="106425"/>
                </a:lnTo>
                <a:lnTo>
                  <a:pt x="241426" y="98678"/>
                </a:lnTo>
                <a:lnTo>
                  <a:pt x="280543" y="91566"/>
                </a:lnTo>
                <a:lnTo>
                  <a:pt x="320421" y="85978"/>
                </a:lnTo>
                <a:lnTo>
                  <a:pt x="359663" y="82550"/>
                </a:lnTo>
                <a:lnTo>
                  <a:pt x="378968" y="81787"/>
                </a:lnTo>
                <a:lnTo>
                  <a:pt x="535901" y="81787"/>
                </a:lnTo>
                <a:lnTo>
                  <a:pt x="532257" y="79121"/>
                </a:lnTo>
                <a:lnTo>
                  <a:pt x="497586" y="61595"/>
                </a:lnTo>
                <a:lnTo>
                  <a:pt x="459994" y="50546"/>
                </a:lnTo>
                <a:lnTo>
                  <a:pt x="420243" y="44958"/>
                </a:lnTo>
                <a:lnTo>
                  <a:pt x="399796" y="43814"/>
                </a:lnTo>
                <a:lnTo>
                  <a:pt x="379095" y="4368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4953761" y="3795648"/>
            <a:ext cx="3258185" cy="465455"/>
          </a:xfrm>
          <a:custGeom>
            <a:avLst/>
            <a:gdLst/>
            <a:ahLst/>
            <a:cxnLst/>
            <a:rect l="l" t="t" r="r" b="b"/>
            <a:pathLst>
              <a:path w="3258184" h="465454">
                <a:moveTo>
                  <a:pt x="114302" y="72025"/>
                </a:moveTo>
                <a:lnTo>
                  <a:pt x="101847" y="108071"/>
                </a:lnTo>
                <a:lnTo>
                  <a:pt x="422528" y="216662"/>
                </a:lnTo>
                <a:lnTo>
                  <a:pt x="529589" y="251078"/>
                </a:lnTo>
                <a:lnTo>
                  <a:pt x="636397" y="283844"/>
                </a:lnTo>
                <a:lnTo>
                  <a:pt x="743203" y="315087"/>
                </a:lnTo>
                <a:lnTo>
                  <a:pt x="849502" y="344043"/>
                </a:lnTo>
                <a:lnTo>
                  <a:pt x="955675" y="370839"/>
                </a:lnTo>
                <a:lnTo>
                  <a:pt x="1061465" y="394843"/>
                </a:lnTo>
                <a:lnTo>
                  <a:pt x="1166876" y="415798"/>
                </a:lnTo>
                <a:lnTo>
                  <a:pt x="1271777" y="433450"/>
                </a:lnTo>
                <a:lnTo>
                  <a:pt x="1376299" y="447675"/>
                </a:lnTo>
                <a:lnTo>
                  <a:pt x="1480185" y="457834"/>
                </a:lnTo>
                <a:lnTo>
                  <a:pt x="1583689" y="463803"/>
                </a:lnTo>
                <a:lnTo>
                  <a:pt x="1686306" y="465200"/>
                </a:lnTo>
                <a:lnTo>
                  <a:pt x="1788287" y="462025"/>
                </a:lnTo>
                <a:lnTo>
                  <a:pt x="1889633" y="454278"/>
                </a:lnTo>
                <a:lnTo>
                  <a:pt x="1990216" y="442340"/>
                </a:lnTo>
                <a:lnTo>
                  <a:pt x="2085247" y="427227"/>
                </a:lnTo>
                <a:lnTo>
                  <a:pt x="1685163" y="427227"/>
                </a:lnTo>
                <a:lnTo>
                  <a:pt x="1584197" y="425703"/>
                </a:lnTo>
                <a:lnTo>
                  <a:pt x="1482471" y="419734"/>
                </a:lnTo>
                <a:lnTo>
                  <a:pt x="1379982" y="409701"/>
                </a:lnTo>
                <a:lnTo>
                  <a:pt x="1276858" y="395731"/>
                </a:lnTo>
                <a:lnTo>
                  <a:pt x="1173226" y="378206"/>
                </a:lnTo>
                <a:lnTo>
                  <a:pt x="1068959" y="357377"/>
                </a:lnTo>
                <a:lnTo>
                  <a:pt x="964057" y="333628"/>
                </a:lnTo>
                <a:lnTo>
                  <a:pt x="858901" y="307213"/>
                </a:lnTo>
                <a:lnTo>
                  <a:pt x="753237" y="278256"/>
                </a:lnTo>
                <a:lnTo>
                  <a:pt x="647191" y="247395"/>
                </a:lnTo>
                <a:lnTo>
                  <a:pt x="540765" y="214630"/>
                </a:lnTo>
                <a:lnTo>
                  <a:pt x="434213" y="180467"/>
                </a:lnTo>
                <a:lnTo>
                  <a:pt x="220345" y="108712"/>
                </a:lnTo>
                <a:lnTo>
                  <a:pt x="114302" y="72025"/>
                </a:lnTo>
                <a:close/>
              </a:path>
              <a:path w="3258184" h="465454">
                <a:moveTo>
                  <a:pt x="3243580" y="9651"/>
                </a:moveTo>
                <a:lnTo>
                  <a:pt x="3051429" y="86740"/>
                </a:lnTo>
                <a:lnTo>
                  <a:pt x="2859023" y="161417"/>
                </a:lnTo>
                <a:lnTo>
                  <a:pt x="2762885" y="197103"/>
                </a:lnTo>
                <a:lnTo>
                  <a:pt x="2666491" y="231267"/>
                </a:lnTo>
                <a:lnTo>
                  <a:pt x="2570098" y="263906"/>
                </a:lnTo>
                <a:lnTo>
                  <a:pt x="2473324" y="294258"/>
                </a:lnTo>
                <a:lnTo>
                  <a:pt x="2376169" y="322199"/>
                </a:lnTo>
                <a:lnTo>
                  <a:pt x="2278761" y="347599"/>
                </a:lnTo>
                <a:lnTo>
                  <a:pt x="2180970" y="370077"/>
                </a:lnTo>
                <a:lnTo>
                  <a:pt x="2082799" y="389127"/>
                </a:lnTo>
                <a:lnTo>
                  <a:pt x="1984247" y="404749"/>
                </a:lnTo>
                <a:lnTo>
                  <a:pt x="1885188" y="416432"/>
                </a:lnTo>
                <a:lnTo>
                  <a:pt x="1785492" y="423925"/>
                </a:lnTo>
                <a:lnTo>
                  <a:pt x="1685163" y="427227"/>
                </a:lnTo>
                <a:lnTo>
                  <a:pt x="2085247" y="427227"/>
                </a:lnTo>
                <a:lnTo>
                  <a:pt x="2189480" y="407162"/>
                </a:lnTo>
                <a:lnTo>
                  <a:pt x="2288286" y="384428"/>
                </a:lnTo>
                <a:lnTo>
                  <a:pt x="2386711" y="358775"/>
                </a:lnTo>
                <a:lnTo>
                  <a:pt x="2484628" y="330581"/>
                </a:lnTo>
                <a:lnTo>
                  <a:pt x="2582164" y="299974"/>
                </a:lnTo>
                <a:lnTo>
                  <a:pt x="2679318" y="267207"/>
                </a:lnTo>
                <a:lnTo>
                  <a:pt x="2776219" y="232790"/>
                </a:lnTo>
                <a:lnTo>
                  <a:pt x="2872866" y="196850"/>
                </a:lnTo>
                <a:lnTo>
                  <a:pt x="3065526" y="122046"/>
                </a:lnTo>
                <a:lnTo>
                  <a:pt x="3257804" y="44957"/>
                </a:lnTo>
                <a:lnTo>
                  <a:pt x="3243580" y="9651"/>
                </a:lnTo>
                <a:close/>
              </a:path>
              <a:path w="3258184" h="465454">
                <a:moveTo>
                  <a:pt x="139191" y="0"/>
                </a:moveTo>
                <a:lnTo>
                  <a:pt x="0" y="52705"/>
                </a:lnTo>
                <a:lnTo>
                  <a:pt x="76962" y="180086"/>
                </a:lnTo>
                <a:lnTo>
                  <a:pt x="101847" y="108071"/>
                </a:lnTo>
                <a:lnTo>
                  <a:pt x="83820" y="101853"/>
                </a:lnTo>
                <a:lnTo>
                  <a:pt x="96265" y="65786"/>
                </a:lnTo>
                <a:lnTo>
                  <a:pt x="116459" y="65786"/>
                </a:lnTo>
                <a:lnTo>
                  <a:pt x="139191" y="0"/>
                </a:lnTo>
                <a:close/>
              </a:path>
              <a:path w="3258184" h="465454">
                <a:moveTo>
                  <a:pt x="96265" y="65786"/>
                </a:moveTo>
                <a:lnTo>
                  <a:pt x="83820" y="101853"/>
                </a:lnTo>
                <a:lnTo>
                  <a:pt x="101847" y="108071"/>
                </a:lnTo>
                <a:lnTo>
                  <a:pt x="114302" y="72025"/>
                </a:lnTo>
                <a:lnTo>
                  <a:pt x="96265" y="65786"/>
                </a:lnTo>
                <a:close/>
              </a:path>
              <a:path w="3258184" h="465454">
                <a:moveTo>
                  <a:pt x="116459" y="65786"/>
                </a:moveTo>
                <a:lnTo>
                  <a:pt x="96265" y="65786"/>
                </a:lnTo>
                <a:lnTo>
                  <a:pt x="114302" y="72025"/>
                </a:lnTo>
                <a:lnTo>
                  <a:pt x="116459" y="65786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2454655" y="4848478"/>
            <a:ext cx="3841115" cy="569595"/>
          </a:xfrm>
          <a:custGeom>
            <a:avLst/>
            <a:gdLst/>
            <a:ahLst/>
            <a:cxnLst/>
            <a:rect l="l" t="t" r="r" b="b"/>
            <a:pathLst>
              <a:path w="3841115" h="569595">
                <a:moveTo>
                  <a:pt x="3667327" y="512600"/>
                </a:moveTo>
                <a:lnTo>
                  <a:pt x="3660267" y="569214"/>
                </a:lnTo>
                <a:lnTo>
                  <a:pt x="3810448" y="516128"/>
                </a:lnTo>
                <a:lnTo>
                  <a:pt x="3695700" y="516128"/>
                </a:lnTo>
                <a:lnTo>
                  <a:pt x="3667327" y="512600"/>
                </a:lnTo>
                <a:close/>
              </a:path>
              <a:path w="3841115" h="569595">
                <a:moveTo>
                  <a:pt x="3674406" y="455843"/>
                </a:moveTo>
                <a:lnTo>
                  <a:pt x="3667327" y="512600"/>
                </a:lnTo>
                <a:lnTo>
                  <a:pt x="3695700" y="516128"/>
                </a:lnTo>
                <a:lnTo>
                  <a:pt x="3702685" y="459359"/>
                </a:lnTo>
                <a:lnTo>
                  <a:pt x="3674406" y="455843"/>
                </a:lnTo>
                <a:close/>
              </a:path>
              <a:path w="3841115" h="569595">
                <a:moveTo>
                  <a:pt x="3681476" y="399161"/>
                </a:moveTo>
                <a:lnTo>
                  <a:pt x="3674406" y="455843"/>
                </a:lnTo>
                <a:lnTo>
                  <a:pt x="3702685" y="459359"/>
                </a:lnTo>
                <a:lnTo>
                  <a:pt x="3695700" y="516128"/>
                </a:lnTo>
                <a:lnTo>
                  <a:pt x="3810448" y="516128"/>
                </a:lnTo>
                <a:lnTo>
                  <a:pt x="3840988" y="505333"/>
                </a:lnTo>
                <a:lnTo>
                  <a:pt x="3681476" y="399161"/>
                </a:lnTo>
                <a:close/>
              </a:path>
              <a:path w="3841115" h="569595">
                <a:moveTo>
                  <a:pt x="7112" y="0"/>
                </a:moveTo>
                <a:lnTo>
                  <a:pt x="0" y="56642"/>
                </a:lnTo>
                <a:lnTo>
                  <a:pt x="3667327" y="512600"/>
                </a:lnTo>
                <a:lnTo>
                  <a:pt x="3674406" y="455843"/>
                </a:lnTo>
                <a:lnTo>
                  <a:pt x="7112" y="0"/>
                </a:lnTo>
                <a:close/>
              </a:path>
            </a:pathLst>
          </a:custGeom>
          <a:solidFill>
            <a:srgbClr val="99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2154173" y="4511802"/>
            <a:ext cx="553720" cy="558165"/>
          </a:xfrm>
          <a:custGeom>
            <a:avLst/>
            <a:gdLst/>
            <a:ahLst/>
            <a:cxnLst/>
            <a:rect l="l" t="t" r="r" b="b"/>
            <a:pathLst>
              <a:path w="553719" h="558164">
                <a:moveTo>
                  <a:pt x="0" y="278892"/>
                </a:moveTo>
                <a:lnTo>
                  <a:pt x="3619" y="233648"/>
                </a:lnTo>
                <a:lnTo>
                  <a:pt x="14100" y="190731"/>
                </a:lnTo>
                <a:lnTo>
                  <a:pt x="30871" y="150714"/>
                </a:lnTo>
                <a:lnTo>
                  <a:pt x="53364" y="114171"/>
                </a:lnTo>
                <a:lnTo>
                  <a:pt x="81010" y="81676"/>
                </a:lnTo>
                <a:lnTo>
                  <a:pt x="113239" y="53803"/>
                </a:lnTo>
                <a:lnTo>
                  <a:pt x="149482" y="31125"/>
                </a:lnTo>
                <a:lnTo>
                  <a:pt x="189171" y="14215"/>
                </a:lnTo>
                <a:lnTo>
                  <a:pt x="231735" y="3649"/>
                </a:lnTo>
                <a:lnTo>
                  <a:pt x="276606" y="0"/>
                </a:lnTo>
                <a:lnTo>
                  <a:pt x="321476" y="3649"/>
                </a:lnTo>
                <a:lnTo>
                  <a:pt x="364040" y="14215"/>
                </a:lnTo>
                <a:lnTo>
                  <a:pt x="403729" y="31125"/>
                </a:lnTo>
                <a:lnTo>
                  <a:pt x="439972" y="53803"/>
                </a:lnTo>
                <a:lnTo>
                  <a:pt x="472201" y="81676"/>
                </a:lnTo>
                <a:lnTo>
                  <a:pt x="499847" y="114171"/>
                </a:lnTo>
                <a:lnTo>
                  <a:pt x="522340" y="150714"/>
                </a:lnTo>
                <a:lnTo>
                  <a:pt x="539111" y="190731"/>
                </a:lnTo>
                <a:lnTo>
                  <a:pt x="549592" y="233648"/>
                </a:lnTo>
                <a:lnTo>
                  <a:pt x="553212" y="278892"/>
                </a:lnTo>
                <a:lnTo>
                  <a:pt x="549592" y="324135"/>
                </a:lnTo>
                <a:lnTo>
                  <a:pt x="539111" y="367052"/>
                </a:lnTo>
                <a:lnTo>
                  <a:pt x="522340" y="407069"/>
                </a:lnTo>
                <a:lnTo>
                  <a:pt x="499847" y="443612"/>
                </a:lnTo>
                <a:lnTo>
                  <a:pt x="472201" y="476107"/>
                </a:lnTo>
                <a:lnTo>
                  <a:pt x="439972" y="503980"/>
                </a:lnTo>
                <a:lnTo>
                  <a:pt x="403729" y="526658"/>
                </a:lnTo>
                <a:lnTo>
                  <a:pt x="364040" y="543568"/>
                </a:lnTo>
                <a:lnTo>
                  <a:pt x="321476" y="554134"/>
                </a:lnTo>
                <a:lnTo>
                  <a:pt x="276606" y="557784"/>
                </a:lnTo>
                <a:lnTo>
                  <a:pt x="231735" y="554134"/>
                </a:lnTo>
                <a:lnTo>
                  <a:pt x="189171" y="543568"/>
                </a:lnTo>
                <a:lnTo>
                  <a:pt x="149482" y="526658"/>
                </a:lnTo>
                <a:lnTo>
                  <a:pt x="113239" y="503980"/>
                </a:lnTo>
                <a:lnTo>
                  <a:pt x="81010" y="476107"/>
                </a:lnTo>
                <a:lnTo>
                  <a:pt x="53364" y="443612"/>
                </a:lnTo>
                <a:lnTo>
                  <a:pt x="30871" y="407069"/>
                </a:lnTo>
                <a:lnTo>
                  <a:pt x="14100" y="367052"/>
                </a:lnTo>
                <a:lnTo>
                  <a:pt x="3619" y="324135"/>
                </a:lnTo>
                <a:lnTo>
                  <a:pt x="0" y="278892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8023097" y="5165597"/>
            <a:ext cx="553720" cy="556260"/>
          </a:xfrm>
          <a:custGeom>
            <a:avLst/>
            <a:gdLst/>
            <a:ahLst/>
            <a:cxnLst/>
            <a:rect l="l" t="t" r="r" b="b"/>
            <a:pathLst>
              <a:path w="553720" h="556260">
                <a:moveTo>
                  <a:pt x="0" y="278129"/>
                </a:moveTo>
                <a:lnTo>
                  <a:pt x="4455" y="228119"/>
                </a:lnTo>
                <a:lnTo>
                  <a:pt x="17303" y="181056"/>
                </a:lnTo>
                <a:lnTo>
                  <a:pt x="37761" y="137724"/>
                </a:lnTo>
                <a:lnTo>
                  <a:pt x="65049" y="98908"/>
                </a:lnTo>
                <a:lnTo>
                  <a:pt x="98385" y="65391"/>
                </a:lnTo>
                <a:lnTo>
                  <a:pt x="136990" y="37958"/>
                </a:lnTo>
                <a:lnTo>
                  <a:pt x="180082" y="17393"/>
                </a:lnTo>
                <a:lnTo>
                  <a:pt x="226881" y="4478"/>
                </a:lnTo>
                <a:lnTo>
                  <a:pt x="276605" y="0"/>
                </a:lnTo>
                <a:lnTo>
                  <a:pt x="326330" y="4478"/>
                </a:lnTo>
                <a:lnTo>
                  <a:pt x="373129" y="17393"/>
                </a:lnTo>
                <a:lnTo>
                  <a:pt x="416221" y="37958"/>
                </a:lnTo>
                <a:lnTo>
                  <a:pt x="454826" y="65391"/>
                </a:lnTo>
                <a:lnTo>
                  <a:pt x="488162" y="98908"/>
                </a:lnTo>
                <a:lnTo>
                  <a:pt x="515450" y="137724"/>
                </a:lnTo>
                <a:lnTo>
                  <a:pt x="535908" y="181056"/>
                </a:lnTo>
                <a:lnTo>
                  <a:pt x="548756" y="228119"/>
                </a:lnTo>
                <a:lnTo>
                  <a:pt x="553211" y="278129"/>
                </a:lnTo>
                <a:lnTo>
                  <a:pt x="548756" y="328124"/>
                </a:lnTo>
                <a:lnTo>
                  <a:pt x="535908" y="375178"/>
                </a:lnTo>
                <a:lnTo>
                  <a:pt x="515450" y="418507"/>
                </a:lnTo>
                <a:lnTo>
                  <a:pt x="488162" y="457325"/>
                </a:lnTo>
                <a:lnTo>
                  <a:pt x="454826" y="490847"/>
                </a:lnTo>
                <a:lnTo>
                  <a:pt x="416221" y="518287"/>
                </a:lnTo>
                <a:lnTo>
                  <a:pt x="373129" y="538859"/>
                </a:lnTo>
                <a:lnTo>
                  <a:pt x="326330" y="551778"/>
                </a:lnTo>
                <a:lnTo>
                  <a:pt x="276605" y="556260"/>
                </a:lnTo>
                <a:lnTo>
                  <a:pt x="226881" y="551778"/>
                </a:lnTo>
                <a:lnTo>
                  <a:pt x="180082" y="538859"/>
                </a:lnTo>
                <a:lnTo>
                  <a:pt x="136990" y="518286"/>
                </a:lnTo>
                <a:lnTo>
                  <a:pt x="98385" y="490847"/>
                </a:lnTo>
                <a:lnTo>
                  <a:pt x="65049" y="457325"/>
                </a:lnTo>
                <a:lnTo>
                  <a:pt x="37761" y="418507"/>
                </a:lnTo>
                <a:lnTo>
                  <a:pt x="17303" y="375178"/>
                </a:lnTo>
                <a:lnTo>
                  <a:pt x="4455" y="328124"/>
                </a:lnTo>
                <a:lnTo>
                  <a:pt x="0" y="278129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247" y="26923"/>
            <a:ext cx="41173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13275" y="26923"/>
            <a:ext cx="10509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25744" y="26923"/>
            <a:ext cx="28981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383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6042" y="1294841"/>
            <a:ext cx="1887855" cy="302069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571500" marR="5080" indent="228600">
              <a:lnSpc>
                <a:spcPct val="101899"/>
              </a:lnSpc>
              <a:spcBef>
                <a:spcPts val="35"/>
              </a:spcBef>
              <a:tabLst>
                <a:tab pos="140017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… 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o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to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  <a:p>
            <a:pPr marL="723900">
              <a:lnSpc>
                <a:spcPct val="10000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2800">
              <a:latin typeface="Times New Roman"/>
              <a:cs typeface="Times New Roman"/>
            </a:endParaRPr>
          </a:p>
          <a:p>
            <a:pPr marL="546100">
              <a:lnSpc>
                <a:spcPct val="100000"/>
              </a:lnSpc>
              <a:tabLst>
                <a:tab pos="137541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goto	20;</a:t>
            </a:r>
            <a:endParaRPr sz="2800">
              <a:latin typeface="Times New Roman"/>
              <a:cs typeface="Times New Roman"/>
            </a:endParaRPr>
          </a:p>
          <a:p>
            <a:pPr marL="838200">
              <a:lnSpc>
                <a:spcPct val="10000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664845" algn="l"/>
              </a:tabLst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20: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c=a*b</a:t>
            </a:r>
            <a:r>
              <a:rPr dirty="0" sz="28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  <a:p>
            <a:pPr marL="812800">
              <a:lnSpc>
                <a:spcPct val="10000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82951" y="1362075"/>
            <a:ext cx="0" cy="4067175"/>
          </a:xfrm>
          <a:custGeom>
            <a:avLst/>
            <a:gdLst/>
            <a:ahLst/>
            <a:cxnLst/>
            <a:rect l="l" t="t" r="r" b="b"/>
            <a:pathLst>
              <a:path w="0" h="4067175">
                <a:moveTo>
                  <a:pt x="0" y="0"/>
                </a:moveTo>
                <a:lnTo>
                  <a:pt x="0" y="4067175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157476" y="2038350"/>
            <a:ext cx="3114675" cy="0"/>
          </a:xfrm>
          <a:custGeom>
            <a:avLst/>
            <a:gdLst/>
            <a:ahLst/>
            <a:cxnLst/>
            <a:rect l="l" t="t" r="r" b="b"/>
            <a:pathLst>
              <a:path w="3114675" h="0">
                <a:moveTo>
                  <a:pt x="0" y="0"/>
                </a:moveTo>
                <a:lnTo>
                  <a:pt x="3114548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171700" y="1362075"/>
            <a:ext cx="0" cy="4067175"/>
          </a:xfrm>
          <a:custGeom>
            <a:avLst/>
            <a:gdLst/>
            <a:ahLst/>
            <a:cxnLst/>
            <a:rect l="l" t="t" r="r" b="b"/>
            <a:pathLst>
              <a:path w="0" h="4067175">
                <a:moveTo>
                  <a:pt x="0" y="0"/>
                </a:moveTo>
                <a:lnTo>
                  <a:pt x="0" y="4067175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257800" y="1362075"/>
            <a:ext cx="0" cy="4067175"/>
          </a:xfrm>
          <a:custGeom>
            <a:avLst/>
            <a:gdLst/>
            <a:ahLst/>
            <a:cxnLst/>
            <a:rect l="l" t="t" r="r" b="b"/>
            <a:pathLst>
              <a:path w="0" h="4067175">
                <a:moveTo>
                  <a:pt x="0" y="0"/>
                </a:moveTo>
                <a:lnTo>
                  <a:pt x="0" y="4067175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157476" y="1376425"/>
            <a:ext cx="3114675" cy="0"/>
          </a:xfrm>
          <a:custGeom>
            <a:avLst/>
            <a:gdLst/>
            <a:ahLst/>
            <a:cxnLst/>
            <a:rect l="l" t="t" r="r" b="b"/>
            <a:pathLst>
              <a:path w="3114675" h="0">
                <a:moveTo>
                  <a:pt x="0" y="0"/>
                </a:moveTo>
                <a:lnTo>
                  <a:pt x="3114548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157476" y="5415026"/>
            <a:ext cx="3114675" cy="0"/>
          </a:xfrm>
          <a:custGeom>
            <a:avLst/>
            <a:gdLst/>
            <a:ahLst/>
            <a:cxnLst/>
            <a:rect l="l" t="t" r="r" b="b"/>
            <a:pathLst>
              <a:path w="3114675" h="0">
                <a:moveTo>
                  <a:pt x="0" y="0"/>
                </a:moveTo>
                <a:lnTo>
                  <a:pt x="3114548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789301" y="1434845"/>
            <a:ext cx="245427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23545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Arial"/>
                <a:cs typeface="Arial"/>
              </a:rPr>
              <a:t>…</a:t>
            </a:r>
            <a:endParaRPr sz="3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76170" y="2148586"/>
            <a:ext cx="2298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Arial"/>
                <a:cs typeface="Arial"/>
              </a:rPr>
              <a:t>p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15160" y="2154611"/>
            <a:ext cx="177800" cy="393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50"/>
              </a:lnSpc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65475" y="876046"/>
            <a:ext cx="11703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Co</a:t>
            </a:r>
            <a:r>
              <a:rPr dirty="0" sz="2800" b="1">
                <a:solidFill>
                  <a:srgbClr val="00FFFF"/>
                </a:solidFill>
                <a:latin typeface="Times New Roman"/>
                <a:cs typeface="Times New Roman"/>
              </a:rPr>
              <a:t>d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r>
              <a:rPr dirty="0" sz="2800" spc="-15" b="1">
                <a:solidFill>
                  <a:srgbClr val="00FFFF"/>
                </a:solidFill>
                <a:latin typeface="宋体"/>
                <a:cs typeface="宋体"/>
              </a:rPr>
              <a:t>区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21297" y="1271092"/>
            <a:ext cx="4540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65" b="1">
                <a:solidFill>
                  <a:srgbClr val="00FFFF"/>
                </a:solidFill>
                <a:latin typeface="Times New Roman"/>
                <a:cs typeface="Times New Roman"/>
              </a:rPr>
              <a:t>LT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51785" y="3124580"/>
            <a:ext cx="2101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6196012" y="3076638"/>
          <a:ext cx="2519680" cy="549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2950"/>
                <a:gridCol w="819150"/>
                <a:gridCol w="914400"/>
              </a:tblGrid>
              <a:tr h="520700"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20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4535277" y="3261289"/>
            <a:ext cx="197485" cy="393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50"/>
              </a:lnSpc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262366" y="2402077"/>
            <a:ext cx="586739" cy="5735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409051" y="2338387"/>
            <a:ext cx="293370" cy="424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409051" y="2295874"/>
            <a:ext cx="293370" cy="212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6138862" y="1747837"/>
          <a:ext cx="2519680" cy="549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2950"/>
                <a:gridCol w="819150"/>
                <a:gridCol w="914400"/>
              </a:tblGrid>
              <a:tr h="520700"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8262366" y="2402077"/>
            <a:ext cx="586740" cy="574040"/>
          </a:xfrm>
          <a:custGeom>
            <a:avLst/>
            <a:gdLst/>
            <a:ahLst/>
            <a:cxnLst/>
            <a:rect l="l" t="t" r="r" b="b"/>
            <a:pathLst>
              <a:path w="586740" h="574039">
                <a:moveTo>
                  <a:pt x="586739" y="403606"/>
                </a:moveTo>
                <a:lnTo>
                  <a:pt x="440054" y="403606"/>
                </a:lnTo>
                <a:lnTo>
                  <a:pt x="440054" y="0"/>
                </a:lnTo>
                <a:lnTo>
                  <a:pt x="146684" y="0"/>
                </a:lnTo>
                <a:lnTo>
                  <a:pt x="146684" y="403606"/>
                </a:lnTo>
                <a:lnTo>
                  <a:pt x="0" y="403606"/>
                </a:lnTo>
                <a:lnTo>
                  <a:pt x="293369" y="573532"/>
                </a:lnTo>
                <a:lnTo>
                  <a:pt x="586739" y="40360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390001" y="2336164"/>
            <a:ext cx="331470" cy="64135"/>
          </a:xfrm>
          <a:custGeom>
            <a:avLst/>
            <a:gdLst/>
            <a:ahLst/>
            <a:cxnLst/>
            <a:rect l="l" t="t" r="r" b="b"/>
            <a:pathLst>
              <a:path w="331470" h="64135">
                <a:moveTo>
                  <a:pt x="0" y="63753"/>
                </a:moveTo>
                <a:lnTo>
                  <a:pt x="331470" y="63753"/>
                </a:lnTo>
                <a:lnTo>
                  <a:pt x="331470" y="0"/>
                </a:lnTo>
                <a:lnTo>
                  <a:pt x="0" y="0"/>
                </a:lnTo>
                <a:lnTo>
                  <a:pt x="0" y="6375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8390001" y="2276824"/>
            <a:ext cx="331470" cy="59690"/>
          </a:xfrm>
          <a:custGeom>
            <a:avLst/>
            <a:gdLst/>
            <a:ahLst/>
            <a:cxnLst/>
            <a:rect l="l" t="t" r="r" b="b"/>
            <a:pathLst>
              <a:path w="331470" h="59689">
                <a:moveTo>
                  <a:pt x="0" y="59340"/>
                </a:moveTo>
                <a:lnTo>
                  <a:pt x="331470" y="59340"/>
                </a:lnTo>
                <a:lnTo>
                  <a:pt x="331470" y="0"/>
                </a:lnTo>
                <a:lnTo>
                  <a:pt x="0" y="0"/>
                </a:lnTo>
                <a:lnTo>
                  <a:pt x="0" y="5934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227065" y="2401061"/>
            <a:ext cx="337185" cy="1080770"/>
          </a:xfrm>
          <a:custGeom>
            <a:avLst/>
            <a:gdLst/>
            <a:ahLst/>
            <a:cxnLst/>
            <a:rect l="l" t="t" r="r" b="b"/>
            <a:pathLst>
              <a:path w="337185" h="1080770">
                <a:moveTo>
                  <a:pt x="298631" y="421834"/>
                </a:moveTo>
                <a:lnTo>
                  <a:pt x="296444" y="463168"/>
                </a:lnTo>
                <a:lnTo>
                  <a:pt x="294432" y="504189"/>
                </a:lnTo>
                <a:lnTo>
                  <a:pt x="292735" y="541782"/>
                </a:lnTo>
                <a:lnTo>
                  <a:pt x="290575" y="579120"/>
                </a:lnTo>
                <a:lnTo>
                  <a:pt x="283845" y="648715"/>
                </a:lnTo>
                <a:lnTo>
                  <a:pt x="271907" y="711453"/>
                </a:lnTo>
                <a:lnTo>
                  <a:pt x="257937" y="754252"/>
                </a:lnTo>
                <a:lnTo>
                  <a:pt x="238506" y="794765"/>
                </a:lnTo>
                <a:lnTo>
                  <a:pt x="212217" y="833120"/>
                </a:lnTo>
                <a:lnTo>
                  <a:pt x="177800" y="870076"/>
                </a:lnTo>
                <a:lnTo>
                  <a:pt x="133731" y="905890"/>
                </a:lnTo>
                <a:lnTo>
                  <a:pt x="116586" y="917828"/>
                </a:lnTo>
                <a:lnTo>
                  <a:pt x="113411" y="920114"/>
                </a:lnTo>
                <a:lnTo>
                  <a:pt x="110998" y="923163"/>
                </a:lnTo>
                <a:lnTo>
                  <a:pt x="109600" y="926846"/>
                </a:lnTo>
                <a:lnTo>
                  <a:pt x="104521" y="940942"/>
                </a:lnTo>
                <a:lnTo>
                  <a:pt x="99695" y="952246"/>
                </a:lnTo>
                <a:lnTo>
                  <a:pt x="74295" y="989202"/>
                </a:lnTo>
                <a:lnTo>
                  <a:pt x="47879" y="1011427"/>
                </a:lnTo>
                <a:lnTo>
                  <a:pt x="30734" y="1025143"/>
                </a:lnTo>
                <a:lnTo>
                  <a:pt x="20955" y="1033526"/>
                </a:lnTo>
                <a:lnTo>
                  <a:pt x="10795" y="1042670"/>
                </a:lnTo>
                <a:lnTo>
                  <a:pt x="0" y="1053084"/>
                </a:lnTo>
                <a:lnTo>
                  <a:pt x="26416" y="1080515"/>
                </a:lnTo>
                <a:lnTo>
                  <a:pt x="36322" y="1070990"/>
                </a:lnTo>
                <a:lnTo>
                  <a:pt x="45847" y="1062354"/>
                </a:lnTo>
                <a:lnTo>
                  <a:pt x="54610" y="1054862"/>
                </a:lnTo>
                <a:lnTo>
                  <a:pt x="63246" y="1047876"/>
                </a:lnTo>
                <a:lnTo>
                  <a:pt x="79629" y="1035050"/>
                </a:lnTo>
                <a:lnTo>
                  <a:pt x="94869" y="1022223"/>
                </a:lnTo>
                <a:lnTo>
                  <a:pt x="122682" y="989457"/>
                </a:lnTo>
                <a:lnTo>
                  <a:pt x="140208" y="954024"/>
                </a:lnTo>
                <a:lnTo>
                  <a:pt x="142054" y="949071"/>
                </a:lnTo>
                <a:lnTo>
                  <a:pt x="138430" y="949071"/>
                </a:lnTo>
                <a:lnTo>
                  <a:pt x="145414" y="940053"/>
                </a:lnTo>
                <a:lnTo>
                  <a:pt x="151324" y="940053"/>
                </a:lnTo>
                <a:lnTo>
                  <a:pt x="156591" y="936371"/>
                </a:lnTo>
                <a:lnTo>
                  <a:pt x="189611" y="910463"/>
                </a:lnTo>
                <a:lnTo>
                  <a:pt x="218059" y="883792"/>
                </a:lnTo>
                <a:lnTo>
                  <a:pt x="253237" y="842010"/>
                </a:lnTo>
                <a:lnTo>
                  <a:pt x="280035" y="798067"/>
                </a:lnTo>
                <a:lnTo>
                  <a:pt x="299466" y="751966"/>
                </a:lnTo>
                <a:lnTo>
                  <a:pt x="316357" y="686815"/>
                </a:lnTo>
                <a:lnTo>
                  <a:pt x="325628" y="617727"/>
                </a:lnTo>
                <a:lnTo>
                  <a:pt x="330708" y="543560"/>
                </a:lnTo>
                <a:lnTo>
                  <a:pt x="332695" y="502412"/>
                </a:lnTo>
                <a:lnTo>
                  <a:pt x="334518" y="463168"/>
                </a:lnTo>
                <a:lnTo>
                  <a:pt x="336480" y="426212"/>
                </a:lnTo>
                <a:lnTo>
                  <a:pt x="300100" y="426212"/>
                </a:lnTo>
                <a:lnTo>
                  <a:pt x="299466" y="424179"/>
                </a:lnTo>
                <a:lnTo>
                  <a:pt x="299212" y="423672"/>
                </a:lnTo>
                <a:lnTo>
                  <a:pt x="298631" y="421834"/>
                </a:lnTo>
                <a:close/>
              </a:path>
              <a:path w="337185" h="1080770">
                <a:moveTo>
                  <a:pt x="145414" y="940053"/>
                </a:moveTo>
                <a:lnTo>
                  <a:pt x="138430" y="949071"/>
                </a:lnTo>
                <a:lnTo>
                  <a:pt x="143331" y="945643"/>
                </a:lnTo>
                <a:lnTo>
                  <a:pt x="145414" y="940053"/>
                </a:lnTo>
                <a:close/>
              </a:path>
              <a:path w="337185" h="1080770">
                <a:moveTo>
                  <a:pt x="143331" y="945643"/>
                </a:moveTo>
                <a:lnTo>
                  <a:pt x="138430" y="949071"/>
                </a:lnTo>
                <a:lnTo>
                  <a:pt x="142054" y="949071"/>
                </a:lnTo>
                <a:lnTo>
                  <a:pt x="143331" y="945643"/>
                </a:lnTo>
                <a:close/>
              </a:path>
              <a:path w="337185" h="1080770">
                <a:moveTo>
                  <a:pt x="151324" y="940053"/>
                </a:moveTo>
                <a:lnTo>
                  <a:pt x="145414" y="940053"/>
                </a:lnTo>
                <a:lnTo>
                  <a:pt x="143331" y="945643"/>
                </a:lnTo>
                <a:lnTo>
                  <a:pt x="151324" y="940053"/>
                </a:lnTo>
                <a:close/>
              </a:path>
              <a:path w="337185" h="1080770">
                <a:moveTo>
                  <a:pt x="298831" y="418084"/>
                </a:moveTo>
                <a:lnTo>
                  <a:pt x="298631" y="421834"/>
                </a:lnTo>
                <a:lnTo>
                  <a:pt x="299212" y="423672"/>
                </a:lnTo>
                <a:lnTo>
                  <a:pt x="299466" y="424179"/>
                </a:lnTo>
                <a:lnTo>
                  <a:pt x="300100" y="426212"/>
                </a:lnTo>
                <a:lnTo>
                  <a:pt x="298831" y="418084"/>
                </a:lnTo>
                <a:close/>
              </a:path>
              <a:path w="337185" h="1080770">
                <a:moveTo>
                  <a:pt x="336896" y="418084"/>
                </a:moveTo>
                <a:lnTo>
                  <a:pt x="298831" y="418084"/>
                </a:lnTo>
                <a:lnTo>
                  <a:pt x="300100" y="426212"/>
                </a:lnTo>
                <a:lnTo>
                  <a:pt x="336480" y="426212"/>
                </a:lnTo>
                <a:lnTo>
                  <a:pt x="336896" y="418084"/>
                </a:lnTo>
                <a:close/>
              </a:path>
              <a:path w="337185" h="1080770">
                <a:moveTo>
                  <a:pt x="224093" y="179415"/>
                </a:moveTo>
                <a:lnTo>
                  <a:pt x="228092" y="195707"/>
                </a:lnTo>
                <a:lnTo>
                  <a:pt x="231901" y="211582"/>
                </a:lnTo>
                <a:lnTo>
                  <a:pt x="233680" y="218693"/>
                </a:lnTo>
                <a:lnTo>
                  <a:pt x="235076" y="224409"/>
                </a:lnTo>
                <a:lnTo>
                  <a:pt x="236600" y="230377"/>
                </a:lnTo>
                <a:lnTo>
                  <a:pt x="237617" y="234823"/>
                </a:lnTo>
                <a:lnTo>
                  <a:pt x="239903" y="243712"/>
                </a:lnTo>
                <a:lnTo>
                  <a:pt x="241808" y="250698"/>
                </a:lnTo>
                <a:lnTo>
                  <a:pt x="243712" y="257301"/>
                </a:lnTo>
                <a:lnTo>
                  <a:pt x="245363" y="263143"/>
                </a:lnTo>
                <a:lnTo>
                  <a:pt x="247650" y="269875"/>
                </a:lnTo>
                <a:lnTo>
                  <a:pt x="250062" y="277113"/>
                </a:lnTo>
                <a:lnTo>
                  <a:pt x="254762" y="290449"/>
                </a:lnTo>
                <a:lnTo>
                  <a:pt x="256582" y="296037"/>
                </a:lnTo>
                <a:lnTo>
                  <a:pt x="258445" y="301625"/>
                </a:lnTo>
                <a:lnTo>
                  <a:pt x="260985" y="308737"/>
                </a:lnTo>
                <a:lnTo>
                  <a:pt x="263525" y="316102"/>
                </a:lnTo>
                <a:lnTo>
                  <a:pt x="266319" y="324612"/>
                </a:lnTo>
                <a:lnTo>
                  <a:pt x="269494" y="333883"/>
                </a:lnTo>
                <a:lnTo>
                  <a:pt x="272923" y="344042"/>
                </a:lnTo>
                <a:lnTo>
                  <a:pt x="276606" y="355346"/>
                </a:lnTo>
                <a:lnTo>
                  <a:pt x="283463" y="375920"/>
                </a:lnTo>
                <a:lnTo>
                  <a:pt x="289560" y="394462"/>
                </a:lnTo>
                <a:lnTo>
                  <a:pt x="295401" y="411988"/>
                </a:lnTo>
                <a:lnTo>
                  <a:pt x="298631" y="421834"/>
                </a:lnTo>
                <a:lnTo>
                  <a:pt x="298831" y="418084"/>
                </a:lnTo>
                <a:lnTo>
                  <a:pt x="336896" y="418084"/>
                </a:lnTo>
                <a:lnTo>
                  <a:pt x="336931" y="417322"/>
                </a:lnTo>
                <a:lnTo>
                  <a:pt x="336550" y="414527"/>
                </a:lnTo>
                <a:lnTo>
                  <a:pt x="335940" y="413003"/>
                </a:lnTo>
                <a:lnTo>
                  <a:pt x="335788" y="413003"/>
                </a:lnTo>
                <a:lnTo>
                  <a:pt x="335280" y="411099"/>
                </a:lnTo>
                <a:lnTo>
                  <a:pt x="334772" y="409701"/>
                </a:lnTo>
                <a:lnTo>
                  <a:pt x="333756" y="406653"/>
                </a:lnTo>
                <a:lnTo>
                  <a:pt x="331470" y="400050"/>
                </a:lnTo>
                <a:lnTo>
                  <a:pt x="328803" y="391667"/>
                </a:lnTo>
                <a:lnTo>
                  <a:pt x="325755" y="382397"/>
                </a:lnTo>
                <a:lnTo>
                  <a:pt x="322580" y="372999"/>
                </a:lnTo>
                <a:lnTo>
                  <a:pt x="316992" y="355980"/>
                </a:lnTo>
                <a:lnTo>
                  <a:pt x="305562" y="321690"/>
                </a:lnTo>
                <a:lnTo>
                  <a:pt x="302387" y="312292"/>
                </a:lnTo>
                <a:lnTo>
                  <a:pt x="299593" y="303911"/>
                </a:lnTo>
                <a:lnTo>
                  <a:pt x="296880" y="295910"/>
                </a:lnTo>
                <a:lnTo>
                  <a:pt x="294639" y="289687"/>
                </a:lnTo>
                <a:lnTo>
                  <a:pt x="292608" y="283210"/>
                </a:lnTo>
                <a:lnTo>
                  <a:pt x="290575" y="277749"/>
                </a:lnTo>
                <a:lnTo>
                  <a:pt x="288925" y="273176"/>
                </a:lnTo>
                <a:lnTo>
                  <a:pt x="286131" y="264667"/>
                </a:lnTo>
                <a:lnTo>
                  <a:pt x="283845" y="257937"/>
                </a:lnTo>
                <a:lnTo>
                  <a:pt x="282067" y="252475"/>
                </a:lnTo>
                <a:lnTo>
                  <a:pt x="278638" y="241046"/>
                </a:lnTo>
                <a:lnTo>
                  <a:pt x="276860" y="234061"/>
                </a:lnTo>
                <a:lnTo>
                  <a:pt x="274700" y="226187"/>
                </a:lnTo>
                <a:lnTo>
                  <a:pt x="273431" y="220725"/>
                </a:lnTo>
                <a:lnTo>
                  <a:pt x="272161" y="215773"/>
                </a:lnTo>
                <a:lnTo>
                  <a:pt x="270637" y="209423"/>
                </a:lnTo>
                <a:lnTo>
                  <a:pt x="268986" y="202691"/>
                </a:lnTo>
                <a:lnTo>
                  <a:pt x="267208" y="195072"/>
                </a:lnTo>
                <a:lnTo>
                  <a:pt x="264987" y="186436"/>
                </a:lnTo>
                <a:lnTo>
                  <a:pt x="263935" y="182117"/>
                </a:lnTo>
                <a:lnTo>
                  <a:pt x="225933" y="182117"/>
                </a:lnTo>
                <a:lnTo>
                  <a:pt x="224093" y="179415"/>
                </a:lnTo>
                <a:close/>
              </a:path>
              <a:path w="337185" h="1080770">
                <a:moveTo>
                  <a:pt x="335534" y="411988"/>
                </a:moveTo>
                <a:lnTo>
                  <a:pt x="335788" y="413003"/>
                </a:lnTo>
                <a:lnTo>
                  <a:pt x="335940" y="413003"/>
                </a:lnTo>
                <a:lnTo>
                  <a:pt x="335534" y="411988"/>
                </a:lnTo>
                <a:close/>
              </a:path>
              <a:path w="337185" h="1080770">
                <a:moveTo>
                  <a:pt x="223266" y="176022"/>
                </a:moveTo>
                <a:lnTo>
                  <a:pt x="224093" y="179415"/>
                </a:lnTo>
                <a:lnTo>
                  <a:pt x="225933" y="182117"/>
                </a:lnTo>
                <a:lnTo>
                  <a:pt x="223266" y="176022"/>
                </a:lnTo>
                <a:close/>
              </a:path>
              <a:path w="337185" h="1080770">
                <a:moveTo>
                  <a:pt x="262450" y="176022"/>
                </a:moveTo>
                <a:lnTo>
                  <a:pt x="223266" y="176022"/>
                </a:lnTo>
                <a:lnTo>
                  <a:pt x="225933" y="182117"/>
                </a:lnTo>
                <a:lnTo>
                  <a:pt x="263935" y="182117"/>
                </a:lnTo>
                <a:lnTo>
                  <a:pt x="262450" y="176022"/>
                </a:lnTo>
                <a:close/>
              </a:path>
              <a:path w="337185" h="1080770">
                <a:moveTo>
                  <a:pt x="129161" y="71745"/>
                </a:moveTo>
                <a:lnTo>
                  <a:pt x="163195" y="102235"/>
                </a:lnTo>
                <a:lnTo>
                  <a:pt x="195325" y="139191"/>
                </a:lnTo>
                <a:lnTo>
                  <a:pt x="224093" y="179415"/>
                </a:lnTo>
                <a:lnTo>
                  <a:pt x="223266" y="176022"/>
                </a:lnTo>
                <a:lnTo>
                  <a:pt x="262450" y="176022"/>
                </a:lnTo>
                <a:lnTo>
                  <a:pt x="260223" y="166877"/>
                </a:lnTo>
                <a:lnTo>
                  <a:pt x="259714" y="164718"/>
                </a:lnTo>
                <a:lnTo>
                  <a:pt x="258699" y="162560"/>
                </a:lnTo>
                <a:lnTo>
                  <a:pt x="257429" y="160782"/>
                </a:lnTo>
                <a:lnTo>
                  <a:pt x="246761" y="145034"/>
                </a:lnTo>
                <a:lnTo>
                  <a:pt x="213487" y="101091"/>
                </a:lnTo>
                <a:lnTo>
                  <a:pt x="187142" y="72389"/>
                </a:lnTo>
                <a:lnTo>
                  <a:pt x="130301" y="72389"/>
                </a:lnTo>
                <a:lnTo>
                  <a:pt x="129161" y="71745"/>
                </a:lnTo>
                <a:close/>
              </a:path>
              <a:path w="337185" h="1080770">
                <a:moveTo>
                  <a:pt x="32258" y="0"/>
                </a:moveTo>
                <a:lnTo>
                  <a:pt x="108331" y="102742"/>
                </a:lnTo>
                <a:lnTo>
                  <a:pt x="125181" y="69497"/>
                </a:lnTo>
                <a:lnTo>
                  <a:pt x="107823" y="59689"/>
                </a:lnTo>
                <a:lnTo>
                  <a:pt x="126619" y="26542"/>
                </a:lnTo>
                <a:lnTo>
                  <a:pt x="146952" y="26542"/>
                </a:lnTo>
                <a:lnTo>
                  <a:pt x="160020" y="762"/>
                </a:lnTo>
                <a:lnTo>
                  <a:pt x="32258" y="0"/>
                </a:lnTo>
                <a:close/>
              </a:path>
              <a:path w="337185" h="1080770">
                <a:moveTo>
                  <a:pt x="127762" y="70612"/>
                </a:moveTo>
                <a:lnTo>
                  <a:pt x="129161" y="71745"/>
                </a:lnTo>
                <a:lnTo>
                  <a:pt x="130301" y="72389"/>
                </a:lnTo>
                <a:lnTo>
                  <a:pt x="127762" y="70612"/>
                </a:lnTo>
                <a:close/>
              </a:path>
              <a:path w="337185" h="1080770">
                <a:moveTo>
                  <a:pt x="185327" y="70612"/>
                </a:moveTo>
                <a:lnTo>
                  <a:pt x="127762" y="70612"/>
                </a:lnTo>
                <a:lnTo>
                  <a:pt x="130301" y="72389"/>
                </a:lnTo>
                <a:lnTo>
                  <a:pt x="187142" y="72389"/>
                </a:lnTo>
                <a:lnTo>
                  <a:pt x="185327" y="70612"/>
                </a:lnTo>
                <a:close/>
              </a:path>
              <a:path w="337185" h="1080770">
                <a:moveTo>
                  <a:pt x="142424" y="35476"/>
                </a:moveTo>
                <a:lnTo>
                  <a:pt x="125181" y="69497"/>
                </a:lnTo>
                <a:lnTo>
                  <a:pt x="129161" y="71745"/>
                </a:lnTo>
                <a:lnTo>
                  <a:pt x="127762" y="70612"/>
                </a:lnTo>
                <a:lnTo>
                  <a:pt x="185327" y="70612"/>
                </a:lnTo>
                <a:lnTo>
                  <a:pt x="177419" y="62864"/>
                </a:lnTo>
                <a:lnTo>
                  <a:pt x="164464" y="51308"/>
                </a:lnTo>
                <a:lnTo>
                  <a:pt x="151637" y="41021"/>
                </a:lnTo>
                <a:lnTo>
                  <a:pt x="150875" y="40386"/>
                </a:lnTo>
                <a:lnTo>
                  <a:pt x="149987" y="39750"/>
                </a:lnTo>
                <a:lnTo>
                  <a:pt x="142424" y="35476"/>
                </a:lnTo>
                <a:close/>
              </a:path>
              <a:path w="337185" h="1080770">
                <a:moveTo>
                  <a:pt x="126619" y="26542"/>
                </a:moveTo>
                <a:lnTo>
                  <a:pt x="107823" y="59689"/>
                </a:lnTo>
                <a:lnTo>
                  <a:pt x="125181" y="69497"/>
                </a:lnTo>
                <a:lnTo>
                  <a:pt x="142424" y="35476"/>
                </a:lnTo>
                <a:lnTo>
                  <a:pt x="126619" y="26542"/>
                </a:lnTo>
                <a:close/>
              </a:path>
              <a:path w="337185" h="1080770">
                <a:moveTo>
                  <a:pt x="146952" y="26542"/>
                </a:moveTo>
                <a:lnTo>
                  <a:pt x="126619" y="26542"/>
                </a:lnTo>
                <a:lnTo>
                  <a:pt x="142424" y="35476"/>
                </a:lnTo>
                <a:lnTo>
                  <a:pt x="146952" y="2654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278373" y="3526282"/>
            <a:ext cx="2800985" cy="570230"/>
          </a:xfrm>
          <a:custGeom>
            <a:avLst/>
            <a:gdLst/>
            <a:ahLst/>
            <a:cxnLst/>
            <a:rect l="l" t="t" r="r" b="b"/>
            <a:pathLst>
              <a:path w="2800984" h="570229">
                <a:moveTo>
                  <a:pt x="176314" y="204010"/>
                </a:moveTo>
                <a:lnTo>
                  <a:pt x="210058" y="246379"/>
                </a:lnTo>
                <a:lnTo>
                  <a:pt x="236981" y="269239"/>
                </a:lnTo>
                <a:lnTo>
                  <a:pt x="246379" y="276859"/>
                </a:lnTo>
                <a:lnTo>
                  <a:pt x="265429" y="287019"/>
                </a:lnTo>
                <a:lnTo>
                  <a:pt x="275971" y="293369"/>
                </a:lnTo>
                <a:lnTo>
                  <a:pt x="286385" y="298449"/>
                </a:lnTo>
                <a:lnTo>
                  <a:pt x="297561" y="303529"/>
                </a:lnTo>
                <a:lnTo>
                  <a:pt x="309245" y="309879"/>
                </a:lnTo>
                <a:lnTo>
                  <a:pt x="321310" y="314959"/>
                </a:lnTo>
                <a:lnTo>
                  <a:pt x="367156" y="337819"/>
                </a:lnTo>
                <a:lnTo>
                  <a:pt x="434339" y="368299"/>
                </a:lnTo>
                <a:lnTo>
                  <a:pt x="606805" y="433069"/>
                </a:lnTo>
                <a:lnTo>
                  <a:pt x="677417" y="454659"/>
                </a:lnTo>
                <a:lnTo>
                  <a:pt x="819403" y="495299"/>
                </a:lnTo>
                <a:lnTo>
                  <a:pt x="890524" y="513079"/>
                </a:lnTo>
                <a:lnTo>
                  <a:pt x="914653" y="519429"/>
                </a:lnTo>
                <a:lnTo>
                  <a:pt x="938911" y="524509"/>
                </a:lnTo>
                <a:lnTo>
                  <a:pt x="987425" y="532129"/>
                </a:lnTo>
                <a:lnTo>
                  <a:pt x="1008126" y="535939"/>
                </a:lnTo>
                <a:lnTo>
                  <a:pt x="1053846" y="541019"/>
                </a:lnTo>
                <a:lnTo>
                  <a:pt x="1078611" y="544829"/>
                </a:lnTo>
                <a:lnTo>
                  <a:pt x="1103756" y="547369"/>
                </a:lnTo>
                <a:lnTo>
                  <a:pt x="1129284" y="551179"/>
                </a:lnTo>
                <a:lnTo>
                  <a:pt x="1154302" y="553719"/>
                </a:lnTo>
                <a:lnTo>
                  <a:pt x="1178560" y="557529"/>
                </a:lnTo>
                <a:lnTo>
                  <a:pt x="1201801" y="560069"/>
                </a:lnTo>
                <a:lnTo>
                  <a:pt x="1233297" y="563879"/>
                </a:lnTo>
                <a:lnTo>
                  <a:pt x="1251457" y="566419"/>
                </a:lnTo>
                <a:lnTo>
                  <a:pt x="1259585" y="566419"/>
                </a:lnTo>
                <a:lnTo>
                  <a:pt x="1266952" y="567689"/>
                </a:lnTo>
                <a:lnTo>
                  <a:pt x="1273555" y="568959"/>
                </a:lnTo>
                <a:lnTo>
                  <a:pt x="1279271" y="568959"/>
                </a:lnTo>
                <a:lnTo>
                  <a:pt x="1283970" y="570229"/>
                </a:lnTo>
                <a:lnTo>
                  <a:pt x="1296416" y="570229"/>
                </a:lnTo>
                <a:lnTo>
                  <a:pt x="1353311" y="567689"/>
                </a:lnTo>
                <a:lnTo>
                  <a:pt x="1380108" y="565149"/>
                </a:lnTo>
                <a:lnTo>
                  <a:pt x="1516252" y="557529"/>
                </a:lnTo>
                <a:lnTo>
                  <a:pt x="1570735" y="553719"/>
                </a:lnTo>
                <a:lnTo>
                  <a:pt x="1586865" y="553719"/>
                </a:lnTo>
                <a:lnTo>
                  <a:pt x="1602231" y="552449"/>
                </a:lnTo>
                <a:lnTo>
                  <a:pt x="1616964" y="552449"/>
                </a:lnTo>
                <a:lnTo>
                  <a:pt x="1630933" y="551179"/>
                </a:lnTo>
                <a:lnTo>
                  <a:pt x="1643887" y="551179"/>
                </a:lnTo>
                <a:lnTo>
                  <a:pt x="1656460" y="549909"/>
                </a:lnTo>
                <a:lnTo>
                  <a:pt x="1667891" y="549909"/>
                </a:lnTo>
                <a:lnTo>
                  <a:pt x="1679194" y="548639"/>
                </a:lnTo>
                <a:lnTo>
                  <a:pt x="1699259" y="548639"/>
                </a:lnTo>
                <a:lnTo>
                  <a:pt x="1717548" y="547369"/>
                </a:lnTo>
                <a:lnTo>
                  <a:pt x="1733423" y="546099"/>
                </a:lnTo>
                <a:lnTo>
                  <a:pt x="1747901" y="546099"/>
                </a:lnTo>
                <a:lnTo>
                  <a:pt x="1760981" y="544829"/>
                </a:lnTo>
                <a:lnTo>
                  <a:pt x="1772793" y="544829"/>
                </a:lnTo>
                <a:lnTo>
                  <a:pt x="1784096" y="543559"/>
                </a:lnTo>
                <a:lnTo>
                  <a:pt x="1794382" y="543559"/>
                </a:lnTo>
                <a:lnTo>
                  <a:pt x="1814449" y="542289"/>
                </a:lnTo>
                <a:lnTo>
                  <a:pt x="1835403" y="539749"/>
                </a:lnTo>
                <a:lnTo>
                  <a:pt x="1858899" y="537209"/>
                </a:lnTo>
                <a:lnTo>
                  <a:pt x="1872360" y="534669"/>
                </a:lnTo>
                <a:lnTo>
                  <a:pt x="1887220" y="533399"/>
                </a:lnTo>
                <a:lnTo>
                  <a:pt x="1298321" y="533399"/>
                </a:lnTo>
                <a:lnTo>
                  <a:pt x="1294002" y="532129"/>
                </a:lnTo>
                <a:lnTo>
                  <a:pt x="1292478" y="532129"/>
                </a:lnTo>
                <a:lnTo>
                  <a:pt x="1283716" y="530859"/>
                </a:lnTo>
                <a:lnTo>
                  <a:pt x="1278001" y="530859"/>
                </a:lnTo>
                <a:lnTo>
                  <a:pt x="1271397" y="529589"/>
                </a:lnTo>
                <a:lnTo>
                  <a:pt x="1264157" y="528319"/>
                </a:lnTo>
                <a:lnTo>
                  <a:pt x="1256029" y="528319"/>
                </a:lnTo>
                <a:lnTo>
                  <a:pt x="1237869" y="525779"/>
                </a:lnTo>
                <a:lnTo>
                  <a:pt x="1206373" y="521969"/>
                </a:lnTo>
                <a:lnTo>
                  <a:pt x="1159002" y="516889"/>
                </a:lnTo>
                <a:lnTo>
                  <a:pt x="1133855" y="513079"/>
                </a:lnTo>
                <a:lnTo>
                  <a:pt x="1108455" y="510539"/>
                </a:lnTo>
                <a:lnTo>
                  <a:pt x="1083437" y="506729"/>
                </a:lnTo>
                <a:lnTo>
                  <a:pt x="1058799" y="504189"/>
                </a:lnTo>
                <a:lnTo>
                  <a:pt x="1035303" y="500379"/>
                </a:lnTo>
                <a:lnTo>
                  <a:pt x="993648" y="495299"/>
                </a:lnTo>
                <a:lnTo>
                  <a:pt x="900049" y="476249"/>
                </a:lnTo>
                <a:lnTo>
                  <a:pt x="829437" y="458469"/>
                </a:lnTo>
                <a:lnTo>
                  <a:pt x="758951" y="439419"/>
                </a:lnTo>
                <a:lnTo>
                  <a:pt x="619378" y="396239"/>
                </a:lnTo>
                <a:lnTo>
                  <a:pt x="550545" y="372109"/>
                </a:lnTo>
                <a:lnTo>
                  <a:pt x="482853" y="346709"/>
                </a:lnTo>
                <a:lnTo>
                  <a:pt x="416560" y="318769"/>
                </a:lnTo>
                <a:lnTo>
                  <a:pt x="325500" y="274319"/>
                </a:lnTo>
                <a:lnTo>
                  <a:pt x="313943" y="269239"/>
                </a:lnTo>
                <a:lnTo>
                  <a:pt x="303529" y="264159"/>
                </a:lnTo>
                <a:lnTo>
                  <a:pt x="293624" y="259079"/>
                </a:lnTo>
                <a:lnTo>
                  <a:pt x="284861" y="255269"/>
                </a:lnTo>
                <a:lnTo>
                  <a:pt x="267970" y="245109"/>
                </a:lnTo>
                <a:lnTo>
                  <a:pt x="260476" y="240029"/>
                </a:lnTo>
                <a:lnTo>
                  <a:pt x="252856" y="233679"/>
                </a:lnTo>
                <a:lnTo>
                  <a:pt x="245617" y="227329"/>
                </a:lnTo>
                <a:lnTo>
                  <a:pt x="238125" y="220979"/>
                </a:lnTo>
                <a:lnTo>
                  <a:pt x="230631" y="212089"/>
                </a:lnTo>
                <a:lnTo>
                  <a:pt x="225098" y="205739"/>
                </a:lnTo>
                <a:lnTo>
                  <a:pt x="179197" y="205739"/>
                </a:lnTo>
                <a:lnTo>
                  <a:pt x="176314" y="204010"/>
                </a:lnTo>
                <a:close/>
              </a:path>
              <a:path w="2800984" h="570229">
                <a:moveTo>
                  <a:pt x="2021712" y="513079"/>
                </a:moveTo>
                <a:lnTo>
                  <a:pt x="1628902" y="513079"/>
                </a:lnTo>
                <a:lnTo>
                  <a:pt x="1615058" y="514349"/>
                </a:lnTo>
                <a:lnTo>
                  <a:pt x="1600453" y="514349"/>
                </a:lnTo>
                <a:lnTo>
                  <a:pt x="1584959" y="515619"/>
                </a:lnTo>
                <a:lnTo>
                  <a:pt x="1568577" y="515619"/>
                </a:lnTo>
                <a:lnTo>
                  <a:pt x="1514094" y="519429"/>
                </a:lnTo>
                <a:lnTo>
                  <a:pt x="1377569" y="527049"/>
                </a:lnTo>
                <a:lnTo>
                  <a:pt x="1351026" y="529589"/>
                </a:lnTo>
                <a:lnTo>
                  <a:pt x="1294002" y="532129"/>
                </a:lnTo>
                <a:lnTo>
                  <a:pt x="1298321" y="533399"/>
                </a:lnTo>
                <a:lnTo>
                  <a:pt x="1296797" y="532129"/>
                </a:lnTo>
                <a:lnTo>
                  <a:pt x="1895982" y="532129"/>
                </a:lnTo>
                <a:lnTo>
                  <a:pt x="1922272" y="528319"/>
                </a:lnTo>
                <a:lnTo>
                  <a:pt x="1932304" y="527049"/>
                </a:lnTo>
                <a:lnTo>
                  <a:pt x="1943227" y="524509"/>
                </a:lnTo>
                <a:lnTo>
                  <a:pt x="1979168" y="519429"/>
                </a:lnTo>
                <a:lnTo>
                  <a:pt x="1992502" y="518159"/>
                </a:lnTo>
                <a:lnTo>
                  <a:pt x="2021712" y="513079"/>
                </a:lnTo>
                <a:close/>
              </a:path>
              <a:path w="2800984" h="570229">
                <a:moveTo>
                  <a:pt x="1895982" y="532129"/>
                </a:moveTo>
                <a:lnTo>
                  <a:pt x="1296797" y="532129"/>
                </a:lnTo>
                <a:lnTo>
                  <a:pt x="1298321" y="533399"/>
                </a:lnTo>
                <a:lnTo>
                  <a:pt x="1887220" y="533399"/>
                </a:lnTo>
                <a:lnTo>
                  <a:pt x="1895982" y="532129"/>
                </a:lnTo>
                <a:close/>
              </a:path>
              <a:path w="2800984" h="570229">
                <a:moveTo>
                  <a:pt x="2443773" y="289347"/>
                </a:moveTo>
                <a:lnTo>
                  <a:pt x="2395601" y="312419"/>
                </a:lnTo>
                <a:lnTo>
                  <a:pt x="2348992" y="342899"/>
                </a:lnTo>
                <a:lnTo>
                  <a:pt x="2305050" y="373379"/>
                </a:lnTo>
                <a:lnTo>
                  <a:pt x="2282444" y="388619"/>
                </a:lnTo>
                <a:lnTo>
                  <a:pt x="2258441" y="401319"/>
                </a:lnTo>
                <a:lnTo>
                  <a:pt x="2245741" y="407669"/>
                </a:lnTo>
                <a:lnTo>
                  <a:pt x="2232025" y="412749"/>
                </a:lnTo>
                <a:lnTo>
                  <a:pt x="2217801" y="419099"/>
                </a:lnTo>
                <a:lnTo>
                  <a:pt x="2203069" y="424179"/>
                </a:lnTo>
                <a:lnTo>
                  <a:pt x="2171700" y="433069"/>
                </a:lnTo>
                <a:lnTo>
                  <a:pt x="2073655" y="459739"/>
                </a:lnTo>
                <a:lnTo>
                  <a:pt x="2042414" y="467359"/>
                </a:lnTo>
                <a:lnTo>
                  <a:pt x="2013584" y="476249"/>
                </a:lnTo>
                <a:lnTo>
                  <a:pt x="2016252" y="476249"/>
                </a:lnTo>
                <a:lnTo>
                  <a:pt x="1987042" y="480059"/>
                </a:lnTo>
                <a:lnTo>
                  <a:pt x="1973452" y="481329"/>
                </a:lnTo>
                <a:lnTo>
                  <a:pt x="1961006" y="483869"/>
                </a:lnTo>
                <a:lnTo>
                  <a:pt x="1948942" y="485139"/>
                </a:lnTo>
                <a:lnTo>
                  <a:pt x="1926971" y="488949"/>
                </a:lnTo>
                <a:lnTo>
                  <a:pt x="1916810" y="490219"/>
                </a:lnTo>
                <a:lnTo>
                  <a:pt x="1898396" y="492759"/>
                </a:lnTo>
                <a:lnTo>
                  <a:pt x="1867280" y="496569"/>
                </a:lnTo>
                <a:lnTo>
                  <a:pt x="1854073" y="499109"/>
                </a:lnTo>
                <a:lnTo>
                  <a:pt x="1831340" y="501649"/>
                </a:lnTo>
                <a:lnTo>
                  <a:pt x="1811527" y="504189"/>
                </a:lnTo>
                <a:lnTo>
                  <a:pt x="1791970" y="505459"/>
                </a:lnTo>
                <a:lnTo>
                  <a:pt x="1781682" y="506729"/>
                </a:lnTo>
                <a:lnTo>
                  <a:pt x="1759330" y="506729"/>
                </a:lnTo>
                <a:lnTo>
                  <a:pt x="1746250" y="507999"/>
                </a:lnTo>
                <a:lnTo>
                  <a:pt x="1731899" y="507999"/>
                </a:lnTo>
                <a:lnTo>
                  <a:pt x="1697735" y="510539"/>
                </a:lnTo>
                <a:lnTo>
                  <a:pt x="1687829" y="510539"/>
                </a:lnTo>
                <a:lnTo>
                  <a:pt x="1666367" y="511809"/>
                </a:lnTo>
                <a:lnTo>
                  <a:pt x="1654428" y="511809"/>
                </a:lnTo>
                <a:lnTo>
                  <a:pt x="1642236" y="513079"/>
                </a:lnTo>
                <a:lnTo>
                  <a:pt x="2022728" y="513079"/>
                </a:lnTo>
                <a:lnTo>
                  <a:pt x="2038477" y="507999"/>
                </a:lnTo>
                <a:lnTo>
                  <a:pt x="2053081" y="504189"/>
                </a:lnTo>
                <a:lnTo>
                  <a:pt x="2148840" y="480059"/>
                </a:lnTo>
                <a:lnTo>
                  <a:pt x="2230247" y="454659"/>
                </a:lnTo>
                <a:lnTo>
                  <a:pt x="2245741" y="448309"/>
                </a:lnTo>
                <a:lnTo>
                  <a:pt x="2260346" y="443229"/>
                </a:lnTo>
                <a:lnTo>
                  <a:pt x="2300985" y="421639"/>
                </a:lnTo>
                <a:lnTo>
                  <a:pt x="2325624" y="405129"/>
                </a:lnTo>
                <a:lnTo>
                  <a:pt x="2348737" y="389889"/>
                </a:lnTo>
                <a:lnTo>
                  <a:pt x="2393187" y="358139"/>
                </a:lnTo>
                <a:lnTo>
                  <a:pt x="2439161" y="332739"/>
                </a:lnTo>
                <a:lnTo>
                  <a:pt x="2467736" y="321309"/>
                </a:lnTo>
                <a:lnTo>
                  <a:pt x="2471293" y="317499"/>
                </a:lnTo>
                <a:lnTo>
                  <a:pt x="2473452" y="313689"/>
                </a:lnTo>
                <a:lnTo>
                  <a:pt x="2482342" y="299719"/>
                </a:lnTo>
                <a:lnTo>
                  <a:pt x="2484999" y="294639"/>
                </a:lnTo>
                <a:lnTo>
                  <a:pt x="2440685" y="294639"/>
                </a:lnTo>
                <a:lnTo>
                  <a:pt x="2443773" y="289347"/>
                </a:lnTo>
                <a:close/>
              </a:path>
              <a:path w="2800984" h="570229">
                <a:moveTo>
                  <a:pt x="2450465" y="287019"/>
                </a:moveTo>
                <a:lnTo>
                  <a:pt x="2443773" y="289347"/>
                </a:lnTo>
                <a:lnTo>
                  <a:pt x="2440685" y="294639"/>
                </a:lnTo>
                <a:lnTo>
                  <a:pt x="2450465" y="287019"/>
                </a:lnTo>
                <a:close/>
              </a:path>
              <a:path w="2800984" h="570229">
                <a:moveTo>
                  <a:pt x="2488985" y="287019"/>
                </a:moveTo>
                <a:lnTo>
                  <a:pt x="2450465" y="287019"/>
                </a:lnTo>
                <a:lnTo>
                  <a:pt x="2440685" y="294639"/>
                </a:lnTo>
                <a:lnTo>
                  <a:pt x="2484999" y="294639"/>
                </a:lnTo>
                <a:lnTo>
                  <a:pt x="2488985" y="287019"/>
                </a:lnTo>
                <a:close/>
              </a:path>
              <a:path w="2800984" h="570229">
                <a:moveTo>
                  <a:pt x="2670703" y="139812"/>
                </a:moveTo>
                <a:lnTo>
                  <a:pt x="2664714" y="143509"/>
                </a:lnTo>
                <a:lnTo>
                  <a:pt x="2655443" y="149859"/>
                </a:lnTo>
                <a:lnTo>
                  <a:pt x="2647060" y="154939"/>
                </a:lnTo>
                <a:lnTo>
                  <a:pt x="2639695" y="160019"/>
                </a:lnTo>
                <a:lnTo>
                  <a:pt x="2626105" y="170179"/>
                </a:lnTo>
                <a:lnTo>
                  <a:pt x="2613532" y="177799"/>
                </a:lnTo>
                <a:lnTo>
                  <a:pt x="2600325" y="185419"/>
                </a:lnTo>
                <a:lnTo>
                  <a:pt x="2593467" y="189229"/>
                </a:lnTo>
                <a:lnTo>
                  <a:pt x="2577337" y="196849"/>
                </a:lnTo>
                <a:lnTo>
                  <a:pt x="2567558" y="200659"/>
                </a:lnTo>
                <a:lnTo>
                  <a:pt x="2557018" y="205739"/>
                </a:lnTo>
                <a:lnTo>
                  <a:pt x="2545969" y="210819"/>
                </a:lnTo>
                <a:lnTo>
                  <a:pt x="2540127" y="212089"/>
                </a:lnTo>
                <a:lnTo>
                  <a:pt x="2533650" y="214629"/>
                </a:lnTo>
                <a:lnTo>
                  <a:pt x="2517902" y="217169"/>
                </a:lnTo>
                <a:lnTo>
                  <a:pt x="2509266" y="219709"/>
                </a:lnTo>
                <a:lnTo>
                  <a:pt x="2500122" y="223519"/>
                </a:lnTo>
                <a:lnTo>
                  <a:pt x="2493391" y="226059"/>
                </a:lnTo>
                <a:lnTo>
                  <a:pt x="2492502" y="226059"/>
                </a:lnTo>
                <a:lnTo>
                  <a:pt x="2491612" y="227329"/>
                </a:lnTo>
                <a:lnTo>
                  <a:pt x="2484628" y="231139"/>
                </a:lnTo>
                <a:lnTo>
                  <a:pt x="2483739" y="232409"/>
                </a:lnTo>
                <a:lnTo>
                  <a:pt x="2482977" y="232409"/>
                </a:lnTo>
                <a:lnTo>
                  <a:pt x="2482087" y="233679"/>
                </a:lnTo>
                <a:lnTo>
                  <a:pt x="2474214" y="241299"/>
                </a:lnTo>
                <a:lnTo>
                  <a:pt x="2467609" y="248919"/>
                </a:lnTo>
                <a:lnTo>
                  <a:pt x="2457577" y="265429"/>
                </a:lnTo>
                <a:lnTo>
                  <a:pt x="2449576" y="279399"/>
                </a:lnTo>
                <a:lnTo>
                  <a:pt x="2443773" y="289347"/>
                </a:lnTo>
                <a:lnTo>
                  <a:pt x="2450465" y="287019"/>
                </a:lnTo>
                <a:lnTo>
                  <a:pt x="2488985" y="287019"/>
                </a:lnTo>
                <a:lnTo>
                  <a:pt x="2490978" y="283209"/>
                </a:lnTo>
                <a:lnTo>
                  <a:pt x="2499614" y="270509"/>
                </a:lnTo>
                <a:lnTo>
                  <a:pt x="2503678" y="265429"/>
                </a:lnTo>
                <a:lnTo>
                  <a:pt x="2506726" y="262889"/>
                </a:lnTo>
                <a:lnTo>
                  <a:pt x="2505709" y="262889"/>
                </a:lnTo>
                <a:lnTo>
                  <a:pt x="2509858" y="260349"/>
                </a:lnTo>
                <a:lnTo>
                  <a:pt x="2509393" y="260349"/>
                </a:lnTo>
                <a:lnTo>
                  <a:pt x="2511932" y="259079"/>
                </a:lnTo>
                <a:lnTo>
                  <a:pt x="2512758" y="259079"/>
                </a:lnTo>
                <a:lnTo>
                  <a:pt x="2516124" y="257809"/>
                </a:lnTo>
                <a:lnTo>
                  <a:pt x="2521077" y="256539"/>
                </a:lnTo>
                <a:lnTo>
                  <a:pt x="2527046" y="253999"/>
                </a:lnTo>
                <a:lnTo>
                  <a:pt x="2541397" y="251459"/>
                </a:lnTo>
                <a:lnTo>
                  <a:pt x="2558669" y="246379"/>
                </a:lnTo>
                <a:lnTo>
                  <a:pt x="2571877" y="241299"/>
                </a:lnTo>
                <a:lnTo>
                  <a:pt x="2582926" y="236219"/>
                </a:lnTo>
                <a:lnTo>
                  <a:pt x="2592831" y="231139"/>
                </a:lnTo>
                <a:lnTo>
                  <a:pt x="2602229" y="227329"/>
                </a:lnTo>
                <a:lnTo>
                  <a:pt x="2610357" y="222249"/>
                </a:lnTo>
                <a:lnTo>
                  <a:pt x="2618358" y="218439"/>
                </a:lnTo>
                <a:lnTo>
                  <a:pt x="2632582" y="210819"/>
                </a:lnTo>
                <a:lnTo>
                  <a:pt x="2646426" y="201929"/>
                </a:lnTo>
                <a:lnTo>
                  <a:pt x="2660777" y="191769"/>
                </a:lnTo>
                <a:lnTo>
                  <a:pt x="2668651" y="186689"/>
                </a:lnTo>
                <a:lnTo>
                  <a:pt x="2676905" y="181609"/>
                </a:lnTo>
                <a:lnTo>
                  <a:pt x="2686050" y="175259"/>
                </a:lnTo>
                <a:lnTo>
                  <a:pt x="2696209" y="167639"/>
                </a:lnTo>
                <a:lnTo>
                  <a:pt x="2698496" y="166369"/>
                </a:lnTo>
                <a:lnTo>
                  <a:pt x="2700528" y="163829"/>
                </a:lnTo>
                <a:lnTo>
                  <a:pt x="2701925" y="162559"/>
                </a:lnTo>
                <a:lnTo>
                  <a:pt x="2710815" y="147319"/>
                </a:lnTo>
                <a:lnTo>
                  <a:pt x="2713511" y="142239"/>
                </a:lnTo>
                <a:lnTo>
                  <a:pt x="2669158" y="142239"/>
                </a:lnTo>
                <a:lnTo>
                  <a:pt x="2670703" y="139812"/>
                </a:lnTo>
                <a:close/>
              </a:path>
              <a:path w="2800984" h="570229">
                <a:moveTo>
                  <a:pt x="2508250" y="261619"/>
                </a:moveTo>
                <a:lnTo>
                  <a:pt x="2505709" y="262889"/>
                </a:lnTo>
                <a:lnTo>
                  <a:pt x="2506726" y="262889"/>
                </a:lnTo>
                <a:lnTo>
                  <a:pt x="2508250" y="261619"/>
                </a:lnTo>
                <a:close/>
              </a:path>
              <a:path w="2800984" h="570229">
                <a:moveTo>
                  <a:pt x="2511932" y="259079"/>
                </a:moveTo>
                <a:lnTo>
                  <a:pt x="2509393" y="260349"/>
                </a:lnTo>
                <a:lnTo>
                  <a:pt x="2510606" y="259891"/>
                </a:lnTo>
                <a:lnTo>
                  <a:pt x="2511932" y="259079"/>
                </a:lnTo>
                <a:close/>
              </a:path>
              <a:path w="2800984" h="570229">
                <a:moveTo>
                  <a:pt x="2510606" y="259891"/>
                </a:moveTo>
                <a:lnTo>
                  <a:pt x="2509393" y="260349"/>
                </a:lnTo>
                <a:lnTo>
                  <a:pt x="2509858" y="260349"/>
                </a:lnTo>
                <a:lnTo>
                  <a:pt x="2510606" y="259891"/>
                </a:lnTo>
                <a:close/>
              </a:path>
              <a:path w="2800984" h="570229">
                <a:moveTo>
                  <a:pt x="2512758" y="259079"/>
                </a:moveTo>
                <a:lnTo>
                  <a:pt x="2511932" y="259079"/>
                </a:lnTo>
                <a:lnTo>
                  <a:pt x="2510606" y="259891"/>
                </a:lnTo>
                <a:lnTo>
                  <a:pt x="2512758" y="259079"/>
                </a:lnTo>
                <a:close/>
              </a:path>
              <a:path w="2800984" h="570229">
                <a:moveTo>
                  <a:pt x="174878" y="201929"/>
                </a:moveTo>
                <a:lnTo>
                  <a:pt x="176314" y="204010"/>
                </a:lnTo>
                <a:lnTo>
                  <a:pt x="179197" y="205739"/>
                </a:lnTo>
                <a:lnTo>
                  <a:pt x="179959" y="205739"/>
                </a:lnTo>
                <a:lnTo>
                  <a:pt x="174878" y="201929"/>
                </a:lnTo>
                <a:close/>
              </a:path>
              <a:path w="2800984" h="570229">
                <a:moveTo>
                  <a:pt x="221996" y="201929"/>
                </a:moveTo>
                <a:lnTo>
                  <a:pt x="174878" y="201929"/>
                </a:lnTo>
                <a:lnTo>
                  <a:pt x="179959" y="205739"/>
                </a:lnTo>
                <a:lnTo>
                  <a:pt x="225098" y="205739"/>
                </a:lnTo>
                <a:lnTo>
                  <a:pt x="222885" y="203199"/>
                </a:lnTo>
                <a:lnTo>
                  <a:pt x="221996" y="201929"/>
                </a:lnTo>
                <a:close/>
              </a:path>
              <a:path w="2800984" h="570229">
                <a:moveTo>
                  <a:pt x="75853" y="88215"/>
                </a:moveTo>
                <a:lnTo>
                  <a:pt x="42683" y="107499"/>
                </a:lnTo>
                <a:lnTo>
                  <a:pt x="47243" y="114299"/>
                </a:lnTo>
                <a:lnTo>
                  <a:pt x="48133" y="115569"/>
                </a:lnTo>
                <a:lnTo>
                  <a:pt x="50418" y="118109"/>
                </a:lnTo>
                <a:lnTo>
                  <a:pt x="56768" y="123189"/>
                </a:lnTo>
                <a:lnTo>
                  <a:pt x="64897" y="129539"/>
                </a:lnTo>
                <a:lnTo>
                  <a:pt x="73151" y="134619"/>
                </a:lnTo>
                <a:lnTo>
                  <a:pt x="81406" y="140969"/>
                </a:lnTo>
                <a:lnTo>
                  <a:pt x="118490" y="165099"/>
                </a:lnTo>
                <a:lnTo>
                  <a:pt x="137160" y="177799"/>
                </a:lnTo>
                <a:lnTo>
                  <a:pt x="145668" y="182879"/>
                </a:lnTo>
                <a:lnTo>
                  <a:pt x="161036" y="194309"/>
                </a:lnTo>
                <a:lnTo>
                  <a:pt x="167386" y="198119"/>
                </a:lnTo>
                <a:lnTo>
                  <a:pt x="172847" y="201929"/>
                </a:lnTo>
                <a:lnTo>
                  <a:pt x="176314" y="204010"/>
                </a:lnTo>
                <a:lnTo>
                  <a:pt x="174878" y="201929"/>
                </a:lnTo>
                <a:lnTo>
                  <a:pt x="221996" y="201929"/>
                </a:lnTo>
                <a:lnTo>
                  <a:pt x="214884" y="191769"/>
                </a:lnTo>
                <a:lnTo>
                  <a:pt x="206121" y="179069"/>
                </a:lnTo>
                <a:lnTo>
                  <a:pt x="204850" y="177799"/>
                </a:lnTo>
                <a:lnTo>
                  <a:pt x="203073" y="176529"/>
                </a:lnTo>
                <a:lnTo>
                  <a:pt x="201040" y="175259"/>
                </a:lnTo>
                <a:lnTo>
                  <a:pt x="200025" y="173989"/>
                </a:lnTo>
                <a:lnTo>
                  <a:pt x="197865" y="172719"/>
                </a:lnTo>
                <a:lnTo>
                  <a:pt x="193675" y="170179"/>
                </a:lnTo>
                <a:lnTo>
                  <a:pt x="188595" y="166369"/>
                </a:lnTo>
                <a:lnTo>
                  <a:pt x="182245" y="162559"/>
                </a:lnTo>
                <a:lnTo>
                  <a:pt x="174878" y="157479"/>
                </a:lnTo>
                <a:lnTo>
                  <a:pt x="166877" y="152399"/>
                </a:lnTo>
                <a:lnTo>
                  <a:pt x="158114" y="146049"/>
                </a:lnTo>
                <a:lnTo>
                  <a:pt x="139700" y="133349"/>
                </a:lnTo>
                <a:lnTo>
                  <a:pt x="120650" y="120649"/>
                </a:lnTo>
                <a:lnTo>
                  <a:pt x="102615" y="109219"/>
                </a:lnTo>
                <a:lnTo>
                  <a:pt x="94361" y="102869"/>
                </a:lnTo>
                <a:lnTo>
                  <a:pt x="87502" y="99059"/>
                </a:lnTo>
                <a:lnTo>
                  <a:pt x="81914" y="95249"/>
                </a:lnTo>
                <a:lnTo>
                  <a:pt x="79425" y="92709"/>
                </a:lnTo>
                <a:lnTo>
                  <a:pt x="78866" y="92709"/>
                </a:lnTo>
                <a:lnTo>
                  <a:pt x="75691" y="88899"/>
                </a:lnTo>
                <a:lnTo>
                  <a:pt x="76312" y="88899"/>
                </a:lnTo>
                <a:lnTo>
                  <a:pt x="75853" y="88215"/>
                </a:lnTo>
                <a:close/>
              </a:path>
              <a:path w="2800984" h="570229">
                <a:moveTo>
                  <a:pt x="2675001" y="137159"/>
                </a:moveTo>
                <a:lnTo>
                  <a:pt x="2670703" y="139812"/>
                </a:lnTo>
                <a:lnTo>
                  <a:pt x="2669158" y="142239"/>
                </a:lnTo>
                <a:lnTo>
                  <a:pt x="2675001" y="137159"/>
                </a:lnTo>
                <a:close/>
              </a:path>
              <a:path w="2800984" h="570229">
                <a:moveTo>
                  <a:pt x="2716207" y="137159"/>
                </a:moveTo>
                <a:lnTo>
                  <a:pt x="2675001" y="137159"/>
                </a:lnTo>
                <a:lnTo>
                  <a:pt x="2669158" y="142239"/>
                </a:lnTo>
                <a:lnTo>
                  <a:pt x="2713511" y="142239"/>
                </a:lnTo>
                <a:lnTo>
                  <a:pt x="2716207" y="137159"/>
                </a:lnTo>
                <a:close/>
              </a:path>
              <a:path w="2800984" h="570229">
                <a:moveTo>
                  <a:pt x="2761947" y="54609"/>
                </a:moveTo>
                <a:lnTo>
                  <a:pt x="2759836" y="54609"/>
                </a:lnTo>
                <a:lnTo>
                  <a:pt x="2757678" y="55879"/>
                </a:lnTo>
                <a:lnTo>
                  <a:pt x="2756661" y="55879"/>
                </a:lnTo>
                <a:lnTo>
                  <a:pt x="2747136" y="58419"/>
                </a:lnTo>
                <a:lnTo>
                  <a:pt x="2736596" y="63500"/>
                </a:lnTo>
                <a:lnTo>
                  <a:pt x="2725166" y="71119"/>
                </a:lnTo>
                <a:lnTo>
                  <a:pt x="2718307" y="74929"/>
                </a:lnTo>
                <a:lnTo>
                  <a:pt x="2686177" y="113029"/>
                </a:lnTo>
                <a:lnTo>
                  <a:pt x="2678049" y="128269"/>
                </a:lnTo>
                <a:lnTo>
                  <a:pt x="2670703" y="139812"/>
                </a:lnTo>
                <a:lnTo>
                  <a:pt x="2675001" y="137159"/>
                </a:lnTo>
                <a:lnTo>
                  <a:pt x="2716207" y="137159"/>
                </a:lnTo>
                <a:lnTo>
                  <a:pt x="2719578" y="130809"/>
                </a:lnTo>
                <a:lnTo>
                  <a:pt x="2746502" y="101599"/>
                </a:lnTo>
                <a:lnTo>
                  <a:pt x="2751454" y="99059"/>
                </a:lnTo>
                <a:lnTo>
                  <a:pt x="2755646" y="96519"/>
                </a:lnTo>
                <a:lnTo>
                  <a:pt x="2762630" y="93979"/>
                </a:lnTo>
                <a:lnTo>
                  <a:pt x="2767456" y="92709"/>
                </a:lnTo>
                <a:lnTo>
                  <a:pt x="2793523" y="92709"/>
                </a:lnTo>
                <a:lnTo>
                  <a:pt x="2795524" y="91439"/>
                </a:lnTo>
                <a:lnTo>
                  <a:pt x="2798699" y="83819"/>
                </a:lnTo>
                <a:lnTo>
                  <a:pt x="2800096" y="80009"/>
                </a:lnTo>
                <a:lnTo>
                  <a:pt x="2800477" y="78739"/>
                </a:lnTo>
                <a:lnTo>
                  <a:pt x="2800667" y="74929"/>
                </a:lnTo>
                <a:lnTo>
                  <a:pt x="2762504" y="74929"/>
                </a:lnTo>
                <a:lnTo>
                  <a:pt x="2762377" y="66039"/>
                </a:lnTo>
                <a:lnTo>
                  <a:pt x="2762123" y="62229"/>
                </a:lnTo>
                <a:lnTo>
                  <a:pt x="2761947" y="54609"/>
                </a:lnTo>
                <a:close/>
              </a:path>
              <a:path w="2800984" h="570229">
                <a:moveTo>
                  <a:pt x="0" y="0"/>
                </a:moveTo>
                <a:lnTo>
                  <a:pt x="9143" y="126999"/>
                </a:lnTo>
                <a:lnTo>
                  <a:pt x="42683" y="107499"/>
                </a:lnTo>
                <a:lnTo>
                  <a:pt x="32765" y="92709"/>
                </a:lnTo>
                <a:lnTo>
                  <a:pt x="64388" y="71119"/>
                </a:lnTo>
                <a:lnTo>
                  <a:pt x="105257" y="71119"/>
                </a:lnTo>
                <a:lnTo>
                  <a:pt x="107441" y="69850"/>
                </a:lnTo>
                <a:lnTo>
                  <a:pt x="0" y="0"/>
                </a:lnTo>
                <a:close/>
              </a:path>
              <a:path w="2800984" h="570229">
                <a:moveTo>
                  <a:pt x="64388" y="71119"/>
                </a:moveTo>
                <a:lnTo>
                  <a:pt x="32765" y="92709"/>
                </a:lnTo>
                <a:lnTo>
                  <a:pt x="42683" y="107499"/>
                </a:lnTo>
                <a:lnTo>
                  <a:pt x="75853" y="88215"/>
                </a:lnTo>
                <a:lnTo>
                  <a:pt x="64388" y="71119"/>
                </a:lnTo>
                <a:close/>
              </a:path>
              <a:path w="2800984" h="570229">
                <a:moveTo>
                  <a:pt x="2793523" y="92709"/>
                </a:moveTo>
                <a:lnTo>
                  <a:pt x="2768727" y="92709"/>
                </a:lnTo>
                <a:lnTo>
                  <a:pt x="2772409" y="93979"/>
                </a:lnTo>
                <a:lnTo>
                  <a:pt x="2774315" y="93979"/>
                </a:lnTo>
                <a:lnTo>
                  <a:pt x="2776220" y="95249"/>
                </a:lnTo>
                <a:lnTo>
                  <a:pt x="2779268" y="95249"/>
                </a:lnTo>
                <a:lnTo>
                  <a:pt x="2787523" y="96519"/>
                </a:lnTo>
                <a:lnTo>
                  <a:pt x="2793523" y="92709"/>
                </a:lnTo>
                <a:close/>
              </a:path>
              <a:path w="2800984" h="570229">
                <a:moveTo>
                  <a:pt x="75691" y="88899"/>
                </a:moveTo>
                <a:lnTo>
                  <a:pt x="78866" y="92709"/>
                </a:lnTo>
                <a:lnTo>
                  <a:pt x="77655" y="90903"/>
                </a:lnTo>
                <a:lnTo>
                  <a:pt x="75691" y="88899"/>
                </a:lnTo>
                <a:close/>
              </a:path>
              <a:path w="2800984" h="570229">
                <a:moveTo>
                  <a:pt x="77655" y="90903"/>
                </a:moveTo>
                <a:lnTo>
                  <a:pt x="78866" y="92709"/>
                </a:lnTo>
                <a:lnTo>
                  <a:pt x="79425" y="92709"/>
                </a:lnTo>
                <a:lnTo>
                  <a:pt x="77655" y="90903"/>
                </a:lnTo>
                <a:close/>
              </a:path>
              <a:path w="2800984" h="570229">
                <a:moveTo>
                  <a:pt x="76312" y="88899"/>
                </a:moveTo>
                <a:lnTo>
                  <a:pt x="75691" y="88899"/>
                </a:lnTo>
                <a:lnTo>
                  <a:pt x="77655" y="90903"/>
                </a:lnTo>
                <a:lnTo>
                  <a:pt x="76312" y="88899"/>
                </a:lnTo>
                <a:close/>
              </a:path>
              <a:path w="2800984" h="570229">
                <a:moveTo>
                  <a:pt x="105257" y="71119"/>
                </a:moveTo>
                <a:lnTo>
                  <a:pt x="64388" y="71119"/>
                </a:lnTo>
                <a:lnTo>
                  <a:pt x="75853" y="88215"/>
                </a:lnTo>
                <a:lnTo>
                  <a:pt x="105257" y="71119"/>
                </a:lnTo>
                <a:close/>
              </a:path>
              <a:path w="2800984" h="570229">
                <a:moveTo>
                  <a:pt x="2799842" y="38100"/>
                </a:moveTo>
                <a:lnTo>
                  <a:pt x="2761742" y="38100"/>
                </a:lnTo>
                <a:lnTo>
                  <a:pt x="2761859" y="50800"/>
                </a:lnTo>
                <a:lnTo>
                  <a:pt x="2762123" y="62229"/>
                </a:lnTo>
                <a:lnTo>
                  <a:pt x="2762377" y="66039"/>
                </a:lnTo>
                <a:lnTo>
                  <a:pt x="2762504" y="74929"/>
                </a:lnTo>
                <a:lnTo>
                  <a:pt x="2764028" y="68579"/>
                </a:lnTo>
                <a:lnTo>
                  <a:pt x="2763520" y="68579"/>
                </a:lnTo>
                <a:lnTo>
                  <a:pt x="2782711" y="57291"/>
                </a:lnTo>
                <a:lnTo>
                  <a:pt x="2782061" y="57150"/>
                </a:lnTo>
                <a:lnTo>
                  <a:pt x="2782189" y="57150"/>
                </a:lnTo>
                <a:lnTo>
                  <a:pt x="2781427" y="55879"/>
                </a:lnTo>
                <a:lnTo>
                  <a:pt x="2780537" y="55879"/>
                </a:lnTo>
                <a:lnTo>
                  <a:pt x="2777108" y="54609"/>
                </a:lnTo>
                <a:lnTo>
                  <a:pt x="2800077" y="54609"/>
                </a:lnTo>
                <a:lnTo>
                  <a:pt x="2799969" y="50800"/>
                </a:lnTo>
                <a:lnTo>
                  <a:pt x="2799842" y="38100"/>
                </a:lnTo>
                <a:close/>
              </a:path>
              <a:path w="2800984" h="570229">
                <a:moveTo>
                  <a:pt x="2782711" y="57291"/>
                </a:moveTo>
                <a:lnTo>
                  <a:pt x="2763520" y="68579"/>
                </a:lnTo>
                <a:lnTo>
                  <a:pt x="2764028" y="68579"/>
                </a:lnTo>
                <a:lnTo>
                  <a:pt x="2762504" y="74929"/>
                </a:lnTo>
                <a:lnTo>
                  <a:pt x="2800667" y="74929"/>
                </a:lnTo>
                <a:lnTo>
                  <a:pt x="2800540" y="68579"/>
                </a:lnTo>
                <a:lnTo>
                  <a:pt x="2800413" y="63500"/>
                </a:lnTo>
                <a:lnTo>
                  <a:pt x="2800223" y="59689"/>
                </a:lnTo>
                <a:lnTo>
                  <a:pt x="2800186" y="58419"/>
                </a:lnTo>
                <a:lnTo>
                  <a:pt x="2785618" y="58419"/>
                </a:lnTo>
                <a:lnTo>
                  <a:pt x="2783859" y="57540"/>
                </a:lnTo>
                <a:lnTo>
                  <a:pt x="2782711" y="57291"/>
                </a:lnTo>
                <a:close/>
              </a:path>
              <a:path w="2800984" h="570229">
                <a:moveTo>
                  <a:pt x="2800077" y="54609"/>
                </a:moveTo>
                <a:lnTo>
                  <a:pt x="2777108" y="54609"/>
                </a:lnTo>
                <a:lnTo>
                  <a:pt x="2780537" y="55879"/>
                </a:lnTo>
                <a:lnTo>
                  <a:pt x="2781427" y="55879"/>
                </a:lnTo>
                <a:lnTo>
                  <a:pt x="2782189" y="57150"/>
                </a:lnTo>
                <a:lnTo>
                  <a:pt x="2783078" y="57150"/>
                </a:lnTo>
                <a:lnTo>
                  <a:pt x="2783859" y="57540"/>
                </a:lnTo>
                <a:lnTo>
                  <a:pt x="2787904" y="58419"/>
                </a:lnTo>
                <a:lnTo>
                  <a:pt x="2800186" y="58419"/>
                </a:lnTo>
                <a:lnTo>
                  <a:pt x="2800077" y="54609"/>
                </a:lnTo>
                <a:close/>
              </a:path>
              <a:path w="2800984" h="570229">
                <a:moveTo>
                  <a:pt x="2783078" y="57150"/>
                </a:moveTo>
                <a:lnTo>
                  <a:pt x="2782711" y="57291"/>
                </a:lnTo>
                <a:lnTo>
                  <a:pt x="2783859" y="57540"/>
                </a:lnTo>
                <a:lnTo>
                  <a:pt x="2783078" y="57150"/>
                </a:lnTo>
                <a:close/>
              </a:path>
              <a:path w="2800984" h="570229">
                <a:moveTo>
                  <a:pt x="2782951" y="57150"/>
                </a:moveTo>
                <a:lnTo>
                  <a:pt x="2782061" y="57150"/>
                </a:lnTo>
                <a:lnTo>
                  <a:pt x="2782711" y="57291"/>
                </a:lnTo>
                <a:lnTo>
                  <a:pt x="2782951" y="571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7661909" y="3806774"/>
            <a:ext cx="7391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拉链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963291" y="2018375"/>
            <a:ext cx="2139315" cy="216535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765"/>
              </a:spcBef>
              <a:tabLst>
                <a:tab pos="941069" algn="l"/>
                <a:tab pos="1384935" algn="l"/>
                <a:tab pos="2007870" algn="l"/>
              </a:tabLst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j</a:t>
            </a:r>
            <a:r>
              <a:rPr dirty="0" sz="2800" spc="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214629">
              <a:lnSpc>
                <a:spcPct val="100000"/>
              </a:lnSpc>
              <a:spcBef>
                <a:spcPts val="76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45"/>
              </a:spcBef>
              <a:tabLst>
                <a:tab pos="860425" algn="l"/>
                <a:tab pos="1304290" algn="l"/>
                <a:tab pos="1946275" algn="l"/>
              </a:tabLst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r>
              <a:rPr dirty="0" sz="2800" spc="1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j</a:t>
            </a:r>
            <a:r>
              <a:rPr dirty="0" sz="280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,	,	,	)</a:t>
            </a:r>
            <a:endParaRPr sz="2800">
              <a:latin typeface="Times New Roman"/>
              <a:cs typeface="Times New Roman"/>
            </a:endParaRPr>
          </a:p>
          <a:p>
            <a:pPr marL="271780">
              <a:lnSpc>
                <a:spcPct val="100000"/>
              </a:lnSpc>
              <a:spcBef>
                <a:spcPts val="27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31466" y="4280103"/>
            <a:ext cx="1708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6281737" y="4857686"/>
          <a:ext cx="2519680" cy="549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2950"/>
                <a:gridCol w="819150"/>
                <a:gridCol w="914400"/>
              </a:tblGrid>
              <a:tr h="520826"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20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object 33"/>
          <p:cNvSpPr/>
          <p:nvPr/>
        </p:nvSpPr>
        <p:spPr>
          <a:xfrm>
            <a:off x="8367521" y="4050791"/>
            <a:ext cx="586739" cy="57226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8514206" y="3987196"/>
            <a:ext cx="293370" cy="4238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8514206" y="3944889"/>
            <a:ext cx="293370" cy="2119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8367521" y="4050791"/>
            <a:ext cx="586740" cy="572770"/>
          </a:xfrm>
          <a:custGeom>
            <a:avLst/>
            <a:gdLst/>
            <a:ahLst/>
            <a:cxnLst/>
            <a:rect l="l" t="t" r="r" b="b"/>
            <a:pathLst>
              <a:path w="586740" h="572770">
                <a:moveTo>
                  <a:pt x="586739" y="402716"/>
                </a:moveTo>
                <a:lnTo>
                  <a:pt x="440054" y="402716"/>
                </a:lnTo>
                <a:lnTo>
                  <a:pt x="440054" y="0"/>
                </a:lnTo>
                <a:lnTo>
                  <a:pt x="146684" y="0"/>
                </a:lnTo>
                <a:lnTo>
                  <a:pt x="146684" y="402716"/>
                </a:lnTo>
                <a:lnTo>
                  <a:pt x="0" y="402716"/>
                </a:lnTo>
                <a:lnTo>
                  <a:pt x="293370" y="572261"/>
                </a:lnTo>
                <a:lnTo>
                  <a:pt x="586739" y="40271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8495156" y="3985133"/>
            <a:ext cx="331470" cy="63500"/>
          </a:xfrm>
          <a:custGeom>
            <a:avLst/>
            <a:gdLst/>
            <a:ahLst/>
            <a:cxnLst/>
            <a:rect l="l" t="t" r="r" b="b"/>
            <a:pathLst>
              <a:path w="331470" h="63500">
                <a:moveTo>
                  <a:pt x="0" y="63500"/>
                </a:moveTo>
                <a:lnTo>
                  <a:pt x="331470" y="63500"/>
                </a:lnTo>
                <a:lnTo>
                  <a:pt x="331470" y="0"/>
                </a:lnTo>
                <a:lnTo>
                  <a:pt x="0" y="0"/>
                </a:lnTo>
                <a:lnTo>
                  <a:pt x="0" y="635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8495156" y="3925839"/>
            <a:ext cx="331470" cy="59690"/>
          </a:xfrm>
          <a:custGeom>
            <a:avLst/>
            <a:gdLst/>
            <a:ahLst/>
            <a:cxnLst/>
            <a:rect l="l" t="t" r="r" b="b"/>
            <a:pathLst>
              <a:path w="331470" h="59689">
                <a:moveTo>
                  <a:pt x="0" y="59293"/>
                </a:moveTo>
                <a:lnTo>
                  <a:pt x="331470" y="59293"/>
                </a:lnTo>
                <a:lnTo>
                  <a:pt x="331470" y="0"/>
                </a:lnTo>
                <a:lnTo>
                  <a:pt x="0" y="0"/>
                </a:lnTo>
                <a:lnTo>
                  <a:pt x="0" y="5929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2942589" y="4324603"/>
            <a:ext cx="9626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68262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dirty="0" sz="280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158690" y="4324603"/>
            <a:ext cx="9328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64389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b,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c)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549646" y="4307585"/>
            <a:ext cx="3595370" cy="1941830"/>
          </a:xfrm>
          <a:custGeom>
            <a:avLst/>
            <a:gdLst/>
            <a:ahLst/>
            <a:cxnLst/>
            <a:rect l="l" t="t" r="r" b="b"/>
            <a:pathLst>
              <a:path w="3595370" h="1941829">
                <a:moveTo>
                  <a:pt x="0" y="1941576"/>
                </a:moveTo>
                <a:lnTo>
                  <a:pt x="3595115" y="1941576"/>
                </a:lnTo>
                <a:lnTo>
                  <a:pt x="3595115" y="0"/>
                </a:lnTo>
                <a:lnTo>
                  <a:pt x="0" y="0"/>
                </a:lnTo>
                <a:lnTo>
                  <a:pt x="0" y="1941576"/>
                </a:lnTo>
                <a:close/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4594352" y="5755640"/>
            <a:ext cx="84264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66FF"/>
                </a:solidFill>
                <a:latin typeface="宋体"/>
                <a:cs typeface="宋体"/>
              </a:rPr>
              <a:t>返填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214746" y="2378455"/>
            <a:ext cx="949960" cy="1127760"/>
          </a:xfrm>
          <a:custGeom>
            <a:avLst/>
            <a:gdLst/>
            <a:ahLst/>
            <a:cxnLst/>
            <a:rect l="l" t="t" r="r" b="b"/>
            <a:pathLst>
              <a:path w="949960" h="1127760">
                <a:moveTo>
                  <a:pt x="909649" y="467977"/>
                </a:moveTo>
                <a:lnTo>
                  <a:pt x="907541" y="480060"/>
                </a:lnTo>
                <a:lnTo>
                  <a:pt x="904113" y="501650"/>
                </a:lnTo>
                <a:lnTo>
                  <a:pt x="898270" y="543052"/>
                </a:lnTo>
                <a:lnTo>
                  <a:pt x="892555" y="582295"/>
                </a:lnTo>
                <a:lnTo>
                  <a:pt x="882141" y="636778"/>
                </a:lnTo>
                <a:lnTo>
                  <a:pt x="866520" y="686562"/>
                </a:lnTo>
                <a:lnTo>
                  <a:pt x="842263" y="732282"/>
                </a:lnTo>
                <a:lnTo>
                  <a:pt x="805688" y="775208"/>
                </a:lnTo>
                <a:lnTo>
                  <a:pt x="772287" y="802894"/>
                </a:lnTo>
                <a:lnTo>
                  <a:pt x="730376" y="829818"/>
                </a:lnTo>
                <a:lnTo>
                  <a:pt x="692276" y="849884"/>
                </a:lnTo>
                <a:lnTo>
                  <a:pt x="648080" y="869442"/>
                </a:lnTo>
                <a:lnTo>
                  <a:pt x="578992" y="895223"/>
                </a:lnTo>
                <a:lnTo>
                  <a:pt x="539623" y="907923"/>
                </a:lnTo>
                <a:lnTo>
                  <a:pt x="497077" y="920369"/>
                </a:lnTo>
                <a:lnTo>
                  <a:pt x="451103" y="932815"/>
                </a:lnTo>
                <a:lnTo>
                  <a:pt x="401574" y="945134"/>
                </a:lnTo>
                <a:lnTo>
                  <a:pt x="348233" y="957326"/>
                </a:lnTo>
                <a:lnTo>
                  <a:pt x="344931" y="957961"/>
                </a:lnTo>
                <a:lnTo>
                  <a:pt x="342011" y="959485"/>
                </a:lnTo>
                <a:lnTo>
                  <a:pt x="309499" y="986917"/>
                </a:lnTo>
                <a:lnTo>
                  <a:pt x="262381" y="1013206"/>
                </a:lnTo>
                <a:lnTo>
                  <a:pt x="207644" y="1032764"/>
                </a:lnTo>
                <a:lnTo>
                  <a:pt x="90169" y="1064006"/>
                </a:lnTo>
                <a:lnTo>
                  <a:pt x="61849" y="1072007"/>
                </a:lnTo>
                <a:lnTo>
                  <a:pt x="31876" y="1080897"/>
                </a:lnTo>
                <a:lnTo>
                  <a:pt x="0" y="1091057"/>
                </a:lnTo>
                <a:lnTo>
                  <a:pt x="11429" y="1127379"/>
                </a:lnTo>
                <a:lnTo>
                  <a:pt x="42672" y="1117473"/>
                </a:lnTo>
                <a:lnTo>
                  <a:pt x="72262" y="1108710"/>
                </a:lnTo>
                <a:lnTo>
                  <a:pt x="99949" y="1100836"/>
                </a:lnTo>
                <a:lnTo>
                  <a:pt x="197485" y="1075309"/>
                </a:lnTo>
                <a:lnTo>
                  <a:pt x="219075" y="1069086"/>
                </a:lnTo>
                <a:lnTo>
                  <a:pt x="259587" y="1055497"/>
                </a:lnTo>
                <a:lnTo>
                  <a:pt x="297306" y="1038733"/>
                </a:lnTo>
                <a:lnTo>
                  <a:pt x="332739" y="1017143"/>
                </a:lnTo>
                <a:lnTo>
                  <a:pt x="360235" y="994410"/>
                </a:lnTo>
                <a:lnTo>
                  <a:pt x="356488" y="994410"/>
                </a:lnTo>
                <a:lnTo>
                  <a:pt x="365125" y="989965"/>
                </a:lnTo>
                <a:lnTo>
                  <a:pt x="376584" y="989965"/>
                </a:lnTo>
                <a:lnTo>
                  <a:pt x="384048" y="988314"/>
                </a:lnTo>
                <a:lnTo>
                  <a:pt x="436117" y="975868"/>
                </a:lnTo>
                <a:lnTo>
                  <a:pt x="484631" y="963422"/>
                </a:lnTo>
                <a:lnTo>
                  <a:pt x="551179" y="944245"/>
                </a:lnTo>
                <a:lnTo>
                  <a:pt x="610362" y="924687"/>
                </a:lnTo>
                <a:lnTo>
                  <a:pt x="646176" y="911352"/>
                </a:lnTo>
                <a:lnTo>
                  <a:pt x="694436" y="890905"/>
                </a:lnTo>
                <a:lnTo>
                  <a:pt x="736980" y="869823"/>
                </a:lnTo>
                <a:lnTo>
                  <a:pt x="773683" y="848106"/>
                </a:lnTo>
                <a:lnTo>
                  <a:pt x="815339" y="817499"/>
                </a:lnTo>
                <a:lnTo>
                  <a:pt x="848613" y="785749"/>
                </a:lnTo>
                <a:lnTo>
                  <a:pt x="874649" y="752348"/>
                </a:lnTo>
                <a:lnTo>
                  <a:pt x="894333" y="717677"/>
                </a:lnTo>
                <a:lnTo>
                  <a:pt x="908938" y="681736"/>
                </a:lnTo>
                <a:lnTo>
                  <a:pt x="923670" y="625983"/>
                </a:lnTo>
                <a:lnTo>
                  <a:pt x="930275" y="587756"/>
                </a:lnTo>
                <a:lnTo>
                  <a:pt x="935989" y="548386"/>
                </a:lnTo>
                <a:lnTo>
                  <a:pt x="941831" y="507492"/>
                </a:lnTo>
                <a:lnTo>
                  <a:pt x="945133" y="486664"/>
                </a:lnTo>
                <a:lnTo>
                  <a:pt x="947171" y="474980"/>
                </a:lnTo>
                <a:lnTo>
                  <a:pt x="916686" y="474980"/>
                </a:lnTo>
                <a:lnTo>
                  <a:pt x="915288" y="473583"/>
                </a:lnTo>
                <a:lnTo>
                  <a:pt x="912749" y="471170"/>
                </a:lnTo>
                <a:lnTo>
                  <a:pt x="910589" y="468884"/>
                </a:lnTo>
                <a:lnTo>
                  <a:pt x="909649" y="467977"/>
                </a:lnTo>
                <a:close/>
              </a:path>
              <a:path w="949960" h="1127760">
                <a:moveTo>
                  <a:pt x="365125" y="989965"/>
                </a:moveTo>
                <a:lnTo>
                  <a:pt x="356488" y="994410"/>
                </a:lnTo>
                <a:lnTo>
                  <a:pt x="361440" y="993314"/>
                </a:lnTo>
                <a:lnTo>
                  <a:pt x="365125" y="989965"/>
                </a:lnTo>
                <a:close/>
              </a:path>
              <a:path w="949960" h="1127760">
                <a:moveTo>
                  <a:pt x="361440" y="993314"/>
                </a:moveTo>
                <a:lnTo>
                  <a:pt x="356488" y="994410"/>
                </a:lnTo>
                <a:lnTo>
                  <a:pt x="360235" y="994410"/>
                </a:lnTo>
                <a:lnTo>
                  <a:pt x="361440" y="993314"/>
                </a:lnTo>
                <a:close/>
              </a:path>
              <a:path w="949960" h="1127760">
                <a:moveTo>
                  <a:pt x="376584" y="989965"/>
                </a:moveTo>
                <a:lnTo>
                  <a:pt x="365125" y="989965"/>
                </a:lnTo>
                <a:lnTo>
                  <a:pt x="361440" y="993314"/>
                </a:lnTo>
                <a:lnTo>
                  <a:pt x="376584" y="989965"/>
                </a:lnTo>
                <a:close/>
              </a:path>
              <a:path w="949960" h="1127760">
                <a:moveTo>
                  <a:pt x="911351" y="458216"/>
                </a:moveTo>
                <a:lnTo>
                  <a:pt x="909649" y="467977"/>
                </a:lnTo>
                <a:lnTo>
                  <a:pt x="910589" y="468884"/>
                </a:lnTo>
                <a:lnTo>
                  <a:pt x="912749" y="471170"/>
                </a:lnTo>
                <a:lnTo>
                  <a:pt x="915288" y="473583"/>
                </a:lnTo>
                <a:lnTo>
                  <a:pt x="916686" y="474980"/>
                </a:lnTo>
                <a:lnTo>
                  <a:pt x="911351" y="458216"/>
                </a:lnTo>
                <a:close/>
              </a:path>
              <a:path w="949960" h="1127760">
                <a:moveTo>
                  <a:pt x="949797" y="458216"/>
                </a:moveTo>
                <a:lnTo>
                  <a:pt x="911351" y="458216"/>
                </a:lnTo>
                <a:lnTo>
                  <a:pt x="916686" y="474980"/>
                </a:lnTo>
                <a:lnTo>
                  <a:pt x="947171" y="474980"/>
                </a:lnTo>
                <a:lnTo>
                  <a:pt x="948943" y="464820"/>
                </a:lnTo>
                <a:lnTo>
                  <a:pt x="949960" y="458724"/>
                </a:lnTo>
                <a:lnTo>
                  <a:pt x="949797" y="458216"/>
                </a:lnTo>
                <a:close/>
              </a:path>
              <a:path w="949960" h="1127760">
                <a:moveTo>
                  <a:pt x="686620" y="229005"/>
                </a:moveTo>
                <a:lnTo>
                  <a:pt x="691514" y="235585"/>
                </a:lnTo>
                <a:lnTo>
                  <a:pt x="698469" y="245110"/>
                </a:lnTo>
                <a:lnTo>
                  <a:pt x="704723" y="253365"/>
                </a:lnTo>
                <a:lnTo>
                  <a:pt x="715263" y="267716"/>
                </a:lnTo>
                <a:lnTo>
                  <a:pt x="719963" y="273939"/>
                </a:lnTo>
                <a:lnTo>
                  <a:pt x="724153" y="279400"/>
                </a:lnTo>
                <a:lnTo>
                  <a:pt x="727837" y="284353"/>
                </a:lnTo>
                <a:lnTo>
                  <a:pt x="758443" y="319786"/>
                </a:lnTo>
                <a:lnTo>
                  <a:pt x="765810" y="326898"/>
                </a:lnTo>
                <a:lnTo>
                  <a:pt x="774445" y="335407"/>
                </a:lnTo>
                <a:lnTo>
                  <a:pt x="779779" y="340360"/>
                </a:lnTo>
                <a:lnTo>
                  <a:pt x="785494" y="345821"/>
                </a:lnTo>
                <a:lnTo>
                  <a:pt x="791590" y="351790"/>
                </a:lnTo>
                <a:lnTo>
                  <a:pt x="798702" y="358521"/>
                </a:lnTo>
                <a:lnTo>
                  <a:pt x="806450" y="366141"/>
                </a:lnTo>
                <a:lnTo>
                  <a:pt x="814958" y="374396"/>
                </a:lnTo>
                <a:lnTo>
                  <a:pt x="846327" y="405384"/>
                </a:lnTo>
                <a:lnTo>
                  <a:pt x="858774" y="417830"/>
                </a:lnTo>
                <a:lnTo>
                  <a:pt x="885698" y="444373"/>
                </a:lnTo>
                <a:lnTo>
                  <a:pt x="894968" y="453644"/>
                </a:lnTo>
                <a:lnTo>
                  <a:pt x="903477" y="462026"/>
                </a:lnTo>
                <a:lnTo>
                  <a:pt x="909649" y="467977"/>
                </a:lnTo>
                <a:lnTo>
                  <a:pt x="911351" y="458216"/>
                </a:lnTo>
                <a:lnTo>
                  <a:pt x="949797" y="458216"/>
                </a:lnTo>
                <a:lnTo>
                  <a:pt x="947927" y="452374"/>
                </a:lnTo>
                <a:lnTo>
                  <a:pt x="941577" y="446024"/>
                </a:lnTo>
                <a:lnTo>
                  <a:pt x="940053" y="444627"/>
                </a:lnTo>
                <a:lnTo>
                  <a:pt x="937132" y="441579"/>
                </a:lnTo>
                <a:lnTo>
                  <a:pt x="930275" y="434975"/>
                </a:lnTo>
                <a:lnTo>
                  <a:pt x="921765" y="426593"/>
                </a:lnTo>
                <a:lnTo>
                  <a:pt x="912494" y="417322"/>
                </a:lnTo>
                <a:lnTo>
                  <a:pt x="893699" y="398780"/>
                </a:lnTo>
                <a:lnTo>
                  <a:pt x="873125" y="378206"/>
                </a:lnTo>
                <a:lnTo>
                  <a:pt x="861694" y="366903"/>
                </a:lnTo>
                <a:lnTo>
                  <a:pt x="851153" y="356616"/>
                </a:lnTo>
                <a:lnTo>
                  <a:pt x="841628" y="347218"/>
                </a:lnTo>
                <a:lnTo>
                  <a:pt x="832992" y="338836"/>
                </a:lnTo>
                <a:lnTo>
                  <a:pt x="825118" y="331089"/>
                </a:lnTo>
                <a:lnTo>
                  <a:pt x="805941" y="312674"/>
                </a:lnTo>
                <a:lnTo>
                  <a:pt x="774826" y="281813"/>
                </a:lnTo>
                <a:lnTo>
                  <a:pt x="745905" y="244983"/>
                </a:lnTo>
                <a:lnTo>
                  <a:pt x="740917" y="238125"/>
                </a:lnTo>
                <a:lnTo>
                  <a:pt x="735522" y="231013"/>
                </a:lnTo>
                <a:lnTo>
                  <a:pt x="690752" y="231013"/>
                </a:lnTo>
                <a:lnTo>
                  <a:pt x="686620" y="229005"/>
                </a:lnTo>
                <a:close/>
              </a:path>
              <a:path w="949960" h="1127760">
                <a:moveTo>
                  <a:pt x="683767" y="225171"/>
                </a:moveTo>
                <a:lnTo>
                  <a:pt x="686620" y="229005"/>
                </a:lnTo>
                <a:lnTo>
                  <a:pt x="690752" y="231013"/>
                </a:lnTo>
                <a:lnTo>
                  <a:pt x="683767" y="225171"/>
                </a:lnTo>
                <a:close/>
              </a:path>
              <a:path w="949960" h="1127760">
                <a:moveTo>
                  <a:pt x="731159" y="225171"/>
                </a:moveTo>
                <a:lnTo>
                  <a:pt x="683767" y="225171"/>
                </a:lnTo>
                <a:lnTo>
                  <a:pt x="690752" y="231013"/>
                </a:lnTo>
                <a:lnTo>
                  <a:pt x="735522" y="231013"/>
                </a:lnTo>
                <a:lnTo>
                  <a:pt x="731159" y="225171"/>
                </a:lnTo>
                <a:close/>
              </a:path>
              <a:path w="949960" h="1127760">
                <a:moveTo>
                  <a:pt x="179337" y="38033"/>
                </a:moveTo>
                <a:lnTo>
                  <a:pt x="174550" y="75858"/>
                </a:lnTo>
                <a:lnTo>
                  <a:pt x="190245" y="77978"/>
                </a:lnTo>
                <a:lnTo>
                  <a:pt x="237108" y="85471"/>
                </a:lnTo>
                <a:lnTo>
                  <a:pt x="303402" y="98044"/>
                </a:lnTo>
                <a:lnTo>
                  <a:pt x="345186" y="107061"/>
                </a:lnTo>
                <a:lnTo>
                  <a:pt x="385063" y="116713"/>
                </a:lnTo>
                <a:lnTo>
                  <a:pt x="423290" y="126873"/>
                </a:lnTo>
                <a:lnTo>
                  <a:pt x="459993" y="137795"/>
                </a:lnTo>
                <a:lnTo>
                  <a:pt x="529843" y="161163"/>
                </a:lnTo>
                <a:lnTo>
                  <a:pt x="595883" y="187071"/>
                </a:lnTo>
                <a:lnTo>
                  <a:pt x="659383" y="215773"/>
                </a:lnTo>
                <a:lnTo>
                  <a:pt x="686620" y="229005"/>
                </a:lnTo>
                <a:lnTo>
                  <a:pt x="683767" y="225171"/>
                </a:lnTo>
                <a:lnTo>
                  <a:pt x="731159" y="225171"/>
                </a:lnTo>
                <a:lnTo>
                  <a:pt x="714375" y="202565"/>
                </a:lnTo>
                <a:lnTo>
                  <a:pt x="675258" y="181102"/>
                </a:lnTo>
                <a:lnTo>
                  <a:pt x="610235" y="151892"/>
                </a:lnTo>
                <a:lnTo>
                  <a:pt x="542416" y="125222"/>
                </a:lnTo>
                <a:lnTo>
                  <a:pt x="470788" y="101219"/>
                </a:lnTo>
                <a:lnTo>
                  <a:pt x="433197" y="90170"/>
                </a:lnTo>
                <a:lnTo>
                  <a:pt x="394080" y="79756"/>
                </a:lnTo>
                <a:lnTo>
                  <a:pt x="353187" y="69850"/>
                </a:lnTo>
                <a:lnTo>
                  <a:pt x="310768" y="60706"/>
                </a:lnTo>
                <a:lnTo>
                  <a:pt x="266318" y="52070"/>
                </a:lnTo>
                <a:lnTo>
                  <a:pt x="219710" y="43942"/>
                </a:lnTo>
                <a:lnTo>
                  <a:pt x="195325" y="40259"/>
                </a:lnTo>
                <a:lnTo>
                  <a:pt x="179337" y="38033"/>
                </a:lnTo>
                <a:close/>
              </a:path>
              <a:path w="949960" h="1127760">
                <a:moveTo>
                  <a:pt x="184150" y="0"/>
                </a:moveTo>
                <a:lnTo>
                  <a:pt x="63500" y="42418"/>
                </a:lnTo>
                <a:lnTo>
                  <a:pt x="169799" y="113411"/>
                </a:lnTo>
                <a:lnTo>
                  <a:pt x="174550" y="75858"/>
                </a:lnTo>
                <a:lnTo>
                  <a:pt x="155448" y="73279"/>
                </a:lnTo>
                <a:lnTo>
                  <a:pt x="160654" y="35433"/>
                </a:lnTo>
                <a:lnTo>
                  <a:pt x="179666" y="35433"/>
                </a:lnTo>
                <a:lnTo>
                  <a:pt x="184150" y="0"/>
                </a:lnTo>
                <a:close/>
              </a:path>
              <a:path w="949960" h="1127760">
                <a:moveTo>
                  <a:pt x="160654" y="35433"/>
                </a:moveTo>
                <a:lnTo>
                  <a:pt x="155448" y="73279"/>
                </a:lnTo>
                <a:lnTo>
                  <a:pt x="174550" y="75858"/>
                </a:lnTo>
                <a:lnTo>
                  <a:pt x="179337" y="38033"/>
                </a:lnTo>
                <a:lnTo>
                  <a:pt x="160654" y="35433"/>
                </a:lnTo>
                <a:close/>
              </a:path>
              <a:path w="949960" h="1127760">
                <a:moveTo>
                  <a:pt x="179666" y="35433"/>
                </a:moveTo>
                <a:lnTo>
                  <a:pt x="160654" y="35433"/>
                </a:lnTo>
                <a:lnTo>
                  <a:pt x="179337" y="38033"/>
                </a:lnTo>
                <a:lnTo>
                  <a:pt x="179666" y="35433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905500" y="1298447"/>
            <a:ext cx="3030220" cy="2372995"/>
          </a:xfrm>
          <a:custGeom>
            <a:avLst/>
            <a:gdLst/>
            <a:ahLst/>
            <a:cxnLst/>
            <a:rect l="l" t="t" r="r" b="b"/>
            <a:pathLst>
              <a:path w="3030220" h="2372995">
                <a:moveTo>
                  <a:pt x="0" y="0"/>
                </a:moveTo>
                <a:lnTo>
                  <a:pt x="3029711" y="2372868"/>
                </a:lnTo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454655" y="4593971"/>
            <a:ext cx="3841115" cy="569595"/>
          </a:xfrm>
          <a:custGeom>
            <a:avLst/>
            <a:gdLst/>
            <a:ahLst/>
            <a:cxnLst/>
            <a:rect l="l" t="t" r="r" b="b"/>
            <a:pathLst>
              <a:path w="3841115" h="569595">
                <a:moveTo>
                  <a:pt x="3667327" y="512600"/>
                </a:moveTo>
                <a:lnTo>
                  <a:pt x="3660267" y="569213"/>
                </a:lnTo>
                <a:lnTo>
                  <a:pt x="3810448" y="516127"/>
                </a:lnTo>
                <a:lnTo>
                  <a:pt x="3695700" y="516127"/>
                </a:lnTo>
                <a:lnTo>
                  <a:pt x="3667327" y="512600"/>
                </a:lnTo>
                <a:close/>
              </a:path>
              <a:path w="3841115" h="569595">
                <a:moveTo>
                  <a:pt x="3674406" y="455843"/>
                </a:moveTo>
                <a:lnTo>
                  <a:pt x="3667327" y="512600"/>
                </a:lnTo>
                <a:lnTo>
                  <a:pt x="3695700" y="516127"/>
                </a:lnTo>
                <a:lnTo>
                  <a:pt x="3702685" y="459358"/>
                </a:lnTo>
                <a:lnTo>
                  <a:pt x="3674406" y="455843"/>
                </a:lnTo>
                <a:close/>
              </a:path>
              <a:path w="3841115" h="569595">
                <a:moveTo>
                  <a:pt x="3681476" y="399160"/>
                </a:moveTo>
                <a:lnTo>
                  <a:pt x="3674406" y="455843"/>
                </a:lnTo>
                <a:lnTo>
                  <a:pt x="3702685" y="459358"/>
                </a:lnTo>
                <a:lnTo>
                  <a:pt x="3695700" y="516127"/>
                </a:lnTo>
                <a:lnTo>
                  <a:pt x="3810448" y="516127"/>
                </a:lnTo>
                <a:lnTo>
                  <a:pt x="3840988" y="505332"/>
                </a:lnTo>
                <a:lnTo>
                  <a:pt x="3681476" y="399160"/>
                </a:lnTo>
                <a:close/>
              </a:path>
              <a:path w="3841115" h="569595">
                <a:moveTo>
                  <a:pt x="7112" y="0"/>
                </a:moveTo>
                <a:lnTo>
                  <a:pt x="0" y="56641"/>
                </a:lnTo>
                <a:lnTo>
                  <a:pt x="3667327" y="512600"/>
                </a:lnTo>
                <a:lnTo>
                  <a:pt x="3674406" y="455843"/>
                </a:lnTo>
                <a:lnTo>
                  <a:pt x="7112" y="0"/>
                </a:lnTo>
                <a:close/>
              </a:path>
            </a:pathLst>
          </a:custGeom>
          <a:solidFill>
            <a:srgbClr val="99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154173" y="4258817"/>
            <a:ext cx="553720" cy="556260"/>
          </a:xfrm>
          <a:custGeom>
            <a:avLst/>
            <a:gdLst/>
            <a:ahLst/>
            <a:cxnLst/>
            <a:rect l="l" t="t" r="r" b="b"/>
            <a:pathLst>
              <a:path w="553719" h="556260">
                <a:moveTo>
                  <a:pt x="0" y="278129"/>
                </a:moveTo>
                <a:lnTo>
                  <a:pt x="4455" y="228119"/>
                </a:lnTo>
                <a:lnTo>
                  <a:pt x="17303" y="181056"/>
                </a:lnTo>
                <a:lnTo>
                  <a:pt x="37761" y="137724"/>
                </a:lnTo>
                <a:lnTo>
                  <a:pt x="65049" y="98908"/>
                </a:lnTo>
                <a:lnTo>
                  <a:pt x="98385" y="65391"/>
                </a:lnTo>
                <a:lnTo>
                  <a:pt x="136990" y="37958"/>
                </a:lnTo>
                <a:lnTo>
                  <a:pt x="180082" y="17393"/>
                </a:lnTo>
                <a:lnTo>
                  <a:pt x="226881" y="4478"/>
                </a:lnTo>
                <a:lnTo>
                  <a:pt x="276606" y="0"/>
                </a:lnTo>
                <a:lnTo>
                  <a:pt x="326330" y="4478"/>
                </a:lnTo>
                <a:lnTo>
                  <a:pt x="373129" y="17393"/>
                </a:lnTo>
                <a:lnTo>
                  <a:pt x="416221" y="37958"/>
                </a:lnTo>
                <a:lnTo>
                  <a:pt x="454826" y="65391"/>
                </a:lnTo>
                <a:lnTo>
                  <a:pt x="488162" y="98908"/>
                </a:lnTo>
                <a:lnTo>
                  <a:pt x="515450" y="137724"/>
                </a:lnTo>
                <a:lnTo>
                  <a:pt x="535908" y="181056"/>
                </a:lnTo>
                <a:lnTo>
                  <a:pt x="548756" y="228119"/>
                </a:lnTo>
                <a:lnTo>
                  <a:pt x="553212" y="278129"/>
                </a:lnTo>
                <a:lnTo>
                  <a:pt x="548756" y="328107"/>
                </a:lnTo>
                <a:lnTo>
                  <a:pt x="535908" y="375152"/>
                </a:lnTo>
                <a:lnTo>
                  <a:pt x="515450" y="418479"/>
                </a:lnTo>
                <a:lnTo>
                  <a:pt x="488162" y="457299"/>
                </a:lnTo>
                <a:lnTo>
                  <a:pt x="454826" y="490826"/>
                </a:lnTo>
                <a:lnTo>
                  <a:pt x="416221" y="518272"/>
                </a:lnTo>
                <a:lnTo>
                  <a:pt x="373129" y="538852"/>
                </a:lnTo>
                <a:lnTo>
                  <a:pt x="326330" y="551776"/>
                </a:lnTo>
                <a:lnTo>
                  <a:pt x="276606" y="556259"/>
                </a:lnTo>
                <a:lnTo>
                  <a:pt x="226881" y="551776"/>
                </a:lnTo>
                <a:lnTo>
                  <a:pt x="180082" y="538852"/>
                </a:lnTo>
                <a:lnTo>
                  <a:pt x="136990" y="518272"/>
                </a:lnTo>
                <a:lnTo>
                  <a:pt x="98385" y="490826"/>
                </a:lnTo>
                <a:lnTo>
                  <a:pt x="65049" y="457299"/>
                </a:lnTo>
                <a:lnTo>
                  <a:pt x="37761" y="418479"/>
                </a:lnTo>
                <a:lnTo>
                  <a:pt x="17303" y="375152"/>
                </a:lnTo>
                <a:lnTo>
                  <a:pt x="4455" y="328107"/>
                </a:lnTo>
                <a:lnTo>
                  <a:pt x="0" y="278129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023097" y="4911090"/>
            <a:ext cx="553720" cy="558165"/>
          </a:xfrm>
          <a:custGeom>
            <a:avLst/>
            <a:gdLst/>
            <a:ahLst/>
            <a:cxnLst/>
            <a:rect l="l" t="t" r="r" b="b"/>
            <a:pathLst>
              <a:path w="553720" h="558164">
                <a:moveTo>
                  <a:pt x="0" y="278892"/>
                </a:moveTo>
                <a:lnTo>
                  <a:pt x="3619" y="233648"/>
                </a:lnTo>
                <a:lnTo>
                  <a:pt x="14100" y="190731"/>
                </a:lnTo>
                <a:lnTo>
                  <a:pt x="30871" y="150714"/>
                </a:lnTo>
                <a:lnTo>
                  <a:pt x="53364" y="114171"/>
                </a:lnTo>
                <a:lnTo>
                  <a:pt x="81010" y="81676"/>
                </a:lnTo>
                <a:lnTo>
                  <a:pt x="113239" y="53803"/>
                </a:lnTo>
                <a:lnTo>
                  <a:pt x="149482" y="31125"/>
                </a:lnTo>
                <a:lnTo>
                  <a:pt x="189171" y="14215"/>
                </a:lnTo>
                <a:lnTo>
                  <a:pt x="231735" y="3649"/>
                </a:lnTo>
                <a:lnTo>
                  <a:pt x="276605" y="0"/>
                </a:lnTo>
                <a:lnTo>
                  <a:pt x="321476" y="3649"/>
                </a:lnTo>
                <a:lnTo>
                  <a:pt x="364040" y="14215"/>
                </a:lnTo>
                <a:lnTo>
                  <a:pt x="403729" y="31125"/>
                </a:lnTo>
                <a:lnTo>
                  <a:pt x="439972" y="53803"/>
                </a:lnTo>
                <a:lnTo>
                  <a:pt x="472201" y="81676"/>
                </a:lnTo>
                <a:lnTo>
                  <a:pt x="499847" y="114171"/>
                </a:lnTo>
                <a:lnTo>
                  <a:pt x="522340" y="150714"/>
                </a:lnTo>
                <a:lnTo>
                  <a:pt x="539111" y="190731"/>
                </a:lnTo>
                <a:lnTo>
                  <a:pt x="549592" y="233648"/>
                </a:lnTo>
                <a:lnTo>
                  <a:pt x="553211" y="278892"/>
                </a:lnTo>
                <a:lnTo>
                  <a:pt x="549592" y="324135"/>
                </a:lnTo>
                <a:lnTo>
                  <a:pt x="539111" y="367052"/>
                </a:lnTo>
                <a:lnTo>
                  <a:pt x="522340" y="407069"/>
                </a:lnTo>
                <a:lnTo>
                  <a:pt x="499847" y="443612"/>
                </a:lnTo>
                <a:lnTo>
                  <a:pt x="472201" y="476107"/>
                </a:lnTo>
                <a:lnTo>
                  <a:pt x="439972" y="503980"/>
                </a:lnTo>
                <a:lnTo>
                  <a:pt x="403729" y="526658"/>
                </a:lnTo>
                <a:lnTo>
                  <a:pt x="364040" y="543568"/>
                </a:lnTo>
                <a:lnTo>
                  <a:pt x="321476" y="554134"/>
                </a:lnTo>
                <a:lnTo>
                  <a:pt x="276605" y="557784"/>
                </a:lnTo>
                <a:lnTo>
                  <a:pt x="231735" y="554134"/>
                </a:lnTo>
                <a:lnTo>
                  <a:pt x="189171" y="543568"/>
                </a:lnTo>
                <a:lnTo>
                  <a:pt x="149482" y="526658"/>
                </a:lnTo>
                <a:lnTo>
                  <a:pt x="113239" y="503980"/>
                </a:lnTo>
                <a:lnTo>
                  <a:pt x="81010" y="476107"/>
                </a:lnTo>
                <a:lnTo>
                  <a:pt x="53364" y="443612"/>
                </a:lnTo>
                <a:lnTo>
                  <a:pt x="30871" y="407069"/>
                </a:lnTo>
                <a:lnTo>
                  <a:pt x="14100" y="367052"/>
                </a:lnTo>
                <a:lnTo>
                  <a:pt x="3619" y="324135"/>
                </a:lnTo>
                <a:lnTo>
                  <a:pt x="0" y="278892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272532" y="3502025"/>
            <a:ext cx="930910" cy="1127125"/>
          </a:xfrm>
          <a:custGeom>
            <a:avLst/>
            <a:gdLst/>
            <a:ahLst/>
            <a:cxnLst/>
            <a:rect l="l" t="t" r="r" b="b"/>
            <a:pathLst>
              <a:path w="930910" h="1127125">
                <a:moveTo>
                  <a:pt x="890290" y="467634"/>
                </a:moveTo>
                <a:lnTo>
                  <a:pt x="888238" y="479806"/>
                </a:lnTo>
                <a:lnTo>
                  <a:pt x="884935" y="501269"/>
                </a:lnTo>
                <a:lnTo>
                  <a:pt x="879220" y="542670"/>
                </a:lnTo>
                <a:lnTo>
                  <a:pt x="873632" y="582041"/>
                </a:lnTo>
                <a:lnTo>
                  <a:pt x="863472" y="636651"/>
                </a:lnTo>
                <a:lnTo>
                  <a:pt x="848105" y="686307"/>
                </a:lnTo>
                <a:lnTo>
                  <a:pt x="824356" y="732027"/>
                </a:lnTo>
                <a:lnTo>
                  <a:pt x="788542" y="774954"/>
                </a:lnTo>
                <a:lnTo>
                  <a:pt x="755776" y="802639"/>
                </a:lnTo>
                <a:lnTo>
                  <a:pt x="714882" y="829563"/>
                </a:lnTo>
                <a:lnTo>
                  <a:pt x="677544" y="849502"/>
                </a:lnTo>
                <a:lnTo>
                  <a:pt x="634364" y="869188"/>
                </a:lnTo>
                <a:lnTo>
                  <a:pt x="584834" y="888492"/>
                </a:lnTo>
                <a:lnTo>
                  <a:pt x="547877" y="901192"/>
                </a:lnTo>
                <a:lnTo>
                  <a:pt x="486663" y="920114"/>
                </a:lnTo>
                <a:lnTo>
                  <a:pt x="441705" y="932433"/>
                </a:lnTo>
                <a:lnTo>
                  <a:pt x="393064" y="944752"/>
                </a:lnTo>
                <a:lnTo>
                  <a:pt x="337692" y="957707"/>
                </a:lnTo>
                <a:lnTo>
                  <a:pt x="334771" y="959231"/>
                </a:lnTo>
                <a:lnTo>
                  <a:pt x="332231" y="961517"/>
                </a:lnTo>
                <a:lnTo>
                  <a:pt x="317118" y="975487"/>
                </a:lnTo>
                <a:lnTo>
                  <a:pt x="302767" y="986789"/>
                </a:lnTo>
                <a:lnTo>
                  <a:pt x="256920" y="1012951"/>
                </a:lnTo>
                <a:lnTo>
                  <a:pt x="203326" y="1032382"/>
                </a:lnTo>
                <a:lnTo>
                  <a:pt x="88264" y="1063752"/>
                </a:lnTo>
                <a:lnTo>
                  <a:pt x="60578" y="1071626"/>
                </a:lnTo>
                <a:lnTo>
                  <a:pt x="31114" y="1080643"/>
                </a:lnTo>
                <a:lnTo>
                  <a:pt x="0" y="1090676"/>
                </a:lnTo>
                <a:lnTo>
                  <a:pt x="11683" y="1126998"/>
                </a:lnTo>
                <a:lnTo>
                  <a:pt x="42290" y="1117092"/>
                </a:lnTo>
                <a:lnTo>
                  <a:pt x="71119" y="1108329"/>
                </a:lnTo>
                <a:lnTo>
                  <a:pt x="98297" y="1100455"/>
                </a:lnTo>
                <a:lnTo>
                  <a:pt x="193801" y="1074801"/>
                </a:lnTo>
                <a:lnTo>
                  <a:pt x="214883" y="1068705"/>
                </a:lnTo>
                <a:lnTo>
                  <a:pt x="254762" y="1055116"/>
                </a:lnTo>
                <a:lnTo>
                  <a:pt x="291718" y="1038351"/>
                </a:lnTo>
                <a:lnTo>
                  <a:pt x="326389" y="1016635"/>
                </a:lnTo>
                <a:lnTo>
                  <a:pt x="353193" y="994029"/>
                </a:lnTo>
                <a:lnTo>
                  <a:pt x="349503" y="994029"/>
                </a:lnTo>
                <a:lnTo>
                  <a:pt x="358139" y="989457"/>
                </a:lnTo>
                <a:lnTo>
                  <a:pt x="369601" y="989457"/>
                </a:lnTo>
                <a:lnTo>
                  <a:pt x="376300" y="987932"/>
                </a:lnTo>
                <a:lnTo>
                  <a:pt x="427354" y="975487"/>
                </a:lnTo>
                <a:lnTo>
                  <a:pt x="497585" y="956563"/>
                </a:lnTo>
                <a:lnTo>
                  <a:pt x="540003" y="943863"/>
                </a:lnTo>
                <a:lnTo>
                  <a:pt x="579501" y="930782"/>
                </a:lnTo>
                <a:lnTo>
                  <a:pt x="615822" y="917575"/>
                </a:lnTo>
                <a:lnTo>
                  <a:pt x="665226" y="897255"/>
                </a:lnTo>
                <a:lnTo>
                  <a:pt x="708659" y="876426"/>
                </a:lnTo>
                <a:lnTo>
                  <a:pt x="746632" y="854963"/>
                </a:lnTo>
                <a:lnTo>
                  <a:pt x="779526" y="832485"/>
                </a:lnTo>
                <a:lnTo>
                  <a:pt x="815975" y="801369"/>
                </a:lnTo>
                <a:lnTo>
                  <a:pt x="845057" y="768731"/>
                </a:lnTo>
                <a:lnTo>
                  <a:pt x="867282" y="734568"/>
                </a:lnTo>
                <a:lnTo>
                  <a:pt x="883792" y="699388"/>
                </a:lnTo>
                <a:lnTo>
                  <a:pt x="895857" y="663067"/>
                </a:lnTo>
                <a:lnTo>
                  <a:pt x="904747" y="625475"/>
                </a:lnTo>
                <a:lnTo>
                  <a:pt x="911225" y="587375"/>
                </a:lnTo>
                <a:lnTo>
                  <a:pt x="916939" y="548005"/>
                </a:lnTo>
                <a:lnTo>
                  <a:pt x="922654" y="507111"/>
                </a:lnTo>
                <a:lnTo>
                  <a:pt x="925829" y="486156"/>
                </a:lnTo>
                <a:lnTo>
                  <a:pt x="927859" y="474091"/>
                </a:lnTo>
                <a:lnTo>
                  <a:pt x="896873" y="474091"/>
                </a:lnTo>
                <a:lnTo>
                  <a:pt x="895984" y="473201"/>
                </a:lnTo>
                <a:lnTo>
                  <a:pt x="893444" y="470788"/>
                </a:lnTo>
                <a:lnTo>
                  <a:pt x="890290" y="467634"/>
                </a:lnTo>
                <a:close/>
              </a:path>
              <a:path w="930910" h="1127125">
                <a:moveTo>
                  <a:pt x="358139" y="989457"/>
                </a:moveTo>
                <a:lnTo>
                  <a:pt x="349503" y="994029"/>
                </a:lnTo>
                <a:lnTo>
                  <a:pt x="354398" y="992915"/>
                </a:lnTo>
                <a:lnTo>
                  <a:pt x="358139" y="989457"/>
                </a:lnTo>
                <a:close/>
              </a:path>
              <a:path w="930910" h="1127125">
                <a:moveTo>
                  <a:pt x="354398" y="992915"/>
                </a:moveTo>
                <a:lnTo>
                  <a:pt x="349503" y="994029"/>
                </a:lnTo>
                <a:lnTo>
                  <a:pt x="353193" y="994029"/>
                </a:lnTo>
                <a:lnTo>
                  <a:pt x="354398" y="992915"/>
                </a:lnTo>
                <a:close/>
              </a:path>
              <a:path w="930910" h="1127125">
                <a:moveTo>
                  <a:pt x="369601" y="989457"/>
                </a:moveTo>
                <a:lnTo>
                  <a:pt x="358139" y="989457"/>
                </a:lnTo>
                <a:lnTo>
                  <a:pt x="354398" y="992915"/>
                </a:lnTo>
                <a:lnTo>
                  <a:pt x="369601" y="989457"/>
                </a:lnTo>
                <a:close/>
              </a:path>
              <a:path w="930910" h="1127125">
                <a:moveTo>
                  <a:pt x="930142" y="457962"/>
                </a:moveTo>
                <a:lnTo>
                  <a:pt x="891920" y="457962"/>
                </a:lnTo>
                <a:lnTo>
                  <a:pt x="895857" y="473075"/>
                </a:lnTo>
                <a:lnTo>
                  <a:pt x="896873" y="474091"/>
                </a:lnTo>
                <a:lnTo>
                  <a:pt x="927859" y="474091"/>
                </a:lnTo>
                <a:lnTo>
                  <a:pt x="930401" y="458977"/>
                </a:lnTo>
                <a:lnTo>
                  <a:pt x="930142" y="457962"/>
                </a:lnTo>
                <a:close/>
              </a:path>
              <a:path w="930910" h="1127125">
                <a:moveTo>
                  <a:pt x="891920" y="457962"/>
                </a:moveTo>
                <a:lnTo>
                  <a:pt x="890290" y="467634"/>
                </a:lnTo>
                <a:lnTo>
                  <a:pt x="893444" y="470788"/>
                </a:lnTo>
                <a:lnTo>
                  <a:pt x="895984" y="473201"/>
                </a:lnTo>
                <a:lnTo>
                  <a:pt x="891920" y="457962"/>
                </a:lnTo>
                <a:close/>
              </a:path>
              <a:path w="930910" h="1127125">
                <a:moveTo>
                  <a:pt x="671761" y="228392"/>
                </a:moveTo>
                <a:lnTo>
                  <a:pt x="683513" y="244475"/>
                </a:lnTo>
                <a:lnTo>
                  <a:pt x="689737" y="252856"/>
                </a:lnTo>
                <a:lnTo>
                  <a:pt x="695070" y="260350"/>
                </a:lnTo>
                <a:lnTo>
                  <a:pt x="708532" y="278892"/>
                </a:lnTo>
                <a:lnTo>
                  <a:pt x="712215" y="283718"/>
                </a:lnTo>
                <a:lnTo>
                  <a:pt x="718819" y="292481"/>
                </a:lnTo>
                <a:lnTo>
                  <a:pt x="774826" y="351281"/>
                </a:lnTo>
                <a:lnTo>
                  <a:pt x="781557" y="358013"/>
                </a:lnTo>
                <a:lnTo>
                  <a:pt x="789177" y="365506"/>
                </a:lnTo>
                <a:lnTo>
                  <a:pt x="817117" y="393445"/>
                </a:lnTo>
                <a:lnTo>
                  <a:pt x="848359" y="425323"/>
                </a:lnTo>
                <a:lnTo>
                  <a:pt x="857376" y="434339"/>
                </a:lnTo>
                <a:lnTo>
                  <a:pt x="884173" y="461518"/>
                </a:lnTo>
                <a:lnTo>
                  <a:pt x="890290" y="467634"/>
                </a:lnTo>
                <a:lnTo>
                  <a:pt x="891920" y="457962"/>
                </a:lnTo>
                <a:lnTo>
                  <a:pt x="930142" y="457962"/>
                </a:lnTo>
                <a:lnTo>
                  <a:pt x="920750" y="444245"/>
                </a:lnTo>
                <a:lnTo>
                  <a:pt x="917955" y="441325"/>
                </a:lnTo>
                <a:lnTo>
                  <a:pt x="902969" y="426338"/>
                </a:lnTo>
                <a:lnTo>
                  <a:pt x="844168" y="366649"/>
                </a:lnTo>
                <a:lnTo>
                  <a:pt x="808354" y="330835"/>
                </a:lnTo>
                <a:lnTo>
                  <a:pt x="776223" y="299338"/>
                </a:lnTo>
                <a:lnTo>
                  <a:pt x="769492" y="292862"/>
                </a:lnTo>
                <a:lnTo>
                  <a:pt x="764031" y="287147"/>
                </a:lnTo>
                <a:lnTo>
                  <a:pt x="739266" y="256286"/>
                </a:lnTo>
                <a:lnTo>
                  <a:pt x="730884" y="244729"/>
                </a:lnTo>
                <a:lnTo>
                  <a:pt x="725931" y="237998"/>
                </a:lnTo>
                <a:lnTo>
                  <a:pt x="720470" y="230505"/>
                </a:lnTo>
                <a:lnTo>
                  <a:pt x="676020" y="230505"/>
                </a:lnTo>
                <a:lnTo>
                  <a:pt x="671761" y="228392"/>
                </a:lnTo>
                <a:close/>
              </a:path>
              <a:path w="930910" h="1127125">
                <a:moveTo>
                  <a:pt x="669035" y="224662"/>
                </a:moveTo>
                <a:lnTo>
                  <a:pt x="671761" y="228392"/>
                </a:lnTo>
                <a:lnTo>
                  <a:pt x="676020" y="230505"/>
                </a:lnTo>
                <a:lnTo>
                  <a:pt x="669035" y="224662"/>
                </a:lnTo>
                <a:close/>
              </a:path>
              <a:path w="930910" h="1127125">
                <a:moveTo>
                  <a:pt x="716261" y="224662"/>
                </a:moveTo>
                <a:lnTo>
                  <a:pt x="669035" y="224662"/>
                </a:lnTo>
                <a:lnTo>
                  <a:pt x="676020" y="230505"/>
                </a:lnTo>
                <a:lnTo>
                  <a:pt x="720470" y="230505"/>
                </a:lnTo>
                <a:lnTo>
                  <a:pt x="716261" y="224662"/>
                </a:lnTo>
                <a:close/>
              </a:path>
              <a:path w="930910" h="1127125">
                <a:moveTo>
                  <a:pt x="178195" y="38017"/>
                </a:moveTo>
                <a:lnTo>
                  <a:pt x="173290" y="75778"/>
                </a:lnTo>
                <a:lnTo>
                  <a:pt x="186435" y="77597"/>
                </a:lnTo>
                <a:lnTo>
                  <a:pt x="209422" y="81279"/>
                </a:lnTo>
                <a:lnTo>
                  <a:pt x="254380" y="89153"/>
                </a:lnTo>
                <a:lnTo>
                  <a:pt x="297179" y="97662"/>
                </a:lnTo>
                <a:lnTo>
                  <a:pt x="337946" y="106680"/>
                </a:lnTo>
                <a:lnTo>
                  <a:pt x="376935" y="116331"/>
                </a:lnTo>
                <a:lnTo>
                  <a:pt x="414400" y="126492"/>
                </a:lnTo>
                <a:lnTo>
                  <a:pt x="485013" y="148717"/>
                </a:lnTo>
                <a:lnTo>
                  <a:pt x="551179" y="173481"/>
                </a:lnTo>
                <a:lnTo>
                  <a:pt x="614426" y="200660"/>
                </a:lnTo>
                <a:lnTo>
                  <a:pt x="671761" y="228392"/>
                </a:lnTo>
                <a:lnTo>
                  <a:pt x="669035" y="224662"/>
                </a:lnTo>
                <a:lnTo>
                  <a:pt x="716261" y="224662"/>
                </a:lnTo>
                <a:lnTo>
                  <a:pt x="714247" y="221869"/>
                </a:lnTo>
                <a:lnTo>
                  <a:pt x="707389" y="212725"/>
                </a:lnTo>
                <a:lnTo>
                  <a:pt x="699896" y="202311"/>
                </a:lnTo>
                <a:lnTo>
                  <a:pt x="698118" y="199770"/>
                </a:lnTo>
                <a:lnTo>
                  <a:pt x="695705" y="197738"/>
                </a:lnTo>
                <a:lnTo>
                  <a:pt x="692912" y="196469"/>
                </a:lnTo>
                <a:lnTo>
                  <a:pt x="661542" y="180848"/>
                </a:lnTo>
                <a:lnTo>
                  <a:pt x="597788" y="151511"/>
                </a:lnTo>
                <a:lnTo>
                  <a:pt x="531494" y="124841"/>
                </a:lnTo>
                <a:lnTo>
                  <a:pt x="461263" y="100837"/>
                </a:lnTo>
                <a:lnTo>
                  <a:pt x="424433" y="89788"/>
                </a:lnTo>
                <a:lnTo>
                  <a:pt x="386079" y="79375"/>
                </a:lnTo>
                <a:lnTo>
                  <a:pt x="346201" y="69469"/>
                </a:lnTo>
                <a:lnTo>
                  <a:pt x="304545" y="60325"/>
                </a:lnTo>
                <a:lnTo>
                  <a:pt x="260984" y="51688"/>
                </a:lnTo>
                <a:lnTo>
                  <a:pt x="215391" y="43561"/>
                </a:lnTo>
                <a:lnTo>
                  <a:pt x="191642" y="39877"/>
                </a:lnTo>
                <a:lnTo>
                  <a:pt x="178195" y="38017"/>
                </a:lnTo>
                <a:close/>
              </a:path>
              <a:path w="930910" h="1127125">
                <a:moveTo>
                  <a:pt x="183133" y="0"/>
                </a:moveTo>
                <a:lnTo>
                  <a:pt x="62356" y="42037"/>
                </a:lnTo>
                <a:lnTo>
                  <a:pt x="168401" y="113411"/>
                </a:lnTo>
                <a:lnTo>
                  <a:pt x="173290" y="75778"/>
                </a:lnTo>
                <a:lnTo>
                  <a:pt x="154304" y="73151"/>
                </a:lnTo>
                <a:lnTo>
                  <a:pt x="159512" y="35433"/>
                </a:lnTo>
                <a:lnTo>
                  <a:pt x="178531" y="35433"/>
                </a:lnTo>
                <a:lnTo>
                  <a:pt x="183133" y="0"/>
                </a:lnTo>
                <a:close/>
              </a:path>
              <a:path w="930910" h="1127125">
                <a:moveTo>
                  <a:pt x="159512" y="35433"/>
                </a:moveTo>
                <a:lnTo>
                  <a:pt x="154304" y="73151"/>
                </a:lnTo>
                <a:lnTo>
                  <a:pt x="173290" y="75778"/>
                </a:lnTo>
                <a:lnTo>
                  <a:pt x="178195" y="38017"/>
                </a:lnTo>
                <a:lnTo>
                  <a:pt x="159512" y="35433"/>
                </a:lnTo>
                <a:close/>
              </a:path>
              <a:path w="930910" h="1127125">
                <a:moveTo>
                  <a:pt x="178531" y="35433"/>
                </a:moveTo>
                <a:lnTo>
                  <a:pt x="159512" y="35433"/>
                </a:lnTo>
                <a:lnTo>
                  <a:pt x="178195" y="38017"/>
                </a:lnTo>
                <a:lnTo>
                  <a:pt x="178531" y="35433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297423" y="3628644"/>
            <a:ext cx="3069590" cy="1013460"/>
          </a:xfrm>
          <a:custGeom>
            <a:avLst/>
            <a:gdLst/>
            <a:ahLst/>
            <a:cxnLst/>
            <a:rect l="l" t="t" r="r" b="b"/>
            <a:pathLst>
              <a:path w="3069590" h="1013460">
                <a:moveTo>
                  <a:pt x="3069335" y="0"/>
                </a:moveTo>
                <a:lnTo>
                  <a:pt x="0" y="1013459"/>
                </a:lnTo>
              </a:path>
            </a:pathLst>
          </a:custGeom>
          <a:ln w="5715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4502658" y="2128266"/>
            <a:ext cx="330835" cy="556260"/>
          </a:xfrm>
          <a:prstGeom prst="rect">
            <a:avLst/>
          </a:prstGeom>
          <a:solidFill>
            <a:srgbClr val="001F5F"/>
          </a:solidFill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3615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4464558" y="3260597"/>
            <a:ext cx="356870" cy="556260"/>
          </a:xfrm>
          <a:prstGeom prst="rect">
            <a:avLst/>
          </a:prstGeom>
          <a:solidFill>
            <a:srgbClr val="001F5F"/>
          </a:solidFill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3615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33247" y="26923"/>
            <a:ext cx="411734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</a:tabLst>
            </a:pPr>
            <a:r>
              <a:rPr dirty="0" sz="2000" spc="5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>
                <a:solidFill>
                  <a:srgbClr val="A15100"/>
                </a:solidFill>
              </a:rPr>
              <a:t>语义分析与中间代码生</a:t>
            </a:r>
            <a:r>
              <a:rPr dirty="0" sz="2000" spc="-5">
                <a:solidFill>
                  <a:srgbClr val="A15100"/>
                </a:solidFill>
              </a:rPr>
              <a:t>成</a:t>
            </a:r>
            <a:r>
              <a:rPr dirty="0" sz="2000">
                <a:solidFill>
                  <a:srgbClr val="A15100"/>
                </a:solidFill>
              </a:rPr>
              <a:t>	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3275" y="26923"/>
            <a:ext cx="411035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6050" algn="l"/>
              </a:tabLst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4822316"/>
            <a:ext cx="240538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230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3.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返填次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2041" y="528294"/>
            <a:ext cx="8597900" cy="2883535"/>
          </a:xfrm>
          <a:prstGeom prst="rect">
            <a:avLst/>
          </a:prstGeom>
        </p:spPr>
        <p:txBody>
          <a:bodyPr wrap="square" lIns="0" tIns="210820" rIns="0" bIns="0" rtlCol="0" vert="horz">
            <a:spAutoFit/>
          </a:bodyPr>
          <a:lstStyle/>
          <a:p>
            <a:pPr marL="285750">
              <a:lnSpc>
                <a:spcPct val="100000"/>
              </a:lnSpc>
              <a:spcBef>
                <a:spcPts val="1660"/>
              </a:spcBef>
              <a:tabLst>
                <a:tab pos="760730" algn="l"/>
              </a:tabLst>
            </a:pPr>
            <a:r>
              <a:rPr dirty="0" sz="2800" spc="-5">
                <a:solidFill>
                  <a:srgbClr val="FFFF00"/>
                </a:solidFill>
                <a:latin typeface="Wingdings"/>
                <a:cs typeface="Wingdings"/>
              </a:rPr>
              <a:t></a:t>
            </a:r>
            <a:r>
              <a:rPr dirty="0" sz="2800" spc="-5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注意：</a:t>
            </a:r>
            <a:endParaRPr sz="3200">
              <a:latin typeface="宋体"/>
              <a:cs typeface="宋体"/>
            </a:endParaRPr>
          </a:p>
          <a:p>
            <a:pPr marL="12700" marR="5080">
              <a:lnSpc>
                <a:spcPct val="130100"/>
              </a:lnSpc>
              <a:spcBef>
                <a:spcPts val="400"/>
              </a:spcBef>
              <a:buClr>
                <a:srgbClr val="CC99FF"/>
              </a:buClr>
              <a:buFont typeface="Times New Roman"/>
              <a:buAutoNum type="arabicPeriod"/>
              <a:tabLst>
                <a:tab pos="46990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链尾标志在代码区的四元式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，链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头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在标号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表中，链在与同一语句标号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相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关的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跳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转代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中；</a:t>
            </a:r>
            <a:endParaRPr sz="3200">
              <a:latin typeface="宋体"/>
              <a:cs typeface="宋体"/>
            </a:endParaRPr>
          </a:p>
          <a:p>
            <a:pPr marL="1003935" indent="-509905">
              <a:lnSpc>
                <a:spcPct val="100000"/>
              </a:lnSpc>
              <a:spcBef>
                <a:spcPts val="2870"/>
              </a:spcBef>
              <a:buFont typeface="Times New Roman"/>
              <a:buAutoNum type="arabicPeriod"/>
              <a:tabLst>
                <a:tab pos="1003935" algn="l"/>
                <a:tab pos="1004569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拉链次序：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54173" y="3875532"/>
            <a:ext cx="685800" cy="114300"/>
          </a:xfrm>
          <a:custGeom>
            <a:avLst/>
            <a:gdLst/>
            <a:ahLst/>
            <a:cxnLst/>
            <a:rect l="l" t="t" r="r" b="b"/>
            <a:pathLst>
              <a:path w="685800" h="114300">
                <a:moveTo>
                  <a:pt x="571500" y="0"/>
                </a:moveTo>
                <a:lnTo>
                  <a:pt x="571500" y="114300"/>
                </a:lnTo>
                <a:lnTo>
                  <a:pt x="647700" y="76200"/>
                </a:lnTo>
                <a:lnTo>
                  <a:pt x="590550" y="76200"/>
                </a:lnTo>
                <a:lnTo>
                  <a:pt x="590550" y="38100"/>
                </a:lnTo>
                <a:lnTo>
                  <a:pt x="647700" y="38100"/>
                </a:lnTo>
                <a:lnTo>
                  <a:pt x="571500" y="0"/>
                </a:lnTo>
                <a:close/>
              </a:path>
              <a:path w="685800" h="114300">
                <a:moveTo>
                  <a:pt x="5715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71500" y="76200"/>
                </a:lnTo>
                <a:lnTo>
                  <a:pt x="571500" y="38100"/>
                </a:lnTo>
                <a:close/>
              </a:path>
              <a:path w="685800" h="114300">
                <a:moveTo>
                  <a:pt x="647700" y="38100"/>
                </a:moveTo>
                <a:lnTo>
                  <a:pt x="590550" y="38100"/>
                </a:lnTo>
                <a:lnTo>
                  <a:pt x="590550" y="76200"/>
                </a:lnTo>
                <a:lnTo>
                  <a:pt x="647700" y="76200"/>
                </a:lnTo>
                <a:lnTo>
                  <a:pt x="685800" y="57150"/>
                </a:lnTo>
                <a:lnTo>
                  <a:pt x="647700" y="38100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679194" y="3464407"/>
            <a:ext cx="432434" cy="123190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45415">
              <a:lnSpc>
                <a:spcPct val="100000"/>
              </a:lnSpc>
              <a:spcBef>
                <a:spcPts val="101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dirty="0" sz="3200" spc="-10" b="1">
                <a:solidFill>
                  <a:srgbClr val="00FFFF"/>
                </a:solidFill>
                <a:latin typeface="宋体"/>
                <a:cs typeface="宋体"/>
              </a:rPr>
              <a:t>尾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17698" y="3464407"/>
            <a:ext cx="432434" cy="123190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101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dirty="0" sz="3200" spc="-10" b="1">
                <a:solidFill>
                  <a:srgbClr val="00FFFF"/>
                </a:solidFill>
                <a:latin typeface="宋体"/>
                <a:cs typeface="宋体"/>
              </a:rPr>
              <a:t>头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077973" y="5769864"/>
            <a:ext cx="685800" cy="114300"/>
          </a:xfrm>
          <a:custGeom>
            <a:avLst/>
            <a:gdLst/>
            <a:ahLst/>
            <a:cxnLst/>
            <a:rect l="l" t="t" r="r" b="b"/>
            <a:pathLst>
              <a:path w="685800" h="114300">
                <a:moveTo>
                  <a:pt x="571500" y="0"/>
                </a:moveTo>
                <a:lnTo>
                  <a:pt x="571500" y="114300"/>
                </a:lnTo>
                <a:lnTo>
                  <a:pt x="647700" y="76200"/>
                </a:lnTo>
                <a:lnTo>
                  <a:pt x="590550" y="76200"/>
                </a:lnTo>
                <a:lnTo>
                  <a:pt x="590550" y="38100"/>
                </a:lnTo>
                <a:lnTo>
                  <a:pt x="647700" y="38100"/>
                </a:lnTo>
                <a:lnTo>
                  <a:pt x="571500" y="0"/>
                </a:lnTo>
                <a:close/>
              </a:path>
              <a:path w="685800" h="114300">
                <a:moveTo>
                  <a:pt x="5715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71500" y="76200"/>
                </a:lnTo>
                <a:lnTo>
                  <a:pt x="571500" y="38100"/>
                </a:lnTo>
                <a:close/>
              </a:path>
              <a:path w="685800" h="114300">
                <a:moveTo>
                  <a:pt x="647700" y="38100"/>
                </a:moveTo>
                <a:lnTo>
                  <a:pt x="590550" y="38100"/>
                </a:lnTo>
                <a:lnTo>
                  <a:pt x="590550" y="76200"/>
                </a:lnTo>
                <a:lnTo>
                  <a:pt x="647700" y="76200"/>
                </a:lnTo>
                <a:lnTo>
                  <a:pt x="685800" y="57150"/>
                </a:lnTo>
                <a:lnTo>
                  <a:pt x="647700" y="38100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784475" y="5473700"/>
            <a:ext cx="5555615" cy="1002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6680">
              <a:lnSpc>
                <a:spcPct val="100000"/>
              </a:lnSpc>
              <a:spcBef>
                <a:spcPts val="100"/>
              </a:spcBef>
              <a:tabLst>
                <a:tab pos="535305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p	(</a:t>
            </a:r>
            <a:r>
              <a:rPr dirty="0" sz="3200" spc="-6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在代码区跳转指令</a:t>
            </a:r>
            <a:r>
              <a:rPr dirty="0" sz="2800" spc="-20" b="1">
                <a:solidFill>
                  <a:srgbClr val="FFFF00"/>
                </a:solidFill>
                <a:latin typeface="宋体"/>
                <a:cs typeface="宋体"/>
              </a:rPr>
              <a:t>中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(addr=0)</a:t>
            </a:r>
            <a:r>
              <a:rPr dirty="0" sz="2800" spc="3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3200" spc="-10" b="1">
                <a:solidFill>
                  <a:srgbClr val="00FFFF"/>
                </a:solidFill>
                <a:latin typeface="宋体"/>
                <a:cs typeface="宋体"/>
              </a:rPr>
              <a:t>尾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602994" y="5473700"/>
            <a:ext cx="432434" cy="1002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5415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3200" spc="-10" b="1">
                <a:solidFill>
                  <a:srgbClr val="00FFFF"/>
                </a:solidFill>
                <a:latin typeface="宋体"/>
                <a:cs typeface="宋体"/>
              </a:rPr>
              <a:t>头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247" y="26923"/>
            <a:ext cx="41173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13275" y="26923"/>
            <a:ext cx="411035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6050" algn="l"/>
              </a:tabLst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0241" y="1784731"/>
            <a:ext cx="5231765" cy="3074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25805" algn="l"/>
              </a:tabLst>
            </a:pPr>
            <a:r>
              <a:rPr dirty="0" sz="3200" b="1">
                <a:solidFill>
                  <a:srgbClr val="FFFF66"/>
                </a:solidFill>
                <a:latin typeface="宋体"/>
                <a:cs typeface="宋体"/>
              </a:rPr>
              <a:t>一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.	</a:t>
            </a:r>
            <a:r>
              <a:rPr dirty="0" sz="3200" b="1">
                <a:solidFill>
                  <a:srgbClr val="FFFF66"/>
                </a:solidFill>
                <a:latin typeface="宋体"/>
                <a:cs typeface="宋体"/>
              </a:rPr>
              <a:t>语句标号与拉链返填技术</a:t>
            </a:r>
            <a:endParaRPr sz="3200">
              <a:latin typeface="宋体"/>
              <a:cs typeface="宋体"/>
            </a:endParaRPr>
          </a:p>
          <a:p>
            <a:pPr marL="12700" marR="1229995">
              <a:lnSpc>
                <a:spcPts val="6720"/>
              </a:lnSpc>
              <a:spcBef>
                <a:spcPts val="700"/>
              </a:spcBef>
              <a:tabLst>
                <a:tab pos="725805" algn="l"/>
              </a:tabLst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二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.条件语句的翻译 三.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循环语句的翻译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四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多分支语句的翻译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59908" y="2538983"/>
            <a:ext cx="1661160" cy="722630"/>
          </a:xfrm>
          <a:custGeom>
            <a:avLst/>
            <a:gdLst/>
            <a:ahLst/>
            <a:cxnLst/>
            <a:rect l="l" t="t" r="r" b="b"/>
            <a:pathLst>
              <a:path w="1661159" h="722629">
                <a:moveTo>
                  <a:pt x="415543" y="0"/>
                </a:moveTo>
                <a:lnTo>
                  <a:pt x="0" y="361188"/>
                </a:lnTo>
                <a:lnTo>
                  <a:pt x="415543" y="722376"/>
                </a:lnTo>
                <a:lnTo>
                  <a:pt x="415543" y="541781"/>
                </a:lnTo>
                <a:lnTo>
                  <a:pt x="1661160" y="541781"/>
                </a:lnTo>
                <a:lnTo>
                  <a:pt x="1661160" y="180593"/>
                </a:lnTo>
                <a:lnTo>
                  <a:pt x="415543" y="180593"/>
                </a:lnTo>
                <a:lnTo>
                  <a:pt x="415543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359908" y="2538983"/>
            <a:ext cx="1661160" cy="722630"/>
          </a:xfrm>
          <a:custGeom>
            <a:avLst/>
            <a:gdLst/>
            <a:ahLst/>
            <a:cxnLst/>
            <a:rect l="l" t="t" r="r" b="b"/>
            <a:pathLst>
              <a:path w="1661159" h="722629">
                <a:moveTo>
                  <a:pt x="0" y="361188"/>
                </a:moveTo>
                <a:lnTo>
                  <a:pt x="415543" y="0"/>
                </a:lnTo>
                <a:lnTo>
                  <a:pt x="415543" y="180593"/>
                </a:lnTo>
                <a:lnTo>
                  <a:pt x="1661160" y="180593"/>
                </a:lnTo>
                <a:lnTo>
                  <a:pt x="1661160" y="541781"/>
                </a:lnTo>
                <a:lnTo>
                  <a:pt x="415543" y="541781"/>
                </a:lnTo>
                <a:lnTo>
                  <a:pt x="415543" y="722376"/>
                </a:lnTo>
                <a:lnTo>
                  <a:pt x="0" y="361188"/>
                </a:lnTo>
                <a:close/>
              </a:path>
            </a:pathLst>
          </a:custGeom>
          <a:ln w="5715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13275" y="26923"/>
            <a:ext cx="411035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6050" algn="l"/>
              </a:tabLst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3247" y="26923"/>
            <a:ext cx="4117340" cy="1155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Times New Roman"/>
              <a:cs typeface="Times New Roman"/>
            </a:endParaRPr>
          </a:p>
          <a:p>
            <a:pPr marL="100965">
              <a:lnSpc>
                <a:spcPct val="100000"/>
              </a:lnSpc>
              <a:tabLst>
                <a:tab pos="814069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二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条件语句的翻译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09700" y="1409700"/>
            <a:ext cx="6515100" cy="2403475"/>
          </a:xfrm>
          <a:custGeom>
            <a:avLst/>
            <a:gdLst/>
            <a:ahLst/>
            <a:cxnLst/>
            <a:rect l="l" t="t" r="r" b="b"/>
            <a:pathLst>
              <a:path w="6515100" h="2403475">
                <a:moveTo>
                  <a:pt x="0" y="2403348"/>
                </a:moveTo>
                <a:lnTo>
                  <a:pt x="6515100" y="2403348"/>
                </a:lnTo>
                <a:lnTo>
                  <a:pt x="6515100" y="0"/>
                </a:lnTo>
                <a:lnTo>
                  <a:pt x="0" y="0"/>
                </a:lnTo>
                <a:lnTo>
                  <a:pt x="0" y="2403348"/>
                </a:lnTo>
                <a:close/>
              </a:path>
            </a:pathLst>
          </a:custGeom>
          <a:ln w="57150">
            <a:solidFill>
              <a:srgbClr val="CCFF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26440" y="1246911"/>
            <a:ext cx="6727825" cy="4931410"/>
          </a:xfrm>
          <a:prstGeom prst="rect">
            <a:avLst/>
          </a:prstGeom>
        </p:spPr>
        <p:txBody>
          <a:bodyPr wrap="square" lIns="0" tIns="182880" rIns="0" bIns="0" rtlCol="0" vert="horz">
            <a:spAutoFit/>
          </a:bodyPr>
          <a:lstStyle/>
          <a:p>
            <a:pPr marL="988060">
              <a:lnSpc>
                <a:spcPct val="100000"/>
              </a:lnSpc>
              <a:spcBef>
                <a:spcPts val="1440"/>
              </a:spcBef>
            </a:pP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条件语句文</a:t>
            </a:r>
            <a:r>
              <a:rPr dirty="0" sz="3200" spc="5" b="1">
                <a:solidFill>
                  <a:srgbClr val="00FFFF"/>
                </a:solidFill>
                <a:latin typeface="宋体"/>
                <a:cs typeface="宋体"/>
              </a:rPr>
              <a:t>法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800225">
              <a:lnSpc>
                <a:spcPct val="100000"/>
              </a:lnSpc>
              <a:spcBef>
                <a:spcPts val="1340"/>
              </a:spcBef>
              <a:tabLst>
                <a:tab pos="2794000" algn="l"/>
                <a:tab pos="3245485" algn="l"/>
                <a:tab pos="3990340" algn="l"/>
                <a:tab pos="4961255" algn="l"/>
                <a:tab pos="5592445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3200" b="1">
                <a:solidFill>
                  <a:srgbClr val="FFFF00"/>
                </a:solidFill>
                <a:latin typeface="Wingdings 3"/>
                <a:cs typeface="Wingdings 3"/>
              </a:rPr>
              <a:t>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if	(E)	then	S1	</a:t>
            </a:r>
            <a:r>
              <a:rPr dirty="0" sz="3200" spc="-10" b="1">
                <a:solidFill>
                  <a:srgbClr val="FF9933"/>
                </a:solidFill>
                <a:latin typeface="幼圆"/>
                <a:cs typeface="幼圆"/>
              </a:rPr>
              <a:t>①</a:t>
            </a:r>
            <a:r>
              <a:rPr dirty="0" sz="3200" spc="-825" b="1">
                <a:solidFill>
                  <a:srgbClr val="FF9933"/>
                </a:solidFill>
                <a:latin typeface="幼圆"/>
                <a:cs typeface="幼圆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endParaRPr sz="3200">
              <a:latin typeface="Times New Roman"/>
              <a:cs typeface="Times New Roman"/>
            </a:endParaRPr>
          </a:p>
          <a:p>
            <a:pPr marL="2817495" marR="5080">
              <a:lnSpc>
                <a:spcPct val="120000"/>
              </a:lnSpc>
              <a:spcBef>
                <a:spcPts val="150"/>
              </a:spcBef>
              <a:tabLst>
                <a:tab pos="3268345" algn="l"/>
                <a:tab pos="3946525" algn="l"/>
                <a:tab pos="4013835" algn="l"/>
                <a:tab pos="4644390" algn="l"/>
                <a:tab pos="4690745" algn="l"/>
                <a:tab pos="548132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if	(E)		S1	</a:t>
            </a:r>
            <a:r>
              <a:rPr dirty="0" sz="3200" b="1">
                <a:solidFill>
                  <a:srgbClr val="CCFFCC"/>
                </a:solidFill>
                <a:latin typeface="Times New Roman"/>
                <a:cs typeface="Times New Roman"/>
              </a:rPr>
              <a:t>else	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S2 </a:t>
            </a:r>
            <a:r>
              <a:rPr dirty="0" sz="3200" spc="-10" b="1">
                <a:solidFill>
                  <a:srgbClr val="FF9933"/>
                </a:solidFill>
                <a:latin typeface="幼圆"/>
                <a:cs typeface="幼圆"/>
              </a:rPr>
              <a:t>②</a:t>
            </a:r>
            <a:r>
              <a:rPr dirty="0" sz="3200" spc="-85" b="1">
                <a:solidFill>
                  <a:srgbClr val="FF9933"/>
                </a:solidFill>
                <a:latin typeface="幼圆"/>
                <a:cs typeface="幼圆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 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while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(E)		S1</a:t>
            </a:r>
            <a:r>
              <a:rPr dirty="0" sz="32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9933"/>
                </a:solidFill>
                <a:latin typeface="幼圆"/>
                <a:cs typeface="幼圆"/>
              </a:rPr>
              <a:t>③</a:t>
            </a:r>
            <a:endParaRPr sz="3200">
              <a:latin typeface="幼圆"/>
              <a:cs typeface="幼圆"/>
            </a:endParaRPr>
          </a:p>
          <a:p>
            <a:pPr marL="12700">
              <a:lnSpc>
                <a:spcPct val="100000"/>
              </a:lnSpc>
              <a:spcBef>
                <a:spcPts val="238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其中：</a:t>
            </a:r>
            <a:endParaRPr sz="3200">
              <a:latin typeface="宋体"/>
              <a:cs typeface="宋体"/>
            </a:endParaRPr>
          </a:p>
          <a:p>
            <a:pPr marL="1334135" marR="101600" indent="-1016635">
              <a:lnSpc>
                <a:spcPts val="4230"/>
              </a:lnSpc>
              <a:spcBef>
                <a:spcPts val="200"/>
              </a:spcBef>
            </a:pP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条件表达</a:t>
            </a:r>
            <a:r>
              <a:rPr dirty="0" sz="3200" spc="780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有语义</a:t>
            </a:r>
            <a:r>
              <a:rPr dirty="0" sz="3200" spc="780" b="1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3200" spc="-40" b="1">
                <a:solidFill>
                  <a:srgbClr val="FFFFFF"/>
                </a:solidFill>
                <a:latin typeface="Times New Roman"/>
                <a:cs typeface="Times New Roman"/>
              </a:rPr>
              <a:t>E.True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和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E.False)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marL="317500">
              <a:lnSpc>
                <a:spcPct val="100000"/>
              </a:lnSpc>
              <a:spcBef>
                <a:spcPts val="175"/>
              </a:spcBef>
              <a:tabLst>
                <a:tab pos="1716405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S1, 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S2: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语句；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247" y="26923"/>
            <a:ext cx="34855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05783" y="26923"/>
            <a:ext cx="46183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  <a:tab pos="192341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7877" y="1652777"/>
            <a:ext cx="1637030" cy="548640"/>
          </a:xfrm>
          <a:custGeom>
            <a:avLst/>
            <a:gdLst/>
            <a:ahLst/>
            <a:cxnLst/>
            <a:rect l="l" t="t" r="r" b="b"/>
            <a:pathLst>
              <a:path w="1637030" h="548639">
                <a:moveTo>
                  <a:pt x="0" y="548639"/>
                </a:moveTo>
                <a:lnTo>
                  <a:pt x="1636776" y="548639"/>
                </a:lnTo>
                <a:lnTo>
                  <a:pt x="1636776" y="0"/>
                </a:lnTo>
                <a:lnTo>
                  <a:pt x="0" y="0"/>
                </a:lnTo>
                <a:lnTo>
                  <a:pt x="0" y="548639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45896" y="1725295"/>
            <a:ext cx="8413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计算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9213" y="3021329"/>
            <a:ext cx="1637030" cy="683260"/>
          </a:xfrm>
          <a:custGeom>
            <a:avLst/>
            <a:gdLst/>
            <a:ahLst/>
            <a:cxnLst/>
            <a:rect l="l" t="t" r="r" b="b"/>
            <a:pathLst>
              <a:path w="1637030" h="683260">
                <a:moveTo>
                  <a:pt x="0" y="341375"/>
                </a:moveTo>
                <a:lnTo>
                  <a:pt x="818388" y="0"/>
                </a:lnTo>
                <a:lnTo>
                  <a:pt x="1636776" y="341375"/>
                </a:lnTo>
                <a:lnTo>
                  <a:pt x="818388" y="682752"/>
                </a:lnTo>
                <a:lnTo>
                  <a:pt x="0" y="341375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80287" y="3140201"/>
            <a:ext cx="41275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E?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39161" y="3976878"/>
            <a:ext cx="1286510" cy="684530"/>
          </a:xfrm>
          <a:custGeom>
            <a:avLst/>
            <a:gdLst/>
            <a:ahLst/>
            <a:cxnLst/>
            <a:rect l="l" t="t" r="r" b="b"/>
            <a:pathLst>
              <a:path w="1286510" h="684529">
                <a:moveTo>
                  <a:pt x="0" y="684276"/>
                </a:moveTo>
                <a:lnTo>
                  <a:pt x="1286256" y="684276"/>
                </a:lnTo>
                <a:lnTo>
                  <a:pt x="1286256" y="0"/>
                </a:lnTo>
                <a:lnTo>
                  <a:pt x="0" y="0"/>
                </a:lnTo>
                <a:lnTo>
                  <a:pt x="0" y="68427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09116" y="1107186"/>
            <a:ext cx="114300" cy="546100"/>
          </a:xfrm>
          <a:custGeom>
            <a:avLst/>
            <a:gdLst/>
            <a:ahLst/>
            <a:cxnLst/>
            <a:rect l="l" t="t" r="r" b="b"/>
            <a:pathLst>
              <a:path w="114300" h="546100">
                <a:moveTo>
                  <a:pt x="38100" y="355091"/>
                </a:moveTo>
                <a:lnTo>
                  <a:pt x="0" y="355091"/>
                </a:lnTo>
                <a:lnTo>
                  <a:pt x="57150" y="545591"/>
                </a:lnTo>
                <a:lnTo>
                  <a:pt x="108584" y="374141"/>
                </a:lnTo>
                <a:lnTo>
                  <a:pt x="38100" y="374141"/>
                </a:lnTo>
                <a:lnTo>
                  <a:pt x="38100" y="355091"/>
                </a:lnTo>
                <a:close/>
              </a:path>
              <a:path w="114300" h="546100">
                <a:moveTo>
                  <a:pt x="76200" y="0"/>
                </a:moveTo>
                <a:lnTo>
                  <a:pt x="38100" y="0"/>
                </a:lnTo>
                <a:lnTo>
                  <a:pt x="38100" y="374141"/>
                </a:lnTo>
                <a:lnTo>
                  <a:pt x="76200" y="374141"/>
                </a:lnTo>
                <a:lnTo>
                  <a:pt x="76200" y="0"/>
                </a:lnTo>
                <a:close/>
              </a:path>
              <a:path w="114300" h="546100">
                <a:moveTo>
                  <a:pt x="114300" y="355091"/>
                </a:moveTo>
                <a:lnTo>
                  <a:pt x="76200" y="355091"/>
                </a:lnTo>
                <a:lnTo>
                  <a:pt x="76200" y="374141"/>
                </a:lnTo>
                <a:lnTo>
                  <a:pt x="108584" y="374141"/>
                </a:lnTo>
                <a:lnTo>
                  <a:pt x="114300" y="355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330452" y="2201417"/>
            <a:ext cx="114300" cy="820419"/>
          </a:xfrm>
          <a:custGeom>
            <a:avLst/>
            <a:gdLst/>
            <a:ahLst/>
            <a:cxnLst/>
            <a:rect l="l" t="t" r="r" b="b"/>
            <a:pathLst>
              <a:path w="114300" h="820419">
                <a:moveTo>
                  <a:pt x="38100" y="629412"/>
                </a:moveTo>
                <a:lnTo>
                  <a:pt x="0" y="629412"/>
                </a:lnTo>
                <a:lnTo>
                  <a:pt x="57150" y="819912"/>
                </a:lnTo>
                <a:lnTo>
                  <a:pt x="108584" y="648462"/>
                </a:lnTo>
                <a:lnTo>
                  <a:pt x="38100" y="648462"/>
                </a:lnTo>
                <a:lnTo>
                  <a:pt x="38100" y="629412"/>
                </a:lnTo>
                <a:close/>
              </a:path>
              <a:path w="114300" h="820419">
                <a:moveTo>
                  <a:pt x="76200" y="0"/>
                </a:moveTo>
                <a:lnTo>
                  <a:pt x="38100" y="0"/>
                </a:lnTo>
                <a:lnTo>
                  <a:pt x="38100" y="648462"/>
                </a:lnTo>
                <a:lnTo>
                  <a:pt x="76200" y="648462"/>
                </a:lnTo>
                <a:lnTo>
                  <a:pt x="76200" y="0"/>
                </a:lnTo>
                <a:close/>
              </a:path>
              <a:path w="114300" h="820419">
                <a:moveTo>
                  <a:pt x="114300" y="629412"/>
                </a:moveTo>
                <a:lnTo>
                  <a:pt x="76200" y="629412"/>
                </a:lnTo>
                <a:lnTo>
                  <a:pt x="76200" y="648462"/>
                </a:lnTo>
                <a:lnTo>
                  <a:pt x="108584" y="648462"/>
                </a:lnTo>
                <a:lnTo>
                  <a:pt x="114300" y="6294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30452" y="3704082"/>
            <a:ext cx="114300" cy="2051685"/>
          </a:xfrm>
          <a:custGeom>
            <a:avLst/>
            <a:gdLst/>
            <a:ahLst/>
            <a:cxnLst/>
            <a:rect l="l" t="t" r="r" b="b"/>
            <a:pathLst>
              <a:path w="114300" h="2051685">
                <a:moveTo>
                  <a:pt x="38100" y="1860804"/>
                </a:moveTo>
                <a:lnTo>
                  <a:pt x="0" y="1860804"/>
                </a:lnTo>
                <a:lnTo>
                  <a:pt x="57150" y="2051304"/>
                </a:lnTo>
                <a:lnTo>
                  <a:pt x="108584" y="1879854"/>
                </a:lnTo>
                <a:lnTo>
                  <a:pt x="38100" y="1879854"/>
                </a:lnTo>
                <a:lnTo>
                  <a:pt x="38100" y="1860804"/>
                </a:lnTo>
                <a:close/>
              </a:path>
              <a:path w="114300" h="2051685">
                <a:moveTo>
                  <a:pt x="76200" y="0"/>
                </a:moveTo>
                <a:lnTo>
                  <a:pt x="38100" y="0"/>
                </a:lnTo>
                <a:lnTo>
                  <a:pt x="38100" y="1879854"/>
                </a:lnTo>
                <a:lnTo>
                  <a:pt x="76200" y="1879854"/>
                </a:lnTo>
                <a:lnTo>
                  <a:pt x="76200" y="0"/>
                </a:lnTo>
                <a:close/>
              </a:path>
              <a:path w="114300" h="2051685">
                <a:moveTo>
                  <a:pt x="114300" y="1860804"/>
                </a:moveTo>
                <a:lnTo>
                  <a:pt x="76200" y="1860804"/>
                </a:lnTo>
                <a:lnTo>
                  <a:pt x="76200" y="1879854"/>
                </a:lnTo>
                <a:lnTo>
                  <a:pt x="108584" y="1879854"/>
                </a:lnTo>
                <a:lnTo>
                  <a:pt x="114300" y="18608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24377" y="4661153"/>
            <a:ext cx="0" cy="410209"/>
          </a:xfrm>
          <a:custGeom>
            <a:avLst/>
            <a:gdLst/>
            <a:ahLst/>
            <a:cxnLst/>
            <a:rect l="l" t="t" r="r" b="b"/>
            <a:pathLst>
              <a:path w="0" h="410210">
                <a:moveTo>
                  <a:pt x="0" y="0"/>
                </a:moveTo>
                <a:lnTo>
                  <a:pt x="0" y="409956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387602" y="5013959"/>
            <a:ext cx="1637030" cy="114300"/>
          </a:xfrm>
          <a:custGeom>
            <a:avLst/>
            <a:gdLst/>
            <a:ahLst/>
            <a:cxnLst/>
            <a:rect l="l" t="t" r="r" b="b"/>
            <a:pathLst>
              <a:path w="1637030" h="114300">
                <a:moveTo>
                  <a:pt x="190500" y="0"/>
                </a:moveTo>
                <a:lnTo>
                  <a:pt x="0" y="57150"/>
                </a:lnTo>
                <a:lnTo>
                  <a:pt x="190500" y="114300"/>
                </a:lnTo>
                <a:lnTo>
                  <a:pt x="190500" y="76200"/>
                </a:lnTo>
                <a:lnTo>
                  <a:pt x="171450" y="76200"/>
                </a:lnTo>
                <a:lnTo>
                  <a:pt x="171450" y="38100"/>
                </a:lnTo>
                <a:lnTo>
                  <a:pt x="190500" y="38100"/>
                </a:lnTo>
                <a:lnTo>
                  <a:pt x="190500" y="0"/>
                </a:lnTo>
                <a:close/>
              </a:path>
              <a:path w="1637030" h="114300">
                <a:moveTo>
                  <a:pt x="190500" y="38100"/>
                </a:moveTo>
                <a:lnTo>
                  <a:pt x="171450" y="38100"/>
                </a:lnTo>
                <a:lnTo>
                  <a:pt x="171450" y="76200"/>
                </a:lnTo>
                <a:lnTo>
                  <a:pt x="190500" y="76200"/>
                </a:lnTo>
                <a:lnTo>
                  <a:pt x="190500" y="38100"/>
                </a:lnTo>
                <a:close/>
              </a:path>
              <a:path w="1637030" h="114300">
                <a:moveTo>
                  <a:pt x="1636776" y="38100"/>
                </a:moveTo>
                <a:lnTo>
                  <a:pt x="190500" y="38100"/>
                </a:lnTo>
                <a:lnTo>
                  <a:pt x="190500" y="76200"/>
                </a:lnTo>
                <a:lnTo>
                  <a:pt x="1636776" y="76200"/>
                </a:lnTo>
                <a:lnTo>
                  <a:pt x="1636776" y="38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967227" y="3341370"/>
            <a:ext cx="114300" cy="647700"/>
          </a:xfrm>
          <a:custGeom>
            <a:avLst/>
            <a:gdLst/>
            <a:ahLst/>
            <a:cxnLst/>
            <a:rect l="l" t="t" r="r" b="b"/>
            <a:pathLst>
              <a:path w="114300" h="647700">
                <a:moveTo>
                  <a:pt x="38100" y="457199"/>
                </a:moveTo>
                <a:lnTo>
                  <a:pt x="0" y="457199"/>
                </a:lnTo>
                <a:lnTo>
                  <a:pt x="57150" y="647699"/>
                </a:lnTo>
                <a:lnTo>
                  <a:pt x="108585" y="476249"/>
                </a:lnTo>
                <a:lnTo>
                  <a:pt x="38100" y="476249"/>
                </a:lnTo>
                <a:lnTo>
                  <a:pt x="38100" y="457199"/>
                </a:lnTo>
                <a:close/>
              </a:path>
              <a:path w="114300" h="647700">
                <a:moveTo>
                  <a:pt x="76200" y="0"/>
                </a:moveTo>
                <a:lnTo>
                  <a:pt x="38100" y="0"/>
                </a:lnTo>
                <a:lnTo>
                  <a:pt x="38100" y="476249"/>
                </a:lnTo>
                <a:lnTo>
                  <a:pt x="76200" y="476249"/>
                </a:lnTo>
                <a:lnTo>
                  <a:pt x="76200" y="0"/>
                </a:lnTo>
                <a:close/>
              </a:path>
              <a:path w="114300" h="647700">
                <a:moveTo>
                  <a:pt x="114300" y="457199"/>
                </a:moveTo>
                <a:lnTo>
                  <a:pt x="76200" y="457199"/>
                </a:lnTo>
                <a:lnTo>
                  <a:pt x="76200" y="476249"/>
                </a:lnTo>
                <a:lnTo>
                  <a:pt x="108585" y="476249"/>
                </a:lnTo>
                <a:lnTo>
                  <a:pt x="114300" y="457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187320" y="2962148"/>
            <a:ext cx="829944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16610" algn="l"/>
              </a:tabLst>
            </a:pPr>
            <a:r>
              <a:rPr dirty="0" u="heavy" sz="26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非</a:t>
            </a:r>
            <a:r>
              <a:rPr dirty="0" u="heavy" sz="26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heavy" sz="26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	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1090" y="3823842"/>
            <a:ext cx="46228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6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15917" y="5755385"/>
            <a:ext cx="4386580" cy="523240"/>
          </a:xfrm>
          <a:prstGeom prst="rect">
            <a:avLst/>
          </a:prstGeom>
          <a:ln w="38100">
            <a:solidFill>
              <a:srgbClr val="FF66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97840">
              <a:lnSpc>
                <a:spcPts val="3625"/>
              </a:lnSpc>
              <a:tabLst>
                <a:tab pos="1389380" algn="l"/>
                <a:tab pos="1840230" algn="l"/>
                <a:tab pos="2686685" algn="l"/>
                <a:tab pos="3758565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Wingdings 3"/>
                <a:cs typeface="Wingdings 3"/>
              </a:rPr>
              <a:t>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if	(E)	then	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S1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93406" y="5414264"/>
            <a:ext cx="3733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00"/>
                </a:solidFill>
                <a:latin typeface="Wingdings 3"/>
                <a:cs typeface="Wingdings 3"/>
              </a:rPr>
              <a:t></a:t>
            </a:r>
            <a:endParaRPr sz="2800">
              <a:latin typeface="Wingdings 3"/>
              <a:cs typeface="Wingdings 3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88883" y="5364581"/>
            <a:ext cx="3733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Wingdings 3"/>
                <a:cs typeface="Wingdings 3"/>
              </a:rPr>
              <a:t></a:t>
            </a:r>
            <a:endParaRPr sz="2800">
              <a:latin typeface="Wingdings 3"/>
              <a:cs typeface="Wingdings 3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87566" y="4958588"/>
            <a:ext cx="22028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146810" algn="l"/>
              </a:tabLst>
            </a:pPr>
            <a:r>
              <a:rPr dirty="0" baseline="-14880" sz="4200" spc="-7" b="1">
                <a:solidFill>
                  <a:srgbClr val="FFFFFF"/>
                </a:solidFill>
                <a:latin typeface="Times New Roman"/>
                <a:cs typeface="Times New Roman"/>
              </a:rPr>
              <a:t>E.true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E.false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914900" y="1331975"/>
            <a:ext cx="1786255" cy="749935"/>
          </a:xfrm>
          <a:custGeom>
            <a:avLst/>
            <a:gdLst/>
            <a:ahLst/>
            <a:cxnLst/>
            <a:rect l="l" t="t" r="r" b="b"/>
            <a:pathLst>
              <a:path w="1786254" h="749935">
                <a:moveTo>
                  <a:pt x="0" y="749808"/>
                </a:moveTo>
                <a:lnTo>
                  <a:pt x="1786127" y="749808"/>
                </a:lnTo>
                <a:lnTo>
                  <a:pt x="1786127" y="0"/>
                </a:lnTo>
                <a:lnTo>
                  <a:pt x="0" y="0"/>
                </a:lnTo>
                <a:lnTo>
                  <a:pt x="0" y="749808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914900" y="2066544"/>
            <a:ext cx="1786255" cy="749935"/>
          </a:xfrm>
          <a:custGeom>
            <a:avLst/>
            <a:gdLst/>
            <a:ahLst/>
            <a:cxnLst/>
            <a:rect l="l" t="t" r="r" b="b"/>
            <a:pathLst>
              <a:path w="1786254" h="749935">
                <a:moveTo>
                  <a:pt x="0" y="749808"/>
                </a:moveTo>
                <a:lnTo>
                  <a:pt x="1786127" y="749808"/>
                </a:lnTo>
                <a:lnTo>
                  <a:pt x="1786127" y="0"/>
                </a:lnTo>
                <a:lnTo>
                  <a:pt x="0" y="0"/>
                </a:lnTo>
                <a:lnTo>
                  <a:pt x="0" y="749808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914900" y="2804160"/>
            <a:ext cx="0" cy="897890"/>
          </a:xfrm>
          <a:custGeom>
            <a:avLst/>
            <a:gdLst/>
            <a:ahLst/>
            <a:cxnLst/>
            <a:rect l="l" t="t" r="r" b="b"/>
            <a:pathLst>
              <a:path w="0" h="897889">
                <a:moveTo>
                  <a:pt x="0" y="0"/>
                </a:moveTo>
                <a:lnTo>
                  <a:pt x="0" y="897635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694931" y="2804160"/>
            <a:ext cx="0" cy="897890"/>
          </a:xfrm>
          <a:custGeom>
            <a:avLst/>
            <a:gdLst/>
            <a:ahLst/>
            <a:cxnLst/>
            <a:rect l="l" t="t" r="r" b="b"/>
            <a:pathLst>
              <a:path w="0" h="897889">
                <a:moveTo>
                  <a:pt x="0" y="0"/>
                </a:moveTo>
                <a:lnTo>
                  <a:pt x="0" y="897635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326760" y="3074289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35603" y="1326956"/>
            <a:ext cx="2177415" cy="1113790"/>
          </a:xfrm>
          <a:prstGeom prst="rect">
            <a:avLst/>
          </a:prstGeom>
        </p:spPr>
        <p:txBody>
          <a:bodyPr wrap="square" lIns="0" tIns="190500" rIns="0" bIns="0" rtlCol="0" vert="horz">
            <a:spAutoFit/>
          </a:bodyPr>
          <a:lstStyle/>
          <a:p>
            <a:pPr marL="1147445">
              <a:lnSpc>
                <a:spcPct val="100000"/>
              </a:lnSpc>
              <a:spcBef>
                <a:spcPts val="1500"/>
              </a:spcBef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测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405"/>
              </a:spcBef>
              <a:tabLst>
                <a:tab pos="1147445" algn="l"/>
              </a:tabLst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E.true:	</a:t>
            </a:r>
            <a:r>
              <a:rPr dirty="0" baseline="-33564" sz="3600" spc="-7" b="1">
                <a:solidFill>
                  <a:srgbClr val="FFFFFF"/>
                </a:solidFill>
                <a:latin typeface="Times New Roman"/>
                <a:cs typeface="Times New Roman"/>
              </a:rPr>
              <a:t>S1</a:t>
            </a:r>
            <a:r>
              <a:rPr dirty="0" baseline="-33564" sz="3600" spc="-7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baseline="-33564" sz="3600" spc="-7" b="1">
                <a:solidFill>
                  <a:srgbClr val="FFFFFF"/>
                </a:solidFill>
                <a:latin typeface="Times New Roman"/>
                <a:cs typeface="Times New Roman"/>
              </a:rPr>
              <a:t>code</a:t>
            </a:r>
            <a:endParaRPr baseline="-33564" sz="3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43350" y="2873502"/>
            <a:ext cx="9994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FFFF"/>
                </a:solidFill>
                <a:latin typeface="Times New Roman"/>
                <a:cs typeface="Times New Roman"/>
              </a:rPr>
              <a:t>E.false: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515859" y="1118189"/>
            <a:ext cx="1617980" cy="1073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3300"/>
              </a:lnSpc>
              <a:spcBef>
                <a:spcPts val="9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Goto E.true  Goto</a:t>
            </a:r>
            <a:r>
              <a:rPr dirty="0" sz="2400" spc="-1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E.false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489191" y="1444752"/>
            <a:ext cx="946785" cy="76200"/>
          </a:xfrm>
          <a:custGeom>
            <a:avLst/>
            <a:gdLst/>
            <a:ahLst/>
            <a:cxnLst/>
            <a:rect l="l" t="t" r="r" b="b"/>
            <a:pathLst>
              <a:path w="946784" h="76200">
                <a:moveTo>
                  <a:pt x="870204" y="0"/>
                </a:moveTo>
                <a:lnTo>
                  <a:pt x="870204" y="76200"/>
                </a:lnTo>
                <a:lnTo>
                  <a:pt x="933704" y="44450"/>
                </a:lnTo>
                <a:lnTo>
                  <a:pt x="882904" y="44450"/>
                </a:lnTo>
                <a:lnTo>
                  <a:pt x="882904" y="31750"/>
                </a:lnTo>
                <a:lnTo>
                  <a:pt x="933704" y="31750"/>
                </a:lnTo>
                <a:lnTo>
                  <a:pt x="870204" y="0"/>
                </a:lnTo>
                <a:close/>
              </a:path>
              <a:path w="946784" h="76200">
                <a:moveTo>
                  <a:pt x="870204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870204" y="44450"/>
                </a:lnTo>
                <a:lnTo>
                  <a:pt x="870204" y="31750"/>
                </a:lnTo>
                <a:close/>
              </a:path>
              <a:path w="946784" h="76200">
                <a:moveTo>
                  <a:pt x="933704" y="31750"/>
                </a:moveTo>
                <a:lnTo>
                  <a:pt x="882904" y="31750"/>
                </a:lnTo>
                <a:lnTo>
                  <a:pt x="882904" y="44450"/>
                </a:lnTo>
                <a:lnTo>
                  <a:pt x="933704" y="44450"/>
                </a:lnTo>
                <a:lnTo>
                  <a:pt x="946404" y="38100"/>
                </a:lnTo>
                <a:lnTo>
                  <a:pt x="933704" y="31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489191" y="1969007"/>
            <a:ext cx="946785" cy="76200"/>
          </a:xfrm>
          <a:custGeom>
            <a:avLst/>
            <a:gdLst/>
            <a:ahLst/>
            <a:cxnLst/>
            <a:rect l="l" t="t" r="r" b="b"/>
            <a:pathLst>
              <a:path w="946784" h="76200">
                <a:moveTo>
                  <a:pt x="870204" y="0"/>
                </a:moveTo>
                <a:lnTo>
                  <a:pt x="870204" y="76200"/>
                </a:lnTo>
                <a:lnTo>
                  <a:pt x="933704" y="44450"/>
                </a:lnTo>
                <a:lnTo>
                  <a:pt x="882904" y="44450"/>
                </a:lnTo>
                <a:lnTo>
                  <a:pt x="882904" y="31750"/>
                </a:lnTo>
                <a:lnTo>
                  <a:pt x="933704" y="31750"/>
                </a:lnTo>
                <a:lnTo>
                  <a:pt x="870204" y="0"/>
                </a:lnTo>
                <a:close/>
              </a:path>
              <a:path w="946784" h="76200">
                <a:moveTo>
                  <a:pt x="870204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870204" y="44450"/>
                </a:lnTo>
                <a:lnTo>
                  <a:pt x="870204" y="31750"/>
                </a:lnTo>
                <a:close/>
              </a:path>
              <a:path w="946784" h="76200">
                <a:moveTo>
                  <a:pt x="933704" y="31750"/>
                </a:moveTo>
                <a:lnTo>
                  <a:pt x="882904" y="31750"/>
                </a:lnTo>
                <a:lnTo>
                  <a:pt x="882904" y="44450"/>
                </a:lnTo>
                <a:lnTo>
                  <a:pt x="933704" y="44450"/>
                </a:lnTo>
                <a:lnTo>
                  <a:pt x="946404" y="38100"/>
                </a:lnTo>
                <a:lnTo>
                  <a:pt x="933704" y="31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914900" y="582168"/>
            <a:ext cx="1786255" cy="749935"/>
          </a:xfrm>
          <a:custGeom>
            <a:avLst/>
            <a:gdLst/>
            <a:ahLst/>
            <a:cxnLst/>
            <a:rect l="l" t="t" r="r" b="b"/>
            <a:pathLst>
              <a:path w="1786254" h="749935">
                <a:moveTo>
                  <a:pt x="0" y="749808"/>
                </a:moveTo>
                <a:lnTo>
                  <a:pt x="1786127" y="749808"/>
                </a:lnTo>
                <a:lnTo>
                  <a:pt x="1786127" y="0"/>
                </a:lnTo>
                <a:lnTo>
                  <a:pt x="0" y="0"/>
                </a:lnTo>
                <a:lnTo>
                  <a:pt x="0" y="749808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070728" y="750773"/>
            <a:ext cx="89725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E.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co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881122" y="3292307"/>
            <a:ext cx="1365250" cy="1241425"/>
          </a:xfrm>
          <a:prstGeom prst="rect">
            <a:avLst/>
          </a:prstGeom>
        </p:spPr>
        <p:txBody>
          <a:bodyPr wrap="square" lIns="0" tIns="202565" rIns="0" bIns="0" rtlCol="0" vert="horz">
            <a:spAutoFit/>
          </a:bodyPr>
          <a:lstStyle/>
          <a:p>
            <a:pPr marL="350520">
              <a:lnSpc>
                <a:spcPct val="100000"/>
              </a:lnSpc>
              <a:spcBef>
                <a:spcPts val="1595"/>
              </a:spcBef>
            </a:pP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E.true: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S1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0238" y="4986020"/>
            <a:ext cx="108331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E.f</a:t>
            </a:r>
            <a:r>
              <a:rPr dirty="0" sz="2600" spc="10" b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lse: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2107" y="4985003"/>
            <a:ext cx="1074420" cy="536575"/>
          </a:xfrm>
          <a:custGeom>
            <a:avLst/>
            <a:gdLst/>
            <a:ahLst/>
            <a:cxnLst/>
            <a:rect l="l" t="t" r="r" b="b"/>
            <a:pathLst>
              <a:path w="1074420" h="536575">
                <a:moveTo>
                  <a:pt x="0" y="268224"/>
                </a:moveTo>
                <a:lnTo>
                  <a:pt x="14187" y="206739"/>
                </a:lnTo>
                <a:lnTo>
                  <a:pt x="54601" y="150289"/>
                </a:lnTo>
                <a:lnTo>
                  <a:pt x="83636" y="124456"/>
                </a:lnTo>
                <a:lnTo>
                  <a:pt x="118017" y="100486"/>
                </a:lnTo>
                <a:lnTo>
                  <a:pt x="157343" y="78581"/>
                </a:lnTo>
                <a:lnTo>
                  <a:pt x="201210" y="58942"/>
                </a:lnTo>
                <a:lnTo>
                  <a:pt x="249216" y="41772"/>
                </a:lnTo>
                <a:lnTo>
                  <a:pt x="300956" y="27272"/>
                </a:lnTo>
                <a:lnTo>
                  <a:pt x="356029" y="15642"/>
                </a:lnTo>
                <a:lnTo>
                  <a:pt x="414031" y="7086"/>
                </a:lnTo>
                <a:lnTo>
                  <a:pt x="474559" y="1805"/>
                </a:lnTo>
                <a:lnTo>
                  <a:pt x="537210" y="0"/>
                </a:lnTo>
                <a:lnTo>
                  <a:pt x="599860" y="1805"/>
                </a:lnTo>
                <a:lnTo>
                  <a:pt x="660388" y="7086"/>
                </a:lnTo>
                <a:lnTo>
                  <a:pt x="718390" y="15642"/>
                </a:lnTo>
                <a:lnTo>
                  <a:pt x="773463" y="27272"/>
                </a:lnTo>
                <a:lnTo>
                  <a:pt x="825203" y="41772"/>
                </a:lnTo>
                <a:lnTo>
                  <a:pt x="873209" y="58942"/>
                </a:lnTo>
                <a:lnTo>
                  <a:pt x="917076" y="78581"/>
                </a:lnTo>
                <a:lnTo>
                  <a:pt x="956402" y="100486"/>
                </a:lnTo>
                <a:lnTo>
                  <a:pt x="990783" y="124456"/>
                </a:lnTo>
                <a:lnTo>
                  <a:pt x="1019818" y="150289"/>
                </a:lnTo>
                <a:lnTo>
                  <a:pt x="1060232" y="206739"/>
                </a:lnTo>
                <a:lnTo>
                  <a:pt x="1074420" y="268224"/>
                </a:lnTo>
                <a:lnTo>
                  <a:pt x="1070805" y="299494"/>
                </a:lnTo>
                <a:lnTo>
                  <a:pt x="1043101" y="358663"/>
                </a:lnTo>
                <a:lnTo>
                  <a:pt x="990783" y="411991"/>
                </a:lnTo>
                <a:lnTo>
                  <a:pt x="956402" y="435961"/>
                </a:lnTo>
                <a:lnTo>
                  <a:pt x="917076" y="457866"/>
                </a:lnTo>
                <a:lnTo>
                  <a:pt x="873209" y="477505"/>
                </a:lnTo>
                <a:lnTo>
                  <a:pt x="825203" y="494675"/>
                </a:lnTo>
                <a:lnTo>
                  <a:pt x="773463" y="509175"/>
                </a:lnTo>
                <a:lnTo>
                  <a:pt x="718390" y="520805"/>
                </a:lnTo>
                <a:lnTo>
                  <a:pt x="660388" y="529361"/>
                </a:lnTo>
                <a:lnTo>
                  <a:pt x="599860" y="534642"/>
                </a:lnTo>
                <a:lnTo>
                  <a:pt x="537210" y="536448"/>
                </a:lnTo>
                <a:lnTo>
                  <a:pt x="474559" y="534642"/>
                </a:lnTo>
                <a:lnTo>
                  <a:pt x="414031" y="529361"/>
                </a:lnTo>
                <a:lnTo>
                  <a:pt x="356029" y="520805"/>
                </a:lnTo>
                <a:lnTo>
                  <a:pt x="300956" y="509175"/>
                </a:lnTo>
                <a:lnTo>
                  <a:pt x="249216" y="494675"/>
                </a:lnTo>
                <a:lnTo>
                  <a:pt x="201210" y="477505"/>
                </a:lnTo>
                <a:lnTo>
                  <a:pt x="157343" y="457866"/>
                </a:lnTo>
                <a:lnTo>
                  <a:pt x="118017" y="435961"/>
                </a:lnTo>
                <a:lnTo>
                  <a:pt x="83636" y="411991"/>
                </a:lnTo>
                <a:lnTo>
                  <a:pt x="54601" y="386158"/>
                </a:lnTo>
                <a:lnTo>
                  <a:pt x="14187" y="329708"/>
                </a:lnTo>
                <a:lnTo>
                  <a:pt x="0" y="268224"/>
                </a:lnTo>
                <a:close/>
              </a:path>
            </a:pathLst>
          </a:custGeom>
          <a:ln w="5715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186683" y="3451859"/>
            <a:ext cx="1074420" cy="536575"/>
          </a:xfrm>
          <a:custGeom>
            <a:avLst/>
            <a:gdLst/>
            <a:ahLst/>
            <a:cxnLst/>
            <a:rect l="l" t="t" r="r" b="b"/>
            <a:pathLst>
              <a:path w="1074420" h="536575">
                <a:moveTo>
                  <a:pt x="0" y="268223"/>
                </a:moveTo>
                <a:lnTo>
                  <a:pt x="14189" y="206739"/>
                </a:lnTo>
                <a:lnTo>
                  <a:pt x="54606" y="150289"/>
                </a:lnTo>
                <a:lnTo>
                  <a:pt x="83642" y="124456"/>
                </a:lnTo>
                <a:lnTo>
                  <a:pt x="118025" y="100486"/>
                </a:lnTo>
                <a:lnTo>
                  <a:pt x="157353" y="78581"/>
                </a:lnTo>
                <a:lnTo>
                  <a:pt x="201221" y="58942"/>
                </a:lnTo>
                <a:lnTo>
                  <a:pt x="249227" y="41772"/>
                </a:lnTo>
                <a:lnTo>
                  <a:pt x="300967" y="27272"/>
                </a:lnTo>
                <a:lnTo>
                  <a:pt x="356039" y="15642"/>
                </a:lnTo>
                <a:lnTo>
                  <a:pt x="414039" y="7086"/>
                </a:lnTo>
                <a:lnTo>
                  <a:pt x="474563" y="1805"/>
                </a:lnTo>
                <a:lnTo>
                  <a:pt x="537210" y="0"/>
                </a:lnTo>
                <a:lnTo>
                  <a:pt x="599856" y="1805"/>
                </a:lnTo>
                <a:lnTo>
                  <a:pt x="660380" y="7086"/>
                </a:lnTo>
                <a:lnTo>
                  <a:pt x="718380" y="15642"/>
                </a:lnTo>
                <a:lnTo>
                  <a:pt x="773452" y="27272"/>
                </a:lnTo>
                <a:lnTo>
                  <a:pt x="825192" y="41772"/>
                </a:lnTo>
                <a:lnTo>
                  <a:pt x="873198" y="58942"/>
                </a:lnTo>
                <a:lnTo>
                  <a:pt x="917066" y="78581"/>
                </a:lnTo>
                <a:lnTo>
                  <a:pt x="956394" y="100486"/>
                </a:lnTo>
                <a:lnTo>
                  <a:pt x="990777" y="124456"/>
                </a:lnTo>
                <a:lnTo>
                  <a:pt x="1019813" y="150289"/>
                </a:lnTo>
                <a:lnTo>
                  <a:pt x="1060230" y="206739"/>
                </a:lnTo>
                <a:lnTo>
                  <a:pt x="1074420" y="268223"/>
                </a:lnTo>
                <a:lnTo>
                  <a:pt x="1070805" y="299494"/>
                </a:lnTo>
                <a:lnTo>
                  <a:pt x="1043099" y="358663"/>
                </a:lnTo>
                <a:lnTo>
                  <a:pt x="990777" y="411991"/>
                </a:lnTo>
                <a:lnTo>
                  <a:pt x="956394" y="435961"/>
                </a:lnTo>
                <a:lnTo>
                  <a:pt x="917066" y="457866"/>
                </a:lnTo>
                <a:lnTo>
                  <a:pt x="873198" y="477505"/>
                </a:lnTo>
                <a:lnTo>
                  <a:pt x="825192" y="494675"/>
                </a:lnTo>
                <a:lnTo>
                  <a:pt x="773452" y="509175"/>
                </a:lnTo>
                <a:lnTo>
                  <a:pt x="718380" y="520805"/>
                </a:lnTo>
                <a:lnTo>
                  <a:pt x="660380" y="529361"/>
                </a:lnTo>
                <a:lnTo>
                  <a:pt x="599856" y="534642"/>
                </a:lnTo>
                <a:lnTo>
                  <a:pt x="537210" y="536447"/>
                </a:lnTo>
                <a:lnTo>
                  <a:pt x="474563" y="534642"/>
                </a:lnTo>
                <a:lnTo>
                  <a:pt x="414039" y="529361"/>
                </a:lnTo>
                <a:lnTo>
                  <a:pt x="356039" y="520805"/>
                </a:lnTo>
                <a:lnTo>
                  <a:pt x="300967" y="509175"/>
                </a:lnTo>
                <a:lnTo>
                  <a:pt x="249227" y="494675"/>
                </a:lnTo>
                <a:lnTo>
                  <a:pt x="201221" y="477505"/>
                </a:lnTo>
                <a:lnTo>
                  <a:pt x="157352" y="457866"/>
                </a:lnTo>
                <a:lnTo>
                  <a:pt x="118025" y="435961"/>
                </a:lnTo>
                <a:lnTo>
                  <a:pt x="83642" y="411991"/>
                </a:lnTo>
                <a:lnTo>
                  <a:pt x="54606" y="386158"/>
                </a:lnTo>
                <a:lnTo>
                  <a:pt x="14189" y="329708"/>
                </a:lnTo>
                <a:lnTo>
                  <a:pt x="0" y="268223"/>
                </a:lnTo>
                <a:close/>
              </a:path>
            </a:pathLst>
          </a:custGeom>
          <a:ln w="57149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247" y="0"/>
            <a:ext cx="8390890" cy="6109335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  <a:tabLst>
                <a:tab pos="655955" algn="l"/>
                <a:tab pos="3784600" algn="l"/>
                <a:tab pos="4292600" algn="l"/>
                <a:tab pos="56959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700">
              <a:latin typeface="宋体"/>
              <a:cs typeface="宋体"/>
            </a:endParaRPr>
          </a:p>
          <a:p>
            <a:pPr marL="474980" indent="-317500">
              <a:lnSpc>
                <a:spcPct val="100000"/>
              </a:lnSpc>
              <a:buClr>
                <a:srgbClr val="66FFFF"/>
              </a:buClr>
              <a:buSzPct val="114062"/>
              <a:buFont typeface="Wingdings"/>
              <a:buChar char=""/>
              <a:tabLst>
                <a:tab pos="47561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条件语句</a:t>
            </a:r>
            <a:r>
              <a:rPr dirty="0" sz="3200" b="1">
                <a:solidFill>
                  <a:srgbClr val="FF9933"/>
                </a:solidFill>
                <a:latin typeface="宋体"/>
                <a:cs typeface="宋体"/>
              </a:rPr>
              <a:t>①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翻译的语义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子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程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序</a:t>
            </a:r>
            <a:endParaRPr sz="3200">
              <a:latin typeface="宋体"/>
              <a:cs typeface="宋体"/>
            </a:endParaRPr>
          </a:p>
          <a:p>
            <a:pPr marL="571500">
              <a:lnSpc>
                <a:spcPct val="100000"/>
              </a:lnSpc>
              <a:spcBef>
                <a:spcPts val="1664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 →if E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then</a:t>
            </a:r>
            <a:r>
              <a:rPr dirty="0" sz="32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S1</a:t>
            </a:r>
            <a:endParaRPr sz="3200">
              <a:latin typeface="Times New Roman"/>
              <a:cs typeface="Times New Roman"/>
            </a:endParaRPr>
          </a:p>
          <a:p>
            <a:pPr marL="647700" marR="4820285" indent="-178435">
              <a:lnSpc>
                <a:spcPct val="140100"/>
              </a:lnSpc>
              <a:spcBef>
                <a:spcPts val="6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E.true=newlabel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；  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E.fal</a:t>
            </a:r>
            <a:r>
              <a:rPr dirty="0" sz="2800" b="1">
                <a:solidFill>
                  <a:srgbClr val="FFFF66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e=ne</a:t>
            </a:r>
            <a:r>
              <a:rPr dirty="0" sz="2800" spc="-40" b="1">
                <a:solidFill>
                  <a:srgbClr val="FFFF66"/>
                </a:solidFill>
                <a:latin typeface="Times New Roman"/>
                <a:cs typeface="Times New Roman"/>
              </a:rPr>
              <a:t>w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l</a:t>
            </a:r>
            <a:r>
              <a:rPr dirty="0" sz="2800" b="1">
                <a:solidFill>
                  <a:srgbClr val="FFFF66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be</a:t>
            </a:r>
            <a:r>
              <a:rPr dirty="0" sz="2800" spc="5" b="1">
                <a:solidFill>
                  <a:srgbClr val="FFFF66"/>
                </a:solidFill>
                <a:latin typeface="Times New Roman"/>
                <a:cs typeface="Times New Roman"/>
              </a:rPr>
              <a:t>l</a:t>
            </a:r>
            <a:r>
              <a:rPr dirty="0" sz="2800" spc="-15" b="1">
                <a:solidFill>
                  <a:srgbClr val="FFFF66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647700">
              <a:lnSpc>
                <a:spcPct val="100000"/>
              </a:lnSpc>
              <a:spcBef>
                <a:spcPts val="1345"/>
              </a:spcBef>
            </a:pP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S.code=E.code|GEN(jT</a:t>
            </a:r>
            <a:r>
              <a:rPr dirty="0" sz="2800" spc="5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E.true)|</a:t>
            </a:r>
            <a:endParaRPr sz="2800">
              <a:latin typeface="Times New Roman"/>
              <a:cs typeface="Times New Roman"/>
            </a:endParaRPr>
          </a:p>
          <a:p>
            <a:pPr marL="2958465" marR="1482090">
              <a:lnSpc>
                <a:spcPct val="140000"/>
              </a:lnSpc>
              <a:spcBef>
                <a:spcPts val="5"/>
              </a:spcBef>
            </a:pP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GEN(jF</a:t>
            </a:r>
            <a:r>
              <a:rPr dirty="0" sz="2800" spc="-12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E.false)|  GEN(E.true'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：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') |  S1.code|</a:t>
            </a:r>
            <a:endParaRPr sz="2800">
              <a:latin typeface="Times New Roman"/>
              <a:cs typeface="Times New Roman"/>
            </a:endParaRPr>
          </a:p>
          <a:p>
            <a:pPr marL="2958465">
              <a:lnSpc>
                <a:spcPct val="100000"/>
              </a:lnSpc>
              <a:spcBef>
                <a:spcPts val="1345"/>
              </a:spcBef>
            </a:pP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GEN(E.false'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：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')</a:t>
            </a:r>
            <a:r>
              <a:rPr dirty="0" sz="2800" spc="1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88791" y="4864608"/>
            <a:ext cx="2452370" cy="0"/>
          </a:xfrm>
          <a:custGeom>
            <a:avLst/>
            <a:gdLst/>
            <a:ahLst/>
            <a:cxnLst/>
            <a:rect l="l" t="t" r="r" b="b"/>
            <a:pathLst>
              <a:path w="2452370" h="0">
                <a:moveTo>
                  <a:pt x="0" y="0"/>
                </a:moveTo>
                <a:lnTo>
                  <a:pt x="2452116" y="0"/>
                </a:lnTo>
              </a:path>
            </a:pathLst>
          </a:custGeom>
          <a:ln w="5715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88791" y="6063996"/>
            <a:ext cx="2452370" cy="0"/>
          </a:xfrm>
          <a:custGeom>
            <a:avLst/>
            <a:gdLst/>
            <a:ahLst/>
            <a:cxnLst/>
            <a:rect l="l" t="t" r="r" b="b"/>
            <a:pathLst>
              <a:path w="2452370" h="0">
                <a:moveTo>
                  <a:pt x="0" y="0"/>
                </a:moveTo>
                <a:lnTo>
                  <a:pt x="2452116" y="0"/>
                </a:lnTo>
              </a:path>
            </a:pathLst>
          </a:custGeom>
          <a:ln w="5715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247" y="26923"/>
            <a:ext cx="41173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13275" y="26923"/>
            <a:ext cx="411035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6050" algn="l"/>
              </a:tabLst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2677" y="1652777"/>
            <a:ext cx="1637030" cy="548640"/>
          </a:xfrm>
          <a:custGeom>
            <a:avLst/>
            <a:gdLst/>
            <a:ahLst/>
            <a:cxnLst/>
            <a:rect l="l" t="t" r="r" b="b"/>
            <a:pathLst>
              <a:path w="1637030" h="548639">
                <a:moveTo>
                  <a:pt x="0" y="548639"/>
                </a:moveTo>
                <a:lnTo>
                  <a:pt x="1636776" y="548639"/>
                </a:lnTo>
                <a:lnTo>
                  <a:pt x="1636776" y="0"/>
                </a:lnTo>
                <a:lnTo>
                  <a:pt x="0" y="0"/>
                </a:lnTo>
                <a:lnTo>
                  <a:pt x="0" y="548639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250696" y="1725295"/>
            <a:ext cx="8413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计算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74013" y="3021329"/>
            <a:ext cx="1637030" cy="683260"/>
          </a:xfrm>
          <a:custGeom>
            <a:avLst/>
            <a:gdLst/>
            <a:ahLst/>
            <a:cxnLst/>
            <a:rect l="l" t="t" r="r" b="b"/>
            <a:pathLst>
              <a:path w="1637030" h="683260">
                <a:moveTo>
                  <a:pt x="0" y="341375"/>
                </a:moveTo>
                <a:lnTo>
                  <a:pt x="818388" y="0"/>
                </a:lnTo>
                <a:lnTo>
                  <a:pt x="1636776" y="341375"/>
                </a:lnTo>
                <a:lnTo>
                  <a:pt x="818388" y="682752"/>
                </a:lnTo>
                <a:lnTo>
                  <a:pt x="0" y="341375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17853" y="4319778"/>
            <a:ext cx="1286510" cy="684530"/>
          </a:xfrm>
          <a:custGeom>
            <a:avLst/>
            <a:gdLst/>
            <a:ahLst/>
            <a:cxnLst/>
            <a:rect l="l" t="t" r="r" b="b"/>
            <a:pathLst>
              <a:path w="1286510" h="684529">
                <a:moveTo>
                  <a:pt x="0" y="684276"/>
                </a:moveTo>
                <a:lnTo>
                  <a:pt x="1286256" y="684276"/>
                </a:lnTo>
                <a:lnTo>
                  <a:pt x="1286256" y="0"/>
                </a:lnTo>
                <a:lnTo>
                  <a:pt x="0" y="0"/>
                </a:lnTo>
                <a:lnTo>
                  <a:pt x="0" y="68427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613916" y="1107186"/>
            <a:ext cx="114300" cy="546100"/>
          </a:xfrm>
          <a:custGeom>
            <a:avLst/>
            <a:gdLst/>
            <a:ahLst/>
            <a:cxnLst/>
            <a:rect l="l" t="t" r="r" b="b"/>
            <a:pathLst>
              <a:path w="114300" h="546100">
                <a:moveTo>
                  <a:pt x="38100" y="355091"/>
                </a:moveTo>
                <a:lnTo>
                  <a:pt x="0" y="355091"/>
                </a:lnTo>
                <a:lnTo>
                  <a:pt x="57150" y="545591"/>
                </a:lnTo>
                <a:lnTo>
                  <a:pt x="108585" y="374141"/>
                </a:lnTo>
                <a:lnTo>
                  <a:pt x="38100" y="374141"/>
                </a:lnTo>
                <a:lnTo>
                  <a:pt x="38100" y="355091"/>
                </a:lnTo>
                <a:close/>
              </a:path>
              <a:path w="114300" h="546100">
                <a:moveTo>
                  <a:pt x="76200" y="0"/>
                </a:moveTo>
                <a:lnTo>
                  <a:pt x="38100" y="0"/>
                </a:lnTo>
                <a:lnTo>
                  <a:pt x="38100" y="374141"/>
                </a:lnTo>
                <a:lnTo>
                  <a:pt x="76200" y="374141"/>
                </a:lnTo>
                <a:lnTo>
                  <a:pt x="76200" y="0"/>
                </a:lnTo>
                <a:close/>
              </a:path>
              <a:path w="114300" h="546100">
                <a:moveTo>
                  <a:pt x="114300" y="355091"/>
                </a:moveTo>
                <a:lnTo>
                  <a:pt x="76200" y="355091"/>
                </a:lnTo>
                <a:lnTo>
                  <a:pt x="76200" y="374141"/>
                </a:lnTo>
                <a:lnTo>
                  <a:pt x="108585" y="374141"/>
                </a:lnTo>
                <a:lnTo>
                  <a:pt x="114300" y="355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635251" y="2201417"/>
            <a:ext cx="114300" cy="820419"/>
          </a:xfrm>
          <a:custGeom>
            <a:avLst/>
            <a:gdLst/>
            <a:ahLst/>
            <a:cxnLst/>
            <a:rect l="l" t="t" r="r" b="b"/>
            <a:pathLst>
              <a:path w="114300" h="820419">
                <a:moveTo>
                  <a:pt x="38100" y="629412"/>
                </a:moveTo>
                <a:lnTo>
                  <a:pt x="0" y="629412"/>
                </a:lnTo>
                <a:lnTo>
                  <a:pt x="57150" y="819912"/>
                </a:lnTo>
                <a:lnTo>
                  <a:pt x="108585" y="648462"/>
                </a:lnTo>
                <a:lnTo>
                  <a:pt x="38100" y="648462"/>
                </a:lnTo>
                <a:lnTo>
                  <a:pt x="38100" y="629412"/>
                </a:lnTo>
                <a:close/>
              </a:path>
              <a:path w="114300" h="820419">
                <a:moveTo>
                  <a:pt x="76200" y="0"/>
                </a:moveTo>
                <a:lnTo>
                  <a:pt x="38100" y="0"/>
                </a:lnTo>
                <a:lnTo>
                  <a:pt x="38100" y="648462"/>
                </a:lnTo>
                <a:lnTo>
                  <a:pt x="76200" y="648462"/>
                </a:lnTo>
                <a:lnTo>
                  <a:pt x="76200" y="0"/>
                </a:lnTo>
                <a:close/>
              </a:path>
              <a:path w="114300" h="820419">
                <a:moveTo>
                  <a:pt x="114300" y="629412"/>
                </a:moveTo>
                <a:lnTo>
                  <a:pt x="76200" y="629412"/>
                </a:lnTo>
                <a:lnTo>
                  <a:pt x="76200" y="648462"/>
                </a:lnTo>
                <a:lnTo>
                  <a:pt x="108585" y="648462"/>
                </a:lnTo>
                <a:lnTo>
                  <a:pt x="114300" y="6294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285744" y="3337559"/>
            <a:ext cx="43180" cy="0"/>
          </a:xfrm>
          <a:custGeom>
            <a:avLst/>
            <a:gdLst/>
            <a:ahLst/>
            <a:cxnLst/>
            <a:rect l="l" t="t" r="r" b="b"/>
            <a:pathLst>
              <a:path w="43179" h="0">
                <a:moveTo>
                  <a:pt x="0" y="0"/>
                </a:moveTo>
                <a:lnTo>
                  <a:pt x="42671" y="0"/>
                </a:lnTo>
              </a:path>
            </a:pathLst>
          </a:custGeom>
          <a:ln w="4267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307079" y="3398520"/>
            <a:ext cx="0" cy="2048510"/>
          </a:xfrm>
          <a:custGeom>
            <a:avLst/>
            <a:gdLst/>
            <a:ahLst/>
            <a:cxnLst/>
            <a:rect l="l" t="t" r="r" b="b"/>
            <a:pathLst>
              <a:path w="0" h="2048510">
                <a:moveTo>
                  <a:pt x="0" y="0"/>
                </a:moveTo>
                <a:lnTo>
                  <a:pt x="0" y="2048255"/>
                </a:lnTo>
              </a:path>
            </a:pathLst>
          </a:custGeom>
          <a:ln w="4267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647444" y="5004053"/>
            <a:ext cx="114300" cy="751840"/>
          </a:xfrm>
          <a:custGeom>
            <a:avLst/>
            <a:gdLst/>
            <a:ahLst/>
            <a:cxnLst/>
            <a:rect l="l" t="t" r="r" b="b"/>
            <a:pathLst>
              <a:path w="114300" h="751839">
                <a:moveTo>
                  <a:pt x="38100" y="560832"/>
                </a:moveTo>
                <a:lnTo>
                  <a:pt x="0" y="560832"/>
                </a:lnTo>
                <a:lnTo>
                  <a:pt x="57150" y="751332"/>
                </a:lnTo>
                <a:lnTo>
                  <a:pt x="108585" y="579882"/>
                </a:lnTo>
                <a:lnTo>
                  <a:pt x="38100" y="579882"/>
                </a:lnTo>
                <a:lnTo>
                  <a:pt x="38100" y="560832"/>
                </a:lnTo>
                <a:close/>
              </a:path>
              <a:path w="114300" h="751839">
                <a:moveTo>
                  <a:pt x="76200" y="0"/>
                </a:moveTo>
                <a:lnTo>
                  <a:pt x="38100" y="0"/>
                </a:lnTo>
                <a:lnTo>
                  <a:pt x="38100" y="579882"/>
                </a:lnTo>
                <a:lnTo>
                  <a:pt x="76200" y="579882"/>
                </a:lnTo>
                <a:lnTo>
                  <a:pt x="76200" y="0"/>
                </a:lnTo>
                <a:close/>
              </a:path>
              <a:path w="114300" h="751839">
                <a:moveTo>
                  <a:pt x="114300" y="560832"/>
                </a:moveTo>
                <a:lnTo>
                  <a:pt x="76200" y="560832"/>
                </a:lnTo>
                <a:lnTo>
                  <a:pt x="76200" y="579882"/>
                </a:lnTo>
                <a:lnTo>
                  <a:pt x="108585" y="579882"/>
                </a:lnTo>
                <a:lnTo>
                  <a:pt x="114300" y="5608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692401" y="5350764"/>
            <a:ext cx="1637030" cy="114300"/>
          </a:xfrm>
          <a:custGeom>
            <a:avLst/>
            <a:gdLst/>
            <a:ahLst/>
            <a:cxnLst/>
            <a:rect l="l" t="t" r="r" b="b"/>
            <a:pathLst>
              <a:path w="1637029" h="114300">
                <a:moveTo>
                  <a:pt x="190500" y="0"/>
                </a:moveTo>
                <a:lnTo>
                  <a:pt x="0" y="57150"/>
                </a:lnTo>
                <a:lnTo>
                  <a:pt x="190500" y="114300"/>
                </a:lnTo>
                <a:lnTo>
                  <a:pt x="190500" y="76200"/>
                </a:lnTo>
                <a:lnTo>
                  <a:pt x="171450" y="76200"/>
                </a:lnTo>
                <a:lnTo>
                  <a:pt x="171450" y="38100"/>
                </a:lnTo>
                <a:lnTo>
                  <a:pt x="190500" y="38100"/>
                </a:lnTo>
                <a:lnTo>
                  <a:pt x="190500" y="0"/>
                </a:lnTo>
                <a:close/>
              </a:path>
              <a:path w="1637029" h="114300">
                <a:moveTo>
                  <a:pt x="190500" y="38100"/>
                </a:moveTo>
                <a:lnTo>
                  <a:pt x="171450" y="38100"/>
                </a:lnTo>
                <a:lnTo>
                  <a:pt x="171450" y="76200"/>
                </a:lnTo>
                <a:lnTo>
                  <a:pt x="190500" y="76200"/>
                </a:lnTo>
                <a:lnTo>
                  <a:pt x="190500" y="38100"/>
                </a:lnTo>
                <a:close/>
              </a:path>
              <a:path w="1637029" h="114300">
                <a:moveTo>
                  <a:pt x="1636776" y="38100"/>
                </a:moveTo>
                <a:lnTo>
                  <a:pt x="190500" y="38100"/>
                </a:lnTo>
                <a:lnTo>
                  <a:pt x="190500" y="76200"/>
                </a:lnTo>
                <a:lnTo>
                  <a:pt x="1636776" y="76200"/>
                </a:lnTo>
                <a:lnTo>
                  <a:pt x="1636776" y="38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490977" y="3362705"/>
            <a:ext cx="838200" cy="17145"/>
          </a:xfrm>
          <a:custGeom>
            <a:avLst/>
            <a:gdLst/>
            <a:ahLst/>
            <a:cxnLst/>
            <a:rect l="l" t="t" r="r" b="b"/>
            <a:pathLst>
              <a:path w="838200" h="17145">
                <a:moveTo>
                  <a:pt x="0" y="0"/>
                </a:moveTo>
                <a:lnTo>
                  <a:pt x="838200" y="16764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647444" y="3684270"/>
            <a:ext cx="114300" cy="647700"/>
          </a:xfrm>
          <a:custGeom>
            <a:avLst/>
            <a:gdLst/>
            <a:ahLst/>
            <a:cxnLst/>
            <a:rect l="l" t="t" r="r" b="b"/>
            <a:pathLst>
              <a:path w="114300" h="647700">
                <a:moveTo>
                  <a:pt x="38100" y="457199"/>
                </a:moveTo>
                <a:lnTo>
                  <a:pt x="0" y="457199"/>
                </a:lnTo>
                <a:lnTo>
                  <a:pt x="57150" y="647699"/>
                </a:lnTo>
                <a:lnTo>
                  <a:pt x="108585" y="476249"/>
                </a:lnTo>
                <a:lnTo>
                  <a:pt x="38100" y="476249"/>
                </a:lnTo>
                <a:lnTo>
                  <a:pt x="38100" y="457199"/>
                </a:lnTo>
                <a:close/>
              </a:path>
              <a:path w="114300" h="647700">
                <a:moveTo>
                  <a:pt x="76200" y="0"/>
                </a:moveTo>
                <a:lnTo>
                  <a:pt x="38100" y="0"/>
                </a:lnTo>
                <a:lnTo>
                  <a:pt x="38100" y="476249"/>
                </a:lnTo>
                <a:lnTo>
                  <a:pt x="76200" y="476249"/>
                </a:lnTo>
                <a:lnTo>
                  <a:pt x="76200" y="0"/>
                </a:lnTo>
                <a:close/>
              </a:path>
              <a:path w="114300" h="647700">
                <a:moveTo>
                  <a:pt x="114300" y="457199"/>
                </a:moveTo>
                <a:lnTo>
                  <a:pt x="76200" y="457199"/>
                </a:lnTo>
                <a:lnTo>
                  <a:pt x="76200" y="476249"/>
                </a:lnTo>
                <a:lnTo>
                  <a:pt x="108585" y="476249"/>
                </a:lnTo>
                <a:lnTo>
                  <a:pt x="114300" y="457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695448" y="2922473"/>
            <a:ext cx="52514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15917" y="5755385"/>
            <a:ext cx="4386580" cy="523240"/>
          </a:xfrm>
          <a:prstGeom prst="rect">
            <a:avLst/>
          </a:prstGeom>
          <a:ln w="38100">
            <a:solidFill>
              <a:srgbClr val="FF66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97840">
              <a:lnSpc>
                <a:spcPts val="3625"/>
              </a:lnSpc>
              <a:tabLst>
                <a:tab pos="1389380" algn="l"/>
                <a:tab pos="1840230" algn="l"/>
                <a:tab pos="2686685" algn="l"/>
                <a:tab pos="3758565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Wingdings 3"/>
                <a:cs typeface="Wingdings 3"/>
              </a:rPr>
              <a:t>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if	(E)	then	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S1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22183" y="4958588"/>
            <a:ext cx="1042669" cy="857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279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E.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fal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  <a:p>
            <a:pPr marL="279400">
              <a:lnSpc>
                <a:spcPts val="3279"/>
              </a:lnSpc>
            </a:pPr>
            <a:r>
              <a:rPr dirty="0" sz="2800" spc="-5" b="1">
                <a:solidFill>
                  <a:srgbClr val="FFFF00"/>
                </a:solidFill>
                <a:latin typeface="Wingdings 3"/>
                <a:cs typeface="Wingdings 3"/>
              </a:rPr>
              <a:t></a:t>
            </a:r>
            <a:endParaRPr sz="2800">
              <a:latin typeface="Wingdings 3"/>
              <a:cs typeface="Wingdings 3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914900" y="1331975"/>
            <a:ext cx="1786255" cy="749935"/>
          </a:xfrm>
          <a:custGeom>
            <a:avLst/>
            <a:gdLst/>
            <a:ahLst/>
            <a:cxnLst/>
            <a:rect l="l" t="t" r="r" b="b"/>
            <a:pathLst>
              <a:path w="1786254" h="749935">
                <a:moveTo>
                  <a:pt x="0" y="749808"/>
                </a:moveTo>
                <a:lnTo>
                  <a:pt x="1786127" y="749808"/>
                </a:lnTo>
                <a:lnTo>
                  <a:pt x="1786127" y="0"/>
                </a:lnTo>
                <a:lnTo>
                  <a:pt x="0" y="0"/>
                </a:lnTo>
                <a:lnTo>
                  <a:pt x="0" y="749808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070728" y="1504899"/>
            <a:ext cx="53530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测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914900" y="2066544"/>
            <a:ext cx="1786255" cy="749935"/>
          </a:xfrm>
          <a:custGeom>
            <a:avLst/>
            <a:gdLst/>
            <a:ahLst/>
            <a:cxnLst/>
            <a:rect l="l" t="t" r="r" b="b"/>
            <a:pathLst>
              <a:path w="1786254" h="749935">
                <a:moveTo>
                  <a:pt x="0" y="749808"/>
                </a:moveTo>
                <a:lnTo>
                  <a:pt x="1786127" y="749808"/>
                </a:lnTo>
                <a:lnTo>
                  <a:pt x="1786127" y="0"/>
                </a:lnTo>
                <a:lnTo>
                  <a:pt x="0" y="0"/>
                </a:lnTo>
                <a:lnTo>
                  <a:pt x="0" y="749808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070728" y="2235530"/>
            <a:ext cx="10166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S1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code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914900" y="2804160"/>
            <a:ext cx="0" cy="897890"/>
          </a:xfrm>
          <a:custGeom>
            <a:avLst/>
            <a:gdLst/>
            <a:ahLst/>
            <a:cxnLst/>
            <a:rect l="l" t="t" r="r" b="b"/>
            <a:pathLst>
              <a:path w="0" h="897889">
                <a:moveTo>
                  <a:pt x="0" y="0"/>
                </a:moveTo>
                <a:lnTo>
                  <a:pt x="0" y="897635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694931" y="2804160"/>
            <a:ext cx="0" cy="897890"/>
          </a:xfrm>
          <a:custGeom>
            <a:avLst/>
            <a:gdLst/>
            <a:ahLst/>
            <a:cxnLst/>
            <a:rect l="l" t="t" r="r" b="b"/>
            <a:pathLst>
              <a:path w="0" h="897889">
                <a:moveTo>
                  <a:pt x="0" y="0"/>
                </a:moveTo>
                <a:lnTo>
                  <a:pt x="0" y="897635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326760" y="3074289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43350" y="2873502"/>
            <a:ext cx="9994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FFFF"/>
                </a:solidFill>
                <a:latin typeface="Times New Roman"/>
                <a:cs typeface="Times New Roman"/>
              </a:rPr>
              <a:t>E.false: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39659" y="1525270"/>
            <a:ext cx="16173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Goto</a:t>
            </a:r>
            <a:r>
              <a:rPr dirty="0" sz="2400" spc="-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E.false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454140" y="1668779"/>
            <a:ext cx="946785" cy="76200"/>
          </a:xfrm>
          <a:custGeom>
            <a:avLst/>
            <a:gdLst/>
            <a:ahLst/>
            <a:cxnLst/>
            <a:rect l="l" t="t" r="r" b="b"/>
            <a:pathLst>
              <a:path w="946784" h="76200">
                <a:moveTo>
                  <a:pt x="870204" y="0"/>
                </a:moveTo>
                <a:lnTo>
                  <a:pt x="870204" y="76200"/>
                </a:lnTo>
                <a:lnTo>
                  <a:pt x="933704" y="44450"/>
                </a:lnTo>
                <a:lnTo>
                  <a:pt x="882904" y="44450"/>
                </a:lnTo>
                <a:lnTo>
                  <a:pt x="882904" y="31750"/>
                </a:lnTo>
                <a:lnTo>
                  <a:pt x="933704" y="31750"/>
                </a:lnTo>
                <a:lnTo>
                  <a:pt x="870204" y="0"/>
                </a:lnTo>
                <a:close/>
              </a:path>
              <a:path w="946784" h="76200">
                <a:moveTo>
                  <a:pt x="870204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870204" y="44450"/>
                </a:lnTo>
                <a:lnTo>
                  <a:pt x="870204" y="31750"/>
                </a:lnTo>
                <a:close/>
              </a:path>
              <a:path w="946784" h="76200">
                <a:moveTo>
                  <a:pt x="933704" y="31750"/>
                </a:moveTo>
                <a:lnTo>
                  <a:pt x="882904" y="31750"/>
                </a:lnTo>
                <a:lnTo>
                  <a:pt x="882904" y="44450"/>
                </a:lnTo>
                <a:lnTo>
                  <a:pt x="933704" y="44450"/>
                </a:lnTo>
                <a:lnTo>
                  <a:pt x="946404" y="38100"/>
                </a:lnTo>
                <a:lnTo>
                  <a:pt x="933704" y="31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914900" y="582168"/>
            <a:ext cx="1786255" cy="749935"/>
          </a:xfrm>
          <a:custGeom>
            <a:avLst/>
            <a:gdLst/>
            <a:ahLst/>
            <a:cxnLst/>
            <a:rect l="l" t="t" r="r" b="b"/>
            <a:pathLst>
              <a:path w="1786254" h="749935">
                <a:moveTo>
                  <a:pt x="0" y="749808"/>
                </a:moveTo>
                <a:lnTo>
                  <a:pt x="1786127" y="749808"/>
                </a:lnTo>
                <a:lnTo>
                  <a:pt x="1786127" y="0"/>
                </a:lnTo>
                <a:lnTo>
                  <a:pt x="0" y="0"/>
                </a:lnTo>
                <a:lnTo>
                  <a:pt x="0" y="749808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070728" y="750773"/>
            <a:ext cx="89725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E.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co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9214" y="3140201"/>
            <a:ext cx="1593215" cy="24784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28395"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E?</a:t>
            </a:r>
            <a:endParaRPr sz="2600">
              <a:latin typeface="Times New Roman"/>
              <a:cs typeface="Times New Roman"/>
            </a:endParaRPr>
          </a:p>
          <a:p>
            <a:pPr marL="861694">
              <a:lnSpc>
                <a:spcPct val="100000"/>
              </a:lnSpc>
              <a:spcBef>
                <a:spcPts val="1995"/>
              </a:spcBef>
            </a:pP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非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600">
              <a:latin typeface="Times New Roman"/>
              <a:cs typeface="Times New Roman"/>
            </a:endParaRPr>
          </a:p>
          <a:p>
            <a:pPr marL="1203325">
              <a:lnSpc>
                <a:spcPct val="100000"/>
              </a:lnSpc>
              <a:spcBef>
                <a:spcPts val="187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S1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00"/>
              </a:spcBef>
            </a:pP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E.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false</a:t>
            </a:r>
            <a:r>
              <a:rPr dirty="0" sz="2600" b="1">
                <a:solidFill>
                  <a:srgbClr val="00FFFF"/>
                </a:solidFill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47472" y="5172455"/>
            <a:ext cx="1335405" cy="536575"/>
          </a:xfrm>
          <a:custGeom>
            <a:avLst/>
            <a:gdLst/>
            <a:ahLst/>
            <a:cxnLst/>
            <a:rect l="l" t="t" r="r" b="b"/>
            <a:pathLst>
              <a:path w="1335405" h="536575">
                <a:moveTo>
                  <a:pt x="0" y="268224"/>
                </a:moveTo>
                <a:lnTo>
                  <a:pt x="12036" y="217270"/>
                </a:lnTo>
                <a:lnTo>
                  <a:pt x="46653" y="169537"/>
                </a:lnTo>
                <a:lnTo>
                  <a:pt x="101612" y="125926"/>
                </a:lnTo>
                <a:lnTo>
                  <a:pt x="136021" y="105947"/>
                </a:lnTo>
                <a:lnTo>
                  <a:pt x="174677" y="87337"/>
                </a:lnTo>
                <a:lnTo>
                  <a:pt x="217299" y="70208"/>
                </a:lnTo>
                <a:lnTo>
                  <a:pt x="263608" y="54673"/>
                </a:lnTo>
                <a:lnTo>
                  <a:pt x="313325" y="40843"/>
                </a:lnTo>
                <a:lnTo>
                  <a:pt x="366169" y="28832"/>
                </a:lnTo>
                <a:lnTo>
                  <a:pt x="421861" y="18753"/>
                </a:lnTo>
                <a:lnTo>
                  <a:pt x="480121" y="10717"/>
                </a:lnTo>
                <a:lnTo>
                  <a:pt x="540669" y="4838"/>
                </a:lnTo>
                <a:lnTo>
                  <a:pt x="603226" y="1228"/>
                </a:lnTo>
                <a:lnTo>
                  <a:pt x="667512" y="0"/>
                </a:lnTo>
                <a:lnTo>
                  <a:pt x="731801" y="1228"/>
                </a:lnTo>
                <a:lnTo>
                  <a:pt x="794361" y="4838"/>
                </a:lnTo>
                <a:lnTo>
                  <a:pt x="854911" y="10717"/>
                </a:lnTo>
                <a:lnTo>
                  <a:pt x="913173" y="18753"/>
                </a:lnTo>
                <a:lnTo>
                  <a:pt x="968865" y="28832"/>
                </a:lnTo>
                <a:lnTo>
                  <a:pt x="1021709" y="40843"/>
                </a:lnTo>
                <a:lnTo>
                  <a:pt x="1071425" y="54673"/>
                </a:lnTo>
                <a:lnTo>
                  <a:pt x="1117734" y="70208"/>
                </a:lnTo>
                <a:lnTo>
                  <a:pt x="1160355" y="87337"/>
                </a:lnTo>
                <a:lnTo>
                  <a:pt x="1199009" y="105947"/>
                </a:lnTo>
                <a:lnTo>
                  <a:pt x="1233417" y="125926"/>
                </a:lnTo>
                <a:lnTo>
                  <a:pt x="1288374" y="169537"/>
                </a:lnTo>
                <a:lnTo>
                  <a:pt x="1322988" y="217270"/>
                </a:lnTo>
                <a:lnTo>
                  <a:pt x="1335023" y="268224"/>
                </a:lnTo>
                <a:lnTo>
                  <a:pt x="1331968" y="294055"/>
                </a:lnTo>
                <a:lnTo>
                  <a:pt x="1308363" y="343521"/>
                </a:lnTo>
                <a:lnTo>
                  <a:pt x="1263298" y="389310"/>
                </a:lnTo>
                <a:lnTo>
                  <a:pt x="1199009" y="430521"/>
                </a:lnTo>
                <a:lnTo>
                  <a:pt x="1160355" y="449130"/>
                </a:lnTo>
                <a:lnTo>
                  <a:pt x="1117734" y="466257"/>
                </a:lnTo>
                <a:lnTo>
                  <a:pt x="1071425" y="481789"/>
                </a:lnTo>
                <a:lnTo>
                  <a:pt x="1021709" y="495616"/>
                </a:lnTo>
                <a:lnTo>
                  <a:pt x="968865" y="507624"/>
                </a:lnTo>
                <a:lnTo>
                  <a:pt x="913173" y="517701"/>
                </a:lnTo>
                <a:lnTo>
                  <a:pt x="854911" y="525734"/>
                </a:lnTo>
                <a:lnTo>
                  <a:pt x="794361" y="531611"/>
                </a:lnTo>
                <a:lnTo>
                  <a:pt x="731801" y="535220"/>
                </a:lnTo>
                <a:lnTo>
                  <a:pt x="667512" y="536448"/>
                </a:lnTo>
                <a:lnTo>
                  <a:pt x="603226" y="535220"/>
                </a:lnTo>
                <a:lnTo>
                  <a:pt x="540669" y="531611"/>
                </a:lnTo>
                <a:lnTo>
                  <a:pt x="480121" y="525734"/>
                </a:lnTo>
                <a:lnTo>
                  <a:pt x="421861" y="517701"/>
                </a:lnTo>
                <a:lnTo>
                  <a:pt x="366169" y="507624"/>
                </a:lnTo>
                <a:lnTo>
                  <a:pt x="313325" y="495616"/>
                </a:lnTo>
                <a:lnTo>
                  <a:pt x="263608" y="481789"/>
                </a:lnTo>
                <a:lnTo>
                  <a:pt x="217299" y="466257"/>
                </a:lnTo>
                <a:lnTo>
                  <a:pt x="174677" y="449130"/>
                </a:lnTo>
                <a:lnTo>
                  <a:pt x="136021" y="430521"/>
                </a:lnTo>
                <a:lnTo>
                  <a:pt x="101612" y="410544"/>
                </a:lnTo>
                <a:lnTo>
                  <a:pt x="46653" y="366931"/>
                </a:lnTo>
                <a:lnTo>
                  <a:pt x="12036" y="319191"/>
                </a:lnTo>
                <a:lnTo>
                  <a:pt x="0" y="268224"/>
                </a:lnTo>
                <a:close/>
              </a:path>
            </a:pathLst>
          </a:custGeom>
          <a:ln w="5715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247" y="0"/>
            <a:ext cx="8390890" cy="4570730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  <a:tabLst>
                <a:tab pos="655955" algn="l"/>
                <a:tab pos="3784600" algn="l"/>
                <a:tab pos="4292600" algn="l"/>
                <a:tab pos="56959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700">
              <a:latin typeface="宋体"/>
              <a:cs typeface="宋体"/>
            </a:endParaRPr>
          </a:p>
          <a:p>
            <a:pPr marL="474980" indent="-317500">
              <a:lnSpc>
                <a:spcPct val="100000"/>
              </a:lnSpc>
              <a:buClr>
                <a:srgbClr val="66FFFF"/>
              </a:buClr>
              <a:buSzPct val="114062"/>
              <a:buFont typeface="Wingdings"/>
              <a:buChar char=""/>
              <a:tabLst>
                <a:tab pos="47561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条件语句</a:t>
            </a:r>
            <a:r>
              <a:rPr dirty="0" sz="3200" b="1">
                <a:solidFill>
                  <a:srgbClr val="FF9933"/>
                </a:solidFill>
                <a:latin typeface="宋体"/>
                <a:cs typeface="宋体"/>
              </a:rPr>
              <a:t>①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翻译的语义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子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程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序</a:t>
            </a:r>
            <a:endParaRPr sz="3200">
              <a:latin typeface="宋体"/>
              <a:cs typeface="宋体"/>
            </a:endParaRPr>
          </a:p>
          <a:p>
            <a:pPr marL="571500">
              <a:lnSpc>
                <a:spcPct val="100000"/>
              </a:lnSpc>
              <a:spcBef>
                <a:spcPts val="366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 →if E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then</a:t>
            </a:r>
            <a:r>
              <a:rPr dirty="0" sz="32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S1</a:t>
            </a:r>
            <a:endParaRPr sz="3200">
              <a:latin typeface="Times New Roman"/>
              <a:cs typeface="Times New Roman"/>
            </a:endParaRPr>
          </a:p>
          <a:p>
            <a:pPr marL="647700" marR="1518285" indent="-178435">
              <a:lnSpc>
                <a:spcPct val="140000"/>
              </a:lnSpc>
              <a:spcBef>
                <a:spcPts val="6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E.false=newlabel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；  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S.code=E.code|GEN(jF</a:t>
            </a:r>
            <a:r>
              <a:rPr dirty="0" sz="2800" spc="-7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E.false)|</a:t>
            </a:r>
            <a:endParaRPr sz="2800">
              <a:latin typeface="Times New Roman"/>
              <a:cs typeface="Times New Roman"/>
            </a:endParaRPr>
          </a:p>
          <a:p>
            <a:pPr marL="2958465" marR="2616200">
              <a:lnSpc>
                <a:spcPct val="140000"/>
              </a:lnSpc>
              <a:spcBef>
                <a:spcPts val="5"/>
              </a:spcBef>
            </a:pP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S1.code|  GEN(E.false'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：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')</a:t>
            </a:r>
            <a:r>
              <a:rPr dirty="0" sz="2800" spc="-45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247" y="26923"/>
            <a:ext cx="34855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05783" y="26923"/>
            <a:ext cx="46183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  <a:tab pos="192341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15917" y="5755385"/>
            <a:ext cx="3953510" cy="523240"/>
          </a:xfrm>
          <a:custGeom>
            <a:avLst/>
            <a:gdLst/>
            <a:ahLst/>
            <a:cxnLst/>
            <a:rect l="l" t="t" r="r" b="b"/>
            <a:pathLst>
              <a:path w="3953509" h="523239">
                <a:moveTo>
                  <a:pt x="0" y="522731"/>
                </a:moveTo>
                <a:lnTo>
                  <a:pt x="3953255" y="522731"/>
                </a:lnTo>
                <a:lnTo>
                  <a:pt x="3953255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994150" y="5714491"/>
            <a:ext cx="312039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2915" algn="l"/>
                <a:tab pos="1209675" algn="l"/>
                <a:tab pos="1840230" algn="l"/>
                <a:tab pos="267716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(E)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else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69897" y="1843277"/>
            <a:ext cx="1370330" cy="494030"/>
          </a:xfrm>
          <a:custGeom>
            <a:avLst/>
            <a:gdLst/>
            <a:ahLst/>
            <a:cxnLst/>
            <a:rect l="l" t="t" r="r" b="b"/>
            <a:pathLst>
              <a:path w="1370330" h="494030">
                <a:moveTo>
                  <a:pt x="0" y="493775"/>
                </a:moveTo>
                <a:lnTo>
                  <a:pt x="1370076" y="493775"/>
                </a:lnTo>
                <a:lnTo>
                  <a:pt x="1370076" y="0"/>
                </a:lnTo>
                <a:lnTo>
                  <a:pt x="0" y="0"/>
                </a:lnTo>
                <a:lnTo>
                  <a:pt x="0" y="493775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732533" y="1888312"/>
            <a:ext cx="84201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计算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67433" y="3080766"/>
            <a:ext cx="1370330" cy="619125"/>
          </a:xfrm>
          <a:custGeom>
            <a:avLst/>
            <a:gdLst/>
            <a:ahLst/>
            <a:cxnLst/>
            <a:rect l="l" t="t" r="r" b="b"/>
            <a:pathLst>
              <a:path w="1370330" h="619125">
                <a:moveTo>
                  <a:pt x="0" y="309372"/>
                </a:moveTo>
                <a:lnTo>
                  <a:pt x="685038" y="0"/>
                </a:lnTo>
                <a:lnTo>
                  <a:pt x="1370076" y="309372"/>
                </a:lnTo>
                <a:lnTo>
                  <a:pt x="685038" y="618744"/>
                </a:lnTo>
                <a:lnTo>
                  <a:pt x="0" y="309372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061717" y="3183458"/>
            <a:ext cx="38036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E?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18282" y="3947921"/>
            <a:ext cx="1079500" cy="617220"/>
          </a:xfrm>
          <a:custGeom>
            <a:avLst/>
            <a:gdLst/>
            <a:ahLst/>
            <a:cxnLst/>
            <a:rect l="l" t="t" r="r" b="b"/>
            <a:pathLst>
              <a:path w="1079500" h="617220">
                <a:moveTo>
                  <a:pt x="0" y="617219"/>
                </a:moveTo>
                <a:lnTo>
                  <a:pt x="1078992" y="617219"/>
                </a:lnTo>
                <a:lnTo>
                  <a:pt x="1078992" y="0"/>
                </a:lnTo>
                <a:lnTo>
                  <a:pt x="0" y="0"/>
                </a:lnTo>
                <a:lnTo>
                  <a:pt x="0" y="617219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098548" y="1347977"/>
            <a:ext cx="114300" cy="495300"/>
          </a:xfrm>
          <a:custGeom>
            <a:avLst/>
            <a:gdLst/>
            <a:ahLst/>
            <a:cxnLst/>
            <a:rect l="l" t="t" r="r" b="b"/>
            <a:pathLst>
              <a:path w="114300" h="495300">
                <a:moveTo>
                  <a:pt x="38100" y="381000"/>
                </a:moveTo>
                <a:lnTo>
                  <a:pt x="0" y="381000"/>
                </a:lnTo>
                <a:lnTo>
                  <a:pt x="57150" y="495300"/>
                </a:lnTo>
                <a:lnTo>
                  <a:pt x="104775" y="400050"/>
                </a:lnTo>
                <a:lnTo>
                  <a:pt x="38100" y="400050"/>
                </a:lnTo>
                <a:lnTo>
                  <a:pt x="38100" y="381000"/>
                </a:lnTo>
                <a:close/>
              </a:path>
              <a:path w="114300" h="495300">
                <a:moveTo>
                  <a:pt x="76200" y="0"/>
                </a:moveTo>
                <a:lnTo>
                  <a:pt x="38100" y="0"/>
                </a:lnTo>
                <a:lnTo>
                  <a:pt x="38100" y="400050"/>
                </a:lnTo>
                <a:lnTo>
                  <a:pt x="76200" y="400050"/>
                </a:lnTo>
                <a:lnTo>
                  <a:pt x="76200" y="0"/>
                </a:lnTo>
                <a:close/>
              </a:path>
              <a:path w="114300" h="495300">
                <a:moveTo>
                  <a:pt x="114300" y="381000"/>
                </a:moveTo>
                <a:lnTo>
                  <a:pt x="76200" y="381000"/>
                </a:lnTo>
                <a:lnTo>
                  <a:pt x="76200" y="400050"/>
                </a:lnTo>
                <a:lnTo>
                  <a:pt x="104775" y="400050"/>
                </a:lnTo>
                <a:lnTo>
                  <a:pt x="114300" y="381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194560" y="2337054"/>
            <a:ext cx="114300" cy="744220"/>
          </a:xfrm>
          <a:custGeom>
            <a:avLst/>
            <a:gdLst/>
            <a:ahLst/>
            <a:cxnLst/>
            <a:rect l="l" t="t" r="r" b="b"/>
            <a:pathLst>
              <a:path w="114300" h="744219">
                <a:moveTo>
                  <a:pt x="38100" y="629412"/>
                </a:moveTo>
                <a:lnTo>
                  <a:pt x="0" y="629412"/>
                </a:lnTo>
                <a:lnTo>
                  <a:pt x="57150" y="743712"/>
                </a:lnTo>
                <a:lnTo>
                  <a:pt x="104775" y="648462"/>
                </a:lnTo>
                <a:lnTo>
                  <a:pt x="38100" y="648462"/>
                </a:lnTo>
                <a:lnTo>
                  <a:pt x="38100" y="629412"/>
                </a:lnTo>
                <a:close/>
              </a:path>
              <a:path w="114300" h="744219">
                <a:moveTo>
                  <a:pt x="76200" y="0"/>
                </a:moveTo>
                <a:lnTo>
                  <a:pt x="38100" y="0"/>
                </a:lnTo>
                <a:lnTo>
                  <a:pt x="38100" y="648462"/>
                </a:lnTo>
                <a:lnTo>
                  <a:pt x="76200" y="648462"/>
                </a:lnTo>
                <a:lnTo>
                  <a:pt x="76200" y="0"/>
                </a:lnTo>
                <a:close/>
              </a:path>
              <a:path w="114300" h="744219">
                <a:moveTo>
                  <a:pt x="114300" y="629412"/>
                </a:moveTo>
                <a:lnTo>
                  <a:pt x="76200" y="629412"/>
                </a:lnTo>
                <a:lnTo>
                  <a:pt x="76200" y="648462"/>
                </a:lnTo>
                <a:lnTo>
                  <a:pt x="104775" y="648462"/>
                </a:lnTo>
                <a:lnTo>
                  <a:pt x="114300" y="6294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623309" y="4565141"/>
            <a:ext cx="0" cy="372110"/>
          </a:xfrm>
          <a:custGeom>
            <a:avLst/>
            <a:gdLst/>
            <a:ahLst/>
            <a:cxnLst/>
            <a:rect l="l" t="t" r="r" b="b"/>
            <a:pathLst>
              <a:path w="0" h="372110">
                <a:moveTo>
                  <a:pt x="0" y="0"/>
                </a:moveTo>
                <a:lnTo>
                  <a:pt x="0" y="371855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483864" y="3368802"/>
            <a:ext cx="114300" cy="548640"/>
          </a:xfrm>
          <a:custGeom>
            <a:avLst/>
            <a:gdLst/>
            <a:ahLst/>
            <a:cxnLst/>
            <a:rect l="l" t="t" r="r" b="b"/>
            <a:pathLst>
              <a:path w="114300" h="548639">
                <a:moveTo>
                  <a:pt x="38100" y="434340"/>
                </a:moveTo>
                <a:lnTo>
                  <a:pt x="0" y="434340"/>
                </a:lnTo>
                <a:lnTo>
                  <a:pt x="57150" y="548640"/>
                </a:lnTo>
                <a:lnTo>
                  <a:pt x="104775" y="453390"/>
                </a:lnTo>
                <a:lnTo>
                  <a:pt x="38100" y="453390"/>
                </a:lnTo>
                <a:lnTo>
                  <a:pt x="38100" y="434340"/>
                </a:lnTo>
                <a:close/>
              </a:path>
              <a:path w="114300" h="548639">
                <a:moveTo>
                  <a:pt x="76200" y="0"/>
                </a:moveTo>
                <a:lnTo>
                  <a:pt x="38100" y="0"/>
                </a:lnTo>
                <a:lnTo>
                  <a:pt x="38100" y="453390"/>
                </a:lnTo>
                <a:lnTo>
                  <a:pt x="76200" y="453390"/>
                </a:lnTo>
                <a:lnTo>
                  <a:pt x="76200" y="0"/>
                </a:lnTo>
                <a:close/>
              </a:path>
              <a:path w="114300" h="548639">
                <a:moveTo>
                  <a:pt x="114300" y="434340"/>
                </a:moveTo>
                <a:lnTo>
                  <a:pt x="76200" y="434340"/>
                </a:lnTo>
                <a:lnTo>
                  <a:pt x="76200" y="453390"/>
                </a:lnTo>
                <a:lnTo>
                  <a:pt x="104775" y="453390"/>
                </a:lnTo>
                <a:lnTo>
                  <a:pt x="114300" y="4343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382771" y="3302073"/>
            <a:ext cx="1193800" cy="1139190"/>
          </a:xfrm>
          <a:prstGeom prst="rect">
            <a:avLst/>
          </a:prstGeom>
        </p:spPr>
        <p:txBody>
          <a:bodyPr wrap="square" lIns="0" tIns="203835" rIns="0" bIns="0" rtlCol="0" vert="horz">
            <a:spAutoFit/>
          </a:bodyPr>
          <a:lstStyle/>
          <a:p>
            <a:pPr marL="257175">
              <a:lnSpc>
                <a:spcPct val="100000"/>
              </a:lnSpc>
              <a:spcBef>
                <a:spcPts val="1605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E.true: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S1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-16357" y="3534917"/>
            <a:ext cx="9994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FFFF"/>
                </a:solidFill>
                <a:latin typeface="Times New Roman"/>
                <a:cs typeface="Times New Roman"/>
              </a:rPr>
              <a:t>E.false: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34970" y="3023361"/>
            <a:ext cx="6038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2400" spc="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非</a:t>
            </a:r>
            <a:r>
              <a:rPr dirty="0" u="heavy" sz="24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heavy" sz="2400" spc="-26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99997" y="3038932"/>
            <a:ext cx="55181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24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400" spc="-229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4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=</a:t>
            </a:r>
            <a:r>
              <a:rPr dirty="0" u="heavy" sz="2400" spc="-9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4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23494" y="3926585"/>
            <a:ext cx="1076325" cy="617220"/>
          </a:xfrm>
          <a:custGeom>
            <a:avLst/>
            <a:gdLst/>
            <a:ahLst/>
            <a:cxnLst/>
            <a:rect l="l" t="t" r="r" b="b"/>
            <a:pathLst>
              <a:path w="1076325" h="617220">
                <a:moveTo>
                  <a:pt x="0" y="617219"/>
                </a:moveTo>
                <a:lnTo>
                  <a:pt x="1075944" y="617219"/>
                </a:lnTo>
                <a:lnTo>
                  <a:pt x="1075944" y="0"/>
                </a:lnTo>
                <a:lnTo>
                  <a:pt x="0" y="0"/>
                </a:lnTo>
                <a:lnTo>
                  <a:pt x="0" y="617219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86764" y="4028897"/>
            <a:ext cx="34671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S2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55547" y="3412997"/>
            <a:ext cx="114300" cy="495300"/>
          </a:xfrm>
          <a:custGeom>
            <a:avLst/>
            <a:gdLst/>
            <a:ahLst/>
            <a:cxnLst/>
            <a:rect l="l" t="t" r="r" b="b"/>
            <a:pathLst>
              <a:path w="114300" h="495300">
                <a:moveTo>
                  <a:pt x="38100" y="381000"/>
                </a:moveTo>
                <a:lnTo>
                  <a:pt x="0" y="381000"/>
                </a:lnTo>
                <a:lnTo>
                  <a:pt x="57150" y="495300"/>
                </a:lnTo>
                <a:lnTo>
                  <a:pt x="104775" y="400050"/>
                </a:lnTo>
                <a:lnTo>
                  <a:pt x="38100" y="400050"/>
                </a:lnTo>
                <a:lnTo>
                  <a:pt x="38100" y="381000"/>
                </a:lnTo>
                <a:close/>
              </a:path>
              <a:path w="114300" h="495300">
                <a:moveTo>
                  <a:pt x="76200" y="0"/>
                </a:moveTo>
                <a:lnTo>
                  <a:pt x="38100" y="0"/>
                </a:lnTo>
                <a:lnTo>
                  <a:pt x="38100" y="400050"/>
                </a:lnTo>
                <a:lnTo>
                  <a:pt x="76200" y="400050"/>
                </a:lnTo>
                <a:lnTo>
                  <a:pt x="76200" y="0"/>
                </a:lnTo>
                <a:close/>
              </a:path>
              <a:path w="114300" h="495300">
                <a:moveTo>
                  <a:pt x="114300" y="381000"/>
                </a:moveTo>
                <a:lnTo>
                  <a:pt x="76200" y="381000"/>
                </a:lnTo>
                <a:lnTo>
                  <a:pt x="76200" y="400050"/>
                </a:lnTo>
                <a:lnTo>
                  <a:pt x="104775" y="400050"/>
                </a:lnTo>
                <a:lnTo>
                  <a:pt x="114300" y="381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80694" y="4915661"/>
            <a:ext cx="2642870" cy="0"/>
          </a:xfrm>
          <a:custGeom>
            <a:avLst/>
            <a:gdLst/>
            <a:ahLst/>
            <a:cxnLst/>
            <a:rect l="l" t="t" r="r" b="b"/>
            <a:pathLst>
              <a:path w="2642870" h="0">
                <a:moveTo>
                  <a:pt x="0" y="0"/>
                </a:moveTo>
                <a:lnTo>
                  <a:pt x="2642616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92886" y="4543805"/>
            <a:ext cx="0" cy="372110"/>
          </a:xfrm>
          <a:custGeom>
            <a:avLst/>
            <a:gdLst/>
            <a:ahLst/>
            <a:cxnLst/>
            <a:rect l="l" t="t" r="r" b="b"/>
            <a:pathLst>
              <a:path w="0" h="372110">
                <a:moveTo>
                  <a:pt x="0" y="371856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129027" y="4915661"/>
            <a:ext cx="114300" cy="495300"/>
          </a:xfrm>
          <a:custGeom>
            <a:avLst/>
            <a:gdLst/>
            <a:ahLst/>
            <a:cxnLst/>
            <a:rect l="l" t="t" r="r" b="b"/>
            <a:pathLst>
              <a:path w="114300" h="495300">
                <a:moveTo>
                  <a:pt x="38100" y="381000"/>
                </a:moveTo>
                <a:lnTo>
                  <a:pt x="0" y="381000"/>
                </a:lnTo>
                <a:lnTo>
                  <a:pt x="57150" y="495300"/>
                </a:lnTo>
                <a:lnTo>
                  <a:pt x="104775" y="400050"/>
                </a:lnTo>
                <a:lnTo>
                  <a:pt x="38100" y="400050"/>
                </a:lnTo>
                <a:lnTo>
                  <a:pt x="38100" y="381000"/>
                </a:lnTo>
                <a:close/>
              </a:path>
              <a:path w="114300" h="495300">
                <a:moveTo>
                  <a:pt x="76200" y="0"/>
                </a:moveTo>
                <a:lnTo>
                  <a:pt x="38100" y="0"/>
                </a:lnTo>
                <a:lnTo>
                  <a:pt x="38100" y="400050"/>
                </a:lnTo>
                <a:lnTo>
                  <a:pt x="76200" y="400050"/>
                </a:lnTo>
                <a:lnTo>
                  <a:pt x="76200" y="0"/>
                </a:lnTo>
                <a:close/>
              </a:path>
              <a:path w="114300" h="495300">
                <a:moveTo>
                  <a:pt x="114300" y="381000"/>
                </a:moveTo>
                <a:lnTo>
                  <a:pt x="76200" y="381000"/>
                </a:lnTo>
                <a:lnTo>
                  <a:pt x="76200" y="400050"/>
                </a:lnTo>
                <a:lnTo>
                  <a:pt x="104775" y="400050"/>
                </a:lnTo>
                <a:lnTo>
                  <a:pt x="114300" y="381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265045" y="4957013"/>
            <a:ext cx="737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Next: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61103" y="4902454"/>
            <a:ext cx="2290445" cy="819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1391920" algn="l"/>
              </a:tabLst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E.true	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E.false</a:t>
            </a:r>
            <a:endParaRPr sz="2400">
              <a:latin typeface="Times New Roman"/>
              <a:cs typeface="Times New Roman"/>
            </a:endParaRPr>
          </a:p>
          <a:p>
            <a:pPr algn="ctr" marL="36195">
              <a:lnSpc>
                <a:spcPct val="100000"/>
              </a:lnSpc>
              <a:spcBef>
                <a:spcPts val="5"/>
              </a:spcBef>
              <a:tabLst>
                <a:tab pos="1461770" algn="l"/>
              </a:tabLst>
            </a:pPr>
            <a:r>
              <a:rPr dirty="0" sz="2800" spc="-10" b="1">
                <a:solidFill>
                  <a:srgbClr val="FFFF00"/>
                </a:solidFill>
                <a:latin typeface="Wingdings 3"/>
                <a:cs typeface="Wingdings 3"/>
              </a:rPr>
              <a:t></a:t>
            </a:r>
            <a:r>
              <a:rPr dirty="0" sz="2800" spc="-1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baseline="-2976" sz="4200" spc="-7" b="1">
                <a:solidFill>
                  <a:srgbClr val="FFFF00"/>
                </a:solidFill>
                <a:latin typeface="Wingdings 3"/>
                <a:cs typeface="Wingdings 3"/>
              </a:rPr>
              <a:t></a:t>
            </a:r>
            <a:endParaRPr baseline="-2976" sz="4200">
              <a:latin typeface="Wingdings 3"/>
              <a:cs typeface="Wingdings 3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14056" y="4899405"/>
            <a:ext cx="647700" cy="8267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Next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2800" spc="-10" b="1">
                <a:solidFill>
                  <a:srgbClr val="FFFF00"/>
                </a:solidFill>
                <a:latin typeface="Wingdings 3"/>
                <a:cs typeface="Wingdings 3"/>
              </a:rPr>
              <a:t></a:t>
            </a:r>
            <a:endParaRPr sz="2800">
              <a:latin typeface="Wingdings 3"/>
              <a:cs typeface="Wingdings 3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458967" y="1281683"/>
            <a:ext cx="1666239" cy="619125"/>
          </a:xfrm>
          <a:custGeom>
            <a:avLst/>
            <a:gdLst/>
            <a:ahLst/>
            <a:cxnLst/>
            <a:rect l="l" t="t" r="r" b="b"/>
            <a:pathLst>
              <a:path w="1666240" h="619125">
                <a:moveTo>
                  <a:pt x="0" y="618744"/>
                </a:moveTo>
                <a:lnTo>
                  <a:pt x="1665732" y="618744"/>
                </a:lnTo>
                <a:lnTo>
                  <a:pt x="1665732" y="0"/>
                </a:lnTo>
                <a:lnTo>
                  <a:pt x="0" y="0"/>
                </a:lnTo>
                <a:lnTo>
                  <a:pt x="0" y="618744"/>
                </a:lnTo>
                <a:close/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458967" y="1920239"/>
            <a:ext cx="1666239" cy="619125"/>
          </a:xfrm>
          <a:custGeom>
            <a:avLst/>
            <a:gdLst/>
            <a:ahLst/>
            <a:cxnLst/>
            <a:rect l="l" t="t" r="r" b="b"/>
            <a:pathLst>
              <a:path w="1666240" h="619125">
                <a:moveTo>
                  <a:pt x="0" y="618743"/>
                </a:moveTo>
                <a:lnTo>
                  <a:pt x="1665732" y="618743"/>
                </a:lnTo>
                <a:lnTo>
                  <a:pt x="1665732" y="0"/>
                </a:lnTo>
                <a:lnTo>
                  <a:pt x="0" y="0"/>
                </a:lnTo>
                <a:lnTo>
                  <a:pt x="0" y="618743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615178" y="2023998"/>
            <a:ext cx="101726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S1.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ode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458967" y="3776471"/>
            <a:ext cx="0" cy="742315"/>
          </a:xfrm>
          <a:custGeom>
            <a:avLst/>
            <a:gdLst/>
            <a:ahLst/>
            <a:cxnLst/>
            <a:rect l="l" t="t" r="r" b="b"/>
            <a:pathLst>
              <a:path w="0" h="742314">
                <a:moveTo>
                  <a:pt x="0" y="0"/>
                </a:moveTo>
                <a:lnTo>
                  <a:pt x="0" y="742188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124700" y="3776471"/>
            <a:ext cx="0" cy="742315"/>
          </a:xfrm>
          <a:custGeom>
            <a:avLst/>
            <a:gdLst/>
            <a:ahLst/>
            <a:cxnLst/>
            <a:rect l="l" t="t" r="r" b="b"/>
            <a:pathLst>
              <a:path w="0" h="742314">
                <a:moveTo>
                  <a:pt x="0" y="0"/>
                </a:moveTo>
                <a:lnTo>
                  <a:pt x="0" y="742188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5834253" y="3964304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481576" y="1837766"/>
            <a:ext cx="94932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E.true: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832092" y="1405127"/>
            <a:ext cx="523240" cy="76200"/>
          </a:xfrm>
          <a:custGeom>
            <a:avLst/>
            <a:gdLst/>
            <a:ahLst/>
            <a:cxnLst/>
            <a:rect l="l" t="t" r="r" b="b"/>
            <a:pathLst>
              <a:path w="523240" h="76200">
                <a:moveTo>
                  <a:pt x="446531" y="0"/>
                </a:moveTo>
                <a:lnTo>
                  <a:pt x="446531" y="76200"/>
                </a:lnTo>
                <a:lnTo>
                  <a:pt x="510031" y="44450"/>
                </a:lnTo>
                <a:lnTo>
                  <a:pt x="459231" y="44450"/>
                </a:lnTo>
                <a:lnTo>
                  <a:pt x="459231" y="31750"/>
                </a:lnTo>
                <a:lnTo>
                  <a:pt x="510031" y="31750"/>
                </a:lnTo>
                <a:lnTo>
                  <a:pt x="446531" y="0"/>
                </a:lnTo>
                <a:close/>
              </a:path>
              <a:path w="523240" h="76200">
                <a:moveTo>
                  <a:pt x="44653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46531" y="44450"/>
                </a:lnTo>
                <a:lnTo>
                  <a:pt x="446531" y="31750"/>
                </a:lnTo>
                <a:close/>
              </a:path>
              <a:path w="523240" h="76200">
                <a:moveTo>
                  <a:pt x="510031" y="31750"/>
                </a:moveTo>
                <a:lnTo>
                  <a:pt x="459231" y="31750"/>
                </a:lnTo>
                <a:lnTo>
                  <a:pt x="459231" y="44450"/>
                </a:lnTo>
                <a:lnTo>
                  <a:pt x="510031" y="44450"/>
                </a:lnTo>
                <a:lnTo>
                  <a:pt x="522731" y="38100"/>
                </a:lnTo>
                <a:lnTo>
                  <a:pt x="510031" y="317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832092" y="1761744"/>
            <a:ext cx="523240" cy="76200"/>
          </a:xfrm>
          <a:custGeom>
            <a:avLst/>
            <a:gdLst/>
            <a:ahLst/>
            <a:cxnLst/>
            <a:rect l="l" t="t" r="r" b="b"/>
            <a:pathLst>
              <a:path w="523240" h="76200">
                <a:moveTo>
                  <a:pt x="446531" y="0"/>
                </a:moveTo>
                <a:lnTo>
                  <a:pt x="446531" y="76200"/>
                </a:lnTo>
                <a:lnTo>
                  <a:pt x="510031" y="44450"/>
                </a:lnTo>
                <a:lnTo>
                  <a:pt x="459231" y="44450"/>
                </a:lnTo>
                <a:lnTo>
                  <a:pt x="459231" y="31750"/>
                </a:lnTo>
                <a:lnTo>
                  <a:pt x="510031" y="31750"/>
                </a:lnTo>
                <a:lnTo>
                  <a:pt x="446531" y="0"/>
                </a:lnTo>
                <a:close/>
              </a:path>
              <a:path w="523240" h="76200">
                <a:moveTo>
                  <a:pt x="44653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46531" y="44450"/>
                </a:lnTo>
                <a:lnTo>
                  <a:pt x="446531" y="31750"/>
                </a:lnTo>
                <a:close/>
              </a:path>
              <a:path w="523240" h="76200">
                <a:moveTo>
                  <a:pt x="510031" y="31750"/>
                </a:moveTo>
                <a:lnTo>
                  <a:pt x="459231" y="31750"/>
                </a:lnTo>
                <a:lnTo>
                  <a:pt x="459231" y="44450"/>
                </a:lnTo>
                <a:lnTo>
                  <a:pt x="510031" y="44450"/>
                </a:lnTo>
                <a:lnTo>
                  <a:pt x="522731" y="38100"/>
                </a:lnTo>
                <a:lnTo>
                  <a:pt x="510031" y="317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458967" y="2538983"/>
            <a:ext cx="1666239" cy="619125"/>
          </a:xfrm>
          <a:custGeom>
            <a:avLst/>
            <a:gdLst/>
            <a:ahLst/>
            <a:cxnLst/>
            <a:rect l="l" t="t" r="r" b="b"/>
            <a:pathLst>
              <a:path w="1666240" h="619125">
                <a:moveTo>
                  <a:pt x="0" y="618744"/>
                </a:moveTo>
                <a:lnTo>
                  <a:pt x="1665732" y="618744"/>
                </a:lnTo>
                <a:lnTo>
                  <a:pt x="1665732" y="0"/>
                </a:lnTo>
                <a:lnTo>
                  <a:pt x="0" y="0"/>
                </a:lnTo>
                <a:lnTo>
                  <a:pt x="0" y="618744"/>
                </a:lnTo>
                <a:close/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5615178" y="2642361"/>
            <a:ext cx="12719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goto</a:t>
            </a:r>
            <a:r>
              <a:rPr dirty="0" sz="24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Next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458967" y="3157727"/>
            <a:ext cx="1666239" cy="619125"/>
          </a:xfrm>
          <a:custGeom>
            <a:avLst/>
            <a:gdLst/>
            <a:ahLst/>
            <a:cxnLst/>
            <a:rect l="l" t="t" r="r" b="b"/>
            <a:pathLst>
              <a:path w="1666240" h="619125">
                <a:moveTo>
                  <a:pt x="0" y="618744"/>
                </a:moveTo>
                <a:lnTo>
                  <a:pt x="1665732" y="618744"/>
                </a:lnTo>
                <a:lnTo>
                  <a:pt x="1665732" y="0"/>
                </a:lnTo>
                <a:lnTo>
                  <a:pt x="0" y="0"/>
                </a:lnTo>
                <a:lnTo>
                  <a:pt x="0" y="618744"/>
                </a:lnTo>
                <a:close/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4421378" y="3158490"/>
            <a:ext cx="22364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205865" algn="l"/>
              </a:tabLst>
            </a:pPr>
            <a:r>
              <a:rPr dirty="0" sz="2400" spc="-5" b="1">
                <a:solidFill>
                  <a:srgbClr val="00FFFF"/>
                </a:solidFill>
                <a:latin typeface="Times New Roman"/>
                <a:cs typeface="Times New Roman"/>
              </a:rPr>
              <a:t>E.false:	</a:t>
            </a:r>
            <a:r>
              <a:rPr dirty="0" baseline="-18518" sz="3600" b="1">
                <a:solidFill>
                  <a:srgbClr val="FFFFFF"/>
                </a:solidFill>
                <a:latin typeface="Times New Roman"/>
                <a:cs typeface="Times New Roman"/>
              </a:rPr>
              <a:t>S2.code</a:t>
            </a:r>
            <a:endParaRPr baseline="-18518" sz="36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623053" y="3798570"/>
            <a:ext cx="812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FFFF"/>
                </a:solidFill>
                <a:latin typeface="Times New Roman"/>
                <a:cs typeface="Times New Roman"/>
              </a:rPr>
              <a:t>Next</a:t>
            </a:r>
            <a:r>
              <a:rPr dirty="0" sz="2400" spc="-65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FFFF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492110" y="1131443"/>
            <a:ext cx="1633220" cy="892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75" marR="5080" indent="-15875">
              <a:lnSpc>
                <a:spcPct val="1185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Goto E.true  Goto</a:t>
            </a:r>
            <a:r>
              <a:rPr dirty="0" sz="2400" spc="-1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E.false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443728" y="751331"/>
            <a:ext cx="1681480" cy="530860"/>
          </a:xfrm>
          <a:custGeom>
            <a:avLst/>
            <a:gdLst/>
            <a:ahLst/>
            <a:cxnLst/>
            <a:rect l="l" t="t" r="r" b="b"/>
            <a:pathLst>
              <a:path w="1681479" h="530860">
                <a:moveTo>
                  <a:pt x="0" y="530351"/>
                </a:moveTo>
                <a:lnTo>
                  <a:pt x="1680972" y="530351"/>
                </a:lnTo>
                <a:lnTo>
                  <a:pt x="1680972" y="0"/>
                </a:lnTo>
                <a:lnTo>
                  <a:pt x="0" y="0"/>
                </a:lnTo>
                <a:lnTo>
                  <a:pt x="0" y="530351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5599303" y="596392"/>
            <a:ext cx="897890" cy="1184275"/>
          </a:xfrm>
          <a:prstGeom prst="rect">
            <a:avLst/>
          </a:prstGeom>
        </p:spPr>
        <p:txBody>
          <a:bodyPr wrap="square" lIns="0" tIns="2260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E.code</a:t>
            </a:r>
            <a:endParaRPr sz="2400">
              <a:latin typeface="Times New Roman"/>
              <a:cs typeface="Times New Roman"/>
            </a:endParaRPr>
          </a:p>
          <a:p>
            <a:pPr marL="28575">
              <a:lnSpc>
                <a:spcPct val="100000"/>
              </a:lnSpc>
              <a:spcBef>
                <a:spcPts val="168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测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0" y="3451859"/>
            <a:ext cx="980440" cy="536575"/>
          </a:xfrm>
          <a:custGeom>
            <a:avLst/>
            <a:gdLst/>
            <a:ahLst/>
            <a:cxnLst/>
            <a:rect l="l" t="t" r="r" b="b"/>
            <a:pathLst>
              <a:path w="980440" h="536575">
                <a:moveTo>
                  <a:pt x="0" y="115923"/>
                </a:moveTo>
                <a:lnTo>
                  <a:pt x="61555" y="78581"/>
                </a:lnTo>
                <a:lnTo>
                  <a:pt x="105484" y="58942"/>
                </a:lnTo>
                <a:lnTo>
                  <a:pt x="153558" y="41772"/>
                </a:lnTo>
                <a:lnTo>
                  <a:pt x="205372" y="27272"/>
                </a:lnTo>
                <a:lnTo>
                  <a:pt x="260523" y="15642"/>
                </a:lnTo>
                <a:lnTo>
                  <a:pt x="318607" y="7086"/>
                </a:lnTo>
                <a:lnTo>
                  <a:pt x="379220" y="1805"/>
                </a:lnTo>
                <a:lnTo>
                  <a:pt x="441959" y="0"/>
                </a:lnTo>
                <a:lnTo>
                  <a:pt x="504699" y="1805"/>
                </a:lnTo>
                <a:lnTo>
                  <a:pt x="565312" y="7086"/>
                </a:lnTo>
                <a:lnTo>
                  <a:pt x="623396" y="15642"/>
                </a:lnTo>
                <a:lnTo>
                  <a:pt x="678547" y="27272"/>
                </a:lnTo>
                <a:lnTo>
                  <a:pt x="730361" y="41772"/>
                </a:lnTo>
                <a:lnTo>
                  <a:pt x="778435" y="58942"/>
                </a:lnTo>
                <a:lnTo>
                  <a:pt x="822364" y="78581"/>
                </a:lnTo>
                <a:lnTo>
                  <a:pt x="861746" y="100486"/>
                </a:lnTo>
                <a:lnTo>
                  <a:pt x="896176" y="124456"/>
                </a:lnTo>
                <a:lnTo>
                  <a:pt x="925252" y="150289"/>
                </a:lnTo>
                <a:lnTo>
                  <a:pt x="965723" y="206739"/>
                </a:lnTo>
                <a:lnTo>
                  <a:pt x="979932" y="268223"/>
                </a:lnTo>
                <a:lnTo>
                  <a:pt x="976312" y="299494"/>
                </a:lnTo>
                <a:lnTo>
                  <a:pt x="948569" y="358663"/>
                </a:lnTo>
                <a:lnTo>
                  <a:pt x="896176" y="411991"/>
                </a:lnTo>
                <a:lnTo>
                  <a:pt x="861746" y="435961"/>
                </a:lnTo>
                <a:lnTo>
                  <a:pt x="822364" y="457866"/>
                </a:lnTo>
                <a:lnTo>
                  <a:pt x="778435" y="477505"/>
                </a:lnTo>
                <a:lnTo>
                  <a:pt x="730361" y="494675"/>
                </a:lnTo>
                <a:lnTo>
                  <a:pt x="678547" y="509175"/>
                </a:lnTo>
                <a:lnTo>
                  <a:pt x="623396" y="520805"/>
                </a:lnTo>
                <a:lnTo>
                  <a:pt x="565312" y="529361"/>
                </a:lnTo>
                <a:lnTo>
                  <a:pt x="504699" y="534642"/>
                </a:lnTo>
                <a:lnTo>
                  <a:pt x="441959" y="536447"/>
                </a:lnTo>
                <a:lnTo>
                  <a:pt x="379220" y="534642"/>
                </a:lnTo>
                <a:lnTo>
                  <a:pt x="318607" y="529361"/>
                </a:lnTo>
                <a:lnTo>
                  <a:pt x="260523" y="520805"/>
                </a:lnTo>
                <a:lnTo>
                  <a:pt x="205372" y="509175"/>
                </a:lnTo>
                <a:lnTo>
                  <a:pt x="153558" y="494675"/>
                </a:lnTo>
                <a:lnTo>
                  <a:pt x="105484" y="477505"/>
                </a:lnTo>
                <a:lnTo>
                  <a:pt x="61555" y="457866"/>
                </a:lnTo>
                <a:lnTo>
                  <a:pt x="22173" y="435961"/>
                </a:lnTo>
                <a:lnTo>
                  <a:pt x="0" y="420524"/>
                </a:lnTo>
              </a:path>
            </a:pathLst>
          </a:custGeom>
          <a:ln w="5715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525011" y="3488435"/>
            <a:ext cx="1074420" cy="536575"/>
          </a:xfrm>
          <a:custGeom>
            <a:avLst/>
            <a:gdLst/>
            <a:ahLst/>
            <a:cxnLst/>
            <a:rect l="l" t="t" r="r" b="b"/>
            <a:pathLst>
              <a:path w="1074420" h="536575">
                <a:moveTo>
                  <a:pt x="0" y="268224"/>
                </a:moveTo>
                <a:lnTo>
                  <a:pt x="14189" y="206739"/>
                </a:lnTo>
                <a:lnTo>
                  <a:pt x="54606" y="150289"/>
                </a:lnTo>
                <a:lnTo>
                  <a:pt x="83642" y="124456"/>
                </a:lnTo>
                <a:lnTo>
                  <a:pt x="118025" y="100486"/>
                </a:lnTo>
                <a:lnTo>
                  <a:pt x="157353" y="78581"/>
                </a:lnTo>
                <a:lnTo>
                  <a:pt x="201221" y="58942"/>
                </a:lnTo>
                <a:lnTo>
                  <a:pt x="249227" y="41772"/>
                </a:lnTo>
                <a:lnTo>
                  <a:pt x="300967" y="27272"/>
                </a:lnTo>
                <a:lnTo>
                  <a:pt x="356039" y="15642"/>
                </a:lnTo>
                <a:lnTo>
                  <a:pt x="414039" y="7086"/>
                </a:lnTo>
                <a:lnTo>
                  <a:pt x="474563" y="1805"/>
                </a:lnTo>
                <a:lnTo>
                  <a:pt x="537210" y="0"/>
                </a:lnTo>
                <a:lnTo>
                  <a:pt x="599856" y="1805"/>
                </a:lnTo>
                <a:lnTo>
                  <a:pt x="660380" y="7086"/>
                </a:lnTo>
                <a:lnTo>
                  <a:pt x="718380" y="15642"/>
                </a:lnTo>
                <a:lnTo>
                  <a:pt x="773452" y="27272"/>
                </a:lnTo>
                <a:lnTo>
                  <a:pt x="825192" y="41772"/>
                </a:lnTo>
                <a:lnTo>
                  <a:pt x="873198" y="58942"/>
                </a:lnTo>
                <a:lnTo>
                  <a:pt x="917066" y="78581"/>
                </a:lnTo>
                <a:lnTo>
                  <a:pt x="956394" y="100486"/>
                </a:lnTo>
                <a:lnTo>
                  <a:pt x="990777" y="124456"/>
                </a:lnTo>
                <a:lnTo>
                  <a:pt x="1019813" y="150289"/>
                </a:lnTo>
                <a:lnTo>
                  <a:pt x="1060230" y="206739"/>
                </a:lnTo>
                <a:lnTo>
                  <a:pt x="1074420" y="268224"/>
                </a:lnTo>
                <a:lnTo>
                  <a:pt x="1070805" y="299494"/>
                </a:lnTo>
                <a:lnTo>
                  <a:pt x="1043099" y="358663"/>
                </a:lnTo>
                <a:lnTo>
                  <a:pt x="990777" y="411991"/>
                </a:lnTo>
                <a:lnTo>
                  <a:pt x="956394" y="435961"/>
                </a:lnTo>
                <a:lnTo>
                  <a:pt x="917066" y="457866"/>
                </a:lnTo>
                <a:lnTo>
                  <a:pt x="873198" y="477505"/>
                </a:lnTo>
                <a:lnTo>
                  <a:pt x="825192" y="494675"/>
                </a:lnTo>
                <a:lnTo>
                  <a:pt x="773452" y="509175"/>
                </a:lnTo>
                <a:lnTo>
                  <a:pt x="718380" y="520805"/>
                </a:lnTo>
                <a:lnTo>
                  <a:pt x="660380" y="529361"/>
                </a:lnTo>
                <a:lnTo>
                  <a:pt x="599856" y="534642"/>
                </a:lnTo>
                <a:lnTo>
                  <a:pt x="537210" y="536447"/>
                </a:lnTo>
                <a:lnTo>
                  <a:pt x="474563" y="534642"/>
                </a:lnTo>
                <a:lnTo>
                  <a:pt x="414039" y="529361"/>
                </a:lnTo>
                <a:lnTo>
                  <a:pt x="356039" y="520805"/>
                </a:lnTo>
                <a:lnTo>
                  <a:pt x="300967" y="509175"/>
                </a:lnTo>
                <a:lnTo>
                  <a:pt x="249227" y="494675"/>
                </a:lnTo>
                <a:lnTo>
                  <a:pt x="201221" y="477505"/>
                </a:lnTo>
                <a:lnTo>
                  <a:pt x="157353" y="457866"/>
                </a:lnTo>
                <a:lnTo>
                  <a:pt x="118025" y="435961"/>
                </a:lnTo>
                <a:lnTo>
                  <a:pt x="83642" y="411991"/>
                </a:lnTo>
                <a:lnTo>
                  <a:pt x="54606" y="386158"/>
                </a:lnTo>
                <a:lnTo>
                  <a:pt x="14189" y="329708"/>
                </a:lnTo>
                <a:lnTo>
                  <a:pt x="0" y="268224"/>
                </a:lnTo>
                <a:close/>
              </a:path>
            </a:pathLst>
          </a:custGeom>
          <a:ln w="5715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154935" y="4936235"/>
            <a:ext cx="1074420" cy="536575"/>
          </a:xfrm>
          <a:custGeom>
            <a:avLst/>
            <a:gdLst/>
            <a:ahLst/>
            <a:cxnLst/>
            <a:rect l="l" t="t" r="r" b="b"/>
            <a:pathLst>
              <a:path w="1074420" h="536575">
                <a:moveTo>
                  <a:pt x="0" y="268224"/>
                </a:moveTo>
                <a:lnTo>
                  <a:pt x="14189" y="206739"/>
                </a:lnTo>
                <a:lnTo>
                  <a:pt x="54606" y="150289"/>
                </a:lnTo>
                <a:lnTo>
                  <a:pt x="83642" y="124456"/>
                </a:lnTo>
                <a:lnTo>
                  <a:pt x="118025" y="100486"/>
                </a:lnTo>
                <a:lnTo>
                  <a:pt x="157353" y="78581"/>
                </a:lnTo>
                <a:lnTo>
                  <a:pt x="201221" y="58942"/>
                </a:lnTo>
                <a:lnTo>
                  <a:pt x="249227" y="41772"/>
                </a:lnTo>
                <a:lnTo>
                  <a:pt x="300967" y="27272"/>
                </a:lnTo>
                <a:lnTo>
                  <a:pt x="356039" y="15642"/>
                </a:lnTo>
                <a:lnTo>
                  <a:pt x="414039" y="7086"/>
                </a:lnTo>
                <a:lnTo>
                  <a:pt x="474563" y="1805"/>
                </a:lnTo>
                <a:lnTo>
                  <a:pt x="537209" y="0"/>
                </a:lnTo>
                <a:lnTo>
                  <a:pt x="599856" y="1805"/>
                </a:lnTo>
                <a:lnTo>
                  <a:pt x="660380" y="7086"/>
                </a:lnTo>
                <a:lnTo>
                  <a:pt x="718380" y="15642"/>
                </a:lnTo>
                <a:lnTo>
                  <a:pt x="773452" y="27272"/>
                </a:lnTo>
                <a:lnTo>
                  <a:pt x="825192" y="41772"/>
                </a:lnTo>
                <a:lnTo>
                  <a:pt x="873198" y="58942"/>
                </a:lnTo>
                <a:lnTo>
                  <a:pt x="917067" y="78581"/>
                </a:lnTo>
                <a:lnTo>
                  <a:pt x="956394" y="100486"/>
                </a:lnTo>
                <a:lnTo>
                  <a:pt x="990777" y="124456"/>
                </a:lnTo>
                <a:lnTo>
                  <a:pt x="1019813" y="150289"/>
                </a:lnTo>
                <a:lnTo>
                  <a:pt x="1060230" y="206739"/>
                </a:lnTo>
                <a:lnTo>
                  <a:pt x="1074420" y="268224"/>
                </a:lnTo>
                <a:lnTo>
                  <a:pt x="1070805" y="299494"/>
                </a:lnTo>
                <a:lnTo>
                  <a:pt x="1043099" y="358663"/>
                </a:lnTo>
                <a:lnTo>
                  <a:pt x="990777" y="411991"/>
                </a:lnTo>
                <a:lnTo>
                  <a:pt x="956394" y="435961"/>
                </a:lnTo>
                <a:lnTo>
                  <a:pt x="917066" y="457866"/>
                </a:lnTo>
                <a:lnTo>
                  <a:pt x="873198" y="477505"/>
                </a:lnTo>
                <a:lnTo>
                  <a:pt x="825192" y="494675"/>
                </a:lnTo>
                <a:lnTo>
                  <a:pt x="773452" y="509175"/>
                </a:lnTo>
                <a:lnTo>
                  <a:pt x="718380" y="520805"/>
                </a:lnTo>
                <a:lnTo>
                  <a:pt x="660380" y="529361"/>
                </a:lnTo>
                <a:lnTo>
                  <a:pt x="599856" y="534642"/>
                </a:lnTo>
                <a:lnTo>
                  <a:pt x="537209" y="536447"/>
                </a:lnTo>
                <a:lnTo>
                  <a:pt x="474563" y="534642"/>
                </a:lnTo>
                <a:lnTo>
                  <a:pt x="414039" y="529361"/>
                </a:lnTo>
                <a:lnTo>
                  <a:pt x="356039" y="520805"/>
                </a:lnTo>
                <a:lnTo>
                  <a:pt x="300967" y="509175"/>
                </a:lnTo>
                <a:lnTo>
                  <a:pt x="249227" y="494675"/>
                </a:lnTo>
                <a:lnTo>
                  <a:pt x="201221" y="477505"/>
                </a:lnTo>
                <a:lnTo>
                  <a:pt x="157352" y="457866"/>
                </a:lnTo>
                <a:lnTo>
                  <a:pt x="118025" y="435961"/>
                </a:lnTo>
                <a:lnTo>
                  <a:pt x="83642" y="411991"/>
                </a:lnTo>
                <a:lnTo>
                  <a:pt x="54606" y="386158"/>
                </a:lnTo>
                <a:lnTo>
                  <a:pt x="14189" y="329708"/>
                </a:lnTo>
                <a:lnTo>
                  <a:pt x="0" y="268224"/>
                </a:lnTo>
                <a:close/>
              </a:path>
            </a:pathLst>
          </a:custGeom>
          <a:ln w="5715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343144" y="2580132"/>
            <a:ext cx="1984375" cy="536575"/>
          </a:xfrm>
          <a:custGeom>
            <a:avLst/>
            <a:gdLst/>
            <a:ahLst/>
            <a:cxnLst/>
            <a:rect l="l" t="t" r="r" b="b"/>
            <a:pathLst>
              <a:path w="1984375" h="536575">
                <a:moveTo>
                  <a:pt x="0" y="268223"/>
                </a:moveTo>
                <a:lnTo>
                  <a:pt x="9853" y="230288"/>
                </a:lnTo>
                <a:lnTo>
                  <a:pt x="38517" y="193984"/>
                </a:lnTo>
                <a:lnTo>
                  <a:pt x="84649" y="159674"/>
                </a:lnTo>
                <a:lnTo>
                  <a:pt x="146905" y="127724"/>
                </a:lnTo>
                <a:lnTo>
                  <a:pt x="183659" y="112747"/>
                </a:lnTo>
                <a:lnTo>
                  <a:pt x="223940" y="98496"/>
                </a:lnTo>
                <a:lnTo>
                  <a:pt x="267580" y="85017"/>
                </a:lnTo>
                <a:lnTo>
                  <a:pt x="314411" y="72355"/>
                </a:lnTo>
                <a:lnTo>
                  <a:pt x="364265" y="60555"/>
                </a:lnTo>
                <a:lnTo>
                  <a:pt x="416975" y="49663"/>
                </a:lnTo>
                <a:lnTo>
                  <a:pt x="472371" y="39725"/>
                </a:lnTo>
                <a:lnTo>
                  <a:pt x="530287" y="30786"/>
                </a:lnTo>
                <a:lnTo>
                  <a:pt x="590554" y="22891"/>
                </a:lnTo>
                <a:lnTo>
                  <a:pt x="653004" y="16086"/>
                </a:lnTo>
                <a:lnTo>
                  <a:pt x="717469" y="10416"/>
                </a:lnTo>
                <a:lnTo>
                  <a:pt x="783782" y="5927"/>
                </a:lnTo>
                <a:lnTo>
                  <a:pt x="851774" y="2664"/>
                </a:lnTo>
                <a:lnTo>
                  <a:pt x="921277" y="673"/>
                </a:lnTo>
                <a:lnTo>
                  <a:pt x="992123" y="0"/>
                </a:lnTo>
                <a:lnTo>
                  <a:pt x="1062970" y="673"/>
                </a:lnTo>
                <a:lnTo>
                  <a:pt x="1132473" y="2664"/>
                </a:lnTo>
                <a:lnTo>
                  <a:pt x="1200465" y="5927"/>
                </a:lnTo>
                <a:lnTo>
                  <a:pt x="1266778" y="10416"/>
                </a:lnTo>
                <a:lnTo>
                  <a:pt x="1331243" y="16086"/>
                </a:lnTo>
                <a:lnTo>
                  <a:pt x="1393693" y="22891"/>
                </a:lnTo>
                <a:lnTo>
                  <a:pt x="1453960" y="30786"/>
                </a:lnTo>
                <a:lnTo>
                  <a:pt x="1511876" y="39725"/>
                </a:lnTo>
                <a:lnTo>
                  <a:pt x="1567272" y="49663"/>
                </a:lnTo>
                <a:lnTo>
                  <a:pt x="1619982" y="60555"/>
                </a:lnTo>
                <a:lnTo>
                  <a:pt x="1669836" y="72355"/>
                </a:lnTo>
                <a:lnTo>
                  <a:pt x="1716667" y="85017"/>
                </a:lnTo>
                <a:lnTo>
                  <a:pt x="1760307" y="98496"/>
                </a:lnTo>
                <a:lnTo>
                  <a:pt x="1800588" y="112747"/>
                </a:lnTo>
                <a:lnTo>
                  <a:pt x="1837342" y="127724"/>
                </a:lnTo>
                <a:lnTo>
                  <a:pt x="1899598" y="159674"/>
                </a:lnTo>
                <a:lnTo>
                  <a:pt x="1945730" y="193984"/>
                </a:lnTo>
                <a:lnTo>
                  <a:pt x="1974394" y="230288"/>
                </a:lnTo>
                <a:lnTo>
                  <a:pt x="1984248" y="268223"/>
                </a:lnTo>
                <a:lnTo>
                  <a:pt x="1981756" y="287373"/>
                </a:lnTo>
                <a:lnTo>
                  <a:pt x="1962329" y="324538"/>
                </a:lnTo>
                <a:lnTo>
                  <a:pt x="1924763" y="359890"/>
                </a:lnTo>
                <a:lnTo>
                  <a:pt x="1870401" y="393065"/>
                </a:lnTo>
                <a:lnTo>
                  <a:pt x="1800588" y="423700"/>
                </a:lnTo>
                <a:lnTo>
                  <a:pt x="1760307" y="437951"/>
                </a:lnTo>
                <a:lnTo>
                  <a:pt x="1716667" y="451430"/>
                </a:lnTo>
                <a:lnTo>
                  <a:pt x="1669836" y="464092"/>
                </a:lnTo>
                <a:lnTo>
                  <a:pt x="1619982" y="475892"/>
                </a:lnTo>
                <a:lnTo>
                  <a:pt x="1567272" y="486784"/>
                </a:lnTo>
                <a:lnTo>
                  <a:pt x="1511876" y="496722"/>
                </a:lnTo>
                <a:lnTo>
                  <a:pt x="1453960" y="505661"/>
                </a:lnTo>
                <a:lnTo>
                  <a:pt x="1393693" y="513556"/>
                </a:lnTo>
                <a:lnTo>
                  <a:pt x="1331243" y="520361"/>
                </a:lnTo>
                <a:lnTo>
                  <a:pt x="1266778" y="526031"/>
                </a:lnTo>
                <a:lnTo>
                  <a:pt x="1200465" y="530520"/>
                </a:lnTo>
                <a:lnTo>
                  <a:pt x="1132473" y="533783"/>
                </a:lnTo>
                <a:lnTo>
                  <a:pt x="1062970" y="535774"/>
                </a:lnTo>
                <a:lnTo>
                  <a:pt x="992123" y="536447"/>
                </a:lnTo>
                <a:lnTo>
                  <a:pt x="921277" y="535774"/>
                </a:lnTo>
                <a:lnTo>
                  <a:pt x="851774" y="533783"/>
                </a:lnTo>
                <a:lnTo>
                  <a:pt x="783782" y="530520"/>
                </a:lnTo>
                <a:lnTo>
                  <a:pt x="717469" y="526031"/>
                </a:lnTo>
                <a:lnTo>
                  <a:pt x="653004" y="520361"/>
                </a:lnTo>
                <a:lnTo>
                  <a:pt x="590554" y="513556"/>
                </a:lnTo>
                <a:lnTo>
                  <a:pt x="530287" y="505661"/>
                </a:lnTo>
                <a:lnTo>
                  <a:pt x="472371" y="496722"/>
                </a:lnTo>
                <a:lnTo>
                  <a:pt x="416975" y="486784"/>
                </a:lnTo>
                <a:lnTo>
                  <a:pt x="364265" y="475892"/>
                </a:lnTo>
                <a:lnTo>
                  <a:pt x="314411" y="464092"/>
                </a:lnTo>
                <a:lnTo>
                  <a:pt x="267580" y="451430"/>
                </a:lnTo>
                <a:lnTo>
                  <a:pt x="223940" y="437951"/>
                </a:lnTo>
                <a:lnTo>
                  <a:pt x="183659" y="423700"/>
                </a:lnTo>
                <a:lnTo>
                  <a:pt x="146905" y="408723"/>
                </a:lnTo>
                <a:lnTo>
                  <a:pt x="84649" y="376773"/>
                </a:lnTo>
                <a:lnTo>
                  <a:pt x="38517" y="342463"/>
                </a:lnTo>
                <a:lnTo>
                  <a:pt x="9853" y="306159"/>
                </a:lnTo>
                <a:lnTo>
                  <a:pt x="0" y="268223"/>
                </a:lnTo>
                <a:close/>
              </a:path>
            </a:pathLst>
          </a:custGeom>
          <a:ln w="5715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1898" y="5040629"/>
            <a:ext cx="3878579" cy="601980"/>
          </a:xfrm>
          <a:prstGeom prst="rect">
            <a:avLst/>
          </a:prstGeom>
          <a:solidFill>
            <a:srgbClr val="663300"/>
          </a:solidFill>
          <a:ln w="38100">
            <a:solidFill>
              <a:srgbClr val="FFFF00"/>
            </a:solidFill>
          </a:ln>
        </p:spPr>
        <p:txBody>
          <a:bodyPr wrap="square" lIns="0" tIns="5334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420"/>
              </a:spcBef>
            </a:pP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GEN (j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S.next)</a:t>
            </a:r>
            <a:r>
              <a:rPr dirty="0" sz="2800" spc="-1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|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0355" y="5508961"/>
            <a:ext cx="4647565" cy="1213485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2800" spc="-10" b="1">
                <a:solidFill>
                  <a:srgbClr val="FFFF66"/>
                </a:solidFill>
                <a:latin typeface="Times New Roman"/>
                <a:cs typeface="Times New Roman"/>
              </a:rPr>
              <a:t>GEN 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(E.false'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：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')</a:t>
            </a:r>
            <a:r>
              <a:rPr dirty="0" sz="280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|</a:t>
            </a:r>
            <a:endParaRPr sz="2800">
              <a:latin typeface="Times New Roman"/>
              <a:cs typeface="Times New Roman"/>
            </a:endParaRPr>
          </a:p>
          <a:p>
            <a:pPr marL="100965">
              <a:lnSpc>
                <a:spcPct val="100000"/>
              </a:lnSpc>
              <a:spcBef>
                <a:spcPts val="1150"/>
              </a:spcBef>
            </a:pPr>
            <a:r>
              <a:rPr dirty="0" sz="2800" b="1">
                <a:solidFill>
                  <a:srgbClr val="FFFF66"/>
                </a:solidFill>
                <a:latin typeface="Times New Roman"/>
                <a:cs typeface="Times New Roman"/>
              </a:rPr>
              <a:t>S2.code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|GEN(S.next '</a:t>
            </a:r>
            <a:r>
              <a:rPr dirty="0" sz="3200" b="1">
                <a:solidFill>
                  <a:srgbClr val="FFFF66"/>
                </a:solidFill>
                <a:latin typeface="宋体"/>
                <a:cs typeface="宋体"/>
              </a:rPr>
              <a:t>：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' )</a:t>
            </a:r>
            <a:r>
              <a:rPr dirty="0" sz="3200" spc="-40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4843" y="0"/>
            <a:ext cx="8428990" cy="501586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algn="just" marL="50800">
              <a:lnSpc>
                <a:spcPct val="100000"/>
              </a:lnSpc>
              <a:spcBef>
                <a:spcPts val="605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spc="484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spc="455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</a:t>
            </a:r>
            <a:r>
              <a:rPr dirty="0" sz="2000" spc="47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97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2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  <a:p>
            <a:pPr marL="513715" indent="-318135">
              <a:lnSpc>
                <a:spcPct val="100000"/>
              </a:lnSpc>
              <a:spcBef>
                <a:spcPts val="1415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51435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条件语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句</a:t>
            </a:r>
            <a:r>
              <a:rPr dirty="0" sz="3200" spc="10" b="1">
                <a:solidFill>
                  <a:srgbClr val="FF9933"/>
                </a:solidFill>
                <a:latin typeface="幼圆"/>
                <a:cs typeface="幼圆"/>
              </a:rPr>
              <a:t>②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翻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译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的语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义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子程序</a:t>
            </a:r>
            <a:endParaRPr sz="3200">
              <a:latin typeface="宋体"/>
              <a:cs typeface="宋体"/>
            </a:endParaRPr>
          </a:p>
          <a:p>
            <a:pPr algn="just" marL="12700">
              <a:lnSpc>
                <a:spcPct val="100000"/>
              </a:lnSpc>
              <a:spcBef>
                <a:spcPts val="409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 →if E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then S1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else</a:t>
            </a:r>
            <a:r>
              <a:rPr dirty="0" sz="32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S2</a:t>
            </a:r>
            <a:endParaRPr sz="3200">
              <a:latin typeface="Times New Roman"/>
              <a:cs typeface="Times New Roman"/>
            </a:endParaRPr>
          </a:p>
          <a:p>
            <a:pPr algn="just" marL="545465" marR="4960620" indent="-431800">
              <a:lnSpc>
                <a:spcPct val="128600"/>
              </a:lnSpc>
              <a:spcBef>
                <a:spcPts val="6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E.true=newlabel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；  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E.fal</a:t>
            </a:r>
            <a:r>
              <a:rPr dirty="0" sz="2800" b="1">
                <a:solidFill>
                  <a:srgbClr val="FFFF66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e=ne</a:t>
            </a:r>
            <a:r>
              <a:rPr dirty="0" sz="2800" spc="-40" b="1">
                <a:solidFill>
                  <a:srgbClr val="FFFF66"/>
                </a:solidFill>
                <a:latin typeface="Times New Roman"/>
                <a:cs typeface="Times New Roman"/>
              </a:rPr>
              <a:t>w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l</a:t>
            </a:r>
            <a:r>
              <a:rPr dirty="0" sz="2800" b="1">
                <a:solidFill>
                  <a:srgbClr val="FFFF66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be</a:t>
            </a:r>
            <a:r>
              <a:rPr dirty="0" sz="2800" spc="5" b="1">
                <a:solidFill>
                  <a:srgbClr val="FFFF66"/>
                </a:solidFill>
                <a:latin typeface="Times New Roman"/>
                <a:cs typeface="Times New Roman"/>
              </a:rPr>
              <a:t>l</a:t>
            </a:r>
            <a:r>
              <a:rPr dirty="0" sz="2800" spc="-10" b="1">
                <a:solidFill>
                  <a:srgbClr val="FFFF66"/>
                </a:solidFill>
                <a:latin typeface="宋体"/>
                <a:cs typeface="宋体"/>
              </a:rPr>
              <a:t>；  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S.next=newlabel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2058035" marR="1512570" indent="-1600835">
              <a:lnSpc>
                <a:spcPct val="130000"/>
              </a:lnSpc>
            </a:pP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S.code=E.code | GEN(jT 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E.true) |  GEN (jF 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E.false) |  GEN (E.true'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：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'| S1.code</a:t>
            </a:r>
            <a:r>
              <a:rPr dirty="0" sz="2800" spc="-15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|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247" y="26923"/>
            <a:ext cx="34855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05783" y="26923"/>
            <a:ext cx="46183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  <a:tab pos="192341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15917" y="5755385"/>
            <a:ext cx="3953510" cy="523240"/>
          </a:xfrm>
          <a:prstGeom prst="rect">
            <a:avLst/>
          </a:prstGeom>
          <a:ln w="38100">
            <a:solidFill>
              <a:srgbClr val="FF66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0805">
              <a:lnSpc>
                <a:spcPts val="3625"/>
              </a:lnSpc>
              <a:tabLst>
                <a:tab pos="541655" algn="l"/>
                <a:tab pos="1287780" algn="l"/>
                <a:tab pos="1918335" algn="l"/>
                <a:tab pos="2755265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if	(E)	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S1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else	S2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43989" y="1235202"/>
            <a:ext cx="1370330" cy="494030"/>
          </a:xfrm>
          <a:custGeom>
            <a:avLst/>
            <a:gdLst/>
            <a:ahLst/>
            <a:cxnLst/>
            <a:rect l="l" t="t" r="r" b="b"/>
            <a:pathLst>
              <a:path w="1370330" h="494030">
                <a:moveTo>
                  <a:pt x="0" y="493775"/>
                </a:moveTo>
                <a:lnTo>
                  <a:pt x="1370075" y="493775"/>
                </a:lnTo>
                <a:lnTo>
                  <a:pt x="1370075" y="0"/>
                </a:lnTo>
                <a:lnTo>
                  <a:pt x="0" y="0"/>
                </a:lnTo>
                <a:lnTo>
                  <a:pt x="0" y="493775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707260" y="1280540"/>
            <a:ext cx="8413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计算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93697" y="2539745"/>
            <a:ext cx="1370330" cy="619125"/>
          </a:xfrm>
          <a:custGeom>
            <a:avLst/>
            <a:gdLst/>
            <a:ahLst/>
            <a:cxnLst/>
            <a:rect l="l" t="t" r="r" b="b"/>
            <a:pathLst>
              <a:path w="1370330" h="619125">
                <a:moveTo>
                  <a:pt x="0" y="309371"/>
                </a:moveTo>
                <a:lnTo>
                  <a:pt x="685038" y="0"/>
                </a:lnTo>
                <a:lnTo>
                  <a:pt x="1370076" y="309371"/>
                </a:lnTo>
                <a:lnTo>
                  <a:pt x="685038" y="618743"/>
                </a:lnTo>
                <a:lnTo>
                  <a:pt x="0" y="309371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07997" y="3548634"/>
            <a:ext cx="1077595" cy="617220"/>
          </a:xfrm>
          <a:custGeom>
            <a:avLst/>
            <a:gdLst/>
            <a:ahLst/>
            <a:cxnLst/>
            <a:rect l="l" t="t" r="r" b="b"/>
            <a:pathLst>
              <a:path w="1077595" h="617220">
                <a:moveTo>
                  <a:pt x="0" y="617219"/>
                </a:moveTo>
                <a:lnTo>
                  <a:pt x="1077467" y="617219"/>
                </a:lnTo>
                <a:lnTo>
                  <a:pt x="1077467" y="0"/>
                </a:lnTo>
                <a:lnTo>
                  <a:pt x="0" y="0"/>
                </a:lnTo>
                <a:lnTo>
                  <a:pt x="0" y="617219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871217" y="3651630"/>
            <a:ext cx="3467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S1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34539" y="738377"/>
            <a:ext cx="114300" cy="495300"/>
          </a:xfrm>
          <a:custGeom>
            <a:avLst/>
            <a:gdLst/>
            <a:ahLst/>
            <a:cxnLst/>
            <a:rect l="l" t="t" r="r" b="b"/>
            <a:pathLst>
              <a:path w="114300" h="495300">
                <a:moveTo>
                  <a:pt x="38100" y="381000"/>
                </a:moveTo>
                <a:lnTo>
                  <a:pt x="0" y="381000"/>
                </a:lnTo>
                <a:lnTo>
                  <a:pt x="57150" y="495300"/>
                </a:lnTo>
                <a:lnTo>
                  <a:pt x="104775" y="400050"/>
                </a:lnTo>
                <a:lnTo>
                  <a:pt x="38100" y="400050"/>
                </a:lnTo>
                <a:lnTo>
                  <a:pt x="38100" y="381000"/>
                </a:lnTo>
                <a:close/>
              </a:path>
              <a:path w="114300" h="495300">
                <a:moveTo>
                  <a:pt x="76200" y="0"/>
                </a:moveTo>
                <a:lnTo>
                  <a:pt x="38100" y="0"/>
                </a:lnTo>
                <a:lnTo>
                  <a:pt x="38100" y="400050"/>
                </a:lnTo>
                <a:lnTo>
                  <a:pt x="76200" y="400050"/>
                </a:lnTo>
                <a:lnTo>
                  <a:pt x="76200" y="0"/>
                </a:lnTo>
                <a:close/>
              </a:path>
              <a:path w="114300" h="495300">
                <a:moveTo>
                  <a:pt x="114300" y="381000"/>
                </a:moveTo>
                <a:lnTo>
                  <a:pt x="76200" y="381000"/>
                </a:lnTo>
                <a:lnTo>
                  <a:pt x="76200" y="400050"/>
                </a:lnTo>
                <a:lnTo>
                  <a:pt x="104775" y="400050"/>
                </a:lnTo>
                <a:lnTo>
                  <a:pt x="114300" y="381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034539" y="1728977"/>
            <a:ext cx="114300" cy="810895"/>
          </a:xfrm>
          <a:custGeom>
            <a:avLst/>
            <a:gdLst/>
            <a:ahLst/>
            <a:cxnLst/>
            <a:rect l="l" t="t" r="r" b="b"/>
            <a:pathLst>
              <a:path w="114300" h="810894">
                <a:moveTo>
                  <a:pt x="38100" y="696468"/>
                </a:moveTo>
                <a:lnTo>
                  <a:pt x="0" y="696468"/>
                </a:lnTo>
                <a:lnTo>
                  <a:pt x="57150" y="810768"/>
                </a:lnTo>
                <a:lnTo>
                  <a:pt x="104775" y="715518"/>
                </a:lnTo>
                <a:lnTo>
                  <a:pt x="38100" y="715518"/>
                </a:lnTo>
                <a:lnTo>
                  <a:pt x="38100" y="696468"/>
                </a:lnTo>
                <a:close/>
              </a:path>
              <a:path w="114300" h="810894">
                <a:moveTo>
                  <a:pt x="76200" y="0"/>
                </a:moveTo>
                <a:lnTo>
                  <a:pt x="38100" y="0"/>
                </a:lnTo>
                <a:lnTo>
                  <a:pt x="38100" y="715518"/>
                </a:lnTo>
                <a:lnTo>
                  <a:pt x="76200" y="715518"/>
                </a:lnTo>
                <a:lnTo>
                  <a:pt x="76200" y="0"/>
                </a:lnTo>
                <a:close/>
              </a:path>
              <a:path w="114300" h="810894">
                <a:moveTo>
                  <a:pt x="114300" y="696468"/>
                </a:moveTo>
                <a:lnTo>
                  <a:pt x="76200" y="696468"/>
                </a:lnTo>
                <a:lnTo>
                  <a:pt x="76200" y="715518"/>
                </a:lnTo>
                <a:lnTo>
                  <a:pt x="104775" y="715518"/>
                </a:lnTo>
                <a:lnTo>
                  <a:pt x="114300" y="6964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77617" y="4193285"/>
            <a:ext cx="0" cy="372110"/>
          </a:xfrm>
          <a:custGeom>
            <a:avLst/>
            <a:gdLst/>
            <a:ahLst/>
            <a:cxnLst/>
            <a:rect l="l" t="t" r="r" b="b"/>
            <a:pathLst>
              <a:path w="0" h="372110">
                <a:moveTo>
                  <a:pt x="0" y="0"/>
                </a:moveTo>
                <a:lnTo>
                  <a:pt x="0" y="371856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05433" y="4565141"/>
            <a:ext cx="1210310" cy="0"/>
          </a:xfrm>
          <a:custGeom>
            <a:avLst/>
            <a:gdLst/>
            <a:ahLst/>
            <a:cxnLst/>
            <a:rect l="l" t="t" r="r" b="b"/>
            <a:pathLst>
              <a:path w="1210310" h="0">
                <a:moveTo>
                  <a:pt x="0" y="0"/>
                </a:moveTo>
                <a:lnTo>
                  <a:pt x="1210055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025395" y="3178301"/>
            <a:ext cx="114300" cy="344805"/>
          </a:xfrm>
          <a:custGeom>
            <a:avLst/>
            <a:gdLst/>
            <a:ahLst/>
            <a:cxnLst/>
            <a:rect l="l" t="t" r="r" b="b"/>
            <a:pathLst>
              <a:path w="114300" h="344804">
                <a:moveTo>
                  <a:pt x="38100" y="230124"/>
                </a:moveTo>
                <a:lnTo>
                  <a:pt x="0" y="230124"/>
                </a:lnTo>
                <a:lnTo>
                  <a:pt x="57150" y="344424"/>
                </a:lnTo>
                <a:lnTo>
                  <a:pt x="104775" y="249174"/>
                </a:lnTo>
                <a:lnTo>
                  <a:pt x="38100" y="249174"/>
                </a:lnTo>
                <a:lnTo>
                  <a:pt x="38100" y="230124"/>
                </a:lnTo>
                <a:close/>
              </a:path>
              <a:path w="114300" h="344804">
                <a:moveTo>
                  <a:pt x="76200" y="0"/>
                </a:moveTo>
                <a:lnTo>
                  <a:pt x="38100" y="0"/>
                </a:lnTo>
                <a:lnTo>
                  <a:pt x="38100" y="249174"/>
                </a:lnTo>
                <a:lnTo>
                  <a:pt x="76200" y="249174"/>
                </a:lnTo>
                <a:lnTo>
                  <a:pt x="76200" y="0"/>
                </a:lnTo>
                <a:close/>
              </a:path>
              <a:path w="114300" h="344804">
                <a:moveTo>
                  <a:pt x="114300" y="230124"/>
                </a:moveTo>
                <a:lnTo>
                  <a:pt x="76200" y="230124"/>
                </a:lnTo>
                <a:lnTo>
                  <a:pt x="76200" y="249174"/>
                </a:lnTo>
                <a:lnTo>
                  <a:pt x="104775" y="249174"/>
                </a:lnTo>
                <a:lnTo>
                  <a:pt x="114300" y="2301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887092" y="2542920"/>
            <a:ext cx="690880" cy="956310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E?</a:t>
            </a:r>
            <a:endParaRPr sz="2400">
              <a:latin typeface="Times New Roman"/>
              <a:cs typeface="Times New Roman"/>
            </a:endParaRPr>
          </a:p>
          <a:p>
            <a:pPr marL="219075">
              <a:lnSpc>
                <a:spcPct val="100000"/>
              </a:lnSpc>
              <a:spcBef>
                <a:spcPts val="78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非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5791" y="2556764"/>
            <a:ext cx="4279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400" spc="-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507997" y="4936997"/>
            <a:ext cx="1076325" cy="617220"/>
          </a:xfrm>
          <a:custGeom>
            <a:avLst/>
            <a:gdLst/>
            <a:ahLst/>
            <a:cxnLst/>
            <a:rect l="l" t="t" r="r" b="b"/>
            <a:pathLst>
              <a:path w="1076325" h="617220">
                <a:moveTo>
                  <a:pt x="0" y="617219"/>
                </a:moveTo>
                <a:lnTo>
                  <a:pt x="1075943" y="617219"/>
                </a:lnTo>
                <a:lnTo>
                  <a:pt x="1075943" y="0"/>
                </a:lnTo>
                <a:lnTo>
                  <a:pt x="0" y="0"/>
                </a:lnTo>
                <a:lnTo>
                  <a:pt x="0" y="617219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012342" y="4441444"/>
            <a:ext cx="1205865" cy="989330"/>
          </a:xfrm>
          <a:prstGeom prst="rect">
            <a:avLst/>
          </a:prstGeom>
        </p:spPr>
        <p:txBody>
          <a:bodyPr wrap="square" lIns="0" tIns="128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dirty="0" sz="2400" spc="-5" b="1">
                <a:solidFill>
                  <a:srgbClr val="00FFFF"/>
                </a:solidFill>
                <a:latin typeface="Times New Roman"/>
                <a:cs typeface="Times New Roman"/>
              </a:rPr>
              <a:t>E.false:</a:t>
            </a:r>
            <a:endParaRPr sz="24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910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05433" y="2878073"/>
            <a:ext cx="588645" cy="0"/>
          </a:xfrm>
          <a:custGeom>
            <a:avLst/>
            <a:gdLst/>
            <a:ahLst/>
            <a:cxnLst/>
            <a:rect l="l" t="t" r="r" b="b"/>
            <a:pathLst>
              <a:path w="588644" h="0">
                <a:moveTo>
                  <a:pt x="0" y="0"/>
                </a:moveTo>
                <a:lnTo>
                  <a:pt x="588263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958339" y="4565141"/>
            <a:ext cx="114300" cy="391795"/>
          </a:xfrm>
          <a:custGeom>
            <a:avLst/>
            <a:gdLst/>
            <a:ahLst/>
            <a:cxnLst/>
            <a:rect l="l" t="t" r="r" b="b"/>
            <a:pathLst>
              <a:path w="114300" h="391795">
                <a:moveTo>
                  <a:pt x="38100" y="277367"/>
                </a:moveTo>
                <a:lnTo>
                  <a:pt x="0" y="277367"/>
                </a:lnTo>
                <a:lnTo>
                  <a:pt x="57150" y="391667"/>
                </a:lnTo>
                <a:lnTo>
                  <a:pt x="104775" y="296417"/>
                </a:lnTo>
                <a:lnTo>
                  <a:pt x="38100" y="296417"/>
                </a:lnTo>
                <a:lnTo>
                  <a:pt x="38100" y="277367"/>
                </a:lnTo>
                <a:close/>
              </a:path>
              <a:path w="114300" h="391795">
                <a:moveTo>
                  <a:pt x="76200" y="0"/>
                </a:moveTo>
                <a:lnTo>
                  <a:pt x="38100" y="0"/>
                </a:lnTo>
                <a:lnTo>
                  <a:pt x="38100" y="296417"/>
                </a:lnTo>
                <a:lnTo>
                  <a:pt x="76200" y="296417"/>
                </a:lnTo>
                <a:lnTo>
                  <a:pt x="76200" y="0"/>
                </a:lnTo>
                <a:close/>
              </a:path>
              <a:path w="114300" h="391795">
                <a:moveTo>
                  <a:pt x="114300" y="277367"/>
                </a:moveTo>
                <a:lnTo>
                  <a:pt x="76200" y="277367"/>
                </a:lnTo>
                <a:lnTo>
                  <a:pt x="76200" y="296417"/>
                </a:lnTo>
                <a:lnTo>
                  <a:pt x="104775" y="296417"/>
                </a:lnTo>
                <a:lnTo>
                  <a:pt x="114300" y="2773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289810" y="4511802"/>
            <a:ext cx="708660" cy="24765"/>
          </a:xfrm>
          <a:custGeom>
            <a:avLst/>
            <a:gdLst/>
            <a:ahLst/>
            <a:cxnLst/>
            <a:rect l="l" t="t" r="r" b="b"/>
            <a:pathLst>
              <a:path w="708660" h="24764">
                <a:moveTo>
                  <a:pt x="0" y="24384"/>
                </a:moveTo>
                <a:lnTo>
                  <a:pt x="708659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05433" y="2873501"/>
            <a:ext cx="0" cy="1691639"/>
          </a:xfrm>
          <a:custGeom>
            <a:avLst/>
            <a:gdLst/>
            <a:ahLst/>
            <a:cxnLst/>
            <a:rect l="l" t="t" r="r" b="b"/>
            <a:pathLst>
              <a:path w="0" h="1691639">
                <a:moveTo>
                  <a:pt x="0" y="169164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025395" y="6067805"/>
            <a:ext cx="114300" cy="791210"/>
          </a:xfrm>
          <a:custGeom>
            <a:avLst/>
            <a:gdLst/>
            <a:ahLst/>
            <a:cxnLst/>
            <a:rect l="l" t="t" r="r" b="b"/>
            <a:pathLst>
              <a:path w="114300" h="791209">
                <a:moveTo>
                  <a:pt x="38100" y="676654"/>
                </a:moveTo>
                <a:lnTo>
                  <a:pt x="0" y="676654"/>
                </a:lnTo>
                <a:lnTo>
                  <a:pt x="57150" y="790954"/>
                </a:lnTo>
                <a:lnTo>
                  <a:pt x="104774" y="695704"/>
                </a:lnTo>
                <a:lnTo>
                  <a:pt x="38100" y="695704"/>
                </a:lnTo>
                <a:lnTo>
                  <a:pt x="38100" y="676654"/>
                </a:lnTo>
                <a:close/>
              </a:path>
              <a:path w="114300" h="791209">
                <a:moveTo>
                  <a:pt x="76200" y="0"/>
                </a:moveTo>
                <a:lnTo>
                  <a:pt x="38100" y="0"/>
                </a:lnTo>
                <a:lnTo>
                  <a:pt x="38100" y="695704"/>
                </a:lnTo>
                <a:lnTo>
                  <a:pt x="76200" y="695704"/>
                </a:lnTo>
                <a:lnTo>
                  <a:pt x="76200" y="0"/>
                </a:lnTo>
                <a:close/>
              </a:path>
              <a:path w="114300" h="791209">
                <a:moveTo>
                  <a:pt x="114300" y="676654"/>
                </a:moveTo>
                <a:lnTo>
                  <a:pt x="76200" y="676654"/>
                </a:lnTo>
                <a:lnTo>
                  <a:pt x="76200" y="695704"/>
                </a:lnTo>
                <a:lnTo>
                  <a:pt x="104774" y="695704"/>
                </a:lnTo>
                <a:lnTo>
                  <a:pt x="114300" y="6766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084070" y="6119876"/>
            <a:ext cx="736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FFFF"/>
                </a:solidFill>
                <a:latin typeface="Times New Roman"/>
                <a:cs typeface="Times New Roman"/>
              </a:rPr>
              <a:t>Next: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153403" y="4902454"/>
            <a:ext cx="898525" cy="838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E.false</a:t>
            </a:r>
            <a:endParaRPr sz="2400">
              <a:latin typeface="Times New Roman"/>
              <a:cs typeface="Times New Roman"/>
            </a:endParaRPr>
          </a:p>
          <a:p>
            <a:pPr algn="ctr" marL="69215">
              <a:lnSpc>
                <a:spcPct val="100000"/>
              </a:lnSpc>
              <a:spcBef>
                <a:spcPts val="155"/>
              </a:spcBef>
            </a:pPr>
            <a:r>
              <a:rPr dirty="0" sz="2800" spc="-5" b="1">
                <a:solidFill>
                  <a:srgbClr val="FFFF00"/>
                </a:solidFill>
                <a:latin typeface="Wingdings 3"/>
                <a:cs typeface="Wingdings 3"/>
              </a:rPr>
              <a:t></a:t>
            </a:r>
            <a:endParaRPr sz="2800">
              <a:latin typeface="Wingdings 3"/>
              <a:cs typeface="Wingdings 3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14056" y="4899405"/>
            <a:ext cx="647700" cy="8267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Next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2800" spc="-10" b="1">
                <a:solidFill>
                  <a:srgbClr val="FFFF00"/>
                </a:solidFill>
                <a:latin typeface="Wingdings 3"/>
                <a:cs typeface="Wingdings 3"/>
              </a:rPr>
              <a:t></a:t>
            </a:r>
            <a:endParaRPr sz="2800">
              <a:latin typeface="Wingdings 3"/>
              <a:cs typeface="Wingdings 3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458967" y="1281683"/>
            <a:ext cx="1666239" cy="619125"/>
          </a:xfrm>
          <a:custGeom>
            <a:avLst/>
            <a:gdLst/>
            <a:ahLst/>
            <a:cxnLst/>
            <a:rect l="l" t="t" r="r" b="b"/>
            <a:pathLst>
              <a:path w="1666240" h="619125">
                <a:moveTo>
                  <a:pt x="0" y="618744"/>
                </a:moveTo>
                <a:lnTo>
                  <a:pt x="1665732" y="618744"/>
                </a:lnTo>
                <a:lnTo>
                  <a:pt x="1665732" y="0"/>
                </a:lnTo>
                <a:lnTo>
                  <a:pt x="0" y="0"/>
                </a:lnTo>
                <a:lnTo>
                  <a:pt x="0" y="618744"/>
                </a:lnTo>
                <a:close/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458967" y="1920239"/>
            <a:ext cx="1666239" cy="619125"/>
          </a:xfrm>
          <a:custGeom>
            <a:avLst/>
            <a:gdLst/>
            <a:ahLst/>
            <a:cxnLst/>
            <a:rect l="l" t="t" r="r" b="b"/>
            <a:pathLst>
              <a:path w="1666240" h="619125">
                <a:moveTo>
                  <a:pt x="0" y="618743"/>
                </a:moveTo>
                <a:lnTo>
                  <a:pt x="1665732" y="618743"/>
                </a:lnTo>
                <a:lnTo>
                  <a:pt x="1665732" y="0"/>
                </a:lnTo>
                <a:lnTo>
                  <a:pt x="0" y="0"/>
                </a:lnTo>
                <a:lnTo>
                  <a:pt x="0" y="618743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615178" y="2023998"/>
            <a:ext cx="101726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S1.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ode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458967" y="3776471"/>
            <a:ext cx="0" cy="742315"/>
          </a:xfrm>
          <a:custGeom>
            <a:avLst/>
            <a:gdLst/>
            <a:ahLst/>
            <a:cxnLst/>
            <a:rect l="l" t="t" r="r" b="b"/>
            <a:pathLst>
              <a:path w="0" h="742314">
                <a:moveTo>
                  <a:pt x="0" y="0"/>
                </a:moveTo>
                <a:lnTo>
                  <a:pt x="0" y="742188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124700" y="3776471"/>
            <a:ext cx="0" cy="742315"/>
          </a:xfrm>
          <a:custGeom>
            <a:avLst/>
            <a:gdLst/>
            <a:ahLst/>
            <a:cxnLst/>
            <a:rect l="l" t="t" r="r" b="b"/>
            <a:pathLst>
              <a:path w="0" h="742314">
                <a:moveTo>
                  <a:pt x="0" y="0"/>
                </a:moveTo>
                <a:lnTo>
                  <a:pt x="0" y="742188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834253" y="3964304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368031" y="1340358"/>
            <a:ext cx="16173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Goto</a:t>
            </a:r>
            <a:r>
              <a:rPr dirty="0" sz="24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E.false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832092" y="1546860"/>
            <a:ext cx="523240" cy="76200"/>
          </a:xfrm>
          <a:custGeom>
            <a:avLst/>
            <a:gdLst/>
            <a:ahLst/>
            <a:cxnLst/>
            <a:rect l="l" t="t" r="r" b="b"/>
            <a:pathLst>
              <a:path w="523240" h="76200">
                <a:moveTo>
                  <a:pt x="446531" y="0"/>
                </a:moveTo>
                <a:lnTo>
                  <a:pt x="446531" y="76200"/>
                </a:lnTo>
                <a:lnTo>
                  <a:pt x="510031" y="44450"/>
                </a:lnTo>
                <a:lnTo>
                  <a:pt x="459231" y="44450"/>
                </a:lnTo>
                <a:lnTo>
                  <a:pt x="459231" y="31750"/>
                </a:lnTo>
                <a:lnTo>
                  <a:pt x="510031" y="31750"/>
                </a:lnTo>
                <a:lnTo>
                  <a:pt x="446531" y="0"/>
                </a:lnTo>
                <a:close/>
              </a:path>
              <a:path w="523240" h="76200">
                <a:moveTo>
                  <a:pt x="44653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46531" y="44450"/>
                </a:lnTo>
                <a:lnTo>
                  <a:pt x="446531" y="31750"/>
                </a:lnTo>
                <a:close/>
              </a:path>
              <a:path w="523240" h="76200">
                <a:moveTo>
                  <a:pt x="510031" y="31750"/>
                </a:moveTo>
                <a:lnTo>
                  <a:pt x="459231" y="31750"/>
                </a:lnTo>
                <a:lnTo>
                  <a:pt x="459231" y="44450"/>
                </a:lnTo>
                <a:lnTo>
                  <a:pt x="510031" y="44450"/>
                </a:lnTo>
                <a:lnTo>
                  <a:pt x="522731" y="38100"/>
                </a:lnTo>
                <a:lnTo>
                  <a:pt x="510031" y="317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458967" y="2538983"/>
            <a:ext cx="1666239" cy="619125"/>
          </a:xfrm>
          <a:custGeom>
            <a:avLst/>
            <a:gdLst/>
            <a:ahLst/>
            <a:cxnLst/>
            <a:rect l="l" t="t" r="r" b="b"/>
            <a:pathLst>
              <a:path w="1666240" h="619125">
                <a:moveTo>
                  <a:pt x="0" y="618744"/>
                </a:moveTo>
                <a:lnTo>
                  <a:pt x="1665732" y="618744"/>
                </a:lnTo>
                <a:lnTo>
                  <a:pt x="1665732" y="0"/>
                </a:lnTo>
                <a:lnTo>
                  <a:pt x="0" y="0"/>
                </a:lnTo>
                <a:lnTo>
                  <a:pt x="0" y="618744"/>
                </a:lnTo>
                <a:close/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458967" y="3157727"/>
            <a:ext cx="1666239" cy="619125"/>
          </a:xfrm>
          <a:custGeom>
            <a:avLst/>
            <a:gdLst/>
            <a:ahLst/>
            <a:cxnLst/>
            <a:rect l="l" t="t" r="r" b="b"/>
            <a:pathLst>
              <a:path w="1666240" h="619125">
                <a:moveTo>
                  <a:pt x="0" y="618744"/>
                </a:moveTo>
                <a:lnTo>
                  <a:pt x="1665732" y="618744"/>
                </a:lnTo>
                <a:lnTo>
                  <a:pt x="1665732" y="0"/>
                </a:lnTo>
                <a:lnTo>
                  <a:pt x="0" y="0"/>
                </a:lnTo>
                <a:lnTo>
                  <a:pt x="0" y="618744"/>
                </a:lnTo>
                <a:close/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4421378" y="2491993"/>
            <a:ext cx="2491105" cy="1057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1168400">
              <a:lnSpc>
                <a:spcPct val="141100"/>
              </a:lnSpc>
              <a:spcBef>
                <a:spcPts val="100"/>
              </a:spcBef>
              <a:tabLst>
                <a:tab pos="1205865" algn="l"/>
              </a:tabLst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goto</a:t>
            </a:r>
            <a:r>
              <a:rPr dirty="0" sz="2400" spc="-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Next  </a:t>
            </a: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E.false:	</a:t>
            </a:r>
            <a:r>
              <a:rPr dirty="0" baseline="-18518" sz="3600" b="1">
                <a:solidFill>
                  <a:srgbClr val="FFFFFF"/>
                </a:solidFill>
                <a:latin typeface="Times New Roman"/>
                <a:cs typeface="Times New Roman"/>
              </a:rPr>
              <a:t>S2.code</a:t>
            </a:r>
            <a:endParaRPr baseline="-18518" sz="36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623053" y="3798570"/>
            <a:ext cx="812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FFFF"/>
                </a:solidFill>
                <a:latin typeface="Times New Roman"/>
                <a:cs typeface="Times New Roman"/>
              </a:rPr>
              <a:t>Next</a:t>
            </a:r>
            <a:r>
              <a:rPr dirty="0" sz="2400" spc="-65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FFFF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443728" y="751331"/>
            <a:ext cx="1681480" cy="530860"/>
          </a:xfrm>
          <a:custGeom>
            <a:avLst/>
            <a:gdLst/>
            <a:ahLst/>
            <a:cxnLst/>
            <a:rect l="l" t="t" r="r" b="b"/>
            <a:pathLst>
              <a:path w="1681479" h="530860">
                <a:moveTo>
                  <a:pt x="0" y="530351"/>
                </a:moveTo>
                <a:lnTo>
                  <a:pt x="1680972" y="530351"/>
                </a:lnTo>
                <a:lnTo>
                  <a:pt x="1680972" y="0"/>
                </a:lnTo>
                <a:lnTo>
                  <a:pt x="0" y="0"/>
                </a:lnTo>
                <a:lnTo>
                  <a:pt x="0" y="530351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5599303" y="596392"/>
            <a:ext cx="897890" cy="1184275"/>
          </a:xfrm>
          <a:prstGeom prst="rect">
            <a:avLst/>
          </a:prstGeom>
        </p:spPr>
        <p:txBody>
          <a:bodyPr wrap="square" lIns="0" tIns="2260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E.code</a:t>
            </a:r>
            <a:endParaRPr sz="2400">
              <a:latin typeface="Times New Roman"/>
              <a:cs typeface="Times New Roman"/>
            </a:endParaRPr>
          </a:p>
          <a:p>
            <a:pPr marL="28575">
              <a:lnSpc>
                <a:spcPct val="100000"/>
              </a:lnSpc>
              <a:spcBef>
                <a:spcPts val="168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测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905255" y="4535423"/>
            <a:ext cx="1074420" cy="536575"/>
          </a:xfrm>
          <a:custGeom>
            <a:avLst/>
            <a:gdLst/>
            <a:ahLst/>
            <a:cxnLst/>
            <a:rect l="l" t="t" r="r" b="b"/>
            <a:pathLst>
              <a:path w="1074420" h="536575">
                <a:moveTo>
                  <a:pt x="0" y="268224"/>
                </a:moveTo>
                <a:lnTo>
                  <a:pt x="14187" y="206739"/>
                </a:lnTo>
                <a:lnTo>
                  <a:pt x="54601" y="150289"/>
                </a:lnTo>
                <a:lnTo>
                  <a:pt x="83636" y="124456"/>
                </a:lnTo>
                <a:lnTo>
                  <a:pt x="118017" y="100486"/>
                </a:lnTo>
                <a:lnTo>
                  <a:pt x="157343" y="78581"/>
                </a:lnTo>
                <a:lnTo>
                  <a:pt x="201210" y="58942"/>
                </a:lnTo>
                <a:lnTo>
                  <a:pt x="249216" y="41772"/>
                </a:lnTo>
                <a:lnTo>
                  <a:pt x="300956" y="27272"/>
                </a:lnTo>
                <a:lnTo>
                  <a:pt x="356029" y="15642"/>
                </a:lnTo>
                <a:lnTo>
                  <a:pt x="414031" y="7086"/>
                </a:lnTo>
                <a:lnTo>
                  <a:pt x="474559" y="1805"/>
                </a:lnTo>
                <a:lnTo>
                  <a:pt x="537210" y="0"/>
                </a:lnTo>
                <a:lnTo>
                  <a:pt x="599856" y="1805"/>
                </a:lnTo>
                <a:lnTo>
                  <a:pt x="660380" y="7086"/>
                </a:lnTo>
                <a:lnTo>
                  <a:pt x="718380" y="15642"/>
                </a:lnTo>
                <a:lnTo>
                  <a:pt x="773452" y="27272"/>
                </a:lnTo>
                <a:lnTo>
                  <a:pt x="825192" y="41772"/>
                </a:lnTo>
                <a:lnTo>
                  <a:pt x="873198" y="58942"/>
                </a:lnTo>
                <a:lnTo>
                  <a:pt x="917067" y="78581"/>
                </a:lnTo>
                <a:lnTo>
                  <a:pt x="956394" y="100486"/>
                </a:lnTo>
                <a:lnTo>
                  <a:pt x="990777" y="124456"/>
                </a:lnTo>
                <a:lnTo>
                  <a:pt x="1019813" y="150289"/>
                </a:lnTo>
                <a:lnTo>
                  <a:pt x="1060230" y="206739"/>
                </a:lnTo>
                <a:lnTo>
                  <a:pt x="1074420" y="268224"/>
                </a:lnTo>
                <a:lnTo>
                  <a:pt x="1070805" y="299494"/>
                </a:lnTo>
                <a:lnTo>
                  <a:pt x="1043099" y="358663"/>
                </a:lnTo>
                <a:lnTo>
                  <a:pt x="990777" y="411991"/>
                </a:lnTo>
                <a:lnTo>
                  <a:pt x="956394" y="435961"/>
                </a:lnTo>
                <a:lnTo>
                  <a:pt x="917066" y="457866"/>
                </a:lnTo>
                <a:lnTo>
                  <a:pt x="873198" y="477505"/>
                </a:lnTo>
                <a:lnTo>
                  <a:pt x="825192" y="494675"/>
                </a:lnTo>
                <a:lnTo>
                  <a:pt x="773452" y="509175"/>
                </a:lnTo>
                <a:lnTo>
                  <a:pt x="718380" y="520805"/>
                </a:lnTo>
                <a:lnTo>
                  <a:pt x="660380" y="529361"/>
                </a:lnTo>
                <a:lnTo>
                  <a:pt x="599856" y="534642"/>
                </a:lnTo>
                <a:lnTo>
                  <a:pt x="537210" y="536448"/>
                </a:lnTo>
                <a:lnTo>
                  <a:pt x="474559" y="534642"/>
                </a:lnTo>
                <a:lnTo>
                  <a:pt x="414031" y="529361"/>
                </a:lnTo>
                <a:lnTo>
                  <a:pt x="356029" y="520805"/>
                </a:lnTo>
                <a:lnTo>
                  <a:pt x="300956" y="509175"/>
                </a:lnTo>
                <a:lnTo>
                  <a:pt x="249216" y="494675"/>
                </a:lnTo>
                <a:lnTo>
                  <a:pt x="201210" y="477505"/>
                </a:lnTo>
                <a:lnTo>
                  <a:pt x="157343" y="457866"/>
                </a:lnTo>
                <a:lnTo>
                  <a:pt x="118017" y="435961"/>
                </a:lnTo>
                <a:lnTo>
                  <a:pt x="83636" y="411991"/>
                </a:lnTo>
                <a:lnTo>
                  <a:pt x="54601" y="386158"/>
                </a:lnTo>
                <a:lnTo>
                  <a:pt x="14187" y="329708"/>
                </a:lnTo>
                <a:lnTo>
                  <a:pt x="0" y="268224"/>
                </a:lnTo>
                <a:close/>
              </a:path>
            </a:pathLst>
          </a:custGeom>
          <a:ln w="5715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982723" y="6083808"/>
            <a:ext cx="989330" cy="536575"/>
          </a:xfrm>
          <a:custGeom>
            <a:avLst/>
            <a:gdLst/>
            <a:ahLst/>
            <a:cxnLst/>
            <a:rect l="l" t="t" r="r" b="b"/>
            <a:pathLst>
              <a:path w="989330" h="536575">
                <a:moveTo>
                  <a:pt x="0" y="268223"/>
                </a:moveTo>
                <a:lnTo>
                  <a:pt x="15100" y="202181"/>
                </a:lnTo>
                <a:lnTo>
                  <a:pt x="57932" y="142131"/>
                </a:lnTo>
                <a:lnTo>
                  <a:pt x="88590" y="114983"/>
                </a:lnTo>
                <a:lnTo>
                  <a:pt x="124792" y="90087"/>
                </a:lnTo>
                <a:lnTo>
                  <a:pt x="166075" y="67694"/>
                </a:lnTo>
                <a:lnTo>
                  <a:pt x="211975" y="48057"/>
                </a:lnTo>
                <a:lnTo>
                  <a:pt x="262030" y="31427"/>
                </a:lnTo>
                <a:lnTo>
                  <a:pt x="315777" y="18054"/>
                </a:lnTo>
                <a:lnTo>
                  <a:pt x="372752" y="8192"/>
                </a:lnTo>
                <a:lnTo>
                  <a:pt x="432494" y="2089"/>
                </a:lnTo>
                <a:lnTo>
                  <a:pt x="494538" y="0"/>
                </a:lnTo>
                <a:lnTo>
                  <a:pt x="556581" y="2089"/>
                </a:lnTo>
                <a:lnTo>
                  <a:pt x="616323" y="8192"/>
                </a:lnTo>
                <a:lnTo>
                  <a:pt x="673298" y="18054"/>
                </a:lnTo>
                <a:lnTo>
                  <a:pt x="727045" y="31427"/>
                </a:lnTo>
                <a:lnTo>
                  <a:pt x="777100" y="48057"/>
                </a:lnTo>
                <a:lnTo>
                  <a:pt x="823000" y="67694"/>
                </a:lnTo>
                <a:lnTo>
                  <a:pt x="864283" y="90087"/>
                </a:lnTo>
                <a:lnTo>
                  <a:pt x="900485" y="114983"/>
                </a:lnTo>
                <a:lnTo>
                  <a:pt x="931143" y="142131"/>
                </a:lnTo>
                <a:lnTo>
                  <a:pt x="955794" y="171281"/>
                </a:lnTo>
                <a:lnTo>
                  <a:pt x="985223" y="234579"/>
                </a:lnTo>
                <a:lnTo>
                  <a:pt x="989076" y="268223"/>
                </a:lnTo>
                <a:lnTo>
                  <a:pt x="985223" y="301868"/>
                </a:lnTo>
                <a:lnTo>
                  <a:pt x="955794" y="365166"/>
                </a:lnTo>
                <a:lnTo>
                  <a:pt x="931143" y="394316"/>
                </a:lnTo>
                <a:lnTo>
                  <a:pt x="900485" y="421464"/>
                </a:lnTo>
                <a:lnTo>
                  <a:pt x="864283" y="446360"/>
                </a:lnTo>
                <a:lnTo>
                  <a:pt x="823000" y="468753"/>
                </a:lnTo>
                <a:lnTo>
                  <a:pt x="777100" y="488390"/>
                </a:lnTo>
                <a:lnTo>
                  <a:pt x="727045" y="505020"/>
                </a:lnTo>
                <a:lnTo>
                  <a:pt x="673298" y="518393"/>
                </a:lnTo>
                <a:lnTo>
                  <a:pt x="616323" y="528255"/>
                </a:lnTo>
                <a:lnTo>
                  <a:pt x="556581" y="534358"/>
                </a:lnTo>
                <a:lnTo>
                  <a:pt x="494538" y="536447"/>
                </a:lnTo>
                <a:lnTo>
                  <a:pt x="432494" y="534358"/>
                </a:lnTo>
                <a:lnTo>
                  <a:pt x="372752" y="528255"/>
                </a:lnTo>
                <a:lnTo>
                  <a:pt x="315777" y="518393"/>
                </a:lnTo>
                <a:lnTo>
                  <a:pt x="262030" y="505020"/>
                </a:lnTo>
                <a:lnTo>
                  <a:pt x="211975" y="488390"/>
                </a:lnTo>
                <a:lnTo>
                  <a:pt x="166075" y="468753"/>
                </a:lnTo>
                <a:lnTo>
                  <a:pt x="124792" y="446360"/>
                </a:lnTo>
                <a:lnTo>
                  <a:pt x="88590" y="421464"/>
                </a:lnTo>
                <a:lnTo>
                  <a:pt x="57932" y="394316"/>
                </a:lnTo>
                <a:lnTo>
                  <a:pt x="33281" y="365166"/>
                </a:lnTo>
                <a:lnTo>
                  <a:pt x="3852" y="301868"/>
                </a:lnTo>
                <a:lnTo>
                  <a:pt x="0" y="268223"/>
                </a:lnTo>
                <a:close/>
              </a:path>
            </a:pathLst>
          </a:custGeom>
          <a:ln w="5715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998470" y="4519421"/>
            <a:ext cx="0" cy="1565275"/>
          </a:xfrm>
          <a:custGeom>
            <a:avLst/>
            <a:gdLst/>
            <a:ahLst/>
            <a:cxnLst/>
            <a:rect l="l" t="t" r="r" b="b"/>
            <a:pathLst>
              <a:path w="0" h="1565275">
                <a:moveTo>
                  <a:pt x="0" y="0"/>
                </a:moveTo>
                <a:lnTo>
                  <a:pt x="0" y="1565147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082545" y="6084570"/>
            <a:ext cx="916305" cy="0"/>
          </a:xfrm>
          <a:custGeom>
            <a:avLst/>
            <a:gdLst/>
            <a:ahLst/>
            <a:cxnLst/>
            <a:rect l="l" t="t" r="r" b="b"/>
            <a:pathLst>
              <a:path w="916305" h="0">
                <a:moveTo>
                  <a:pt x="915924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4843" y="0"/>
            <a:ext cx="8428990" cy="564959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605"/>
              </a:spcBef>
              <a:tabLst>
                <a:tab pos="694055" algn="l"/>
                <a:tab pos="3823335" algn="l"/>
                <a:tab pos="4330700" algn="l"/>
                <a:tab pos="573468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  <a:p>
            <a:pPr marL="513715" indent="-318135">
              <a:lnSpc>
                <a:spcPct val="100000"/>
              </a:lnSpc>
              <a:spcBef>
                <a:spcPts val="1415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51435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条件语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句</a:t>
            </a:r>
            <a:r>
              <a:rPr dirty="0" sz="3200" spc="10" b="1">
                <a:solidFill>
                  <a:srgbClr val="FF9933"/>
                </a:solidFill>
                <a:latin typeface="幼圆"/>
                <a:cs typeface="幼圆"/>
              </a:rPr>
              <a:t>②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翻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译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的语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义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子程序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 →if E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then S1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else</a:t>
            </a:r>
            <a:r>
              <a:rPr dirty="0" sz="32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S2</a:t>
            </a:r>
            <a:endParaRPr sz="3200">
              <a:latin typeface="Times New Roman"/>
              <a:cs typeface="Times New Roman"/>
            </a:endParaRPr>
          </a:p>
          <a:p>
            <a:pPr marL="545465" marR="4926965" indent="-431800">
              <a:lnSpc>
                <a:spcPct val="127299"/>
              </a:lnSpc>
              <a:spcBef>
                <a:spcPts val="110"/>
              </a:spcBef>
              <a:tabLst>
                <a:tab pos="57912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	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E.fal</a:t>
            </a:r>
            <a:r>
              <a:rPr dirty="0" sz="2800" b="1">
                <a:solidFill>
                  <a:srgbClr val="FFFF66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e=ne</a:t>
            </a:r>
            <a:r>
              <a:rPr dirty="0" sz="2800" spc="-40" b="1">
                <a:solidFill>
                  <a:srgbClr val="FFFF66"/>
                </a:solidFill>
                <a:latin typeface="Times New Roman"/>
                <a:cs typeface="Times New Roman"/>
              </a:rPr>
              <a:t>w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l</a:t>
            </a:r>
            <a:r>
              <a:rPr dirty="0" sz="2800" b="1">
                <a:solidFill>
                  <a:srgbClr val="FFFF66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be</a:t>
            </a:r>
            <a:r>
              <a:rPr dirty="0" sz="2800" spc="5" b="1">
                <a:solidFill>
                  <a:srgbClr val="FFFF66"/>
                </a:solidFill>
                <a:latin typeface="Times New Roman"/>
                <a:cs typeface="Times New Roman"/>
              </a:rPr>
              <a:t>l</a:t>
            </a:r>
            <a:r>
              <a:rPr dirty="0" sz="2800" spc="-10" b="1">
                <a:solidFill>
                  <a:srgbClr val="FFFF66"/>
                </a:solidFill>
                <a:latin typeface="宋体"/>
                <a:cs typeface="宋体"/>
              </a:rPr>
              <a:t>；  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S.next=newlabel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2058035" marR="1391285" indent="-1600835">
              <a:lnSpc>
                <a:spcPct val="129000"/>
              </a:lnSpc>
              <a:spcBef>
                <a:spcPts val="35"/>
              </a:spcBef>
            </a:pP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S.code=E.code | </a:t>
            </a:r>
            <a:r>
              <a:rPr dirty="0" sz="2800" spc="-10" b="1">
                <a:solidFill>
                  <a:srgbClr val="FFFF66"/>
                </a:solidFill>
                <a:latin typeface="Times New Roman"/>
                <a:cs typeface="Times New Roman"/>
              </a:rPr>
              <a:t>GEN 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(jF 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E.false) |  S1.code</a:t>
            </a:r>
            <a:r>
              <a:rPr dirty="0" sz="2800" spc="-15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|</a:t>
            </a:r>
            <a:endParaRPr sz="2800">
              <a:latin typeface="Times New Roman"/>
              <a:cs typeface="Times New Roman"/>
            </a:endParaRPr>
          </a:p>
          <a:p>
            <a:pPr marL="2058035" marR="2613660">
              <a:lnSpc>
                <a:spcPct val="130100"/>
              </a:lnSpc>
              <a:spcBef>
                <a:spcPts val="30"/>
              </a:spcBef>
            </a:pP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GEN (j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S.next) |  GEN (E.false'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：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')</a:t>
            </a:r>
            <a:r>
              <a:rPr dirty="0" sz="2800" spc="-2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66"/>
                </a:solidFill>
                <a:latin typeface="Times New Roman"/>
                <a:cs typeface="Times New Roman"/>
              </a:rPr>
              <a:t>|</a:t>
            </a:r>
            <a:endParaRPr sz="2800">
              <a:latin typeface="Times New Roman"/>
              <a:cs typeface="Times New Roman"/>
            </a:endParaRPr>
          </a:p>
          <a:p>
            <a:pPr marL="2146300">
              <a:lnSpc>
                <a:spcPct val="100000"/>
              </a:lnSpc>
              <a:spcBef>
                <a:spcPts val="1150"/>
              </a:spcBef>
            </a:pPr>
            <a:r>
              <a:rPr dirty="0" sz="2800" b="1">
                <a:solidFill>
                  <a:srgbClr val="FFFF66"/>
                </a:solidFill>
                <a:latin typeface="Times New Roman"/>
                <a:cs typeface="Times New Roman"/>
              </a:rPr>
              <a:t>S2.code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|GEN(S.next '</a:t>
            </a:r>
            <a:r>
              <a:rPr dirty="0" sz="3200" b="1">
                <a:solidFill>
                  <a:srgbClr val="FFFF66"/>
                </a:solidFill>
                <a:latin typeface="宋体"/>
                <a:cs typeface="宋体"/>
              </a:rPr>
              <a:t>：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' )</a:t>
            </a:r>
            <a:r>
              <a:rPr dirty="0" sz="3200" spc="-335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247" y="26923"/>
            <a:ext cx="34855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05783" y="26923"/>
            <a:ext cx="46183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  <a:tab pos="192341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06417" y="5775197"/>
            <a:ext cx="3953510" cy="521334"/>
          </a:xfrm>
          <a:prstGeom prst="rect">
            <a:avLst/>
          </a:prstGeom>
          <a:ln w="38100">
            <a:solidFill>
              <a:srgbClr val="FF66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97840">
              <a:lnSpc>
                <a:spcPts val="3620"/>
              </a:lnSpc>
              <a:tabLst>
                <a:tab pos="1626235" algn="l"/>
                <a:tab pos="236982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while	(E)	S1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18310" y="1960626"/>
            <a:ext cx="1216660" cy="451484"/>
          </a:xfrm>
          <a:custGeom>
            <a:avLst/>
            <a:gdLst/>
            <a:ahLst/>
            <a:cxnLst/>
            <a:rect l="l" t="t" r="r" b="b"/>
            <a:pathLst>
              <a:path w="1216660" h="451485">
                <a:moveTo>
                  <a:pt x="0" y="451103"/>
                </a:moveTo>
                <a:lnTo>
                  <a:pt x="1216152" y="451103"/>
                </a:lnTo>
                <a:lnTo>
                  <a:pt x="1216152" y="0"/>
                </a:lnTo>
                <a:lnTo>
                  <a:pt x="0" y="0"/>
                </a:lnTo>
                <a:lnTo>
                  <a:pt x="0" y="451103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72817" y="2015489"/>
            <a:ext cx="70739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计算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05177" y="3086861"/>
            <a:ext cx="1214755" cy="563880"/>
          </a:xfrm>
          <a:custGeom>
            <a:avLst/>
            <a:gdLst/>
            <a:ahLst/>
            <a:cxnLst/>
            <a:rect l="l" t="t" r="r" b="b"/>
            <a:pathLst>
              <a:path w="1214755" h="563879">
                <a:moveTo>
                  <a:pt x="0" y="281939"/>
                </a:moveTo>
                <a:lnTo>
                  <a:pt x="607314" y="0"/>
                </a:lnTo>
                <a:lnTo>
                  <a:pt x="1214628" y="281939"/>
                </a:lnTo>
                <a:lnTo>
                  <a:pt x="607314" y="563880"/>
                </a:lnTo>
                <a:lnTo>
                  <a:pt x="0" y="281939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250439" y="3194431"/>
            <a:ext cx="32131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E?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56104" y="2411729"/>
            <a:ext cx="114300" cy="675640"/>
          </a:xfrm>
          <a:custGeom>
            <a:avLst/>
            <a:gdLst/>
            <a:ahLst/>
            <a:cxnLst/>
            <a:rect l="l" t="t" r="r" b="b"/>
            <a:pathLst>
              <a:path w="114300" h="675639">
                <a:moveTo>
                  <a:pt x="38100" y="560832"/>
                </a:moveTo>
                <a:lnTo>
                  <a:pt x="0" y="560832"/>
                </a:lnTo>
                <a:lnTo>
                  <a:pt x="57150" y="675132"/>
                </a:lnTo>
                <a:lnTo>
                  <a:pt x="104775" y="579882"/>
                </a:lnTo>
                <a:lnTo>
                  <a:pt x="38100" y="579882"/>
                </a:lnTo>
                <a:lnTo>
                  <a:pt x="38100" y="560832"/>
                </a:lnTo>
                <a:close/>
              </a:path>
              <a:path w="114300" h="675639">
                <a:moveTo>
                  <a:pt x="76200" y="0"/>
                </a:moveTo>
                <a:lnTo>
                  <a:pt x="38100" y="0"/>
                </a:lnTo>
                <a:lnTo>
                  <a:pt x="38100" y="579882"/>
                </a:lnTo>
                <a:lnTo>
                  <a:pt x="76200" y="579882"/>
                </a:lnTo>
                <a:lnTo>
                  <a:pt x="76200" y="0"/>
                </a:lnTo>
                <a:close/>
              </a:path>
              <a:path w="114300" h="675639">
                <a:moveTo>
                  <a:pt x="114300" y="560832"/>
                </a:moveTo>
                <a:lnTo>
                  <a:pt x="76200" y="560832"/>
                </a:lnTo>
                <a:lnTo>
                  <a:pt x="76200" y="579882"/>
                </a:lnTo>
                <a:lnTo>
                  <a:pt x="104775" y="579882"/>
                </a:lnTo>
                <a:lnTo>
                  <a:pt x="114300" y="5608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570732" y="3350514"/>
            <a:ext cx="114300" cy="562610"/>
          </a:xfrm>
          <a:custGeom>
            <a:avLst/>
            <a:gdLst/>
            <a:ahLst/>
            <a:cxnLst/>
            <a:rect l="l" t="t" r="r" b="b"/>
            <a:pathLst>
              <a:path w="114300" h="562610">
                <a:moveTo>
                  <a:pt x="38100" y="448056"/>
                </a:moveTo>
                <a:lnTo>
                  <a:pt x="0" y="448056"/>
                </a:lnTo>
                <a:lnTo>
                  <a:pt x="57150" y="562356"/>
                </a:lnTo>
                <a:lnTo>
                  <a:pt x="104775" y="467106"/>
                </a:lnTo>
                <a:lnTo>
                  <a:pt x="38100" y="467106"/>
                </a:lnTo>
                <a:lnTo>
                  <a:pt x="38100" y="448056"/>
                </a:lnTo>
                <a:close/>
              </a:path>
              <a:path w="114300" h="562610">
                <a:moveTo>
                  <a:pt x="76200" y="0"/>
                </a:moveTo>
                <a:lnTo>
                  <a:pt x="38100" y="0"/>
                </a:lnTo>
                <a:lnTo>
                  <a:pt x="38100" y="467106"/>
                </a:lnTo>
                <a:lnTo>
                  <a:pt x="76200" y="467106"/>
                </a:lnTo>
                <a:lnTo>
                  <a:pt x="76200" y="0"/>
                </a:lnTo>
                <a:close/>
              </a:path>
              <a:path w="114300" h="562610">
                <a:moveTo>
                  <a:pt x="114300" y="448056"/>
                </a:moveTo>
                <a:lnTo>
                  <a:pt x="76200" y="448056"/>
                </a:lnTo>
                <a:lnTo>
                  <a:pt x="76200" y="467106"/>
                </a:lnTo>
                <a:lnTo>
                  <a:pt x="104775" y="467106"/>
                </a:lnTo>
                <a:lnTo>
                  <a:pt x="114300" y="4480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35940" y="3380994"/>
            <a:ext cx="79629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00FFFF"/>
                </a:solidFill>
                <a:latin typeface="Times New Roman"/>
                <a:cs typeface="Times New Roman"/>
              </a:rPr>
              <a:t>E.true: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33548" y="2919450"/>
            <a:ext cx="893444" cy="886460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85"/>
              </a:spcBef>
              <a:tabLst>
                <a:tab pos="607695" algn="l"/>
              </a:tabLst>
            </a:pPr>
            <a:r>
              <a:rPr dirty="0" u="heavy" sz="2000" spc="-23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0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=0	</a:t>
            </a:r>
            <a:endParaRPr sz="2000">
              <a:latin typeface="Times New Roman"/>
              <a:cs typeface="Times New Roman"/>
            </a:endParaRPr>
          </a:p>
          <a:p>
            <a:pPr algn="r" marR="59690">
              <a:lnSpc>
                <a:spcPct val="100000"/>
              </a:lnSpc>
              <a:spcBef>
                <a:spcPts val="990"/>
              </a:spcBef>
            </a:pPr>
            <a:r>
              <a:rPr dirty="0" sz="2000" b="1">
                <a:solidFill>
                  <a:srgbClr val="00FFFF"/>
                </a:solidFill>
                <a:latin typeface="Times New Roman"/>
                <a:cs typeface="Times New Roman"/>
              </a:rPr>
              <a:t>E.f</a:t>
            </a:r>
            <a:r>
              <a:rPr dirty="0" sz="2000" spc="5" b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2000" b="1">
                <a:solidFill>
                  <a:srgbClr val="00FFFF"/>
                </a:solidFill>
                <a:latin typeface="Times New Roman"/>
                <a:cs typeface="Times New Roman"/>
              </a:rPr>
              <a:t>ls</a:t>
            </a:r>
            <a:r>
              <a:rPr dirty="0" sz="2000" spc="-10" b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r>
              <a:rPr dirty="0" sz="2000" b="1">
                <a:solidFill>
                  <a:srgbClr val="00FFFF"/>
                </a:solidFill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00225" y="3065780"/>
            <a:ext cx="52895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2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000" spc="-5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000" spc="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非</a:t>
            </a:r>
            <a:r>
              <a:rPr dirty="0" u="heavy" sz="2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80110" y="3856482"/>
            <a:ext cx="954405" cy="562610"/>
          </a:xfrm>
          <a:custGeom>
            <a:avLst/>
            <a:gdLst/>
            <a:ahLst/>
            <a:cxnLst/>
            <a:rect l="l" t="t" r="r" b="b"/>
            <a:pathLst>
              <a:path w="954405" h="562610">
                <a:moveTo>
                  <a:pt x="0" y="562356"/>
                </a:moveTo>
                <a:lnTo>
                  <a:pt x="954024" y="562356"/>
                </a:lnTo>
                <a:lnTo>
                  <a:pt x="954024" y="0"/>
                </a:lnTo>
                <a:lnTo>
                  <a:pt x="0" y="0"/>
                </a:lnTo>
                <a:lnTo>
                  <a:pt x="0" y="562356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208938" y="3963670"/>
            <a:ext cx="2946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S1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55775" y="3405378"/>
            <a:ext cx="114300" cy="451484"/>
          </a:xfrm>
          <a:custGeom>
            <a:avLst/>
            <a:gdLst/>
            <a:ahLst/>
            <a:cxnLst/>
            <a:rect l="l" t="t" r="r" b="b"/>
            <a:pathLst>
              <a:path w="114300" h="451485">
                <a:moveTo>
                  <a:pt x="38100" y="336804"/>
                </a:moveTo>
                <a:lnTo>
                  <a:pt x="0" y="336804"/>
                </a:lnTo>
                <a:lnTo>
                  <a:pt x="57150" y="451104"/>
                </a:lnTo>
                <a:lnTo>
                  <a:pt x="104775" y="355854"/>
                </a:lnTo>
                <a:lnTo>
                  <a:pt x="38100" y="355854"/>
                </a:lnTo>
                <a:lnTo>
                  <a:pt x="38100" y="336804"/>
                </a:lnTo>
                <a:close/>
              </a:path>
              <a:path w="114300" h="451485">
                <a:moveTo>
                  <a:pt x="76200" y="0"/>
                </a:moveTo>
                <a:lnTo>
                  <a:pt x="38100" y="0"/>
                </a:lnTo>
                <a:lnTo>
                  <a:pt x="38100" y="355854"/>
                </a:lnTo>
                <a:lnTo>
                  <a:pt x="76200" y="355854"/>
                </a:lnTo>
                <a:lnTo>
                  <a:pt x="76200" y="0"/>
                </a:lnTo>
                <a:close/>
              </a:path>
              <a:path w="114300" h="451485">
                <a:moveTo>
                  <a:pt x="114300" y="336804"/>
                </a:moveTo>
                <a:lnTo>
                  <a:pt x="76200" y="336804"/>
                </a:lnTo>
                <a:lnTo>
                  <a:pt x="76200" y="355854"/>
                </a:lnTo>
                <a:lnTo>
                  <a:pt x="104775" y="355854"/>
                </a:lnTo>
                <a:lnTo>
                  <a:pt x="114300" y="3368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312925" y="4418838"/>
            <a:ext cx="0" cy="338455"/>
          </a:xfrm>
          <a:custGeom>
            <a:avLst/>
            <a:gdLst/>
            <a:ahLst/>
            <a:cxnLst/>
            <a:rect l="l" t="t" r="r" b="b"/>
            <a:pathLst>
              <a:path w="0" h="338454">
                <a:moveTo>
                  <a:pt x="0" y="338328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282951" y="1041653"/>
            <a:ext cx="114300" cy="901065"/>
          </a:xfrm>
          <a:custGeom>
            <a:avLst/>
            <a:gdLst/>
            <a:ahLst/>
            <a:cxnLst/>
            <a:rect l="l" t="t" r="r" b="b"/>
            <a:pathLst>
              <a:path w="114300" h="901064">
                <a:moveTo>
                  <a:pt x="38100" y="786384"/>
                </a:moveTo>
                <a:lnTo>
                  <a:pt x="0" y="786384"/>
                </a:lnTo>
                <a:lnTo>
                  <a:pt x="57150" y="900684"/>
                </a:lnTo>
                <a:lnTo>
                  <a:pt x="104775" y="805434"/>
                </a:lnTo>
                <a:lnTo>
                  <a:pt x="38100" y="805434"/>
                </a:lnTo>
                <a:lnTo>
                  <a:pt x="38100" y="786384"/>
                </a:lnTo>
                <a:close/>
              </a:path>
              <a:path w="114300" h="901064">
                <a:moveTo>
                  <a:pt x="76200" y="0"/>
                </a:moveTo>
                <a:lnTo>
                  <a:pt x="38100" y="0"/>
                </a:lnTo>
                <a:lnTo>
                  <a:pt x="38100" y="805434"/>
                </a:lnTo>
                <a:lnTo>
                  <a:pt x="76200" y="805434"/>
                </a:lnTo>
                <a:lnTo>
                  <a:pt x="76200" y="0"/>
                </a:lnTo>
                <a:close/>
              </a:path>
              <a:path w="114300" h="901064">
                <a:moveTo>
                  <a:pt x="114300" y="786384"/>
                </a:moveTo>
                <a:lnTo>
                  <a:pt x="76200" y="786384"/>
                </a:lnTo>
                <a:lnTo>
                  <a:pt x="76200" y="805434"/>
                </a:lnTo>
                <a:lnTo>
                  <a:pt x="104775" y="805434"/>
                </a:lnTo>
                <a:lnTo>
                  <a:pt x="114300" y="7863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18922" y="4757165"/>
            <a:ext cx="780415" cy="0"/>
          </a:xfrm>
          <a:custGeom>
            <a:avLst/>
            <a:gdLst/>
            <a:ahLst/>
            <a:cxnLst/>
            <a:rect l="l" t="t" r="r" b="b"/>
            <a:pathLst>
              <a:path w="780415" h="0">
                <a:moveTo>
                  <a:pt x="0" y="0"/>
                </a:moveTo>
                <a:lnTo>
                  <a:pt x="780288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32637" y="1287017"/>
            <a:ext cx="0" cy="3488690"/>
          </a:xfrm>
          <a:custGeom>
            <a:avLst/>
            <a:gdLst/>
            <a:ahLst/>
            <a:cxnLst/>
            <a:rect l="l" t="t" r="r" b="b"/>
            <a:pathLst>
              <a:path w="0" h="3488690">
                <a:moveTo>
                  <a:pt x="0" y="3488436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18922" y="1210055"/>
            <a:ext cx="1821180" cy="114300"/>
          </a:xfrm>
          <a:custGeom>
            <a:avLst/>
            <a:gdLst/>
            <a:ahLst/>
            <a:cxnLst/>
            <a:rect l="l" t="t" r="r" b="b"/>
            <a:pathLst>
              <a:path w="1821180" h="114300">
                <a:moveTo>
                  <a:pt x="1706879" y="0"/>
                </a:moveTo>
                <a:lnTo>
                  <a:pt x="1706879" y="114300"/>
                </a:lnTo>
                <a:lnTo>
                  <a:pt x="1783079" y="76200"/>
                </a:lnTo>
                <a:lnTo>
                  <a:pt x="1725929" y="76200"/>
                </a:lnTo>
                <a:lnTo>
                  <a:pt x="1725929" y="38100"/>
                </a:lnTo>
                <a:lnTo>
                  <a:pt x="1783079" y="38100"/>
                </a:lnTo>
                <a:lnTo>
                  <a:pt x="1706879" y="0"/>
                </a:lnTo>
                <a:close/>
              </a:path>
              <a:path w="1821180" h="114300">
                <a:moveTo>
                  <a:pt x="170687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706879" y="76200"/>
                </a:lnTo>
                <a:lnTo>
                  <a:pt x="1706879" y="38100"/>
                </a:lnTo>
                <a:close/>
              </a:path>
              <a:path w="1821180" h="114300">
                <a:moveTo>
                  <a:pt x="1783079" y="38100"/>
                </a:moveTo>
                <a:lnTo>
                  <a:pt x="1725929" y="38100"/>
                </a:lnTo>
                <a:lnTo>
                  <a:pt x="1725929" y="76200"/>
                </a:lnTo>
                <a:lnTo>
                  <a:pt x="1783079" y="76200"/>
                </a:lnTo>
                <a:lnTo>
                  <a:pt x="1821179" y="57150"/>
                </a:lnTo>
                <a:lnTo>
                  <a:pt x="1783079" y="38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322069" y="1299463"/>
            <a:ext cx="937894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00FFFF"/>
                </a:solidFill>
                <a:latin typeface="Times New Roman"/>
                <a:cs typeface="Times New Roman"/>
              </a:rPr>
              <a:t>E.</a:t>
            </a:r>
            <a:r>
              <a:rPr dirty="0" sz="2000" b="1">
                <a:solidFill>
                  <a:srgbClr val="00FFFF"/>
                </a:solidFill>
                <a:latin typeface="Times New Roman"/>
                <a:cs typeface="Times New Roman"/>
              </a:rPr>
              <a:t>begin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048503" y="4916246"/>
            <a:ext cx="2919730" cy="810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850"/>
              </a:lnSpc>
              <a:spcBef>
                <a:spcPts val="100"/>
              </a:spcBef>
              <a:tabLst>
                <a:tab pos="946150" algn="l"/>
                <a:tab pos="2033270" algn="l"/>
              </a:tabLst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begin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E.true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E.false</a:t>
            </a:r>
            <a:endParaRPr sz="2400">
              <a:latin typeface="Times New Roman"/>
              <a:cs typeface="Times New Roman"/>
            </a:endParaRPr>
          </a:p>
          <a:p>
            <a:pPr marL="350520">
              <a:lnSpc>
                <a:spcPts val="3329"/>
              </a:lnSpc>
              <a:tabLst>
                <a:tab pos="1242695" algn="l"/>
                <a:tab pos="2106295" algn="l"/>
              </a:tabLst>
            </a:pPr>
            <a:r>
              <a:rPr dirty="0" sz="2800" spc="-10" b="1">
                <a:solidFill>
                  <a:srgbClr val="FFFF00"/>
                </a:solidFill>
                <a:latin typeface="Wingdings 3"/>
                <a:cs typeface="Wingdings 3"/>
              </a:rPr>
              <a:t></a:t>
            </a:r>
            <a:r>
              <a:rPr dirty="0" sz="2800" spc="-1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baseline="-1984" sz="4200" spc="-7" b="1">
                <a:solidFill>
                  <a:srgbClr val="FFFF00"/>
                </a:solidFill>
                <a:latin typeface="Wingdings 3"/>
                <a:cs typeface="Wingdings 3"/>
              </a:rPr>
              <a:t></a:t>
            </a:r>
            <a:r>
              <a:rPr dirty="0" baseline="-1984" sz="4200" spc="-7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800" spc="-10" b="1">
                <a:solidFill>
                  <a:srgbClr val="FFFF00"/>
                </a:solidFill>
                <a:latin typeface="Wingdings 3"/>
                <a:cs typeface="Wingdings 3"/>
              </a:rPr>
              <a:t></a:t>
            </a:r>
            <a:endParaRPr sz="2800">
              <a:latin typeface="Wingdings 3"/>
              <a:cs typeface="Wingdings 3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61822" y="1248917"/>
            <a:ext cx="1774189" cy="413384"/>
          </a:xfrm>
          <a:custGeom>
            <a:avLst/>
            <a:gdLst/>
            <a:ahLst/>
            <a:cxnLst/>
            <a:rect l="l" t="t" r="r" b="b"/>
            <a:pathLst>
              <a:path w="1774189" h="413385">
                <a:moveTo>
                  <a:pt x="0" y="206502"/>
                </a:moveTo>
                <a:lnTo>
                  <a:pt x="25777" y="156877"/>
                </a:lnTo>
                <a:lnTo>
                  <a:pt x="69701" y="126122"/>
                </a:lnTo>
                <a:lnTo>
                  <a:pt x="132886" y="97726"/>
                </a:lnTo>
                <a:lnTo>
                  <a:pt x="171131" y="84545"/>
                </a:lnTo>
                <a:lnTo>
                  <a:pt x="213507" y="72113"/>
                </a:lnTo>
                <a:lnTo>
                  <a:pt x="259784" y="60483"/>
                </a:lnTo>
                <a:lnTo>
                  <a:pt x="309736" y="49709"/>
                </a:lnTo>
                <a:lnTo>
                  <a:pt x="363133" y="39843"/>
                </a:lnTo>
                <a:lnTo>
                  <a:pt x="419748" y="30939"/>
                </a:lnTo>
                <a:lnTo>
                  <a:pt x="479352" y="23049"/>
                </a:lnTo>
                <a:lnTo>
                  <a:pt x="541717" y="16228"/>
                </a:lnTo>
                <a:lnTo>
                  <a:pt x="606615" y="10527"/>
                </a:lnTo>
                <a:lnTo>
                  <a:pt x="673817" y="6001"/>
                </a:lnTo>
                <a:lnTo>
                  <a:pt x="743095" y="2702"/>
                </a:lnTo>
                <a:lnTo>
                  <a:pt x="814222" y="684"/>
                </a:lnTo>
                <a:lnTo>
                  <a:pt x="886967" y="0"/>
                </a:lnTo>
                <a:lnTo>
                  <a:pt x="959710" y="684"/>
                </a:lnTo>
                <a:lnTo>
                  <a:pt x="1030833" y="2702"/>
                </a:lnTo>
                <a:lnTo>
                  <a:pt x="1100110" y="6001"/>
                </a:lnTo>
                <a:lnTo>
                  <a:pt x="1167310" y="10527"/>
                </a:lnTo>
                <a:lnTo>
                  <a:pt x="1232207" y="16228"/>
                </a:lnTo>
                <a:lnTo>
                  <a:pt x="1294572" y="23049"/>
                </a:lnTo>
                <a:lnTo>
                  <a:pt x="1354176" y="30939"/>
                </a:lnTo>
                <a:lnTo>
                  <a:pt x="1410791" y="39843"/>
                </a:lnTo>
                <a:lnTo>
                  <a:pt x="1464189" y="49709"/>
                </a:lnTo>
                <a:lnTo>
                  <a:pt x="1514141" y="60483"/>
                </a:lnTo>
                <a:lnTo>
                  <a:pt x="1560420" y="72113"/>
                </a:lnTo>
                <a:lnTo>
                  <a:pt x="1602796" y="84545"/>
                </a:lnTo>
                <a:lnTo>
                  <a:pt x="1641043" y="97726"/>
                </a:lnTo>
                <a:lnTo>
                  <a:pt x="1704230" y="126122"/>
                </a:lnTo>
                <a:lnTo>
                  <a:pt x="1748157" y="156877"/>
                </a:lnTo>
                <a:lnTo>
                  <a:pt x="1770995" y="189565"/>
                </a:lnTo>
                <a:lnTo>
                  <a:pt x="1773936" y="206502"/>
                </a:lnTo>
                <a:lnTo>
                  <a:pt x="1770995" y="223438"/>
                </a:lnTo>
                <a:lnTo>
                  <a:pt x="1748157" y="256126"/>
                </a:lnTo>
                <a:lnTo>
                  <a:pt x="1704230" y="286881"/>
                </a:lnTo>
                <a:lnTo>
                  <a:pt x="1641043" y="315277"/>
                </a:lnTo>
                <a:lnTo>
                  <a:pt x="1602796" y="328458"/>
                </a:lnTo>
                <a:lnTo>
                  <a:pt x="1560420" y="340890"/>
                </a:lnTo>
                <a:lnTo>
                  <a:pt x="1514141" y="352520"/>
                </a:lnTo>
                <a:lnTo>
                  <a:pt x="1464189" y="363294"/>
                </a:lnTo>
                <a:lnTo>
                  <a:pt x="1410791" y="373160"/>
                </a:lnTo>
                <a:lnTo>
                  <a:pt x="1354176" y="382064"/>
                </a:lnTo>
                <a:lnTo>
                  <a:pt x="1294572" y="389954"/>
                </a:lnTo>
                <a:lnTo>
                  <a:pt x="1232207" y="396775"/>
                </a:lnTo>
                <a:lnTo>
                  <a:pt x="1167310" y="402476"/>
                </a:lnTo>
                <a:lnTo>
                  <a:pt x="1100110" y="407002"/>
                </a:lnTo>
                <a:lnTo>
                  <a:pt x="1030833" y="410301"/>
                </a:lnTo>
                <a:lnTo>
                  <a:pt x="959710" y="412319"/>
                </a:lnTo>
                <a:lnTo>
                  <a:pt x="886967" y="413004"/>
                </a:lnTo>
                <a:lnTo>
                  <a:pt x="814222" y="412319"/>
                </a:lnTo>
                <a:lnTo>
                  <a:pt x="743095" y="410301"/>
                </a:lnTo>
                <a:lnTo>
                  <a:pt x="673817" y="407002"/>
                </a:lnTo>
                <a:lnTo>
                  <a:pt x="606615" y="402476"/>
                </a:lnTo>
                <a:lnTo>
                  <a:pt x="541717" y="396775"/>
                </a:lnTo>
                <a:lnTo>
                  <a:pt x="479352" y="389954"/>
                </a:lnTo>
                <a:lnTo>
                  <a:pt x="419748" y="382064"/>
                </a:lnTo>
                <a:lnTo>
                  <a:pt x="363133" y="373160"/>
                </a:lnTo>
                <a:lnTo>
                  <a:pt x="309736" y="363294"/>
                </a:lnTo>
                <a:lnTo>
                  <a:pt x="259784" y="352520"/>
                </a:lnTo>
                <a:lnTo>
                  <a:pt x="213507" y="340890"/>
                </a:lnTo>
                <a:lnTo>
                  <a:pt x="171131" y="328458"/>
                </a:lnTo>
                <a:lnTo>
                  <a:pt x="132886" y="315277"/>
                </a:lnTo>
                <a:lnTo>
                  <a:pt x="69701" y="286881"/>
                </a:lnTo>
                <a:lnTo>
                  <a:pt x="25777" y="256126"/>
                </a:lnTo>
                <a:lnTo>
                  <a:pt x="2940" y="223438"/>
                </a:lnTo>
                <a:lnTo>
                  <a:pt x="0" y="206502"/>
                </a:lnTo>
                <a:close/>
              </a:path>
            </a:pathLst>
          </a:custGeom>
          <a:ln w="38099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76021" y="3348990"/>
            <a:ext cx="1542415" cy="413384"/>
          </a:xfrm>
          <a:custGeom>
            <a:avLst/>
            <a:gdLst/>
            <a:ahLst/>
            <a:cxnLst/>
            <a:rect l="l" t="t" r="r" b="b"/>
            <a:pathLst>
              <a:path w="1542414" h="413385">
                <a:moveTo>
                  <a:pt x="0" y="206501"/>
                </a:moveTo>
                <a:lnTo>
                  <a:pt x="12424" y="169383"/>
                </a:lnTo>
                <a:lnTo>
                  <a:pt x="48244" y="134447"/>
                </a:lnTo>
                <a:lnTo>
                  <a:pt x="105282" y="102277"/>
                </a:lnTo>
                <a:lnTo>
                  <a:pt x="141078" y="87411"/>
                </a:lnTo>
                <a:lnTo>
                  <a:pt x="181362" y="73456"/>
                </a:lnTo>
                <a:lnTo>
                  <a:pt x="225861" y="60483"/>
                </a:lnTo>
                <a:lnTo>
                  <a:pt x="274304" y="48567"/>
                </a:lnTo>
                <a:lnTo>
                  <a:pt x="326418" y="37779"/>
                </a:lnTo>
                <a:lnTo>
                  <a:pt x="381931" y="28193"/>
                </a:lnTo>
                <a:lnTo>
                  <a:pt x="440571" y="19882"/>
                </a:lnTo>
                <a:lnTo>
                  <a:pt x="502065" y="12919"/>
                </a:lnTo>
                <a:lnTo>
                  <a:pt x="566142" y="7376"/>
                </a:lnTo>
                <a:lnTo>
                  <a:pt x="632528" y="3327"/>
                </a:lnTo>
                <a:lnTo>
                  <a:pt x="700953" y="843"/>
                </a:lnTo>
                <a:lnTo>
                  <a:pt x="771144" y="0"/>
                </a:lnTo>
                <a:lnTo>
                  <a:pt x="841324" y="843"/>
                </a:lnTo>
                <a:lnTo>
                  <a:pt x="909742" y="3327"/>
                </a:lnTo>
                <a:lnTo>
                  <a:pt x="976123" y="7376"/>
                </a:lnTo>
                <a:lnTo>
                  <a:pt x="1040196" y="12919"/>
                </a:lnTo>
                <a:lnTo>
                  <a:pt x="1101689" y="19882"/>
                </a:lnTo>
                <a:lnTo>
                  <a:pt x="1160328" y="28193"/>
                </a:lnTo>
                <a:lnTo>
                  <a:pt x="1215842" y="37779"/>
                </a:lnTo>
                <a:lnTo>
                  <a:pt x="1267957" y="48567"/>
                </a:lnTo>
                <a:lnTo>
                  <a:pt x="1316402" y="60483"/>
                </a:lnTo>
                <a:lnTo>
                  <a:pt x="1360904" y="73456"/>
                </a:lnTo>
                <a:lnTo>
                  <a:pt x="1401191" y="87411"/>
                </a:lnTo>
                <a:lnTo>
                  <a:pt x="1436990" y="102277"/>
                </a:lnTo>
                <a:lnTo>
                  <a:pt x="1494036" y="134447"/>
                </a:lnTo>
                <a:lnTo>
                  <a:pt x="1529861" y="169383"/>
                </a:lnTo>
                <a:lnTo>
                  <a:pt x="1542288" y="206501"/>
                </a:lnTo>
                <a:lnTo>
                  <a:pt x="1539136" y="225297"/>
                </a:lnTo>
                <a:lnTo>
                  <a:pt x="1514737" y="261397"/>
                </a:lnTo>
                <a:lnTo>
                  <a:pt x="1468029" y="295023"/>
                </a:lnTo>
                <a:lnTo>
                  <a:pt x="1401191" y="325592"/>
                </a:lnTo>
                <a:lnTo>
                  <a:pt x="1360904" y="339547"/>
                </a:lnTo>
                <a:lnTo>
                  <a:pt x="1316402" y="352520"/>
                </a:lnTo>
                <a:lnTo>
                  <a:pt x="1267957" y="364436"/>
                </a:lnTo>
                <a:lnTo>
                  <a:pt x="1215842" y="375224"/>
                </a:lnTo>
                <a:lnTo>
                  <a:pt x="1160328" y="384810"/>
                </a:lnTo>
                <a:lnTo>
                  <a:pt x="1101689" y="393121"/>
                </a:lnTo>
                <a:lnTo>
                  <a:pt x="1040196" y="400084"/>
                </a:lnTo>
                <a:lnTo>
                  <a:pt x="976123" y="405627"/>
                </a:lnTo>
                <a:lnTo>
                  <a:pt x="909742" y="409676"/>
                </a:lnTo>
                <a:lnTo>
                  <a:pt x="841324" y="412160"/>
                </a:lnTo>
                <a:lnTo>
                  <a:pt x="771144" y="413004"/>
                </a:lnTo>
                <a:lnTo>
                  <a:pt x="700953" y="412160"/>
                </a:lnTo>
                <a:lnTo>
                  <a:pt x="632528" y="409676"/>
                </a:lnTo>
                <a:lnTo>
                  <a:pt x="566142" y="405627"/>
                </a:lnTo>
                <a:lnTo>
                  <a:pt x="502065" y="400084"/>
                </a:lnTo>
                <a:lnTo>
                  <a:pt x="440571" y="393121"/>
                </a:lnTo>
                <a:lnTo>
                  <a:pt x="381931" y="384810"/>
                </a:lnTo>
                <a:lnTo>
                  <a:pt x="326418" y="375224"/>
                </a:lnTo>
                <a:lnTo>
                  <a:pt x="274304" y="364436"/>
                </a:lnTo>
                <a:lnTo>
                  <a:pt x="225861" y="352520"/>
                </a:lnTo>
                <a:lnTo>
                  <a:pt x="181362" y="339547"/>
                </a:lnTo>
                <a:lnTo>
                  <a:pt x="141078" y="325592"/>
                </a:lnTo>
                <a:lnTo>
                  <a:pt x="105282" y="310726"/>
                </a:lnTo>
                <a:lnTo>
                  <a:pt x="48244" y="278556"/>
                </a:lnTo>
                <a:lnTo>
                  <a:pt x="12424" y="243620"/>
                </a:lnTo>
                <a:lnTo>
                  <a:pt x="0" y="206501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321814" y="3461765"/>
            <a:ext cx="1542415" cy="413384"/>
          </a:xfrm>
          <a:custGeom>
            <a:avLst/>
            <a:gdLst/>
            <a:ahLst/>
            <a:cxnLst/>
            <a:rect l="l" t="t" r="r" b="b"/>
            <a:pathLst>
              <a:path w="1542414" h="413385">
                <a:moveTo>
                  <a:pt x="0" y="206502"/>
                </a:moveTo>
                <a:lnTo>
                  <a:pt x="12426" y="169383"/>
                </a:lnTo>
                <a:lnTo>
                  <a:pt x="48251" y="134447"/>
                </a:lnTo>
                <a:lnTo>
                  <a:pt x="105297" y="102277"/>
                </a:lnTo>
                <a:lnTo>
                  <a:pt x="141096" y="87411"/>
                </a:lnTo>
                <a:lnTo>
                  <a:pt x="181383" y="73456"/>
                </a:lnTo>
                <a:lnTo>
                  <a:pt x="225885" y="60483"/>
                </a:lnTo>
                <a:lnTo>
                  <a:pt x="274330" y="48567"/>
                </a:lnTo>
                <a:lnTo>
                  <a:pt x="326445" y="37779"/>
                </a:lnTo>
                <a:lnTo>
                  <a:pt x="381959" y="28194"/>
                </a:lnTo>
                <a:lnTo>
                  <a:pt x="440598" y="19882"/>
                </a:lnTo>
                <a:lnTo>
                  <a:pt x="502091" y="12919"/>
                </a:lnTo>
                <a:lnTo>
                  <a:pt x="566164" y="7376"/>
                </a:lnTo>
                <a:lnTo>
                  <a:pt x="632545" y="3327"/>
                </a:lnTo>
                <a:lnTo>
                  <a:pt x="700963" y="843"/>
                </a:lnTo>
                <a:lnTo>
                  <a:pt x="771144" y="0"/>
                </a:lnTo>
                <a:lnTo>
                  <a:pt x="841324" y="843"/>
                </a:lnTo>
                <a:lnTo>
                  <a:pt x="909742" y="3327"/>
                </a:lnTo>
                <a:lnTo>
                  <a:pt x="976123" y="7376"/>
                </a:lnTo>
                <a:lnTo>
                  <a:pt x="1040196" y="12919"/>
                </a:lnTo>
                <a:lnTo>
                  <a:pt x="1101689" y="19882"/>
                </a:lnTo>
                <a:lnTo>
                  <a:pt x="1160328" y="28193"/>
                </a:lnTo>
                <a:lnTo>
                  <a:pt x="1215842" y="37779"/>
                </a:lnTo>
                <a:lnTo>
                  <a:pt x="1267957" y="48567"/>
                </a:lnTo>
                <a:lnTo>
                  <a:pt x="1316402" y="60483"/>
                </a:lnTo>
                <a:lnTo>
                  <a:pt x="1360904" y="73456"/>
                </a:lnTo>
                <a:lnTo>
                  <a:pt x="1401191" y="87411"/>
                </a:lnTo>
                <a:lnTo>
                  <a:pt x="1436990" y="102277"/>
                </a:lnTo>
                <a:lnTo>
                  <a:pt x="1494036" y="134447"/>
                </a:lnTo>
                <a:lnTo>
                  <a:pt x="1529861" y="169383"/>
                </a:lnTo>
                <a:lnTo>
                  <a:pt x="1542288" y="206502"/>
                </a:lnTo>
                <a:lnTo>
                  <a:pt x="1539136" y="225297"/>
                </a:lnTo>
                <a:lnTo>
                  <a:pt x="1514737" y="261397"/>
                </a:lnTo>
                <a:lnTo>
                  <a:pt x="1468029" y="295023"/>
                </a:lnTo>
                <a:lnTo>
                  <a:pt x="1401191" y="325592"/>
                </a:lnTo>
                <a:lnTo>
                  <a:pt x="1360904" y="339547"/>
                </a:lnTo>
                <a:lnTo>
                  <a:pt x="1316402" y="352520"/>
                </a:lnTo>
                <a:lnTo>
                  <a:pt x="1267957" y="364436"/>
                </a:lnTo>
                <a:lnTo>
                  <a:pt x="1215842" y="375224"/>
                </a:lnTo>
                <a:lnTo>
                  <a:pt x="1160328" y="384809"/>
                </a:lnTo>
                <a:lnTo>
                  <a:pt x="1101689" y="393121"/>
                </a:lnTo>
                <a:lnTo>
                  <a:pt x="1040196" y="400084"/>
                </a:lnTo>
                <a:lnTo>
                  <a:pt x="976123" y="405627"/>
                </a:lnTo>
                <a:lnTo>
                  <a:pt x="909742" y="409676"/>
                </a:lnTo>
                <a:lnTo>
                  <a:pt x="841324" y="412160"/>
                </a:lnTo>
                <a:lnTo>
                  <a:pt x="771144" y="413004"/>
                </a:lnTo>
                <a:lnTo>
                  <a:pt x="700963" y="412160"/>
                </a:lnTo>
                <a:lnTo>
                  <a:pt x="632545" y="409676"/>
                </a:lnTo>
                <a:lnTo>
                  <a:pt x="566164" y="405627"/>
                </a:lnTo>
                <a:lnTo>
                  <a:pt x="502091" y="400084"/>
                </a:lnTo>
                <a:lnTo>
                  <a:pt x="440598" y="393121"/>
                </a:lnTo>
                <a:lnTo>
                  <a:pt x="381959" y="384810"/>
                </a:lnTo>
                <a:lnTo>
                  <a:pt x="326445" y="375224"/>
                </a:lnTo>
                <a:lnTo>
                  <a:pt x="274330" y="364436"/>
                </a:lnTo>
                <a:lnTo>
                  <a:pt x="225885" y="352520"/>
                </a:lnTo>
                <a:lnTo>
                  <a:pt x="181383" y="339547"/>
                </a:lnTo>
                <a:lnTo>
                  <a:pt x="141096" y="325592"/>
                </a:lnTo>
                <a:lnTo>
                  <a:pt x="105297" y="310726"/>
                </a:lnTo>
                <a:lnTo>
                  <a:pt x="48251" y="278556"/>
                </a:lnTo>
                <a:lnTo>
                  <a:pt x="12426" y="243620"/>
                </a:lnTo>
                <a:lnTo>
                  <a:pt x="0" y="206502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116067" y="1889760"/>
            <a:ext cx="1615440" cy="622300"/>
          </a:xfrm>
          <a:custGeom>
            <a:avLst/>
            <a:gdLst/>
            <a:ahLst/>
            <a:cxnLst/>
            <a:rect l="l" t="t" r="r" b="b"/>
            <a:pathLst>
              <a:path w="1615440" h="622300">
                <a:moveTo>
                  <a:pt x="0" y="621791"/>
                </a:moveTo>
                <a:lnTo>
                  <a:pt x="1615439" y="621791"/>
                </a:lnTo>
                <a:lnTo>
                  <a:pt x="1615439" y="0"/>
                </a:lnTo>
                <a:lnTo>
                  <a:pt x="0" y="0"/>
                </a:lnTo>
                <a:lnTo>
                  <a:pt x="0" y="621791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116067" y="2510027"/>
            <a:ext cx="1615440" cy="622300"/>
          </a:xfrm>
          <a:custGeom>
            <a:avLst/>
            <a:gdLst/>
            <a:ahLst/>
            <a:cxnLst/>
            <a:rect l="l" t="t" r="r" b="b"/>
            <a:pathLst>
              <a:path w="1615440" h="622300">
                <a:moveTo>
                  <a:pt x="0" y="621791"/>
                </a:moveTo>
                <a:lnTo>
                  <a:pt x="1615439" y="621791"/>
                </a:lnTo>
                <a:lnTo>
                  <a:pt x="1615439" y="0"/>
                </a:lnTo>
                <a:lnTo>
                  <a:pt x="0" y="0"/>
                </a:lnTo>
                <a:lnTo>
                  <a:pt x="0" y="621791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272278" y="2615006"/>
            <a:ext cx="101600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S1.code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116067" y="3755135"/>
            <a:ext cx="0" cy="745490"/>
          </a:xfrm>
          <a:custGeom>
            <a:avLst/>
            <a:gdLst/>
            <a:ahLst/>
            <a:cxnLst/>
            <a:rect l="l" t="t" r="r" b="b"/>
            <a:pathLst>
              <a:path w="0" h="745489">
                <a:moveTo>
                  <a:pt x="0" y="0"/>
                </a:moveTo>
                <a:lnTo>
                  <a:pt x="0" y="745236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731507" y="3755135"/>
            <a:ext cx="0" cy="745490"/>
          </a:xfrm>
          <a:custGeom>
            <a:avLst/>
            <a:gdLst/>
            <a:ahLst/>
            <a:cxnLst/>
            <a:rect l="l" t="t" r="r" b="b"/>
            <a:pathLst>
              <a:path w="0" h="745489">
                <a:moveTo>
                  <a:pt x="0" y="0"/>
                </a:moveTo>
                <a:lnTo>
                  <a:pt x="0" y="745236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4130802" y="2428443"/>
            <a:ext cx="94932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E.true: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114927" y="3755517"/>
            <a:ext cx="9994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FFFF"/>
                </a:solidFill>
                <a:latin typeface="Times New Roman"/>
                <a:cs typeface="Times New Roman"/>
              </a:rPr>
              <a:t>E.false: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541769" y="1935479"/>
            <a:ext cx="853440" cy="114300"/>
          </a:xfrm>
          <a:custGeom>
            <a:avLst/>
            <a:gdLst/>
            <a:ahLst/>
            <a:cxnLst/>
            <a:rect l="l" t="t" r="r" b="b"/>
            <a:pathLst>
              <a:path w="853440" h="114300">
                <a:moveTo>
                  <a:pt x="739139" y="0"/>
                </a:moveTo>
                <a:lnTo>
                  <a:pt x="739139" y="114300"/>
                </a:lnTo>
                <a:lnTo>
                  <a:pt x="815339" y="76200"/>
                </a:lnTo>
                <a:lnTo>
                  <a:pt x="758189" y="76200"/>
                </a:lnTo>
                <a:lnTo>
                  <a:pt x="758189" y="38100"/>
                </a:lnTo>
                <a:lnTo>
                  <a:pt x="815339" y="38100"/>
                </a:lnTo>
                <a:lnTo>
                  <a:pt x="739139" y="0"/>
                </a:lnTo>
                <a:close/>
              </a:path>
              <a:path w="853440" h="114300">
                <a:moveTo>
                  <a:pt x="73913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39139" y="76200"/>
                </a:lnTo>
                <a:lnTo>
                  <a:pt x="739139" y="38100"/>
                </a:lnTo>
                <a:close/>
              </a:path>
              <a:path w="853440" h="114300">
                <a:moveTo>
                  <a:pt x="815339" y="38100"/>
                </a:moveTo>
                <a:lnTo>
                  <a:pt x="758189" y="38100"/>
                </a:lnTo>
                <a:lnTo>
                  <a:pt x="758189" y="76200"/>
                </a:lnTo>
                <a:lnTo>
                  <a:pt x="815339" y="76200"/>
                </a:lnTo>
                <a:lnTo>
                  <a:pt x="853439" y="57150"/>
                </a:lnTo>
                <a:lnTo>
                  <a:pt x="815339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541769" y="2371344"/>
            <a:ext cx="853440" cy="114300"/>
          </a:xfrm>
          <a:custGeom>
            <a:avLst/>
            <a:gdLst/>
            <a:ahLst/>
            <a:cxnLst/>
            <a:rect l="l" t="t" r="r" b="b"/>
            <a:pathLst>
              <a:path w="853440" h="114300">
                <a:moveTo>
                  <a:pt x="739139" y="0"/>
                </a:moveTo>
                <a:lnTo>
                  <a:pt x="739139" y="114300"/>
                </a:lnTo>
                <a:lnTo>
                  <a:pt x="815339" y="76200"/>
                </a:lnTo>
                <a:lnTo>
                  <a:pt x="758189" y="76200"/>
                </a:lnTo>
                <a:lnTo>
                  <a:pt x="758189" y="38100"/>
                </a:lnTo>
                <a:lnTo>
                  <a:pt x="815339" y="38100"/>
                </a:lnTo>
                <a:lnTo>
                  <a:pt x="739139" y="0"/>
                </a:lnTo>
                <a:close/>
              </a:path>
              <a:path w="853440" h="114300">
                <a:moveTo>
                  <a:pt x="73913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39139" y="76200"/>
                </a:lnTo>
                <a:lnTo>
                  <a:pt x="739139" y="38100"/>
                </a:lnTo>
                <a:close/>
              </a:path>
              <a:path w="853440" h="114300">
                <a:moveTo>
                  <a:pt x="815339" y="38100"/>
                </a:moveTo>
                <a:lnTo>
                  <a:pt x="758189" y="38100"/>
                </a:lnTo>
                <a:lnTo>
                  <a:pt x="758189" y="76200"/>
                </a:lnTo>
                <a:lnTo>
                  <a:pt x="815339" y="76200"/>
                </a:lnTo>
                <a:lnTo>
                  <a:pt x="853439" y="57150"/>
                </a:lnTo>
                <a:lnTo>
                  <a:pt x="815339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116067" y="3131820"/>
            <a:ext cx="1615440" cy="623570"/>
          </a:xfrm>
          <a:custGeom>
            <a:avLst/>
            <a:gdLst/>
            <a:ahLst/>
            <a:cxnLst/>
            <a:rect l="l" t="t" r="r" b="b"/>
            <a:pathLst>
              <a:path w="1615440" h="623570">
                <a:moveTo>
                  <a:pt x="0" y="623315"/>
                </a:moveTo>
                <a:lnTo>
                  <a:pt x="1615439" y="623315"/>
                </a:lnTo>
                <a:lnTo>
                  <a:pt x="1615439" y="0"/>
                </a:lnTo>
                <a:lnTo>
                  <a:pt x="0" y="0"/>
                </a:lnTo>
                <a:lnTo>
                  <a:pt x="0" y="623315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5196078" y="3031367"/>
            <a:ext cx="1372870" cy="1362075"/>
          </a:xfrm>
          <a:prstGeom prst="rect">
            <a:avLst/>
          </a:prstGeom>
        </p:spPr>
        <p:txBody>
          <a:bodyPr wrap="square" lIns="0" tIns="2190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goto</a:t>
            </a:r>
            <a:r>
              <a:rPr dirty="0" sz="24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begin</a:t>
            </a:r>
            <a:endParaRPr sz="2400">
              <a:latin typeface="Times New Roman"/>
              <a:cs typeface="Times New Roman"/>
            </a:endParaRPr>
          </a:p>
          <a:p>
            <a:pPr marL="238760">
              <a:lnSpc>
                <a:spcPct val="100000"/>
              </a:lnSpc>
              <a:spcBef>
                <a:spcPts val="2175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458582" y="1715576"/>
            <a:ext cx="1633855" cy="8972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575" marR="5080" indent="-15875">
              <a:lnSpc>
                <a:spcPct val="119200"/>
              </a:lnSpc>
              <a:spcBef>
                <a:spcPts val="95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Goto E.true  Goto</a:t>
            </a:r>
            <a:r>
              <a:rPr dirty="0" sz="2400" spc="-10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E.false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116067" y="1214627"/>
            <a:ext cx="1615440" cy="675640"/>
          </a:xfrm>
          <a:custGeom>
            <a:avLst/>
            <a:gdLst/>
            <a:ahLst/>
            <a:cxnLst/>
            <a:rect l="l" t="t" r="r" b="b"/>
            <a:pathLst>
              <a:path w="1615440" h="675639">
                <a:moveTo>
                  <a:pt x="0" y="675132"/>
                </a:moveTo>
                <a:lnTo>
                  <a:pt x="1615439" y="675132"/>
                </a:lnTo>
                <a:lnTo>
                  <a:pt x="1615439" y="0"/>
                </a:lnTo>
                <a:lnTo>
                  <a:pt x="0" y="0"/>
                </a:lnTo>
                <a:lnTo>
                  <a:pt x="0" y="675132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4162297" y="1279093"/>
            <a:ext cx="2032635" cy="1111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122045" algn="l"/>
              </a:tabLst>
            </a:pPr>
            <a:r>
              <a:rPr dirty="0" sz="2400" spc="-5" b="1">
                <a:solidFill>
                  <a:srgbClr val="00FFFF"/>
                </a:solidFill>
                <a:latin typeface="Times New Roman"/>
                <a:cs typeface="Times New Roman"/>
              </a:rPr>
              <a:t>begin</a:t>
            </a:r>
            <a:r>
              <a:rPr dirty="0" sz="2400" spc="5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:	</a:t>
            </a:r>
            <a:r>
              <a:rPr dirty="0" baseline="-11574" sz="3600" spc="-7" b="1">
                <a:solidFill>
                  <a:srgbClr val="FFFFFF"/>
                </a:solidFill>
                <a:latin typeface="Times New Roman"/>
                <a:cs typeface="Times New Roman"/>
              </a:rPr>
              <a:t>E.code</a:t>
            </a:r>
            <a:endParaRPr baseline="-11574" sz="3600">
              <a:latin typeface="Times New Roman"/>
              <a:cs typeface="Times New Roman"/>
            </a:endParaRPr>
          </a:p>
          <a:p>
            <a:pPr marL="1122045">
              <a:lnSpc>
                <a:spcPct val="100000"/>
              </a:lnSpc>
              <a:spcBef>
                <a:spcPts val="279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测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0141" y="0"/>
            <a:ext cx="8403590" cy="659066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05"/>
              </a:spcBef>
              <a:tabLst>
                <a:tab pos="668655" algn="l"/>
                <a:tab pos="3797935" algn="l"/>
                <a:tab pos="4305300" algn="l"/>
                <a:tab pos="570928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  <a:p>
            <a:pPr marL="488315" indent="-317500">
              <a:lnSpc>
                <a:spcPct val="100000"/>
              </a:lnSpc>
              <a:spcBef>
                <a:spcPts val="1415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48895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条件语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句</a:t>
            </a:r>
            <a:r>
              <a:rPr dirty="0" sz="3200" spc="10" b="1">
                <a:solidFill>
                  <a:srgbClr val="FF9933"/>
                </a:solidFill>
                <a:latin typeface="幼圆"/>
                <a:cs typeface="幼圆"/>
              </a:rPr>
              <a:t>③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翻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译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的语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义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子程序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 →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while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(E)</a:t>
            </a:r>
            <a:r>
              <a:rPr dirty="0" sz="2800" spc="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S1</a:t>
            </a:r>
            <a:endParaRPr sz="2800">
              <a:latin typeface="Times New Roman"/>
              <a:cs typeface="Times New Roman"/>
            </a:endParaRPr>
          </a:p>
          <a:p>
            <a:pPr marL="546100" marR="2550160" indent="-533400">
              <a:lnSpc>
                <a:spcPct val="130000"/>
              </a:lnSpc>
              <a:spcBef>
                <a:spcPts val="40"/>
              </a:spcBef>
              <a:tabLst>
                <a:tab pos="507365" algn="l"/>
              </a:tabLst>
            </a:pP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{	E.true=newlabel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；  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E.false=newlabel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；  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S.begin=newlabel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；  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S.code=GEN(S.begin'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：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') | E.code</a:t>
            </a:r>
            <a:r>
              <a:rPr dirty="0" sz="2800" spc="20" b="1">
                <a:solidFill>
                  <a:srgbClr val="FFCC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|</a:t>
            </a:r>
            <a:endParaRPr sz="2800">
              <a:latin typeface="Times New Roman"/>
              <a:cs typeface="Times New Roman"/>
            </a:endParaRPr>
          </a:p>
          <a:p>
            <a:pPr marL="1598930" marR="2597150" indent="101600">
              <a:lnSpc>
                <a:spcPct val="130000"/>
              </a:lnSpc>
            </a:pP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GEN(jT 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E.true) |  GEN(jF 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E.false) |  GEN(E.true'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：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') | S1.code |  GEN(j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S.begin)|  GEN(E.false'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：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')</a:t>
            </a:r>
            <a:r>
              <a:rPr dirty="0" sz="2800" spc="5" b="1">
                <a:solidFill>
                  <a:srgbClr val="FFCC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247" y="26923"/>
            <a:ext cx="34855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05783" y="26923"/>
            <a:ext cx="46183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  <a:tab pos="192341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06417" y="5775197"/>
            <a:ext cx="3953510" cy="521334"/>
          </a:xfrm>
          <a:prstGeom prst="rect">
            <a:avLst/>
          </a:prstGeom>
          <a:ln w="38100">
            <a:solidFill>
              <a:srgbClr val="FF66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97840">
              <a:lnSpc>
                <a:spcPts val="3620"/>
              </a:lnSpc>
              <a:tabLst>
                <a:tab pos="1626235" algn="l"/>
                <a:tab pos="236982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while	(E)	S1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18310" y="1960626"/>
            <a:ext cx="1216660" cy="451484"/>
          </a:xfrm>
          <a:custGeom>
            <a:avLst/>
            <a:gdLst/>
            <a:ahLst/>
            <a:cxnLst/>
            <a:rect l="l" t="t" r="r" b="b"/>
            <a:pathLst>
              <a:path w="1216660" h="451485">
                <a:moveTo>
                  <a:pt x="0" y="451103"/>
                </a:moveTo>
                <a:lnTo>
                  <a:pt x="1216152" y="451103"/>
                </a:lnTo>
                <a:lnTo>
                  <a:pt x="1216152" y="0"/>
                </a:lnTo>
                <a:lnTo>
                  <a:pt x="0" y="0"/>
                </a:lnTo>
                <a:lnTo>
                  <a:pt x="0" y="451103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72817" y="2015489"/>
            <a:ext cx="70739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计算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05177" y="3086861"/>
            <a:ext cx="1214755" cy="563880"/>
          </a:xfrm>
          <a:custGeom>
            <a:avLst/>
            <a:gdLst/>
            <a:ahLst/>
            <a:cxnLst/>
            <a:rect l="l" t="t" r="r" b="b"/>
            <a:pathLst>
              <a:path w="1214755" h="563879">
                <a:moveTo>
                  <a:pt x="0" y="281939"/>
                </a:moveTo>
                <a:lnTo>
                  <a:pt x="607314" y="0"/>
                </a:lnTo>
                <a:lnTo>
                  <a:pt x="1214628" y="281939"/>
                </a:lnTo>
                <a:lnTo>
                  <a:pt x="607314" y="563880"/>
                </a:lnTo>
                <a:lnTo>
                  <a:pt x="0" y="281939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250439" y="3194431"/>
            <a:ext cx="32131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E?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56104" y="2411729"/>
            <a:ext cx="114300" cy="675640"/>
          </a:xfrm>
          <a:custGeom>
            <a:avLst/>
            <a:gdLst/>
            <a:ahLst/>
            <a:cxnLst/>
            <a:rect l="l" t="t" r="r" b="b"/>
            <a:pathLst>
              <a:path w="114300" h="675639">
                <a:moveTo>
                  <a:pt x="38100" y="560832"/>
                </a:moveTo>
                <a:lnTo>
                  <a:pt x="0" y="560832"/>
                </a:lnTo>
                <a:lnTo>
                  <a:pt x="57150" y="675132"/>
                </a:lnTo>
                <a:lnTo>
                  <a:pt x="104775" y="579882"/>
                </a:lnTo>
                <a:lnTo>
                  <a:pt x="38100" y="579882"/>
                </a:lnTo>
                <a:lnTo>
                  <a:pt x="38100" y="560832"/>
                </a:lnTo>
                <a:close/>
              </a:path>
              <a:path w="114300" h="675639">
                <a:moveTo>
                  <a:pt x="76200" y="0"/>
                </a:moveTo>
                <a:lnTo>
                  <a:pt x="38100" y="0"/>
                </a:lnTo>
                <a:lnTo>
                  <a:pt x="38100" y="579882"/>
                </a:lnTo>
                <a:lnTo>
                  <a:pt x="76200" y="579882"/>
                </a:lnTo>
                <a:lnTo>
                  <a:pt x="76200" y="0"/>
                </a:lnTo>
                <a:close/>
              </a:path>
              <a:path w="114300" h="675639">
                <a:moveTo>
                  <a:pt x="114300" y="560832"/>
                </a:moveTo>
                <a:lnTo>
                  <a:pt x="76200" y="560832"/>
                </a:lnTo>
                <a:lnTo>
                  <a:pt x="76200" y="579882"/>
                </a:lnTo>
                <a:lnTo>
                  <a:pt x="104775" y="579882"/>
                </a:lnTo>
                <a:lnTo>
                  <a:pt x="114300" y="5608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570732" y="3350514"/>
            <a:ext cx="114300" cy="562610"/>
          </a:xfrm>
          <a:custGeom>
            <a:avLst/>
            <a:gdLst/>
            <a:ahLst/>
            <a:cxnLst/>
            <a:rect l="l" t="t" r="r" b="b"/>
            <a:pathLst>
              <a:path w="114300" h="562610">
                <a:moveTo>
                  <a:pt x="38100" y="448056"/>
                </a:moveTo>
                <a:lnTo>
                  <a:pt x="0" y="448056"/>
                </a:lnTo>
                <a:lnTo>
                  <a:pt x="57150" y="562356"/>
                </a:lnTo>
                <a:lnTo>
                  <a:pt x="104775" y="467106"/>
                </a:lnTo>
                <a:lnTo>
                  <a:pt x="38100" y="467106"/>
                </a:lnTo>
                <a:lnTo>
                  <a:pt x="38100" y="448056"/>
                </a:lnTo>
                <a:close/>
              </a:path>
              <a:path w="114300" h="562610">
                <a:moveTo>
                  <a:pt x="76200" y="0"/>
                </a:moveTo>
                <a:lnTo>
                  <a:pt x="38100" y="0"/>
                </a:lnTo>
                <a:lnTo>
                  <a:pt x="38100" y="467106"/>
                </a:lnTo>
                <a:lnTo>
                  <a:pt x="76200" y="467106"/>
                </a:lnTo>
                <a:lnTo>
                  <a:pt x="76200" y="0"/>
                </a:lnTo>
                <a:close/>
              </a:path>
              <a:path w="114300" h="562610">
                <a:moveTo>
                  <a:pt x="114300" y="448056"/>
                </a:moveTo>
                <a:lnTo>
                  <a:pt x="76200" y="448056"/>
                </a:lnTo>
                <a:lnTo>
                  <a:pt x="76200" y="467106"/>
                </a:lnTo>
                <a:lnTo>
                  <a:pt x="104775" y="467106"/>
                </a:lnTo>
                <a:lnTo>
                  <a:pt x="114300" y="4480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733548" y="2919450"/>
            <a:ext cx="893444" cy="886460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85"/>
              </a:spcBef>
              <a:tabLst>
                <a:tab pos="607695" algn="l"/>
              </a:tabLst>
            </a:pPr>
            <a:r>
              <a:rPr dirty="0" u="heavy" sz="2000" spc="-23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0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=0	</a:t>
            </a:r>
            <a:endParaRPr sz="2000">
              <a:latin typeface="Times New Roman"/>
              <a:cs typeface="Times New Roman"/>
            </a:endParaRPr>
          </a:p>
          <a:p>
            <a:pPr algn="r" marR="59690">
              <a:lnSpc>
                <a:spcPct val="100000"/>
              </a:lnSpc>
              <a:spcBef>
                <a:spcPts val="990"/>
              </a:spcBef>
            </a:pPr>
            <a:r>
              <a:rPr dirty="0" sz="2000" b="1">
                <a:solidFill>
                  <a:srgbClr val="00FFFF"/>
                </a:solidFill>
                <a:latin typeface="Times New Roman"/>
                <a:cs typeface="Times New Roman"/>
              </a:rPr>
              <a:t>E.f</a:t>
            </a:r>
            <a:r>
              <a:rPr dirty="0" sz="2000" spc="5" b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2000" b="1">
                <a:solidFill>
                  <a:srgbClr val="00FFFF"/>
                </a:solidFill>
                <a:latin typeface="Times New Roman"/>
                <a:cs typeface="Times New Roman"/>
              </a:rPr>
              <a:t>ls</a:t>
            </a:r>
            <a:r>
              <a:rPr dirty="0" sz="2000" spc="-10" b="1">
                <a:solidFill>
                  <a:srgbClr val="00FFFF"/>
                </a:solidFill>
                <a:latin typeface="Times New Roman"/>
                <a:cs typeface="Times New Roman"/>
              </a:rPr>
              <a:t>e</a:t>
            </a:r>
            <a:r>
              <a:rPr dirty="0" sz="2000" b="1">
                <a:solidFill>
                  <a:srgbClr val="00FFFF"/>
                </a:solidFill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00225" y="3065780"/>
            <a:ext cx="52895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2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000" spc="-5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000" spc="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非</a:t>
            </a:r>
            <a:r>
              <a:rPr dirty="0" u="heavy" sz="2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80110" y="3856482"/>
            <a:ext cx="954405" cy="562610"/>
          </a:xfrm>
          <a:custGeom>
            <a:avLst/>
            <a:gdLst/>
            <a:ahLst/>
            <a:cxnLst/>
            <a:rect l="l" t="t" r="r" b="b"/>
            <a:pathLst>
              <a:path w="954405" h="562610">
                <a:moveTo>
                  <a:pt x="0" y="562356"/>
                </a:moveTo>
                <a:lnTo>
                  <a:pt x="954024" y="562356"/>
                </a:lnTo>
                <a:lnTo>
                  <a:pt x="954024" y="0"/>
                </a:lnTo>
                <a:lnTo>
                  <a:pt x="0" y="0"/>
                </a:lnTo>
                <a:lnTo>
                  <a:pt x="0" y="562356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208938" y="3963670"/>
            <a:ext cx="2946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S1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255775" y="3405378"/>
            <a:ext cx="114300" cy="451484"/>
          </a:xfrm>
          <a:custGeom>
            <a:avLst/>
            <a:gdLst/>
            <a:ahLst/>
            <a:cxnLst/>
            <a:rect l="l" t="t" r="r" b="b"/>
            <a:pathLst>
              <a:path w="114300" h="451485">
                <a:moveTo>
                  <a:pt x="38100" y="336804"/>
                </a:moveTo>
                <a:lnTo>
                  <a:pt x="0" y="336804"/>
                </a:lnTo>
                <a:lnTo>
                  <a:pt x="57150" y="451104"/>
                </a:lnTo>
                <a:lnTo>
                  <a:pt x="104775" y="355854"/>
                </a:lnTo>
                <a:lnTo>
                  <a:pt x="38100" y="355854"/>
                </a:lnTo>
                <a:lnTo>
                  <a:pt x="38100" y="336804"/>
                </a:lnTo>
                <a:close/>
              </a:path>
              <a:path w="114300" h="451485">
                <a:moveTo>
                  <a:pt x="76200" y="0"/>
                </a:moveTo>
                <a:lnTo>
                  <a:pt x="38100" y="0"/>
                </a:lnTo>
                <a:lnTo>
                  <a:pt x="38100" y="355854"/>
                </a:lnTo>
                <a:lnTo>
                  <a:pt x="76200" y="355854"/>
                </a:lnTo>
                <a:lnTo>
                  <a:pt x="76200" y="0"/>
                </a:lnTo>
                <a:close/>
              </a:path>
              <a:path w="114300" h="451485">
                <a:moveTo>
                  <a:pt x="114300" y="336804"/>
                </a:moveTo>
                <a:lnTo>
                  <a:pt x="76200" y="336804"/>
                </a:lnTo>
                <a:lnTo>
                  <a:pt x="76200" y="355854"/>
                </a:lnTo>
                <a:lnTo>
                  <a:pt x="104775" y="355854"/>
                </a:lnTo>
                <a:lnTo>
                  <a:pt x="114300" y="3368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312925" y="4418838"/>
            <a:ext cx="0" cy="338455"/>
          </a:xfrm>
          <a:custGeom>
            <a:avLst/>
            <a:gdLst/>
            <a:ahLst/>
            <a:cxnLst/>
            <a:rect l="l" t="t" r="r" b="b"/>
            <a:pathLst>
              <a:path w="0" h="338454">
                <a:moveTo>
                  <a:pt x="0" y="338328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282951" y="1041653"/>
            <a:ext cx="114300" cy="901065"/>
          </a:xfrm>
          <a:custGeom>
            <a:avLst/>
            <a:gdLst/>
            <a:ahLst/>
            <a:cxnLst/>
            <a:rect l="l" t="t" r="r" b="b"/>
            <a:pathLst>
              <a:path w="114300" h="901064">
                <a:moveTo>
                  <a:pt x="38100" y="786384"/>
                </a:moveTo>
                <a:lnTo>
                  <a:pt x="0" y="786384"/>
                </a:lnTo>
                <a:lnTo>
                  <a:pt x="57150" y="900684"/>
                </a:lnTo>
                <a:lnTo>
                  <a:pt x="104775" y="805434"/>
                </a:lnTo>
                <a:lnTo>
                  <a:pt x="38100" y="805434"/>
                </a:lnTo>
                <a:lnTo>
                  <a:pt x="38100" y="786384"/>
                </a:lnTo>
                <a:close/>
              </a:path>
              <a:path w="114300" h="901064">
                <a:moveTo>
                  <a:pt x="76200" y="0"/>
                </a:moveTo>
                <a:lnTo>
                  <a:pt x="38100" y="0"/>
                </a:lnTo>
                <a:lnTo>
                  <a:pt x="38100" y="805434"/>
                </a:lnTo>
                <a:lnTo>
                  <a:pt x="76200" y="805434"/>
                </a:lnTo>
                <a:lnTo>
                  <a:pt x="76200" y="0"/>
                </a:lnTo>
                <a:close/>
              </a:path>
              <a:path w="114300" h="901064">
                <a:moveTo>
                  <a:pt x="114300" y="786384"/>
                </a:moveTo>
                <a:lnTo>
                  <a:pt x="76200" y="786384"/>
                </a:lnTo>
                <a:lnTo>
                  <a:pt x="76200" y="805434"/>
                </a:lnTo>
                <a:lnTo>
                  <a:pt x="104775" y="805434"/>
                </a:lnTo>
                <a:lnTo>
                  <a:pt x="114300" y="7863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18922" y="4757165"/>
            <a:ext cx="780415" cy="0"/>
          </a:xfrm>
          <a:custGeom>
            <a:avLst/>
            <a:gdLst/>
            <a:ahLst/>
            <a:cxnLst/>
            <a:rect l="l" t="t" r="r" b="b"/>
            <a:pathLst>
              <a:path w="780415" h="0">
                <a:moveTo>
                  <a:pt x="0" y="0"/>
                </a:moveTo>
                <a:lnTo>
                  <a:pt x="780288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32637" y="1287017"/>
            <a:ext cx="0" cy="3488690"/>
          </a:xfrm>
          <a:custGeom>
            <a:avLst/>
            <a:gdLst/>
            <a:ahLst/>
            <a:cxnLst/>
            <a:rect l="l" t="t" r="r" b="b"/>
            <a:pathLst>
              <a:path w="0" h="3488690">
                <a:moveTo>
                  <a:pt x="0" y="3488436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18922" y="1210055"/>
            <a:ext cx="1821180" cy="114300"/>
          </a:xfrm>
          <a:custGeom>
            <a:avLst/>
            <a:gdLst/>
            <a:ahLst/>
            <a:cxnLst/>
            <a:rect l="l" t="t" r="r" b="b"/>
            <a:pathLst>
              <a:path w="1821180" h="114300">
                <a:moveTo>
                  <a:pt x="1706879" y="0"/>
                </a:moveTo>
                <a:lnTo>
                  <a:pt x="1706879" y="114300"/>
                </a:lnTo>
                <a:lnTo>
                  <a:pt x="1783079" y="76200"/>
                </a:lnTo>
                <a:lnTo>
                  <a:pt x="1725929" y="76200"/>
                </a:lnTo>
                <a:lnTo>
                  <a:pt x="1725929" y="38100"/>
                </a:lnTo>
                <a:lnTo>
                  <a:pt x="1783079" y="38100"/>
                </a:lnTo>
                <a:lnTo>
                  <a:pt x="1706879" y="0"/>
                </a:lnTo>
                <a:close/>
              </a:path>
              <a:path w="1821180" h="114300">
                <a:moveTo>
                  <a:pt x="170687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706879" y="76200"/>
                </a:lnTo>
                <a:lnTo>
                  <a:pt x="1706879" y="38100"/>
                </a:lnTo>
                <a:close/>
              </a:path>
              <a:path w="1821180" h="114300">
                <a:moveTo>
                  <a:pt x="1783079" y="38100"/>
                </a:moveTo>
                <a:lnTo>
                  <a:pt x="1725929" y="38100"/>
                </a:lnTo>
                <a:lnTo>
                  <a:pt x="1725929" y="76200"/>
                </a:lnTo>
                <a:lnTo>
                  <a:pt x="1783079" y="76200"/>
                </a:lnTo>
                <a:lnTo>
                  <a:pt x="1821179" y="57150"/>
                </a:lnTo>
                <a:lnTo>
                  <a:pt x="1783079" y="38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322069" y="1299463"/>
            <a:ext cx="937894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00FFFF"/>
                </a:solidFill>
                <a:latin typeface="Times New Roman"/>
                <a:cs typeface="Times New Roman"/>
              </a:rPr>
              <a:t>E.</a:t>
            </a:r>
            <a:r>
              <a:rPr dirty="0" sz="2000" b="1">
                <a:solidFill>
                  <a:srgbClr val="00FFFF"/>
                </a:solidFill>
                <a:latin typeface="Times New Roman"/>
                <a:cs typeface="Times New Roman"/>
              </a:rPr>
              <a:t>begin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69581" y="4916246"/>
            <a:ext cx="898525" cy="810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85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E.false</a:t>
            </a:r>
            <a:endParaRPr sz="2400">
              <a:latin typeface="Times New Roman"/>
              <a:cs typeface="Times New Roman"/>
            </a:endParaRPr>
          </a:p>
          <a:p>
            <a:pPr marL="85725">
              <a:lnSpc>
                <a:spcPts val="3329"/>
              </a:lnSpc>
            </a:pPr>
            <a:r>
              <a:rPr dirty="0" sz="2800" spc="-10" b="1">
                <a:solidFill>
                  <a:srgbClr val="FFFF00"/>
                </a:solidFill>
                <a:latin typeface="Wingdings 3"/>
                <a:cs typeface="Wingdings 3"/>
              </a:rPr>
              <a:t></a:t>
            </a:r>
            <a:endParaRPr sz="2800">
              <a:latin typeface="Wingdings 3"/>
              <a:cs typeface="Wingdings 3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048503" y="4916246"/>
            <a:ext cx="737870" cy="805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83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begin</a:t>
            </a:r>
            <a:endParaRPr sz="2400">
              <a:latin typeface="Times New Roman"/>
              <a:cs typeface="Times New Roman"/>
            </a:endParaRPr>
          </a:p>
          <a:p>
            <a:pPr marL="350520">
              <a:lnSpc>
                <a:spcPts val="3310"/>
              </a:lnSpc>
            </a:pPr>
            <a:r>
              <a:rPr dirty="0" sz="2800" spc="-10" b="1">
                <a:solidFill>
                  <a:srgbClr val="FFFF00"/>
                </a:solidFill>
                <a:latin typeface="Wingdings 3"/>
                <a:cs typeface="Wingdings 3"/>
              </a:rPr>
              <a:t></a:t>
            </a:r>
            <a:endParaRPr sz="2800">
              <a:latin typeface="Wingdings 3"/>
              <a:cs typeface="Wingdings 3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61822" y="1248917"/>
            <a:ext cx="1774189" cy="413384"/>
          </a:xfrm>
          <a:custGeom>
            <a:avLst/>
            <a:gdLst/>
            <a:ahLst/>
            <a:cxnLst/>
            <a:rect l="l" t="t" r="r" b="b"/>
            <a:pathLst>
              <a:path w="1774189" h="413385">
                <a:moveTo>
                  <a:pt x="0" y="206502"/>
                </a:moveTo>
                <a:lnTo>
                  <a:pt x="25777" y="156877"/>
                </a:lnTo>
                <a:lnTo>
                  <a:pt x="69701" y="126122"/>
                </a:lnTo>
                <a:lnTo>
                  <a:pt x="132886" y="97726"/>
                </a:lnTo>
                <a:lnTo>
                  <a:pt x="171131" y="84545"/>
                </a:lnTo>
                <a:lnTo>
                  <a:pt x="213507" y="72113"/>
                </a:lnTo>
                <a:lnTo>
                  <a:pt x="259784" y="60483"/>
                </a:lnTo>
                <a:lnTo>
                  <a:pt x="309736" y="49709"/>
                </a:lnTo>
                <a:lnTo>
                  <a:pt x="363133" y="39843"/>
                </a:lnTo>
                <a:lnTo>
                  <a:pt x="419748" y="30939"/>
                </a:lnTo>
                <a:lnTo>
                  <a:pt x="479352" y="23049"/>
                </a:lnTo>
                <a:lnTo>
                  <a:pt x="541717" y="16228"/>
                </a:lnTo>
                <a:lnTo>
                  <a:pt x="606615" y="10527"/>
                </a:lnTo>
                <a:lnTo>
                  <a:pt x="673817" y="6001"/>
                </a:lnTo>
                <a:lnTo>
                  <a:pt x="743095" y="2702"/>
                </a:lnTo>
                <a:lnTo>
                  <a:pt x="814222" y="684"/>
                </a:lnTo>
                <a:lnTo>
                  <a:pt x="886967" y="0"/>
                </a:lnTo>
                <a:lnTo>
                  <a:pt x="959710" y="684"/>
                </a:lnTo>
                <a:lnTo>
                  <a:pt x="1030833" y="2702"/>
                </a:lnTo>
                <a:lnTo>
                  <a:pt x="1100110" y="6001"/>
                </a:lnTo>
                <a:lnTo>
                  <a:pt x="1167310" y="10527"/>
                </a:lnTo>
                <a:lnTo>
                  <a:pt x="1232207" y="16228"/>
                </a:lnTo>
                <a:lnTo>
                  <a:pt x="1294572" y="23049"/>
                </a:lnTo>
                <a:lnTo>
                  <a:pt x="1354176" y="30939"/>
                </a:lnTo>
                <a:lnTo>
                  <a:pt x="1410791" y="39843"/>
                </a:lnTo>
                <a:lnTo>
                  <a:pt x="1464189" y="49709"/>
                </a:lnTo>
                <a:lnTo>
                  <a:pt x="1514141" y="60483"/>
                </a:lnTo>
                <a:lnTo>
                  <a:pt x="1560420" y="72113"/>
                </a:lnTo>
                <a:lnTo>
                  <a:pt x="1602796" y="84545"/>
                </a:lnTo>
                <a:lnTo>
                  <a:pt x="1641043" y="97726"/>
                </a:lnTo>
                <a:lnTo>
                  <a:pt x="1704230" y="126122"/>
                </a:lnTo>
                <a:lnTo>
                  <a:pt x="1748157" y="156877"/>
                </a:lnTo>
                <a:lnTo>
                  <a:pt x="1770995" y="189565"/>
                </a:lnTo>
                <a:lnTo>
                  <a:pt x="1773936" y="206502"/>
                </a:lnTo>
                <a:lnTo>
                  <a:pt x="1770995" y="223438"/>
                </a:lnTo>
                <a:lnTo>
                  <a:pt x="1748157" y="256126"/>
                </a:lnTo>
                <a:lnTo>
                  <a:pt x="1704230" y="286881"/>
                </a:lnTo>
                <a:lnTo>
                  <a:pt x="1641043" y="315277"/>
                </a:lnTo>
                <a:lnTo>
                  <a:pt x="1602796" y="328458"/>
                </a:lnTo>
                <a:lnTo>
                  <a:pt x="1560420" y="340890"/>
                </a:lnTo>
                <a:lnTo>
                  <a:pt x="1514141" y="352520"/>
                </a:lnTo>
                <a:lnTo>
                  <a:pt x="1464189" y="363294"/>
                </a:lnTo>
                <a:lnTo>
                  <a:pt x="1410791" y="373160"/>
                </a:lnTo>
                <a:lnTo>
                  <a:pt x="1354176" y="382064"/>
                </a:lnTo>
                <a:lnTo>
                  <a:pt x="1294572" y="389954"/>
                </a:lnTo>
                <a:lnTo>
                  <a:pt x="1232207" y="396775"/>
                </a:lnTo>
                <a:lnTo>
                  <a:pt x="1167310" y="402476"/>
                </a:lnTo>
                <a:lnTo>
                  <a:pt x="1100110" y="407002"/>
                </a:lnTo>
                <a:lnTo>
                  <a:pt x="1030833" y="410301"/>
                </a:lnTo>
                <a:lnTo>
                  <a:pt x="959710" y="412319"/>
                </a:lnTo>
                <a:lnTo>
                  <a:pt x="886967" y="413004"/>
                </a:lnTo>
                <a:lnTo>
                  <a:pt x="814222" y="412319"/>
                </a:lnTo>
                <a:lnTo>
                  <a:pt x="743095" y="410301"/>
                </a:lnTo>
                <a:lnTo>
                  <a:pt x="673817" y="407002"/>
                </a:lnTo>
                <a:lnTo>
                  <a:pt x="606615" y="402476"/>
                </a:lnTo>
                <a:lnTo>
                  <a:pt x="541717" y="396775"/>
                </a:lnTo>
                <a:lnTo>
                  <a:pt x="479352" y="389954"/>
                </a:lnTo>
                <a:lnTo>
                  <a:pt x="419748" y="382064"/>
                </a:lnTo>
                <a:lnTo>
                  <a:pt x="363133" y="373160"/>
                </a:lnTo>
                <a:lnTo>
                  <a:pt x="309736" y="363294"/>
                </a:lnTo>
                <a:lnTo>
                  <a:pt x="259784" y="352520"/>
                </a:lnTo>
                <a:lnTo>
                  <a:pt x="213507" y="340890"/>
                </a:lnTo>
                <a:lnTo>
                  <a:pt x="171131" y="328458"/>
                </a:lnTo>
                <a:lnTo>
                  <a:pt x="132886" y="315277"/>
                </a:lnTo>
                <a:lnTo>
                  <a:pt x="69701" y="286881"/>
                </a:lnTo>
                <a:lnTo>
                  <a:pt x="25777" y="256126"/>
                </a:lnTo>
                <a:lnTo>
                  <a:pt x="2940" y="223438"/>
                </a:lnTo>
                <a:lnTo>
                  <a:pt x="0" y="206502"/>
                </a:lnTo>
                <a:close/>
              </a:path>
            </a:pathLst>
          </a:custGeom>
          <a:ln w="38099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321814" y="3461765"/>
            <a:ext cx="1542415" cy="413384"/>
          </a:xfrm>
          <a:custGeom>
            <a:avLst/>
            <a:gdLst/>
            <a:ahLst/>
            <a:cxnLst/>
            <a:rect l="l" t="t" r="r" b="b"/>
            <a:pathLst>
              <a:path w="1542414" h="413385">
                <a:moveTo>
                  <a:pt x="0" y="206502"/>
                </a:moveTo>
                <a:lnTo>
                  <a:pt x="12426" y="169383"/>
                </a:lnTo>
                <a:lnTo>
                  <a:pt x="48251" y="134447"/>
                </a:lnTo>
                <a:lnTo>
                  <a:pt x="105297" y="102277"/>
                </a:lnTo>
                <a:lnTo>
                  <a:pt x="141096" y="87411"/>
                </a:lnTo>
                <a:lnTo>
                  <a:pt x="181383" y="73456"/>
                </a:lnTo>
                <a:lnTo>
                  <a:pt x="225885" y="60483"/>
                </a:lnTo>
                <a:lnTo>
                  <a:pt x="274330" y="48567"/>
                </a:lnTo>
                <a:lnTo>
                  <a:pt x="326445" y="37779"/>
                </a:lnTo>
                <a:lnTo>
                  <a:pt x="381959" y="28194"/>
                </a:lnTo>
                <a:lnTo>
                  <a:pt x="440598" y="19882"/>
                </a:lnTo>
                <a:lnTo>
                  <a:pt x="502091" y="12919"/>
                </a:lnTo>
                <a:lnTo>
                  <a:pt x="566164" y="7376"/>
                </a:lnTo>
                <a:lnTo>
                  <a:pt x="632545" y="3327"/>
                </a:lnTo>
                <a:lnTo>
                  <a:pt x="700963" y="843"/>
                </a:lnTo>
                <a:lnTo>
                  <a:pt x="771144" y="0"/>
                </a:lnTo>
                <a:lnTo>
                  <a:pt x="841324" y="843"/>
                </a:lnTo>
                <a:lnTo>
                  <a:pt x="909742" y="3327"/>
                </a:lnTo>
                <a:lnTo>
                  <a:pt x="976123" y="7376"/>
                </a:lnTo>
                <a:lnTo>
                  <a:pt x="1040196" y="12919"/>
                </a:lnTo>
                <a:lnTo>
                  <a:pt x="1101689" y="19882"/>
                </a:lnTo>
                <a:lnTo>
                  <a:pt x="1160328" y="28193"/>
                </a:lnTo>
                <a:lnTo>
                  <a:pt x="1215842" y="37779"/>
                </a:lnTo>
                <a:lnTo>
                  <a:pt x="1267957" y="48567"/>
                </a:lnTo>
                <a:lnTo>
                  <a:pt x="1316402" y="60483"/>
                </a:lnTo>
                <a:lnTo>
                  <a:pt x="1360904" y="73456"/>
                </a:lnTo>
                <a:lnTo>
                  <a:pt x="1401191" y="87411"/>
                </a:lnTo>
                <a:lnTo>
                  <a:pt x="1436990" y="102277"/>
                </a:lnTo>
                <a:lnTo>
                  <a:pt x="1494036" y="134447"/>
                </a:lnTo>
                <a:lnTo>
                  <a:pt x="1529861" y="169383"/>
                </a:lnTo>
                <a:lnTo>
                  <a:pt x="1542288" y="206502"/>
                </a:lnTo>
                <a:lnTo>
                  <a:pt x="1539136" y="225297"/>
                </a:lnTo>
                <a:lnTo>
                  <a:pt x="1514737" y="261397"/>
                </a:lnTo>
                <a:lnTo>
                  <a:pt x="1468029" y="295023"/>
                </a:lnTo>
                <a:lnTo>
                  <a:pt x="1401191" y="325592"/>
                </a:lnTo>
                <a:lnTo>
                  <a:pt x="1360904" y="339547"/>
                </a:lnTo>
                <a:lnTo>
                  <a:pt x="1316402" y="352520"/>
                </a:lnTo>
                <a:lnTo>
                  <a:pt x="1267957" y="364436"/>
                </a:lnTo>
                <a:lnTo>
                  <a:pt x="1215842" y="375224"/>
                </a:lnTo>
                <a:lnTo>
                  <a:pt x="1160328" y="384809"/>
                </a:lnTo>
                <a:lnTo>
                  <a:pt x="1101689" y="393121"/>
                </a:lnTo>
                <a:lnTo>
                  <a:pt x="1040196" y="400084"/>
                </a:lnTo>
                <a:lnTo>
                  <a:pt x="976123" y="405627"/>
                </a:lnTo>
                <a:lnTo>
                  <a:pt x="909742" y="409676"/>
                </a:lnTo>
                <a:lnTo>
                  <a:pt x="841324" y="412160"/>
                </a:lnTo>
                <a:lnTo>
                  <a:pt x="771144" y="413004"/>
                </a:lnTo>
                <a:lnTo>
                  <a:pt x="700963" y="412160"/>
                </a:lnTo>
                <a:lnTo>
                  <a:pt x="632545" y="409676"/>
                </a:lnTo>
                <a:lnTo>
                  <a:pt x="566164" y="405627"/>
                </a:lnTo>
                <a:lnTo>
                  <a:pt x="502091" y="400084"/>
                </a:lnTo>
                <a:lnTo>
                  <a:pt x="440598" y="393121"/>
                </a:lnTo>
                <a:lnTo>
                  <a:pt x="381959" y="384810"/>
                </a:lnTo>
                <a:lnTo>
                  <a:pt x="326445" y="375224"/>
                </a:lnTo>
                <a:lnTo>
                  <a:pt x="274330" y="364436"/>
                </a:lnTo>
                <a:lnTo>
                  <a:pt x="225885" y="352520"/>
                </a:lnTo>
                <a:lnTo>
                  <a:pt x="181383" y="339547"/>
                </a:lnTo>
                <a:lnTo>
                  <a:pt x="141096" y="325592"/>
                </a:lnTo>
                <a:lnTo>
                  <a:pt x="105297" y="310726"/>
                </a:lnTo>
                <a:lnTo>
                  <a:pt x="48251" y="278556"/>
                </a:lnTo>
                <a:lnTo>
                  <a:pt x="12426" y="243620"/>
                </a:lnTo>
                <a:lnTo>
                  <a:pt x="0" y="206502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116067" y="1889760"/>
            <a:ext cx="1615440" cy="622300"/>
          </a:xfrm>
          <a:custGeom>
            <a:avLst/>
            <a:gdLst/>
            <a:ahLst/>
            <a:cxnLst/>
            <a:rect l="l" t="t" r="r" b="b"/>
            <a:pathLst>
              <a:path w="1615440" h="622300">
                <a:moveTo>
                  <a:pt x="0" y="621791"/>
                </a:moveTo>
                <a:lnTo>
                  <a:pt x="1615439" y="621791"/>
                </a:lnTo>
                <a:lnTo>
                  <a:pt x="1615439" y="0"/>
                </a:lnTo>
                <a:lnTo>
                  <a:pt x="0" y="0"/>
                </a:lnTo>
                <a:lnTo>
                  <a:pt x="0" y="621791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272278" y="1999234"/>
            <a:ext cx="5340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测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116067" y="2510027"/>
            <a:ext cx="1615440" cy="622300"/>
          </a:xfrm>
          <a:custGeom>
            <a:avLst/>
            <a:gdLst/>
            <a:ahLst/>
            <a:cxnLst/>
            <a:rect l="l" t="t" r="r" b="b"/>
            <a:pathLst>
              <a:path w="1615440" h="622300">
                <a:moveTo>
                  <a:pt x="0" y="621791"/>
                </a:moveTo>
                <a:lnTo>
                  <a:pt x="1615439" y="621791"/>
                </a:lnTo>
                <a:lnTo>
                  <a:pt x="1615439" y="0"/>
                </a:lnTo>
                <a:lnTo>
                  <a:pt x="0" y="0"/>
                </a:lnTo>
                <a:lnTo>
                  <a:pt x="0" y="621791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272278" y="2615006"/>
            <a:ext cx="101600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S1.code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116067" y="3755135"/>
            <a:ext cx="0" cy="745490"/>
          </a:xfrm>
          <a:custGeom>
            <a:avLst/>
            <a:gdLst/>
            <a:ahLst/>
            <a:cxnLst/>
            <a:rect l="l" t="t" r="r" b="b"/>
            <a:pathLst>
              <a:path w="0" h="745489">
                <a:moveTo>
                  <a:pt x="0" y="0"/>
                </a:moveTo>
                <a:lnTo>
                  <a:pt x="0" y="745236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731507" y="3755135"/>
            <a:ext cx="0" cy="745490"/>
          </a:xfrm>
          <a:custGeom>
            <a:avLst/>
            <a:gdLst/>
            <a:ahLst/>
            <a:cxnLst/>
            <a:rect l="l" t="t" r="r" b="b"/>
            <a:pathLst>
              <a:path w="0" h="745489">
                <a:moveTo>
                  <a:pt x="0" y="0"/>
                </a:moveTo>
                <a:lnTo>
                  <a:pt x="0" y="745236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4114927" y="3755517"/>
            <a:ext cx="9994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FFFF"/>
                </a:solidFill>
                <a:latin typeface="Times New Roman"/>
                <a:cs typeface="Times New Roman"/>
              </a:rPr>
              <a:t>E.false: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474457" y="2221179"/>
            <a:ext cx="161798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Goto</a:t>
            </a:r>
            <a:r>
              <a:rPr dirty="0" sz="2400" spc="-9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E.false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541769" y="2371344"/>
            <a:ext cx="853440" cy="114300"/>
          </a:xfrm>
          <a:custGeom>
            <a:avLst/>
            <a:gdLst/>
            <a:ahLst/>
            <a:cxnLst/>
            <a:rect l="l" t="t" r="r" b="b"/>
            <a:pathLst>
              <a:path w="853440" h="114300">
                <a:moveTo>
                  <a:pt x="739139" y="0"/>
                </a:moveTo>
                <a:lnTo>
                  <a:pt x="739139" y="114300"/>
                </a:lnTo>
                <a:lnTo>
                  <a:pt x="815339" y="76200"/>
                </a:lnTo>
                <a:lnTo>
                  <a:pt x="758189" y="76200"/>
                </a:lnTo>
                <a:lnTo>
                  <a:pt x="758189" y="38100"/>
                </a:lnTo>
                <a:lnTo>
                  <a:pt x="815339" y="38100"/>
                </a:lnTo>
                <a:lnTo>
                  <a:pt x="739139" y="0"/>
                </a:lnTo>
                <a:close/>
              </a:path>
              <a:path w="853440" h="114300">
                <a:moveTo>
                  <a:pt x="73913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39139" y="76200"/>
                </a:lnTo>
                <a:lnTo>
                  <a:pt x="739139" y="38100"/>
                </a:lnTo>
                <a:close/>
              </a:path>
              <a:path w="853440" h="114300">
                <a:moveTo>
                  <a:pt x="815339" y="38100"/>
                </a:moveTo>
                <a:lnTo>
                  <a:pt x="758189" y="38100"/>
                </a:lnTo>
                <a:lnTo>
                  <a:pt x="758189" y="76200"/>
                </a:lnTo>
                <a:lnTo>
                  <a:pt x="815339" y="76200"/>
                </a:lnTo>
                <a:lnTo>
                  <a:pt x="853439" y="57150"/>
                </a:lnTo>
                <a:lnTo>
                  <a:pt x="815339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116067" y="3131820"/>
            <a:ext cx="1615440" cy="623570"/>
          </a:xfrm>
          <a:custGeom>
            <a:avLst/>
            <a:gdLst/>
            <a:ahLst/>
            <a:cxnLst/>
            <a:rect l="l" t="t" r="r" b="b"/>
            <a:pathLst>
              <a:path w="1615440" h="623570">
                <a:moveTo>
                  <a:pt x="0" y="623315"/>
                </a:moveTo>
                <a:lnTo>
                  <a:pt x="1615439" y="623315"/>
                </a:lnTo>
                <a:lnTo>
                  <a:pt x="1615439" y="0"/>
                </a:lnTo>
                <a:lnTo>
                  <a:pt x="0" y="0"/>
                </a:lnTo>
                <a:lnTo>
                  <a:pt x="0" y="623315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196078" y="3031367"/>
            <a:ext cx="1372870" cy="1362075"/>
          </a:xfrm>
          <a:prstGeom prst="rect">
            <a:avLst/>
          </a:prstGeom>
        </p:spPr>
        <p:txBody>
          <a:bodyPr wrap="square" lIns="0" tIns="2190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goto</a:t>
            </a:r>
            <a:r>
              <a:rPr dirty="0" sz="24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begin</a:t>
            </a:r>
            <a:endParaRPr sz="2400">
              <a:latin typeface="Times New Roman"/>
              <a:cs typeface="Times New Roman"/>
            </a:endParaRPr>
          </a:p>
          <a:p>
            <a:pPr marL="238760">
              <a:lnSpc>
                <a:spcPct val="100000"/>
              </a:lnSpc>
              <a:spcBef>
                <a:spcPts val="2175"/>
              </a:spcBef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156075" y="1785315"/>
            <a:ext cx="915669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begin</a:t>
            </a:r>
            <a:r>
              <a:rPr dirty="0" sz="2400" spc="-85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116067" y="1214627"/>
            <a:ext cx="1615440" cy="675640"/>
          </a:xfrm>
          <a:custGeom>
            <a:avLst/>
            <a:gdLst/>
            <a:ahLst/>
            <a:cxnLst/>
            <a:rect l="l" t="t" r="r" b="b"/>
            <a:pathLst>
              <a:path w="1615440" h="675639">
                <a:moveTo>
                  <a:pt x="0" y="675132"/>
                </a:moveTo>
                <a:lnTo>
                  <a:pt x="1615439" y="675132"/>
                </a:lnTo>
                <a:lnTo>
                  <a:pt x="1615439" y="0"/>
                </a:lnTo>
                <a:lnTo>
                  <a:pt x="0" y="0"/>
                </a:lnTo>
                <a:lnTo>
                  <a:pt x="0" y="675132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5272278" y="1345514"/>
            <a:ext cx="89725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E.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co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0141" y="0"/>
            <a:ext cx="8403590" cy="548068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05"/>
              </a:spcBef>
              <a:tabLst>
                <a:tab pos="668655" algn="l"/>
                <a:tab pos="3797935" algn="l"/>
                <a:tab pos="4305300" algn="l"/>
                <a:tab pos="570928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  <a:p>
            <a:pPr marL="488315" indent="-317500">
              <a:lnSpc>
                <a:spcPct val="100000"/>
              </a:lnSpc>
              <a:spcBef>
                <a:spcPts val="1415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48895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条件语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句</a:t>
            </a:r>
            <a:r>
              <a:rPr dirty="0" sz="3200" spc="10" b="1">
                <a:solidFill>
                  <a:srgbClr val="FF9933"/>
                </a:solidFill>
                <a:latin typeface="幼圆"/>
                <a:cs typeface="幼圆"/>
              </a:rPr>
              <a:t>③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翻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译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的语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义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子程序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 →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while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(E)</a:t>
            </a:r>
            <a:r>
              <a:rPr dirty="0" sz="2800" spc="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S1</a:t>
            </a:r>
            <a:endParaRPr sz="2800">
              <a:latin typeface="Times New Roman"/>
              <a:cs typeface="Times New Roman"/>
            </a:endParaRPr>
          </a:p>
          <a:p>
            <a:pPr marL="546100" marR="2550160" indent="-533400">
              <a:lnSpc>
                <a:spcPct val="130000"/>
              </a:lnSpc>
              <a:spcBef>
                <a:spcPts val="40"/>
              </a:spcBef>
              <a:tabLst>
                <a:tab pos="507365" algn="l"/>
              </a:tabLst>
            </a:pP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{	E.false=newlabel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；  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S.begin=newlabel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；  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S.code=GEN(S.begin'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：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') | E.code</a:t>
            </a:r>
            <a:r>
              <a:rPr dirty="0" sz="2800" spc="35" b="1">
                <a:solidFill>
                  <a:srgbClr val="FFCC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|</a:t>
            </a:r>
            <a:endParaRPr sz="2800">
              <a:latin typeface="Times New Roman"/>
              <a:cs typeface="Times New Roman"/>
            </a:endParaRPr>
          </a:p>
          <a:p>
            <a:pPr marL="1598930" marR="2662555" indent="101600">
              <a:lnSpc>
                <a:spcPct val="130000"/>
              </a:lnSpc>
              <a:spcBef>
                <a:spcPts val="5"/>
              </a:spcBef>
            </a:pP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GEN(jF 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E.false)</a:t>
            </a:r>
            <a:r>
              <a:rPr dirty="0" sz="2800" spc="-110" b="1">
                <a:solidFill>
                  <a:srgbClr val="FFCC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|  S1.code |  GEN(j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S.begin)|  GEN(E.false'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：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')</a:t>
            </a:r>
            <a:r>
              <a:rPr dirty="0" sz="2800" spc="5" b="1">
                <a:solidFill>
                  <a:srgbClr val="FFCC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83908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  <a:tab pos="4292600" algn="l"/>
                <a:tab pos="56959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72592" y="747725"/>
            <a:ext cx="8783955" cy="148526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1132205" algn="l"/>
              </a:tabLst>
            </a:pPr>
            <a:r>
              <a:rPr dirty="0" sz="3200" spc="-5">
                <a:solidFill>
                  <a:srgbClr val="FFFF00"/>
                </a:solidFill>
              </a:rPr>
              <a:t>例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6.2	</a:t>
            </a:r>
            <a:r>
              <a:rPr dirty="0" sz="3200" spc="-5">
                <a:solidFill>
                  <a:srgbClr val="FFFFFF"/>
                </a:solidFill>
              </a:rPr>
              <a:t>将下面</a:t>
            </a:r>
            <a:r>
              <a:rPr dirty="0" sz="3200">
                <a:solidFill>
                  <a:srgbClr val="FFFFFF"/>
                </a:solidFill>
              </a:rPr>
              <a:t>的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spc="-10">
                <a:solidFill>
                  <a:srgbClr val="FFFFFF"/>
                </a:solidFill>
              </a:rPr>
              <a:t>语</a:t>
            </a:r>
            <a:r>
              <a:rPr dirty="0" sz="3200" spc="5">
                <a:solidFill>
                  <a:srgbClr val="FFFFFF"/>
                </a:solidFill>
              </a:rPr>
              <a:t>言</a:t>
            </a:r>
            <a:r>
              <a:rPr dirty="0" sz="3200" spc="-10">
                <a:solidFill>
                  <a:srgbClr val="FFFFFF"/>
                </a:solidFill>
              </a:rPr>
              <a:t>伪</a:t>
            </a:r>
            <a:r>
              <a:rPr dirty="0" sz="3200" spc="5">
                <a:solidFill>
                  <a:srgbClr val="FFFFFF"/>
                </a:solidFill>
              </a:rPr>
              <a:t>代</a:t>
            </a:r>
            <a:r>
              <a:rPr dirty="0" sz="3200" spc="-10">
                <a:solidFill>
                  <a:srgbClr val="FFFFFF"/>
                </a:solidFill>
              </a:rPr>
              <a:t>码翻</a:t>
            </a:r>
            <a:r>
              <a:rPr dirty="0" sz="3200">
                <a:solidFill>
                  <a:srgbClr val="FFFFFF"/>
                </a:solidFill>
              </a:rPr>
              <a:t>译</a:t>
            </a:r>
            <a:r>
              <a:rPr dirty="0" sz="3200" spc="-10">
                <a:solidFill>
                  <a:srgbClr val="FFFFFF"/>
                </a:solidFill>
              </a:rPr>
              <a:t>为四</a:t>
            </a:r>
            <a:r>
              <a:rPr dirty="0" sz="3200">
                <a:solidFill>
                  <a:srgbClr val="FFFFFF"/>
                </a:solidFill>
              </a:rPr>
              <a:t>元</a:t>
            </a:r>
            <a:r>
              <a:rPr dirty="0" sz="3200" spc="-10">
                <a:solidFill>
                  <a:srgbClr val="FFFFFF"/>
                </a:solidFill>
              </a:rPr>
              <a:t>式形</a:t>
            </a:r>
            <a:r>
              <a:rPr dirty="0" sz="3200">
                <a:solidFill>
                  <a:srgbClr val="FFFFFF"/>
                </a:solidFill>
              </a:rPr>
              <a:t>式</a:t>
            </a:r>
            <a:r>
              <a:rPr dirty="0" sz="3200" spc="-10">
                <a:solidFill>
                  <a:srgbClr val="FFFFFF"/>
                </a:solidFill>
              </a:rPr>
              <a:t>的 </a:t>
            </a:r>
            <a:r>
              <a:rPr dirty="0" sz="3200">
                <a:solidFill>
                  <a:srgbClr val="FFFFFF"/>
                </a:solidFill>
              </a:rPr>
              <a:t>中间代码</a:t>
            </a:r>
            <a:endParaRPr sz="3200">
              <a:latin typeface="Times New Roman"/>
              <a:cs typeface="Times New Roman"/>
            </a:endParaRPr>
          </a:p>
          <a:p>
            <a:pPr marL="1434465">
              <a:lnSpc>
                <a:spcPts val="3804"/>
              </a:lnSpc>
              <a:tabLst>
                <a:tab pos="1886585" algn="l"/>
              </a:tabLst>
            </a:pP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if	(A&gt;B &amp;&amp; B&gt;C</a:t>
            </a:r>
            <a:r>
              <a:rPr dirty="0" sz="32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44295" y="2207132"/>
            <a:ext cx="2787015" cy="37699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72185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S1</a:t>
            </a:r>
            <a:endParaRPr sz="3200">
              <a:latin typeface="Times New Roman"/>
              <a:cs typeface="Times New Roman"/>
            </a:endParaRPr>
          </a:p>
          <a:p>
            <a:pPr marL="462280">
              <a:lnSpc>
                <a:spcPct val="100000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else</a:t>
            </a:r>
            <a:endParaRPr sz="3200">
              <a:latin typeface="Times New Roman"/>
              <a:cs typeface="Times New Roman"/>
            </a:endParaRPr>
          </a:p>
          <a:p>
            <a:pPr marL="1072515">
              <a:lnSpc>
                <a:spcPct val="100000"/>
              </a:lnSpc>
            </a:pP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S2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99800"/>
              </a:lnSpc>
              <a:spcBef>
                <a:spcPts val="2625"/>
              </a:spcBef>
              <a:tabLst>
                <a:tab pos="1090930" algn="l"/>
              </a:tabLst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用到的语法： 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if	C S else</a:t>
            </a:r>
            <a:r>
              <a:rPr dirty="0" sz="3200" spc="-10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  C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C &amp;&amp; T|T  T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id&gt;id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247" y="26923"/>
            <a:ext cx="41173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13275" y="26923"/>
            <a:ext cx="411035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6050" algn="l"/>
              </a:tabLst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2592" y="483870"/>
            <a:ext cx="94297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6.2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88077" y="926719"/>
            <a:ext cx="41275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solidFill>
                  <a:srgbClr val="FFFF66"/>
                </a:solidFill>
                <a:latin typeface="Times New Roman"/>
                <a:cs typeface="Times New Roman"/>
              </a:rPr>
              <a:t>L1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32911" y="483870"/>
            <a:ext cx="1290955" cy="865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665"/>
              </a:lnSpc>
              <a:spcBef>
                <a:spcPts val="105"/>
              </a:spcBef>
              <a:tabLst>
                <a:tab pos="848994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else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  <a:p>
            <a:pPr marL="550545">
              <a:lnSpc>
                <a:spcPts val="2945"/>
              </a:lnSpc>
            </a:pPr>
            <a:r>
              <a:rPr dirty="0" sz="2600" b="1">
                <a:solidFill>
                  <a:srgbClr val="FFFF66"/>
                </a:solidFill>
                <a:latin typeface="Times New Roman"/>
                <a:cs typeface="Times New Roman"/>
              </a:rPr>
              <a:t>L2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53857" y="880618"/>
            <a:ext cx="41275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solidFill>
                  <a:srgbClr val="FFFF66"/>
                </a:solidFill>
                <a:latin typeface="Times New Roman"/>
                <a:cs typeface="Times New Roman"/>
              </a:rPr>
              <a:t>L3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19595" y="2928168"/>
            <a:ext cx="177800" cy="393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5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29709" y="3358735"/>
            <a:ext cx="203835" cy="45148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495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29839" y="3425952"/>
            <a:ext cx="433070" cy="428625"/>
          </a:xfrm>
          <a:prstGeom prst="rect">
            <a:avLst/>
          </a:prstGeom>
          <a:solidFill>
            <a:srgbClr val="1E2D52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3245"/>
              </a:lnSpc>
            </a:pPr>
            <a:r>
              <a:rPr dirty="0" sz="2800" b="1">
                <a:solidFill>
                  <a:srgbClr val="FFCC00"/>
                </a:solidFill>
                <a:latin typeface="Times New Roman"/>
                <a:cs typeface="Times New Roman"/>
              </a:rPr>
              <a:t>36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9040" y="4274718"/>
            <a:ext cx="1363345" cy="1503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3040" marR="5080" indent="-180975">
              <a:lnSpc>
                <a:spcPct val="122100"/>
              </a:lnSpc>
              <a:spcBef>
                <a:spcPts val="100"/>
              </a:spcBef>
              <a:tabLst>
                <a:tab pos="575310" algn="l"/>
                <a:tab pos="110871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(J	_	_ 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.co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  <a:spcBef>
                <a:spcPts val="75"/>
              </a:spcBef>
            </a:pPr>
            <a:r>
              <a:rPr dirty="0" sz="2800" b="1">
                <a:solidFill>
                  <a:srgbClr val="FFFFFF"/>
                </a:solidFill>
                <a:latin typeface="Symbol"/>
                <a:cs typeface="Symbol"/>
              </a:rPr>
              <a:t>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39320" y="4420799"/>
            <a:ext cx="177800" cy="393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5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240" y="1461642"/>
            <a:ext cx="10147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655320" algn="l"/>
              </a:tabLst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10:	</a:t>
            </a:r>
            <a:r>
              <a:rPr dirty="0" baseline="8928" sz="4200" spc="-7" b="1">
                <a:solidFill>
                  <a:srgbClr val="FFFFFF"/>
                </a:solidFill>
                <a:latin typeface="Times New Roman"/>
                <a:cs typeface="Times New Roman"/>
              </a:rPr>
              <a:t>(&gt;</a:t>
            </a:r>
            <a:endParaRPr baseline="8928" sz="4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240" y="2933776"/>
            <a:ext cx="1233170" cy="95376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68897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20:	</a:t>
            </a:r>
            <a:r>
              <a:rPr dirty="0" baseline="8928" sz="4200" spc="7" b="1">
                <a:solidFill>
                  <a:srgbClr val="FFFFFF"/>
                </a:solidFill>
                <a:latin typeface="Times New Roman"/>
                <a:cs typeface="Times New Roman"/>
              </a:rPr>
              <a:t>(J</a:t>
            </a:r>
            <a:r>
              <a:rPr dirty="0" baseline="-7507" sz="2775" spc="7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baseline="-7507" sz="2775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688975" algn="l"/>
              </a:tabLst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24:	</a:t>
            </a:r>
            <a:r>
              <a:rPr dirty="0" baseline="9548" sz="4800" spc="7" b="1">
                <a:solidFill>
                  <a:srgbClr val="FFFFFF"/>
                </a:solidFill>
                <a:latin typeface="Times New Roman"/>
                <a:cs typeface="Times New Roman"/>
              </a:rPr>
              <a:t>(J</a:t>
            </a:r>
            <a:r>
              <a:rPr dirty="0" baseline="-661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baseline="-6613" sz="31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640" y="3866131"/>
            <a:ext cx="1974850" cy="246507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  <a:tabLst>
                <a:tab pos="806450" algn="l"/>
              </a:tabLst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28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32: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36: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40: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44: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22825" y="5782316"/>
            <a:ext cx="357505" cy="393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50"/>
              </a:lnSpc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32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57700" y="5782316"/>
            <a:ext cx="177800" cy="393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5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00600" y="5121187"/>
            <a:ext cx="357505" cy="393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55"/>
              </a:lnSpc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24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35475" y="5121187"/>
            <a:ext cx="177800" cy="393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55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60925" y="4638985"/>
            <a:ext cx="357505" cy="393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50"/>
              </a:lnSpc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20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95800" y="4638985"/>
            <a:ext cx="177800" cy="393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5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42032" y="2938272"/>
            <a:ext cx="469900" cy="436245"/>
          </a:xfrm>
          <a:prstGeom prst="rect">
            <a:avLst/>
          </a:prstGeom>
          <a:solidFill>
            <a:srgbClr val="1E2D52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250"/>
              </a:lnSpc>
            </a:pPr>
            <a:r>
              <a:rPr dirty="0" sz="2800" b="1">
                <a:solidFill>
                  <a:srgbClr val="FFCC00"/>
                </a:solidFill>
                <a:latin typeface="Times New Roman"/>
                <a:cs typeface="Times New Roman"/>
              </a:rPr>
              <a:t>28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428744" y="5152644"/>
            <a:ext cx="228600" cy="485140"/>
          </a:xfrm>
          <a:custGeom>
            <a:avLst/>
            <a:gdLst/>
            <a:ahLst/>
            <a:cxnLst/>
            <a:rect l="l" t="t" r="r" b="b"/>
            <a:pathLst>
              <a:path w="228600" h="485139">
                <a:moveTo>
                  <a:pt x="0" y="484631"/>
                </a:moveTo>
                <a:lnTo>
                  <a:pt x="228600" y="484631"/>
                </a:lnTo>
                <a:lnTo>
                  <a:pt x="228600" y="0"/>
                </a:lnTo>
                <a:lnTo>
                  <a:pt x="0" y="0"/>
                </a:lnTo>
                <a:lnTo>
                  <a:pt x="0" y="484631"/>
                </a:lnTo>
                <a:close/>
              </a:path>
            </a:pathLst>
          </a:custGeom>
          <a:solidFill>
            <a:srgbClr val="1E2D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812791" y="5672328"/>
            <a:ext cx="413384" cy="434340"/>
          </a:xfrm>
          <a:custGeom>
            <a:avLst/>
            <a:gdLst/>
            <a:ahLst/>
            <a:cxnLst/>
            <a:rect l="l" t="t" r="r" b="b"/>
            <a:pathLst>
              <a:path w="413385" h="434339">
                <a:moveTo>
                  <a:pt x="0" y="434340"/>
                </a:moveTo>
                <a:lnTo>
                  <a:pt x="413003" y="434340"/>
                </a:lnTo>
                <a:lnTo>
                  <a:pt x="413003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solidFill>
            <a:srgbClr val="1E2D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7332726" y="5230774"/>
            <a:ext cx="5581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L3: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570726" y="3224022"/>
            <a:ext cx="1900555" cy="596265"/>
          </a:xfrm>
          <a:custGeom>
            <a:avLst/>
            <a:gdLst/>
            <a:ahLst/>
            <a:cxnLst/>
            <a:rect l="l" t="t" r="r" b="b"/>
            <a:pathLst>
              <a:path w="1900554" h="596264">
                <a:moveTo>
                  <a:pt x="0" y="297941"/>
                </a:moveTo>
                <a:lnTo>
                  <a:pt x="950214" y="0"/>
                </a:lnTo>
                <a:lnTo>
                  <a:pt x="1900427" y="297941"/>
                </a:lnTo>
                <a:lnTo>
                  <a:pt x="950214" y="595883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7152258" y="3288538"/>
            <a:ext cx="7359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结果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929121" y="4135373"/>
            <a:ext cx="641985" cy="596265"/>
          </a:xfrm>
          <a:custGeom>
            <a:avLst/>
            <a:gdLst/>
            <a:ahLst/>
            <a:cxnLst/>
            <a:rect l="l" t="t" r="r" b="b"/>
            <a:pathLst>
              <a:path w="641984" h="596264">
                <a:moveTo>
                  <a:pt x="0" y="595883"/>
                </a:moveTo>
                <a:lnTo>
                  <a:pt x="641603" y="595883"/>
                </a:lnTo>
                <a:lnTo>
                  <a:pt x="641603" y="0"/>
                </a:lnTo>
                <a:lnTo>
                  <a:pt x="0" y="0"/>
                </a:lnTo>
                <a:lnTo>
                  <a:pt x="0" y="595883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659628" y="3527958"/>
            <a:ext cx="749935" cy="1118870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L1:</a:t>
            </a:r>
            <a:endParaRPr sz="2800">
              <a:latin typeface="Times New Roman"/>
              <a:cs typeface="Times New Roman"/>
            </a:endParaRPr>
          </a:p>
          <a:p>
            <a:pPr marL="360045">
              <a:lnSpc>
                <a:spcPct val="100000"/>
              </a:lnSpc>
              <a:spcBef>
                <a:spcPts val="944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S1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565642" y="4126229"/>
            <a:ext cx="579120" cy="596265"/>
          </a:xfrm>
          <a:custGeom>
            <a:avLst/>
            <a:gdLst/>
            <a:ahLst/>
            <a:cxnLst/>
            <a:rect l="l" t="t" r="r" b="b"/>
            <a:pathLst>
              <a:path w="579120" h="596264">
                <a:moveTo>
                  <a:pt x="0" y="595884"/>
                </a:moveTo>
                <a:lnTo>
                  <a:pt x="579120" y="595884"/>
                </a:lnTo>
                <a:lnTo>
                  <a:pt x="579120" y="0"/>
                </a:lnTo>
                <a:lnTo>
                  <a:pt x="0" y="0"/>
                </a:lnTo>
                <a:lnTo>
                  <a:pt x="0" y="595884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523098" y="1773047"/>
            <a:ext cx="114300" cy="455930"/>
          </a:xfrm>
          <a:custGeom>
            <a:avLst/>
            <a:gdLst/>
            <a:ahLst/>
            <a:cxnLst/>
            <a:rect l="l" t="t" r="r" b="b"/>
            <a:pathLst>
              <a:path w="114300" h="455930">
                <a:moveTo>
                  <a:pt x="0" y="265049"/>
                </a:moveTo>
                <a:lnTo>
                  <a:pt x="56515" y="455802"/>
                </a:lnTo>
                <a:lnTo>
                  <a:pt x="108590" y="284352"/>
                </a:lnTo>
                <a:lnTo>
                  <a:pt x="76200" y="284352"/>
                </a:lnTo>
                <a:lnTo>
                  <a:pt x="38100" y="284225"/>
                </a:lnTo>
                <a:lnTo>
                  <a:pt x="38159" y="265218"/>
                </a:lnTo>
                <a:lnTo>
                  <a:pt x="0" y="265049"/>
                </a:lnTo>
                <a:close/>
              </a:path>
              <a:path w="114300" h="455930">
                <a:moveTo>
                  <a:pt x="38159" y="265218"/>
                </a:moveTo>
                <a:lnTo>
                  <a:pt x="38100" y="284225"/>
                </a:lnTo>
                <a:lnTo>
                  <a:pt x="76200" y="284352"/>
                </a:lnTo>
                <a:lnTo>
                  <a:pt x="76259" y="265387"/>
                </a:lnTo>
                <a:lnTo>
                  <a:pt x="38159" y="265218"/>
                </a:lnTo>
                <a:close/>
              </a:path>
              <a:path w="114300" h="455930">
                <a:moveTo>
                  <a:pt x="76259" y="265387"/>
                </a:moveTo>
                <a:lnTo>
                  <a:pt x="76200" y="284352"/>
                </a:lnTo>
                <a:lnTo>
                  <a:pt x="108590" y="284352"/>
                </a:lnTo>
                <a:lnTo>
                  <a:pt x="114300" y="265556"/>
                </a:lnTo>
                <a:lnTo>
                  <a:pt x="76259" y="265387"/>
                </a:lnTo>
                <a:close/>
              </a:path>
              <a:path w="114300" h="455930">
                <a:moveTo>
                  <a:pt x="38989" y="0"/>
                </a:moveTo>
                <a:lnTo>
                  <a:pt x="38159" y="265218"/>
                </a:lnTo>
                <a:lnTo>
                  <a:pt x="76259" y="265387"/>
                </a:lnTo>
                <a:lnTo>
                  <a:pt x="77089" y="126"/>
                </a:lnTo>
                <a:lnTo>
                  <a:pt x="389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274052" y="5206746"/>
            <a:ext cx="114300" cy="596265"/>
          </a:xfrm>
          <a:custGeom>
            <a:avLst/>
            <a:gdLst/>
            <a:ahLst/>
            <a:cxnLst/>
            <a:rect l="l" t="t" r="r" b="b"/>
            <a:pathLst>
              <a:path w="114300" h="596264">
                <a:moveTo>
                  <a:pt x="38100" y="405383"/>
                </a:moveTo>
                <a:lnTo>
                  <a:pt x="0" y="405383"/>
                </a:lnTo>
                <a:lnTo>
                  <a:pt x="57150" y="595883"/>
                </a:lnTo>
                <a:lnTo>
                  <a:pt x="108584" y="424433"/>
                </a:lnTo>
                <a:lnTo>
                  <a:pt x="38100" y="424433"/>
                </a:lnTo>
                <a:lnTo>
                  <a:pt x="38100" y="405383"/>
                </a:lnTo>
                <a:close/>
              </a:path>
              <a:path w="114300" h="596264">
                <a:moveTo>
                  <a:pt x="76200" y="0"/>
                </a:moveTo>
                <a:lnTo>
                  <a:pt x="38100" y="0"/>
                </a:lnTo>
                <a:lnTo>
                  <a:pt x="38100" y="424433"/>
                </a:lnTo>
                <a:lnTo>
                  <a:pt x="76200" y="424433"/>
                </a:lnTo>
                <a:lnTo>
                  <a:pt x="76200" y="0"/>
                </a:lnTo>
                <a:close/>
              </a:path>
              <a:path w="114300" h="596264">
                <a:moveTo>
                  <a:pt x="114300" y="405383"/>
                </a:moveTo>
                <a:lnTo>
                  <a:pt x="76200" y="405383"/>
                </a:lnTo>
                <a:lnTo>
                  <a:pt x="76200" y="424433"/>
                </a:lnTo>
                <a:lnTo>
                  <a:pt x="108584" y="424433"/>
                </a:lnTo>
                <a:lnTo>
                  <a:pt x="114300" y="4053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8256269" y="2953156"/>
            <a:ext cx="790575" cy="1684655"/>
          </a:xfrm>
          <a:prstGeom prst="rect">
            <a:avLst/>
          </a:prstGeom>
        </p:spPr>
        <p:txBody>
          <a:bodyPr wrap="square" lIns="0" tIns="179070" rIns="0" bIns="0" rtlCol="0" vert="horz">
            <a:spAutoFit/>
          </a:bodyPr>
          <a:lstStyle/>
          <a:p>
            <a:pPr marL="344805">
              <a:lnSpc>
                <a:spcPct val="100000"/>
              </a:lnSpc>
              <a:spcBef>
                <a:spcPts val="141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L2:</a:t>
            </a:r>
            <a:endParaRPr sz="2800">
              <a:latin typeface="Times New Roman"/>
              <a:cs typeface="Times New Roman"/>
            </a:endParaRPr>
          </a:p>
          <a:p>
            <a:pPr marL="400685">
              <a:lnSpc>
                <a:spcPct val="100000"/>
              </a:lnSpc>
              <a:spcBef>
                <a:spcPts val="35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S2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016497" y="3118485"/>
            <a:ext cx="5600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非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919978" y="2193798"/>
            <a:ext cx="3039110" cy="596265"/>
          </a:xfrm>
          <a:custGeom>
            <a:avLst/>
            <a:gdLst/>
            <a:ahLst/>
            <a:cxnLst/>
            <a:rect l="l" t="t" r="r" b="b"/>
            <a:pathLst>
              <a:path w="3039109" h="596264">
                <a:moveTo>
                  <a:pt x="0" y="595884"/>
                </a:moveTo>
                <a:lnTo>
                  <a:pt x="3038855" y="595884"/>
                </a:lnTo>
                <a:lnTo>
                  <a:pt x="3038855" y="0"/>
                </a:lnTo>
                <a:lnTo>
                  <a:pt x="0" y="0"/>
                </a:lnTo>
                <a:lnTo>
                  <a:pt x="0" y="59588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998590" y="2258313"/>
            <a:ext cx="29032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计算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A&gt;B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&amp;&amp;</a:t>
            </a:r>
            <a:r>
              <a:rPr dirty="0" sz="28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B&gt;C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443851" y="2791079"/>
            <a:ext cx="114300" cy="455930"/>
          </a:xfrm>
          <a:custGeom>
            <a:avLst/>
            <a:gdLst/>
            <a:ahLst/>
            <a:cxnLst/>
            <a:rect l="l" t="t" r="r" b="b"/>
            <a:pathLst>
              <a:path w="114300" h="455930">
                <a:moveTo>
                  <a:pt x="0" y="265049"/>
                </a:moveTo>
                <a:lnTo>
                  <a:pt x="56515" y="455803"/>
                </a:lnTo>
                <a:lnTo>
                  <a:pt x="108552" y="284480"/>
                </a:lnTo>
                <a:lnTo>
                  <a:pt x="76200" y="284480"/>
                </a:lnTo>
                <a:lnTo>
                  <a:pt x="38100" y="284225"/>
                </a:lnTo>
                <a:lnTo>
                  <a:pt x="38159" y="265218"/>
                </a:lnTo>
                <a:lnTo>
                  <a:pt x="0" y="265049"/>
                </a:lnTo>
                <a:close/>
              </a:path>
              <a:path w="114300" h="455930">
                <a:moveTo>
                  <a:pt x="38159" y="265218"/>
                </a:moveTo>
                <a:lnTo>
                  <a:pt x="38100" y="284225"/>
                </a:lnTo>
                <a:lnTo>
                  <a:pt x="76200" y="284480"/>
                </a:lnTo>
                <a:lnTo>
                  <a:pt x="76259" y="265387"/>
                </a:lnTo>
                <a:lnTo>
                  <a:pt x="38159" y="265218"/>
                </a:lnTo>
                <a:close/>
              </a:path>
              <a:path w="114300" h="455930">
                <a:moveTo>
                  <a:pt x="76259" y="265387"/>
                </a:moveTo>
                <a:lnTo>
                  <a:pt x="76200" y="284480"/>
                </a:lnTo>
                <a:lnTo>
                  <a:pt x="108552" y="284480"/>
                </a:lnTo>
                <a:lnTo>
                  <a:pt x="114300" y="265557"/>
                </a:lnTo>
                <a:lnTo>
                  <a:pt x="76259" y="265387"/>
                </a:lnTo>
                <a:close/>
              </a:path>
              <a:path w="114300" h="455930">
                <a:moveTo>
                  <a:pt x="38989" y="0"/>
                </a:moveTo>
                <a:lnTo>
                  <a:pt x="38159" y="265218"/>
                </a:lnTo>
                <a:lnTo>
                  <a:pt x="76259" y="265387"/>
                </a:lnTo>
                <a:lnTo>
                  <a:pt x="77089" y="126"/>
                </a:lnTo>
                <a:lnTo>
                  <a:pt x="389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163583" y="3503676"/>
            <a:ext cx="407034" cy="632460"/>
          </a:xfrm>
          <a:custGeom>
            <a:avLst/>
            <a:gdLst/>
            <a:ahLst/>
            <a:cxnLst/>
            <a:rect l="l" t="t" r="r" b="b"/>
            <a:pathLst>
              <a:path w="407034" h="632460">
                <a:moveTo>
                  <a:pt x="16446" y="461339"/>
                </a:moveTo>
                <a:lnTo>
                  <a:pt x="9251" y="463804"/>
                </a:lnTo>
                <a:lnTo>
                  <a:pt x="3643" y="468782"/>
                </a:lnTo>
                <a:lnTo>
                  <a:pt x="488" y="475345"/>
                </a:lnTo>
                <a:lnTo>
                  <a:pt x="0" y="482645"/>
                </a:lnTo>
                <a:lnTo>
                  <a:pt x="2393" y="489838"/>
                </a:lnTo>
                <a:lnTo>
                  <a:pt x="85578" y="632332"/>
                </a:lnTo>
                <a:lnTo>
                  <a:pt x="107671" y="594487"/>
                </a:lnTo>
                <a:lnTo>
                  <a:pt x="66528" y="594487"/>
                </a:lnTo>
                <a:lnTo>
                  <a:pt x="66528" y="524001"/>
                </a:lnTo>
                <a:lnTo>
                  <a:pt x="35413" y="470662"/>
                </a:lnTo>
                <a:lnTo>
                  <a:pt x="30360" y="464982"/>
                </a:lnTo>
                <a:lnTo>
                  <a:pt x="23760" y="461803"/>
                </a:lnTo>
                <a:lnTo>
                  <a:pt x="16446" y="461339"/>
                </a:lnTo>
                <a:close/>
              </a:path>
              <a:path w="407034" h="632460">
                <a:moveTo>
                  <a:pt x="66528" y="524001"/>
                </a:moveTo>
                <a:lnTo>
                  <a:pt x="66528" y="594487"/>
                </a:lnTo>
                <a:lnTo>
                  <a:pt x="104628" y="594487"/>
                </a:lnTo>
                <a:lnTo>
                  <a:pt x="104628" y="584962"/>
                </a:lnTo>
                <a:lnTo>
                  <a:pt x="69068" y="584962"/>
                </a:lnTo>
                <a:lnTo>
                  <a:pt x="85578" y="556659"/>
                </a:lnTo>
                <a:lnTo>
                  <a:pt x="66528" y="524001"/>
                </a:lnTo>
                <a:close/>
              </a:path>
              <a:path w="407034" h="632460">
                <a:moveTo>
                  <a:pt x="154709" y="461339"/>
                </a:moveTo>
                <a:lnTo>
                  <a:pt x="147395" y="461803"/>
                </a:lnTo>
                <a:lnTo>
                  <a:pt x="140795" y="464982"/>
                </a:lnTo>
                <a:lnTo>
                  <a:pt x="135743" y="470662"/>
                </a:lnTo>
                <a:lnTo>
                  <a:pt x="104628" y="524001"/>
                </a:lnTo>
                <a:lnTo>
                  <a:pt x="104628" y="594487"/>
                </a:lnTo>
                <a:lnTo>
                  <a:pt x="107671" y="594487"/>
                </a:lnTo>
                <a:lnTo>
                  <a:pt x="168763" y="489838"/>
                </a:lnTo>
                <a:lnTo>
                  <a:pt x="171156" y="482645"/>
                </a:lnTo>
                <a:lnTo>
                  <a:pt x="170668" y="475345"/>
                </a:lnTo>
                <a:lnTo>
                  <a:pt x="167512" y="468782"/>
                </a:lnTo>
                <a:lnTo>
                  <a:pt x="161905" y="463804"/>
                </a:lnTo>
                <a:lnTo>
                  <a:pt x="154709" y="461339"/>
                </a:lnTo>
                <a:close/>
              </a:path>
              <a:path w="407034" h="632460">
                <a:moveTo>
                  <a:pt x="85578" y="556659"/>
                </a:moveTo>
                <a:lnTo>
                  <a:pt x="69068" y="584962"/>
                </a:lnTo>
                <a:lnTo>
                  <a:pt x="102088" y="584962"/>
                </a:lnTo>
                <a:lnTo>
                  <a:pt x="85578" y="556659"/>
                </a:lnTo>
                <a:close/>
              </a:path>
              <a:path w="407034" h="632460">
                <a:moveTo>
                  <a:pt x="104628" y="524001"/>
                </a:moveTo>
                <a:lnTo>
                  <a:pt x="85578" y="556659"/>
                </a:lnTo>
                <a:lnTo>
                  <a:pt x="102088" y="584962"/>
                </a:lnTo>
                <a:lnTo>
                  <a:pt x="104628" y="584962"/>
                </a:lnTo>
                <a:lnTo>
                  <a:pt x="104628" y="524001"/>
                </a:lnTo>
                <a:close/>
              </a:path>
              <a:path w="407034" h="632460">
                <a:moveTo>
                  <a:pt x="406507" y="0"/>
                </a:moveTo>
                <a:lnTo>
                  <a:pt x="85578" y="0"/>
                </a:lnTo>
                <a:lnTo>
                  <a:pt x="78154" y="1494"/>
                </a:lnTo>
                <a:lnTo>
                  <a:pt x="72100" y="5572"/>
                </a:lnTo>
                <a:lnTo>
                  <a:pt x="68022" y="11626"/>
                </a:lnTo>
                <a:lnTo>
                  <a:pt x="66528" y="19050"/>
                </a:lnTo>
                <a:lnTo>
                  <a:pt x="66528" y="524001"/>
                </a:lnTo>
                <a:lnTo>
                  <a:pt x="85578" y="556659"/>
                </a:lnTo>
                <a:lnTo>
                  <a:pt x="104628" y="524001"/>
                </a:lnTo>
                <a:lnTo>
                  <a:pt x="104628" y="38100"/>
                </a:lnTo>
                <a:lnTo>
                  <a:pt x="85578" y="38100"/>
                </a:lnTo>
                <a:lnTo>
                  <a:pt x="104628" y="19050"/>
                </a:lnTo>
                <a:lnTo>
                  <a:pt x="406507" y="19050"/>
                </a:lnTo>
                <a:lnTo>
                  <a:pt x="406507" y="0"/>
                </a:lnTo>
                <a:close/>
              </a:path>
              <a:path w="407034" h="632460">
                <a:moveTo>
                  <a:pt x="104628" y="19050"/>
                </a:moveTo>
                <a:lnTo>
                  <a:pt x="85578" y="38100"/>
                </a:lnTo>
                <a:lnTo>
                  <a:pt x="104628" y="38100"/>
                </a:lnTo>
                <a:lnTo>
                  <a:pt x="104628" y="19050"/>
                </a:lnTo>
                <a:close/>
              </a:path>
              <a:path w="407034" h="632460">
                <a:moveTo>
                  <a:pt x="406507" y="19050"/>
                </a:moveTo>
                <a:lnTo>
                  <a:pt x="104628" y="19050"/>
                </a:lnTo>
                <a:lnTo>
                  <a:pt x="104628" y="38100"/>
                </a:lnTo>
                <a:lnTo>
                  <a:pt x="406507" y="38100"/>
                </a:lnTo>
                <a:lnTo>
                  <a:pt x="406507" y="190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8471154" y="3503676"/>
            <a:ext cx="470534" cy="622935"/>
          </a:xfrm>
          <a:custGeom>
            <a:avLst/>
            <a:gdLst/>
            <a:ahLst/>
            <a:cxnLst/>
            <a:rect l="l" t="t" r="r" b="b"/>
            <a:pathLst>
              <a:path w="470534" h="622935">
                <a:moveTo>
                  <a:pt x="315277" y="451814"/>
                </a:moveTo>
                <a:lnTo>
                  <a:pt x="308101" y="454279"/>
                </a:lnTo>
                <a:lnTo>
                  <a:pt x="302422" y="459311"/>
                </a:lnTo>
                <a:lnTo>
                  <a:pt x="299243" y="465867"/>
                </a:lnTo>
                <a:lnTo>
                  <a:pt x="298779" y="473138"/>
                </a:lnTo>
                <a:lnTo>
                  <a:pt x="301244" y="480313"/>
                </a:lnTo>
                <a:lnTo>
                  <a:pt x="384428" y="622807"/>
                </a:lnTo>
                <a:lnTo>
                  <a:pt x="406488" y="584962"/>
                </a:lnTo>
                <a:lnTo>
                  <a:pt x="365378" y="584962"/>
                </a:lnTo>
                <a:lnTo>
                  <a:pt x="365252" y="514477"/>
                </a:lnTo>
                <a:lnTo>
                  <a:pt x="334137" y="461137"/>
                </a:lnTo>
                <a:lnTo>
                  <a:pt x="329104" y="455457"/>
                </a:lnTo>
                <a:lnTo>
                  <a:pt x="322548" y="452278"/>
                </a:lnTo>
                <a:lnTo>
                  <a:pt x="315277" y="451814"/>
                </a:lnTo>
                <a:close/>
              </a:path>
              <a:path w="470534" h="622935">
                <a:moveTo>
                  <a:pt x="365378" y="514694"/>
                </a:moveTo>
                <a:lnTo>
                  <a:pt x="365378" y="584962"/>
                </a:lnTo>
                <a:lnTo>
                  <a:pt x="403478" y="584962"/>
                </a:lnTo>
                <a:lnTo>
                  <a:pt x="403478" y="575437"/>
                </a:lnTo>
                <a:lnTo>
                  <a:pt x="367919" y="575437"/>
                </a:lnTo>
                <a:lnTo>
                  <a:pt x="384365" y="547242"/>
                </a:lnTo>
                <a:lnTo>
                  <a:pt x="365378" y="514694"/>
                </a:lnTo>
                <a:close/>
              </a:path>
              <a:path w="470534" h="622935">
                <a:moveTo>
                  <a:pt x="453507" y="451814"/>
                </a:moveTo>
                <a:lnTo>
                  <a:pt x="446230" y="452278"/>
                </a:lnTo>
                <a:lnTo>
                  <a:pt x="439644" y="455457"/>
                </a:lnTo>
                <a:lnTo>
                  <a:pt x="434594" y="461137"/>
                </a:lnTo>
                <a:lnTo>
                  <a:pt x="403478" y="514477"/>
                </a:lnTo>
                <a:lnTo>
                  <a:pt x="403478" y="584962"/>
                </a:lnTo>
                <a:lnTo>
                  <a:pt x="406488" y="584962"/>
                </a:lnTo>
                <a:lnTo>
                  <a:pt x="467487" y="480313"/>
                </a:lnTo>
                <a:lnTo>
                  <a:pt x="469951" y="473138"/>
                </a:lnTo>
                <a:lnTo>
                  <a:pt x="469487" y="465867"/>
                </a:lnTo>
                <a:lnTo>
                  <a:pt x="466308" y="459311"/>
                </a:lnTo>
                <a:lnTo>
                  <a:pt x="460628" y="454279"/>
                </a:lnTo>
                <a:lnTo>
                  <a:pt x="453507" y="451814"/>
                </a:lnTo>
                <a:close/>
              </a:path>
              <a:path w="470534" h="622935">
                <a:moveTo>
                  <a:pt x="384365" y="547242"/>
                </a:moveTo>
                <a:lnTo>
                  <a:pt x="367919" y="575437"/>
                </a:lnTo>
                <a:lnTo>
                  <a:pt x="400812" y="575437"/>
                </a:lnTo>
                <a:lnTo>
                  <a:pt x="384365" y="547242"/>
                </a:lnTo>
                <a:close/>
              </a:path>
              <a:path w="470534" h="622935">
                <a:moveTo>
                  <a:pt x="403478" y="514477"/>
                </a:moveTo>
                <a:lnTo>
                  <a:pt x="384365" y="547242"/>
                </a:lnTo>
                <a:lnTo>
                  <a:pt x="400812" y="575437"/>
                </a:lnTo>
                <a:lnTo>
                  <a:pt x="403478" y="575437"/>
                </a:lnTo>
                <a:lnTo>
                  <a:pt x="403478" y="514477"/>
                </a:lnTo>
                <a:close/>
              </a:path>
              <a:path w="470534" h="622935">
                <a:moveTo>
                  <a:pt x="365378" y="19050"/>
                </a:moveTo>
                <a:lnTo>
                  <a:pt x="365378" y="514694"/>
                </a:lnTo>
                <a:lnTo>
                  <a:pt x="384365" y="547242"/>
                </a:lnTo>
                <a:lnTo>
                  <a:pt x="403352" y="514694"/>
                </a:lnTo>
                <a:lnTo>
                  <a:pt x="403478" y="38100"/>
                </a:lnTo>
                <a:lnTo>
                  <a:pt x="384428" y="38100"/>
                </a:lnTo>
                <a:lnTo>
                  <a:pt x="365378" y="19050"/>
                </a:lnTo>
                <a:close/>
              </a:path>
              <a:path w="470534" h="622935">
                <a:moveTo>
                  <a:pt x="384428" y="0"/>
                </a:moveTo>
                <a:lnTo>
                  <a:pt x="0" y="0"/>
                </a:lnTo>
                <a:lnTo>
                  <a:pt x="0" y="38100"/>
                </a:lnTo>
                <a:lnTo>
                  <a:pt x="365378" y="38100"/>
                </a:lnTo>
                <a:lnTo>
                  <a:pt x="365378" y="19050"/>
                </a:lnTo>
                <a:lnTo>
                  <a:pt x="403478" y="19050"/>
                </a:lnTo>
                <a:lnTo>
                  <a:pt x="401966" y="11626"/>
                </a:lnTo>
                <a:lnTo>
                  <a:pt x="397859" y="5572"/>
                </a:lnTo>
                <a:lnTo>
                  <a:pt x="391798" y="1494"/>
                </a:lnTo>
                <a:lnTo>
                  <a:pt x="384428" y="0"/>
                </a:lnTo>
                <a:close/>
              </a:path>
              <a:path w="470534" h="622935">
                <a:moveTo>
                  <a:pt x="403478" y="19050"/>
                </a:moveTo>
                <a:lnTo>
                  <a:pt x="365378" y="19050"/>
                </a:lnTo>
                <a:lnTo>
                  <a:pt x="384428" y="38100"/>
                </a:lnTo>
                <a:lnTo>
                  <a:pt x="403478" y="38100"/>
                </a:lnTo>
                <a:lnTo>
                  <a:pt x="403478" y="190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249161" y="4731258"/>
            <a:ext cx="1082675" cy="475615"/>
          </a:xfrm>
          <a:custGeom>
            <a:avLst/>
            <a:gdLst/>
            <a:ahLst/>
            <a:cxnLst/>
            <a:rect l="l" t="t" r="r" b="b"/>
            <a:pathLst>
              <a:path w="1082675" h="475614">
                <a:moveTo>
                  <a:pt x="0" y="0"/>
                </a:moveTo>
                <a:lnTo>
                  <a:pt x="0" y="475615"/>
                </a:lnTo>
                <a:lnTo>
                  <a:pt x="1082293" y="475615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331202" y="4722114"/>
            <a:ext cx="1523365" cy="485140"/>
          </a:xfrm>
          <a:custGeom>
            <a:avLst/>
            <a:gdLst/>
            <a:ahLst/>
            <a:cxnLst/>
            <a:rect l="l" t="t" r="r" b="b"/>
            <a:pathLst>
              <a:path w="1523365" h="485139">
                <a:moveTo>
                  <a:pt x="1523111" y="0"/>
                </a:moveTo>
                <a:lnTo>
                  <a:pt x="1523111" y="485013"/>
                </a:lnTo>
                <a:lnTo>
                  <a:pt x="0" y="485013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40640" y="2415997"/>
            <a:ext cx="188531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57325" algn="l"/>
              </a:tabLst>
            </a:pPr>
            <a:r>
              <a:rPr dirty="0" baseline="-3968" sz="4200" b="1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r>
              <a:rPr dirty="0" baseline="-3968" sz="4200" spc="-7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dirty="0" baseline="-3968" sz="4200" spc="-37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(&amp;&amp;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T1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540" y="1340256"/>
            <a:ext cx="2820035" cy="1527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 marR="30480" indent="1186180">
              <a:lnSpc>
                <a:spcPct val="114999"/>
              </a:lnSpc>
              <a:spcBef>
                <a:spcPts val="100"/>
              </a:spcBef>
              <a:tabLst>
                <a:tab pos="1139190" algn="l"/>
                <a:tab pos="1731645" algn="l"/>
                <a:tab pos="223647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6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T1)  </a:t>
            </a:r>
            <a:r>
              <a:rPr dirty="0" baseline="-8928" sz="4200" b="1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baseline="-8928" sz="4200" spc="-7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dirty="0" baseline="-8928" sz="4200" spc="3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(&gt;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6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T2)</a:t>
            </a:r>
            <a:endParaRPr sz="2800">
              <a:latin typeface="Times New Roman"/>
              <a:cs typeface="Times New Roman"/>
            </a:endParaRPr>
          </a:p>
          <a:p>
            <a:pPr algn="r" marR="226060">
              <a:lnSpc>
                <a:spcPct val="100000"/>
              </a:lnSpc>
              <a:spcBef>
                <a:spcPts val="74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T2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834740" y="2415997"/>
            <a:ext cx="5588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T3)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812791" y="5152644"/>
            <a:ext cx="471170" cy="440690"/>
          </a:xfrm>
          <a:custGeom>
            <a:avLst/>
            <a:gdLst/>
            <a:ahLst/>
            <a:cxnLst/>
            <a:rect l="l" t="t" r="r" b="b"/>
            <a:pathLst>
              <a:path w="471170" h="440689">
                <a:moveTo>
                  <a:pt x="0" y="440435"/>
                </a:moveTo>
                <a:lnTo>
                  <a:pt x="470915" y="440435"/>
                </a:lnTo>
                <a:lnTo>
                  <a:pt x="470915" y="0"/>
                </a:lnTo>
                <a:lnTo>
                  <a:pt x="0" y="0"/>
                </a:lnTo>
                <a:lnTo>
                  <a:pt x="0" y="440435"/>
                </a:lnTo>
                <a:close/>
              </a:path>
            </a:pathLst>
          </a:custGeom>
          <a:solidFill>
            <a:srgbClr val="1E2D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359151" y="4492752"/>
            <a:ext cx="469900" cy="424180"/>
          </a:xfrm>
          <a:custGeom>
            <a:avLst/>
            <a:gdLst/>
            <a:ahLst/>
            <a:cxnLst/>
            <a:rect l="l" t="t" r="r" b="b"/>
            <a:pathLst>
              <a:path w="469900" h="424179">
                <a:moveTo>
                  <a:pt x="0" y="423672"/>
                </a:moveTo>
                <a:lnTo>
                  <a:pt x="469392" y="423672"/>
                </a:lnTo>
                <a:lnTo>
                  <a:pt x="469392" y="0"/>
                </a:lnTo>
                <a:lnTo>
                  <a:pt x="0" y="0"/>
                </a:lnTo>
                <a:lnTo>
                  <a:pt x="0" y="423672"/>
                </a:lnTo>
                <a:close/>
              </a:path>
            </a:pathLst>
          </a:custGeom>
          <a:solidFill>
            <a:srgbClr val="1E2D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2412745" y="4466335"/>
            <a:ext cx="5505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40</a:t>
            </a:r>
            <a:r>
              <a:rPr dirty="0" baseline="14880" sz="4200" spc="-7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baseline="14880" sz="42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787140" y="1597152"/>
            <a:ext cx="2060575" cy="641985"/>
          </a:xfrm>
          <a:custGeom>
            <a:avLst/>
            <a:gdLst/>
            <a:ahLst/>
            <a:cxnLst/>
            <a:rect l="l" t="t" r="r" b="b"/>
            <a:pathLst>
              <a:path w="2060575" h="641985">
                <a:moveTo>
                  <a:pt x="0" y="641603"/>
                </a:moveTo>
                <a:lnTo>
                  <a:pt x="2060448" y="641603"/>
                </a:lnTo>
                <a:lnTo>
                  <a:pt x="2060448" y="0"/>
                </a:lnTo>
                <a:lnTo>
                  <a:pt x="0" y="0"/>
                </a:lnTo>
                <a:lnTo>
                  <a:pt x="0" y="641603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790188" y="2237232"/>
            <a:ext cx="2057400" cy="384175"/>
          </a:xfrm>
          <a:custGeom>
            <a:avLst/>
            <a:gdLst/>
            <a:ahLst/>
            <a:cxnLst/>
            <a:rect l="l" t="t" r="r" b="b"/>
            <a:pathLst>
              <a:path w="2057400" h="384175">
                <a:moveTo>
                  <a:pt x="0" y="384048"/>
                </a:moveTo>
                <a:lnTo>
                  <a:pt x="2057400" y="384048"/>
                </a:lnTo>
                <a:lnTo>
                  <a:pt x="2057400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847588" y="3474720"/>
            <a:ext cx="1905" cy="471170"/>
          </a:xfrm>
          <a:custGeom>
            <a:avLst/>
            <a:gdLst/>
            <a:ahLst/>
            <a:cxnLst/>
            <a:rect l="l" t="t" r="r" b="b"/>
            <a:pathLst>
              <a:path w="1904" h="471170">
                <a:moveTo>
                  <a:pt x="0" y="0"/>
                </a:moveTo>
                <a:lnTo>
                  <a:pt x="1524" y="470915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3036587" y="2933826"/>
            <a:ext cx="7791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8928" sz="4200" spc="-7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baseline="8928" sz="4200" spc="352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FFFF"/>
                </a:solidFill>
                <a:latin typeface="Times New Roman"/>
                <a:cs typeface="Times New Roman"/>
              </a:rPr>
              <a:t>L2: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768852" y="2633472"/>
            <a:ext cx="2078989" cy="375285"/>
          </a:xfrm>
          <a:custGeom>
            <a:avLst/>
            <a:gdLst/>
            <a:ahLst/>
            <a:cxnLst/>
            <a:rect l="l" t="t" r="r" b="b"/>
            <a:pathLst>
              <a:path w="2078989" h="375285">
                <a:moveTo>
                  <a:pt x="0" y="374903"/>
                </a:moveTo>
                <a:lnTo>
                  <a:pt x="2078736" y="374903"/>
                </a:lnTo>
                <a:lnTo>
                  <a:pt x="2078736" y="0"/>
                </a:lnTo>
                <a:lnTo>
                  <a:pt x="0" y="0"/>
                </a:lnTo>
                <a:lnTo>
                  <a:pt x="0" y="374903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790188" y="1136903"/>
            <a:ext cx="2057400" cy="460375"/>
          </a:xfrm>
          <a:custGeom>
            <a:avLst/>
            <a:gdLst/>
            <a:ahLst/>
            <a:cxnLst/>
            <a:rect l="l" t="t" r="r" b="b"/>
            <a:pathLst>
              <a:path w="2057400" h="460375">
                <a:moveTo>
                  <a:pt x="0" y="460248"/>
                </a:moveTo>
                <a:lnTo>
                  <a:pt x="2057400" y="460248"/>
                </a:lnTo>
                <a:lnTo>
                  <a:pt x="2057400" y="0"/>
                </a:lnTo>
                <a:lnTo>
                  <a:pt x="0" y="0"/>
                </a:lnTo>
                <a:lnTo>
                  <a:pt x="0" y="460248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2001139" y="232062"/>
            <a:ext cx="3954145" cy="1320165"/>
          </a:xfrm>
          <a:prstGeom prst="rect">
            <a:avLst/>
          </a:prstGeom>
        </p:spPr>
        <p:txBody>
          <a:bodyPr wrap="square" lIns="0" tIns="264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85"/>
              </a:spcBef>
              <a:tabLst>
                <a:tab pos="464184" algn="l"/>
                <a:tab pos="351155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(A&gt;B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&amp;&amp;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B&gt;C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S1</a:t>
            </a:r>
            <a:endParaRPr sz="3200">
              <a:latin typeface="Times New Roman"/>
              <a:cs typeface="Times New Roman"/>
            </a:endParaRPr>
          </a:p>
          <a:p>
            <a:pPr marL="1957705">
              <a:lnSpc>
                <a:spcPct val="100000"/>
              </a:lnSpc>
              <a:spcBef>
                <a:spcPts val="1485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A&gt;B &amp;&amp;</a:t>
            </a:r>
            <a:r>
              <a:rPr dirty="0" sz="24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B&gt;C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3759708" y="3015995"/>
            <a:ext cx="2089785" cy="426720"/>
          </a:xfrm>
          <a:custGeom>
            <a:avLst/>
            <a:gdLst/>
            <a:ahLst/>
            <a:cxnLst/>
            <a:rect l="l" t="t" r="r" b="b"/>
            <a:pathLst>
              <a:path w="2089785" h="426720">
                <a:moveTo>
                  <a:pt x="0" y="426720"/>
                </a:moveTo>
                <a:lnTo>
                  <a:pt x="2089404" y="426720"/>
                </a:lnTo>
                <a:lnTo>
                  <a:pt x="2089404" y="0"/>
                </a:lnTo>
                <a:lnTo>
                  <a:pt x="0" y="0"/>
                </a:lnTo>
                <a:lnTo>
                  <a:pt x="0" y="42672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6" name="object 56"/>
          <p:cNvGraphicFramePr>
            <a:graphicFrameLocks noGrp="1"/>
          </p:cNvGraphicFramePr>
          <p:nvPr/>
        </p:nvGraphicFramePr>
        <p:xfrm>
          <a:off x="3652837" y="3447097"/>
          <a:ext cx="1816735" cy="3211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014"/>
                <a:gridCol w="573405"/>
                <a:gridCol w="104139"/>
                <a:gridCol w="228600"/>
                <a:gridCol w="99059"/>
                <a:gridCol w="92075"/>
                <a:gridCol w="556260"/>
              </a:tblGrid>
              <a:tr h="593153">
                <a:tc>
                  <a:txBody>
                    <a:bodyPr/>
                    <a:lstStyle/>
                    <a:p>
                      <a:pPr>
                        <a:lnSpc>
                          <a:spcPts val="2610"/>
                        </a:lnSpc>
                      </a:pP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3: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pPr marL="839469">
                        <a:lnSpc>
                          <a:spcPts val="20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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20700"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20700">
                <a:tc gridSpan="2"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43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1E2D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3775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28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1E2D52"/>
                    </a:solidFill>
                  </a:tcPr>
                </a:tc>
              </a:tr>
              <a:tr h="520636">
                <a:tc gridSpan="2"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8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2" rowSpan="2">
                  <a:txBody>
                    <a:bodyPr/>
                    <a:lstStyle/>
                    <a:p>
                      <a:pPr marL="63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1E2D5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040">
                <a:tc gridSpan="2" rowSpan="2">
                  <a:txBody>
                    <a:bodyPr/>
                    <a:lstStyle/>
                    <a:p>
                      <a:pPr marL="91440">
                        <a:lnSpc>
                          <a:spcPts val="2890"/>
                        </a:lnSpc>
                        <a:spcBef>
                          <a:spcPts val="1110"/>
                        </a:spcBef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097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445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rowSpan="2"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2800" b="1">
                          <a:solidFill>
                            <a:srgbClr val="FFCC00"/>
                          </a:solidFill>
                          <a:latin typeface="Times New Roman"/>
                          <a:cs typeface="Times New Roman"/>
                        </a:rPr>
                        <a:t>40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50659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4097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3450"/>
                        </a:lnSpc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1E2D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207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9" name="object 5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3334639" y="1528953"/>
            <a:ext cx="2031364" cy="1886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66800" marR="109220" indent="-12700">
              <a:lnSpc>
                <a:spcPct val="100000"/>
              </a:lnSpc>
              <a:spcBef>
                <a:spcPts val="100"/>
              </a:spcBef>
              <a:tabLst>
                <a:tab pos="1545590" algn="l"/>
              </a:tabLst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JT	</a:t>
            </a:r>
            <a:r>
              <a:rPr dirty="0" sz="2400" spc="-509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09" b="1">
                <a:solidFill>
                  <a:srgbClr val="FFFFFF"/>
                </a:solidFill>
                <a:latin typeface="Times New Roman"/>
                <a:cs typeface="Times New Roman"/>
              </a:rPr>
              <a:t>L1  JF	L2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590"/>
              </a:lnSpc>
              <a:tabLst>
                <a:tab pos="1027430" algn="l"/>
              </a:tabLst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L1:	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S1.code</a:t>
            </a:r>
            <a:endParaRPr sz="2400">
              <a:latin typeface="Times New Roman"/>
              <a:cs typeface="Times New Roman"/>
            </a:endParaRPr>
          </a:p>
          <a:p>
            <a:pPr marL="1012825" marR="19050" indent="-34925">
              <a:lnSpc>
                <a:spcPts val="3220"/>
              </a:lnSpc>
              <a:spcBef>
                <a:spcPts val="2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goto L3 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S2.co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388110" y="2876804"/>
            <a:ext cx="2150745" cy="939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7940">
              <a:lnSpc>
                <a:spcPts val="3360"/>
              </a:lnSpc>
              <a:spcBef>
                <a:spcPts val="95"/>
              </a:spcBef>
              <a:tabLst>
                <a:tab pos="79692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T3	_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840"/>
              </a:lnSpc>
              <a:tabLst>
                <a:tab pos="732155" algn="l"/>
                <a:tab pos="1646555" algn="l"/>
              </a:tabLst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T3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_	)</a:t>
            </a:r>
            <a:r>
              <a:rPr dirty="0" sz="3200" spc="30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1157" sz="3600" b="1">
                <a:solidFill>
                  <a:srgbClr val="00FFFF"/>
                </a:solidFill>
                <a:latin typeface="Times New Roman"/>
                <a:cs typeface="Times New Roman"/>
              </a:rPr>
              <a:t>L</a:t>
            </a:r>
            <a:endParaRPr baseline="1157"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83908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  <a:tab pos="4292600" algn="l"/>
                <a:tab pos="56959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0241" y="1784731"/>
            <a:ext cx="5231765" cy="3074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25805" algn="l"/>
              </a:tabLst>
            </a:pPr>
            <a:r>
              <a:rPr dirty="0" sz="3200" b="1">
                <a:solidFill>
                  <a:srgbClr val="FFFF66"/>
                </a:solidFill>
                <a:latin typeface="宋体"/>
                <a:cs typeface="宋体"/>
              </a:rPr>
              <a:t>一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.	</a:t>
            </a:r>
            <a:r>
              <a:rPr dirty="0" sz="3200" b="1">
                <a:solidFill>
                  <a:srgbClr val="FFFF66"/>
                </a:solidFill>
                <a:latin typeface="宋体"/>
                <a:cs typeface="宋体"/>
              </a:rPr>
              <a:t>语句标号与拉链返填技术</a:t>
            </a:r>
            <a:endParaRPr sz="3200">
              <a:latin typeface="宋体"/>
              <a:cs typeface="宋体"/>
            </a:endParaRPr>
          </a:p>
          <a:p>
            <a:pPr marL="12700" marR="1229995">
              <a:lnSpc>
                <a:spcPts val="6720"/>
              </a:lnSpc>
              <a:spcBef>
                <a:spcPts val="700"/>
              </a:spcBef>
              <a:tabLst>
                <a:tab pos="725805" algn="l"/>
              </a:tabLst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二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3200" spc="-5" b="1">
                <a:solidFill>
                  <a:srgbClr val="FFFF66"/>
                </a:solidFill>
                <a:latin typeface="宋体"/>
                <a:cs typeface="宋体"/>
              </a:rPr>
              <a:t>条件语句的翻译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三.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循环语句的翻译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四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多分支语句的翻译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42915" y="3415284"/>
            <a:ext cx="1663064" cy="722630"/>
          </a:xfrm>
          <a:custGeom>
            <a:avLst/>
            <a:gdLst/>
            <a:ahLst/>
            <a:cxnLst/>
            <a:rect l="l" t="t" r="r" b="b"/>
            <a:pathLst>
              <a:path w="1663065" h="722629">
                <a:moveTo>
                  <a:pt x="415544" y="0"/>
                </a:moveTo>
                <a:lnTo>
                  <a:pt x="0" y="361188"/>
                </a:lnTo>
                <a:lnTo>
                  <a:pt x="415544" y="722376"/>
                </a:lnTo>
                <a:lnTo>
                  <a:pt x="415544" y="541782"/>
                </a:lnTo>
                <a:lnTo>
                  <a:pt x="1662684" y="541782"/>
                </a:lnTo>
                <a:lnTo>
                  <a:pt x="1662684" y="180593"/>
                </a:lnTo>
                <a:lnTo>
                  <a:pt x="415544" y="180593"/>
                </a:lnTo>
                <a:lnTo>
                  <a:pt x="415544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042915" y="3415284"/>
            <a:ext cx="1663064" cy="722630"/>
          </a:xfrm>
          <a:custGeom>
            <a:avLst/>
            <a:gdLst/>
            <a:ahLst/>
            <a:cxnLst/>
            <a:rect l="l" t="t" r="r" b="b"/>
            <a:pathLst>
              <a:path w="1663065" h="722629">
                <a:moveTo>
                  <a:pt x="0" y="361188"/>
                </a:moveTo>
                <a:lnTo>
                  <a:pt x="415544" y="0"/>
                </a:lnTo>
                <a:lnTo>
                  <a:pt x="415544" y="180593"/>
                </a:lnTo>
                <a:lnTo>
                  <a:pt x="1662684" y="180593"/>
                </a:lnTo>
                <a:lnTo>
                  <a:pt x="1662684" y="541782"/>
                </a:lnTo>
                <a:lnTo>
                  <a:pt x="415544" y="541782"/>
                </a:lnTo>
                <a:lnTo>
                  <a:pt x="415544" y="722376"/>
                </a:lnTo>
                <a:lnTo>
                  <a:pt x="0" y="361188"/>
                </a:lnTo>
                <a:close/>
              </a:path>
            </a:pathLst>
          </a:custGeom>
          <a:ln w="5715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755394" y="737997"/>
            <a:ext cx="536765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82065" algn="l"/>
              </a:tabLst>
            </a:pPr>
            <a:r>
              <a:rPr dirty="0" sz="4000" spc="-5">
                <a:latin typeface="Times New Roman"/>
                <a:cs typeface="Times New Roman"/>
              </a:rPr>
              <a:t>6.</a:t>
            </a:r>
            <a:r>
              <a:rPr dirty="0" sz="4000">
                <a:latin typeface="Times New Roman"/>
                <a:cs typeface="Times New Roman"/>
              </a:rPr>
              <a:t>6</a:t>
            </a:r>
            <a:r>
              <a:rPr dirty="0" sz="4000" spc="-5">
                <a:latin typeface="Times New Roman"/>
                <a:cs typeface="Times New Roman"/>
              </a:rPr>
              <a:t>.3</a:t>
            </a:r>
            <a:r>
              <a:rPr dirty="0" sz="4000">
                <a:latin typeface="Times New Roman"/>
                <a:cs typeface="Times New Roman"/>
              </a:rPr>
              <a:t>	</a:t>
            </a:r>
            <a:r>
              <a:rPr dirty="0" sz="4000" spc="-10"/>
              <a:t>控制流类语句翻译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36570" y="5647182"/>
            <a:ext cx="6108700" cy="1003300"/>
          </a:xfrm>
          <a:custGeom>
            <a:avLst/>
            <a:gdLst/>
            <a:ahLst/>
            <a:cxnLst/>
            <a:rect l="l" t="t" r="r" b="b"/>
            <a:pathLst>
              <a:path w="6108700" h="1003300">
                <a:moveTo>
                  <a:pt x="0" y="1002791"/>
                </a:moveTo>
                <a:lnTo>
                  <a:pt x="6108191" y="1002791"/>
                </a:lnTo>
                <a:lnTo>
                  <a:pt x="6108191" y="0"/>
                </a:lnTo>
                <a:lnTo>
                  <a:pt x="0" y="0"/>
                </a:lnTo>
                <a:lnTo>
                  <a:pt x="0" y="1002791"/>
                </a:lnTo>
                <a:close/>
              </a:path>
            </a:pathLst>
          </a:custGeom>
          <a:solidFill>
            <a:srgbClr val="55005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36570" y="5647182"/>
            <a:ext cx="6108700" cy="1003300"/>
          </a:xfrm>
          <a:custGeom>
            <a:avLst/>
            <a:gdLst/>
            <a:ahLst/>
            <a:cxnLst/>
            <a:rect l="l" t="t" r="r" b="b"/>
            <a:pathLst>
              <a:path w="6108700" h="1003300">
                <a:moveTo>
                  <a:pt x="0" y="1002791"/>
                </a:moveTo>
                <a:lnTo>
                  <a:pt x="6108191" y="1002791"/>
                </a:lnTo>
                <a:lnTo>
                  <a:pt x="6108191" y="0"/>
                </a:lnTo>
                <a:lnTo>
                  <a:pt x="0" y="0"/>
                </a:lnTo>
                <a:lnTo>
                  <a:pt x="0" y="100279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105783" y="26923"/>
            <a:ext cx="46183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  <a:tab pos="192341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10817" y="1597913"/>
            <a:ext cx="1582420" cy="399415"/>
          </a:xfrm>
          <a:custGeom>
            <a:avLst/>
            <a:gdLst/>
            <a:ahLst/>
            <a:cxnLst/>
            <a:rect l="l" t="t" r="r" b="b"/>
            <a:pathLst>
              <a:path w="1582420" h="399414">
                <a:moveTo>
                  <a:pt x="0" y="399288"/>
                </a:moveTo>
                <a:lnTo>
                  <a:pt x="1581912" y="399288"/>
                </a:lnTo>
                <a:lnTo>
                  <a:pt x="1581912" y="0"/>
                </a:lnTo>
                <a:lnTo>
                  <a:pt x="0" y="0"/>
                </a:lnTo>
                <a:lnTo>
                  <a:pt x="0" y="39928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538986" y="1595450"/>
            <a:ext cx="92646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计算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10817" y="2497073"/>
            <a:ext cx="1582420" cy="399415"/>
          </a:xfrm>
          <a:custGeom>
            <a:avLst/>
            <a:gdLst/>
            <a:ahLst/>
            <a:cxnLst/>
            <a:rect l="l" t="t" r="r" b="b"/>
            <a:pathLst>
              <a:path w="1582420" h="399414">
                <a:moveTo>
                  <a:pt x="0" y="399288"/>
                </a:moveTo>
                <a:lnTo>
                  <a:pt x="1581912" y="399288"/>
                </a:lnTo>
                <a:lnTo>
                  <a:pt x="1581912" y="0"/>
                </a:lnTo>
                <a:lnTo>
                  <a:pt x="0" y="0"/>
                </a:lnTo>
                <a:lnTo>
                  <a:pt x="0" y="39928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538986" y="2494534"/>
            <a:ext cx="9264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计算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210817" y="4691634"/>
            <a:ext cx="1582420" cy="401320"/>
          </a:xfrm>
          <a:custGeom>
            <a:avLst/>
            <a:gdLst/>
            <a:ahLst/>
            <a:cxnLst/>
            <a:rect l="l" t="t" r="r" b="b"/>
            <a:pathLst>
              <a:path w="1582420" h="401320">
                <a:moveTo>
                  <a:pt x="0" y="400812"/>
                </a:moveTo>
                <a:lnTo>
                  <a:pt x="1581912" y="400812"/>
                </a:lnTo>
                <a:lnTo>
                  <a:pt x="1581912" y="0"/>
                </a:lnTo>
                <a:lnTo>
                  <a:pt x="0" y="0"/>
                </a:lnTo>
                <a:lnTo>
                  <a:pt x="0" y="40081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904745" y="4686045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10817" y="5689853"/>
            <a:ext cx="1582420" cy="401320"/>
          </a:xfrm>
          <a:custGeom>
            <a:avLst/>
            <a:gdLst/>
            <a:ahLst/>
            <a:cxnLst/>
            <a:rect l="l" t="t" r="r" b="b"/>
            <a:pathLst>
              <a:path w="1582420" h="401320">
                <a:moveTo>
                  <a:pt x="0" y="400812"/>
                </a:moveTo>
                <a:lnTo>
                  <a:pt x="1581912" y="400812"/>
                </a:lnTo>
                <a:lnTo>
                  <a:pt x="1581912" y="0"/>
                </a:lnTo>
                <a:lnTo>
                  <a:pt x="0" y="0"/>
                </a:lnTo>
                <a:lnTo>
                  <a:pt x="0" y="40081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079753" y="3577590"/>
            <a:ext cx="1844039" cy="500380"/>
          </a:xfrm>
          <a:custGeom>
            <a:avLst/>
            <a:gdLst/>
            <a:ahLst/>
            <a:cxnLst/>
            <a:rect l="l" t="t" r="r" b="b"/>
            <a:pathLst>
              <a:path w="1844039" h="500379">
                <a:moveTo>
                  <a:pt x="0" y="249936"/>
                </a:moveTo>
                <a:lnTo>
                  <a:pt x="922020" y="0"/>
                </a:lnTo>
                <a:lnTo>
                  <a:pt x="1844039" y="249936"/>
                </a:lnTo>
                <a:lnTo>
                  <a:pt x="922020" y="499872"/>
                </a:lnTo>
                <a:lnTo>
                  <a:pt x="0" y="24993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944623" y="1099566"/>
            <a:ext cx="114300" cy="498475"/>
          </a:xfrm>
          <a:custGeom>
            <a:avLst/>
            <a:gdLst/>
            <a:ahLst/>
            <a:cxnLst/>
            <a:rect l="l" t="t" r="r" b="b"/>
            <a:pathLst>
              <a:path w="114300" h="498475">
                <a:moveTo>
                  <a:pt x="38100" y="384048"/>
                </a:moveTo>
                <a:lnTo>
                  <a:pt x="0" y="384048"/>
                </a:lnTo>
                <a:lnTo>
                  <a:pt x="57150" y="498348"/>
                </a:lnTo>
                <a:lnTo>
                  <a:pt x="104775" y="403098"/>
                </a:lnTo>
                <a:lnTo>
                  <a:pt x="38100" y="403098"/>
                </a:lnTo>
                <a:lnTo>
                  <a:pt x="38100" y="384048"/>
                </a:lnTo>
                <a:close/>
              </a:path>
              <a:path w="114300" h="498475">
                <a:moveTo>
                  <a:pt x="76200" y="0"/>
                </a:moveTo>
                <a:lnTo>
                  <a:pt x="38100" y="0"/>
                </a:lnTo>
                <a:lnTo>
                  <a:pt x="38100" y="403098"/>
                </a:lnTo>
                <a:lnTo>
                  <a:pt x="76200" y="403098"/>
                </a:lnTo>
                <a:lnTo>
                  <a:pt x="76200" y="0"/>
                </a:lnTo>
                <a:close/>
              </a:path>
              <a:path w="114300" h="498475">
                <a:moveTo>
                  <a:pt x="114300" y="384048"/>
                </a:moveTo>
                <a:lnTo>
                  <a:pt x="76200" y="384048"/>
                </a:lnTo>
                <a:lnTo>
                  <a:pt x="76200" y="403098"/>
                </a:lnTo>
                <a:lnTo>
                  <a:pt x="104775" y="403098"/>
                </a:lnTo>
                <a:lnTo>
                  <a:pt x="114300" y="3840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944623" y="1997201"/>
            <a:ext cx="114300" cy="500380"/>
          </a:xfrm>
          <a:custGeom>
            <a:avLst/>
            <a:gdLst/>
            <a:ahLst/>
            <a:cxnLst/>
            <a:rect l="l" t="t" r="r" b="b"/>
            <a:pathLst>
              <a:path w="114300" h="500380">
                <a:moveTo>
                  <a:pt x="38100" y="385572"/>
                </a:moveTo>
                <a:lnTo>
                  <a:pt x="0" y="385572"/>
                </a:lnTo>
                <a:lnTo>
                  <a:pt x="57150" y="499872"/>
                </a:lnTo>
                <a:lnTo>
                  <a:pt x="104775" y="404622"/>
                </a:lnTo>
                <a:lnTo>
                  <a:pt x="38100" y="404622"/>
                </a:lnTo>
                <a:lnTo>
                  <a:pt x="38100" y="385572"/>
                </a:lnTo>
                <a:close/>
              </a:path>
              <a:path w="114300" h="500380">
                <a:moveTo>
                  <a:pt x="76200" y="0"/>
                </a:moveTo>
                <a:lnTo>
                  <a:pt x="38100" y="0"/>
                </a:lnTo>
                <a:lnTo>
                  <a:pt x="38100" y="404622"/>
                </a:lnTo>
                <a:lnTo>
                  <a:pt x="76200" y="404622"/>
                </a:lnTo>
                <a:lnTo>
                  <a:pt x="76200" y="0"/>
                </a:lnTo>
                <a:close/>
              </a:path>
              <a:path w="114300" h="500380">
                <a:moveTo>
                  <a:pt x="114300" y="385572"/>
                </a:moveTo>
                <a:lnTo>
                  <a:pt x="76200" y="385572"/>
                </a:lnTo>
                <a:lnTo>
                  <a:pt x="76200" y="404622"/>
                </a:lnTo>
                <a:lnTo>
                  <a:pt x="104775" y="404622"/>
                </a:lnTo>
                <a:lnTo>
                  <a:pt x="114300" y="3855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944623" y="2896361"/>
            <a:ext cx="114300" cy="698500"/>
          </a:xfrm>
          <a:custGeom>
            <a:avLst/>
            <a:gdLst/>
            <a:ahLst/>
            <a:cxnLst/>
            <a:rect l="l" t="t" r="r" b="b"/>
            <a:pathLst>
              <a:path w="114300" h="698500">
                <a:moveTo>
                  <a:pt x="38100" y="583691"/>
                </a:moveTo>
                <a:lnTo>
                  <a:pt x="0" y="583691"/>
                </a:lnTo>
                <a:lnTo>
                  <a:pt x="57150" y="697991"/>
                </a:lnTo>
                <a:lnTo>
                  <a:pt x="104775" y="602741"/>
                </a:lnTo>
                <a:lnTo>
                  <a:pt x="38100" y="602741"/>
                </a:lnTo>
                <a:lnTo>
                  <a:pt x="38100" y="583691"/>
                </a:lnTo>
                <a:close/>
              </a:path>
              <a:path w="114300" h="698500">
                <a:moveTo>
                  <a:pt x="76200" y="0"/>
                </a:moveTo>
                <a:lnTo>
                  <a:pt x="38100" y="0"/>
                </a:lnTo>
                <a:lnTo>
                  <a:pt x="38100" y="602741"/>
                </a:lnTo>
                <a:lnTo>
                  <a:pt x="76200" y="602741"/>
                </a:lnTo>
                <a:lnTo>
                  <a:pt x="76200" y="0"/>
                </a:lnTo>
                <a:close/>
              </a:path>
              <a:path w="114300" h="698500">
                <a:moveTo>
                  <a:pt x="114300" y="583691"/>
                </a:moveTo>
                <a:lnTo>
                  <a:pt x="76200" y="583691"/>
                </a:lnTo>
                <a:lnTo>
                  <a:pt x="76200" y="602741"/>
                </a:lnTo>
                <a:lnTo>
                  <a:pt x="104775" y="602741"/>
                </a:lnTo>
                <a:lnTo>
                  <a:pt x="114300" y="5836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944623" y="4092702"/>
            <a:ext cx="114300" cy="599440"/>
          </a:xfrm>
          <a:custGeom>
            <a:avLst/>
            <a:gdLst/>
            <a:ahLst/>
            <a:cxnLst/>
            <a:rect l="l" t="t" r="r" b="b"/>
            <a:pathLst>
              <a:path w="114300" h="599439">
                <a:moveTo>
                  <a:pt x="38100" y="484631"/>
                </a:moveTo>
                <a:lnTo>
                  <a:pt x="0" y="484631"/>
                </a:lnTo>
                <a:lnTo>
                  <a:pt x="57150" y="598932"/>
                </a:lnTo>
                <a:lnTo>
                  <a:pt x="104775" y="503681"/>
                </a:lnTo>
                <a:lnTo>
                  <a:pt x="38100" y="503681"/>
                </a:lnTo>
                <a:lnTo>
                  <a:pt x="38100" y="484631"/>
                </a:lnTo>
                <a:close/>
              </a:path>
              <a:path w="114300" h="599439">
                <a:moveTo>
                  <a:pt x="76200" y="0"/>
                </a:moveTo>
                <a:lnTo>
                  <a:pt x="38100" y="0"/>
                </a:lnTo>
                <a:lnTo>
                  <a:pt x="38100" y="503681"/>
                </a:lnTo>
                <a:lnTo>
                  <a:pt x="76200" y="503681"/>
                </a:lnTo>
                <a:lnTo>
                  <a:pt x="76200" y="0"/>
                </a:lnTo>
                <a:close/>
              </a:path>
              <a:path w="114300" h="599439">
                <a:moveTo>
                  <a:pt x="114300" y="484631"/>
                </a:moveTo>
                <a:lnTo>
                  <a:pt x="76200" y="484631"/>
                </a:lnTo>
                <a:lnTo>
                  <a:pt x="76200" y="503681"/>
                </a:lnTo>
                <a:lnTo>
                  <a:pt x="104775" y="503681"/>
                </a:lnTo>
                <a:lnTo>
                  <a:pt x="114300" y="4846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944623" y="5092446"/>
            <a:ext cx="114300" cy="597535"/>
          </a:xfrm>
          <a:custGeom>
            <a:avLst/>
            <a:gdLst/>
            <a:ahLst/>
            <a:cxnLst/>
            <a:rect l="l" t="t" r="r" b="b"/>
            <a:pathLst>
              <a:path w="114300" h="597535">
                <a:moveTo>
                  <a:pt x="38100" y="483107"/>
                </a:moveTo>
                <a:lnTo>
                  <a:pt x="0" y="483107"/>
                </a:lnTo>
                <a:lnTo>
                  <a:pt x="57150" y="597407"/>
                </a:lnTo>
                <a:lnTo>
                  <a:pt x="104775" y="502157"/>
                </a:lnTo>
                <a:lnTo>
                  <a:pt x="38100" y="502157"/>
                </a:lnTo>
                <a:lnTo>
                  <a:pt x="38100" y="483107"/>
                </a:lnTo>
                <a:close/>
              </a:path>
              <a:path w="114300" h="597535">
                <a:moveTo>
                  <a:pt x="76200" y="0"/>
                </a:moveTo>
                <a:lnTo>
                  <a:pt x="38100" y="0"/>
                </a:lnTo>
                <a:lnTo>
                  <a:pt x="38100" y="502157"/>
                </a:lnTo>
                <a:lnTo>
                  <a:pt x="76200" y="502157"/>
                </a:lnTo>
                <a:lnTo>
                  <a:pt x="76200" y="0"/>
                </a:lnTo>
                <a:close/>
              </a:path>
              <a:path w="114300" h="597535">
                <a:moveTo>
                  <a:pt x="114300" y="483107"/>
                </a:moveTo>
                <a:lnTo>
                  <a:pt x="76200" y="483107"/>
                </a:lnTo>
                <a:lnTo>
                  <a:pt x="76200" y="502157"/>
                </a:lnTo>
                <a:lnTo>
                  <a:pt x="104775" y="502157"/>
                </a:lnTo>
                <a:lnTo>
                  <a:pt x="114300" y="4831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57734" y="6589014"/>
            <a:ext cx="1844039" cy="0"/>
          </a:xfrm>
          <a:custGeom>
            <a:avLst/>
            <a:gdLst/>
            <a:ahLst/>
            <a:cxnLst/>
            <a:rect l="l" t="t" r="r" b="b"/>
            <a:pathLst>
              <a:path w="1844039" h="0">
                <a:moveTo>
                  <a:pt x="0" y="0"/>
                </a:moveTo>
                <a:lnTo>
                  <a:pt x="184404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001773" y="6090665"/>
            <a:ext cx="0" cy="498475"/>
          </a:xfrm>
          <a:custGeom>
            <a:avLst/>
            <a:gdLst/>
            <a:ahLst/>
            <a:cxnLst/>
            <a:rect l="l" t="t" r="r" b="b"/>
            <a:pathLst>
              <a:path w="0" h="498475">
                <a:moveTo>
                  <a:pt x="0" y="498348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57734" y="2170176"/>
            <a:ext cx="1711960" cy="114300"/>
          </a:xfrm>
          <a:custGeom>
            <a:avLst/>
            <a:gdLst/>
            <a:ahLst/>
            <a:cxnLst/>
            <a:rect l="l" t="t" r="r" b="b"/>
            <a:pathLst>
              <a:path w="1711960" h="114300">
                <a:moveTo>
                  <a:pt x="1597152" y="0"/>
                </a:moveTo>
                <a:lnTo>
                  <a:pt x="1597152" y="114300"/>
                </a:lnTo>
                <a:lnTo>
                  <a:pt x="1673352" y="76200"/>
                </a:lnTo>
                <a:lnTo>
                  <a:pt x="1616202" y="76200"/>
                </a:lnTo>
                <a:lnTo>
                  <a:pt x="1616202" y="38100"/>
                </a:lnTo>
                <a:lnTo>
                  <a:pt x="1673352" y="38100"/>
                </a:lnTo>
                <a:lnTo>
                  <a:pt x="1597152" y="0"/>
                </a:lnTo>
                <a:close/>
              </a:path>
              <a:path w="1711960" h="114300">
                <a:moveTo>
                  <a:pt x="159715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597152" y="76200"/>
                </a:lnTo>
                <a:lnTo>
                  <a:pt x="1597152" y="38100"/>
                </a:lnTo>
                <a:close/>
              </a:path>
              <a:path w="1711960" h="114300">
                <a:moveTo>
                  <a:pt x="1673352" y="38100"/>
                </a:moveTo>
                <a:lnTo>
                  <a:pt x="1616202" y="38100"/>
                </a:lnTo>
                <a:lnTo>
                  <a:pt x="1616202" y="76200"/>
                </a:lnTo>
                <a:lnTo>
                  <a:pt x="1673352" y="76200"/>
                </a:lnTo>
                <a:lnTo>
                  <a:pt x="1711452" y="57150"/>
                </a:lnTo>
                <a:lnTo>
                  <a:pt x="1673352" y="38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250435" y="3810761"/>
            <a:ext cx="114300" cy="698500"/>
          </a:xfrm>
          <a:custGeom>
            <a:avLst/>
            <a:gdLst/>
            <a:ahLst/>
            <a:cxnLst/>
            <a:rect l="l" t="t" r="r" b="b"/>
            <a:pathLst>
              <a:path w="114300" h="698500">
                <a:moveTo>
                  <a:pt x="38100" y="583692"/>
                </a:moveTo>
                <a:lnTo>
                  <a:pt x="0" y="583692"/>
                </a:lnTo>
                <a:lnTo>
                  <a:pt x="57150" y="697992"/>
                </a:lnTo>
                <a:lnTo>
                  <a:pt x="104775" y="602742"/>
                </a:lnTo>
                <a:lnTo>
                  <a:pt x="38100" y="602742"/>
                </a:lnTo>
                <a:lnTo>
                  <a:pt x="38100" y="583692"/>
                </a:lnTo>
                <a:close/>
              </a:path>
              <a:path w="114300" h="698500">
                <a:moveTo>
                  <a:pt x="76200" y="0"/>
                </a:moveTo>
                <a:lnTo>
                  <a:pt x="38100" y="0"/>
                </a:lnTo>
                <a:lnTo>
                  <a:pt x="38100" y="602742"/>
                </a:lnTo>
                <a:lnTo>
                  <a:pt x="76200" y="602742"/>
                </a:lnTo>
                <a:lnTo>
                  <a:pt x="76200" y="0"/>
                </a:lnTo>
                <a:close/>
              </a:path>
              <a:path w="114300" h="698500">
                <a:moveTo>
                  <a:pt x="114300" y="583692"/>
                </a:moveTo>
                <a:lnTo>
                  <a:pt x="76200" y="583692"/>
                </a:lnTo>
                <a:lnTo>
                  <a:pt x="76200" y="602742"/>
                </a:lnTo>
                <a:lnTo>
                  <a:pt x="104775" y="602742"/>
                </a:lnTo>
                <a:lnTo>
                  <a:pt x="114300" y="5836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64007" y="1787728"/>
            <a:ext cx="48260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2400" spc="-1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22375" y="4229480"/>
            <a:ext cx="482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L2: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05280" y="5162325"/>
            <a:ext cx="1260475" cy="91821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L4:</a:t>
            </a:r>
            <a:endParaRPr sz="2400">
              <a:latin typeface="Times New Roman"/>
              <a:cs typeface="Times New Roman"/>
            </a:endParaRPr>
          </a:p>
          <a:p>
            <a:pPr marL="346075">
              <a:lnSpc>
                <a:spcPct val="100000"/>
              </a:lnSpc>
              <a:spcBef>
                <a:spcPts val="635"/>
              </a:spcBef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计算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72973" y="2198370"/>
            <a:ext cx="0" cy="4371340"/>
          </a:xfrm>
          <a:custGeom>
            <a:avLst/>
            <a:gdLst/>
            <a:ahLst/>
            <a:cxnLst/>
            <a:rect l="l" t="t" r="r" b="b"/>
            <a:pathLst>
              <a:path w="0" h="4371340">
                <a:moveTo>
                  <a:pt x="0" y="0"/>
                </a:moveTo>
                <a:lnTo>
                  <a:pt x="0" y="4370832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2868422" y="3410672"/>
            <a:ext cx="1473200" cy="85725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  <a:tabLst>
                <a:tab pos="1459865" algn="l"/>
              </a:tabLst>
            </a:pPr>
            <a:r>
              <a:rPr dirty="0" u="heavy" sz="24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4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400" spc="-29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4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=</a:t>
            </a:r>
            <a:r>
              <a:rPr dirty="0" u="heavy" sz="2400" spc="-10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4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0	</a:t>
            </a:r>
            <a:endParaRPr sz="2400">
              <a:latin typeface="Times New Roman"/>
              <a:cs typeface="Times New Roman"/>
            </a:endParaRPr>
          </a:p>
          <a:p>
            <a:pPr marL="860425">
              <a:lnSpc>
                <a:spcPct val="100000"/>
              </a:lnSpc>
              <a:spcBef>
                <a:spcPts val="39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L3: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67077" y="3543680"/>
            <a:ext cx="753110" cy="912494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e2?</a:t>
            </a:r>
            <a:endParaRPr sz="2400">
              <a:latin typeface="Times New Roman"/>
              <a:cs typeface="Times New Roman"/>
            </a:endParaRPr>
          </a:p>
          <a:p>
            <a:pPr marL="281305">
              <a:lnSpc>
                <a:spcPct val="100000"/>
              </a:lnSpc>
              <a:spcBef>
                <a:spcPts val="61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非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693158" y="4513326"/>
            <a:ext cx="1028700" cy="0"/>
          </a:xfrm>
          <a:custGeom>
            <a:avLst/>
            <a:gdLst/>
            <a:ahLst/>
            <a:cxnLst/>
            <a:rect l="l" t="t" r="r" b="b"/>
            <a:pathLst>
              <a:path w="1028700" h="0">
                <a:moveTo>
                  <a:pt x="0" y="0"/>
                </a:moveTo>
                <a:lnTo>
                  <a:pt x="1028700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693158" y="2896361"/>
            <a:ext cx="0" cy="1617345"/>
          </a:xfrm>
          <a:custGeom>
            <a:avLst/>
            <a:gdLst/>
            <a:ahLst/>
            <a:cxnLst/>
            <a:rect l="l" t="t" r="r" b="b"/>
            <a:pathLst>
              <a:path w="0" h="1617345">
                <a:moveTo>
                  <a:pt x="0" y="1616964"/>
                </a:moveTo>
                <a:lnTo>
                  <a:pt x="0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668773" y="2839211"/>
            <a:ext cx="466725" cy="114300"/>
          </a:xfrm>
          <a:custGeom>
            <a:avLst/>
            <a:gdLst/>
            <a:ahLst/>
            <a:cxnLst/>
            <a:rect l="l" t="t" r="r" b="b"/>
            <a:pathLst>
              <a:path w="466725" h="114300">
                <a:moveTo>
                  <a:pt x="352043" y="0"/>
                </a:moveTo>
                <a:lnTo>
                  <a:pt x="352043" y="114300"/>
                </a:lnTo>
                <a:lnTo>
                  <a:pt x="428243" y="76200"/>
                </a:lnTo>
                <a:lnTo>
                  <a:pt x="371093" y="76200"/>
                </a:lnTo>
                <a:lnTo>
                  <a:pt x="371093" y="38100"/>
                </a:lnTo>
                <a:lnTo>
                  <a:pt x="428243" y="38100"/>
                </a:lnTo>
                <a:lnTo>
                  <a:pt x="352043" y="0"/>
                </a:lnTo>
                <a:close/>
              </a:path>
              <a:path w="466725" h="114300">
                <a:moveTo>
                  <a:pt x="35204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52043" y="76200"/>
                </a:lnTo>
                <a:lnTo>
                  <a:pt x="352043" y="38100"/>
                </a:lnTo>
                <a:close/>
              </a:path>
              <a:path w="466725" h="114300">
                <a:moveTo>
                  <a:pt x="428243" y="38100"/>
                </a:moveTo>
                <a:lnTo>
                  <a:pt x="371093" y="38100"/>
                </a:lnTo>
                <a:lnTo>
                  <a:pt x="371093" y="76200"/>
                </a:lnTo>
                <a:lnTo>
                  <a:pt x="428243" y="76200"/>
                </a:lnTo>
                <a:lnTo>
                  <a:pt x="466343" y="57150"/>
                </a:lnTo>
                <a:lnTo>
                  <a:pt x="428243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868417" y="3416046"/>
            <a:ext cx="1030605" cy="0"/>
          </a:xfrm>
          <a:custGeom>
            <a:avLst/>
            <a:gdLst/>
            <a:ahLst/>
            <a:cxnLst/>
            <a:rect l="l" t="t" r="r" b="b"/>
            <a:pathLst>
              <a:path w="1030604" h="0">
                <a:moveTo>
                  <a:pt x="0" y="0"/>
                </a:moveTo>
                <a:lnTo>
                  <a:pt x="1030224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868417" y="1273302"/>
            <a:ext cx="0" cy="2143125"/>
          </a:xfrm>
          <a:custGeom>
            <a:avLst/>
            <a:gdLst/>
            <a:ahLst/>
            <a:cxnLst/>
            <a:rect l="l" t="t" r="r" b="b"/>
            <a:pathLst>
              <a:path w="0" h="2143125">
                <a:moveTo>
                  <a:pt x="0" y="2142744"/>
                </a:moveTo>
                <a:lnTo>
                  <a:pt x="0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844034" y="1216152"/>
            <a:ext cx="466725" cy="114300"/>
          </a:xfrm>
          <a:custGeom>
            <a:avLst/>
            <a:gdLst/>
            <a:ahLst/>
            <a:cxnLst/>
            <a:rect l="l" t="t" r="r" b="b"/>
            <a:pathLst>
              <a:path w="466725" h="114300">
                <a:moveTo>
                  <a:pt x="352043" y="0"/>
                </a:moveTo>
                <a:lnTo>
                  <a:pt x="352043" y="114300"/>
                </a:lnTo>
                <a:lnTo>
                  <a:pt x="428243" y="76200"/>
                </a:lnTo>
                <a:lnTo>
                  <a:pt x="371093" y="76200"/>
                </a:lnTo>
                <a:lnTo>
                  <a:pt x="371093" y="38100"/>
                </a:lnTo>
                <a:lnTo>
                  <a:pt x="428243" y="38100"/>
                </a:lnTo>
                <a:lnTo>
                  <a:pt x="352043" y="0"/>
                </a:lnTo>
                <a:close/>
              </a:path>
              <a:path w="466725" h="114300">
                <a:moveTo>
                  <a:pt x="35204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52043" y="76200"/>
                </a:lnTo>
                <a:lnTo>
                  <a:pt x="352043" y="38100"/>
                </a:lnTo>
                <a:close/>
              </a:path>
              <a:path w="466725" h="114300">
                <a:moveTo>
                  <a:pt x="428243" y="38100"/>
                </a:moveTo>
                <a:lnTo>
                  <a:pt x="371093" y="38100"/>
                </a:lnTo>
                <a:lnTo>
                  <a:pt x="371093" y="76200"/>
                </a:lnTo>
                <a:lnTo>
                  <a:pt x="428243" y="76200"/>
                </a:lnTo>
                <a:lnTo>
                  <a:pt x="466343" y="57150"/>
                </a:lnTo>
                <a:lnTo>
                  <a:pt x="428243" y="381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702808" y="569976"/>
            <a:ext cx="2760345" cy="5031105"/>
          </a:xfrm>
          <a:custGeom>
            <a:avLst/>
            <a:gdLst/>
            <a:ahLst/>
            <a:cxnLst/>
            <a:rect l="l" t="t" r="r" b="b"/>
            <a:pathLst>
              <a:path w="2760345" h="5031105">
                <a:moveTo>
                  <a:pt x="0" y="5030724"/>
                </a:moveTo>
                <a:lnTo>
                  <a:pt x="2759964" y="5030724"/>
                </a:lnTo>
                <a:lnTo>
                  <a:pt x="2759964" y="0"/>
                </a:lnTo>
                <a:lnTo>
                  <a:pt x="0" y="0"/>
                </a:lnTo>
                <a:lnTo>
                  <a:pt x="0" y="5030724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6645275" y="1587010"/>
            <a:ext cx="1720850" cy="1471295"/>
          </a:xfrm>
          <a:prstGeom prst="rect">
            <a:avLst/>
          </a:prstGeom>
        </p:spPr>
        <p:txBody>
          <a:bodyPr wrap="square" lIns="0" tIns="13208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4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 </a:t>
            </a:r>
            <a:r>
              <a:rPr dirty="0" sz="2400" spc="-40" b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baseline="-15625" sz="2400" spc="-6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400" spc="-40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_, _,</a:t>
            </a:r>
            <a:r>
              <a:rPr dirty="0" sz="24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L2)</a:t>
            </a:r>
            <a:endParaRPr sz="24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94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 </a:t>
            </a:r>
            <a:r>
              <a:rPr dirty="0" sz="2400" spc="-50" b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baseline="-15625" sz="2400" spc="-75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400" spc="-50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_, _,</a:t>
            </a:r>
            <a:r>
              <a:rPr dirty="0" sz="24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L3)</a:t>
            </a:r>
            <a:endParaRPr sz="2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865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e3.code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227190" y="3142310"/>
            <a:ext cx="159956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 j , _, _,</a:t>
            </a:r>
            <a:r>
              <a:rPr dirty="0" sz="2400" spc="-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L1)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608191" y="3645789"/>
            <a:ext cx="863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S.code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239383" y="4157853"/>
            <a:ext cx="15995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 j , _, _,</a:t>
            </a:r>
            <a:r>
              <a:rPr dirty="0" sz="2400" spc="-10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L4)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715000" y="1057655"/>
            <a:ext cx="2725420" cy="0"/>
          </a:xfrm>
          <a:custGeom>
            <a:avLst/>
            <a:gdLst/>
            <a:ahLst/>
            <a:cxnLst/>
            <a:rect l="l" t="t" r="r" b="b"/>
            <a:pathLst>
              <a:path w="2725420" h="0">
                <a:moveTo>
                  <a:pt x="0" y="0"/>
                </a:moveTo>
                <a:lnTo>
                  <a:pt x="2724911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715000" y="1511808"/>
            <a:ext cx="2725420" cy="0"/>
          </a:xfrm>
          <a:custGeom>
            <a:avLst/>
            <a:gdLst/>
            <a:ahLst/>
            <a:cxnLst/>
            <a:rect l="l" t="t" r="r" b="b"/>
            <a:pathLst>
              <a:path w="2725420" h="0">
                <a:moveTo>
                  <a:pt x="0" y="0"/>
                </a:moveTo>
                <a:lnTo>
                  <a:pt x="2724911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715000" y="2721864"/>
            <a:ext cx="2725420" cy="0"/>
          </a:xfrm>
          <a:custGeom>
            <a:avLst/>
            <a:gdLst/>
            <a:ahLst/>
            <a:cxnLst/>
            <a:rect l="l" t="t" r="r" b="b"/>
            <a:pathLst>
              <a:path w="2725420" h="0">
                <a:moveTo>
                  <a:pt x="0" y="0"/>
                </a:moveTo>
                <a:lnTo>
                  <a:pt x="2724911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715000" y="3153155"/>
            <a:ext cx="2725420" cy="0"/>
          </a:xfrm>
          <a:custGeom>
            <a:avLst/>
            <a:gdLst/>
            <a:ahLst/>
            <a:cxnLst/>
            <a:rect l="l" t="t" r="r" b="b"/>
            <a:pathLst>
              <a:path w="2725420" h="0">
                <a:moveTo>
                  <a:pt x="0" y="0"/>
                </a:moveTo>
                <a:lnTo>
                  <a:pt x="2724911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715000" y="3630167"/>
            <a:ext cx="2725420" cy="0"/>
          </a:xfrm>
          <a:custGeom>
            <a:avLst/>
            <a:gdLst/>
            <a:ahLst/>
            <a:cxnLst/>
            <a:rect l="l" t="t" r="r" b="b"/>
            <a:pathLst>
              <a:path w="2725420" h="0">
                <a:moveTo>
                  <a:pt x="0" y="0"/>
                </a:moveTo>
                <a:lnTo>
                  <a:pt x="2724911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715000" y="4116323"/>
            <a:ext cx="2725420" cy="0"/>
          </a:xfrm>
          <a:custGeom>
            <a:avLst/>
            <a:gdLst/>
            <a:ahLst/>
            <a:cxnLst/>
            <a:rect l="l" t="t" r="r" b="b"/>
            <a:pathLst>
              <a:path w="2725420" h="0">
                <a:moveTo>
                  <a:pt x="0" y="0"/>
                </a:moveTo>
                <a:lnTo>
                  <a:pt x="2724911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879591" y="5576315"/>
            <a:ext cx="0" cy="21590"/>
          </a:xfrm>
          <a:custGeom>
            <a:avLst/>
            <a:gdLst/>
            <a:ahLst/>
            <a:cxnLst/>
            <a:rect l="l" t="t" r="r" b="b"/>
            <a:pathLst>
              <a:path w="0" h="21589">
                <a:moveTo>
                  <a:pt x="0" y="21336"/>
                </a:moveTo>
                <a:lnTo>
                  <a:pt x="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6784975" y="4829682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240528" y="2699765"/>
            <a:ext cx="482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L4: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240528" y="1051305"/>
            <a:ext cx="482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L1: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239003" y="3663442"/>
            <a:ext cx="482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L2: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261228" y="4712970"/>
            <a:ext cx="482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L3: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156705" y="556386"/>
            <a:ext cx="98234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e1.code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145529" y="1029080"/>
            <a:ext cx="98234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e2.code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5715761" y="4728209"/>
            <a:ext cx="2760345" cy="0"/>
          </a:xfrm>
          <a:custGeom>
            <a:avLst/>
            <a:gdLst/>
            <a:ahLst/>
            <a:cxnLst/>
            <a:rect l="l" t="t" r="r" b="b"/>
            <a:pathLst>
              <a:path w="2760345" h="0">
                <a:moveTo>
                  <a:pt x="0" y="0"/>
                </a:moveTo>
                <a:lnTo>
                  <a:pt x="2759964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642354" y="1893570"/>
            <a:ext cx="90170" cy="668020"/>
          </a:xfrm>
          <a:custGeom>
            <a:avLst/>
            <a:gdLst/>
            <a:ahLst/>
            <a:cxnLst/>
            <a:rect l="l" t="t" r="r" b="b"/>
            <a:pathLst>
              <a:path w="90170" h="668019">
                <a:moveTo>
                  <a:pt x="89916" y="667512"/>
                </a:moveTo>
                <a:lnTo>
                  <a:pt x="72390" y="663076"/>
                </a:lnTo>
                <a:lnTo>
                  <a:pt x="58102" y="650986"/>
                </a:lnTo>
                <a:lnTo>
                  <a:pt x="48482" y="633061"/>
                </a:lnTo>
                <a:lnTo>
                  <a:pt x="44957" y="611124"/>
                </a:lnTo>
                <a:lnTo>
                  <a:pt x="44957" y="390143"/>
                </a:lnTo>
                <a:lnTo>
                  <a:pt x="41433" y="368206"/>
                </a:lnTo>
                <a:lnTo>
                  <a:pt x="31813" y="350281"/>
                </a:lnTo>
                <a:lnTo>
                  <a:pt x="17525" y="338191"/>
                </a:lnTo>
                <a:lnTo>
                  <a:pt x="0" y="333755"/>
                </a:lnTo>
                <a:lnTo>
                  <a:pt x="17525" y="329320"/>
                </a:lnTo>
                <a:lnTo>
                  <a:pt x="31813" y="317230"/>
                </a:lnTo>
                <a:lnTo>
                  <a:pt x="41433" y="299305"/>
                </a:lnTo>
                <a:lnTo>
                  <a:pt x="44957" y="277367"/>
                </a:lnTo>
                <a:lnTo>
                  <a:pt x="44957" y="56387"/>
                </a:lnTo>
                <a:lnTo>
                  <a:pt x="48482" y="34450"/>
                </a:lnTo>
                <a:lnTo>
                  <a:pt x="58102" y="16525"/>
                </a:lnTo>
                <a:lnTo>
                  <a:pt x="72390" y="4435"/>
                </a:lnTo>
                <a:lnTo>
                  <a:pt x="89916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5975730" y="1963039"/>
            <a:ext cx="6203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测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161340" y="0"/>
            <a:ext cx="3657600" cy="1108075"/>
          </a:xfrm>
          <a:prstGeom prst="rect">
            <a:avLst/>
          </a:prstGeom>
        </p:spPr>
        <p:txBody>
          <a:bodyPr wrap="square" lIns="0" tIns="123825" rIns="0" bIns="0" rtlCol="0" vert="horz">
            <a:spAutoFit/>
          </a:bodyPr>
          <a:lstStyle/>
          <a:p>
            <a:pPr marL="184150">
              <a:lnSpc>
                <a:spcPct val="100000"/>
              </a:lnSpc>
              <a:spcBef>
                <a:spcPts val="975"/>
              </a:spcBef>
              <a:tabLst>
                <a:tab pos="82740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  <a:tabLst>
                <a:tab pos="72580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三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循环语句的翻译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953505" y="6250025"/>
            <a:ext cx="38036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66"/>
                </a:solidFill>
                <a:latin typeface="Times New Roman"/>
                <a:cs typeface="Times New Roman"/>
              </a:rPr>
              <a:t>L1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879081" y="6234176"/>
            <a:ext cx="38036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66"/>
                </a:solidFill>
                <a:latin typeface="Times New Roman"/>
                <a:cs typeface="Times New Roman"/>
              </a:rPr>
              <a:t>L4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964428" y="5896457"/>
            <a:ext cx="12877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7100" algn="l"/>
              </a:tabLst>
            </a:pPr>
            <a:r>
              <a:rPr dirty="0" sz="2800" spc="-10" b="1">
                <a:solidFill>
                  <a:srgbClr val="FFFF00"/>
                </a:solidFill>
                <a:latin typeface="Wingdings 3"/>
                <a:cs typeface="Wingdings 3"/>
              </a:rPr>
              <a:t></a:t>
            </a:r>
            <a:r>
              <a:rPr dirty="0" sz="2800" spc="-1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800" spc="-10" b="1">
                <a:solidFill>
                  <a:srgbClr val="FFFF00"/>
                </a:solidFill>
                <a:latin typeface="Wingdings 3"/>
                <a:cs typeface="Wingdings 3"/>
              </a:rPr>
              <a:t></a:t>
            </a:r>
            <a:endParaRPr sz="2800">
              <a:latin typeface="Wingdings 3"/>
              <a:cs typeface="Wingdings 3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538464" y="5858357"/>
            <a:ext cx="390525" cy="713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845">
              <a:lnSpc>
                <a:spcPts val="295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00"/>
                </a:solidFill>
                <a:latin typeface="Wingdings 3"/>
                <a:cs typeface="Wingdings 3"/>
              </a:rPr>
              <a:t></a:t>
            </a:r>
            <a:endParaRPr sz="2800">
              <a:latin typeface="Wingdings 3"/>
              <a:cs typeface="Wingdings 3"/>
            </a:endParaRPr>
          </a:p>
          <a:p>
            <a:pPr marL="12700">
              <a:lnSpc>
                <a:spcPts val="2470"/>
              </a:lnSpc>
            </a:pPr>
            <a:r>
              <a:rPr dirty="0" sz="2400" spc="-5" b="1">
                <a:solidFill>
                  <a:srgbClr val="FFFF66"/>
                </a:solidFill>
                <a:latin typeface="Times New Roman"/>
                <a:cs typeface="Times New Roman"/>
              </a:rPr>
              <a:t>L3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089148" y="5547461"/>
            <a:ext cx="523875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094105" algn="l"/>
                <a:tab pos="1898650" algn="l"/>
                <a:tab pos="3091815" algn="l"/>
                <a:tab pos="4018915" algn="l"/>
              </a:tabLst>
            </a:pP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600" spc="-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spc="-5" b="1">
                <a:solidFill>
                  <a:srgbClr val="FFFFFF"/>
                </a:solidFill>
                <a:latin typeface="Wingdings 3"/>
                <a:cs typeface="Wingdings 3"/>
              </a:rPr>
              <a:t></a:t>
            </a:r>
            <a:r>
              <a:rPr dirty="0" sz="3600" spc="-5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for	( e1 ;	e2 ;	e3</a:t>
            </a:r>
            <a:r>
              <a:rPr dirty="0" sz="36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spc="-32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baseline="-32738" sz="4200" spc="-480" b="1">
                <a:solidFill>
                  <a:srgbClr val="FFFF00"/>
                </a:solidFill>
                <a:latin typeface="Wingdings 3"/>
                <a:cs typeface="Wingdings 3"/>
              </a:rPr>
              <a:t></a:t>
            </a:r>
            <a:r>
              <a:rPr dirty="0" sz="3600" spc="-320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836534" y="6199733"/>
            <a:ext cx="380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66"/>
                </a:solidFill>
                <a:latin typeface="Times New Roman"/>
                <a:cs typeface="Times New Roman"/>
              </a:rPr>
              <a:t>L2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53308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  <a:tab pos="4292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25744" y="26923"/>
            <a:ext cx="28981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383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1340" y="509777"/>
            <a:ext cx="533527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FFFF00"/>
                </a:solidFill>
              </a:rPr>
              <a:t>循环语句的翻译的语义子程序</a:t>
            </a:r>
            <a:endParaRPr sz="3200"/>
          </a:p>
        </p:txBody>
      </p:sp>
      <p:sp>
        <p:nvSpPr>
          <p:cNvPr id="7" name="object 7"/>
          <p:cNvSpPr txBox="1"/>
          <p:nvPr/>
        </p:nvSpPr>
        <p:spPr>
          <a:xfrm>
            <a:off x="148539" y="1082700"/>
            <a:ext cx="5060315" cy="3915410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13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FF"/>
                </a:solidFill>
                <a:latin typeface="Wingdings 3"/>
                <a:cs typeface="Wingdings 3"/>
              </a:rPr>
              <a:t>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for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e1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;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e2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;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e3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5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  <a:p>
            <a:pPr algn="just" marL="347980" marR="5080" indent="-247015">
              <a:lnSpc>
                <a:spcPct val="130000"/>
              </a:lnSpc>
              <a:spcBef>
                <a:spcPts val="25"/>
              </a:spcBef>
            </a:pP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{</a:t>
            </a:r>
            <a:r>
              <a:rPr dirty="0" sz="2800" spc="650" b="1">
                <a:solidFill>
                  <a:srgbClr val="FFCC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L1=newlabel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；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L2=newlabel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；  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L3=newlabel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；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L4=newlabel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；  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A.code=e1.code </a:t>
            </a:r>
            <a:r>
              <a:rPr dirty="0" sz="2800" spc="-10" b="1">
                <a:solidFill>
                  <a:srgbClr val="FFCC00"/>
                </a:solidFill>
                <a:latin typeface="Times New Roman"/>
                <a:cs typeface="Times New Roman"/>
              </a:rPr>
              <a:t>|GEN(L1'</a:t>
            </a:r>
            <a:r>
              <a:rPr dirty="0" sz="2800" spc="-10" b="1">
                <a:solidFill>
                  <a:srgbClr val="FFCC00"/>
                </a:solidFill>
                <a:latin typeface="宋体"/>
                <a:cs typeface="宋体"/>
              </a:rPr>
              <a:t>：</a:t>
            </a:r>
            <a:r>
              <a:rPr dirty="0" sz="2800" spc="-10" b="1">
                <a:solidFill>
                  <a:srgbClr val="FFCC00"/>
                </a:solidFill>
                <a:latin typeface="Times New Roman"/>
                <a:cs typeface="Times New Roman"/>
              </a:rPr>
              <a:t>')</a:t>
            </a:r>
            <a:r>
              <a:rPr dirty="0" sz="2800" spc="60" b="1">
                <a:solidFill>
                  <a:srgbClr val="FFCC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|</a:t>
            </a:r>
            <a:endParaRPr sz="2800">
              <a:latin typeface="Times New Roman"/>
              <a:cs typeface="Times New Roman"/>
            </a:endParaRPr>
          </a:p>
          <a:p>
            <a:pPr algn="just" marL="1612900">
              <a:lnSpc>
                <a:spcPct val="100000"/>
              </a:lnSpc>
              <a:spcBef>
                <a:spcPts val="969"/>
              </a:spcBef>
            </a:pP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e2.code</a:t>
            </a:r>
            <a:r>
              <a:rPr dirty="0" sz="2800" spc="-10" b="1">
                <a:solidFill>
                  <a:srgbClr val="FFCC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|</a:t>
            </a:r>
            <a:endParaRPr sz="2800">
              <a:latin typeface="Times New Roman"/>
              <a:cs typeface="Times New Roman"/>
            </a:endParaRPr>
          </a:p>
          <a:p>
            <a:pPr algn="just" marL="1612900" marR="67310">
              <a:lnSpc>
                <a:spcPct val="130000"/>
              </a:lnSpc>
              <a:spcBef>
                <a:spcPts val="40"/>
              </a:spcBef>
            </a:pP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GEN(jT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L2)</a:t>
            </a:r>
            <a:r>
              <a:rPr dirty="0" sz="2800" spc="-45" b="1">
                <a:solidFill>
                  <a:srgbClr val="FFCC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|  GEN(jF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L3)</a:t>
            </a:r>
            <a:r>
              <a:rPr dirty="0" sz="2800" spc="-20" b="1">
                <a:solidFill>
                  <a:srgbClr val="FFCC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|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49044" y="4971898"/>
            <a:ext cx="5132705" cy="1136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100"/>
              </a:lnSpc>
              <a:spcBef>
                <a:spcPts val="100"/>
              </a:spcBef>
            </a:pP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GEN(L4'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：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') | e3.code |  GEN(j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L1)</a:t>
            </a:r>
            <a:r>
              <a:rPr dirty="0" sz="2800" spc="-40" b="1">
                <a:solidFill>
                  <a:srgbClr val="FFCC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|GEN(L2'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：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')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70736" y="6210706"/>
            <a:ext cx="6766559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| S.code </a:t>
            </a:r>
            <a:r>
              <a:rPr dirty="0" sz="2800" spc="-10" b="1">
                <a:solidFill>
                  <a:srgbClr val="FFCC00"/>
                </a:solidFill>
                <a:latin typeface="Times New Roman"/>
                <a:cs typeface="Times New Roman"/>
              </a:rPr>
              <a:t>|GEN(j 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_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L4) |</a:t>
            </a:r>
            <a:r>
              <a:rPr dirty="0" sz="2800" spc="55" b="1">
                <a:solidFill>
                  <a:srgbClr val="FFCC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GEN(L3'</a:t>
            </a:r>
            <a:r>
              <a:rPr dirty="0" sz="2800" spc="-5" b="1">
                <a:solidFill>
                  <a:srgbClr val="FFCC00"/>
                </a:solidFill>
                <a:latin typeface="宋体"/>
                <a:cs typeface="宋体"/>
              </a:rPr>
              <a:t>：</a:t>
            </a:r>
            <a:r>
              <a:rPr dirty="0" sz="2800" spc="-5" b="1">
                <a:solidFill>
                  <a:srgbClr val="FFCC00"/>
                </a:solidFill>
                <a:latin typeface="Times New Roman"/>
                <a:cs typeface="Times New Roman"/>
              </a:rPr>
              <a:t>')}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92090" y="4513326"/>
            <a:ext cx="1030605" cy="0"/>
          </a:xfrm>
          <a:custGeom>
            <a:avLst/>
            <a:gdLst/>
            <a:ahLst/>
            <a:cxnLst/>
            <a:rect l="l" t="t" r="r" b="b"/>
            <a:pathLst>
              <a:path w="1030604" h="0">
                <a:moveTo>
                  <a:pt x="0" y="0"/>
                </a:moveTo>
                <a:lnTo>
                  <a:pt x="1030224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292090" y="2896361"/>
            <a:ext cx="0" cy="1617345"/>
          </a:xfrm>
          <a:custGeom>
            <a:avLst/>
            <a:gdLst/>
            <a:ahLst/>
            <a:cxnLst/>
            <a:rect l="l" t="t" r="r" b="b"/>
            <a:pathLst>
              <a:path w="0" h="1617345">
                <a:moveTo>
                  <a:pt x="0" y="1616964"/>
                </a:moveTo>
                <a:lnTo>
                  <a:pt x="0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267705" y="2839211"/>
            <a:ext cx="467995" cy="114300"/>
          </a:xfrm>
          <a:custGeom>
            <a:avLst/>
            <a:gdLst/>
            <a:ahLst/>
            <a:cxnLst/>
            <a:rect l="l" t="t" r="r" b="b"/>
            <a:pathLst>
              <a:path w="467995" h="114300">
                <a:moveTo>
                  <a:pt x="353568" y="0"/>
                </a:moveTo>
                <a:lnTo>
                  <a:pt x="353568" y="114300"/>
                </a:lnTo>
                <a:lnTo>
                  <a:pt x="429768" y="76200"/>
                </a:lnTo>
                <a:lnTo>
                  <a:pt x="372618" y="76200"/>
                </a:lnTo>
                <a:lnTo>
                  <a:pt x="372618" y="38100"/>
                </a:lnTo>
                <a:lnTo>
                  <a:pt x="429768" y="38100"/>
                </a:lnTo>
                <a:lnTo>
                  <a:pt x="353568" y="0"/>
                </a:lnTo>
                <a:close/>
              </a:path>
              <a:path w="467995" h="114300">
                <a:moveTo>
                  <a:pt x="35356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53568" y="76200"/>
                </a:lnTo>
                <a:lnTo>
                  <a:pt x="353568" y="38100"/>
                </a:lnTo>
                <a:close/>
              </a:path>
              <a:path w="467995" h="114300">
                <a:moveTo>
                  <a:pt x="429768" y="38100"/>
                </a:moveTo>
                <a:lnTo>
                  <a:pt x="372618" y="38100"/>
                </a:lnTo>
                <a:lnTo>
                  <a:pt x="372618" y="76200"/>
                </a:lnTo>
                <a:lnTo>
                  <a:pt x="429768" y="76200"/>
                </a:lnTo>
                <a:lnTo>
                  <a:pt x="467868" y="57150"/>
                </a:lnTo>
                <a:lnTo>
                  <a:pt x="42976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468873" y="3416046"/>
            <a:ext cx="1030605" cy="0"/>
          </a:xfrm>
          <a:custGeom>
            <a:avLst/>
            <a:gdLst/>
            <a:ahLst/>
            <a:cxnLst/>
            <a:rect l="l" t="t" r="r" b="b"/>
            <a:pathLst>
              <a:path w="1030604" h="0">
                <a:moveTo>
                  <a:pt x="0" y="0"/>
                </a:moveTo>
                <a:lnTo>
                  <a:pt x="1030224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468873" y="1273302"/>
            <a:ext cx="0" cy="2143125"/>
          </a:xfrm>
          <a:custGeom>
            <a:avLst/>
            <a:gdLst/>
            <a:ahLst/>
            <a:cxnLst/>
            <a:rect l="l" t="t" r="r" b="b"/>
            <a:pathLst>
              <a:path w="0" h="2143125">
                <a:moveTo>
                  <a:pt x="0" y="2142744"/>
                </a:moveTo>
                <a:lnTo>
                  <a:pt x="0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444490" y="1216152"/>
            <a:ext cx="466725" cy="114300"/>
          </a:xfrm>
          <a:custGeom>
            <a:avLst/>
            <a:gdLst/>
            <a:ahLst/>
            <a:cxnLst/>
            <a:rect l="l" t="t" r="r" b="b"/>
            <a:pathLst>
              <a:path w="466725" h="114300">
                <a:moveTo>
                  <a:pt x="352044" y="0"/>
                </a:moveTo>
                <a:lnTo>
                  <a:pt x="352044" y="114300"/>
                </a:lnTo>
                <a:lnTo>
                  <a:pt x="428244" y="76200"/>
                </a:lnTo>
                <a:lnTo>
                  <a:pt x="371094" y="76200"/>
                </a:lnTo>
                <a:lnTo>
                  <a:pt x="371094" y="38100"/>
                </a:lnTo>
                <a:lnTo>
                  <a:pt x="428244" y="38100"/>
                </a:lnTo>
                <a:lnTo>
                  <a:pt x="352044" y="0"/>
                </a:lnTo>
                <a:close/>
              </a:path>
              <a:path w="466725" h="114300">
                <a:moveTo>
                  <a:pt x="3520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52044" y="76200"/>
                </a:lnTo>
                <a:lnTo>
                  <a:pt x="352044" y="38100"/>
                </a:lnTo>
                <a:close/>
              </a:path>
              <a:path w="466725" h="114300">
                <a:moveTo>
                  <a:pt x="428244" y="38100"/>
                </a:moveTo>
                <a:lnTo>
                  <a:pt x="371094" y="38100"/>
                </a:lnTo>
                <a:lnTo>
                  <a:pt x="371094" y="76200"/>
                </a:lnTo>
                <a:lnTo>
                  <a:pt x="428244" y="76200"/>
                </a:lnTo>
                <a:lnTo>
                  <a:pt x="466344" y="57150"/>
                </a:lnTo>
                <a:lnTo>
                  <a:pt x="428244" y="381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301740" y="569976"/>
            <a:ext cx="2761615" cy="5031105"/>
          </a:xfrm>
          <a:custGeom>
            <a:avLst/>
            <a:gdLst/>
            <a:ahLst/>
            <a:cxnLst/>
            <a:rect l="l" t="t" r="r" b="b"/>
            <a:pathLst>
              <a:path w="2761615" h="5031105">
                <a:moveTo>
                  <a:pt x="0" y="5030724"/>
                </a:moveTo>
                <a:lnTo>
                  <a:pt x="2761488" y="5030724"/>
                </a:lnTo>
                <a:lnTo>
                  <a:pt x="2761488" y="0"/>
                </a:lnTo>
                <a:lnTo>
                  <a:pt x="0" y="0"/>
                </a:lnTo>
                <a:lnTo>
                  <a:pt x="0" y="5030724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827266" y="2557813"/>
            <a:ext cx="1599565" cy="9766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443230">
              <a:lnSpc>
                <a:spcPct val="130000"/>
              </a:lnSpc>
              <a:spcBef>
                <a:spcPts val="95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e3.code 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 j , _, _,</a:t>
            </a:r>
            <a:r>
              <a:rPr dirty="0" sz="2400" spc="-1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L1)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08266" y="3645789"/>
            <a:ext cx="863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S.code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39457" y="4157853"/>
            <a:ext cx="15995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 j , _, _,</a:t>
            </a:r>
            <a:r>
              <a:rPr dirty="0" sz="2400" spc="-10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L4)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315455" y="1057655"/>
            <a:ext cx="2723515" cy="0"/>
          </a:xfrm>
          <a:custGeom>
            <a:avLst/>
            <a:gdLst/>
            <a:ahLst/>
            <a:cxnLst/>
            <a:rect l="l" t="t" r="r" b="b"/>
            <a:pathLst>
              <a:path w="2723515" h="0">
                <a:moveTo>
                  <a:pt x="0" y="0"/>
                </a:moveTo>
                <a:lnTo>
                  <a:pt x="2723388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315455" y="1511808"/>
            <a:ext cx="2723515" cy="0"/>
          </a:xfrm>
          <a:custGeom>
            <a:avLst/>
            <a:gdLst/>
            <a:ahLst/>
            <a:cxnLst/>
            <a:rect l="l" t="t" r="r" b="b"/>
            <a:pathLst>
              <a:path w="2723515" h="0">
                <a:moveTo>
                  <a:pt x="0" y="0"/>
                </a:moveTo>
                <a:lnTo>
                  <a:pt x="2723388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315455" y="2721864"/>
            <a:ext cx="2723515" cy="0"/>
          </a:xfrm>
          <a:custGeom>
            <a:avLst/>
            <a:gdLst/>
            <a:ahLst/>
            <a:cxnLst/>
            <a:rect l="l" t="t" r="r" b="b"/>
            <a:pathLst>
              <a:path w="2723515" h="0">
                <a:moveTo>
                  <a:pt x="0" y="0"/>
                </a:moveTo>
                <a:lnTo>
                  <a:pt x="2723388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315455" y="3153155"/>
            <a:ext cx="2723515" cy="0"/>
          </a:xfrm>
          <a:custGeom>
            <a:avLst/>
            <a:gdLst/>
            <a:ahLst/>
            <a:cxnLst/>
            <a:rect l="l" t="t" r="r" b="b"/>
            <a:pathLst>
              <a:path w="2723515" h="0">
                <a:moveTo>
                  <a:pt x="0" y="0"/>
                </a:moveTo>
                <a:lnTo>
                  <a:pt x="2723388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315455" y="3630167"/>
            <a:ext cx="2723515" cy="0"/>
          </a:xfrm>
          <a:custGeom>
            <a:avLst/>
            <a:gdLst/>
            <a:ahLst/>
            <a:cxnLst/>
            <a:rect l="l" t="t" r="r" b="b"/>
            <a:pathLst>
              <a:path w="2723515" h="0">
                <a:moveTo>
                  <a:pt x="0" y="0"/>
                </a:moveTo>
                <a:lnTo>
                  <a:pt x="2723388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315455" y="4116323"/>
            <a:ext cx="2723515" cy="0"/>
          </a:xfrm>
          <a:custGeom>
            <a:avLst/>
            <a:gdLst/>
            <a:ahLst/>
            <a:cxnLst/>
            <a:rect l="l" t="t" r="r" b="b"/>
            <a:pathLst>
              <a:path w="2723515" h="0">
                <a:moveTo>
                  <a:pt x="0" y="0"/>
                </a:moveTo>
                <a:lnTo>
                  <a:pt x="2723388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480047" y="5576315"/>
            <a:ext cx="0" cy="21590"/>
          </a:xfrm>
          <a:custGeom>
            <a:avLst/>
            <a:gdLst/>
            <a:ahLst/>
            <a:cxnLst/>
            <a:rect l="l" t="t" r="r" b="b"/>
            <a:pathLst>
              <a:path w="0" h="21589">
                <a:moveTo>
                  <a:pt x="0" y="21336"/>
                </a:moveTo>
                <a:lnTo>
                  <a:pt x="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7385050" y="4829682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840729" y="2699765"/>
            <a:ext cx="482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L4: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40729" y="1051305"/>
            <a:ext cx="482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L1: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839205" y="3663442"/>
            <a:ext cx="482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L2: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861430" y="4712970"/>
            <a:ext cx="482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L3: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56907" y="556386"/>
            <a:ext cx="98234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e1.code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745605" y="1029080"/>
            <a:ext cx="98234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e2.code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316217" y="4728209"/>
            <a:ext cx="2760345" cy="0"/>
          </a:xfrm>
          <a:custGeom>
            <a:avLst/>
            <a:gdLst/>
            <a:ahLst/>
            <a:cxnLst/>
            <a:rect l="l" t="t" r="r" b="b"/>
            <a:pathLst>
              <a:path w="2760345" h="0">
                <a:moveTo>
                  <a:pt x="0" y="0"/>
                </a:moveTo>
                <a:lnTo>
                  <a:pt x="2759964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242809" y="1893570"/>
            <a:ext cx="88900" cy="668020"/>
          </a:xfrm>
          <a:custGeom>
            <a:avLst/>
            <a:gdLst/>
            <a:ahLst/>
            <a:cxnLst/>
            <a:rect l="l" t="t" r="r" b="b"/>
            <a:pathLst>
              <a:path w="88900" h="668019">
                <a:moveTo>
                  <a:pt x="88392" y="667512"/>
                </a:moveTo>
                <a:lnTo>
                  <a:pt x="71199" y="663164"/>
                </a:lnTo>
                <a:lnTo>
                  <a:pt x="57150" y="651303"/>
                </a:lnTo>
                <a:lnTo>
                  <a:pt x="47672" y="633704"/>
                </a:lnTo>
                <a:lnTo>
                  <a:pt x="44196" y="612139"/>
                </a:lnTo>
                <a:lnTo>
                  <a:pt x="44196" y="389127"/>
                </a:lnTo>
                <a:lnTo>
                  <a:pt x="40719" y="367563"/>
                </a:lnTo>
                <a:lnTo>
                  <a:pt x="31242" y="349964"/>
                </a:lnTo>
                <a:lnTo>
                  <a:pt x="17192" y="338103"/>
                </a:lnTo>
                <a:lnTo>
                  <a:pt x="0" y="333755"/>
                </a:lnTo>
                <a:lnTo>
                  <a:pt x="17192" y="329408"/>
                </a:lnTo>
                <a:lnTo>
                  <a:pt x="31242" y="317547"/>
                </a:lnTo>
                <a:lnTo>
                  <a:pt x="40719" y="299948"/>
                </a:lnTo>
                <a:lnTo>
                  <a:pt x="44196" y="278383"/>
                </a:lnTo>
                <a:lnTo>
                  <a:pt x="44196" y="55371"/>
                </a:lnTo>
                <a:lnTo>
                  <a:pt x="47672" y="33807"/>
                </a:lnTo>
                <a:lnTo>
                  <a:pt x="57150" y="16208"/>
                </a:lnTo>
                <a:lnTo>
                  <a:pt x="71199" y="4347"/>
                </a:lnTo>
                <a:lnTo>
                  <a:pt x="88392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6550406" y="1706321"/>
            <a:ext cx="2415540" cy="876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58825">
              <a:lnSpc>
                <a:spcPts val="245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 </a:t>
            </a:r>
            <a:r>
              <a:rPr dirty="0" sz="2400" spc="-40" b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baseline="-15625" sz="2400" spc="-6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400" spc="-40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_, _,</a:t>
            </a:r>
            <a:r>
              <a:rPr dirty="0" sz="24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L2)</a:t>
            </a:r>
            <a:endParaRPr sz="2400">
              <a:latin typeface="Times New Roman"/>
              <a:cs typeface="Times New Roman"/>
            </a:endParaRPr>
          </a:p>
          <a:p>
            <a:pPr marL="38100">
              <a:lnSpc>
                <a:spcPts val="1910"/>
              </a:lnSpc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测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e2</a:t>
            </a:r>
            <a:endParaRPr sz="2400">
              <a:latin typeface="Times New Roman"/>
              <a:cs typeface="Times New Roman"/>
            </a:endParaRPr>
          </a:p>
          <a:p>
            <a:pPr marL="758825">
              <a:lnSpc>
                <a:spcPts val="2340"/>
              </a:lnSpc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 </a:t>
            </a:r>
            <a:r>
              <a:rPr dirty="0" sz="2400" spc="-50" b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baseline="-15625" sz="2400" spc="-75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400" spc="-50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_, _,</a:t>
            </a:r>
            <a:r>
              <a:rPr dirty="0" sz="24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L3)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71621" y="162560"/>
            <a:ext cx="248284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707895" y="2818892"/>
            <a:ext cx="263461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8F8F8"/>
                </a:solidFill>
                <a:latin typeface="Times New Roman"/>
                <a:cs typeface="Times New Roman"/>
              </a:rPr>
              <a:t>for ( t1; t2;</a:t>
            </a:r>
            <a:r>
              <a:rPr dirty="0" sz="3200" spc="-180" b="1">
                <a:solidFill>
                  <a:srgbClr val="F8F8F8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8F8F8"/>
                </a:solidFill>
                <a:latin typeface="Times New Roman"/>
                <a:cs typeface="Times New Roman"/>
              </a:rPr>
              <a:t>t3;)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0388" y="4526026"/>
            <a:ext cx="57340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baseline="-15873" sz="3150" b="1">
                <a:solidFill>
                  <a:srgbClr val="00FF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;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15388" y="5077409"/>
            <a:ext cx="43307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5" b="1">
                <a:solidFill>
                  <a:srgbClr val="F8F8F8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395" y="1916430"/>
            <a:ext cx="2773045" cy="7854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47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for </a:t>
            </a:r>
            <a:r>
              <a:rPr dirty="0" sz="3200" b="1">
                <a:solidFill>
                  <a:srgbClr val="F8F8F8"/>
                </a:solidFill>
                <a:latin typeface="Times New Roman"/>
                <a:cs typeface="Times New Roman"/>
              </a:rPr>
              <a:t>( </a:t>
            </a:r>
            <a:r>
              <a:rPr dirty="0" sz="3200" spc="5" b="1">
                <a:solidFill>
                  <a:srgbClr val="F8F8F8"/>
                </a:solidFill>
                <a:latin typeface="Times New Roman"/>
                <a:cs typeface="Times New Roman"/>
              </a:rPr>
              <a:t>e1; </a:t>
            </a:r>
            <a:r>
              <a:rPr dirty="0" sz="3200" b="1">
                <a:solidFill>
                  <a:srgbClr val="F8F8F8"/>
                </a:solidFill>
                <a:latin typeface="Times New Roman"/>
                <a:cs typeface="Times New Roman"/>
              </a:rPr>
              <a:t>e2;</a:t>
            </a:r>
            <a:r>
              <a:rPr dirty="0" sz="3200" spc="-180" b="1">
                <a:solidFill>
                  <a:srgbClr val="F8F8F8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8F8F8"/>
                </a:solidFill>
                <a:latin typeface="Times New Roman"/>
                <a:cs typeface="Times New Roman"/>
              </a:rPr>
              <a:t>e3;)</a:t>
            </a:r>
            <a:endParaRPr sz="3200">
              <a:latin typeface="Times New Roman"/>
              <a:cs typeface="Times New Roman"/>
            </a:endParaRPr>
          </a:p>
          <a:p>
            <a:pPr marL="1228090">
              <a:lnSpc>
                <a:spcPts val="2510"/>
              </a:lnSpc>
              <a:tabLst>
                <a:tab pos="1907539" algn="l"/>
              </a:tabLst>
            </a:pPr>
            <a:r>
              <a:rPr dirty="0" baseline="1157" sz="3600" spc="-7" b="1">
                <a:solidFill>
                  <a:srgbClr val="FFFF00"/>
                </a:solidFill>
                <a:latin typeface="Times New Roman"/>
                <a:cs typeface="Times New Roman"/>
              </a:rPr>
              <a:t>L1	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L2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50591" y="3158744"/>
            <a:ext cx="380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L4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02891" y="3142869"/>
            <a:ext cx="162813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59840" algn="l"/>
              </a:tabLst>
            </a:pPr>
            <a:r>
              <a:rPr dirty="0" baseline="1157" sz="3600" spc="-7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baseline="1157" sz="3600" b="1">
                <a:solidFill>
                  <a:srgbClr val="FFFF00"/>
                </a:solidFill>
                <a:latin typeface="Times New Roman"/>
                <a:cs typeface="Times New Roman"/>
              </a:rPr>
              <a:t>3	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L5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82495" y="3720794"/>
            <a:ext cx="236029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488315" algn="l"/>
                <a:tab pos="1461770" algn="l"/>
              </a:tabLst>
            </a:pPr>
            <a:r>
              <a:rPr dirty="0" sz="3200" b="1">
                <a:solidFill>
                  <a:srgbClr val="F8F8F8"/>
                </a:solidFill>
                <a:latin typeface="Times New Roman"/>
                <a:cs typeface="Times New Roman"/>
              </a:rPr>
              <a:t>if	( </a:t>
            </a:r>
            <a:r>
              <a:rPr dirty="0" sz="3200" spc="5" b="1">
                <a:solidFill>
                  <a:srgbClr val="F8F8F8"/>
                </a:solidFill>
                <a:latin typeface="Times New Roman"/>
                <a:cs typeface="Times New Roman"/>
              </a:rPr>
              <a:t>e</a:t>
            </a:r>
            <a:r>
              <a:rPr dirty="0" baseline="-15873" sz="3150" spc="7" b="1">
                <a:solidFill>
                  <a:srgbClr val="F8F8F8"/>
                </a:solidFill>
                <a:latin typeface="Times New Roman"/>
                <a:cs typeface="Times New Roman"/>
              </a:rPr>
              <a:t>r</a:t>
            </a:r>
            <a:r>
              <a:rPr dirty="0" baseline="-15873" sz="3150" spc="345" b="1">
                <a:solidFill>
                  <a:srgbClr val="F8F8F8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8F8F8"/>
                </a:solidFill>
                <a:latin typeface="Times New Roman"/>
                <a:cs typeface="Times New Roman"/>
              </a:rPr>
              <a:t>)	</a:t>
            </a:r>
            <a:r>
              <a:rPr dirty="0" sz="3200" spc="10" b="1">
                <a:solidFill>
                  <a:srgbClr val="F8F8F8"/>
                </a:solidFill>
                <a:latin typeface="Times New Roman"/>
                <a:cs typeface="Times New Roman"/>
              </a:rPr>
              <a:t>S</a:t>
            </a:r>
            <a:r>
              <a:rPr dirty="0" baseline="-15873" sz="3150" spc="15" b="1">
                <a:solidFill>
                  <a:srgbClr val="F8F8F8"/>
                </a:solidFill>
                <a:latin typeface="Times New Roman"/>
                <a:cs typeface="Times New Roman"/>
              </a:rPr>
              <a:t>1</a:t>
            </a:r>
            <a:r>
              <a:rPr dirty="0" sz="3200" spc="10" b="1">
                <a:solidFill>
                  <a:srgbClr val="F8F8F8"/>
                </a:solidFill>
                <a:latin typeface="Times New Roman"/>
                <a:cs typeface="Times New Roman"/>
              </a:rPr>
              <a:t>;</a:t>
            </a:r>
            <a:r>
              <a:rPr dirty="0" baseline="-26620" sz="3600" spc="15" b="1">
                <a:solidFill>
                  <a:srgbClr val="FFFF00"/>
                </a:solidFill>
                <a:latin typeface="Times New Roman"/>
                <a:cs typeface="Times New Roman"/>
              </a:rPr>
              <a:t>L7</a:t>
            </a:r>
            <a:endParaRPr baseline="-26620" sz="3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69414" y="4095064"/>
            <a:ext cx="38036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00"/>
                </a:solidFill>
                <a:latin typeface="Times New Roman"/>
                <a:cs typeface="Times New Roman"/>
              </a:rPr>
              <a:t>L6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6958" y="4419345"/>
            <a:ext cx="9626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4995" algn="l"/>
              </a:tabLst>
            </a:pP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8	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L9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33247" y="26923"/>
            <a:ext cx="83908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  <a:tab pos="4292600" algn="l"/>
                <a:tab pos="56959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85052" y="4740351"/>
            <a:ext cx="48260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2400" spc="-10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32450" y="2318384"/>
            <a:ext cx="482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L3: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450585" y="6109182"/>
            <a:ext cx="1133475" cy="114300"/>
          </a:xfrm>
          <a:custGeom>
            <a:avLst/>
            <a:gdLst/>
            <a:ahLst/>
            <a:cxnLst/>
            <a:rect l="l" t="t" r="r" b="b"/>
            <a:pathLst>
              <a:path w="1133475" h="114300">
                <a:moveTo>
                  <a:pt x="188340" y="0"/>
                </a:moveTo>
                <a:lnTo>
                  <a:pt x="0" y="63779"/>
                </a:lnTo>
                <a:lnTo>
                  <a:pt x="192404" y="114236"/>
                </a:lnTo>
                <a:lnTo>
                  <a:pt x="191073" y="76822"/>
                </a:lnTo>
                <a:lnTo>
                  <a:pt x="171958" y="76822"/>
                </a:lnTo>
                <a:lnTo>
                  <a:pt x="170687" y="38747"/>
                </a:lnTo>
                <a:lnTo>
                  <a:pt x="189695" y="38082"/>
                </a:lnTo>
                <a:lnTo>
                  <a:pt x="188340" y="0"/>
                </a:lnTo>
                <a:close/>
              </a:path>
              <a:path w="1133475" h="114300">
                <a:moveTo>
                  <a:pt x="189695" y="38082"/>
                </a:moveTo>
                <a:lnTo>
                  <a:pt x="170687" y="38747"/>
                </a:lnTo>
                <a:lnTo>
                  <a:pt x="171958" y="76822"/>
                </a:lnTo>
                <a:lnTo>
                  <a:pt x="191050" y="76154"/>
                </a:lnTo>
                <a:lnTo>
                  <a:pt x="189695" y="38082"/>
                </a:lnTo>
                <a:close/>
              </a:path>
              <a:path w="1133475" h="114300">
                <a:moveTo>
                  <a:pt x="191050" y="76154"/>
                </a:moveTo>
                <a:lnTo>
                  <a:pt x="171958" y="76822"/>
                </a:lnTo>
                <a:lnTo>
                  <a:pt x="191073" y="76822"/>
                </a:lnTo>
                <a:lnTo>
                  <a:pt x="191050" y="76154"/>
                </a:lnTo>
                <a:close/>
              </a:path>
              <a:path w="1133475" h="114300">
                <a:moveTo>
                  <a:pt x="1131696" y="5118"/>
                </a:moveTo>
                <a:lnTo>
                  <a:pt x="189695" y="38082"/>
                </a:lnTo>
                <a:lnTo>
                  <a:pt x="191050" y="76154"/>
                </a:lnTo>
                <a:lnTo>
                  <a:pt x="1132966" y="43192"/>
                </a:lnTo>
                <a:lnTo>
                  <a:pt x="1131696" y="51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194425" y="171577"/>
            <a:ext cx="249809" cy="1140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720078" y="811530"/>
            <a:ext cx="996950" cy="401320"/>
          </a:xfrm>
          <a:custGeom>
            <a:avLst/>
            <a:gdLst/>
            <a:ahLst/>
            <a:cxnLst/>
            <a:rect l="l" t="t" r="r" b="b"/>
            <a:pathLst>
              <a:path w="996950" h="401319">
                <a:moveTo>
                  <a:pt x="0" y="400812"/>
                </a:moveTo>
                <a:lnTo>
                  <a:pt x="996696" y="400812"/>
                </a:lnTo>
                <a:lnTo>
                  <a:pt x="996696" y="0"/>
                </a:lnTo>
                <a:lnTo>
                  <a:pt x="0" y="0"/>
                </a:lnTo>
                <a:lnTo>
                  <a:pt x="0" y="40081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83591" y="707897"/>
            <a:ext cx="749871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FFFF00"/>
                </a:solidFill>
              </a:rPr>
              <a:t>给出如下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dirty="0" sz="3200">
                <a:solidFill>
                  <a:srgbClr val="FFFF00"/>
                </a:solidFill>
              </a:rPr>
              <a:t>程序段的目标代</a:t>
            </a:r>
            <a:r>
              <a:rPr dirty="0" sz="3200" spc="-15">
                <a:solidFill>
                  <a:srgbClr val="FFFF00"/>
                </a:solidFill>
              </a:rPr>
              <a:t>码</a:t>
            </a:r>
            <a:r>
              <a:rPr dirty="0" sz="3200">
                <a:solidFill>
                  <a:srgbClr val="FFFF00"/>
                </a:solidFill>
              </a:rPr>
              <a:t>结构</a:t>
            </a:r>
            <a:r>
              <a:rPr dirty="0" sz="3200" spc="-10">
                <a:solidFill>
                  <a:srgbClr val="FFFF00"/>
                </a:solidFill>
              </a:rPr>
              <a:t>：</a:t>
            </a:r>
            <a:r>
              <a:rPr dirty="0" sz="3200" spc="-470">
                <a:solidFill>
                  <a:srgbClr val="FFFF00"/>
                </a:solidFill>
              </a:rPr>
              <a:t> </a:t>
            </a:r>
            <a:r>
              <a:rPr dirty="0" sz="2400">
                <a:solidFill>
                  <a:srgbClr val="FFFFFF"/>
                </a:solidFill>
              </a:rPr>
              <a:t>计算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e1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747509" y="1507997"/>
            <a:ext cx="1096010" cy="399415"/>
          </a:xfrm>
          <a:custGeom>
            <a:avLst/>
            <a:gdLst/>
            <a:ahLst/>
            <a:cxnLst/>
            <a:rect l="l" t="t" r="r" b="b"/>
            <a:pathLst>
              <a:path w="1096009" h="399414">
                <a:moveTo>
                  <a:pt x="0" y="399288"/>
                </a:moveTo>
                <a:lnTo>
                  <a:pt x="1095755" y="399288"/>
                </a:lnTo>
                <a:lnTo>
                  <a:pt x="1095755" y="0"/>
                </a:lnTo>
                <a:lnTo>
                  <a:pt x="0" y="0"/>
                </a:lnTo>
                <a:lnTo>
                  <a:pt x="0" y="399288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782064" y="1168984"/>
            <a:ext cx="5990590" cy="7277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ts val="3005"/>
              </a:lnSpc>
              <a:spcBef>
                <a:spcPts val="95"/>
              </a:spcBef>
            </a:pPr>
            <a:r>
              <a:rPr dirty="0" sz="2800" spc="-5" b="1">
                <a:solidFill>
                  <a:srgbClr val="F8F8F8"/>
                </a:solidFill>
                <a:latin typeface="Times New Roman"/>
                <a:cs typeface="Times New Roman"/>
              </a:rPr>
              <a:t>…</a:t>
            </a:r>
            <a:endParaRPr sz="2800">
              <a:latin typeface="Times New Roman"/>
              <a:cs typeface="Times New Roman"/>
            </a:endParaRPr>
          </a:p>
          <a:p>
            <a:pPr marL="4648835">
              <a:lnSpc>
                <a:spcPts val="2525"/>
              </a:lnSpc>
            </a:pPr>
            <a:r>
              <a:rPr dirty="0" baseline="5787" sz="3600" spc="-172" b="1">
                <a:solidFill>
                  <a:srgbClr val="FFFF00"/>
                </a:solidFill>
                <a:latin typeface="Times New Roman"/>
                <a:cs typeface="Times New Roman"/>
              </a:rPr>
              <a:t>L1: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计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148834" y="5703570"/>
            <a:ext cx="603885" cy="399415"/>
          </a:xfrm>
          <a:custGeom>
            <a:avLst/>
            <a:gdLst/>
            <a:ahLst/>
            <a:cxnLst/>
            <a:rect l="l" t="t" r="r" b="b"/>
            <a:pathLst>
              <a:path w="603885" h="399414">
                <a:moveTo>
                  <a:pt x="0" y="399287"/>
                </a:moveTo>
                <a:lnTo>
                  <a:pt x="603503" y="399287"/>
                </a:lnTo>
                <a:lnTo>
                  <a:pt x="603503" y="0"/>
                </a:lnTo>
                <a:lnTo>
                  <a:pt x="0" y="0"/>
                </a:lnTo>
                <a:lnTo>
                  <a:pt x="0" y="39928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930902" y="6363461"/>
            <a:ext cx="1054735" cy="401320"/>
          </a:xfrm>
          <a:custGeom>
            <a:avLst/>
            <a:gdLst/>
            <a:ahLst/>
            <a:cxnLst/>
            <a:rect l="l" t="t" r="r" b="b"/>
            <a:pathLst>
              <a:path w="1054735" h="401320">
                <a:moveTo>
                  <a:pt x="0" y="400812"/>
                </a:moveTo>
                <a:lnTo>
                  <a:pt x="1054608" y="400812"/>
                </a:lnTo>
                <a:lnTo>
                  <a:pt x="1054608" y="0"/>
                </a:lnTo>
                <a:lnTo>
                  <a:pt x="0" y="0"/>
                </a:lnTo>
                <a:lnTo>
                  <a:pt x="0" y="40081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540245" y="2198370"/>
            <a:ext cx="1519555" cy="384175"/>
          </a:xfrm>
          <a:custGeom>
            <a:avLst/>
            <a:gdLst/>
            <a:ahLst/>
            <a:cxnLst/>
            <a:rect l="l" t="t" r="r" b="b"/>
            <a:pathLst>
              <a:path w="1519554" h="384175">
                <a:moveTo>
                  <a:pt x="0" y="192024"/>
                </a:moveTo>
                <a:lnTo>
                  <a:pt x="759713" y="0"/>
                </a:lnTo>
                <a:lnTo>
                  <a:pt x="1519427" y="192024"/>
                </a:lnTo>
                <a:lnTo>
                  <a:pt x="759713" y="384047"/>
                </a:lnTo>
                <a:lnTo>
                  <a:pt x="0" y="19202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7066280" y="2183079"/>
            <a:ext cx="46609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e2?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188707" y="532637"/>
            <a:ext cx="114300" cy="299085"/>
          </a:xfrm>
          <a:custGeom>
            <a:avLst/>
            <a:gdLst/>
            <a:ahLst/>
            <a:cxnLst/>
            <a:rect l="l" t="t" r="r" b="b"/>
            <a:pathLst>
              <a:path w="114300" h="299084">
                <a:moveTo>
                  <a:pt x="38100" y="184403"/>
                </a:moveTo>
                <a:lnTo>
                  <a:pt x="0" y="184403"/>
                </a:lnTo>
                <a:lnTo>
                  <a:pt x="57150" y="298703"/>
                </a:lnTo>
                <a:lnTo>
                  <a:pt x="104775" y="203453"/>
                </a:lnTo>
                <a:lnTo>
                  <a:pt x="38100" y="203453"/>
                </a:lnTo>
                <a:lnTo>
                  <a:pt x="38100" y="184403"/>
                </a:lnTo>
                <a:close/>
              </a:path>
              <a:path w="114300" h="299084">
                <a:moveTo>
                  <a:pt x="76200" y="0"/>
                </a:moveTo>
                <a:lnTo>
                  <a:pt x="38100" y="0"/>
                </a:lnTo>
                <a:lnTo>
                  <a:pt x="38100" y="203453"/>
                </a:lnTo>
                <a:lnTo>
                  <a:pt x="76200" y="203453"/>
                </a:lnTo>
                <a:lnTo>
                  <a:pt x="76200" y="0"/>
                </a:lnTo>
                <a:close/>
              </a:path>
              <a:path w="114300" h="299084">
                <a:moveTo>
                  <a:pt x="114300" y="184403"/>
                </a:moveTo>
                <a:lnTo>
                  <a:pt x="76200" y="184403"/>
                </a:lnTo>
                <a:lnTo>
                  <a:pt x="76200" y="203453"/>
                </a:lnTo>
                <a:lnTo>
                  <a:pt x="104775" y="203453"/>
                </a:lnTo>
                <a:lnTo>
                  <a:pt x="114300" y="1844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184135" y="1221486"/>
            <a:ext cx="114300" cy="294640"/>
          </a:xfrm>
          <a:custGeom>
            <a:avLst/>
            <a:gdLst/>
            <a:ahLst/>
            <a:cxnLst/>
            <a:rect l="l" t="t" r="r" b="b"/>
            <a:pathLst>
              <a:path w="114300" h="294640">
                <a:moveTo>
                  <a:pt x="38100" y="179831"/>
                </a:moveTo>
                <a:lnTo>
                  <a:pt x="0" y="179831"/>
                </a:lnTo>
                <a:lnTo>
                  <a:pt x="57150" y="294131"/>
                </a:lnTo>
                <a:lnTo>
                  <a:pt x="104775" y="198881"/>
                </a:lnTo>
                <a:lnTo>
                  <a:pt x="38100" y="198881"/>
                </a:lnTo>
                <a:lnTo>
                  <a:pt x="38100" y="179831"/>
                </a:lnTo>
                <a:close/>
              </a:path>
              <a:path w="114300" h="294640">
                <a:moveTo>
                  <a:pt x="76200" y="0"/>
                </a:moveTo>
                <a:lnTo>
                  <a:pt x="38100" y="0"/>
                </a:lnTo>
                <a:lnTo>
                  <a:pt x="38100" y="198881"/>
                </a:lnTo>
                <a:lnTo>
                  <a:pt x="76200" y="198881"/>
                </a:lnTo>
                <a:lnTo>
                  <a:pt x="76200" y="0"/>
                </a:lnTo>
                <a:close/>
              </a:path>
              <a:path w="114300" h="294640">
                <a:moveTo>
                  <a:pt x="114300" y="179831"/>
                </a:moveTo>
                <a:lnTo>
                  <a:pt x="76200" y="179831"/>
                </a:lnTo>
                <a:lnTo>
                  <a:pt x="76200" y="198881"/>
                </a:lnTo>
                <a:lnTo>
                  <a:pt x="104775" y="198881"/>
                </a:lnTo>
                <a:lnTo>
                  <a:pt x="114300" y="1798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245095" y="1887473"/>
            <a:ext cx="114300" cy="304800"/>
          </a:xfrm>
          <a:custGeom>
            <a:avLst/>
            <a:gdLst/>
            <a:ahLst/>
            <a:cxnLst/>
            <a:rect l="l" t="t" r="r" b="b"/>
            <a:pathLst>
              <a:path w="114300" h="304800">
                <a:moveTo>
                  <a:pt x="38100" y="190500"/>
                </a:moveTo>
                <a:lnTo>
                  <a:pt x="0" y="190500"/>
                </a:lnTo>
                <a:lnTo>
                  <a:pt x="57150" y="304800"/>
                </a:lnTo>
                <a:lnTo>
                  <a:pt x="104775" y="209550"/>
                </a:lnTo>
                <a:lnTo>
                  <a:pt x="38100" y="209550"/>
                </a:lnTo>
                <a:lnTo>
                  <a:pt x="38100" y="190500"/>
                </a:lnTo>
                <a:close/>
              </a:path>
              <a:path w="114300" h="304800">
                <a:moveTo>
                  <a:pt x="76200" y="0"/>
                </a:moveTo>
                <a:lnTo>
                  <a:pt x="38100" y="0"/>
                </a:lnTo>
                <a:lnTo>
                  <a:pt x="38100" y="209550"/>
                </a:lnTo>
                <a:lnTo>
                  <a:pt x="76200" y="209550"/>
                </a:lnTo>
                <a:lnTo>
                  <a:pt x="76200" y="0"/>
                </a:lnTo>
                <a:close/>
              </a:path>
              <a:path w="114300" h="304800">
                <a:moveTo>
                  <a:pt x="114300" y="190500"/>
                </a:moveTo>
                <a:lnTo>
                  <a:pt x="76200" y="190500"/>
                </a:lnTo>
                <a:lnTo>
                  <a:pt x="76200" y="209550"/>
                </a:lnTo>
                <a:lnTo>
                  <a:pt x="104775" y="209550"/>
                </a:lnTo>
                <a:lnTo>
                  <a:pt x="114300" y="190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305800" y="3112770"/>
            <a:ext cx="114300" cy="597535"/>
          </a:xfrm>
          <a:custGeom>
            <a:avLst/>
            <a:gdLst/>
            <a:ahLst/>
            <a:cxnLst/>
            <a:rect l="l" t="t" r="r" b="b"/>
            <a:pathLst>
              <a:path w="114300" h="597535">
                <a:moveTo>
                  <a:pt x="38100" y="483107"/>
                </a:moveTo>
                <a:lnTo>
                  <a:pt x="0" y="483107"/>
                </a:lnTo>
                <a:lnTo>
                  <a:pt x="57150" y="597407"/>
                </a:lnTo>
                <a:lnTo>
                  <a:pt x="104775" y="502157"/>
                </a:lnTo>
                <a:lnTo>
                  <a:pt x="38100" y="502157"/>
                </a:lnTo>
                <a:lnTo>
                  <a:pt x="38100" y="483107"/>
                </a:lnTo>
                <a:close/>
              </a:path>
              <a:path w="114300" h="597535">
                <a:moveTo>
                  <a:pt x="76200" y="0"/>
                </a:moveTo>
                <a:lnTo>
                  <a:pt x="38100" y="0"/>
                </a:lnTo>
                <a:lnTo>
                  <a:pt x="38100" y="502157"/>
                </a:lnTo>
                <a:lnTo>
                  <a:pt x="76200" y="502157"/>
                </a:lnTo>
                <a:lnTo>
                  <a:pt x="76200" y="0"/>
                </a:lnTo>
                <a:close/>
              </a:path>
              <a:path w="114300" h="597535">
                <a:moveTo>
                  <a:pt x="114300" y="483107"/>
                </a:moveTo>
                <a:lnTo>
                  <a:pt x="76200" y="483107"/>
                </a:lnTo>
                <a:lnTo>
                  <a:pt x="76200" y="502157"/>
                </a:lnTo>
                <a:lnTo>
                  <a:pt x="104775" y="502157"/>
                </a:lnTo>
                <a:lnTo>
                  <a:pt x="114300" y="4831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302245" y="5182361"/>
            <a:ext cx="0" cy="143510"/>
          </a:xfrm>
          <a:custGeom>
            <a:avLst/>
            <a:gdLst/>
            <a:ahLst/>
            <a:cxnLst/>
            <a:rect l="l" t="t" r="r" b="b"/>
            <a:pathLst>
              <a:path w="0" h="143510">
                <a:moveTo>
                  <a:pt x="0" y="143256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322057" y="5268467"/>
            <a:ext cx="1711960" cy="114300"/>
          </a:xfrm>
          <a:custGeom>
            <a:avLst/>
            <a:gdLst/>
            <a:ahLst/>
            <a:cxnLst/>
            <a:rect l="l" t="t" r="r" b="b"/>
            <a:pathLst>
              <a:path w="1711959" h="114300">
                <a:moveTo>
                  <a:pt x="1597152" y="0"/>
                </a:moveTo>
                <a:lnTo>
                  <a:pt x="1597152" y="114299"/>
                </a:lnTo>
                <a:lnTo>
                  <a:pt x="1673352" y="76199"/>
                </a:lnTo>
                <a:lnTo>
                  <a:pt x="1616202" y="76199"/>
                </a:lnTo>
                <a:lnTo>
                  <a:pt x="1616202" y="38099"/>
                </a:lnTo>
                <a:lnTo>
                  <a:pt x="1673352" y="38099"/>
                </a:lnTo>
                <a:lnTo>
                  <a:pt x="1597152" y="0"/>
                </a:lnTo>
                <a:close/>
              </a:path>
              <a:path w="1711959" h="114300">
                <a:moveTo>
                  <a:pt x="1597152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1597152" y="76199"/>
                </a:lnTo>
                <a:lnTo>
                  <a:pt x="1597152" y="38099"/>
                </a:lnTo>
                <a:close/>
              </a:path>
              <a:path w="1711959" h="114300">
                <a:moveTo>
                  <a:pt x="1673352" y="38099"/>
                </a:moveTo>
                <a:lnTo>
                  <a:pt x="1616202" y="38099"/>
                </a:lnTo>
                <a:lnTo>
                  <a:pt x="1616202" y="76199"/>
                </a:lnTo>
                <a:lnTo>
                  <a:pt x="1673352" y="76199"/>
                </a:lnTo>
                <a:lnTo>
                  <a:pt x="1711452" y="57149"/>
                </a:lnTo>
                <a:lnTo>
                  <a:pt x="1673352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085076" y="4124705"/>
            <a:ext cx="114300" cy="668020"/>
          </a:xfrm>
          <a:custGeom>
            <a:avLst/>
            <a:gdLst/>
            <a:ahLst/>
            <a:cxnLst/>
            <a:rect l="l" t="t" r="r" b="b"/>
            <a:pathLst>
              <a:path w="114300" h="668020">
                <a:moveTo>
                  <a:pt x="38100" y="553212"/>
                </a:moveTo>
                <a:lnTo>
                  <a:pt x="0" y="553212"/>
                </a:lnTo>
                <a:lnTo>
                  <a:pt x="57150" y="667512"/>
                </a:lnTo>
                <a:lnTo>
                  <a:pt x="104775" y="572262"/>
                </a:lnTo>
                <a:lnTo>
                  <a:pt x="38100" y="572262"/>
                </a:lnTo>
                <a:lnTo>
                  <a:pt x="38100" y="553212"/>
                </a:lnTo>
                <a:close/>
              </a:path>
              <a:path w="114300" h="668020">
                <a:moveTo>
                  <a:pt x="76200" y="0"/>
                </a:moveTo>
                <a:lnTo>
                  <a:pt x="38100" y="0"/>
                </a:lnTo>
                <a:lnTo>
                  <a:pt x="38100" y="572262"/>
                </a:lnTo>
                <a:lnTo>
                  <a:pt x="76200" y="572262"/>
                </a:lnTo>
                <a:lnTo>
                  <a:pt x="76200" y="0"/>
                </a:lnTo>
                <a:close/>
              </a:path>
              <a:path w="114300" h="668020">
                <a:moveTo>
                  <a:pt x="114300" y="553212"/>
                </a:moveTo>
                <a:lnTo>
                  <a:pt x="76200" y="553212"/>
                </a:lnTo>
                <a:lnTo>
                  <a:pt x="76200" y="572262"/>
                </a:lnTo>
                <a:lnTo>
                  <a:pt x="104775" y="572262"/>
                </a:lnTo>
                <a:lnTo>
                  <a:pt x="114300" y="5532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9015221" y="1742694"/>
            <a:ext cx="0" cy="3592195"/>
          </a:xfrm>
          <a:custGeom>
            <a:avLst/>
            <a:gdLst/>
            <a:ahLst/>
            <a:cxnLst/>
            <a:rect l="l" t="t" r="r" b="b"/>
            <a:pathLst>
              <a:path w="0" h="3592195">
                <a:moveTo>
                  <a:pt x="0" y="0"/>
                </a:moveTo>
                <a:lnTo>
                  <a:pt x="0" y="3592067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5994908" y="2091309"/>
            <a:ext cx="484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非</a:t>
            </a:r>
            <a:r>
              <a:rPr dirty="0" u="heavy" sz="24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020180" y="2394839"/>
            <a:ext cx="114300" cy="320675"/>
          </a:xfrm>
          <a:custGeom>
            <a:avLst/>
            <a:gdLst/>
            <a:ahLst/>
            <a:cxnLst/>
            <a:rect l="l" t="t" r="r" b="b"/>
            <a:pathLst>
              <a:path w="114300" h="320675">
                <a:moveTo>
                  <a:pt x="38171" y="206035"/>
                </a:moveTo>
                <a:lnTo>
                  <a:pt x="0" y="206375"/>
                </a:lnTo>
                <a:lnTo>
                  <a:pt x="58293" y="320166"/>
                </a:lnTo>
                <a:lnTo>
                  <a:pt x="104697" y="225044"/>
                </a:lnTo>
                <a:lnTo>
                  <a:pt x="38354" y="225044"/>
                </a:lnTo>
                <a:lnTo>
                  <a:pt x="38171" y="206035"/>
                </a:lnTo>
                <a:close/>
              </a:path>
              <a:path w="114300" h="320675">
                <a:moveTo>
                  <a:pt x="76270" y="205697"/>
                </a:moveTo>
                <a:lnTo>
                  <a:pt x="38171" y="206035"/>
                </a:lnTo>
                <a:lnTo>
                  <a:pt x="38354" y="225044"/>
                </a:lnTo>
                <a:lnTo>
                  <a:pt x="76454" y="224789"/>
                </a:lnTo>
                <a:lnTo>
                  <a:pt x="76270" y="205697"/>
                </a:lnTo>
                <a:close/>
              </a:path>
              <a:path w="114300" h="320675">
                <a:moveTo>
                  <a:pt x="114300" y="205359"/>
                </a:moveTo>
                <a:lnTo>
                  <a:pt x="76270" y="205697"/>
                </a:lnTo>
                <a:lnTo>
                  <a:pt x="76454" y="224789"/>
                </a:lnTo>
                <a:lnTo>
                  <a:pt x="38354" y="225044"/>
                </a:lnTo>
                <a:lnTo>
                  <a:pt x="104697" y="225044"/>
                </a:lnTo>
                <a:lnTo>
                  <a:pt x="114300" y="205359"/>
                </a:lnTo>
                <a:close/>
              </a:path>
              <a:path w="114300" h="320675">
                <a:moveTo>
                  <a:pt x="74295" y="0"/>
                </a:moveTo>
                <a:lnTo>
                  <a:pt x="36195" y="253"/>
                </a:lnTo>
                <a:lnTo>
                  <a:pt x="38171" y="206035"/>
                </a:lnTo>
                <a:lnTo>
                  <a:pt x="76270" y="205697"/>
                </a:lnTo>
                <a:lnTo>
                  <a:pt x="742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563361" y="2686050"/>
            <a:ext cx="977265" cy="401320"/>
          </a:xfrm>
          <a:custGeom>
            <a:avLst/>
            <a:gdLst/>
            <a:ahLst/>
            <a:cxnLst/>
            <a:rect l="l" t="t" r="r" b="b"/>
            <a:pathLst>
              <a:path w="977265" h="401319">
                <a:moveTo>
                  <a:pt x="0" y="400812"/>
                </a:moveTo>
                <a:lnTo>
                  <a:pt x="976884" y="400812"/>
                </a:lnTo>
                <a:lnTo>
                  <a:pt x="976884" y="0"/>
                </a:lnTo>
                <a:lnTo>
                  <a:pt x="0" y="0"/>
                </a:lnTo>
                <a:lnTo>
                  <a:pt x="0" y="40081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601461" y="3350514"/>
            <a:ext cx="1033780" cy="399415"/>
          </a:xfrm>
          <a:custGeom>
            <a:avLst/>
            <a:gdLst/>
            <a:ahLst/>
            <a:cxnLst/>
            <a:rect l="l" t="t" r="r" b="b"/>
            <a:pathLst>
              <a:path w="1033779" h="399414">
                <a:moveTo>
                  <a:pt x="0" y="399288"/>
                </a:moveTo>
                <a:lnTo>
                  <a:pt x="1033271" y="399288"/>
                </a:lnTo>
                <a:lnTo>
                  <a:pt x="1033271" y="0"/>
                </a:lnTo>
                <a:lnTo>
                  <a:pt x="0" y="0"/>
                </a:lnTo>
                <a:lnTo>
                  <a:pt x="0" y="39928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5110607" y="2684779"/>
            <a:ext cx="1479550" cy="1055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736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计算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t1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dirty="0" baseline="37037" sz="3600" b="1">
                <a:solidFill>
                  <a:srgbClr val="FFFF00"/>
                </a:solidFill>
                <a:latin typeface="Times New Roman"/>
                <a:cs typeface="Times New Roman"/>
              </a:rPr>
              <a:t>L4:</a:t>
            </a:r>
            <a:r>
              <a:rPr dirty="0" baseline="37037" sz="3600" spc="-89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计</a:t>
            </a:r>
            <a:r>
              <a:rPr dirty="0" sz="2400" spc="5" b="1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t2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018276" y="3083814"/>
            <a:ext cx="114300" cy="294640"/>
          </a:xfrm>
          <a:custGeom>
            <a:avLst/>
            <a:gdLst/>
            <a:ahLst/>
            <a:cxnLst/>
            <a:rect l="l" t="t" r="r" b="b"/>
            <a:pathLst>
              <a:path w="114300" h="294639">
                <a:moveTo>
                  <a:pt x="38100" y="179832"/>
                </a:moveTo>
                <a:lnTo>
                  <a:pt x="0" y="179832"/>
                </a:lnTo>
                <a:lnTo>
                  <a:pt x="57150" y="294132"/>
                </a:lnTo>
                <a:lnTo>
                  <a:pt x="104775" y="198882"/>
                </a:lnTo>
                <a:lnTo>
                  <a:pt x="38100" y="198882"/>
                </a:lnTo>
                <a:lnTo>
                  <a:pt x="38100" y="179832"/>
                </a:lnTo>
                <a:close/>
              </a:path>
              <a:path w="114300" h="294639">
                <a:moveTo>
                  <a:pt x="76200" y="0"/>
                </a:moveTo>
                <a:lnTo>
                  <a:pt x="38100" y="0"/>
                </a:lnTo>
                <a:lnTo>
                  <a:pt x="38100" y="198882"/>
                </a:lnTo>
                <a:lnTo>
                  <a:pt x="76200" y="198882"/>
                </a:lnTo>
                <a:lnTo>
                  <a:pt x="76200" y="0"/>
                </a:lnTo>
                <a:close/>
              </a:path>
              <a:path w="114300" h="294639">
                <a:moveTo>
                  <a:pt x="114300" y="179832"/>
                </a:moveTo>
                <a:lnTo>
                  <a:pt x="76200" y="179832"/>
                </a:lnTo>
                <a:lnTo>
                  <a:pt x="76200" y="198882"/>
                </a:lnTo>
                <a:lnTo>
                  <a:pt x="104775" y="198882"/>
                </a:lnTo>
                <a:lnTo>
                  <a:pt x="114300" y="1798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337809" y="3957065"/>
            <a:ext cx="1506220" cy="376555"/>
          </a:xfrm>
          <a:custGeom>
            <a:avLst/>
            <a:gdLst/>
            <a:ahLst/>
            <a:cxnLst/>
            <a:rect l="l" t="t" r="r" b="b"/>
            <a:pathLst>
              <a:path w="1506220" h="376554">
                <a:moveTo>
                  <a:pt x="0" y="188213"/>
                </a:moveTo>
                <a:lnTo>
                  <a:pt x="752855" y="0"/>
                </a:lnTo>
                <a:lnTo>
                  <a:pt x="1505712" y="188213"/>
                </a:lnTo>
                <a:lnTo>
                  <a:pt x="752855" y="376427"/>
                </a:lnTo>
                <a:lnTo>
                  <a:pt x="0" y="188213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5873877" y="3939032"/>
            <a:ext cx="431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t2?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195059" y="3740658"/>
            <a:ext cx="114300" cy="2377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4850129" y="3772916"/>
            <a:ext cx="484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非</a:t>
            </a:r>
            <a:r>
              <a:rPr dirty="0" u="heavy" sz="24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875403" y="4133596"/>
            <a:ext cx="114300" cy="257810"/>
          </a:xfrm>
          <a:custGeom>
            <a:avLst/>
            <a:gdLst/>
            <a:ahLst/>
            <a:cxnLst/>
            <a:rect l="l" t="t" r="r" b="b"/>
            <a:pathLst>
              <a:path w="114300" h="257810">
                <a:moveTo>
                  <a:pt x="38129" y="143721"/>
                </a:moveTo>
                <a:lnTo>
                  <a:pt x="0" y="144144"/>
                </a:lnTo>
                <a:lnTo>
                  <a:pt x="58547" y="257809"/>
                </a:lnTo>
                <a:lnTo>
                  <a:pt x="104627" y="162813"/>
                </a:lnTo>
                <a:lnTo>
                  <a:pt x="38354" y="162813"/>
                </a:lnTo>
                <a:lnTo>
                  <a:pt x="38129" y="143721"/>
                </a:lnTo>
                <a:close/>
              </a:path>
              <a:path w="114300" h="257810">
                <a:moveTo>
                  <a:pt x="76230" y="143297"/>
                </a:moveTo>
                <a:lnTo>
                  <a:pt x="38129" y="143721"/>
                </a:lnTo>
                <a:lnTo>
                  <a:pt x="38354" y="162813"/>
                </a:lnTo>
                <a:lnTo>
                  <a:pt x="76454" y="162305"/>
                </a:lnTo>
                <a:lnTo>
                  <a:pt x="76230" y="143297"/>
                </a:lnTo>
                <a:close/>
              </a:path>
              <a:path w="114300" h="257810">
                <a:moveTo>
                  <a:pt x="114300" y="142874"/>
                </a:moveTo>
                <a:lnTo>
                  <a:pt x="76230" y="143297"/>
                </a:lnTo>
                <a:lnTo>
                  <a:pt x="76454" y="162305"/>
                </a:lnTo>
                <a:lnTo>
                  <a:pt x="38354" y="162813"/>
                </a:lnTo>
                <a:lnTo>
                  <a:pt x="104627" y="162813"/>
                </a:lnTo>
                <a:lnTo>
                  <a:pt x="114300" y="142874"/>
                </a:lnTo>
                <a:close/>
              </a:path>
              <a:path w="114300" h="257810">
                <a:moveTo>
                  <a:pt x="74549" y="0"/>
                </a:moveTo>
                <a:lnTo>
                  <a:pt x="36449" y="507"/>
                </a:lnTo>
                <a:lnTo>
                  <a:pt x="38129" y="143721"/>
                </a:lnTo>
                <a:lnTo>
                  <a:pt x="76230" y="143297"/>
                </a:lnTo>
                <a:lnTo>
                  <a:pt x="745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787646" y="4391405"/>
            <a:ext cx="1130935" cy="401320"/>
          </a:xfrm>
          <a:custGeom>
            <a:avLst/>
            <a:gdLst/>
            <a:ahLst/>
            <a:cxnLst/>
            <a:rect l="l" t="t" r="r" b="b"/>
            <a:pathLst>
              <a:path w="1130935" h="401320">
                <a:moveTo>
                  <a:pt x="0" y="400812"/>
                </a:moveTo>
                <a:lnTo>
                  <a:pt x="1130808" y="400812"/>
                </a:lnTo>
                <a:lnTo>
                  <a:pt x="1130808" y="0"/>
                </a:lnTo>
                <a:lnTo>
                  <a:pt x="0" y="0"/>
                </a:lnTo>
                <a:lnTo>
                  <a:pt x="0" y="40081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5669660" y="4551934"/>
            <a:ext cx="1155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F8F8F8"/>
                </a:solidFill>
                <a:latin typeface="Times New Roman"/>
                <a:cs typeface="Times New Roman"/>
              </a:rPr>
              <a:t>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776978" y="4969002"/>
            <a:ext cx="1358265" cy="431800"/>
          </a:xfrm>
          <a:custGeom>
            <a:avLst/>
            <a:gdLst/>
            <a:ahLst/>
            <a:cxnLst/>
            <a:rect l="l" t="t" r="r" b="b"/>
            <a:pathLst>
              <a:path w="1358264" h="431800">
                <a:moveTo>
                  <a:pt x="0" y="215646"/>
                </a:moveTo>
                <a:lnTo>
                  <a:pt x="678942" y="0"/>
                </a:lnTo>
                <a:lnTo>
                  <a:pt x="1357884" y="215646"/>
                </a:lnTo>
                <a:lnTo>
                  <a:pt x="678942" y="431292"/>
                </a:lnTo>
                <a:lnTo>
                  <a:pt x="0" y="21564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350764" y="5409438"/>
            <a:ext cx="114300" cy="294640"/>
          </a:xfrm>
          <a:custGeom>
            <a:avLst/>
            <a:gdLst/>
            <a:ahLst/>
            <a:cxnLst/>
            <a:rect l="l" t="t" r="r" b="b"/>
            <a:pathLst>
              <a:path w="114300" h="294639">
                <a:moveTo>
                  <a:pt x="38100" y="179831"/>
                </a:moveTo>
                <a:lnTo>
                  <a:pt x="0" y="179831"/>
                </a:lnTo>
                <a:lnTo>
                  <a:pt x="57150" y="294131"/>
                </a:lnTo>
                <a:lnTo>
                  <a:pt x="104775" y="198881"/>
                </a:lnTo>
                <a:lnTo>
                  <a:pt x="38100" y="198881"/>
                </a:lnTo>
                <a:lnTo>
                  <a:pt x="38100" y="179831"/>
                </a:lnTo>
                <a:close/>
              </a:path>
              <a:path w="114300" h="294639">
                <a:moveTo>
                  <a:pt x="76200" y="0"/>
                </a:moveTo>
                <a:lnTo>
                  <a:pt x="38100" y="0"/>
                </a:lnTo>
                <a:lnTo>
                  <a:pt x="38100" y="198881"/>
                </a:lnTo>
                <a:lnTo>
                  <a:pt x="76200" y="198881"/>
                </a:lnTo>
                <a:lnTo>
                  <a:pt x="76200" y="0"/>
                </a:lnTo>
                <a:close/>
              </a:path>
              <a:path w="114300" h="294639">
                <a:moveTo>
                  <a:pt x="114300" y="179831"/>
                </a:moveTo>
                <a:lnTo>
                  <a:pt x="76200" y="179831"/>
                </a:lnTo>
                <a:lnTo>
                  <a:pt x="76200" y="198881"/>
                </a:lnTo>
                <a:lnTo>
                  <a:pt x="104775" y="198881"/>
                </a:lnTo>
                <a:lnTo>
                  <a:pt x="114300" y="1798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340096" y="4761738"/>
            <a:ext cx="114300" cy="23926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134861" y="5179314"/>
            <a:ext cx="403860" cy="3175"/>
          </a:xfrm>
          <a:custGeom>
            <a:avLst/>
            <a:gdLst/>
            <a:ahLst/>
            <a:cxnLst/>
            <a:rect l="l" t="t" r="r" b="b"/>
            <a:pathLst>
              <a:path w="403859" h="3175">
                <a:moveTo>
                  <a:pt x="0" y="0"/>
                </a:moveTo>
                <a:lnTo>
                  <a:pt x="403860" y="3048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482969" y="5179314"/>
            <a:ext cx="114300" cy="954405"/>
          </a:xfrm>
          <a:custGeom>
            <a:avLst/>
            <a:gdLst/>
            <a:ahLst/>
            <a:cxnLst/>
            <a:rect l="l" t="t" r="r" b="b"/>
            <a:pathLst>
              <a:path w="114300" h="954404">
                <a:moveTo>
                  <a:pt x="38069" y="839753"/>
                </a:moveTo>
                <a:lnTo>
                  <a:pt x="0" y="839812"/>
                </a:lnTo>
                <a:lnTo>
                  <a:pt x="57276" y="954024"/>
                </a:lnTo>
                <a:lnTo>
                  <a:pt x="104746" y="858799"/>
                </a:lnTo>
                <a:lnTo>
                  <a:pt x="38100" y="858799"/>
                </a:lnTo>
                <a:lnTo>
                  <a:pt x="38069" y="839753"/>
                </a:lnTo>
                <a:close/>
              </a:path>
              <a:path w="114300" h="954404">
                <a:moveTo>
                  <a:pt x="76169" y="839694"/>
                </a:moveTo>
                <a:lnTo>
                  <a:pt x="38069" y="839753"/>
                </a:lnTo>
                <a:lnTo>
                  <a:pt x="38100" y="858799"/>
                </a:lnTo>
                <a:lnTo>
                  <a:pt x="76200" y="858748"/>
                </a:lnTo>
                <a:lnTo>
                  <a:pt x="76169" y="839694"/>
                </a:lnTo>
                <a:close/>
              </a:path>
              <a:path w="114300" h="954404">
                <a:moveTo>
                  <a:pt x="114300" y="839635"/>
                </a:moveTo>
                <a:lnTo>
                  <a:pt x="76169" y="839694"/>
                </a:lnTo>
                <a:lnTo>
                  <a:pt x="76200" y="858748"/>
                </a:lnTo>
                <a:lnTo>
                  <a:pt x="38100" y="858799"/>
                </a:lnTo>
                <a:lnTo>
                  <a:pt x="104746" y="858799"/>
                </a:lnTo>
                <a:lnTo>
                  <a:pt x="114300" y="839635"/>
                </a:lnTo>
                <a:close/>
              </a:path>
              <a:path w="114300" h="954404">
                <a:moveTo>
                  <a:pt x="74802" y="0"/>
                </a:moveTo>
                <a:lnTo>
                  <a:pt x="36702" y="0"/>
                </a:lnTo>
                <a:lnTo>
                  <a:pt x="38069" y="839753"/>
                </a:lnTo>
                <a:lnTo>
                  <a:pt x="76169" y="839694"/>
                </a:lnTo>
                <a:lnTo>
                  <a:pt x="748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358384" y="6102858"/>
            <a:ext cx="114300" cy="266700"/>
          </a:xfrm>
          <a:custGeom>
            <a:avLst/>
            <a:gdLst/>
            <a:ahLst/>
            <a:cxnLst/>
            <a:rect l="l" t="t" r="r" b="b"/>
            <a:pathLst>
              <a:path w="114300" h="266700">
                <a:moveTo>
                  <a:pt x="38100" y="152399"/>
                </a:moveTo>
                <a:lnTo>
                  <a:pt x="0" y="152399"/>
                </a:lnTo>
                <a:lnTo>
                  <a:pt x="57150" y="266699"/>
                </a:lnTo>
                <a:lnTo>
                  <a:pt x="104775" y="171449"/>
                </a:lnTo>
                <a:lnTo>
                  <a:pt x="38100" y="171449"/>
                </a:lnTo>
                <a:lnTo>
                  <a:pt x="38100" y="152399"/>
                </a:lnTo>
                <a:close/>
              </a:path>
              <a:path w="114300" h="266700">
                <a:moveTo>
                  <a:pt x="76200" y="0"/>
                </a:moveTo>
                <a:lnTo>
                  <a:pt x="38100" y="0"/>
                </a:lnTo>
                <a:lnTo>
                  <a:pt x="38100" y="171449"/>
                </a:lnTo>
                <a:lnTo>
                  <a:pt x="76200" y="171449"/>
                </a:lnTo>
                <a:lnTo>
                  <a:pt x="76200" y="0"/>
                </a:lnTo>
                <a:close/>
              </a:path>
              <a:path w="114300" h="266700">
                <a:moveTo>
                  <a:pt x="114300" y="152399"/>
                </a:moveTo>
                <a:lnTo>
                  <a:pt x="76200" y="152399"/>
                </a:lnTo>
                <a:lnTo>
                  <a:pt x="76200" y="171449"/>
                </a:lnTo>
                <a:lnTo>
                  <a:pt x="104775" y="171449"/>
                </a:lnTo>
                <a:lnTo>
                  <a:pt x="114300" y="1523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838950" y="4783073"/>
            <a:ext cx="1100455" cy="399415"/>
          </a:xfrm>
          <a:custGeom>
            <a:avLst/>
            <a:gdLst/>
            <a:ahLst/>
            <a:cxnLst/>
            <a:rect l="l" t="t" r="r" b="b"/>
            <a:pathLst>
              <a:path w="1100454" h="399414">
                <a:moveTo>
                  <a:pt x="0" y="399288"/>
                </a:moveTo>
                <a:lnTo>
                  <a:pt x="1100327" y="399288"/>
                </a:lnTo>
                <a:lnTo>
                  <a:pt x="1100327" y="0"/>
                </a:lnTo>
                <a:lnTo>
                  <a:pt x="0" y="0"/>
                </a:lnTo>
                <a:lnTo>
                  <a:pt x="0" y="39928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8305800" y="2388870"/>
            <a:ext cx="114300" cy="302260"/>
          </a:xfrm>
          <a:custGeom>
            <a:avLst/>
            <a:gdLst/>
            <a:ahLst/>
            <a:cxnLst/>
            <a:rect l="l" t="t" r="r" b="b"/>
            <a:pathLst>
              <a:path w="114300" h="302260">
                <a:moveTo>
                  <a:pt x="38100" y="187451"/>
                </a:moveTo>
                <a:lnTo>
                  <a:pt x="0" y="187451"/>
                </a:lnTo>
                <a:lnTo>
                  <a:pt x="57150" y="301751"/>
                </a:lnTo>
                <a:lnTo>
                  <a:pt x="104775" y="206501"/>
                </a:lnTo>
                <a:lnTo>
                  <a:pt x="38100" y="206501"/>
                </a:lnTo>
                <a:lnTo>
                  <a:pt x="38100" y="187451"/>
                </a:lnTo>
                <a:close/>
              </a:path>
              <a:path w="114300" h="302260">
                <a:moveTo>
                  <a:pt x="76200" y="0"/>
                </a:moveTo>
                <a:lnTo>
                  <a:pt x="38100" y="0"/>
                </a:lnTo>
                <a:lnTo>
                  <a:pt x="38100" y="206501"/>
                </a:lnTo>
                <a:lnTo>
                  <a:pt x="76200" y="206501"/>
                </a:lnTo>
                <a:lnTo>
                  <a:pt x="76200" y="0"/>
                </a:lnTo>
                <a:close/>
              </a:path>
              <a:path w="114300" h="302260">
                <a:moveTo>
                  <a:pt x="114300" y="187451"/>
                </a:moveTo>
                <a:lnTo>
                  <a:pt x="76200" y="187451"/>
                </a:lnTo>
                <a:lnTo>
                  <a:pt x="76200" y="206501"/>
                </a:lnTo>
                <a:lnTo>
                  <a:pt x="104775" y="206501"/>
                </a:lnTo>
                <a:lnTo>
                  <a:pt x="114300" y="1874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8046846" y="2055621"/>
            <a:ext cx="4279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400" spc="-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u="heavy" sz="24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7972806" y="2695194"/>
            <a:ext cx="623570" cy="401320"/>
          </a:xfrm>
          <a:custGeom>
            <a:avLst/>
            <a:gdLst/>
            <a:ahLst/>
            <a:cxnLst/>
            <a:rect l="l" t="t" r="r" b="b"/>
            <a:pathLst>
              <a:path w="623570" h="401319">
                <a:moveTo>
                  <a:pt x="0" y="400812"/>
                </a:moveTo>
                <a:lnTo>
                  <a:pt x="623316" y="400812"/>
                </a:lnTo>
                <a:lnTo>
                  <a:pt x="623316" y="0"/>
                </a:lnTo>
                <a:lnTo>
                  <a:pt x="0" y="0"/>
                </a:lnTo>
                <a:lnTo>
                  <a:pt x="0" y="40081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8111490" y="2689605"/>
            <a:ext cx="3467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S2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7840218" y="1716023"/>
            <a:ext cx="1193800" cy="114300"/>
          </a:xfrm>
          <a:custGeom>
            <a:avLst/>
            <a:gdLst/>
            <a:ahLst/>
            <a:cxnLst/>
            <a:rect l="l" t="t" r="r" b="b"/>
            <a:pathLst>
              <a:path w="1193800" h="114300">
                <a:moveTo>
                  <a:pt x="190500" y="0"/>
                </a:moveTo>
                <a:lnTo>
                  <a:pt x="0" y="57150"/>
                </a:lnTo>
                <a:lnTo>
                  <a:pt x="190500" y="114300"/>
                </a:lnTo>
                <a:lnTo>
                  <a:pt x="190500" y="76200"/>
                </a:lnTo>
                <a:lnTo>
                  <a:pt x="171450" y="76200"/>
                </a:lnTo>
                <a:lnTo>
                  <a:pt x="171450" y="38100"/>
                </a:lnTo>
                <a:lnTo>
                  <a:pt x="190500" y="38100"/>
                </a:lnTo>
                <a:lnTo>
                  <a:pt x="190500" y="0"/>
                </a:lnTo>
                <a:close/>
              </a:path>
              <a:path w="1193800" h="114300">
                <a:moveTo>
                  <a:pt x="190500" y="38100"/>
                </a:moveTo>
                <a:lnTo>
                  <a:pt x="171450" y="38100"/>
                </a:lnTo>
                <a:lnTo>
                  <a:pt x="171450" y="76200"/>
                </a:lnTo>
                <a:lnTo>
                  <a:pt x="190500" y="76200"/>
                </a:lnTo>
                <a:lnTo>
                  <a:pt x="190500" y="38100"/>
                </a:lnTo>
                <a:close/>
              </a:path>
              <a:path w="1193800" h="114300">
                <a:moveTo>
                  <a:pt x="1193291" y="38100"/>
                </a:moveTo>
                <a:lnTo>
                  <a:pt x="190500" y="38100"/>
                </a:lnTo>
                <a:lnTo>
                  <a:pt x="190500" y="76200"/>
                </a:lnTo>
                <a:lnTo>
                  <a:pt x="1193291" y="76200"/>
                </a:lnTo>
                <a:lnTo>
                  <a:pt x="1193291" y="38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483353" y="3464579"/>
            <a:ext cx="1118235" cy="3117850"/>
          </a:xfrm>
          <a:custGeom>
            <a:avLst/>
            <a:gdLst/>
            <a:ahLst/>
            <a:cxnLst/>
            <a:rect l="l" t="t" r="r" b="b"/>
            <a:pathLst>
              <a:path w="1118235" h="3117850">
                <a:moveTo>
                  <a:pt x="1009777" y="66528"/>
                </a:moveTo>
                <a:lnTo>
                  <a:pt x="19050" y="66528"/>
                </a:lnTo>
                <a:lnTo>
                  <a:pt x="11626" y="68022"/>
                </a:lnTo>
                <a:lnTo>
                  <a:pt x="5572" y="72100"/>
                </a:lnTo>
                <a:lnTo>
                  <a:pt x="1494" y="78154"/>
                </a:lnTo>
                <a:lnTo>
                  <a:pt x="0" y="85578"/>
                </a:lnTo>
                <a:lnTo>
                  <a:pt x="0" y="3098653"/>
                </a:lnTo>
                <a:lnTo>
                  <a:pt x="1494" y="3106065"/>
                </a:lnTo>
                <a:lnTo>
                  <a:pt x="5572" y="3112121"/>
                </a:lnTo>
                <a:lnTo>
                  <a:pt x="11626" y="3116205"/>
                </a:lnTo>
                <a:lnTo>
                  <a:pt x="19050" y="3117703"/>
                </a:lnTo>
                <a:lnTo>
                  <a:pt x="447548" y="3117703"/>
                </a:lnTo>
                <a:lnTo>
                  <a:pt x="447548" y="3098653"/>
                </a:lnTo>
                <a:lnTo>
                  <a:pt x="38100" y="3098653"/>
                </a:lnTo>
                <a:lnTo>
                  <a:pt x="19050" y="3079603"/>
                </a:lnTo>
                <a:lnTo>
                  <a:pt x="38100" y="3079603"/>
                </a:lnTo>
                <a:lnTo>
                  <a:pt x="38100" y="104628"/>
                </a:lnTo>
                <a:lnTo>
                  <a:pt x="19050" y="104628"/>
                </a:lnTo>
                <a:lnTo>
                  <a:pt x="38100" y="85578"/>
                </a:lnTo>
                <a:lnTo>
                  <a:pt x="1042434" y="85578"/>
                </a:lnTo>
                <a:lnTo>
                  <a:pt x="1009777" y="66528"/>
                </a:lnTo>
                <a:close/>
              </a:path>
              <a:path w="1118235" h="3117850">
                <a:moveTo>
                  <a:pt x="38100" y="3079603"/>
                </a:moveTo>
                <a:lnTo>
                  <a:pt x="19050" y="3079603"/>
                </a:lnTo>
                <a:lnTo>
                  <a:pt x="38100" y="3098653"/>
                </a:lnTo>
                <a:lnTo>
                  <a:pt x="38100" y="3079603"/>
                </a:lnTo>
                <a:close/>
              </a:path>
              <a:path w="1118235" h="3117850">
                <a:moveTo>
                  <a:pt x="447548" y="3079603"/>
                </a:moveTo>
                <a:lnTo>
                  <a:pt x="38100" y="3079603"/>
                </a:lnTo>
                <a:lnTo>
                  <a:pt x="38100" y="3098653"/>
                </a:lnTo>
                <a:lnTo>
                  <a:pt x="447548" y="3098653"/>
                </a:lnTo>
                <a:lnTo>
                  <a:pt x="447548" y="3079603"/>
                </a:lnTo>
                <a:close/>
              </a:path>
              <a:path w="1118235" h="3117850">
                <a:moveTo>
                  <a:pt x="1042434" y="85578"/>
                </a:moveTo>
                <a:lnTo>
                  <a:pt x="956437" y="135743"/>
                </a:lnTo>
                <a:lnTo>
                  <a:pt x="950829" y="140795"/>
                </a:lnTo>
                <a:lnTo>
                  <a:pt x="947674" y="147395"/>
                </a:lnTo>
                <a:lnTo>
                  <a:pt x="947185" y="154709"/>
                </a:lnTo>
                <a:lnTo>
                  <a:pt x="949579" y="161905"/>
                </a:lnTo>
                <a:lnTo>
                  <a:pt x="954631" y="167513"/>
                </a:lnTo>
                <a:lnTo>
                  <a:pt x="961231" y="170668"/>
                </a:lnTo>
                <a:lnTo>
                  <a:pt x="968545" y="171156"/>
                </a:lnTo>
                <a:lnTo>
                  <a:pt x="975741" y="168763"/>
                </a:lnTo>
                <a:lnTo>
                  <a:pt x="1085602" y="104628"/>
                </a:lnTo>
                <a:lnTo>
                  <a:pt x="1080389" y="104628"/>
                </a:lnTo>
                <a:lnTo>
                  <a:pt x="1080389" y="102088"/>
                </a:lnTo>
                <a:lnTo>
                  <a:pt x="1070737" y="102088"/>
                </a:lnTo>
                <a:lnTo>
                  <a:pt x="1042434" y="85578"/>
                </a:lnTo>
                <a:close/>
              </a:path>
              <a:path w="1118235" h="3117850">
                <a:moveTo>
                  <a:pt x="38100" y="85578"/>
                </a:moveTo>
                <a:lnTo>
                  <a:pt x="19050" y="104628"/>
                </a:lnTo>
                <a:lnTo>
                  <a:pt x="38100" y="104628"/>
                </a:lnTo>
                <a:lnTo>
                  <a:pt x="38100" y="85578"/>
                </a:lnTo>
                <a:close/>
              </a:path>
              <a:path w="1118235" h="3117850">
                <a:moveTo>
                  <a:pt x="1042434" y="85578"/>
                </a:moveTo>
                <a:lnTo>
                  <a:pt x="38100" y="85578"/>
                </a:lnTo>
                <a:lnTo>
                  <a:pt x="38100" y="104628"/>
                </a:lnTo>
                <a:lnTo>
                  <a:pt x="1009776" y="104628"/>
                </a:lnTo>
                <a:lnTo>
                  <a:pt x="1042434" y="85578"/>
                </a:lnTo>
                <a:close/>
              </a:path>
              <a:path w="1118235" h="3117850">
                <a:moveTo>
                  <a:pt x="1085602" y="66528"/>
                </a:moveTo>
                <a:lnTo>
                  <a:pt x="1080389" y="66528"/>
                </a:lnTo>
                <a:lnTo>
                  <a:pt x="1080389" y="104628"/>
                </a:lnTo>
                <a:lnTo>
                  <a:pt x="1085602" y="104628"/>
                </a:lnTo>
                <a:lnTo>
                  <a:pt x="1118235" y="85578"/>
                </a:lnTo>
                <a:lnTo>
                  <a:pt x="1085602" y="66528"/>
                </a:lnTo>
                <a:close/>
              </a:path>
              <a:path w="1118235" h="3117850">
                <a:moveTo>
                  <a:pt x="1070737" y="69068"/>
                </a:moveTo>
                <a:lnTo>
                  <a:pt x="1042434" y="85578"/>
                </a:lnTo>
                <a:lnTo>
                  <a:pt x="1070737" y="102088"/>
                </a:lnTo>
                <a:lnTo>
                  <a:pt x="1070737" y="69068"/>
                </a:lnTo>
                <a:close/>
              </a:path>
              <a:path w="1118235" h="3117850">
                <a:moveTo>
                  <a:pt x="1080389" y="69068"/>
                </a:moveTo>
                <a:lnTo>
                  <a:pt x="1070737" y="69068"/>
                </a:lnTo>
                <a:lnTo>
                  <a:pt x="1070737" y="102088"/>
                </a:lnTo>
                <a:lnTo>
                  <a:pt x="1080389" y="102088"/>
                </a:lnTo>
                <a:lnTo>
                  <a:pt x="1080389" y="69068"/>
                </a:lnTo>
                <a:close/>
              </a:path>
              <a:path w="1118235" h="3117850">
                <a:moveTo>
                  <a:pt x="968545" y="0"/>
                </a:moveTo>
                <a:lnTo>
                  <a:pt x="961231" y="488"/>
                </a:lnTo>
                <a:lnTo>
                  <a:pt x="954631" y="3643"/>
                </a:lnTo>
                <a:lnTo>
                  <a:pt x="949579" y="9251"/>
                </a:lnTo>
                <a:lnTo>
                  <a:pt x="947185" y="16446"/>
                </a:lnTo>
                <a:lnTo>
                  <a:pt x="947674" y="23760"/>
                </a:lnTo>
                <a:lnTo>
                  <a:pt x="950829" y="30360"/>
                </a:lnTo>
                <a:lnTo>
                  <a:pt x="956437" y="35413"/>
                </a:lnTo>
                <a:lnTo>
                  <a:pt x="1042434" y="85578"/>
                </a:lnTo>
                <a:lnTo>
                  <a:pt x="1070737" y="69068"/>
                </a:lnTo>
                <a:lnTo>
                  <a:pt x="1080389" y="69068"/>
                </a:lnTo>
                <a:lnTo>
                  <a:pt x="1080389" y="66528"/>
                </a:lnTo>
                <a:lnTo>
                  <a:pt x="1085602" y="66528"/>
                </a:lnTo>
                <a:lnTo>
                  <a:pt x="975741" y="2393"/>
                </a:lnTo>
                <a:lnTo>
                  <a:pt x="9685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4455921" y="4390085"/>
            <a:ext cx="1473835" cy="2364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201295">
              <a:lnSpc>
                <a:spcPct val="100000"/>
              </a:lnSpc>
              <a:spcBef>
                <a:spcPts val="100"/>
              </a:spcBef>
            </a:pPr>
            <a:r>
              <a:rPr dirty="0" baseline="3472" sz="3600" spc="-7" b="1">
                <a:solidFill>
                  <a:srgbClr val="FFFF00"/>
                </a:solidFill>
                <a:latin typeface="Times New Roman"/>
                <a:cs typeface="Times New Roman"/>
              </a:rPr>
              <a:t>L6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计算</a:t>
            </a:r>
            <a:r>
              <a:rPr dirty="0" sz="2400" b="1">
                <a:solidFill>
                  <a:srgbClr val="F8F8F8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marL="809625">
              <a:lnSpc>
                <a:spcPts val="2800"/>
              </a:lnSpc>
              <a:spcBef>
                <a:spcPts val="1750"/>
              </a:spcBef>
            </a:pPr>
            <a:r>
              <a:rPr dirty="0" sz="2400" spc="-5" b="1">
                <a:solidFill>
                  <a:srgbClr val="F8F8F8"/>
                </a:solidFill>
                <a:latin typeface="Times New Roman"/>
                <a:cs typeface="Times New Roman"/>
              </a:rPr>
              <a:t>e</a:t>
            </a:r>
            <a:r>
              <a:rPr dirty="0" baseline="-15625" sz="2400" spc="-7" b="1">
                <a:solidFill>
                  <a:srgbClr val="F8F8F8"/>
                </a:solidFill>
                <a:latin typeface="Times New Roman"/>
                <a:cs typeface="Times New Roman"/>
              </a:rPr>
              <a:t>r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  <a:p>
            <a:pPr algn="ctr" marR="182880">
              <a:lnSpc>
                <a:spcPts val="2800"/>
              </a:lnSpc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非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833119">
              <a:lnSpc>
                <a:spcPct val="100000"/>
              </a:lnSpc>
              <a:spcBef>
                <a:spcPts val="60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S1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50">
              <a:latin typeface="Times New Roman"/>
              <a:cs typeface="Times New Roman"/>
            </a:endParaRPr>
          </a:p>
          <a:p>
            <a:pPr marL="150495">
              <a:lnSpc>
                <a:spcPct val="100000"/>
              </a:lnSpc>
            </a:pPr>
            <a:r>
              <a:rPr dirty="0" baseline="27777" sz="3600" spc="-7" b="1">
                <a:solidFill>
                  <a:srgbClr val="FFFF00"/>
                </a:solidFill>
                <a:latin typeface="Times New Roman"/>
                <a:cs typeface="Times New Roman"/>
              </a:rPr>
              <a:t>L5</a:t>
            </a:r>
            <a:r>
              <a:rPr dirty="0" baseline="27777" sz="3600" spc="-262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计算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t3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62" name="object 62"/>
          <p:cNvSpPr txBox="1"/>
          <p:nvPr/>
        </p:nvSpPr>
        <p:spPr>
          <a:xfrm>
            <a:off x="5937250" y="5821476"/>
            <a:ext cx="380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L7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854190" y="3821429"/>
            <a:ext cx="998855" cy="1351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24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=</a:t>
            </a:r>
            <a:r>
              <a:rPr dirty="0" u="heavy" sz="2400" spc="-1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341630">
              <a:lnSpc>
                <a:spcPct val="100000"/>
              </a:lnSpc>
              <a:spcBef>
                <a:spcPts val="25"/>
              </a:spcBef>
            </a:pP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L8</a:t>
            </a:r>
            <a:endParaRPr sz="2400">
              <a:latin typeface="Times New Roman"/>
              <a:cs typeface="Times New Roman"/>
            </a:endParaRPr>
          </a:p>
          <a:p>
            <a:pPr marL="84455">
              <a:lnSpc>
                <a:spcPct val="100000"/>
              </a:lnSpc>
              <a:spcBef>
                <a:spcPts val="177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计算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426957" y="2284933"/>
            <a:ext cx="38036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00"/>
                </a:solidFill>
                <a:latin typeface="Times New Roman"/>
                <a:cs typeface="Times New Roman"/>
              </a:rPr>
              <a:t>L9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16172" y="162560"/>
            <a:ext cx="248285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423153" y="143382"/>
            <a:ext cx="249936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075938" y="480822"/>
            <a:ext cx="2542540" cy="5504815"/>
          </a:xfrm>
          <a:custGeom>
            <a:avLst/>
            <a:gdLst/>
            <a:ahLst/>
            <a:cxnLst/>
            <a:rect l="l" t="t" r="r" b="b"/>
            <a:pathLst>
              <a:path w="2542540" h="5504815">
                <a:moveTo>
                  <a:pt x="0" y="5504688"/>
                </a:moveTo>
                <a:lnTo>
                  <a:pt x="2542032" y="5504688"/>
                </a:lnTo>
                <a:lnTo>
                  <a:pt x="2542032" y="0"/>
                </a:lnTo>
                <a:lnTo>
                  <a:pt x="0" y="0"/>
                </a:lnTo>
                <a:lnTo>
                  <a:pt x="0" y="550468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075938" y="1014222"/>
            <a:ext cx="2542540" cy="10795"/>
          </a:xfrm>
          <a:custGeom>
            <a:avLst/>
            <a:gdLst/>
            <a:ahLst/>
            <a:cxnLst/>
            <a:rect l="l" t="t" r="r" b="b"/>
            <a:pathLst>
              <a:path w="2542540" h="10794">
                <a:moveTo>
                  <a:pt x="0" y="0"/>
                </a:moveTo>
                <a:lnTo>
                  <a:pt x="2542032" y="10667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075938" y="1623822"/>
            <a:ext cx="2542540" cy="0"/>
          </a:xfrm>
          <a:custGeom>
            <a:avLst/>
            <a:gdLst/>
            <a:ahLst/>
            <a:cxnLst/>
            <a:rect l="l" t="t" r="r" b="b"/>
            <a:pathLst>
              <a:path w="2542540" h="0">
                <a:moveTo>
                  <a:pt x="0" y="0"/>
                </a:moveTo>
                <a:lnTo>
                  <a:pt x="2542032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075938" y="2213610"/>
            <a:ext cx="2542540" cy="0"/>
          </a:xfrm>
          <a:custGeom>
            <a:avLst/>
            <a:gdLst/>
            <a:ahLst/>
            <a:cxnLst/>
            <a:rect l="l" t="t" r="r" b="b"/>
            <a:pathLst>
              <a:path w="2542540" h="0">
                <a:moveTo>
                  <a:pt x="0" y="0"/>
                </a:moveTo>
                <a:lnTo>
                  <a:pt x="2542032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075938" y="3775709"/>
            <a:ext cx="2542540" cy="13970"/>
          </a:xfrm>
          <a:custGeom>
            <a:avLst/>
            <a:gdLst/>
            <a:ahLst/>
            <a:cxnLst/>
            <a:rect l="l" t="t" r="r" b="b"/>
            <a:pathLst>
              <a:path w="2542540" h="13970">
                <a:moveTo>
                  <a:pt x="0" y="0"/>
                </a:moveTo>
                <a:lnTo>
                  <a:pt x="2542032" y="13715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075938" y="4354829"/>
            <a:ext cx="2542540" cy="12700"/>
          </a:xfrm>
          <a:custGeom>
            <a:avLst/>
            <a:gdLst/>
            <a:ahLst/>
            <a:cxnLst/>
            <a:rect l="l" t="t" r="r" b="b"/>
            <a:pathLst>
              <a:path w="2542540" h="12700">
                <a:moveTo>
                  <a:pt x="0" y="12192"/>
                </a:moveTo>
                <a:lnTo>
                  <a:pt x="2542032" y="0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075938" y="4880609"/>
            <a:ext cx="2542540" cy="41275"/>
          </a:xfrm>
          <a:custGeom>
            <a:avLst/>
            <a:gdLst/>
            <a:ahLst/>
            <a:cxnLst/>
            <a:rect l="l" t="t" r="r" b="b"/>
            <a:pathLst>
              <a:path w="2542540" h="41275">
                <a:moveTo>
                  <a:pt x="0" y="0"/>
                </a:moveTo>
                <a:lnTo>
                  <a:pt x="2542032" y="4114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67512" y="510540"/>
          <a:ext cx="2631440" cy="5678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0810"/>
                <a:gridCol w="1172844"/>
              </a:tblGrid>
              <a:tr h="519684">
                <a:tc gridSpan="2">
                  <a:txBody>
                    <a:bodyPr/>
                    <a:lstStyle/>
                    <a:p>
                      <a:pPr marL="86995">
                        <a:lnSpc>
                          <a:spcPts val="2920"/>
                        </a:lnSpc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e1.code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52627">
                <a:tc gridSpan="2">
                  <a:txBody>
                    <a:bodyPr/>
                    <a:lstStyle/>
                    <a:p>
                      <a:pPr marL="90170">
                        <a:lnSpc>
                          <a:spcPts val="3030"/>
                        </a:lnSpc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e2.code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452372">
                <a:tc>
                  <a:txBody>
                    <a:bodyPr/>
                    <a:lstStyle/>
                    <a:p>
                      <a:pPr marL="147955">
                        <a:lnSpc>
                          <a:spcPts val="3260"/>
                        </a:lnSpc>
                        <a:spcBef>
                          <a:spcPts val="450"/>
                        </a:spcBef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测</a:t>
                      </a: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e2</a:t>
                      </a:r>
                      <a:r>
                        <a:rPr dirty="0" sz="2800" spc="-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值</a:t>
                      </a:r>
                      <a:endParaRPr sz="2800">
                        <a:latin typeface="宋体"/>
                        <a:cs typeface="宋体"/>
                      </a:endParaRPr>
                    </a:p>
                    <a:p>
                      <a:pPr marL="147955">
                        <a:lnSpc>
                          <a:spcPts val="3175"/>
                        </a:lnSpc>
                        <a:tabLst>
                          <a:tab pos="1189355" algn="l"/>
                        </a:tabLst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spc="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dirty="0" baseline="-14550" sz="3150" spc="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baseline="-14550" sz="3150" spc="27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	,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147955">
                        <a:lnSpc>
                          <a:spcPts val="3275"/>
                        </a:lnSpc>
                        <a:tabLst>
                          <a:tab pos="1172845" algn="l"/>
                        </a:tabLst>
                      </a:pPr>
                      <a:r>
                        <a:rPr dirty="0" sz="2800" spc="-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8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spc="1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dirty="0" baseline="-14550" sz="3150" spc="1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dirty="0" baseline="-14550" sz="3150" spc="254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spc="-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,	,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  <a:p>
                      <a:pPr marL="321310">
                        <a:lnSpc>
                          <a:spcPts val="3275"/>
                        </a:lnSpc>
                        <a:spcBef>
                          <a:spcPts val="5"/>
                        </a:spcBef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800" spc="-9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L3)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04800">
                        <a:lnSpc>
                          <a:spcPts val="3275"/>
                        </a:lnSpc>
                      </a:pPr>
                      <a:r>
                        <a:rPr dirty="0" sz="2800" spc="-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800" spc="-9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spc="-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L9)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32815">
                <a:tc gridSpan="2">
                  <a:txBody>
                    <a:bodyPr/>
                    <a:lstStyle/>
                    <a:p>
                      <a:pPr marL="130175">
                        <a:lnSpc>
                          <a:spcPts val="3025"/>
                        </a:lnSpc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e3.code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51104">
                <a:tc>
                  <a:txBody>
                    <a:bodyPr/>
                    <a:lstStyle/>
                    <a:p>
                      <a:pPr marL="130175">
                        <a:lnSpc>
                          <a:spcPts val="2810"/>
                        </a:lnSpc>
                        <a:tabLst>
                          <a:tab pos="990600" algn="l"/>
                        </a:tabLst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dirty="0" sz="2800" spc="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	,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2810"/>
                        </a:lnSpc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8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L1)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27481">
                <a:tc gridSpan="2">
                  <a:txBody>
                    <a:bodyPr/>
                    <a:lstStyle/>
                    <a:p>
                      <a:pPr marL="156845">
                        <a:lnSpc>
                          <a:spcPts val="2935"/>
                        </a:lnSpc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t1.code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40257">
                <a:tc gridSpan="2">
                  <a:txBody>
                    <a:bodyPr/>
                    <a:lstStyle/>
                    <a:p>
                      <a:pPr marL="130175">
                        <a:lnSpc>
                          <a:spcPts val="2935"/>
                        </a:lnSpc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t2.code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60832">
                <a:tc gridSpan="2">
                  <a:txBody>
                    <a:bodyPr/>
                    <a:lstStyle/>
                    <a:p>
                      <a:pPr marL="156845">
                        <a:lnSpc>
                          <a:spcPts val="3315"/>
                        </a:lnSpc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测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t2</a:t>
                      </a:r>
                      <a:r>
                        <a:rPr dirty="0" sz="2800" spc="-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值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03148">
                <a:tc>
                  <a:txBody>
                    <a:bodyPr/>
                    <a:lstStyle/>
                    <a:p>
                      <a:pPr marL="86995">
                        <a:lnSpc>
                          <a:spcPts val="2700"/>
                        </a:lnSpc>
                        <a:tabLst>
                          <a:tab pos="1129030" algn="l"/>
                        </a:tabLst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spc="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dirty="0" baseline="-14550" sz="3150" spc="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baseline="-14550" sz="3150" spc="27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	,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86995">
                        <a:lnSpc>
                          <a:spcPts val="3110"/>
                        </a:lnSpc>
                        <a:tabLst>
                          <a:tab pos="1112520" algn="l"/>
                        </a:tabLst>
                      </a:pPr>
                      <a:r>
                        <a:rPr dirty="0" sz="2800" spc="-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8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spc="1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dirty="0" baseline="-14550" sz="3150" spc="1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dirty="0" baseline="-14550" sz="3150" spc="254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spc="-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,	,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985">
                        <a:lnSpc>
                          <a:spcPts val="2700"/>
                        </a:lnSpc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800" spc="-9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L6)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244475">
                        <a:lnSpc>
                          <a:spcPts val="3110"/>
                        </a:lnSpc>
                      </a:pPr>
                      <a:r>
                        <a:rPr dirty="0" sz="2800" spc="-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800" spc="-9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spc="-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L8)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5606268" y="926973"/>
            <a:ext cx="7359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L4)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24528" y="1588465"/>
            <a:ext cx="11328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baseline="-14550" sz="3150" spc="-7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.code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46550" y="2292857"/>
            <a:ext cx="10655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测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baseline="-14550" sz="3150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33850" y="2693365"/>
            <a:ext cx="12039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076325" algn="l"/>
              </a:tabLst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r>
              <a:rPr dirty="0" sz="280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800" spc="10" b="1">
                <a:solidFill>
                  <a:srgbClr val="00FFFF"/>
                </a:solidFill>
                <a:latin typeface="Times New Roman"/>
                <a:cs typeface="Times New Roman"/>
              </a:rPr>
              <a:t>j</a:t>
            </a:r>
            <a:r>
              <a:rPr dirty="0" baseline="-14550" sz="3150" spc="15" b="1">
                <a:solidFill>
                  <a:srgbClr val="00FFFF"/>
                </a:solidFill>
                <a:latin typeface="Times New Roman"/>
                <a:cs typeface="Times New Roman"/>
              </a:rPr>
              <a:t>F</a:t>
            </a:r>
            <a:r>
              <a:rPr dirty="0" baseline="-14550" sz="3150" spc="262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,	,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30900" y="2693365"/>
            <a:ext cx="7366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,</a:t>
            </a:r>
            <a:r>
              <a:rPr dirty="0" sz="2800" spc="-8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L7)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71950" y="3099307"/>
            <a:ext cx="11804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46605" y="3711016"/>
            <a:ext cx="7346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,</a:t>
            </a:r>
            <a:r>
              <a:rPr dirty="0" sz="2800" spc="-8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L5)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0614" y="959307"/>
            <a:ext cx="5588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L1: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3967" y="2904870"/>
            <a:ext cx="5581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L2: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1892" y="3703142"/>
            <a:ext cx="5588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L3: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1892" y="4258436"/>
            <a:ext cx="5581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L4: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3452876" y="521284"/>
            <a:ext cx="1861820" cy="8572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275"/>
              </a:lnSpc>
              <a:spcBef>
                <a:spcPts val="95"/>
              </a:spcBef>
              <a:tabLst>
                <a:tab pos="772795" algn="l"/>
              </a:tabLst>
            </a:pPr>
            <a:r>
              <a:rPr dirty="0" baseline="2976" sz="4200" spc="-7">
                <a:solidFill>
                  <a:srgbClr val="00FFFF"/>
                </a:solidFill>
                <a:latin typeface="Times New Roman"/>
                <a:cs typeface="Times New Roman"/>
              </a:rPr>
              <a:t>L5:</a:t>
            </a:r>
            <a:r>
              <a:rPr dirty="0" baseline="2976" sz="4200" spc="-7">
                <a:solidFill>
                  <a:srgbClr val="00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2800" spc="-15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dirty="0" sz="280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  <a:p>
            <a:pPr marL="772795">
              <a:lnSpc>
                <a:spcPts val="3275"/>
              </a:lnSpc>
              <a:tabLst>
                <a:tab pos="1633220" algn="l"/>
              </a:tabLst>
            </a:pP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80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,	,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52876" y="1570990"/>
            <a:ext cx="5581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L6: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66644" y="4305427"/>
            <a:ext cx="7359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,</a:t>
            </a:r>
            <a:r>
              <a:rPr dirty="0" sz="2800" spc="-85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L2)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069841" y="5441441"/>
            <a:ext cx="2567940" cy="33655"/>
          </a:xfrm>
          <a:custGeom>
            <a:avLst/>
            <a:gdLst/>
            <a:ahLst/>
            <a:cxnLst/>
            <a:rect l="l" t="t" r="r" b="b"/>
            <a:pathLst>
              <a:path w="2567940" h="33654">
                <a:moveTo>
                  <a:pt x="0" y="0"/>
                </a:moveTo>
                <a:lnTo>
                  <a:pt x="2567940" y="3352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314700" y="3542937"/>
            <a:ext cx="2115820" cy="1735455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42545">
              <a:lnSpc>
                <a:spcPct val="100000"/>
              </a:lnSpc>
              <a:spcBef>
                <a:spcPts val="1420"/>
              </a:spcBef>
              <a:tabLst>
                <a:tab pos="850900" algn="l"/>
                <a:tab pos="1710689" algn="l"/>
              </a:tabLst>
            </a:pPr>
            <a:r>
              <a:rPr dirty="0" baseline="-9920" sz="4200" spc="-7" b="1">
                <a:solidFill>
                  <a:srgbClr val="00FFFF"/>
                </a:solidFill>
                <a:latin typeface="Times New Roman"/>
                <a:cs typeface="Times New Roman"/>
              </a:rPr>
              <a:t>L7:	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r>
              <a:rPr dirty="0" sz="280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j</a:t>
            </a:r>
            <a:r>
              <a:rPr dirty="0" sz="2800" spc="1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,	,</a:t>
            </a:r>
            <a:endParaRPr sz="2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320"/>
              </a:spcBef>
              <a:tabLst>
                <a:tab pos="871219" algn="l"/>
                <a:tab pos="1731645" algn="l"/>
              </a:tabLst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L8:	(</a:t>
            </a:r>
            <a:r>
              <a:rPr dirty="0" sz="280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j</a:t>
            </a:r>
            <a:r>
              <a:rPr dirty="0" sz="2800" spc="15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,	,</a:t>
            </a:r>
            <a:endParaRPr sz="2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40"/>
              </a:spcBef>
              <a:tabLst>
                <a:tab pos="922019" algn="l"/>
              </a:tabLst>
            </a:pPr>
            <a:r>
              <a:rPr dirty="0" baseline="-4960" sz="4200" spc="-7" b="1">
                <a:solidFill>
                  <a:srgbClr val="00FFFF"/>
                </a:solidFill>
                <a:latin typeface="Times New Roman"/>
                <a:cs typeface="Times New Roman"/>
              </a:rPr>
              <a:t>L9: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S2.code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33247" y="26923"/>
            <a:ext cx="53308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  <a:tab pos="4292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825744" y="26923"/>
            <a:ext cx="28981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383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646164" y="434340"/>
            <a:ext cx="2498090" cy="2094230"/>
          </a:xfrm>
          <a:custGeom>
            <a:avLst/>
            <a:gdLst/>
            <a:ahLst/>
            <a:cxnLst/>
            <a:rect l="l" t="t" r="r" b="b"/>
            <a:pathLst>
              <a:path w="2498090" h="2094230">
                <a:moveTo>
                  <a:pt x="0" y="2093976"/>
                </a:moveTo>
                <a:lnTo>
                  <a:pt x="2497835" y="2093976"/>
                </a:lnTo>
                <a:lnTo>
                  <a:pt x="2497835" y="0"/>
                </a:lnTo>
                <a:lnTo>
                  <a:pt x="0" y="0"/>
                </a:lnTo>
                <a:lnTo>
                  <a:pt x="0" y="2093976"/>
                </a:lnTo>
                <a:close/>
              </a:path>
            </a:pathLst>
          </a:custGeom>
          <a:solidFill>
            <a:srgbClr val="1622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6854697" y="585596"/>
            <a:ext cx="174180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00FFFF"/>
                </a:solidFill>
                <a:latin typeface="Times New Roman"/>
                <a:cs typeface="Times New Roman"/>
              </a:rPr>
              <a:t>for </a:t>
            </a:r>
            <a:r>
              <a:rPr dirty="0" sz="2000" b="1">
                <a:solidFill>
                  <a:srgbClr val="F8F8F8"/>
                </a:solidFill>
                <a:latin typeface="Times New Roman"/>
                <a:cs typeface="Times New Roman"/>
              </a:rPr>
              <a:t>( e1; e2;</a:t>
            </a:r>
            <a:r>
              <a:rPr dirty="0" sz="2000" spc="-145" b="1">
                <a:solidFill>
                  <a:srgbClr val="F8F8F8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8F8F8"/>
                </a:solidFill>
                <a:latin typeface="Times New Roman"/>
                <a:cs typeface="Times New Roman"/>
              </a:rPr>
              <a:t>e3;)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7234173" y="1080896"/>
            <a:ext cx="165544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8F8F8"/>
                </a:solidFill>
                <a:latin typeface="Times New Roman"/>
                <a:cs typeface="Times New Roman"/>
              </a:rPr>
              <a:t>for ( t1; t2;</a:t>
            </a:r>
            <a:r>
              <a:rPr dirty="0" sz="2000" spc="-165" b="1">
                <a:solidFill>
                  <a:srgbClr val="F8F8F8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8F8F8"/>
                </a:solidFill>
                <a:latin typeface="Times New Roman"/>
                <a:cs typeface="Times New Roman"/>
              </a:rPr>
              <a:t>t3;)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589773" y="1575892"/>
            <a:ext cx="127762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927100" algn="l"/>
              </a:tabLst>
            </a:pPr>
            <a:r>
              <a:rPr dirty="0" sz="2000" b="1">
                <a:solidFill>
                  <a:srgbClr val="F8F8F8"/>
                </a:solidFill>
                <a:latin typeface="Times New Roman"/>
                <a:cs typeface="Times New Roman"/>
              </a:rPr>
              <a:t>if  (</a:t>
            </a:r>
            <a:r>
              <a:rPr dirty="0" sz="2000" spc="-5" b="1">
                <a:solidFill>
                  <a:srgbClr val="F8F8F8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F8F8F8"/>
                </a:solidFill>
                <a:latin typeface="Times New Roman"/>
                <a:cs typeface="Times New Roman"/>
              </a:rPr>
              <a:t>e</a:t>
            </a:r>
            <a:r>
              <a:rPr dirty="0" baseline="-17094" sz="1950" spc="7" b="1">
                <a:solidFill>
                  <a:srgbClr val="F8F8F8"/>
                </a:solidFill>
                <a:latin typeface="Times New Roman"/>
                <a:cs typeface="Times New Roman"/>
              </a:rPr>
              <a:t>r</a:t>
            </a:r>
            <a:r>
              <a:rPr dirty="0" baseline="-17094" sz="1950" spc="202" b="1">
                <a:solidFill>
                  <a:srgbClr val="F8F8F8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8F8F8"/>
                </a:solidFill>
                <a:latin typeface="Times New Roman"/>
                <a:cs typeface="Times New Roman"/>
              </a:rPr>
              <a:t>)	</a:t>
            </a:r>
            <a:r>
              <a:rPr dirty="0" sz="2000" spc="5" b="1">
                <a:solidFill>
                  <a:srgbClr val="F8F8F8"/>
                </a:solidFill>
                <a:latin typeface="Times New Roman"/>
                <a:cs typeface="Times New Roman"/>
              </a:rPr>
              <a:t>S</a:t>
            </a:r>
            <a:r>
              <a:rPr dirty="0" baseline="-17094" sz="1950" spc="7" b="1">
                <a:solidFill>
                  <a:srgbClr val="F8F8F8"/>
                </a:solidFill>
                <a:latin typeface="Times New Roman"/>
                <a:cs typeface="Times New Roman"/>
              </a:rPr>
              <a:t>1</a:t>
            </a:r>
            <a:r>
              <a:rPr dirty="0" sz="2000" spc="5" b="1">
                <a:solidFill>
                  <a:srgbClr val="F8F8F8"/>
                </a:solidFill>
                <a:latin typeface="Times New Roman"/>
                <a:cs typeface="Times New Roman"/>
              </a:rPr>
              <a:t>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589773" y="2071877"/>
            <a:ext cx="38862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000" spc="5" b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baseline="-17094" sz="1950" spc="7" b="1">
                <a:solidFill>
                  <a:srgbClr val="00FFFF"/>
                </a:solidFill>
                <a:latin typeface="Times New Roman"/>
                <a:cs typeface="Times New Roman"/>
              </a:rPr>
              <a:t>2</a:t>
            </a:r>
            <a:r>
              <a:rPr dirty="0" sz="2000" spc="5" b="1">
                <a:solidFill>
                  <a:srgbClr val="00FFFF"/>
                </a:solidFill>
                <a:latin typeface="Times New Roman"/>
                <a:cs typeface="Times New Roman"/>
              </a:rPr>
              <a:t>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509129" y="782269"/>
            <a:ext cx="80772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98475" algn="l"/>
              </a:tabLst>
            </a:pPr>
            <a:r>
              <a:rPr dirty="0" sz="2000" spc="-10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baseline="2777" sz="3000" spc="-7" b="1">
                <a:solidFill>
                  <a:srgbClr val="FFFF00"/>
                </a:solidFill>
                <a:latin typeface="Times New Roman"/>
                <a:cs typeface="Times New Roman"/>
              </a:rPr>
              <a:t>L2</a:t>
            </a:r>
            <a:endParaRPr baseline="2777" sz="3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520178" y="1265301"/>
            <a:ext cx="117094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42595" algn="l"/>
              </a:tabLst>
            </a:pPr>
            <a:r>
              <a:rPr dirty="0" baseline="1388" sz="3000" spc="-7" b="1">
                <a:solidFill>
                  <a:srgbClr val="FFFF00"/>
                </a:solidFill>
                <a:latin typeface="Times New Roman"/>
                <a:cs typeface="Times New Roman"/>
              </a:rPr>
              <a:t>L3	</a:t>
            </a: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L4</a:t>
            </a:r>
            <a:r>
              <a:rPr dirty="0" sz="2000" spc="38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L5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799578" y="1768297"/>
            <a:ext cx="124206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33450" algn="l"/>
              </a:tabLst>
            </a:pPr>
            <a:r>
              <a:rPr dirty="0" sz="2000" spc="-10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000" spc="-10" b="1">
                <a:solidFill>
                  <a:srgbClr val="FFFF00"/>
                </a:solidFill>
                <a:latin typeface="Times New Roman"/>
                <a:cs typeface="Times New Roman"/>
              </a:rPr>
              <a:t>L7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981825" y="2241931"/>
            <a:ext cx="74930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39420" algn="l"/>
              </a:tabLst>
            </a:pP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8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L9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83908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  <a:tab pos="4292600" algn="l"/>
                <a:tab pos="56959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0241" y="1784731"/>
            <a:ext cx="5231765" cy="3074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25805" algn="l"/>
              </a:tabLst>
            </a:pPr>
            <a:r>
              <a:rPr dirty="0" sz="3200" b="1">
                <a:solidFill>
                  <a:srgbClr val="FFFF66"/>
                </a:solidFill>
                <a:latin typeface="宋体"/>
                <a:cs typeface="宋体"/>
              </a:rPr>
              <a:t>一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.	</a:t>
            </a:r>
            <a:r>
              <a:rPr dirty="0" sz="3200" b="1">
                <a:solidFill>
                  <a:srgbClr val="FFFF66"/>
                </a:solidFill>
                <a:latin typeface="宋体"/>
                <a:cs typeface="宋体"/>
              </a:rPr>
              <a:t>语句标号与拉链返填技术</a:t>
            </a:r>
            <a:endParaRPr sz="3200">
              <a:latin typeface="宋体"/>
              <a:cs typeface="宋体"/>
            </a:endParaRPr>
          </a:p>
          <a:p>
            <a:pPr marL="12700" marR="1229995">
              <a:lnSpc>
                <a:spcPts val="6720"/>
              </a:lnSpc>
              <a:spcBef>
                <a:spcPts val="700"/>
              </a:spcBef>
              <a:tabLst>
                <a:tab pos="725805" algn="l"/>
              </a:tabLst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二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3200" spc="-5" b="1">
                <a:solidFill>
                  <a:srgbClr val="FFFF66"/>
                </a:solidFill>
                <a:latin typeface="宋体"/>
                <a:cs typeface="宋体"/>
              </a:rPr>
              <a:t>条件语句的翻译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三.</a:t>
            </a:r>
            <a:r>
              <a:rPr dirty="0" sz="3200" b="1">
                <a:solidFill>
                  <a:srgbClr val="FFFF66"/>
                </a:solidFill>
                <a:latin typeface="宋体"/>
                <a:cs typeface="宋体"/>
              </a:rPr>
              <a:t>循环语句的翻译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四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多分支语句的翻译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59323" y="4206240"/>
            <a:ext cx="1663064" cy="722630"/>
          </a:xfrm>
          <a:custGeom>
            <a:avLst/>
            <a:gdLst/>
            <a:ahLst/>
            <a:cxnLst/>
            <a:rect l="l" t="t" r="r" b="b"/>
            <a:pathLst>
              <a:path w="1663065" h="722629">
                <a:moveTo>
                  <a:pt x="415543" y="0"/>
                </a:moveTo>
                <a:lnTo>
                  <a:pt x="0" y="361188"/>
                </a:lnTo>
                <a:lnTo>
                  <a:pt x="415543" y="722376"/>
                </a:lnTo>
                <a:lnTo>
                  <a:pt x="415543" y="541782"/>
                </a:lnTo>
                <a:lnTo>
                  <a:pt x="1662683" y="541782"/>
                </a:lnTo>
                <a:lnTo>
                  <a:pt x="1662683" y="180594"/>
                </a:lnTo>
                <a:lnTo>
                  <a:pt x="415543" y="180594"/>
                </a:lnTo>
                <a:lnTo>
                  <a:pt x="415543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59323" y="4206240"/>
            <a:ext cx="1663064" cy="722630"/>
          </a:xfrm>
          <a:custGeom>
            <a:avLst/>
            <a:gdLst/>
            <a:ahLst/>
            <a:cxnLst/>
            <a:rect l="l" t="t" r="r" b="b"/>
            <a:pathLst>
              <a:path w="1663065" h="722629">
                <a:moveTo>
                  <a:pt x="0" y="361188"/>
                </a:moveTo>
                <a:lnTo>
                  <a:pt x="415543" y="0"/>
                </a:lnTo>
                <a:lnTo>
                  <a:pt x="415543" y="180594"/>
                </a:lnTo>
                <a:lnTo>
                  <a:pt x="1662683" y="180594"/>
                </a:lnTo>
                <a:lnTo>
                  <a:pt x="1662683" y="541782"/>
                </a:lnTo>
                <a:lnTo>
                  <a:pt x="415543" y="541782"/>
                </a:lnTo>
                <a:lnTo>
                  <a:pt x="415543" y="722376"/>
                </a:lnTo>
                <a:lnTo>
                  <a:pt x="0" y="361188"/>
                </a:lnTo>
                <a:close/>
              </a:path>
            </a:pathLst>
          </a:custGeom>
          <a:ln w="5715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755394" y="737997"/>
            <a:ext cx="536765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82065" algn="l"/>
              </a:tabLst>
            </a:pPr>
            <a:r>
              <a:rPr dirty="0" sz="4000" spc="-5">
                <a:latin typeface="Times New Roman"/>
                <a:cs typeface="Times New Roman"/>
              </a:rPr>
              <a:t>6.</a:t>
            </a:r>
            <a:r>
              <a:rPr dirty="0" sz="4000">
                <a:latin typeface="Times New Roman"/>
                <a:cs typeface="Times New Roman"/>
              </a:rPr>
              <a:t>6</a:t>
            </a:r>
            <a:r>
              <a:rPr dirty="0" sz="4000" spc="-5">
                <a:latin typeface="Times New Roman"/>
                <a:cs typeface="Times New Roman"/>
              </a:rPr>
              <a:t>.3</a:t>
            </a:r>
            <a:r>
              <a:rPr dirty="0" sz="4000">
                <a:latin typeface="Times New Roman"/>
                <a:cs typeface="Times New Roman"/>
              </a:rPr>
              <a:t>	</a:t>
            </a:r>
            <a:r>
              <a:rPr dirty="0" sz="4000" spc="-10"/>
              <a:t>控制流类语句翻译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13275" y="26923"/>
            <a:ext cx="411035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6050" algn="l"/>
              </a:tabLst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3247" y="26923"/>
            <a:ext cx="4117340" cy="1155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Times New Roman"/>
              <a:cs typeface="Times New Roman"/>
            </a:endParaRPr>
          </a:p>
          <a:p>
            <a:pPr marL="100965">
              <a:lnSpc>
                <a:spcPct val="100000"/>
              </a:lnSpc>
              <a:tabLst>
                <a:tab pos="814069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四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多分支语句的翻译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874" y="1486661"/>
            <a:ext cx="7409688" cy="5087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874" y="1486661"/>
            <a:ext cx="7409815" cy="5087620"/>
          </a:xfrm>
          <a:custGeom>
            <a:avLst/>
            <a:gdLst/>
            <a:ahLst/>
            <a:cxnLst/>
            <a:rect l="l" t="t" r="r" b="b"/>
            <a:pathLst>
              <a:path w="7409815" h="5087620">
                <a:moveTo>
                  <a:pt x="0" y="5087112"/>
                </a:moveTo>
                <a:lnTo>
                  <a:pt x="7409688" y="5087112"/>
                </a:lnTo>
                <a:lnTo>
                  <a:pt x="7409688" y="0"/>
                </a:lnTo>
                <a:lnTo>
                  <a:pt x="0" y="0"/>
                </a:lnTo>
                <a:lnTo>
                  <a:pt x="0" y="508711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279016" y="1495806"/>
            <a:ext cx="282702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260600" algn="l"/>
              </a:tabLst>
            </a:pPr>
            <a:r>
              <a:rPr dirty="0" sz="3200" b="1">
                <a:latin typeface="Times New Roman"/>
                <a:cs typeface="Times New Roman"/>
              </a:rPr>
              <a:t>A</a:t>
            </a:r>
            <a:r>
              <a:rPr dirty="0" sz="3200" spc="-17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Wingdings 3"/>
                <a:cs typeface="Wingdings 3"/>
              </a:rPr>
              <a:t></a:t>
            </a:r>
            <a:r>
              <a:rPr dirty="0" sz="320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switch	(e</a:t>
            </a:r>
            <a:r>
              <a:rPr dirty="0" sz="3200" spc="-8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224528" y="1849271"/>
            <a:ext cx="2601595" cy="1574800"/>
          </a:xfrm>
          <a:prstGeom prst="rect">
            <a:avLst/>
          </a:prstGeom>
        </p:spPr>
        <p:txBody>
          <a:bodyPr wrap="square" lIns="0" tIns="299720" rIns="0" bIns="0" rtlCol="0" vert="horz">
            <a:spAutoFit/>
          </a:bodyPr>
          <a:lstStyle/>
          <a:p>
            <a:pPr marL="97155">
              <a:lnSpc>
                <a:spcPct val="100000"/>
              </a:lnSpc>
              <a:spcBef>
                <a:spcPts val="2360"/>
              </a:spcBef>
              <a:tabLst>
                <a:tab pos="638175" algn="l"/>
                <a:tab pos="1302385" algn="l"/>
              </a:tabLst>
            </a:pPr>
            <a:r>
              <a:rPr dirty="0" sz="3200" b="1">
                <a:latin typeface="Times New Roman"/>
                <a:cs typeface="Times New Roman"/>
              </a:rPr>
              <a:t>:	</a:t>
            </a:r>
            <a:r>
              <a:rPr dirty="0" sz="3200" spc="5" b="1">
                <a:latin typeface="Times New Roman"/>
                <a:cs typeface="Times New Roman"/>
              </a:rPr>
              <a:t>S</a:t>
            </a:r>
            <a:r>
              <a:rPr dirty="0" baseline="-15873" sz="3150" spc="7" b="1">
                <a:latin typeface="Times New Roman"/>
                <a:cs typeface="Times New Roman"/>
              </a:rPr>
              <a:t>1	</a:t>
            </a:r>
            <a:r>
              <a:rPr dirty="0" sz="3200" spc="-10" b="1">
                <a:latin typeface="Times New Roman"/>
                <a:cs typeface="Times New Roman"/>
              </a:rPr>
              <a:t>break</a:t>
            </a:r>
            <a:r>
              <a:rPr dirty="0" sz="3200" spc="-7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;</a:t>
            </a:r>
            <a:endParaRPr sz="3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255"/>
              </a:spcBef>
              <a:tabLst>
                <a:tab pos="579120" algn="l"/>
                <a:tab pos="1244600" algn="l"/>
              </a:tabLst>
            </a:pPr>
            <a:r>
              <a:rPr dirty="0" sz="3200" b="1">
                <a:latin typeface="Times New Roman"/>
                <a:cs typeface="Times New Roman"/>
              </a:rPr>
              <a:t>:	S</a:t>
            </a:r>
            <a:r>
              <a:rPr dirty="0" baseline="-15873" sz="3150" b="1">
                <a:latin typeface="Times New Roman"/>
                <a:cs typeface="Times New Roman"/>
              </a:rPr>
              <a:t>2	</a:t>
            </a:r>
            <a:r>
              <a:rPr dirty="0" sz="3200" spc="-10" b="1">
                <a:latin typeface="Times New Roman"/>
                <a:cs typeface="Times New Roman"/>
              </a:rPr>
              <a:t>break</a:t>
            </a:r>
            <a:r>
              <a:rPr dirty="0" sz="3200" spc="-7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;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39767" y="4471161"/>
            <a:ext cx="255968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80390" algn="l"/>
                <a:tab pos="1259840" algn="l"/>
              </a:tabLst>
            </a:pPr>
            <a:r>
              <a:rPr dirty="0" sz="3200" b="1">
                <a:latin typeface="Times New Roman"/>
                <a:cs typeface="Times New Roman"/>
              </a:rPr>
              <a:t>:	</a:t>
            </a:r>
            <a:r>
              <a:rPr dirty="0" sz="3200" spc="5" b="1">
                <a:latin typeface="Times New Roman"/>
                <a:cs typeface="Times New Roman"/>
              </a:rPr>
              <a:t>S</a:t>
            </a:r>
            <a:r>
              <a:rPr dirty="0" baseline="-15873" sz="3150" spc="7" b="1">
                <a:latin typeface="Times New Roman"/>
                <a:cs typeface="Times New Roman"/>
              </a:rPr>
              <a:t>n	</a:t>
            </a:r>
            <a:r>
              <a:rPr dirty="0" sz="3200" spc="-10" b="1">
                <a:latin typeface="Times New Roman"/>
                <a:cs typeface="Times New Roman"/>
              </a:rPr>
              <a:t>break</a:t>
            </a:r>
            <a:r>
              <a:rPr dirty="0" sz="3200" spc="-7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;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70505" y="1849271"/>
            <a:ext cx="1949450" cy="39166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43230" marR="193040" indent="-405765">
              <a:lnSpc>
                <a:spcPct val="158800"/>
              </a:lnSpc>
              <a:spcBef>
                <a:spcPts val="100"/>
              </a:spcBef>
              <a:tabLst>
                <a:tab pos="502284" algn="l"/>
                <a:tab pos="1370965" algn="l"/>
                <a:tab pos="1430655" algn="l"/>
              </a:tabLst>
            </a:pPr>
            <a:r>
              <a:rPr dirty="0" sz="3200" b="1">
                <a:latin typeface="Times New Roman"/>
                <a:cs typeface="Times New Roman"/>
              </a:rPr>
              <a:t>{</a:t>
            </a:r>
            <a:r>
              <a:rPr dirty="0" sz="3200" b="1">
                <a:latin typeface="Times New Roman"/>
                <a:cs typeface="Times New Roman"/>
              </a:rPr>
              <a:t>		</a:t>
            </a:r>
            <a:r>
              <a:rPr dirty="0" sz="3200" b="1">
                <a:latin typeface="Times New Roman"/>
                <a:cs typeface="Times New Roman"/>
              </a:rPr>
              <a:t>c</a:t>
            </a:r>
            <a:r>
              <a:rPr dirty="0" sz="3200" spc="5" b="1">
                <a:latin typeface="Times New Roman"/>
                <a:cs typeface="Times New Roman"/>
              </a:rPr>
              <a:t>a</a:t>
            </a:r>
            <a:r>
              <a:rPr dirty="0" sz="3200" b="1">
                <a:latin typeface="Times New Roman"/>
                <a:cs typeface="Times New Roman"/>
              </a:rPr>
              <a:t>se</a:t>
            </a:r>
            <a:r>
              <a:rPr dirty="0" sz="3200" b="1">
                <a:latin typeface="Times New Roman"/>
                <a:cs typeface="Times New Roman"/>
              </a:rPr>
              <a:t>		</a:t>
            </a:r>
            <a:r>
              <a:rPr dirty="0" sz="3200" spc="5" b="1">
                <a:latin typeface="Times New Roman"/>
                <a:cs typeface="Times New Roman"/>
              </a:rPr>
              <a:t>c</a:t>
            </a:r>
            <a:r>
              <a:rPr dirty="0" baseline="-15873" sz="3150" spc="15" b="1">
                <a:latin typeface="Times New Roman"/>
                <a:cs typeface="Times New Roman"/>
              </a:rPr>
              <a:t>1  </a:t>
            </a:r>
            <a:r>
              <a:rPr dirty="0" sz="3200" b="1">
                <a:latin typeface="Times New Roman"/>
                <a:cs typeface="Times New Roman"/>
              </a:rPr>
              <a:t>case	</a:t>
            </a:r>
            <a:r>
              <a:rPr dirty="0" sz="3200" spc="10" b="1">
                <a:latin typeface="Times New Roman"/>
                <a:cs typeface="Times New Roman"/>
              </a:rPr>
              <a:t>c</a:t>
            </a:r>
            <a:r>
              <a:rPr dirty="0" baseline="-15873" sz="3150" spc="15" b="1">
                <a:latin typeface="Times New Roman"/>
                <a:cs typeface="Times New Roman"/>
              </a:rPr>
              <a:t>2</a:t>
            </a:r>
            <a:endParaRPr baseline="-15873" sz="3150">
              <a:latin typeface="Times New Roman"/>
              <a:cs typeface="Times New Roman"/>
            </a:endParaRPr>
          </a:p>
          <a:p>
            <a:pPr marL="443230" marR="43180" indent="304800">
              <a:lnSpc>
                <a:spcPct val="160000"/>
              </a:lnSpc>
              <a:spcBef>
                <a:spcPts val="5"/>
              </a:spcBef>
              <a:tabLst>
                <a:tab pos="1370965" algn="l"/>
              </a:tabLst>
            </a:pPr>
            <a:r>
              <a:rPr dirty="0" sz="3200" b="1">
                <a:latin typeface="Times New Roman"/>
                <a:cs typeface="Times New Roman"/>
              </a:rPr>
              <a:t>……  case	</a:t>
            </a:r>
            <a:r>
              <a:rPr dirty="0" sz="3200" spc="15" b="1">
                <a:latin typeface="Times New Roman"/>
                <a:cs typeface="Times New Roman"/>
              </a:rPr>
              <a:t>c</a:t>
            </a:r>
            <a:r>
              <a:rPr dirty="0" baseline="-15873" sz="3150" spc="22" b="1">
                <a:latin typeface="Times New Roman"/>
                <a:cs typeface="Times New Roman"/>
              </a:rPr>
              <a:t>n  </a:t>
            </a:r>
            <a:r>
              <a:rPr dirty="0" sz="3200" b="1">
                <a:latin typeface="Times New Roman"/>
                <a:cs typeface="Times New Roman"/>
              </a:rPr>
              <a:t>default</a:t>
            </a:r>
            <a:r>
              <a:rPr dirty="0" sz="3200" spc="-114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41731" y="5331053"/>
            <a:ext cx="74295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0416" sz="4800" spc="15" b="1">
                <a:latin typeface="Times New Roman"/>
                <a:cs typeface="Times New Roman"/>
              </a:rPr>
              <a:t>S</a:t>
            </a:r>
            <a:r>
              <a:rPr dirty="0" sz="2100" spc="10" b="1">
                <a:latin typeface="Times New Roman"/>
                <a:cs typeface="Times New Roman"/>
              </a:rPr>
              <a:t>n+1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95905" y="6031788"/>
            <a:ext cx="18605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247" y="26923"/>
            <a:ext cx="34855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05783" y="26923"/>
            <a:ext cx="46183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  <a:tab pos="192341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22114" y="1381505"/>
            <a:ext cx="1336675" cy="360045"/>
          </a:xfrm>
          <a:custGeom>
            <a:avLst/>
            <a:gdLst/>
            <a:ahLst/>
            <a:cxnLst/>
            <a:rect l="l" t="t" r="r" b="b"/>
            <a:pathLst>
              <a:path w="1336675" h="360044">
                <a:moveTo>
                  <a:pt x="0" y="359663"/>
                </a:moveTo>
                <a:lnTo>
                  <a:pt x="1336548" y="359663"/>
                </a:lnTo>
                <a:lnTo>
                  <a:pt x="1336548" y="0"/>
                </a:lnTo>
                <a:lnTo>
                  <a:pt x="0" y="0"/>
                </a:lnTo>
                <a:lnTo>
                  <a:pt x="0" y="359663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936997" y="1389633"/>
            <a:ext cx="90551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计算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16602" y="2276094"/>
            <a:ext cx="1338580" cy="445134"/>
          </a:xfrm>
          <a:custGeom>
            <a:avLst/>
            <a:gdLst/>
            <a:ahLst/>
            <a:cxnLst/>
            <a:rect l="l" t="t" r="r" b="b"/>
            <a:pathLst>
              <a:path w="1338579" h="445135">
                <a:moveTo>
                  <a:pt x="0" y="222503"/>
                </a:moveTo>
                <a:lnTo>
                  <a:pt x="669036" y="0"/>
                </a:lnTo>
                <a:lnTo>
                  <a:pt x="1338072" y="222503"/>
                </a:lnTo>
                <a:lnTo>
                  <a:pt x="669036" y="445007"/>
                </a:lnTo>
                <a:lnTo>
                  <a:pt x="0" y="222503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428488" y="1721357"/>
            <a:ext cx="114300" cy="535305"/>
          </a:xfrm>
          <a:custGeom>
            <a:avLst/>
            <a:gdLst/>
            <a:ahLst/>
            <a:cxnLst/>
            <a:rect l="l" t="t" r="r" b="b"/>
            <a:pathLst>
              <a:path w="114300" h="535305">
                <a:moveTo>
                  <a:pt x="38100" y="344424"/>
                </a:moveTo>
                <a:lnTo>
                  <a:pt x="0" y="344424"/>
                </a:lnTo>
                <a:lnTo>
                  <a:pt x="57150" y="534924"/>
                </a:lnTo>
                <a:lnTo>
                  <a:pt x="108585" y="363474"/>
                </a:lnTo>
                <a:lnTo>
                  <a:pt x="38100" y="363474"/>
                </a:lnTo>
                <a:lnTo>
                  <a:pt x="38100" y="344424"/>
                </a:lnTo>
                <a:close/>
              </a:path>
              <a:path w="114300" h="535305">
                <a:moveTo>
                  <a:pt x="76200" y="0"/>
                </a:moveTo>
                <a:lnTo>
                  <a:pt x="38100" y="0"/>
                </a:lnTo>
                <a:lnTo>
                  <a:pt x="38100" y="363474"/>
                </a:lnTo>
                <a:lnTo>
                  <a:pt x="76200" y="363474"/>
                </a:lnTo>
                <a:lnTo>
                  <a:pt x="76200" y="0"/>
                </a:lnTo>
                <a:close/>
              </a:path>
              <a:path w="114300" h="535305">
                <a:moveTo>
                  <a:pt x="114300" y="344424"/>
                </a:moveTo>
                <a:lnTo>
                  <a:pt x="76200" y="344424"/>
                </a:lnTo>
                <a:lnTo>
                  <a:pt x="76200" y="363474"/>
                </a:lnTo>
                <a:lnTo>
                  <a:pt x="108585" y="363474"/>
                </a:lnTo>
                <a:lnTo>
                  <a:pt x="114300" y="3444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349240" y="634745"/>
            <a:ext cx="114300" cy="713740"/>
          </a:xfrm>
          <a:custGeom>
            <a:avLst/>
            <a:gdLst/>
            <a:ahLst/>
            <a:cxnLst/>
            <a:rect l="l" t="t" r="r" b="b"/>
            <a:pathLst>
              <a:path w="114300" h="713740">
                <a:moveTo>
                  <a:pt x="38100" y="522731"/>
                </a:moveTo>
                <a:lnTo>
                  <a:pt x="0" y="522731"/>
                </a:lnTo>
                <a:lnTo>
                  <a:pt x="57150" y="713231"/>
                </a:lnTo>
                <a:lnTo>
                  <a:pt x="108585" y="541781"/>
                </a:lnTo>
                <a:lnTo>
                  <a:pt x="38100" y="541781"/>
                </a:lnTo>
                <a:lnTo>
                  <a:pt x="38100" y="522731"/>
                </a:lnTo>
                <a:close/>
              </a:path>
              <a:path w="114300" h="713740">
                <a:moveTo>
                  <a:pt x="76200" y="0"/>
                </a:moveTo>
                <a:lnTo>
                  <a:pt x="38100" y="0"/>
                </a:lnTo>
                <a:lnTo>
                  <a:pt x="38100" y="541781"/>
                </a:lnTo>
                <a:lnTo>
                  <a:pt x="76200" y="541781"/>
                </a:lnTo>
                <a:lnTo>
                  <a:pt x="76200" y="0"/>
                </a:lnTo>
                <a:close/>
              </a:path>
              <a:path w="114300" h="713740">
                <a:moveTo>
                  <a:pt x="114300" y="522731"/>
                </a:moveTo>
                <a:lnTo>
                  <a:pt x="76200" y="522731"/>
                </a:lnTo>
                <a:lnTo>
                  <a:pt x="76200" y="541781"/>
                </a:lnTo>
                <a:lnTo>
                  <a:pt x="108585" y="541781"/>
                </a:lnTo>
                <a:lnTo>
                  <a:pt x="114300" y="5227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02969" y="3376421"/>
            <a:ext cx="1240790" cy="535305"/>
          </a:xfrm>
          <a:custGeom>
            <a:avLst/>
            <a:gdLst/>
            <a:ahLst/>
            <a:cxnLst/>
            <a:rect l="l" t="t" r="r" b="b"/>
            <a:pathLst>
              <a:path w="1240789" h="535304">
                <a:moveTo>
                  <a:pt x="0" y="534923"/>
                </a:moveTo>
                <a:lnTo>
                  <a:pt x="1240536" y="534923"/>
                </a:lnTo>
                <a:lnTo>
                  <a:pt x="1240536" y="0"/>
                </a:lnTo>
                <a:lnTo>
                  <a:pt x="0" y="0"/>
                </a:lnTo>
                <a:lnTo>
                  <a:pt x="0" y="534923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348994" y="3436696"/>
            <a:ext cx="34734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baseline="-15625" sz="2400" spc="-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baseline="-15625"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622042" y="3376421"/>
            <a:ext cx="1240790" cy="535305"/>
          </a:xfrm>
          <a:custGeom>
            <a:avLst/>
            <a:gdLst/>
            <a:ahLst/>
            <a:cxnLst/>
            <a:rect l="l" t="t" r="r" b="b"/>
            <a:pathLst>
              <a:path w="1240789" h="535304">
                <a:moveTo>
                  <a:pt x="0" y="534923"/>
                </a:moveTo>
                <a:lnTo>
                  <a:pt x="1240535" y="534923"/>
                </a:lnTo>
                <a:lnTo>
                  <a:pt x="1240535" y="0"/>
                </a:lnTo>
                <a:lnTo>
                  <a:pt x="0" y="0"/>
                </a:lnTo>
                <a:lnTo>
                  <a:pt x="0" y="534923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935473" y="3355085"/>
            <a:ext cx="1240790" cy="536575"/>
          </a:xfrm>
          <a:custGeom>
            <a:avLst/>
            <a:gdLst/>
            <a:ahLst/>
            <a:cxnLst/>
            <a:rect l="l" t="t" r="r" b="b"/>
            <a:pathLst>
              <a:path w="1240789" h="536575">
                <a:moveTo>
                  <a:pt x="0" y="536447"/>
                </a:moveTo>
                <a:lnTo>
                  <a:pt x="1240536" y="536447"/>
                </a:lnTo>
                <a:lnTo>
                  <a:pt x="1240536" y="0"/>
                </a:lnTo>
                <a:lnTo>
                  <a:pt x="0" y="0"/>
                </a:lnTo>
                <a:lnTo>
                  <a:pt x="0" y="53644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373751" y="3417189"/>
            <a:ext cx="3644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Sn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82236" y="3421507"/>
            <a:ext cx="53467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……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475994" y="2989326"/>
            <a:ext cx="5919470" cy="0"/>
          </a:xfrm>
          <a:custGeom>
            <a:avLst/>
            <a:gdLst/>
            <a:ahLst/>
            <a:cxnLst/>
            <a:rect l="l" t="t" r="r" b="b"/>
            <a:pathLst>
              <a:path w="5919470" h="0">
                <a:moveTo>
                  <a:pt x="0" y="0"/>
                </a:moveTo>
                <a:lnTo>
                  <a:pt x="5919215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338059" y="2971038"/>
            <a:ext cx="114300" cy="405765"/>
          </a:xfrm>
          <a:custGeom>
            <a:avLst/>
            <a:gdLst/>
            <a:ahLst/>
            <a:cxnLst/>
            <a:rect l="l" t="t" r="r" b="b"/>
            <a:pathLst>
              <a:path w="114300" h="405764">
                <a:moveTo>
                  <a:pt x="38100" y="214884"/>
                </a:moveTo>
                <a:lnTo>
                  <a:pt x="0" y="214884"/>
                </a:lnTo>
                <a:lnTo>
                  <a:pt x="57150" y="405384"/>
                </a:lnTo>
                <a:lnTo>
                  <a:pt x="108584" y="233934"/>
                </a:lnTo>
                <a:lnTo>
                  <a:pt x="38100" y="233934"/>
                </a:lnTo>
                <a:lnTo>
                  <a:pt x="38100" y="214884"/>
                </a:lnTo>
                <a:close/>
              </a:path>
              <a:path w="114300" h="405764">
                <a:moveTo>
                  <a:pt x="76200" y="0"/>
                </a:moveTo>
                <a:lnTo>
                  <a:pt x="38100" y="0"/>
                </a:lnTo>
                <a:lnTo>
                  <a:pt x="38100" y="233934"/>
                </a:lnTo>
                <a:lnTo>
                  <a:pt x="76200" y="233934"/>
                </a:lnTo>
                <a:lnTo>
                  <a:pt x="76200" y="0"/>
                </a:lnTo>
                <a:close/>
              </a:path>
              <a:path w="114300" h="405764">
                <a:moveTo>
                  <a:pt x="114300" y="214884"/>
                </a:moveTo>
                <a:lnTo>
                  <a:pt x="76200" y="214884"/>
                </a:lnTo>
                <a:lnTo>
                  <a:pt x="76200" y="233934"/>
                </a:lnTo>
                <a:lnTo>
                  <a:pt x="108584" y="233934"/>
                </a:lnTo>
                <a:lnTo>
                  <a:pt x="114300" y="2148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428488" y="2702814"/>
            <a:ext cx="114300" cy="268605"/>
          </a:xfrm>
          <a:custGeom>
            <a:avLst/>
            <a:gdLst/>
            <a:ahLst/>
            <a:cxnLst/>
            <a:rect l="l" t="t" r="r" b="b"/>
            <a:pathLst>
              <a:path w="114300" h="268605">
                <a:moveTo>
                  <a:pt x="38100" y="77724"/>
                </a:moveTo>
                <a:lnTo>
                  <a:pt x="0" y="77724"/>
                </a:lnTo>
                <a:lnTo>
                  <a:pt x="57150" y="268224"/>
                </a:lnTo>
                <a:lnTo>
                  <a:pt x="108585" y="96774"/>
                </a:lnTo>
                <a:lnTo>
                  <a:pt x="38100" y="96774"/>
                </a:lnTo>
                <a:lnTo>
                  <a:pt x="38100" y="77724"/>
                </a:lnTo>
                <a:close/>
              </a:path>
              <a:path w="114300" h="268605">
                <a:moveTo>
                  <a:pt x="76200" y="0"/>
                </a:moveTo>
                <a:lnTo>
                  <a:pt x="38100" y="0"/>
                </a:lnTo>
                <a:lnTo>
                  <a:pt x="38100" y="96774"/>
                </a:lnTo>
                <a:lnTo>
                  <a:pt x="76200" y="96774"/>
                </a:lnTo>
                <a:lnTo>
                  <a:pt x="76200" y="0"/>
                </a:lnTo>
                <a:close/>
              </a:path>
              <a:path w="114300" h="268605">
                <a:moveTo>
                  <a:pt x="114300" y="77724"/>
                </a:moveTo>
                <a:lnTo>
                  <a:pt x="76200" y="77724"/>
                </a:lnTo>
                <a:lnTo>
                  <a:pt x="76200" y="96774"/>
                </a:lnTo>
                <a:lnTo>
                  <a:pt x="108585" y="96774"/>
                </a:lnTo>
                <a:lnTo>
                  <a:pt x="114300" y="777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418844" y="2971038"/>
            <a:ext cx="114300" cy="448309"/>
          </a:xfrm>
          <a:custGeom>
            <a:avLst/>
            <a:gdLst/>
            <a:ahLst/>
            <a:cxnLst/>
            <a:rect l="l" t="t" r="r" b="b"/>
            <a:pathLst>
              <a:path w="114300" h="448310">
                <a:moveTo>
                  <a:pt x="38100" y="257556"/>
                </a:moveTo>
                <a:lnTo>
                  <a:pt x="0" y="257556"/>
                </a:lnTo>
                <a:lnTo>
                  <a:pt x="57150" y="448056"/>
                </a:lnTo>
                <a:lnTo>
                  <a:pt x="108584" y="276606"/>
                </a:lnTo>
                <a:lnTo>
                  <a:pt x="38100" y="276606"/>
                </a:lnTo>
                <a:lnTo>
                  <a:pt x="38100" y="257556"/>
                </a:lnTo>
                <a:close/>
              </a:path>
              <a:path w="114300" h="448310">
                <a:moveTo>
                  <a:pt x="76200" y="0"/>
                </a:moveTo>
                <a:lnTo>
                  <a:pt x="38100" y="0"/>
                </a:lnTo>
                <a:lnTo>
                  <a:pt x="38100" y="276606"/>
                </a:lnTo>
                <a:lnTo>
                  <a:pt x="76200" y="276606"/>
                </a:lnTo>
                <a:lnTo>
                  <a:pt x="76200" y="0"/>
                </a:lnTo>
                <a:close/>
              </a:path>
              <a:path w="114300" h="448310">
                <a:moveTo>
                  <a:pt x="114300" y="257556"/>
                </a:moveTo>
                <a:lnTo>
                  <a:pt x="76200" y="257556"/>
                </a:lnTo>
                <a:lnTo>
                  <a:pt x="76200" y="276606"/>
                </a:lnTo>
                <a:lnTo>
                  <a:pt x="108584" y="276606"/>
                </a:lnTo>
                <a:lnTo>
                  <a:pt x="114300" y="2575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137916" y="2971038"/>
            <a:ext cx="114300" cy="448309"/>
          </a:xfrm>
          <a:custGeom>
            <a:avLst/>
            <a:gdLst/>
            <a:ahLst/>
            <a:cxnLst/>
            <a:rect l="l" t="t" r="r" b="b"/>
            <a:pathLst>
              <a:path w="114300" h="448310">
                <a:moveTo>
                  <a:pt x="38100" y="333756"/>
                </a:moveTo>
                <a:lnTo>
                  <a:pt x="0" y="333756"/>
                </a:lnTo>
                <a:lnTo>
                  <a:pt x="57150" y="448056"/>
                </a:lnTo>
                <a:lnTo>
                  <a:pt x="104774" y="352806"/>
                </a:lnTo>
                <a:lnTo>
                  <a:pt x="38100" y="352806"/>
                </a:lnTo>
                <a:lnTo>
                  <a:pt x="38100" y="333756"/>
                </a:lnTo>
                <a:close/>
              </a:path>
              <a:path w="114300" h="448310">
                <a:moveTo>
                  <a:pt x="76200" y="0"/>
                </a:moveTo>
                <a:lnTo>
                  <a:pt x="38100" y="0"/>
                </a:lnTo>
                <a:lnTo>
                  <a:pt x="38100" y="352806"/>
                </a:lnTo>
                <a:lnTo>
                  <a:pt x="76200" y="352806"/>
                </a:lnTo>
                <a:lnTo>
                  <a:pt x="76200" y="0"/>
                </a:lnTo>
                <a:close/>
              </a:path>
              <a:path w="114300" h="448310">
                <a:moveTo>
                  <a:pt x="114299" y="333756"/>
                </a:moveTo>
                <a:lnTo>
                  <a:pt x="76200" y="333756"/>
                </a:lnTo>
                <a:lnTo>
                  <a:pt x="76200" y="352806"/>
                </a:lnTo>
                <a:lnTo>
                  <a:pt x="104774" y="352806"/>
                </a:lnTo>
                <a:lnTo>
                  <a:pt x="114299" y="3337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428488" y="2971038"/>
            <a:ext cx="114300" cy="356870"/>
          </a:xfrm>
          <a:custGeom>
            <a:avLst/>
            <a:gdLst/>
            <a:ahLst/>
            <a:cxnLst/>
            <a:rect l="l" t="t" r="r" b="b"/>
            <a:pathLst>
              <a:path w="114300" h="356870">
                <a:moveTo>
                  <a:pt x="38100" y="166115"/>
                </a:moveTo>
                <a:lnTo>
                  <a:pt x="0" y="166115"/>
                </a:lnTo>
                <a:lnTo>
                  <a:pt x="57150" y="356615"/>
                </a:lnTo>
                <a:lnTo>
                  <a:pt x="108585" y="185165"/>
                </a:lnTo>
                <a:lnTo>
                  <a:pt x="38100" y="185165"/>
                </a:lnTo>
                <a:lnTo>
                  <a:pt x="38100" y="166115"/>
                </a:lnTo>
                <a:close/>
              </a:path>
              <a:path w="114300" h="356870">
                <a:moveTo>
                  <a:pt x="76200" y="0"/>
                </a:moveTo>
                <a:lnTo>
                  <a:pt x="38100" y="0"/>
                </a:lnTo>
                <a:lnTo>
                  <a:pt x="38100" y="185165"/>
                </a:lnTo>
                <a:lnTo>
                  <a:pt x="76200" y="185165"/>
                </a:lnTo>
                <a:lnTo>
                  <a:pt x="76200" y="0"/>
                </a:lnTo>
                <a:close/>
              </a:path>
              <a:path w="114300" h="356870">
                <a:moveTo>
                  <a:pt x="114300" y="166115"/>
                </a:moveTo>
                <a:lnTo>
                  <a:pt x="76200" y="166115"/>
                </a:lnTo>
                <a:lnTo>
                  <a:pt x="76200" y="185165"/>
                </a:lnTo>
                <a:lnTo>
                  <a:pt x="108585" y="185165"/>
                </a:lnTo>
                <a:lnTo>
                  <a:pt x="114300" y="1661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475994" y="4348734"/>
            <a:ext cx="4104640" cy="0"/>
          </a:xfrm>
          <a:custGeom>
            <a:avLst/>
            <a:gdLst/>
            <a:ahLst/>
            <a:cxnLst/>
            <a:rect l="l" t="t" r="r" b="b"/>
            <a:pathLst>
              <a:path w="4104640" h="0">
                <a:moveTo>
                  <a:pt x="0" y="0"/>
                </a:moveTo>
                <a:lnTo>
                  <a:pt x="4104131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418844" y="3912870"/>
            <a:ext cx="114300" cy="447040"/>
          </a:xfrm>
          <a:custGeom>
            <a:avLst/>
            <a:gdLst/>
            <a:ahLst/>
            <a:cxnLst/>
            <a:rect l="l" t="t" r="r" b="b"/>
            <a:pathLst>
              <a:path w="114300" h="447039">
                <a:moveTo>
                  <a:pt x="38100" y="256031"/>
                </a:moveTo>
                <a:lnTo>
                  <a:pt x="0" y="256031"/>
                </a:lnTo>
                <a:lnTo>
                  <a:pt x="57150" y="446531"/>
                </a:lnTo>
                <a:lnTo>
                  <a:pt x="108584" y="275081"/>
                </a:lnTo>
                <a:lnTo>
                  <a:pt x="38100" y="275081"/>
                </a:lnTo>
                <a:lnTo>
                  <a:pt x="38100" y="256031"/>
                </a:lnTo>
                <a:close/>
              </a:path>
              <a:path w="114300" h="447039">
                <a:moveTo>
                  <a:pt x="76200" y="0"/>
                </a:moveTo>
                <a:lnTo>
                  <a:pt x="38100" y="0"/>
                </a:lnTo>
                <a:lnTo>
                  <a:pt x="38100" y="275081"/>
                </a:lnTo>
                <a:lnTo>
                  <a:pt x="76200" y="275081"/>
                </a:lnTo>
                <a:lnTo>
                  <a:pt x="76200" y="0"/>
                </a:lnTo>
                <a:close/>
              </a:path>
              <a:path w="114300" h="447039">
                <a:moveTo>
                  <a:pt x="114300" y="256031"/>
                </a:moveTo>
                <a:lnTo>
                  <a:pt x="76200" y="256031"/>
                </a:lnTo>
                <a:lnTo>
                  <a:pt x="76200" y="275081"/>
                </a:lnTo>
                <a:lnTo>
                  <a:pt x="108584" y="275081"/>
                </a:lnTo>
                <a:lnTo>
                  <a:pt x="114300" y="2560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232404" y="3906773"/>
            <a:ext cx="114300" cy="445134"/>
          </a:xfrm>
          <a:custGeom>
            <a:avLst/>
            <a:gdLst/>
            <a:ahLst/>
            <a:cxnLst/>
            <a:rect l="l" t="t" r="r" b="b"/>
            <a:pathLst>
              <a:path w="114300" h="445135">
                <a:moveTo>
                  <a:pt x="38099" y="254507"/>
                </a:moveTo>
                <a:lnTo>
                  <a:pt x="0" y="254507"/>
                </a:lnTo>
                <a:lnTo>
                  <a:pt x="57149" y="445007"/>
                </a:lnTo>
                <a:lnTo>
                  <a:pt x="108584" y="273557"/>
                </a:lnTo>
                <a:lnTo>
                  <a:pt x="38099" y="273557"/>
                </a:lnTo>
                <a:lnTo>
                  <a:pt x="38099" y="254507"/>
                </a:lnTo>
                <a:close/>
              </a:path>
              <a:path w="114300" h="445135">
                <a:moveTo>
                  <a:pt x="76199" y="0"/>
                </a:moveTo>
                <a:lnTo>
                  <a:pt x="38099" y="0"/>
                </a:lnTo>
                <a:lnTo>
                  <a:pt x="38099" y="273557"/>
                </a:lnTo>
                <a:lnTo>
                  <a:pt x="76199" y="273557"/>
                </a:lnTo>
                <a:lnTo>
                  <a:pt x="76199" y="0"/>
                </a:lnTo>
                <a:close/>
              </a:path>
              <a:path w="114300" h="445135">
                <a:moveTo>
                  <a:pt x="114299" y="254507"/>
                </a:moveTo>
                <a:lnTo>
                  <a:pt x="76199" y="254507"/>
                </a:lnTo>
                <a:lnTo>
                  <a:pt x="76199" y="273557"/>
                </a:lnTo>
                <a:lnTo>
                  <a:pt x="108584" y="273557"/>
                </a:lnTo>
                <a:lnTo>
                  <a:pt x="114299" y="254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522976" y="3906773"/>
            <a:ext cx="114300" cy="445134"/>
          </a:xfrm>
          <a:custGeom>
            <a:avLst/>
            <a:gdLst/>
            <a:ahLst/>
            <a:cxnLst/>
            <a:rect l="l" t="t" r="r" b="b"/>
            <a:pathLst>
              <a:path w="114300" h="445135">
                <a:moveTo>
                  <a:pt x="38100" y="254507"/>
                </a:moveTo>
                <a:lnTo>
                  <a:pt x="0" y="254507"/>
                </a:lnTo>
                <a:lnTo>
                  <a:pt x="57150" y="445007"/>
                </a:lnTo>
                <a:lnTo>
                  <a:pt x="108585" y="273557"/>
                </a:lnTo>
                <a:lnTo>
                  <a:pt x="38100" y="273557"/>
                </a:lnTo>
                <a:lnTo>
                  <a:pt x="38100" y="254507"/>
                </a:lnTo>
                <a:close/>
              </a:path>
              <a:path w="114300" h="445135">
                <a:moveTo>
                  <a:pt x="76200" y="0"/>
                </a:moveTo>
                <a:lnTo>
                  <a:pt x="38100" y="0"/>
                </a:lnTo>
                <a:lnTo>
                  <a:pt x="38100" y="273557"/>
                </a:lnTo>
                <a:lnTo>
                  <a:pt x="76200" y="273557"/>
                </a:lnTo>
                <a:lnTo>
                  <a:pt x="76200" y="0"/>
                </a:lnTo>
                <a:close/>
              </a:path>
              <a:path w="114300" h="445135">
                <a:moveTo>
                  <a:pt x="114300" y="254507"/>
                </a:moveTo>
                <a:lnTo>
                  <a:pt x="76200" y="254507"/>
                </a:lnTo>
                <a:lnTo>
                  <a:pt x="76200" y="273557"/>
                </a:lnTo>
                <a:lnTo>
                  <a:pt x="108585" y="273557"/>
                </a:lnTo>
                <a:lnTo>
                  <a:pt x="114300" y="254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770369" y="3402329"/>
            <a:ext cx="1240790" cy="536575"/>
          </a:xfrm>
          <a:custGeom>
            <a:avLst/>
            <a:gdLst/>
            <a:ahLst/>
            <a:cxnLst/>
            <a:rect l="l" t="t" r="r" b="b"/>
            <a:pathLst>
              <a:path w="1240790" h="536575">
                <a:moveTo>
                  <a:pt x="0" y="536448"/>
                </a:moveTo>
                <a:lnTo>
                  <a:pt x="1240535" y="536448"/>
                </a:lnTo>
                <a:lnTo>
                  <a:pt x="1240535" y="0"/>
                </a:lnTo>
                <a:lnTo>
                  <a:pt x="0" y="0"/>
                </a:lnTo>
                <a:lnTo>
                  <a:pt x="0" y="536448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289553" y="4330446"/>
            <a:ext cx="0" cy="966469"/>
          </a:xfrm>
          <a:custGeom>
            <a:avLst/>
            <a:gdLst/>
            <a:ahLst/>
            <a:cxnLst/>
            <a:rect l="l" t="t" r="r" b="b"/>
            <a:pathLst>
              <a:path w="0" h="966470">
                <a:moveTo>
                  <a:pt x="0" y="0"/>
                </a:moveTo>
                <a:lnTo>
                  <a:pt x="0" y="966215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284593" y="3958082"/>
            <a:ext cx="130175" cy="2186305"/>
          </a:xfrm>
          <a:custGeom>
            <a:avLst/>
            <a:gdLst/>
            <a:ahLst/>
            <a:cxnLst/>
            <a:rect l="l" t="t" r="r" b="b"/>
            <a:pathLst>
              <a:path w="130175" h="2186304">
                <a:moveTo>
                  <a:pt x="0" y="2070188"/>
                </a:moveTo>
                <a:lnTo>
                  <a:pt x="54228" y="2185924"/>
                </a:lnTo>
                <a:lnTo>
                  <a:pt x="104681" y="2091194"/>
                </a:lnTo>
                <a:lnTo>
                  <a:pt x="75691" y="2091194"/>
                </a:lnTo>
                <a:lnTo>
                  <a:pt x="37591" y="2090216"/>
                </a:lnTo>
                <a:lnTo>
                  <a:pt x="38083" y="2071170"/>
                </a:lnTo>
                <a:lnTo>
                  <a:pt x="0" y="2070188"/>
                </a:lnTo>
                <a:close/>
              </a:path>
              <a:path w="130175" h="2186304">
                <a:moveTo>
                  <a:pt x="38083" y="2071170"/>
                </a:moveTo>
                <a:lnTo>
                  <a:pt x="37591" y="2090216"/>
                </a:lnTo>
                <a:lnTo>
                  <a:pt x="75691" y="2091194"/>
                </a:lnTo>
                <a:lnTo>
                  <a:pt x="76183" y="2072152"/>
                </a:lnTo>
                <a:lnTo>
                  <a:pt x="38083" y="2071170"/>
                </a:lnTo>
                <a:close/>
              </a:path>
              <a:path w="130175" h="2186304">
                <a:moveTo>
                  <a:pt x="76183" y="2072152"/>
                </a:moveTo>
                <a:lnTo>
                  <a:pt x="75691" y="2091194"/>
                </a:lnTo>
                <a:lnTo>
                  <a:pt x="104681" y="2091194"/>
                </a:lnTo>
                <a:lnTo>
                  <a:pt x="114300" y="2073135"/>
                </a:lnTo>
                <a:lnTo>
                  <a:pt x="76183" y="2072152"/>
                </a:lnTo>
                <a:close/>
              </a:path>
              <a:path w="130175" h="2186304">
                <a:moveTo>
                  <a:pt x="91566" y="0"/>
                </a:moveTo>
                <a:lnTo>
                  <a:pt x="38083" y="2071170"/>
                </a:lnTo>
                <a:lnTo>
                  <a:pt x="76183" y="2072152"/>
                </a:lnTo>
                <a:lnTo>
                  <a:pt x="129666" y="1016"/>
                </a:lnTo>
                <a:lnTo>
                  <a:pt x="915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289553" y="5239511"/>
            <a:ext cx="4105910" cy="114300"/>
          </a:xfrm>
          <a:custGeom>
            <a:avLst/>
            <a:gdLst/>
            <a:ahLst/>
            <a:cxnLst/>
            <a:rect l="l" t="t" r="r" b="b"/>
            <a:pathLst>
              <a:path w="4105909" h="114300">
                <a:moveTo>
                  <a:pt x="3991355" y="0"/>
                </a:moveTo>
                <a:lnTo>
                  <a:pt x="3991355" y="114300"/>
                </a:lnTo>
                <a:lnTo>
                  <a:pt x="4067555" y="76200"/>
                </a:lnTo>
                <a:lnTo>
                  <a:pt x="4010405" y="76200"/>
                </a:lnTo>
                <a:lnTo>
                  <a:pt x="4010405" y="38100"/>
                </a:lnTo>
                <a:lnTo>
                  <a:pt x="4067555" y="38100"/>
                </a:lnTo>
                <a:lnTo>
                  <a:pt x="3991355" y="0"/>
                </a:lnTo>
                <a:close/>
              </a:path>
              <a:path w="4105909" h="114300">
                <a:moveTo>
                  <a:pt x="399135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991355" y="76200"/>
                </a:lnTo>
                <a:lnTo>
                  <a:pt x="3991355" y="38100"/>
                </a:lnTo>
                <a:close/>
              </a:path>
              <a:path w="4105909" h="114300">
                <a:moveTo>
                  <a:pt x="4067555" y="38100"/>
                </a:moveTo>
                <a:lnTo>
                  <a:pt x="4010405" y="38100"/>
                </a:lnTo>
                <a:lnTo>
                  <a:pt x="4010405" y="76200"/>
                </a:lnTo>
                <a:lnTo>
                  <a:pt x="4067555" y="76200"/>
                </a:lnTo>
                <a:lnTo>
                  <a:pt x="4105655" y="57150"/>
                </a:lnTo>
                <a:lnTo>
                  <a:pt x="4067555" y="38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804468" y="2962402"/>
            <a:ext cx="482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L1: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667000" y="2904750"/>
            <a:ext cx="748665" cy="923925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L3:</a:t>
            </a:r>
            <a:endParaRPr sz="2400">
              <a:latin typeface="Times New Roman"/>
              <a:cs typeface="Times New Roman"/>
            </a:endParaRPr>
          </a:p>
          <a:p>
            <a:pPr marL="439420">
              <a:lnSpc>
                <a:spcPct val="100000"/>
              </a:lnSpc>
              <a:spcBef>
                <a:spcPts val="66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baseline="-15625" sz="2400" spc="-7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baseline="-15625"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508119" y="3011551"/>
            <a:ext cx="90614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L2</a:t>
            </a:r>
            <a:r>
              <a:rPr dirty="0" sz="2400" spc="-15" b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-1: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770123" y="2585973"/>
            <a:ext cx="482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L2: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44746" y="2291918"/>
            <a:ext cx="1197610" cy="640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95985">
              <a:lnSpc>
                <a:spcPts val="2655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e?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175"/>
              </a:lnSpc>
            </a:pP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L2n-2: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386573" y="5748629"/>
            <a:ext cx="686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next: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614414" y="2766060"/>
            <a:ext cx="1063625" cy="1149985"/>
          </a:xfrm>
          <a:prstGeom prst="rect">
            <a:avLst/>
          </a:prstGeom>
        </p:spPr>
        <p:txBody>
          <a:bodyPr wrap="square" lIns="0" tIns="2089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645"/>
              </a:spcBef>
            </a:pP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L2n</a:t>
            </a:r>
            <a:r>
              <a:rPr dirty="0" sz="2400" spc="-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526415">
              <a:lnSpc>
                <a:spcPct val="100000"/>
              </a:lnSpc>
              <a:spcBef>
                <a:spcPts val="1545"/>
              </a:spcBef>
            </a:pPr>
            <a:r>
              <a:rPr dirty="0" baseline="10416" sz="3600" spc="-7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1600" spc="-5" b="1">
                <a:solidFill>
                  <a:srgbClr val="FFFFFF"/>
                </a:solidFill>
                <a:latin typeface="Times New Roman"/>
                <a:cs typeface="Times New Roman"/>
              </a:rPr>
              <a:t>n+1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13275" y="26923"/>
            <a:ext cx="411035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6050" algn="l"/>
              </a:tabLst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3247" y="26923"/>
            <a:ext cx="4117340" cy="1155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Times New Roman"/>
              <a:cs typeface="Times New Roman"/>
            </a:endParaRPr>
          </a:p>
          <a:p>
            <a:pPr marL="100965">
              <a:lnSpc>
                <a:spcPct val="100000"/>
              </a:lnSpc>
              <a:tabLst>
                <a:tab pos="814069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四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多分支语句的翻译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874" y="1486661"/>
            <a:ext cx="7409688" cy="5087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874" y="1486661"/>
            <a:ext cx="7409815" cy="5087620"/>
          </a:xfrm>
          <a:custGeom>
            <a:avLst/>
            <a:gdLst/>
            <a:ahLst/>
            <a:cxnLst/>
            <a:rect l="l" t="t" r="r" b="b"/>
            <a:pathLst>
              <a:path w="7409815" h="5087620">
                <a:moveTo>
                  <a:pt x="0" y="5087112"/>
                </a:moveTo>
                <a:lnTo>
                  <a:pt x="7409688" y="5087112"/>
                </a:lnTo>
                <a:lnTo>
                  <a:pt x="7409688" y="0"/>
                </a:lnTo>
                <a:lnTo>
                  <a:pt x="0" y="0"/>
                </a:lnTo>
                <a:lnTo>
                  <a:pt x="0" y="508711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487415" y="4471161"/>
            <a:ext cx="127381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latin typeface="Times New Roman"/>
                <a:cs typeface="Times New Roman"/>
              </a:rPr>
              <a:t>break</a:t>
            </a:r>
            <a:r>
              <a:rPr dirty="0" sz="3200" spc="-8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;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239767" y="4471161"/>
            <a:ext cx="99568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3200" spc="20" b="1">
                <a:latin typeface="Times New Roman"/>
                <a:cs typeface="Times New Roman"/>
              </a:rPr>
              <a:t>:</a:t>
            </a:r>
            <a:r>
              <a:rPr dirty="0" baseline="24305" sz="4800" spc="30" b="1">
                <a:solidFill>
                  <a:srgbClr val="A73737"/>
                </a:solidFill>
                <a:latin typeface="Wingdings 3"/>
                <a:cs typeface="Wingdings 3"/>
              </a:rPr>
              <a:t></a:t>
            </a:r>
            <a:r>
              <a:rPr dirty="0" sz="3200" spc="20" b="1">
                <a:latin typeface="Times New Roman"/>
                <a:cs typeface="Times New Roman"/>
              </a:rPr>
              <a:t>S</a:t>
            </a:r>
            <a:r>
              <a:rPr dirty="0" baseline="-15873" sz="3150" spc="30" b="1">
                <a:latin typeface="Times New Roman"/>
                <a:cs typeface="Times New Roman"/>
              </a:rPr>
              <a:t>n</a:t>
            </a:r>
            <a:endParaRPr baseline="-15873" sz="31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40916" y="1344433"/>
            <a:ext cx="2979420" cy="5038725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algn="r" marR="118745">
              <a:lnSpc>
                <a:spcPct val="100000"/>
              </a:lnSpc>
              <a:spcBef>
                <a:spcPts val="1295"/>
              </a:spcBef>
              <a:tabLst>
                <a:tab pos="2247900" algn="l"/>
              </a:tabLst>
            </a:pPr>
            <a:r>
              <a:rPr dirty="0" sz="3200" b="1">
                <a:latin typeface="Times New Roman"/>
                <a:cs typeface="Times New Roman"/>
              </a:rPr>
              <a:t>A</a:t>
            </a:r>
            <a:r>
              <a:rPr dirty="0" sz="3200" spc="-17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Wingdings 3"/>
                <a:cs typeface="Wingdings 3"/>
              </a:rPr>
              <a:t></a:t>
            </a:r>
            <a:r>
              <a:rPr dirty="0" sz="320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switch	(e</a:t>
            </a:r>
            <a:r>
              <a:rPr dirty="0" sz="3200" spc="-9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algn="r" marR="193040">
              <a:lnSpc>
                <a:spcPct val="100000"/>
              </a:lnSpc>
              <a:spcBef>
                <a:spcPts val="1200"/>
              </a:spcBef>
              <a:tabLst>
                <a:tab pos="464184" algn="l"/>
                <a:tab pos="1392555" algn="l"/>
              </a:tabLst>
            </a:pPr>
            <a:r>
              <a:rPr dirty="0" sz="3200" b="1">
                <a:latin typeface="Times New Roman"/>
                <a:cs typeface="Times New Roman"/>
              </a:rPr>
              <a:t>{</a:t>
            </a:r>
            <a:r>
              <a:rPr dirty="0" sz="3200" b="1">
                <a:latin typeface="Times New Roman"/>
                <a:cs typeface="Times New Roman"/>
              </a:rPr>
              <a:t>	</a:t>
            </a:r>
            <a:r>
              <a:rPr dirty="0" sz="3200" b="1">
                <a:latin typeface="Times New Roman"/>
                <a:cs typeface="Times New Roman"/>
              </a:rPr>
              <a:t>c</a:t>
            </a:r>
            <a:r>
              <a:rPr dirty="0" sz="3200" spc="5" b="1">
                <a:latin typeface="Times New Roman"/>
                <a:cs typeface="Times New Roman"/>
              </a:rPr>
              <a:t>a</a:t>
            </a:r>
            <a:r>
              <a:rPr dirty="0" sz="3200" b="1">
                <a:latin typeface="Times New Roman"/>
                <a:cs typeface="Times New Roman"/>
              </a:rPr>
              <a:t>se</a:t>
            </a:r>
            <a:r>
              <a:rPr dirty="0" sz="3200" b="1">
                <a:latin typeface="Times New Roman"/>
                <a:cs typeface="Times New Roman"/>
              </a:rPr>
              <a:t>	</a:t>
            </a:r>
            <a:r>
              <a:rPr dirty="0" sz="3200" spc="5" b="1">
                <a:latin typeface="Times New Roman"/>
                <a:cs typeface="Times New Roman"/>
              </a:rPr>
              <a:t>c</a:t>
            </a:r>
            <a:r>
              <a:rPr dirty="0" baseline="-15873" sz="3150" spc="22" b="1">
                <a:latin typeface="Times New Roman"/>
                <a:cs typeface="Times New Roman"/>
              </a:rPr>
              <a:t>1</a:t>
            </a:r>
            <a:endParaRPr baseline="-15873" sz="3150">
              <a:latin typeface="Times New Roman"/>
              <a:cs typeface="Times New Roman"/>
            </a:endParaRPr>
          </a:p>
          <a:p>
            <a:pPr marL="1102360">
              <a:lnSpc>
                <a:spcPct val="100000"/>
              </a:lnSpc>
              <a:spcBef>
                <a:spcPts val="2255"/>
              </a:spcBef>
              <a:tabLst>
                <a:tab pos="2400300" algn="l"/>
              </a:tabLst>
            </a:pPr>
            <a:r>
              <a:rPr dirty="0" baseline="20833" sz="4800" spc="-67" b="1">
                <a:solidFill>
                  <a:srgbClr val="A73737"/>
                </a:solidFill>
                <a:latin typeface="Wingdings 3"/>
                <a:cs typeface="Wingdings 3"/>
              </a:rPr>
              <a:t></a:t>
            </a:r>
            <a:r>
              <a:rPr dirty="0" sz="3200" spc="-45" b="1">
                <a:latin typeface="Times New Roman"/>
                <a:cs typeface="Times New Roman"/>
              </a:rPr>
              <a:t>case	</a:t>
            </a:r>
            <a:r>
              <a:rPr dirty="0" sz="3200" spc="10" b="1">
                <a:latin typeface="Times New Roman"/>
                <a:cs typeface="Times New Roman"/>
              </a:rPr>
              <a:t>c</a:t>
            </a:r>
            <a:r>
              <a:rPr dirty="0" baseline="-15873" sz="3150" spc="15" b="1">
                <a:latin typeface="Times New Roman"/>
                <a:cs typeface="Times New Roman"/>
              </a:rPr>
              <a:t>2</a:t>
            </a:r>
            <a:endParaRPr baseline="-15873" sz="3150">
              <a:latin typeface="Times New Roman"/>
              <a:cs typeface="Times New Roman"/>
            </a:endParaRPr>
          </a:p>
          <a:p>
            <a:pPr marL="1777364">
              <a:lnSpc>
                <a:spcPct val="100000"/>
              </a:lnSpc>
              <a:spcBef>
                <a:spcPts val="2310"/>
              </a:spcBef>
            </a:pPr>
            <a:r>
              <a:rPr dirty="0" sz="3200" b="1">
                <a:latin typeface="Times New Roman"/>
                <a:cs typeface="Times New Roman"/>
              </a:rPr>
              <a:t>……</a:t>
            </a:r>
            <a:endParaRPr sz="3200">
              <a:latin typeface="Times New Roman"/>
              <a:cs typeface="Times New Roman"/>
            </a:endParaRPr>
          </a:p>
          <a:p>
            <a:pPr marL="1472565" marR="43180" indent="-313690">
              <a:lnSpc>
                <a:spcPts val="6150"/>
              </a:lnSpc>
              <a:spcBef>
                <a:spcPts val="580"/>
              </a:spcBef>
              <a:tabLst>
                <a:tab pos="2400300" algn="l"/>
              </a:tabLst>
            </a:pPr>
            <a:r>
              <a:rPr dirty="0" baseline="23437" sz="4800" spc="-202" b="1">
                <a:solidFill>
                  <a:srgbClr val="A73737"/>
                </a:solidFill>
                <a:latin typeface="Wingdings 3"/>
                <a:cs typeface="Wingdings 3"/>
              </a:rPr>
              <a:t></a:t>
            </a:r>
            <a:r>
              <a:rPr dirty="0" sz="3200" spc="-135" b="1">
                <a:latin typeface="Times New Roman"/>
                <a:cs typeface="Times New Roman"/>
              </a:rPr>
              <a:t>case	</a:t>
            </a:r>
            <a:r>
              <a:rPr dirty="0" sz="3200" spc="15" b="1">
                <a:latin typeface="Times New Roman"/>
                <a:cs typeface="Times New Roman"/>
              </a:rPr>
              <a:t>c</a:t>
            </a:r>
            <a:r>
              <a:rPr dirty="0" baseline="-15873" sz="3150" spc="22" b="1">
                <a:latin typeface="Times New Roman"/>
                <a:cs typeface="Times New Roman"/>
              </a:rPr>
              <a:t>n  </a:t>
            </a:r>
            <a:r>
              <a:rPr dirty="0" sz="3200" b="1">
                <a:latin typeface="Times New Roman"/>
                <a:cs typeface="Times New Roman"/>
              </a:rPr>
              <a:t>default</a:t>
            </a:r>
            <a:r>
              <a:rPr dirty="0" sz="3200" spc="-114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067435">
              <a:lnSpc>
                <a:spcPct val="100000"/>
              </a:lnSpc>
              <a:spcBef>
                <a:spcPts val="430"/>
              </a:spcBef>
              <a:tabLst>
                <a:tab pos="1464310" algn="l"/>
              </a:tabLst>
            </a:pPr>
            <a:r>
              <a:rPr dirty="0" baseline="-22569" sz="4800" b="1">
                <a:latin typeface="Times New Roman"/>
                <a:cs typeface="Times New Roman"/>
              </a:rPr>
              <a:t>}	</a:t>
            </a:r>
            <a:r>
              <a:rPr dirty="0" sz="3200" b="1">
                <a:solidFill>
                  <a:srgbClr val="A73737"/>
                </a:solidFill>
                <a:latin typeface="Wingdings 3"/>
                <a:cs typeface="Wingdings 3"/>
              </a:rPr>
              <a:t></a:t>
            </a:r>
            <a:endParaRPr sz="3200">
              <a:latin typeface="Wingdings 3"/>
              <a:cs typeface="Wingdings 3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99128" y="1879803"/>
            <a:ext cx="2614295" cy="15443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20979">
              <a:lnSpc>
                <a:spcPts val="2925"/>
              </a:lnSpc>
              <a:spcBef>
                <a:spcPts val="105"/>
              </a:spcBef>
            </a:pPr>
            <a:r>
              <a:rPr dirty="0" sz="3200" b="1">
                <a:solidFill>
                  <a:srgbClr val="A73737"/>
                </a:solidFill>
                <a:latin typeface="Wingdings 3"/>
                <a:cs typeface="Wingdings 3"/>
              </a:rPr>
              <a:t></a:t>
            </a:r>
            <a:endParaRPr sz="3200">
              <a:latin typeface="Wingdings 3"/>
              <a:cs typeface="Wingdings 3"/>
            </a:endParaRPr>
          </a:p>
          <a:p>
            <a:pPr marL="122555">
              <a:lnSpc>
                <a:spcPts val="2925"/>
              </a:lnSpc>
              <a:tabLst>
                <a:tab pos="663575" algn="l"/>
                <a:tab pos="1327785" algn="l"/>
              </a:tabLst>
            </a:pPr>
            <a:r>
              <a:rPr dirty="0" sz="3200" b="1">
                <a:latin typeface="Times New Roman"/>
                <a:cs typeface="Times New Roman"/>
              </a:rPr>
              <a:t>:	</a:t>
            </a:r>
            <a:r>
              <a:rPr dirty="0" sz="3200" spc="5" b="1">
                <a:latin typeface="Times New Roman"/>
                <a:cs typeface="Times New Roman"/>
              </a:rPr>
              <a:t>S</a:t>
            </a:r>
            <a:r>
              <a:rPr dirty="0" baseline="-15873" sz="3150" spc="7" b="1">
                <a:latin typeface="Times New Roman"/>
                <a:cs typeface="Times New Roman"/>
              </a:rPr>
              <a:t>1	</a:t>
            </a:r>
            <a:r>
              <a:rPr dirty="0" sz="3200" spc="-10" b="1">
                <a:latin typeface="Times New Roman"/>
                <a:cs typeface="Times New Roman"/>
              </a:rPr>
              <a:t>break</a:t>
            </a:r>
            <a:r>
              <a:rPr dirty="0" sz="3200" spc="-8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;</a:t>
            </a:r>
            <a:endParaRPr sz="32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2260"/>
              </a:spcBef>
              <a:tabLst>
                <a:tab pos="1270000" algn="l"/>
              </a:tabLst>
            </a:pPr>
            <a:r>
              <a:rPr dirty="0" sz="3200" spc="15" b="1">
                <a:latin typeface="Times New Roman"/>
                <a:cs typeface="Times New Roman"/>
              </a:rPr>
              <a:t>:</a:t>
            </a:r>
            <a:r>
              <a:rPr dirty="0" baseline="20833" sz="4800" spc="22" b="1">
                <a:solidFill>
                  <a:srgbClr val="A73737"/>
                </a:solidFill>
                <a:latin typeface="Wingdings 3"/>
                <a:cs typeface="Wingdings 3"/>
              </a:rPr>
              <a:t></a:t>
            </a:r>
            <a:r>
              <a:rPr dirty="0" sz="3200" spc="15" b="1">
                <a:latin typeface="Times New Roman"/>
                <a:cs typeface="Times New Roman"/>
              </a:rPr>
              <a:t>S</a:t>
            </a:r>
            <a:r>
              <a:rPr dirty="0" baseline="-15873" sz="3150" spc="22" b="1">
                <a:latin typeface="Times New Roman"/>
                <a:cs typeface="Times New Roman"/>
              </a:rPr>
              <a:t>2	</a:t>
            </a:r>
            <a:r>
              <a:rPr dirty="0" sz="3200" spc="-10" b="1">
                <a:latin typeface="Times New Roman"/>
                <a:cs typeface="Times New Roman"/>
              </a:rPr>
              <a:t>break</a:t>
            </a:r>
            <a:r>
              <a:rPr dirty="0" sz="3200" spc="-7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;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07661" y="5331053"/>
            <a:ext cx="117729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26041" sz="4800" spc="97" b="1">
                <a:solidFill>
                  <a:srgbClr val="A73737"/>
                </a:solidFill>
                <a:latin typeface="Wingdings 3"/>
                <a:cs typeface="Wingdings 3"/>
              </a:rPr>
              <a:t></a:t>
            </a:r>
            <a:r>
              <a:rPr dirty="0" baseline="10416" sz="4800" spc="97" b="1">
                <a:latin typeface="Times New Roman"/>
                <a:cs typeface="Times New Roman"/>
              </a:rPr>
              <a:t>S</a:t>
            </a:r>
            <a:r>
              <a:rPr dirty="0" sz="2100" spc="65" b="1">
                <a:latin typeface="Times New Roman"/>
                <a:cs typeface="Times New Roman"/>
              </a:rPr>
              <a:t>n+1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247" y="26923"/>
            <a:ext cx="41173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13275" y="26923"/>
            <a:ext cx="10509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25744" y="26923"/>
            <a:ext cx="28981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383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02814" y="902969"/>
            <a:ext cx="3489960" cy="4876800"/>
          </a:xfrm>
          <a:custGeom>
            <a:avLst/>
            <a:gdLst/>
            <a:ahLst/>
            <a:cxnLst/>
            <a:rect l="l" t="t" r="r" b="b"/>
            <a:pathLst>
              <a:path w="3489960" h="4876800">
                <a:moveTo>
                  <a:pt x="0" y="4876800"/>
                </a:moveTo>
                <a:lnTo>
                  <a:pt x="3489960" y="4876800"/>
                </a:lnTo>
                <a:lnTo>
                  <a:pt x="3489960" y="0"/>
                </a:lnTo>
                <a:lnTo>
                  <a:pt x="0" y="0"/>
                </a:lnTo>
                <a:lnTo>
                  <a:pt x="0" y="48768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031741" y="934669"/>
            <a:ext cx="83058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e.code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50614" y="1369568"/>
            <a:ext cx="59436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测</a:t>
            </a: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C1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21785" y="1744471"/>
            <a:ext cx="1650364" cy="66548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12700" marR="5080" indent="316865">
              <a:lnSpc>
                <a:spcPct val="75000"/>
              </a:lnSpc>
              <a:spcBef>
                <a:spcPts val="82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S1.code 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(j,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_, _,</a:t>
            </a:r>
            <a:r>
              <a:rPr dirty="0" sz="24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next)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50614" y="2548839"/>
            <a:ext cx="59372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测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C2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55897" y="4302988"/>
            <a:ext cx="138049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57175">
              <a:lnSpc>
                <a:spcPct val="12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Sn.code  (j, _, _,</a:t>
            </a:r>
            <a:r>
              <a:rPr dirty="0" sz="2000" spc="-11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next)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11853" y="5094554"/>
            <a:ext cx="107124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baseline="-17361" sz="2400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-17094" sz="1950" b="1">
                <a:solidFill>
                  <a:srgbClr val="FFFFFF"/>
                </a:solidFill>
                <a:latin typeface="Times New Roman"/>
                <a:cs typeface="Times New Roman"/>
              </a:rPr>
              <a:t>+1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.code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705861" y="5781294"/>
            <a:ext cx="0" cy="457200"/>
          </a:xfrm>
          <a:custGeom>
            <a:avLst/>
            <a:gdLst/>
            <a:ahLst/>
            <a:cxnLst/>
            <a:rect l="l" t="t" r="r" b="b"/>
            <a:pathLst>
              <a:path w="0" h="457200">
                <a:moveTo>
                  <a:pt x="0" y="0"/>
                </a:moveTo>
                <a:lnTo>
                  <a:pt x="0" y="457199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195821" y="5781294"/>
            <a:ext cx="0" cy="457200"/>
          </a:xfrm>
          <a:custGeom>
            <a:avLst/>
            <a:gdLst/>
            <a:ahLst/>
            <a:cxnLst/>
            <a:rect l="l" t="t" r="r" b="b"/>
            <a:pathLst>
              <a:path w="0" h="457200">
                <a:moveTo>
                  <a:pt x="0" y="0"/>
                </a:moveTo>
                <a:lnTo>
                  <a:pt x="0" y="457199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683001" y="1398269"/>
            <a:ext cx="3489960" cy="0"/>
          </a:xfrm>
          <a:custGeom>
            <a:avLst/>
            <a:gdLst/>
            <a:ahLst/>
            <a:cxnLst/>
            <a:rect l="l" t="t" r="r" b="b"/>
            <a:pathLst>
              <a:path w="3489960" h="0">
                <a:moveTo>
                  <a:pt x="0" y="0"/>
                </a:moveTo>
                <a:lnTo>
                  <a:pt x="3489960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683001" y="1796033"/>
            <a:ext cx="3489960" cy="0"/>
          </a:xfrm>
          <a:custGeom>
            <a:avLst/>
            <a:gdLst/>
            <a:ahLst/>
            <a:cxnLst/>
            <a:rect l="l" t="t" r="r" b="b"/>
            <a:pathLst>
              <a:path w="3489960" h="0">
                <a:moveTo>
                  <a:pt x="0" y="0"/>
                </a:moveTo>
                <a:lnTo>
                  <a:pt x="3489960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683001" y="2541270"/>
            <a:ext cx="3489960" cy="0"/>
          </a:xfrm>
          <a:custGeom>
            <a:avLst/>
            <a:gdLst/>
            <a:ahLst/>
            <a:cxnLst/>
            <a:rect l="l" t="t" r="r" b="b"/>
            <a:pathLst>
              <a:path w="3489960" h="0">
                <a:moveTo>
                  <a:pt x="0" y="0"/>
                </a:moveTo>
                <a:lnTo>
                  <a:pt x="3489960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683001" y="2963417"/>
            <a:ext cx="3489960" cy="0"/>
          </a:xfrm>
          <a:custGeom>
            <a:avLst/>
            <a:gdLst/>
            <a:ahLst/>
            <a:cxnLst/>
            <a:rect l="l" t="t" r="r" b="b"/>
            <a:pathLst>
              <a:path w="3489960" h="0">
                <a:moveTo>
                  <a:pt x="0" y="0"/>
                </a:moveTo>
                <a:lnTo>
                  <a:pt x="3489960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683001" y="3624834"/>
            <a:ext cx="3489960" cy="0"/>
          </a:xfrm>
          <a:custGeom>
            <a:avLst/>
            <a:gdLst/>
            <a:ahLst/>
            <a:cxnLst/>
            <a:rect l="l" t="t" r="r" b="b"/>
            <a:pathLst>
              <a:path w="3489960" h="0">
                <a:moveTo>
                  <a:pt x="0" y="0"/>
                </a:moveTo>
                <a:lnTo>
                  <a:pt x="3489960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683001" y="3964685"/>
            <a:ext cx="3489960" cy="0"/>
          </a:xfrm>
          <a:custGeom>
            <a:avLst/>
            <a:gdLst/>
            <a:ahLst/>
            <a:cxnLst/>
            <a:rect l="l" t="t" r="r" b="b"/>
            <a:pathLst>
              <a:path w="3489960" h="0">
                <a:moveTo>
                  <a:pt x="0" y="0"/>
                </a:moveTo>
                <a:lnTo>
                  <a:pt x="3489960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683001" y="5055870"/>
            <a:ext cx="3489960" cy="0"/>
          </a:xfrm>
          <a:custGeom>
            <a:avLst/>
            <a:gdLst/>
            <a:ahLst/>
            <a:cxnLst/>
            <a:rect l="l" t="t" r="r" b="b"/>
            <a:pathLst>
              <a:path w="3489960" h="0">
                <a:moveTo>
                  <a:pt x="0" y="0"/>
                </a:moveTo>
                <a:lnTo>
                  <a:pt x="3489960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683001" y="5430773"/>
            <a:ext cx="3489960" cy="0"/>
          </a:xfrm>
          <a:custGeom>
            <a:avLst/>
            <a:gdLst/>
            <a:ahLst/>
            <a:cxnLst/>
            <a:rect l="l" t="t" r="r" b="b"/>
            <a:pathLst>
              <a:path w="3489960" h="0">
                <a:moveTo>
                  <a:pt x="0" y="0"/>
                </a:moveTo>
                <a:lnTo>
                  <a:pt x="3489960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093722" y="1832863"/>
            <a:ext cx="40767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L1: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14117" y="2384399"/>
            <a:ext cx="423545" cy="832485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L2:</a:t>
            </a:r>
            <a:endParaRPr sz="2000">
              <a:latin typeface="Times New Roman"/>
              <a:cs typeface="Times New Roman"/>
            </a:endParaRPr>
          </a:p>
          <a:p>
            <a:pPr marL="28575">
              <a:lnSpc>
                <a:spcPct val="100000"/>
              </a:lnSpc>
              <a:spcBef>
                <a:spcPts val="775"/>
              </a:spcBef>
            </a:pP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L3: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78760" y="3561969"/>
            <a:ext cx="40767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L4: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91283" y="3890213"/>
            <a:ext cx="431990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2263775" algn="l"/>
                <a:tab pos="4281170" algn="l"/>
              </a:tabLst>
            </a:pPr>
            <a:r>
              <a:rPr dirty="0" sz="2000" spc="-10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2000" spc="5" b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-2</a:t>
            </a:r>
            <a:r>
              <a:rPr dirty="0" sz="2000" spc="125" b="1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r>
              <a:rPr dirty="0" u="heavy" baseline="-23611" sz="3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baseline="-23611" sz="3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baseline="-23611" sz="3000" spc="7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测</a:t>
            </a:r>
            <a:r>
              <a:rPr dirty="0" u="heavy" baseline="-23611" sz="3000" spc="7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C</a:t>
            </a:r>
            <a:r>
              <a:rPr dirty="0" u="heavy" baseline="-23611" sz="3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n</a:t>
            </a:r>
            <a:r>
              <a:rPr dirty="0" u="heavy" baseline="-23611" sz="3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	</a:t>
            </a:r>
            <a:endParaRPr baseline="-23611" sz="3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55897" y="2957830"/>
            <a:ext cx="1380490" cy="97155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 indent="263525">
              <a:lnSpc>
                <a:spcPts val="2520"/>
              </a:lnSpc>
              <a:spcBef>
                <a:spcPts val="8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S2.code  (j, _, _,</a:t>
            </a:r>
            <a:r>
              <a:rPr dirty="0" sz="2000" spc="-11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next)</a:t>
            </a:r>
            <a:endParaRPr sz="2000">
              <a:latin typeface="Times New Roman"/>
              <a:cs typeface="Times New Roman"/>
            </a:endParaRPr>
          </a:p>
          <a:p>
            <a:pPr marL="312420">
              <a:lnSpc>
                <a:spcPts val="2420"/>
              </a:lnSpc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……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927986" y="4271898"/>
            <a:ext cx="7632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L2n-</a:t>
            </a:r>
            <a:r>
              <a:rPr dirty="0" sz="2000" spc="5" b="1">
                <a:solidFill>
                  <a:srgbClr val="FFFF00"/>
                </a:solidFill>
                <a:latin typeface="Times New Roman"/>
                <a:cs typeface="Times New Roman"/>
              </a:rPr>
              <a:t>1: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884426" y="4869291"/>
            <a:ext cx="684530" cy="905510"/>
          </a:xfrm>
          <a:prstGeom prst="rect">
            <a:avLst/>
          </a:prstGeom>
        </p:spPr>
        <p:txBody>
          <a:bodyPr wrap="square" lIns="0" tIns="147320" rIns="0" bIns="0" rtlCol="0" vert="horz">
            <a:spAutoFit/>
          </a:bodyPr>
          <a:lstStyle/>
          <a:p>
            <a:pPr marL="148590">
              <a:lnSpc>
                <a:spcPct val="100000"/>
              </a:lnSpc>
              <a:spcBef>
                <a:spcPts val="1160"/>
              </a:spcBef>
            </a:pPr>
            <a:r>
              <a:rPr dirty="0" sz="2000" spc="-10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2n: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next: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601461" y="1473708"/>
            <a:ext cx="1125220" cy="114300"/>
          </a:xfrm>
          <a:custGeom>
            <a:avLst/>
            <a:gdLst/>
            <a:ahLst/>
            <a:cxnLst/>
            <a:rect l="l" t="t" r="r" b="b"/>
            <a:pathLst>
              <a:path w="1125220" h="114300">
                <a:moveTo>
                  <a:pt x="1010412" y="0"/>
                </a:moveTo>
                <a:lnTo>
                  <a:pt x="1010412" y="114300"/>
                </a:lnTo>
                <a:lnTo>
                  <a:pt x="1086612" y="76200"/>
                </a:lnTo>
                <a:lnTo>
                  <a:pt x="1029462" y="76200"/>
                </a:lnTo>
                <a:lnTo>
                  <a:pt x="1029462" y="38100"/>
                </a:lnTo>
                <a:lnTo>
                  <a:pt x="1086612" y="38100"/>
                </a:lnTo>
                <a:lnTo>
                  <a:pt x="1010412" y="0"/>
                </a:lnTo>
                <a:close/>
              </a:path>
              <a:path w="1125220" h="114300">
                <a:moveTo>
                  <a:pt x="10104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10412" y="76200"/>
                </a:lnTo>
                <a:lnTo>
                  <a:pt x="1010412" y="38100"/>
                </a:lnTo>
                <a:close/>
              </a:path>
              <a:path w="1125220" h="114300">
                <a:moveTo>
                  <a:pt x="1086612" y="38100"/>
                </a:moveTo>
                <a:lnTo>
                  <a:pt x="1029462" y="38100"/>
                </a:lnTo>
                <a:lnTo>
                  <a:pt x="1029462" y="76200"/>
                </a:lnTo>
                <a:lnTo>
                  <a:pt x="1086612" y="76200"/>
                </a:lnTo>
                <a:lnTo>
                  <a:pt x="1124712" y="57150"/>
                </a:lnTo>
                <a:lnTo>
                  <a:pt x="108661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6944614" y="1316481"/>
            <a:ext cx="1606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621273" y="1664207"/>
            <a:ext cx="1123315" cy="114300"/>
          </a:xfrm>
          <a:custGeom>
            <a:avLst/>
            <a:gdLst/>
            <a:ahLst/>
            <a:cxnLst/>
            <a:rect l="l" t="t" r="r" b="b"/>
            <a:pathLst>
              <a:path w="1123315" h="114300">
                <a:moveTo>
                  <a:pt x="1008887" y="0"/>
                </a:moveTo>
                <a:lnTo>
                  <a:pt x="1008887" y="114300"/>
                </a:lnTo>
                <a:lnTo>
                  <a:pt x="1085087" y="76200"/>
                </a:lnTo>
                <a:lnTo>
                  <a:pt x="1027937" y="76200"/>
                </a:lnTo>
                <a:lnTo>
                  <a:pt x="1027937" y="38100"/>
                </a:lnTo>
                <a:lnTo>
                  <a:pt x="1085087" y="38100"/>
                </a:lnTo>
                <a:lnTo>
                  <a:pt x="1008887" y="0"/>
                </a:lnTo>
                <a:close/>
              </a:path>
              <a:path w="1123315" h="114300">
                <a:moveTo>
                  <a:pt x="100888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08887" y="76200"/>
                </a:lnTo>
                <a:lnTo>
                  <a:pt x="1008887" y="38100"/>
                </a:lnTo>
                <a:close/>
              </a:path>
              <a:path w="1123315" h="114300">
                <a:moveTo>
                  <a:pt x="1085087" y="38100"/>
                </a:moveTo>
                <a:lnTo>
                  <a:pt x="1027937" y="38100"/>
                </a:lnTo>
                <a:lnTo>
                  <a:pt x="1027937" y="76200"/>
                </a:lnTo>
                <a:lnTo>
                  <a:pt x="1085087" y="76200"/>
                </a:lnTo>
                <a:lnTo>
                  <a:pt x="1123187" y="57150"/>
                </a:lnTo>
                <a:lnTo>
                  <a:pt x="1085087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6817106" y="1154938"/>
            <a:ext cx="1125220" cy="753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2865"/>
              </a:lnSpc>
              <a:spcBef>
                <a:spcPts val="100"/>
              </a:spcBef>
              <a:tabLst>
                <a:tab pos="728345" algn="l"/>
              </a:tabLst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j	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L1</a:t>
            </a:r>
            <a:endParaRPr sz="2400">
              <a:latin typeface="Times New Roman"/>
              <a:cs typeface="Times New Roman"/>
            </a:endParaRPr>
          </a:p>
          <a:p>
            <a:pPr marL="57150">
              <a:lnSpc>
                <a:spcPts val="2865"/>
              </a:lnSpc>
              <a:tabLst>
                <a:tab pos="732155" algn="l"/>
              </a:tabLst>
            </a:pP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j</a:t>
            </a:r>
            <a:r>
              <a:rPr dirty="0" baseline="-15625" sz="2400" spc="-7" b="1">
                <a:solidFill>
                  <a:srgbClr val="FFFF00"/>
                </a:solidFill>
                <a:latin typeface="Times New Roman"/>
                <a:cs typeface="Times New Roman"/>
              </a:rPr>
              <a:t>F	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L2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563361" y="2593848"/>
            <a:ext cx="1125220" cy="114300"/>
          </a:xfrm>
          <a:custGeom>
            <a:avLst/>
            <a:gdLst/>
            <a:ahLst/>
            <a:cxnLst/>
            <a:rect l="l" t="t" r="r" b="b"/>
            <a:pathLst>
              <a:path w="1125220" h="114300">
                <a:moveTo>
                  <a:pt x="1010412" y="0"/>
                </a:moveTo>
                <a:lnTo>
                  <a:pt x="1010412" y="114300"/>
                </a:lnTo>
                <a:lnTo>
                  <a:pt x="1086612" y="76200"/>
                </a:lnTo>
                <a:lnTo>
                  <a:pt x="1029462" y="76200"/>
                </a:lnTo>
                <a:lnTo>
                  <a:pt x="1029462" y="38100"/>
                </a:lnTo>
                <a:lnTo>
                  <a:pt x="1086612" y="38100"/>
                </a:lnTo>
                <a:lnTo>
                  <a:pt x="1010412" y="0"/>
                </a:lnTo>
                <a:close/>
              </a:path>
              <a:path w="1125220" h="114300">
                <a:moveTo>
                  <a:pt x="10104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10412" y="76200"/>
                </a:lnTo>
                <a:lnTo>
                  <a:pt x="1010412" y="38100"/>
                </a:lnTo>
                <a:close/>
              </a:path>
              <a:path w="1125220" h="114300">
                <a:moveTo>
                  <a:pt x="1086612" y="38100"/>
                </a:moveTo>
                <a:lnTo>
                  <a:pt x="1029462" y="38100"/>
                </a:lnTo>
                <a:lnTo>
                  <a:pt x="1029462" y="76200"/>
                </a:lnTo>
                <a:lnTo>
                  <a:pt x="1086612" y="76200"/>
                </a:lnTo>
                <a:lnTo>
                  <a:pt x="1124712" y="57150"/>
                </a:lnTo>
                <a:lnTo>
                  <a:pt x="108661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583173" y="2784348"/>
            <a:ext cx="1123315" cy="114300"/>
          </a:xfrm>
          <a:custGeom>
            <a:avLst/>
            <a:gdLst/>
            <a:ahLst/>
            <a:cxnLst/>
            <a:rect l="l" t="t" r="r" b="b"/>
            <a:pathLst>
              <a:path w="1123315" h="114300">
                <a:moveTo>
                  <a:pt x="1008887" y="0"/>
                </a:moveTo>
                <a:lnTo>
                  <a:pt x="1008887" y="114300"/>
                </a:lnTo>
                <a:lnTo>
                  <a:pt x="1085087" y="76200"/>
                </a:lnTo>
                <a:lnTo>
                  <a:pt x="1027937" y="76200"/>
                </a:lnTo>
                <a:lnTo>
                  <a:pt x="1027937" y="38100"/>
                </a:lnTo>
                <a:lnTo>
                  <a:pt x="1085087" y="38100"/>
                </a:lnTo>
                <a:lnTo>
                  <a:pt x="1008887" y="0"/>
                </a:lnTo>
                <a:close/>
              </a:path>
              <a:path w="1123315" h="114300">
                <a:moveTo>
                  <a:pt x="100888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08887" y="76200"/>
                </a:lnTo>
                <a:lnTo>
                  <a:pt x="1008887" y="38100"/>
                </a:lnTo>
                <a:close/>
              </a:path>
              <a:path w="1123315" h="114300">
                <a:moveTo>
                  <a:pt x="1085087" y="38100"/>
                </a:moveTo>
                <a:lnTo>
                  <a:pt x="1027937" y="38100"/>
                </a:lnTo>
                <a:lnTo>
                  <a:pt x="1027937" y="76200"/>
                </a:lnTo>
                <a:lnTo>
                  <a:pt x="1085087" y="76200"/>
                </a:lnTo>
                <a:lnTo>
                  <a:pt x="1123187" y="57150"/>
                </a:lnTo>
                <a:lnTo>
                  <a:pt x="1085087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6766306" y="2274570"/>
            <a:ext cx="1137920" cy="753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ts val="2865"/>
              </a:lnSpc>
              <a:spcBef>
                <a:spcPts val="100"/>
              </a:spcBef>
              <a:tabLst>
                <a:tab pos="741045" algn="l"/>
              </a:tabLst>
            </a:pP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j</a:t>
            </a:r>
            <a:r>
              <a:rPr dirty="0" baseline="-15625" sz="2400" spc="-7" b="1">
                <a:solidFill>
                  <a:srgbClr val="FFFF00"/>
                </a:solidFill>
                <a:latin typeface="Times New Roman"/>
                <a:cs typeface="Times New Roman"/>
              </a:rPr>
              <a:t>T	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L3</a:t>
            </a:r>
            <a:endParaRPr sz="2400">
              <a:latin typeface="Times New Roman"/>
              <a:cs typeface="Times New Roman"/>
            </a:endParaRPr>
          </a:p>
          <a:p>
            <a:pPr marL="69850">
              <a:lnSpc>
                <a:spcPts val="2865"/>
              </a:lnSpc>
              <a:tabLst>
                <a:tab pos="744855" algn="l"/>
              </a:tabLst>
            </a:pP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j</a:t>
            </a:r>
            <a:r>
              <a:rPr dirty="0" baseline="-15625" sz="2400" spc="-7" b="1">
                <a:solidFill>
                  <a:srgbClr val="FFFF00"/>
                </a:solidFill>
                <a:latin typeface="Times New Roman"/>
                <a:cs typeface="Times New Roman"/>
              </a:rPr>
              <a:t>F	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L4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828656" y="3654044"/>
            <a:ext cx="476250" cy="839469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3595"/>
              </a:lnSpc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……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560575" y="1397508"/>
            <a:ext cx="1165860" cy="4851400"/>
          </a:xfrm>
          <a:custGeom>
            <a:avLst/>
            <a:gdLst/>
            <a:ahLst/>
            <a:cxnLst/>
            <a:rect l="l" t="t" r="r" b="b"/>
            <a:pathLst>
              <a:path w="1165860" h="4851400">
                <a:moveTo>
                  <a:pt x="0" y="2425446"/>
                </a:moveTo>
                <a:lnTo>
                  <a:pt x="257" y="2352633"/>
                </a:lnTo>
                <a:lnTo>
                  <a:pt x="1025" y="2280354"/>
                </a:lnTo>
                <a:lnTo>
                  <a:pt x="2296" y="2208639"/>
                </a:lnTo>
                <a:lnTo>
                  <a:pt x="4064" y="2137516"/>
                </a:lnTo>
                <a:lnTo>
                  <a:pt x="6320" y="2067018"/>
                </a:lnTo>
                <a:lnTo>
                  <a:pt x="9058" y="1997172"/>
                </a:lnTo>
                <a:lnTo>
                  <a:pt x="12270" y="1928010"/>
                </a:lnTo>
                <a:lnTo>
                  <a:pt x="15949" y="1859561"/>
                </a:lnTo>
                <a:lnTo>
                  <a:pt x="20088" y="1791855"/>
                </a:lnTo>
                <a:lnTo>
                  <a:pt x="24680" y="1724923"/>
                </a:lnTo>
                <a:lnTo>
                  <a:pt x="29718" y="1658794"/>
                </a:lnTo>
                <a:lnTo>
                  <a:pt x="35193" y="1593499"/>
                </a:lnTo>
                <a:lnTo>
                  <a:pt x="41100" y="1529067"/>
                </a:lnTo>
                <a:lnTo>
                  <a:pt x="47431" y="1465528"/>
                </a:lnTo>
                <a:lnTo>
                  <a:pt x="54178" y="1402913"/>
                </a:lnTo>
                <a:lnTo>
                  <a:pt x="61335" y="1341251"/>
                </a:lnTo>
                <a:lnTo>
                  <a:pt x="68894" y="1280573"/>
                </a:lnTo>
                <a:lnTo>
                  <a:pt x="76848" y="1220908"/>
                </a:lnTo>
                <a:lnTo>
                  <a:pt x="85190" y="1162287"/>
                </a:lnTo>
                <a:lnTo>
                  <a:pt x="93913" y="1104739"/>
                </a:lnTo>
                <a:lnTo>
                  <a:pt x="103009" y="1048294"/>
                </a:lnTo>
                <a:lnTo>
                  <a:pt x="112471" y="992983"/>
                </a:lnTo>
                <a:lnTo>
                  <a:pt x="122292" y="938835"/>
                </a:lnTo>
                <a:lnTo>
                  <a:pt x="132465" y="885881"/>
                </a:lnTo>
                <a:lnTo>
                  <a:pt x="142982" y="834151"/>
                </a:lnTo>
                <a:lnTo>
                  <a:pt x="153836" y="783674"/>
                </a:lnTo>
                <a:lnTo>
                  <a:pt x="165021" y="734480"/>
                </a:lnTo>
                <a:lnTo>
                  <a:pt x="176529" y="686600"/>
                </a:lnTo>
                <a:lnTo>
                  <a:pt x="188352" y="640064"/>
                </a:lnTo>
                <a:lnTo>
                  <a:pt x="200484" y="594901"/>
                </a:lnTo>
                <a:lnTo>
                  <a:pt x="212917" y="551141"/>
                </a:lnTo>
                <a:lnTo>
                  <a:pt x="225644" y="508815"/>
                </a:lnTo>
                <a:lnTo>
                  <a:pt x="238658" y="467953"/>
                </a:lnTo>
                <a:lnTo>
                  <a:pt x="251951" y="428584"/>
                </a:lnTo>
                <a:lnTo>
                  <a:pt x="265517" y="390739"/>
                </a:lnTo>
                <a:lnTo>
                  <a:pt x="279348" y="354447"/>
                </a:lnTo>
                <a:lnTo>
                  <a:pt x="307777" y="286645"/>
                </a:lnTo>
                <a:lnTo>
                  <a:pt x="337180" y="225417"/>
                </a:lnTo>
                <a:lnTo>
                  <a:pt x="367500" y="171004"/>
                </a:lnTo>
                <a:lnTo>
                  <a:pt x="398678" y="123645"/>
                </a:lnTo>
                <a:lnTo>
                  <a:pt x="430657" y="83580"/>
                </a:lnTo>
                <a:lnTo>
                  <a:pt x="463380" y="51051"/>
                </a:lnTo>
                <a:lnTo>
                  <a:pt x="496788" y="26296"/>
                </a:lnTo>
                <a:lnTo>
                  <a:pt x="548060" y="4267"/>
                </a:lnTo>
                <a:lnTo>
                  <a:pt x="582930" y="0"/>
                </a:lnTo>
                <a:lnTo>
                  <a:pt x="600428" y="1071"/>
                </a:lnTo>
                <a:lnTo>
                  <a:pt x="652128" y="16909"/>
                </a:lnTo>
                <a:lnTo>
                  <a:pt x="685857" y="37687"/>
                </a:lnTo>
                <a:lnTo>
                  <a:pt x="718930" y="66359"/>
                </a:lnTo>
                <a:lnTo>
                  <a:pt x="751288" y="102686"/>
                </a:lnTo>
                <a:lnTo>
                  <a:pt x="782874" y="146427"/>
                </a:lnTo>
                <a:lnTo>
                  <a:pt x="813630" y="197343"/>
                </a:lnTo>
                <a:lnTo>
                  <a:pt x="843498" y="255194"/>
                </a:lnTo>
                <a:lnTo>
                  <a:pt x="872422" y="319739"/>
                </a:lnTo>
                <a:lnTo>
                  <a:pt x="900342" y="390739"/>
                </a:lnTo>
                <a:lnTo>
                  <a:pt x="913908" y="428584"/>
                </a:lnTo>
                <a:lnTo>
                  <a:pt x="927201" y="467953"/>
                </a:lnTo>
                <a:lnTo>
                  <a:pt x="940215" y="508815"/>
                </a:lnTo>
                <a:lnTo>
                  <a:pt x="952942" y="551141"/>
                </a:lnTo>
                <a:lnTo>
                  <a:pt x="965375" y="594901"/>
                </a:lnTo>
                <a:lnTo>
                  <a:pt x="977507" y="640064"/>
                </a:lnTo>
                <a:lnTo>
                  <a:pt x="989330" y="686600"/>
                </a:lnTo>
                <a:lnTo>
                  <a:pt x="1000838" y="734480"/>
                </a:lnTo>
                <a:lnTo>
                  <a:pt x="1012023" y="783674"/>
                </a:lnTo>
                <a:lnTo>
                  <a:pt x="1022877" y="834151"/>
                </a:lnTo>
                <a:lnTo>
                  <a:pt x="1033394" y="885881"/>
                </a:lnTo>
                <a:lnTo>
                  <a:pt x="1043567" y="938835"/>
                </a:lnTo>
                <a:lnTo>
                  <a:pt x="1053388" y="992983"/>
                </a:lnTo>
                <a:lnTo>
                  <a:pt x="1062850" y="1048294"/>
                </a:lnTo>
                <a:lnTo>
                  <a:pt x="1071946" y="1104739"/>
                </a:lnTo>
                <a:lnTo>
                  <a:pt x="1080669" y="1162287"/>
                </a:lnTo>
                <a:lnTo>
                  <a:pt x="1089011" y="1220908"/>
                </a:lnTo>
                <a:lnTo>
                  <a:pt x="1096965" y="1280573"/>
                </a:lnTo>
                <a:lnTo>
                  <a:pt x="1104524" y="1341251"/>
                </a:lnTo>
                <a:lnTo>
                  <a:pt x="1111681" y="1402913"/>
                </a:lnTo>
                <a:lnTo>
                  <a:pt x="1118428" y="1465528"/>
                </a:lnTo>
                <a:lnTo>
                  <a:pt x="1124759" y="1529067"/>
                </a:lnTo>
                <a:lnTo>
                  <a:pt x="1130666" y="1593499"/>
                </a:lnTo>
                <a:lnTo>
                  <a:pt x="1136142" y="1658794"/>
                </a:lnTo>
                <a:lnTo>
                  <a:pt x="1141179" y="1724923"/>
                </a:lnTo>
                <a:lnTo>
                  <a:pt x="1145771" y="1791855"/>
                </a:lnTo>
                <a:lnTo>
                  <a:pt x="1149910" y="1859561"/>
                </a:lnTo>
                <a:lnTo>
                  <a:pt x="1153589" y="1928010"/>
                </a:lnTo>
                <a:lnTo>
                  <a:pt x="1156801" y="1997172"/>
                </a:lnTo>
                <a:lnTo>
                  <a:pt x="1159539" y="2067018"/>
                </a:lnTo>
                <a:lnTo>
                  <a:pt x="1161795" y="2137516"/>
                </a:lnTo>
                <a:lnTo>
                  <a:pt x="1163563" y="2208639"/>
                </a:lnTo>
                <a:lnTo>
                  <a:pt x="1164834" y="2280354"/>
                </a:lnTo>
                <a:lnTo>
                  <a:pt x="1165602" y="2352633"/>
                </a:lnTo>
                <a:lnTo>
                  <a:pt x="1165860" y="2425446"/>
                </a:lnTo>
                <a:lnTo>
                  <a:pt x="1165602" y="2498258"/>
                </a:lnTo>
                <a:lnTo>
                  <a:pt x="1164834" y="2570537"/>
                </a:lnTo>
                <a:lnTo>
                  <a:pt x="1163563" y="2642252"/>
                </a:lnTo>
                <a:lnTo>
                  <a:pt x="1161795" y="2713375"/>
                </a:lnTo>
                <a:lnTo>
                  <a:pt x="1159539" y="2783873"/>
                </a:lnTo>
                <a:lnTo>
                  <a:pt x="1156801" y="2853719"/>
                </a:lnTo>
                <a:lnTo>
                  <a:pt x="1153589" y="2922881"/>
                </a:lnTo>
                <a:lnTo>
                  <a:pt x="1149910" y="2991330"/>
                </a:lnTo>
                <a:lnTo>
                  <a:pt x="1145771" y="3059036"/>
                </a:lnTo>
                <a:lnTo>
                  <a:pt x="1141179" y="3125968"/>
                </a:lnTo>
                <a:lnTo>
                  <a:pt x="1136141" y="3192097"/>
                </a:lnTo>
                <a:lnTo>
                  <a:pt x="1130666" y="3257392"/>
                </a:lnTo>
                <a:lnTo>
                  <a:pt x="1124759" y="3321824"/>
                </a:lnTo>
                <a:lnTo>
                  <a:pt x="1118428" y="3385363"/>
                </a:lnTo>
                <a:lnTo>
                  <a:pt x="1111681" y="3447978"/>
                </a:lnTo>
                <a:lnTo>
                  <a:pt x="1104524" y="3509640"/>
                </a:lnTo>
                <a:lnTo>
                  <a:pt x="1096965" y="3570318"/>
                </a:lnTo>
                <a:lnTo>
                  <a:pt x="1089011" y="3629983"/>
                </a:lnTo>
                <a:lnTo>
                  <a:pt x="1080669" y="3688604"/>
                </a:lnTo>
                <a:lnTo>
                  <a:pt x="1071946" y="3746152"/>
                </a:lnTo>
                <a:lnTo>
                  <a:pt x="1062850" y="3802597"/>
                </a:lnTo>
                <a:lnTo>
                  <a:pt x="1053388" y="3857908"/>
                </a:lnTo>
                <a:lnTo>
                  <a:pt x="1043567" y="3912056"/>
                </a:lnTo>
                <a:lnTo>
                  <a:pt x="1033394" y="3965010"/>
                </a:lnTo>
                <a:lnTo>
                  <a:pt x="1022877" y="4016740"/>
                </a:lnTo>
                <a:lnTo>
                  <a:pt x="1012023" y="4067217"/>
                </a:lnTo>
                <a:lnTo>
                  <a:pt x="1000838" y="4116411"/>
                </a:lnTo>
                <a:lnTo>
                  <a:pt x="989330" y="4164291"/>
                </a:lnTo>
                <a:lnTo>
                  <a:pt x="977507" y="4210827"/>
                </a:lnTo>
                <a:lnTo>
                  <a:pt x="965375" y="4255990"/>
                </a:lnTo>
                <a:lnTo>
                  <a:pt x="952942" y="4299750"/>
                </a:lnTo>
                <a:lnTo>
                  <a:pt x="940215" y="4342076"/>
                </a:lnTo>
                <a:lnTo>
                  <a:pt x="927201" y="4382938"/>
                </a:lnTo>
                <a:lnTo>
                  <a:pt x="913908" y="4422307"/>
                </a:lnTo>
                <a:lnTo>
                  <a:pt x="900342" y="4460152"/>
                </a:lnTo>
                <a:lnTo>
                  <a:pt x="886511" y="4496444"/>
                </a:lnTo>
                <a:lnTo>
                  <a:pt x="858082" y="4564246"/>
                </a:lnTo>
                <a:lnTo>
                  <a:pt x="828679" y="4625474"/>
                </a:lnTo>
                <a:lnTo>
                  <a:pt x="798359" y="4679887"/>
                </a:lnTo>
                <a:lnTo>
                  <a:pt x="767181" y="4727246"/>
                </a:lnTo>
                <a:lnTo>
                  <a:pt x="735202" y="4767311"/>
                </a:lnTo>
                <a:lnTo>
                  <a:pt x="702479" y="4799840"/>
                </a:lnTo>
                <a:lnTo>
                  <a:pt x="669071" y="4824595"/>
                </a:lnTo>
                <a:lnTo>
                  <a:pt x="617799" y="4846624"/>
                </a:lnTo>
                <a:lnTo>
                  <a:pt x="582930" y="4850892"/>
                </a:lnTo>
                <a:lnTo>
                  <a:pt x="565431" y="4849820"/>
                </a:lnTo>
                <a:lnTo>
                  <a:pt x="513731" y="4833982"/>
                </a:lnTo>
                <a:lnTo>
                  <a:pt x="480002" y="4813204"/>
                </a:lnTo>
                <a:lnTo>
                  <a:pt x="446929" y="4784532"/>
                </a:lnTo>
                <a:lnTo>
                  <a:pt x="414571" y="4748205"/>
                </a:lnTo>
                <a:lnTo>
                  <a:pt x="382985" y="4704464"/>
                </a:lnTo>
                <a:lnTo>
                  <a:pt x="352229" y="4653548"/>
                </a:lnTo>
                <a:lnTo>
                  <a:pt x="322361" y="4595697"/>
                </a:lnTo>
                <a:lnTo>
                  <a:pt x="293437" y="4531152"/>
                </a:lnTo>
                <a:lnTo>
                  <a:pt x="265517" y="4460152"/>
                </a:lnTo>
                <a:lnTo>
                  <a:pt x="251951" y="4422307"/>
                </a:lnTo>
                <a:lnTo>
                  <a:pt x="238658" y="4382938"/>
                </a:lnTo>
                <a:lnTo>
                  <a:pt x="225644" y="4342076"/>
                </a:lnTo>
                <a:lnTo>
                  <a:pt x="212917" y="4299750"/>
                </a:lnTo>
                <a:lnTo>
                  <a:pt x="200484" y="4255990"/>
                </a:lnTo>
                <a:lnTo>
                  <a:pt x="188352" y="4210827"/>
                </a:lnTo>
                <a:lnTo>
                  <a:pt x="176529" y="4164291"/>
                </a:lnTo>
                <a:lnTo>
                  <a:pt x="165021" y="4116411"/>
                </a:lnTo>
                <a:lnTo>
                  <a:pt x="153836" y="4067217"/>
                </a:lnTo>
                <a:lnTo>
                  <a:pt x="142982" y="4016740"/>
                </a:lnTo>
                <a:lnTo>
                  <a:pt x="132465" y="3965010"/>
                </a:lnTo>
                <a:lnTo>
                  <a:pt x="122292" y="3912056"/>
                </a:lnTo>
                <a:lnTo>
                  <a:pt x="112471" y="3857908"/>
                </a:lnTo>
                <a:lnTo>
                  <a:pt x="103009" y="3802597"/>
                </a:lnTo>
                <a:lnTo>
                  <a:pt x="93913" y="3746152"/>
                </a:lnTo>
                <a:lnTo>
                  <a:pt x="85190" y="3688604"/>
                </a:lnTo>
                <a:lnTo>
                  <a:pt x="76848" y="3629983"/>
                </a:lnTo>
                <a:lnTo>
                  <a:pt x="68894" y="3570318"/>
                </a:lnTo>
                <a:lnTo>
                  <a:pt x="61335" y="3509640"/>
                </a:lnTo>
                <a:lnTo>
                  <a:pt x="54178" y="3447978"/>
                </a:lnTo>
                <a:lnTo>
                  <a:pt x="47431" y="3385363"/>
                </a:lnTo>
                <a:lnTo>
                  <a:pt x="41100" y="3321824"/>
                </a:lnTo>
                <a:lnTo>
                  <a:pt x="35193" y="3257392"/>
                </a:lnTo>
                <a:lnTo>
                  <a:pt x="29718" y="3192097"/>
                </a:lnTo>
                <a:lnTo>
                  <a:pt x="24680" y="3125968"/>
                </a:lnTo>
                <a:lnTo>
                  <a:pt x="20088" y="3059036"/>
                </a:lnTo>
                <a:lnTo>
                  <a:pt x="15949" y="2991330"/>
                </a:lnTo>
                <a:lnTo>
                  <a:pt x="12270" y="2922881"/>
                </a:lnTo>
                <a:lnTo>
                  <a:pt x="9058" y="2853719"/>
                </a:lnTo>
                <a:lnTo>
                  <a:pt x="6320" y="2783873"/>
                </a:lnTo>
                <a:lnTo>
                  <a:pt x="4064" y="2713375"/>
                </a:lnTo>
                <a:lnTo>
                  <a:pt x="2296" y="2642252"/>
                </a:lnTo>
                <a:lnTo>
                  <a:pt x="1025" y="2570537"/>
                </a:lnTo>
                <a:lnTo>
                  <a:pt x="257" y="2498258"/>
                </a:lnTo>
                <a:lnTo>
                  <a:pt x="0" y="2425446"/>
                </a:lnTo>
                <a:close/>
              </a:path>
            </a:pathLst>
          </a:custGeom>
          <a:ln w="5715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41173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3275" y="26923"/>
            <a:ext cx="411035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6050" algn="l"/>
              </a:tabLst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96874" y="1201674"/>
            <a:ext cx="7409688" cy="50855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96874" y="1201674"/>
            <a:ext cx="7409815" cy="5085715"/>
          </a:xfrm>
          <a:custGeom>
            <a:avLst/>
            <a:gdLst/>
            <a:ahLst/>
            <a:cxnLst/>
            <a:rect l="l" t="t" r="r" b="b"/>
            <a:pathLst>
              <a:path w="7409815" h="5085715">
                <a:moveTo>
                  <a:pt x="0" y="5085588"/>
                </a:moveTo>
                <a:lnTo>
                  <a:pt x="7409688" y="5085588"/>
                </a:lnTo>
                <a:lnTo>
                  <a:pt x="7409688" y="0"/>
                </a:lnTo>
                <a:lnTo>
                  <a:pt x="0" y="0"/>
                </a:lnTo>
                <a:lnTo>
                  <a:pt x="0" y="508558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279016" y="1209497"/>
            <a:ext cx="282702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261235" algn="l"/>
              </a:tabLst>
            </a:pPr>
            <a:r>
              <a:rPr dirty="0" sz="320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dirty="0" sz="3200" spc="-17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000000"/>
                </a:solidFill>
                <a:latin typeface="Wingdings 3"/>
                <a:cs typeface="Wingdings 3"/>
              </a:rPr>
              <a:t></a:t>
            </a:r>
            <a:r>
              <a:rPr dirty="0" sz="32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000000"/>
                </a:solidFill>
                <a:latin typeface="Times New Roman"/>
                <a:cs typeface="Times New Roman"/>
              </a:rPr>
              <a:t>switch	(e</a:t>
            </a:r>
            <a:r>
              <a:rPr dirty="0" sz="3200" spc="-1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0000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24528" y="1564879"/>
            <a:ext cx="2602230" cy="1573530"/>
          </a:xfrm>
          <a:prstGeom prst="rect">
            <a:avLst/>
          </a:prstGeom>
        </p:spPr>
        <p:txBody>
          <a:bodyPr wrap="square" lIns="0" tIns="298450" rIns="0" bIns="0" rtlCol="0" vert="horz">
            <a:spAutoFit/>
          </a:bodyPr>
          <a:lstStyle/>
          <a:p>
            <a:pPr marL="97155">
              <a:lnSpc>
                <a:spcPct val="100000"/>
              </a:lnSpc>
              <a:spcBef>
                <a:spcPts val="2350"/>
              </a:spcBef>
              <a:tabLst>
                <a:tab pos="638175" algn="l"/>
                <a:tab pos="1302385" algn="l"/>
              </a:tabLst>
            </a:pPr>
            <a:r>
              <a:rPr dirty="0" sz="3200" b="1">
                <a:latin typeface="Times New Roman"/>
                <a:cs typeface="Times New Roman"/>
              </a:rPr>
              <a:t>:	</a:t>
            </a:r>
            <a:r>
              <a:rPr dirty="0" sz="3200" spc="5" b="1">
                <a:latin typeface="Times New Roman"/>
                <a:cs typeface="Times New Roman"/>
              </a:rPr>
              <a:t>S</a:t>
            </a:r>
            <a:r>
              <a:rPr dirty="0" baseline="-15873" sz="3150" spc="7" b="1">
                <a:latin typeface="Times New Roman"/>
                <a:cs typeface="Times New Roman"/>
              </a:rPr>
              <a:t>1	</a:t>
            </a:r>
            <a:r>
              <a:rPr dirty="0" sz="3200" spc="-10" b="1">
                <a:latin typeface="Times New Roman"/>
                <a:cs typeface="Times New Roman"/>
              </a:rPr>
              <a:t>break</a:t>
            </a:r>
            <a:r>
              <a:rPr dirty="0" sz="3200" spc="-7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;</a:t>
            </a:r>
            <a:endParaRPr sz="3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255"/>
              </a:spcBef>
              <a:tabLst>
                <a:tab pos="579120" algn="l"/>
                <a:tab pos="1244600" algn="l"/>
              </a:tabLst>
            </a:pPr>
            <a:r>
              <a:rPr dirty="0" sz="3200" b="1">
                <a:latin typeface="Times New Roman"/>
                <a:cs typeface="Times New Roman"/>
              </a:rPr>
              <a:t>:	</a:t>
            </a:r>
            <a:r>
              <a:rPr dirty="0" sz="3200" spc="5" b="1">
                <a:latin typeface="Times New Roman"/>
                <a:cs typeface="Times New Roman"/>
              </a:rPr>
              <a:t>S</a:t>
            </a:r>
            <a:r>
              <a:rPr dirty="0" baseline="-15873" sz="3150" spc="7" b="1">
                <a:latin typeface="Times New Roman"/>
                <a:cs typeface="Times New Roman"/>
              </a:rPr>
              <a:t>2	</a:t>
            </a:r>
            <a:r>
              <a:rPr dirty="0" sz="3200" spc="-10" b="1">
                <a:latin typeface="Times New Roman"/>
                <a:cs typeface="Times New Roman"/>
              </a:rPr>
              <a:t>break</a:t>
            </a:r>
            <a:r>
              <a:rPr dirty="0" sz="3200" spc="-7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;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39767" y="4184980"/>
            <a:ext cx="255905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580390" algn="l"/>
                <a:tab pos="1259840" algn="l"/>
              </a:tabLst>
            </a:pPr>
            <a:r>
              <a:rPr dirty="0" sz="3200" b="1">
                <a:latin typeface="Times New Roman"/>
                <a:cs typeface="Times New Roman"/>
              </a:rPr>
              <a:t>:	</a:t>
            </a:r>
            <a:r>
              <a:rPr dirty="0" sz="3200" spc="5" b="1">
                <a:latin typeface="Times New Roman"/>
                <a:cs typeface="Times New Roman"/>
              </a:rPr>
              <a:t>S</a:t>
            </a:r>
            <a:r>
              <a:rPr dirty="0" baseline="-17195" sz="3150" spc="7" b="1">
                <a:latin typeface="Times New Roman"/>
                <a:cs typeface="Times New Roman"/>
              </a:rPr>
              <a:t>n	</a:t>
            </a:r>
            <a:r>
              <a:rPr dirty="0" sz="3200" spc="-10" b="1">
                <a:latin typeface="Times New Roman"/>
                <a:cs typeface="Times New Roman"/>
              </a:rPr>
              <a:t>break</a:t>
            </a:r>
            <a:r>
              <a:rPr dirty="0" sz="3200" spc="-7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;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70505" y="1564879"/>
            <a:ext cx="1949450" cy="39147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43230" marR="193040" indent="-405765">
              <a:lnSpc>
                <a:spcPct val="158700"/>
              </a:lnSpc>
              <a:spcBef>
                <a:spcPts val="95"/>
              </a:spcBef>
              <a:tabLst>
                <a:tab pos="502920" algn="l"/>
                <a:tab pos="1370965" algn="l"/>
                <a:tab pos="1431290" algn="l"/>
              </a:tabLst>
            </a:pPr>
            <a:r>
              <a:rPr dirty="0" sz="3200" b="1">
                <a:latin typeface="Times New Roman"/>
                <a:cs typeface="Times New Roman"/>
              </a:rPr>
              <a:t>{</a:t>
            </a:r>
            <a:r>
              <a:rPr dirty="0" sz="3200" b="1">
                <a:latin typeface="Times New Roman"/>
                <a:cs typeface="Times New Roman"/>
              </a:rPr>
              <a:t>		</a:t>
            </a:r>
            <a:r>
              <a:rPr dirty="0" sz="3200" b="1">
                <a:latin typeface="Times New Roman"/>
                <a:cs typeface="Times New Roman"/>
              </a:rPr>
              <a:t>case</a:t>
            </a:r>
            <a:r>
              <a:rPr dirty="0" sz="3200" b="1">
                <a:latin typeface="Times New Roman"/>
                <a:cs typeface="Times New Roman"/>
              </a:rPr>
              <a:t>		</a:t>
            </a:r>
            <a:r>
              <a:rPr dirty="0" sz="3200" spc="5" b="1">
                <a:latin typeface="Times New Roman"/>
                <a:cs typeface="Times New Roman"/>
              </a:rPr>
              <a:t>c</a:t>
            </a:r>
            <a:r>
              <a:rPr dirty="0" baseline="-15873" sz="3150" spc="15" b="1">
                <a:latin typeface="Times New Roman"/>
                <a:cs typeface="Times New Roman"/>
              </a:rPr>
              <a:t>1  </a:t>
            </a:r>
            <a:r>
              <a:rPr dirty="0" sz="3200" b="1">
                <a:latin typeface="Times New Roman"/>
                <a:cs typeface="Times New Roman"/>
              </a:rPr>
              <a:t>case	</a:t>
            </a:r>
            <a:r>
              <a:rPr dirty="0" sz="3200" spc="10" b="1">
                <a:latin typeface="Times New Roman"/>
                <a:cs typeface="Times New Roman"/>
              </a:rPr>
              <a:t>c</a:t>
            </a:r>
            <a:r>
              <a:rPr dirty="0" baseline="-15873" sz="3150" spc="15" b="1">
                <a:latin typeface="Times New Roman"/>
                <a:cs typeface="Times New Roman"/>
              </a:rPr>
              <a:t>2</a:t>
            </a:r>
            <a:endParaRPr baseline="-15873" sz="3150">
              <a:latin typeface="Times New Roman"/>
              <a:cs typeface="Times New Roman"/>
            </a:endParaRPr>
          </a:p>
          <a:p>
            <a:pPr marL="443230" marR="43180" indent="304800">
              <a:lnSpc>
                <a:spcPct val="160000"/>
              </a:lnSpc>
              <a:spcBef>
                <a:spcPts val="5"/>
              </a:spcBef>
              <a:tabLst>
                <a:tab pos="1370965" algn="l"/>
              </a:tabLst>
            </a:pPr>
            <a:r>
              <a:rPr dirty="0" sz="3200" b="1">
                <a:latin typeface="Times New Roman"/>
                <a:cs typeface="Times New Roman"/>
              </a:rPr>
              <a:t>……  case	</a:t>
            </a:r>
            <a:r>
              <a:rPr dirty="0" sz="3200" spc="10" b="1">
                <a:latin typeface="Times New Roman"/>
                <a:cs typeface="Times New Roman"/>
              </a:rPr>
              <a:t>c</a:t>
            </a:r>
            <a:r>
              <a:rPr dirty="0" baseline="-17195" sz="3150" spc="15" b="1">
                <a:latin typeface="Times New Roman"/>
                <a:cs typeface="Times New Roman"/>
              </a:rPr>
              <a:t>n  </a:t>
            </a:r>
            <a:r>
              <a:rPr dirty="0" sz="3200" b="1">
                <a:latin typeface="Times New Roman"/>
                <a:cs typeface="Times New Roman"/>
              </a:rPr>
              <a:t>default</a:t>
            </a:r>
            <a:r>
              <a:rPr dirty="0" sz="3200" spc="-114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41731" y="5045202"/>
            <a:ext cx="74295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0416" sz="4800" spc="15" b="1">
                <a:latin typeface="Times New Roman"/>
                <a:cs typeface="Times New Roman"/>
              </a:rPr>
              <a:t>S</a:t>
            </a:r>
            <a:r>
              <a:rPr dirty="0" sz="2100" spc="10" b="1">
                <a:latin typeface="Times New Roman"/>
                <a:cs typeface="Times New Roman"/>
              </a:rPr>
              <a:t>n+1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95905" y="5746496"/>
            <a:ext cx="18605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476500" y="1638300"/>
            <a:ext cx="1752600" cy="4363720"/>
          </a:xfrm>
          <a:custGeom>
            <a:avLst/>
            <a:gdLst/>
            <a:ahLst/>
            <a:cxnLst/>
            <a:rect l="l" t="t" r="r" b="b"/>
            <a:pathLst>
              <a:path w="1752600" h="4363720">
                <a:moveTo>
                  <a:pt x="0" y="2181606"/>
                </a:moveTo>
                <a:lnTo>
                  <a:pt x="401" y="2114909"/>
                </a:lnTo>
                <a:lnTo>
                  <a:pt x="1599" y="2048710"/>
                </a:lnTo>
                <a:lnTo>
                  <a:pt x="3580" y="1983038"/>
                </a:lnTo>
                <a:lnTo>
                  <a:pt x="6335" y="1917920"/>
                </a:lnTo>
                <a:lnTo>
                  <a:pt x="9851" y="1853386"/>
                </a:lnTo>
                <a:lnTo>
                  <a:pt x="14117" y="1789464"/>
                </a:lnTo>
                <a:lnTo>
                  <a:pt x="19121" y="1726182"/>
                </a:lnTo>
                <a:lnTo>
                  <a:pt x="24853" y="1663570"/>
                </a:lnTo>
                <a:lnTo>
                  <a:pt x="31300" y="1601655"/>
                </a:lnTo>
                <a:lnTo>
                  <a:pt x="38451" y="1540466"/>
                </a:lnTo>
                <a:lnTo>
                  <a:pt x="46295" y="1480031"/>
                </a:lnTo>
                <a:lnTo>
                  <a:pt x="54820" y="1420380"/>
                </a:lnTo>
                <a:lnTo>
                  <a:pt x="64014" y="1361540"/>
                </a:lnTo>
                <a:lnTo>
                  <a:pt x="73867" y="1303541"/>
                </a:lnTo>
                <a:lnTo>
                  <a:pt x="84367" y="1246410"/>
                </a:lnTo>
                <a:lnTo>
                  <a:pt x="95503" y="1190177"/>
                </a:lnTo>
                <a:lnTo>
                  <a:pt x="107262" y="1134869"/>
                </a:lnTo>
                <a:lnTo>
                  <a:pt x="119633" y="1080515"/>
                </a:lnTo>
                <a:lnTo>
                  <a:pt x="132606" y="1027145"/>
                </a:lnTo>
                <a:lnTo>
                  <a:pt x="146169" y="974786"/>
                </a:lnTo>
                <a:lnTo>
                  <a:pt x="160309" y="923466"/>
                </a:lnTo>
                <a:lnTo>
                  <a:pt x="175016" y="873215"/>
                </a:lnTo>
                <a:lnTo>
                  <a:pt x="190278" y="824061"/>
                </a:lnTo>
                <a:lnTo>
                  <a:pt x="206084" y="776032"/>
                </a:lnTo>
                <a:lnTo>
                  <a:pt x="222423" y="729158"/>
                </a:lnTo>
                <a:lnTo>
                  <a:pt x="239282" y="683465"/>
                </a:lnTo>
                <a:lnTo>
                  <a:pt x="256651" y="638984"/>
                </a:lnTo>
                <a:lnTo>
                  <a:pt x="274517" y="595743"/>
                </a:lnTo>
                <a:lnTo>
                  <a:pt x="292870" y="553769"/>
                </a:lnTo>
                <a:lnTo>
                  <a:pt x="311698" y="513092"/>
                </a:lnTo>
                <a:lnTo>
                  <a:pt x="330990" y="473740"/>
                </a:lnTo>
                <a:lnTo>
                  <a:pt x="350734" y="435742"/>
                </a:lnTo>
                <a:lnTo>
                  <a:pt x="370918" y="399126"/>
                </a:lnTo>
                <a:lnTo>
                  <a:pt x="391532" y="363921"/>
                </a:lnTo>
                <a:lnTo>
                  <a:pt x="412563" y="330155"/>
                </a:lnTo>
                <a:lnTo>
                  <a:pt x="434001" y="297857"/>
                </a:lnTo>
                <a:lnTo>
                  <a:pt x="478049" y="237778"/>
                </a:lnTo>
                <a:lnTo>
                  <a:pt x="523586" y="183912"/>
                </a:lnTo>
                <a:lnTo>
                  <a:pt x="570518" y="136488"/>
                </a:lnTo>
                <a:lnTo>
                  <a:pt x="618755" y="95734"/>
                </a:lnTo>
                <a:lnTo>
                  <a:pt x="668205" y="61878"/>
                </a:lnTo>
                <a:lnTo>
                  <a:pt x="718776" y="35149"/>
                </a:lnTo>
                <a:lnTo>
                  <a:pt x="770376" y="15774"/>
                </a:lnTo>
                <a:lnTo>
                  <a:pt x="822915" y="3981"/>
                </a:lnTo>
                <a:lnTo>
                  <a:pt x="876300" y="0"/>
                </a:lnTo>
                <a:lnTo>
                  <a:pt x="903092" y="1000"/>
                </a:lnTo>
                <a:lnTo>
                  <a:pt x="956065" y="8915"/>
                </a:lnTo>
                <a:lnTo>
                  <a:pt x="1008146" y="24528"/>
                </a:lnTo>
                <a:lnTo>
                  <a:pt x="1059243" y="47609"/>
                </a:lnTo>
                <a:lnTo>
                  <a:pt x="1109265" y="77930"/>
                </a:lnTo>
                <a:lnTo>
                  <a:pt x="1158120" y="115263"/>
                </a:lnTo>
                <a:lnTo>
                  <a:pt x="1205716" y="159381"/>
                </a:lnTo>
                <a:lnTo>
                  <a:pt x="1251962" y="210054"/>
                </a:lnTo>
                <a:lnTo>
                  <a:pt x="1296766" y="267055"/>
                </a:lnTo>
                <a:lnTo>
                  <a:pt x="1340036" y="330155"/>
                </a:lnTo>
                <a:lnTo>
                  <a:pt x="1361067" y="363921"/>
                </a:lnTo>
                <a:lnTo>
                  <a:pt x="1381681" y="399126"/>
                </a:lnTo>
                <a:lnTo>
                  <a:pt x="1401865" y="435742"/>
                </a:lnTo>
                <a:lnTo>
                  <a:pt x="1421609" y="473740"/>
                </a:lnTo>
                <a:lnTo>
                  <a:pt x="1440901" y="513092"/>
                </a:lnTo>
                <a:lnTo>
                  <a:pt x="1459729" y="553769"/>
                </a:lnTo>
                <a:lnTo>
                  <a:pt x="1478082" y="595743"/>
                </a:lnTo>
                <a:lnTo>
                  <a:pt x="1495948" y="638984"/>
                </a:lnTo>
                <a:lnTo>
                  <a:pt x="1513317" y="683465"/>
                </a:lnTo>
                <a:lnTo>
                  <a:pt x="1530176" y="729158"/>
                </a:lnTo>
                <a:lnTo>
                  <a:pt x="1546515" y="776032"/>
                </a:lnTo>
                <a:lnTo>
                  <a:pt x="1562321" y="824061"/>
                </a:lnTo>
                <a:lnTo>
                  <a:pt x="1577583" y="873215"/>
                </a:lnTo>
                <a:lnTo>
                  <a:pt x="1592290" y="923466"/>
                </a:lnTo>
                <a:lnTo>
                  <a:pt x="1606430" y="974786"/>
                </a:lnTo>
                <a:lnTo>
                  <a:pt x="1619993" y="1027145"/>
                </a:lnTo>
                <a:lnTo>
                  <a:pt x="1632965" y="1080516"/>
                </a:lnTo>
                <a:lnTo>
                  <a:pt x="1645337" y="1134869"/>
                </a:lnTo>
                <a:lnTo>
                  <a:pt x="1657096" y="1190177"/>
                </a:lnTo>
                <a:lnTo>
                  <a:pt x="1668232" y="1246410"/>
                </a:lnTo>
                <a:lnTo>
                  <a:pt x="1678732" y="1303541"/>
                </a:lnTo>
                <a:lnTo>
                  <a:pt x="1688585" y="1361540"/>
                </a:lnTo>
                <a:lnTo>
                  <a:pt x="1697779" y="1420380"/>
                </a:lnTo>
                <a:lnTo>
                  <a:pt x="1706304" y="1480031"/>
                </a:lnTo>
                <a:lnTo>
                  <a:pt x="1714148" y="1540466"/>
                </a:lnTo>
                <a:lnTo>
                  <a:pt x="1721299" y="1601655"/>
                </a:lnTo>
                <a:lnTo>
                  <a:pt x="1727746" y="1663570"/>
                </a:lnTo>
                <a:lnTo>
                  <a:pt x="1733478" y="1726182"/>
                </a:lnTo>
                <a:lnTo>
                  <a:pt x="1738482" y="1789464"/>
                </a:lnTo>
                <a:lnTo>
                  <a:pt x="1742748" y="1853386"/>
                </a:lnTo>
                <a:lnTo>
                  <a:pt x="1746264" y="1917920"/>
                </a:lnTo>
                <a:lnTo>
                  <a:pt x="1749019" y="1983038"/>
                </a:lnTo>
                <a:lnTo>
                  <a:pt x="1751000" y="2048710"/>
                </a:lnTo>
                <a:lnTo>
                  <a:pt x="1752198" y="2114909"/>
                </a:lnTo>
                <a:lnTo>
                  <a:pt x="1752600" y="2181606"/>
                </a:lnTo>
                <a:lnTo>
                  <a:pt x="1752198" y="2248302"/>
                </a:lnTo>
                <a:lnTo>
                  <a:pt x="1751000" y="2314501"/>
                </a:lnTo>
                <a:lnTo>
                  <a:pt x="1749019" y="2380173"/>
                </a:lnTo>
                <a:lnTo>
                  <a:pt x="1746264" y="2445291"/>
                </a:lnTo>
                <a:lnTo>
                  <a:pt x="1742748" y="2509825"/>
                </a:lnTo>
                <a:lnTo>
                  <a:pt x="1738482" y="2573747"/>
                </a:lnTo>
                <a:lnTo>
                  <a:pt x="1733478" y="2637029"/>
                </a:lnTo>
                <a:lnTo>
                  <a:pt x="1727746" y="2699641"/>
                </a:lnTo>
                <a:lnTo>
                  <a:pt x="1721299" y="2761556"/>
                </a:lnTo>
                <a:lnTo>
                  <a:pt x="1714148" y="2822745"/>
                </a:lnTo>
                <a:lnTo>
                  <a:pt x="1706304" y="2883180"/>
                </a:lnTo>
                <a:lnTo>
                  <a:pt x="1697779" y="2942831"/>
                </a:lnTo>
                <a:lnTo>
                  <a:pt x="1688585" y="3001671"/>
                </a:lnTo>
                <a:lnTo>
                  <a:pt x="1678732" y="3059670"/>
                </a:lnTo>
                <a:lnTo>
                  <a:pt x="1668232" y="3116801"/>
                </a:lnTo>
                <a:lnTo>
                  <a:pt x="1657096" y="3173034"/>
                </a:lnTo>
                <a:lnTo>
                  <a:pt x="1645337" y="3228342"/>
                </a:lnTo>
                <a:lnTo>
                  <a:pt x="1632965" y="3282696"/>
                </a:lnTo>
                <a:lnTo>
                  <a:pt x="1619993" y="3336066"/>
                </a:lnTo>
                <a:lnTo>
                  <a:pt x="1606430" y="3388425"/>
                </a:lnTo>
                <a:lnTo>
                  <a:pt x="1592290" y="3439745"/>
                </a:lnTo>
                <a:lnTo>
                  <a:pt x="1577583" y="3489996"/>
                </a:lnTo>
                <a:lnTo>
                  <a:pt x="1562321" y="3539150"/>
                </a:lnTo>
                <a:lnTo>
                  <a:pt x="1546515" y="3587179"/>
                </a:lnTo>
                <a:lnTo>
                  <a:pt x="1530176" y="3634053"/>
                </a:lnTo>
                <a:lnTo>
                  <a:pt x="1513317" y="3679746"/>
                </a:lnTo>
                <a:lnTo>
                  <a:pt x="1495948" y="3724227"/>
                </a:lnTo>
                <a:lnTo>
                  <a:pt x="1478082" y="3767468"/>
                </a:lnTo>
                <a:lnTo>
                  <a:pt x="1459729" y="3809442"/>
                </a:lnTo>
                <a:lnTo>
                  <a:pt x="1440901" y="3850119"/>
                </a:lnTo>
                <a:lnTo>
                  <a:pt x="1421609" y="3889471"/>
                </a:lnTo>
                <a:lnTo>
                  <a:pt x="1401865" y="3927469"/>
                </a:lnTo>
                <a:lnTo>
                  <a:pt x="1381681" y="3964085"/>
                </a:lnTo>
                <a:lnTo>
                  <a:pt x="1361067" y="3999290"/>
                </a:lnTo>
                <a:lnTo>
                  <a:pt x="1340036" y="4033056"/>
                </a:lnTo>
                <a:lnTo>
                  <a:pt x="1318598" y="4065354"/>
                </a:lnTo>
                <a:lnTo>
                  <a:pt x="1274550" y="4125433"/>
                </a:lnTo>
                <a:lnTo>
                  <a:pt x="1229013" y="4179299"/>
                </a:lnTo>
                <a:lnTo>
                  <a:pt x="1182081" y="4226723"/>
                </a:lnTo>
                <a:lnTo>
                  <a:pt x="1133844" y="4267477"/>
                </a:lnTo>
                <a:lnTo>
                  <a:pt x="1084394" y="4301333"/>
                </a:lnTo>
                <a:lnTo>
                  <a:pt x="1033823" y="4328062"/>
                </a:lnTo>
                <a:lnTo>
                  <a:pt x="982223" y="4347437"/>
                </a:lnTo>
                <a:lnTo>
                  <a:pt x="929684" y="4359230"/>
                </a:lnTo>
                <a:lnTo>
                  <a:pt x="876300" y="4363212"/>
                </a:lnTo>
                <a:lnTo>
                  <a:pt x="849507" y="4362211"/>
                </a:lnTo>
                <a:lnTo>
                  <a:pt x="796534" y="4354296"/>
                </a:lnTo>
                <a:lnTo>
                  <a:pt x="744453" y="4338683"/>
                </a:lnTo>
                <a:lnTo>
                  <a:pt x="693356" y="4315602"/>
                </a:lnTo>
                <a:lnTo>
                  <a:pt x="643334" y="4285281"/>
                </a:lnTo>
                <a:lnTo>
                  <a:pt x="594479" y="4247948"/>
                </a:lnTo>
                <a:lnTo>
                  <a:pt x="546883" y="4203830"/>
                </a:lnTo>
                <a:lnTo>
                  <a:pt x="500637" y="4153157"/>
                </a:lnTo>
                <a:lnTo>
                  <a:pt x="455833" y="4096156"/>
                </a:lnTo>
                <a:lnTo>
                  <a:pt x="412563" y="4033056"/>
                </a:lnTo>
                <a:lnTo>
                  <a:pt x="391532" y="3999290"/>
                </a:lnTo>
                <a:lnTo>
                  <a:pt x="370918" y="3964085"/>
                </a:lnTo>
                <a:lnTo>
                  <a:pt x="350734" y="3927469"/>
                </a:lnTo>
                <a:lnTo>
                  <a:pt x="330990" y="3889471"/>
                </a:lnTo>
                <a:lnTo>
                  <a:pt x="311698" y="3850119"/>
                </a:lnTo>
                <a:lnTo>
                  <a:pt x="292870" y="3809442"/>
                </a:lnTo>
                <a:lnTo>
                  <a:pt x="274517" y="3767468"/>
                </a:lnTo>
                <a:lnTo>
                  <a:pt x="256651" y="3724227"/>
                </a:lnTo>
                <a:lnTo>
                  <a:pt x="239282" y="3679746"/>
                </a:lnTo>
                <a:lnTo>
                  <a:pt x="222423" y="3634053"/>
                </a:lnTo>
                <a:lnTo>
                  <a:pt x="206084" y="3587179"/>
                </a:lnTo>
                <a:lnTo>
                  <a:pt x="190278" y="3539150"/>
                </a:lnTo>
                <a:lnTo>
                  <a:pt x="175016" y="3489996"/>
                </a:lnTo>
                <a:lnTo>
                  <a:pt x="160309" y="3439745"/>
                </a:lnTo>
                <a:lnTo>
                  <a:pt x="146169" y="3388425"/>
                </a:lnTo>
                <a:lnTo>
                  <a:pt x="132606" y="3336066"/>
                </a:lnTo>
                <a:lnTo>
                  <a:pt x="119633" y="3282696"/>
                </a:lnTo>
                <a:lnTo>
                  <a:pt x="107262" y="3228342"/>
                </a:lnTo>
                <a:lnTo>
                  <a:pt x="95503" y="3173034"/>
                </a:lnTo>
                <a:lnTo>
                  <a:pt x="84367" y="3116801"/>
                </a:lnTo>
                <a:lnTo>
                  <a:pt x="73867" y="3059670"/>
                </a:lnTo>
                <a:lnTo>
                  <a:pt x="64014" y="3001671"/>
                </a:lnTo>
                <a:lnTo>
                  <a:pt x="54820" y="2942831"/>
                </a:lnTo>
                <a:lnTo>
                  <a:pt x="46295" y="2883180"/>
                </a:lnTo>
                <a:lnTo>
                  <a:pt x="38451" y="2822745"/>
                </a:lnTo>
                <a:lnTo>
                  <a:pt x="31300" y="2761556"/>
                </a:lnTo>
                <a:lnTo>
                  <a:pt x="24853" y="2699641"/>
                </a:lnTo>
                <a:lnTo>
                  <a:pt x="19121" y="2637029"/>
                </a:lnTo>
                <a:lnTo>
                  <a:pt x="14117" y="2573747"/>
                </a:lnTo>
                <a:lnTo>
                  <a:pt x="9851" y="2509825"/>
                </a:lnTo>
                <a:lnTo>
                  <a:pt x="6335" y="2445291"/>
                </a:lnTo>
                <a:lnTo>
                  <a:pt x="3580" y="2380173"/>
                </a:lnTo>
                <a:lnTo>
                  <a:pt x="1599" y="2314501"/>
                </a:lnTo>
                <a:lnTo>
                  <a:pt x="401" y="2248302"/>
                </a:lnTo>
                <a:lnTo>
                  <a:pt x="0" y="2181606"/>
                </a:lnTo>
                <a:close/>
              </a:path>
            </a:pathLst>
          </a:custGeom>
          <a:ln w="57150">
            <a:solidFill>
              <a:srgbClr val="A737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211057" y="6678574"/>
            <a:ext cx="7378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99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55035" y="434340"/>
            <a:ext cx="2743200" cy="6096000"/>
          </a:xfrm>
          <a:custGeom>
            <a:avLst/>
            <a:gdLst/>
            <a:ahLst/>
            <a:cxnLst/>
            <a:rect l="l" t="t" r="r" b="b"/>
            <a:pathLst>
              <a:path w="2743200" h="6096000">
                <a:moveTo>
                  <a:pt x="0" y="6096000"/>
                </a:moveTo>
                <a:lnTo>
                  <a:pt x="2743200" y="6096000"/>
                </a:lnTo>
                <a:lnTo>
                  <a:pt x="2743200" y="0"/>
                </a:lnTo>
                <a:lnTo>
                  <a:pt x="0" y="0"/>
                </a:lnTo>
                <a:lnTo>
                  <a:pt x="0" y="609600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677539" y="645642"/>
            <a:ext cx="1296035" cy="70231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36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e.code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(j, _, _,</a:t>
            </a:r>
            <a:r>
              <a:rPr dirty="0" sz="2000" spc="-10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66"/>
                </a:solidFill>
                <a:latin typeface="Times New Roman"/>
                <a:cs typeface="Times New Roman"/>
              </a:rPr>
              <a:t>test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34866" y="1321637"/>
            <a:ext cx="1381760" cy="103251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34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16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.code</a:t>
            </a:r>
            <a:endParaRPr sz="2000">
              <a:latin typeface="Times New Roman"/>
              <a:cs typeface="Times New Roman"/>
            </a:endParaRPr>
          </a:p>
          <a:p>
            <a:pPr algn="ctr" marL="12700" marR="5080">
              <a:lnSpc>
                <a:spcPct val="110000"/>
              </a:lnSpc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(j, _, _,</a:t>
            </a:r>
            <a:r>
              <a:rPr dirty="0" sz="2000" spc="-10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66FFFF"/>
                </a:solidFill>
                <a:latin typeface="Times New Roman"/>
                <a:cs typeface="Times New Roman"/>
              </a:rPr>
              <a:t>next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)  S</a:t>
            </a:r>
            <a:r>
              <a:rPr dirty="0" sz="16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.code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34866" y="3334613"/>
            <a:ext cx="1381125" cy="1031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71145">
              <a:lnSpc>
                <a:spcPct val="11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1600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.code  (j, _, _,</a:t>
            </a:r>
            <a:r>
              <a:rPr dirty="0" sz="2000" spc="-1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66FFFF"/>
                </a:solidFill>
                <a:latin typeface="Times New Roman"/>
                <a:cs typeface="Times New Roman"/>
              </a:rPr>
              <a:t>next)</a:t>
            </a:r>
            <a:endParaRPr sz="2000">
              <a:latin typeface="Times New Roman"/>
              <a:cs typeface="Times New Roman"/>
            </a:endParaRPr>
          </a:p>
          <a:p>
            <a:pPr marL="175260">
              <a:lnSpc>
                <a:spcPct val="100000"/>
              </a:lnSpc>
              <a:spcBef>
                <a:spcPts val="24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1600" b="1">
                <a:solidFill>
                  <a:srgbClr val="FFFFFF"/>
                </a:solidFill>
                <a:latin typeface="Times New Roman"/>
                <a:cs typeface="Times New Roman"/>
              </a:rPr>
              <a:t>n+1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.code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34866" y="4370577"/>
            <a:ext cx="13817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(j, _, _,</a:t>
            </a:r>
            <a:r>
              <a:rPr dirty="0" sz="2000" spc="-1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66FFFF"/>
                </a:solidFill>
                <a:latin typeface="Times New Roman"/>
                <a:cs typeface="Times New Roman"/>
              </a:rPr>
              <a:t>next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955035" y="1402080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 h="0">
                <a:moveTo>
                  <a:pt x="0" y="0"/>
                </a:moveTo>
                <a:lnTo>
                  <a:pt x="274320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955035" y="2069592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 h="0">
                <a:moveTo>
                  <a:pt x="0" y="0"/>
                </a:moveTo>
                <a:lnTo>
                  <a:pt x="274320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955035" y="2767583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 h="0">
                <a:moveTo>
                  <a:pt x="0" y="0"/>
                </a:moveTo>
                <a:lnTo>
                  <a:pt x="274320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955035" y="3329940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 h="0">
                <a:moveTo>
                  <a:pt x="0" y="0"/>
                </a:moveTo>
                <a:lnTo>
                  <a:pt x="274320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955035" y="4075176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 h="0">
                <a:moveTo>
                  <a:pt x="0" y="0"/>
                </a:moveTo>
                <a:lnTo>
                  <a:pt x="274320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955035" y="4736591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 h="0">
                <a:moveTo>
                  <a:pt x="0" y="0"/>
                </a:moveTo>
                <a:lnTo>
                  <a:pt x="274320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634866" y="2291775"/>
            <a:ext cx="1381760" cy="843915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(j, _, _,</a:t>
            </a:r>
            <a:r>
              <a:rPr dirty="0" sz="2000" spc="-1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66FFFF"/>
                </a:solidFill>
                <a:latin typeface="Times New Roman"/>
                <a:cs typeface="Times New Roman"/>
              </a:rPr>
              <a:t>next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  <a:spcBef>
                <a:spcPts val="635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……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01695" y="4675987"/>
            <a:ext cx="1848485" cy="1635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034" marR="17780">
              <a:lnSpc>
                <a:spcPct val="110000"/>
              </a:lnSpc>
              <a:spcBef>
                <a:spcPts val="100"/>
              </a:spcBef>
              <a:tabLst>
                <a:tab pos="960755" algn="l"/>
              </a:tabLst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dirty="0" sz="2000" spc="4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e=c1	goto L</a:t>
            </a:r>
            <a:r>
              <a:rPr dirty="0" sz="1600" b="1">
                <a:solidFill>
                  <a:srgbClr val="FFFFFF"/>
                </a:solidFill>
                <a:latin typeface="Times New Roman"/>
                <a:cs typeface="Times New Roman"/>
              </a:rPr>
              <a:t>1 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dirty="0" sz="2000" spc="4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e=c2	goto</a:t>
            </a:r>
            <a:r>
              <a:rPr dirty="0" sz="2000" spc="3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16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  <a:p>
            <a:pPr marL="563245">
              <a:lnSpc>
                <a:spcPts val="2055"/>
              </a:lnSpc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……</a:t>
            </a:r>
            <a:endParaRPr sz="2400">
              <a:latin typeface="Times New Roman"/>
              <a:cs typeface="Times New Roman"/>
            </a:endParaRPr>
          </a:p>
          <a:p>
            <a:pPr marL="377825" marR="5080" indent="-365760">
              <a:lnSpc>
                <a:spcPct val="110000"/>
              </a:lnSpc>
              <a:spcBef>
                <a:spcPts val="5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If e=cn goto L</a:t>
            </a:r>
            <a:r>
              <a:rPr dirty="0" sz="1600" b="1">
                <a:solidFill>
                  <a:srgbClr val="FFFFFF"/>
                </a:solidFill>
                <a:latin typeface="Times New Roman"/>
                <a:cs typeface="Times New Roman"/>
              </a:rPr>
              <a:t>n 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goto</a:t>
            </a:r>
            <a:r>
              <a:rPr dirty="0" sz="2000" spc="4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1600" spc="-5" b="1">
                <a:solidFill>
                  <a:srgbClr val="FFFFFF"/>
                </a:solidFill>
                <a:latin typeface="Times New Roman"/>
                <a:cs typeface="Times New Roman"/>
              </a:rPr>
              <a:t>n+1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50032" y="1379601"/>
            <a:ext cx="3695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Times New Roman"/>
                <a:cs typeface="Times New Roman"/>
              </a:rPr>
              <a:t>L1: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76094" y="4088079"/>
            <a:ext cx="62484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1800" spc="-10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1800" spc="-1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1800" b="1">
                <a:solidFill>
                  <a:srgbClr val="FFFFFF"/>
                </a:solidFill>
                <a:latin typeface="Times New Roman"/>
                <a:cs typeface="Times New Roman"/>
              </a:rPr>
              <a:t>1: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47035" y="4698238"/>
            <a:ext cx="444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FFFF66"/>
                </a:solidFill>
                <a:latin typeface="Times New Roman"/>
                <a:cs typeface="Times New Roman"/>
              </a:rPr>
              <a:t>test: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97632" y="6527393"/>
            <a:ext cx="520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66FFFF"/>
                </a:solidFill>
                <a:latin typeface="Times New Roman"/>
                <a:cs typeface="Times New Roman"/>
              </a:rPr>
              <a:t>next: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67685" y="2030729"/>
            <a:ext cx="3683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FFFFFF"/>
                </a:solidFill>
                <a:latin typeface="Times New Roman"/>
                <a:cs typeface="Times New Roman"/>
              </a:rPr>
              <a:t>L2: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68067" y="3326384"/>
            <a:ext cx="381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1800" spc="-15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1800" spc="-5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955035" y="6443471"/>
            <a:ext cx="0" cy="414655"/>
          </a:xfrm>
          <a:custGeom>
            <a:avLst/>
            <a:gdLst/>
            <a:ahLst/>
            <a:cxnLst/>
            <a:rect l="l" t="t" r="r" b="b"/>
            <a:pathLst>
              <a:path w="0" h="414654">
                <a:moveTo>
                  <a:pt x="0" y="0"/>
                </a:moveTo>
                <a:lnTo>
                  <a:pt x="0" y="414526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698235" y="6454140"/>
            <a:ext cx="0" cy="403860"/>
          </a:xfrm>
          <a:custGeom>
            <a:avLst/>
            <a:gdLst/>
            <a:ahLst/>
            <a:cxnLst/>
            <a:rect l="l" t="t" r="r" b="b"/>
            <a:pathLst>
              <a:path w="0" h="403859">
                <a:moveTo>
                  <a:pt x="0" y="0"/>
                </a:moveTo>
                <a:lnTo>
                  <a:pt x="0" y="403858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775197" y="4778502"/>
            <a:ext cx="152400" cy="1752600"/>
          </a:xfrm>
          <a:custGeom>
            <a:avLst/>
            <a:gdLst/>
            <a:ahLst/>
            <a:cxnLst/>
            <a:rect l="l" t="t" r="r" b="b"/>
            <a:pathLst>
              <a:path w="152400" h="1752600">
                <a:moveTo>
                  <a:pt x="0" y="0"/>
                </a:moveTo>
                <a:lnTo>
                  <a:pt x="29640" y="11479"/>
                </a:lnTo>
                <a:lnTo>
                  <a:pt x="53863" y="42783"/>
                </a:lnTo>
                <a:lnTo>
                  <a:pt x="70205" y="89207"/>
                </a:lnTo>
                <a:lnTo>
                  <a:pt x="76200" y="146050"/>
                </a:lnTo>
                <a:lnTo>
                  <a:pt x="76200" y="730250"/>
                </a:lnTo>
                <a:lnTo>
                  <a:pt x="82194" y="787097"/>
                </a:lnTo>
                <a:lnTo>
                  <a:pt x="98536" y="833521"/>
                </a:lnTo>
                <a:lnTo>
                  <a:pt x="122759" y="864822"/>
                </a:lnTo>
                <a:lnTo>
                  <a:pt x="152400" y="876300"/>
                </a:lnTo>
                <a:lnTo>
                  <a:pt x="122759" y="887777"/>
                </a:lnTo>
                <a:lnTo>
                  <a:pt x="98536" y="919078"/>
                </a:lnTo>
                <a:lnTo>
                  <a:pt x="82194" y="965502"/>
                </a:lnTo>
                <a:lnTo>
                  <a:pt x="76200" y="1022350"/>
                </a:lnTo>
                <a:lnTo>
                  <a:pt x="76200" y="1606550"/>
                </a:lnTo>
                <a:lnTo>
                  <a:pt x="70205" y="1663397"/>
                </a:lnTo>
                <a:lnTo>
                  <a:pt x="53863" y="1709821"/>
                </a:lnTo>
                <a:lnTo>
                  <a:pt x="29640" y="1741122"/>
                </a:lnTo>
                <a:lnTo>
                  <a:pt x="0" y="175260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060440" y="5207889"/>
            <a:ext cx="330200" cy="995044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algn="just" marL="12700" marR="5080">
              <a:lnSpc>
                <a:spcPts val="2380"/>
              </a:lnSpc>
              <a:spcBef>
                <a:spcPts val="595"/>
              </a:spcBef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测 试 表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33247" y="26923"/>
            <a:ext cx="53308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  <a:tab pos="4292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825744" y="26923"/>
            <a:ext cx="28371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383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控制流类语句翻译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192273" y="4435602"/>
            <a:ext cx="952500" cy="2422525"/>
          </a:xfrm>
          <a:custGeom>
            <a:avLst/>
            <a:gdLst/>
            <a:ahLst/>
            <a:cxnLst/>
            <a:rect l="l" t="t" r="r" b="b"/>
            <a:pathLst>
              <a:path w="952500" h="2422525">
                <a:moveTo>
                  <a:pt x="0" y="1295400"/>
                </a:moveTo>
                <a:lnTo>
                  <a:pt x="660" y="1226606"/>
                </a:lnTo>
                <a:lnTo>
                  <a:pt x="2618" y="1158747"/>
                </a:lnTo>
                <a:lnTo>
                  <a:pt x="5842" y="1091912"/>
                </a:lnTo>
                <a:lnTo>
                  <a:pt x="10299" y="1026191"/>
                </a:lnTo>
                <a:lnTo>
                  <a:pt x="15955" y="961674"/>
                </a:lnTo>
                <a:lnTo>
                  <a:pt x="22778" y="898450"/>
                </a:lnTo>
                <a:lnTo>
                  <a:pt x="30735" y="836608"/>
                </a:lnTo>
                <a:lnTo>
                  <a:pt x="39793" y="776238"/>
                </a:lnTo>
                <a:lnTo>
                  <a:pt x="49918" y="717430"/>
                </a:lnTo>
                <a:lnTo>
                  <a:pt x="61079" y="660273"/>
                </a:lnTo>
                <a:lnTo>
                  <a:pt x="73242" y="604857"/>
                </a:lnTo>
                <a:lnTo>
                  <a:pt x="86374" y="551272"/>
                </a:lnTo>
                <a:lnTo>
                  <a:pt x="100442" y="499606"/>
                </a:lnTo>
                <a:lnTo>
                  <a:pt x="115414" y="449949"/>
                </a:lnTo>
                <a:lnTo>
                  <a:pt x="131256" y="402392"/>
                </a:lnTo>
                <a:lnTo>
                  <a:pt x="147936" y="357023"/>
                </a:lnTo>
                <a:lnTo>
                  <a:pt x="165420" y="313931"/>
                </a:lnTo>
                <a:lnTo>
                  <a:pt x="183676" y="273208"/>
                </a:lnTo>
                <a:lnTo>
                  <a:pt x="202671" y="234942"/>
                </a:lnTo>
                <a:lnTo>
                  <a:pt x="222371" y="199222"/>
                </a:lnTo>
                <a:lnTo>
                  <a:pt x="242745" y="166139"/>
                </a:lnTo>
                <a:lnTo>
                  <a:pt x="285379" y="108239"/>
                </a:lnTo>
                <a:lnTo>
                  <a:pt x="330310" y="61959"/>
                </a:lnTo>
                <a:lnTo>
                  <a:pt x="377274" y="28015"/>
                </a:lnTo>
                <a:lnTo>
                  <a:pt x="426009" y="7123"/>
                </a:lnTo>
                <a:lnTo>
                  <a:pt x="476250" y="0"/>
                </a:lnTo>
                <a:lnTo>
                  <a:pt x="501542" y="1795"/>
                </a:lnTo>
                <a:lnTo>
                  <a:pt x="551062" y="15892"/>
                </a:lnTo>
                <a:lnTo>
                  <a:pt x="598945" y="43400"/>
                </a:lnTo>
                <a:lnTo>
                  <a:pt x="644925" y="83602"/>
                </a:lnTo>
                <a:lnTo>
                  <a:pt x="688741" y="135781"/>
                </a:lnTo>
                <a:lnTo>
                  <a:pt x="730128" y="199222"/>
                </a:lnTo>
                <a:lnTo>
                  <a:pt x="749828" y="234942"/>
                </a:lnTo>
                <a:lnTo>
                  <a:pt x="768823" y="273208"/>
                </a:lnTo>
                <a:lnTo>
                  <a:pt x="787079" y="313931"/>
                </a:lnTo>
                <a:lnTo>
                  <a:pt x="804563" y="357023"/>
                </a:lnTo>
                <a:lnTo>
                  <a:pt x="821243" y="402392"/>
                </a:lnTo>
                <a:lnTo>
                  <a:pt x="837085" y="449949"/>
                </a:lnTo>
                <a:lnTo>
                  <a:pt x="852057" y="499606"/>
                </a:lnTo>
                <a:lnTo>
                  <a:pt x="866125" y="551272"/>
                </a:lnTo>
                <a:lnTo>
                  <a:pt x="879257" y="604857"/>
                </a:lnTo>
                <a:lnTo>
                  <a:pt x="891420" y="660273"/>
                </a:lnTo>
                <a:lnTo>
                  <a:pt x="902581" y="717430"/>
                </a:lnTo>
                <a:lnTo>
                  <a:pt x="912706" y="776238"/>
                </a:lnTo>
                <a:lnTo>
                  <a:pt x="921764" y="836608"/>
                </a:lnTo>
                <a:lnTo>
                  <a:pt x="929721" y="898450"/>
                </a:lnTo>
                <a:lnTo>
                  <a:pt x="936544" y="961674"/>
                </a:lnTo>
                <a:lnTo>
                  <a:pt x="942200" y="1026191"/>
                </a:lnTo>
                <a:lnTo>
                  <a:pt x="946657" y="1091912"/>
                </a:lnTo>
                <a:lnTo>
                  <a:pt x="949881" y="1158747"/>
                </a:lnTo>
                <a:lnTo>
                  <a:pt x="951839" y="1226606"/>
                </a:lnTo>
                <a:lnTo>
                  <a:pt x="952500" y="1295400"/>
                </a:lnTo>
                <a:lnTo>
                  <a:pt x="951839" y="1364197"/>
                </a:lnTo>
                <a:lnTo>
                  <a:pt x="949881" y="1432059"/>
                </a:lnTo>
                <a:lnTo>
                  <a:pt x="946657" y="1498896"/>
                </a:lnTo>
                <a:lnTo>
                  <a:pt x="942200" y="1564619"/>
                </a:lnTo>
                <a:lnTo>
                  <a:pt x="936544" y="1629138"/>
                </a:lnTo>
                <a:lnTo>
                  <a:pt x="929721" y="1692364"/>
                </a:lnTo>
                <a:lnTo>
                  <a:pt x="921764" y="1754207"/>
                </a:lnTo>
                <a:lnTo>
                  <a:pt x="912706" y="1814577"/>
                </a:lnTo>
                <a:lnTo>
                  <a:pt x="902581" y="1873386"/>
                </a:lnTo>
                <a:lnTo>
                  <a:pt x="891420" y="1930543"/>
                </a:lnTo>
                <a:lnTo>
                  <a:pt x="879257" y="1985959"/>
                </a:lnTo>
                <a:lnTo>
                  <a:pt x="866125" y="2039544"/>
                </a:lnTo>
                <a:lnTo>
                  <a:pt x="852057" y="2091210"/>
                </a:lnTo>
                <a:lnTo>
                  <a:pt x="837085" y="2140865"/>
                </a:lnTo>
                <a:lnTo>
                  <a:pt x="821243" y="2188422"/>
                </a:lnTo>
                <a:lnTo>
                  <a:pt x="804563" y="2233790"/>
                </a:lnTo>
                <a:lnTo>
                  <a:pt x="787079" y="2276880"/>
                </a:lnTo>
                <a:lnTo>
                  <a:pt x="768823" y="2317603"/>
                </a:lnTo>
                <a:lnTo>
                  <a:pt x="749828" y="2355868"/>
                </a:lnTo>
                <a:lnTo>
                  <a:pt x="730128" y="2391586"/>
                </a:lnTo>
                <a:lnTo>
                  <a:pt x="711154" y="2422396"/>
                </a:lnTo>
              </a:path>
            </a:pathLst>
          </a:custGeom>
          <a:ln w="38100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192273" y="5731002"/>
            <a:ext cx="241935" cy="1127125"/>
          </a:xfrm>
          <a:custGeom>
            <a:avLst/>
            <a:gdLst/>
            <a:ahLst/>
            <a:cxnLst/>
            <a:rect l="l" t="t" r="r" b="b"/>
            <a:pathLst>
              <a:path w="241935" h="1127125">
                <a:moveTo>
                  <a:pt x="241345" y="1126996"/>
                </a:moveTo>
                <a:lnTo>
                  <a:pt x="202671" y="1060468"/>
                </a:lnTo>
                <a:lnTo>
                  <a:pt x="183676" y="1022203"/>
                </a:lnTo>
                <a:lnTo>
                  <a:pt x="165420" y="981480"/>
                </a:lnTo>
                <a:lnTo>
                  <a:pt x="147936" y="938390"/>
                </a:lnTo>
                <a:lnTo>
                  <a:pt x="131256" y="893022"/>
                </a:lnTo>
                <a:lnTo>
                  <a:pt x="115414" y="845465"/>
                </a:lnTo>
                <a:lnTo>
                  <a:pt x="100442" y="795810"/>
                </a:lnTo>
                <a:lnTo>
                  <a:pt x="86374" y="744144"/>
                </a:lnTo>
                <a:lnTo>
                  <a:pt x="73242" y="690559"/>
                </a:lnTo>
                <a:lnTo>
                  <a:pt x="61079" y="635143"/>
                </a:lnTo>
                <a:lnTo>
                  <a:pt x="49918" y="577986"/>
                </a:lnTo>
                <a:lnTo>
                  <a:pt x="39793" y="519177"/>
                </a:lnTo>
                <a:lnTo>
                  <a:pt x="30735" y="458807"/>
                </a:lnTo>
                <a:lnTo>
                  <a:pt x="22778" y="396964"/>
                </a:lnTo>
                <a:lnTo>
                  <a:pt x="15955" y="333738"/>
                </a:lnTo>
                <a:lnTo>
                  <a:pt x="10299" y="269219"/>
                </a:lnTo>
                <a:lnTo>
                  <a:pt x="5842" y="203496"/>
                </a:lnTo>
                <a:lnTo>
                  <a:pt x="2618" y="136659"/>
                </a:lnTo>
                <a:lnTo>
                  <a:pt x="660" y="68797"/>
                </a:lnTo>
                <a:lnTo>
                  <a:pt x="0" y="0"/>
                </a:lnTo>
              </a:path>
            </a:pathLst>
          </a:custGeom>
          <a:ln w="38100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726685" y="4607814"/>
            <a:ext cx="952500" cy="1923414"/>
          </a:xfrm>
          <a:custGeom>
            <a:avLst/>
            <a:gdLst/>
            <a:ahLst/>
            <a:cxnLst/>
            <a:rect l="l" t="t" r="r" b="b"/>
            <a:pathLst>
              <a:path w="952500" h="1923415">
                <a:moveTo>
                  <a:pt x="0" y="961644"/>
                </a:moveTo>
                <a:lnTo>
                  <a:pt x="1013" y="898414"/>
                </a:lnTo>
                <a:lnTo>
                  <a:pt x="4010" y="836276"/>
                </a:lnTo>
                <a:lnTo>
                  <a:pt x="8929" y="775358"/>
                </a:lnTo>
                <a:lnTo>
                  <a:pt x="15706" y="715785"/>
                </a:lnTo>
                <a:lnTo>
                  <a:pt x="24280" y="657685"/>
                </a:lnTo>
                <a:lnTo>
                  <a:pt x="34587" y="601184"/>
                </a:lnTo>
                <a:lnTo>
                  <a:pt x="46564" y="546408"/>
                </a:lnTo>
                <a:lnTo>
                  <a:pt x="60149" y="493485"/>
                </a:lnTo>
                <a:lnTo>
                  <a:pt x="75279" y="442541"/>
                </a:lnTo>
                <a:lnTo>
                  <a:pt x="91891" y="393704"/>
                </a:lnTo>
                <a:lnTo>
                  <a:pt x="109922" y="347098"/>
                </a:lnTo>
                <a:lnTo>
                  <a:pt x="129310" y="302852"/>
                </a:lnTo>
                <a:lnTo>
                  <a:pt x="149992" y="261092"/>
                </a:lnTo>
                <a:lnTo>
                  <a:pt x="171905" y="221945"/>
                </a:lnTo>
                <a:lnTo>
                  <a:pt x="194986" y="185537"/>
                </a:lnTo>
                <a:lnTo>
                  <a:pt x="219173" y="151996"/>
                </a:lnTo>
                <a:lnTo>
                  <a:pt x="244403" y="121447"/>
                </a:lnTo>
                <a:lnTo>
                  <a:pt x="297739" y="69834"/>
                </a:lnTo>
                <a:lnTo>
                  <a:pt x="354494" y="31713"/>
                </a:lnTo>
                <a:lnTo>
                  <a:pt x="414165" y="8097"/>
                </a:lnTo>
                <a:lnTo>
                  <a:pt x="476250" y="0"/>
                </a:lnTo>
                <a:lnTo>
                  <a:pt x="507562" y="2045"/>
                </a:lnTo>
                <a:lnTo>
                  <a:pt x="568503" y="18028"/>
                </a:lnTo>
                <a:lnTo>
                  <a:pt x="626778" y="49024"/>
                </a:lnTo>
                <a:lnTo>
                  <a:pt x="681887" y="94017"/>
                </a:lnTo>
                <a:lnTo>
                  <a:pt x="733326" y="151996"/>
                </a:lnTo>
                <a:lnTo>
                  <a:pt x="757513" y="185537"/>
                </a:lnTo>
                <a:lnTo>
                  <a:pt x="780594" y="221945"/>
                </a:lnTo>
                <a:lnTo>
                  <a:pt x="802507" y="261092"/>
                </a:lnTo>
                <a:lnTo>
                  <a:pt x="823189" y="302852"/>
                </a:lnTo>
                <a:lnTo>
                  <a:pt x="842577" y="347098"/>
                </a:lnTo>
                <a:lnTo>
                  <a:pt x="860608" y="393704"/>
                </a:lnTo>
                <a:lnTo>
                  <a:pt x="877220" y="442541"/>
                </a:lnTo>
                <a:lnTo>
                  <a:pt x="892350" y="493485"/>
                </a:lnTo>
                <a:lnTo>
                  <a:pt x="905935" y="546408"/>
                </a:lnTo>
                <a:lnTo>
                  <a:pt x="917912" y="601184"/>
                </a:lnTo>
                <a:lnTo>
                  <a:pt x="928219" y="657685"/>
                </a:lnTo>
                <a:lnTo>
                  <a:pt x="936793" y="715785"/>
                </a:lnTo>
                <a:lnTo>
                  <a:pt x="943570" y="775358"/>
                </a:lnTo>
                <a:lnTo>
                  <a:pt x="948489" y="836276"/>
                </a:lnTo>
                <a:lnTo>
                  <a:pt x="951486" y="898414"/>
                </a:lnTo>
                <a:lnTo>
                  <a:pt x="952500" y="961644"/>
                </a:lnTo>
                <a:lnTo>
                  <a:pt x="951486" y="1024872"/>
                </a:lnTo>
                <a:lnTo>
                  <a:pt x="948489" y="1087008"/>
                </a:lnTo>
                <a:lnTo>
                  <a:pt x="943570" y="1147926"/>
                </a:lnTo>
                <a:lnTo>
                  <a:pt x="936793" y="1207498"/>
                </a:lnTo>
                <a:lnTo>
                  <a:pt x="928219" y="1265597"/>
                </a:lnTo>
                <a:lnTo>
                  <a:pt x="917912" y="1322098"/>
                </a:lnTo>
                <a:lnTo>
                  <a:pt x="905935" y="1376873"/>
                </a:lnTo>
                <a:lnTo>
                  <a:pt x="892350" y="1429796"/>
                </a:lnTo>
                <a:lnTo>
                  <a:pt x="877220" y="1480740"/>
                </a:lnTo>
                <a:lnTo>
                  <a:pt x="860608" y="1529578"/>
                </a:lnTo>
                <a:lnTo>
                  <a:pt x="842577" y="1576183"/>
                </a:lnTo>
                <a:lnTo>
                  <a:pt x="823189" y="1620430"/>
                </a:lnTo>
                <a:lnTo>
                  <a:pt x="802507" y="1662190"/>
                </a:lnTo>
                <a:lnTo>
                  <a:pt x="780594" y="1701338"/>
                </a:lnTo>
                <a:lnTo>
                  <a:pt x="757513" y="1737746"/>
                </a:lnTo>
                <a:lnTo>
                  <a:pt x="733326" y="1771288"/>
                </a:lnTo>
                <a:lnTo>
                  <a:pt x="708096" y="1801838"/>
                </a:lnTo>
                <a:lnTo>
                  <a:pt x="654760" y="1853451"/>
                </a:lnTo>
                <a:lnTo>
                  <a:pt x="598005" y="1891573"/>
                </a:lnTo>
                <a:lnTo>
                  <a:pt x="538334" y="1915190"/>
                </a:lnTo>
                <a:lnTo>
                  <a:pt x="476250" y="1923288"/>
                </a:lnTo>
                <a:lnTo>
                  <a:pt x="444937" y="1921242"/>
                </a:lnTo>
                <a:lnTo>
                  <a:pt x="383996" y="1905258"/>
                </a:lnTo>
                <a:lnTo>
                  <a:pt x="325721" y="1874262"/>
                </a:lnTo>
                <a:lnTo>
                  <a:pt x="270612" y="1829268"/>
                </a:lnTo>
                <a:lnTo>
                  <a:pt x="219173" y="1771288"/>
                </a:lnTo>
                <a:lnTo>
                  <a:pt x="194986" y="1737746"/>
                </a:lnTo>
                <a:lnTo>
                  <a:pt x="171905" y="1701338"/>
                </a:lnTo>
                <a:lnTo>
                  <a:pt x="149992" y="1662190"/>
                </a:lnTo>
                <a:lnTo>
                  <a:pt x="129310" y="1620430"/>
                </a:lnTo>
                <a:lnTo>
                  <a:pt x="109922" y="1576183"/>
                </a:lnTo>
                <a:lnTo>
                  <a:pt x="91891" y="1529578"/>
                </a:lnTo>
                <a:lnTo>
                  <a:pt x="75279" y="1480740"/>
                </a:lnTo>
                <a:lnTo>
                  <a:pt x="60149" y="1429796"/>
                </a:lnTo>
                <a:lnTo>
                  <a:pt x="46564" y="1376873"/>
                </a:lnTo>
                <a:lnTo>
                  <a:pt x="34587" y="1322098"/>
                </a:lnTo>
                <a:lnTo>
                  <a:pt x="24280" y="1265597"/>
                </a:lnTo>
                <a:lnTo>
                  <a:pt x="15706" y="1207498"/>
                </a:lnTo>
                <a:lnTo>
                  <a:pt x="8929" y="1147926"/>
                </a:lnTo>
                <a:lnTo>
                  <a:pt x="4010" y="1087008"/>
                </a:lnTo>
                <a:lnTo>
                  <a:pt x="1013" y="1024872"/>
                </a:lnTo>
                <a:lnTo>
                  <a:pt x="0" y="961644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992629" y="1105661"/>
            <a:ext cx="1268095" cy="3596640"/>
          </a:xfrm>
          <a:custGeom>
            <a:avLst/>
            <a:gdLst/>
            <a:ahLst/>
            <a:cxnLst/>
            <a:rect l="l" t="t" r="r" b="b"/>
            <a:pathLst>
              <a:path w="1268095" h="3596640">
                <a:moveTo>
                  <a:pt x="0" y="1798320"/>
                </a:moveTo>
                <a:lnTo>
                  <a:pt x="457" y="1729343"/>
                </a:lnTo>
                <a:lnTo>
                  <a:pt x="1820" y="1661024"/>
                </a:lnTo>
                <a:lnTo>
                  <a:pt x="4070" y="1593407"/>
                </a:lnTo>
                <a:lnTo>
                  <a:pt x="7193" y="1526540"/>
                </a:lnTo>
                <a:lnTo>
                  <a:pt x="11171" y="1460470"/>
                </a:lnTo>
                <a:lnTo>
                  <a:pt x="15988" y="1395242"/>
                </a:lnTo>
                <a:lnTo>
                  <a:pt x="21627" y="1330904"/>
                </a:lnTo>
                <a:lnTo>
                  <a:pt x="28073" y="1267501"/>
                </a:lnTo>
                <a:lnTo>
                  <a:pt x="35308" y="1205081"/>
                </a:lnTo>
                <a:lnTo>
                  <a:pt x="43317" y="1143691"/>
                </a:lnTo>
                <a:lnTo>
                  <a:pt x="52083" y="1083376"/>
                </a:lnTo>
                <a:lnTo>
                  <a:pt x="61589" y="1024183"/>
                </a:lnTo>
                <a:lnTo>
                  <a:pt x="71819" y="966159"/>
                </a:lnTo>
                <a:lnTo>
                  <a:pt x="82757" y="909351"/>
                </a:lnTo>
                <a:lnTo>
                  <a:pt x="94386" y="853804"/>
                </a:lnTo>
                <a:lnTo>
                  <a:pt x="106690" y="799567"/>
                </a:lnTo>
                <a:lnTo>
                  <a:pt x="119652" y="746684"/>
                </a:lnTo>
                <a:lnTo>
                  <a:pt x="133256" y="695203"/>
                </a:lnTo>
                <a:lnTo>
                  <a:pt x="147486" y="645171"/>
                </a:lnTo>
                <a:lnTo>
                  <a:pt x="162325" y="596633"/>
                </a:lnTo>
                <a:lnTo>
                  <a:pt x="177756" y="549637"/>
                </a:lnTo>
                <a:lnTo>
                  <a:pt x="193764" y="504229"/>
                </a:lnTo>
                <a:lnTo>
                  <a:pt x="210332" y="460456"/>
                </a:lnTo>
                <a:lnTo>
                  <a:pt x="227444" y="418364"/>
                </a:lnTo>
                <a:lnTo>
                  <a:pt x="245082" y="378000"/>
                </a:lnTo>
                <a:lnTo>
                  <a:pt x="263231" y="339410"/>
                </a:lnTo>
                <a:lnTo>
                  <a:pt x="281874" y="302641"/>
                </a:lnTo>
                <a:lnTo>
                  <a:pt x="300995" y="267740"/>
                </a:lnTo>
                <a:lnTo>
                  <a:pt x="320578" y="234753"/>
                </a:lnTo>
                <a:lnTo>
                  <a:pt x="361061" y="174707"/>
                </a:lnTo>
                <a:lnTo>
                  <a:pt x="403193" y="122877"/>
                </a:lnTo>
                <a:lnTo>
                  <a:pt x="446842" y="79635"/>
                </a:lnTo>
                <a:lnTo>
                  <a:pt x="491877" y="45353"/>
                </a:lnTo>
                <a:lnTo>
                  <a:pt x="538166" y="20405"/>
                </a:lnTo>
                <a:lnTo>
                  <a:pt x="585579" y="5163"/>
                </a:lnTo>
                <a:lnTo>
                  <a:pt x="633983" y="0"/>
                </a:lnTo>
                <a:lnTo>
                  <a:pt x="658302" y="1298"/>
                </a:lnTo>
                <a:lnTo>
                  <a:pt x="706226" y="11548"/>
                </a:lnTo>
                <a:lnTo>
                  <a:pt x="753094" y="31689"/>
                </a:lnTo>
                <a:lnTo>
                  <a:pt x="798773" y="61351"/>
                </a:lnTo>
                <a:lnTo>
                  <a:pt x="843131" y="100159"/>
                </a:lnTo>
                <a:lnTo>
                  <a:pt x="886038" y="147742"/>
                </a:lnTo>
                <a:lnTo>
                  <a:pt x="927362" y="203726"/>
                </a:lnTo>
                <a:lnTo>
                  <a:pt x="966972" y="267740"/>
                </a:lnTo>
                <a:lnTo>
                  <a:pt x="986093" y="302641"/>
                </a:lnTo>
                <a:lnTo>
                  <a:pt x="1004736" y="339410"/>
                </a:lnTo>
                <a:lnTo>
                  <a:pt x="1022885" y="378000"/>
                </a:lnTo>
                <a:lnTo>
                  <a:pt x="1040523" y="418364"/>
                </a:lnTo>
                <a:lnTo>
                  <a:pt x="1057635" y="460456"/>
                </a:lnTo>
                <a:lnTo>
                  <a:pt x="1074203" y="504229"/>
                </a:lnTo>
                <a:lnTo>
                  <a:pt x="1090211" y="549637"/>
                </a:lnTo>
                <a:lnTo>
                  <a:pt x="1105642" y="596633"/>
                </a:lnTo>
                <a:lnTo>
                  <a:pt x="1120481" y="645171"/>
                </a:lnTo>
                <a:lnTo>
                  <a:pt x="1134711" y="695203"/>
                </a:lnTo>
                <a:lnTo>
                  <a:pt x="1148315" y="746684"/>
                </a:lnTo>
                <a:lnTo>
                  <a:pt x="1161277" y="799567"/>
                </a:lnTo>
                <a:lnTo>
                  <a:pt x="1173581" y="853804"/>
                </a:lnTo>
                <a:lnTo>
                  <a:pt x="1185210" y="909351"/>
                </a:lnTo>
                <a:lnTo>
                  <a:pt x="1196148" y="966159"/>
                </a:lnTo>
                <a:lnTo>
                  <a:pt x="1206378" y="1024183"/>
                </a:lnTo>
                <a:lnTo>
                  <a:pt x="1215884" y="1083376"/>
                </a:lnTo>
                <a:lnTo>
                  <a:pt x="1224650" y="1143691"/>
                </a:lnTo>
                <a:lnTo>
                  <a:pt x="1232659" y="1205081"/>
                </a:lnTo>
                <a:lnTo>
                  <a:pt x="1239894" y="1267501"/>
                </a:lnTo>
                <a:lnTo>
                  <a:pt x="1246340" y="1330904"/>
                </a:lnTo>
                <a:lnTo>
                  <a:pt x="1251979" y="1395242"/>
                </a:lnTo>
                <a:lnTo>
                  <a:pt x="1256796" y="1460470"/>
                </a:lnTo>
                <a:lnTo>
                  <a:pt x="1260774" y="1526540"/>
                </a:lnTo>
                <a:lnTo>
                  <a:pt x="1263897" y="1593407"/>
                </a:lnTo>
                <a:lnTo>
                  <a:pt x="1266147" y="1661024"/>
                </a:lnTo>
                <a:lnTo>
                  <a:pt x="1267510" y="1729343"/>
                </a:lnTo>
                <a:lnTo>
                  <a:pt x="1267968" y="1798320"/>
                </a:lnTo>
                <a:lnTo>
                  <a:pt x="1267510" y="1867296"/>
                </a:lnTo>
                <a:lnTo>
                  <a:pt x="1266147" y="1935615"/>
                </a:lnTo>
                <a:lnTo>
                  <a:pt x="1263897" y="2003232"/>
                </a:lnTo>
                <a:lnTo>
                  <a:pt x="1260774" y="2070099"/>
                </a:lnTo>
                <a:lnTo>
                  <a:pt x="1256796" y="2136169"/>
                </a:lnTo>
                <a:lnTo>
                  <a:pt x="1251979" y="2201397"/>
                </a:lnTo>
                <a:lnTo>
                  <a:pt x="1246340" y="2265735"/>
                </a:lnTo>
                <a:lnTo>
                  <a:pt x="1239894" y="2329138"/>
                </a:lnTo>
                <a:lnTo>
                  <a:pt x="1232659" y="2391558"/>
                </a:lnTo>
                <a:lnTo>
                  <a:pt x="1224650" y="2452948"/>
                </a:lnTo>
                <a:lnTo>
                  <a:pt x="1215884" y="2513263"/>
                </a:lnTo>
                <a:lnTo>
                  <a:pt x="1206378" y="2572456"/>
                </a:lnTo>
                <a:lnTo>
                  <a:pt x="1196148" y="2630480"/>
                </a:lnTo>
                <a:lnTo>
                  <a:pt x="1185210" y="2687288"/>
                </a:lnTo>
                <a:lnTo>
                  <a:pt x="1173581" y="2742835"/>
                </a:lnTo>
                <a:lnTo>
                  <a:pt x="1161277" y="2797072"/>
                </a:lnTo>
                <a:lnTo>
                  <a:pt x="1148315" y="2849955"/>
                </a:lnTo>
                <a:lnTo>
                  <a:pt x="1134711" y="2901436"/>
                </a:lnTo>
                <a:lnTo>
                  <a:pt x="1120481" y="2951468"/>
                </a:lnTo>
                <a:lnTo>
                  <a:pt x="1105642" y="3000006"/>
                </a:lnTo>
                <a:lnTo>
                  <a:pt x="1090211" y="3047002"/>
                </a:lnTo>
                <a:lnTo>
                  <a:pt x="1074203" y="3092410"/>
                </a:lnTo>
                <a:lnTo>
                  <a:pt x="1057635" y="3136183"/>
                </a:lnTo>
                <a:lnTo>
                  <a:pt x="1040523" y="3178275"/>
                </a:lnTo>
                <a:lnTo>
                  <a:pt x="1022885" y="3218639"/>
                </a:lnTo>
                <a:lnTo>
                  <a:pt x="1004736" y="3257229"/>
                </a:lnTo>
                <a:lnTo>
                  <a:pt x="986093" y="3293998"/>
                </a:lnTo>
                <a:lnTo>
                  <a:pt x="966972" y="3328899"/>
                </a:lnTo>
                <a:lnTo>
                  <a:pt x="947389" y="3361886"/>
                </a:lnTo>
                <a:lnTo>
                  <a:pt x="906906" y="3421932"/>
                </a:lnTo>
                <a:lnTo>
                  <a:pt x="864774" y="3473762"/>
                </a:lnTo>
                <a:lnTo>
                  <a:pt x="821125" y="3517004"/>
                </a:lnTo>
                <a:lnTo>
                  <a:pt x="776090" y="3551286"/>
                </a:lnTo>
                <a:lnTo>
                  <a:pt x="729801" y="3576234"/>
                </a:lnTo>
                <a:lnTo>
                  <a:pt x="682388" y="3591476"/>
                </a:lnTo>
                <a:lnTo>
                  <a:pt x="633983" y="3596640"/>
                </a:lnTo>
                <a:lnTo>
                  <a:pt x="609665" y="3595341"/>
                </a:lnTo>
                <a:lnTo>
                  <a:pt x="561741" y="3585091"/>
                </a:lnTo>
                <a:lnTo>
                  <a:pt x="514873" y="3564950"/>
                </a:lnTo>
                <a:lnTo>
                  <a:pt x="469194" y="3535288"/>
                </a:lnTo>
                <a:lnTo>
                  <a:pt x="424836" y="3496480"/>
                </a:lnTo>
                <a:lnTo>
                  <a:pt x="381929" y="3448897"/>
                </a:lnTo>
                <a:lnTo>
                  <a:pt x="340605" y="3392913"/>
                </a:lnTo>
                <a:lnTo>
                  <a:pt x="300995" y="3328899"/>
                </a:lnTo>
                <a:lnTo>
                  <a:pt x="281874" y="3293998"/>
                </a:lnTo>
                <a:lnTo>
                  <a:pt x="263231" y="3257229"/>
                </a:lnTo>
                <a:lnTo>
                  <a:pt x="245082" y="3218639"/>
                </a:lnTo>
                <a:lnTo>
                  <a:pt x="227444" y="3178275"/>
                </a:lnTo>
                <a:lnTo>
                  <a:pt x="210332" y="3136183"/>
                </a:lnTo>
                <a:lnTo>
                  <a:pt x="193764" y="3092410"/>
                </a:lnTo>
                <a:lnTo>
                  <a:pt x="177756" y="3047002"/>
                </a:lnTo>
                <a:lnTo>
                  <a:pt x="162325" y="3000006"/>
                </a:lnTo>
                <a:lnTo>
                  <a:pt x="147486" y="2951468"/>
                </a:lnTo>
                <a:lnTo>
                  <a:pt x="133256" y="2901436"/>
                </a:lnTo>
                <a:lnTo>
                  <a:pt x="119652" y="2849955"/>
                </a:lnTo>
                <a:lnTo>
                  <a:pt x="106690" y="2797072"/>
                </a:lnTo>
                <a:lnTo>
                  <a:pt x="94386" y="2742835"/>
                </a:lnTo>
                <a:lnTo>
                  <a:pt x="82757" y="2687288"/>
                </a:lnTo>
                <a:lnTo>
                  <a:pt x="71819" y="2630480"/>
                </a:lnTo>
                <a:lnTo>
                  <a:pt x="61589" y="2572456"/>
                </a:lnTo>
                <a:lnTo>
                  <a:pt x="52083" y="2513263"/>
                </a:lnTo>
                <a:lnTo>
                  <a:pt x="43317" y="2452948"/>
                </a:lnTo>
                <a:lnTo>
                  <a:pt x="35308" y="2391558"/>
                </a:lnTo>
                <a:lnTo>
                  <a:pt x="28073" y="2329138"/>
                </a:lnTo>
                <a:lnTo>
                  <a:pt x="21627" y="2265735"/>
                </a:lnTo>
                <a:lnTo>
                  <a:pt x="15988" y="2201397"/>
                </a:lnTo>
                <a:lnTo>
                  <a:pt x="11171" y="2136169"/>
                </a:lnTo>
                <a:lnTo>
                  <a:pt x="7193" y="2070099"/>
                </a:lnTo>
                <a:lnTo>
                  <a:pt x="4070" y="2003232"/>
                </a:lnTo>
                <a:lnTo>
                  <a:pt x="1820" y="1935615"/>
                </a:lnTo>
                <a:lnTo>
                  <a:pt x="457" y="1867296"/>
                </a:lnTo>
                <a:lnTo>
                  <a:pt x="0" y="1798320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1032" y="1001395"/>
            <a:ext cx="7164070" cy="60515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3800" spc="-15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黑体"/>
                <a:cs typeface="黑体"/>
                <a:hlinkClick r:id="rId2" action="ppaction://hlinksldjump"/>
              </a:rPr>
              <a:t>第</a:t>
            </a:r>
            <a:r>
              <a:rPr dirty="0" u="heavy" sz="3800" spc="-965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黑体"/>
                <a:cs typeface="黑体"/>
                <a:hlinkClick r:id="rId2" action="ppaction://hlinksldjump"/>
              </a:rPr>
              <a:t> </a:t>
            </a:r>
            <a:r>
              <a:rPr dirty="0" u="heavy" sz="3800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Times New Roman"/>
                <a:cs typeface="Times New Roman"/>
                <a:hlinkClick r:id="rId2" action="ppaction://hlinksldjump"/>
              </a:rPr>
              <a:t>6</a:t>
            </a:r>
            <a:r>
              <a:rPr dirty="0" u="heavy" sz="3800" spc="-20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dirty="0" u="heavy" sz="3800" spc="-15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黑体"/>
                <a:cs typeface="黑体"/>
                <a:hlinkClick r:id="rId2" action="ppaction://hlinksldjump"/>
              </a:rPr>
              <a:t>章</a:t>
            </a:r>
            <a:r>
              <a:rPr dirty="0" sz="3800" spc="925">
                <a:solidFill>
                  <a:srgbClr val="EAEAEA"/>
                </a:solidFill>
                <a:latin typeface="黑体"/>
                <a:cs typeface="黑体"/>
                <a:hlinkClick r:id="rId2" action="ppaction://hlinksldjump"/>
              </a:rPr>
              <a:t> </a:t>
            </a:r>
            <a:r>
              <a:rPr dirty="0" sz="3800">
                <a:solidFill>
                  <a:srgbClr val="FFFF00"/>
                </a:solidFill>
                <a:latin typeface="黑体"/>
                <a:cs typeface="黑体"/>
              </a:rPr>
              <a:t>语义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分</a:t>
            </a: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析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与中间</a:t>
            </a: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代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码生</a:t>
            </a: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成</a:t>
            </a:r>
            <a:endParaRPr sz="38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1744" y="1613968"/>
            <a:ext cx="7612380" cy="4057015"/>
          </a:xfrm>
          <a:prstGeom prst="rect">
            <a:avLst/>
          </a:prstGeom>
        </p:spPr>
        <p:txBody>
          <a:bodyPr wrap="square" lIns="0" tIns="285750" rIns="0" bIns="0" rtlCol="0" vert="horz">
            <a:spAutoFit/>
          </a:bodyPr>
          <a:lstStyle/>
          <a:p>
            <a:pPr lvl="2" marL="1361440" indent="-1337310">
              <a:lnSpc>
                <a:spcPct val="100000"/>
              </a:lnSpc>
              <a:spcBef>
                <a:spcPts val="2250"/>
              </a:spcBef>
              <a:buFont typeface="Times New Roman"/>
              <a:buAutoNum type="arabicPeriod"/>
              <a:tabLst>
                <a:tab pos="1361440" algn="l"/>
                <a:tab pos="1362075" algn="l"/>
              </a:tabLst>
            </a:pPr>
            <a:r>
              <a:rPr dirty="0" sz="3500" spc="-5" b="1">
                <a:solidFill>
                  <a:srgbClr val="FFFF66"/>
                </a:solidFill>
                <a:latin typeface="宋体"/>
                <a:cs typeface="宋体"/>
              </a:rPr>
              <a:t>说明类语句的翻译</a:t>
            </a:r>
            <a:endParaRPr sz="3500">
              <a:latin typeface="宋体"/>
              <a:cs typeface="宋体"/>
            </a:endParaRPr>
          </a:p>
          <a:p>
            <a:pPr lvl="2" marL="1349375" indent="-1337310">
              <a:lnSpc>
                <a:spcPct val="100000"/>
              </a:lnSpc>
              <a:spcBef>
                <a:spcPts val="2150"/>
              </a:spcBef>
              <a:buFont typeface="Times New Roman"/>
              <a:buAutoNum type="arabicPeriod"/>
              <a:tabLst>
                <a:tab pos="1349375" algn="l"/>
                <a:tab pos="1350010" algn="l"/>
              </a:tabLst>
            </a:pPr>
            <a:r>
              <a:rPr dirty="0" sz="3500" b="1">
                <a:solidFill>
                  <a:srgbClr val="FFFF66"/>
                </a:solidFill>
                <a:latin typeface="宋体"/>
                <a:cs typeface="宋体"/>
              </a:rPr>
              <a:t>赋值语句与表达式翻译</a:t>
            </a:r>
            <a:endParaRPr sz="3500">
              <a:latin typeface="宋体"/>
              <a:cs typeface="宋体"/>
            </a:endParaRPr>
          </a:p>
          <a:p>
            <a:pPr lvl="2" marL="1349375" indent="-1337310">
              <a:lnSpc>
                <a:spcPct val="100000"/>
              </a:lnSpc>
              <a:spcBef>
                <a:spcPts val="2105"/>
              </a:spcBef>
              <a:buFont typeface="Times New Roman"/>
              <a:buAutoNum type="arabicPeriod"/>
              <a:tabLst>
                <a:tab pos="1349375" algn="l"/>
                <a:tab pos="1350010" algn="l"/>
              </a:tabLst>
            </a:pPr>
            <a:r>
              <a:rPr dirty="0" sz="3500" b="1">
                <a:solidFill>
                  <a:srgbClr val="FFFF66"/>
                </a:solidFill>
                <a:latin typeface="宋体"/>
                <a:cs typeface="宋体"/>
              </a:rPr>
              <a:t>控制流类语句翻译</a:t>
            </a:r>
            <a:endParaRPr sz="3500">
              <a:latin typeface="宋体"/>
              <a:cs typeface="宋体"/>
            </a:endParaRPr>
          </a:p>
          <a:p>
            <a:pPr lvl="2" marL="1349375" indent="-1337310">
              <a:lnSpc>
                <a:spcPct val="100000"/>
              </a:lnSpc>
              <a:spcBef>
                <a:spcPts val="2100"/>
              </a:spcBef>
              <a:buFont typeface="Times New Roman"/>
              <a:buAutoNum type="arabicPeriod"/>
              <a:tabLst>
                <a:tab pos="1349375" algn="l"/>
                <a:tab pos="1350010" algn="l"/>
              </a:tabLst>
            </a:pPr>
            <a:r>
              <a:rPr dirty="0" sz="3500" spc="-5" b="1">
                <a:solidFill>
                  <a:srgbClr val="FFFFFF"/>
                </a:solidFill>
                <a:latin typeface="宋体"/>
                <a:cs typeface="宋体"/>
              </a:rPr>
              <a:t>数组说明与数组元素引用</a:t>
            </a:r>
            <a:r>
              <a:rPr dirty="0" sz="3500" spc="-1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500" spc="-5" b="1">
                <a:solidFill>
                  <a:srgbClr val="FFFFFF"/>
                </a:solidFill>
                <a:latin typeface="宋体"/>
                <a:cs typeface="宋体"/>
              </a:rPr>
              <a:t>翻译</a:t>
            </a:r>
            <a:endParaRPr sz="3500">
              <a:latin typeface="宋体"/>
              <a:cs typeface="宋体"/>
            </a:endParaRPr>
          </a:p>
          <a:p>
            <a:pPr lvl="2" marL="1349375" indent="-1337310">
              <a:lnSpc>
                <a:spcPct val="100000"/>
              </a:lnSpc>
              <a:spcBef>
                <a:spcPts val="2235"/>
              </a:spcBef>
              <a:buFont typeface="Times New Roman"/>
              <a:buAutoNum type="arabicPeriod"/>
              <a:tabLst>
                <a:tab pos="1349375" algn="l"/>
                <a:tab pos="1350010" algn="l"/>
              </a:tabLst>
            </a:pP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过程</a:t>
            </a:r>
            <a:r>
              <a:rPr dirty="0" sz="3500" spc="5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函数说明和调用的</a:t>
            </a:r>
            <a:r>
              <a:rPr dirty="0" sz="3500" spc="-10" b="1">
                <a:solidFill>
                  <a:srgbClr val="FFFFFF"/>
                </a:solidFill>
                <a:latin typeface="宋体"/>
                <a:cs typeface="宋体"/>
              </a:rPr>
              <a:t>翻译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76731" y="26923"/>
            <a:ext cx="34855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40021" y="26923"/>
            <a:ext cx="33508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语句翻译与中间代码生成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103107" y="4355591"/>
            <a:ext cx="1041400" cy="508000"/>
          </a:xfrm>
          <a:custGeom>
            <a:avLst/>
            <a:gdLst/>
            <a:ahLst/>
            <a:cxnLst/>
            <a:rect l="l" t="t" r="r" b="b"/>
            <a:pathLst>
              <a:path w="1041400" h="508000">
                <a:moveTo>
                  <a:pt x="260858" y="0"/>
                </a:moveTo>
                <a:lnTo>
                  <a:pt x="0" y="253745"/>
                </a:lnTo>
                <a:lnTo>
                  <a:pt x="260858" y="507491"/>
                </a:lnTo>
                <a:lnTo>
                  <a:pt x="260858" y="451738"/>
                </a:lnTo>
                <a:lnTo>
                  <a:pt x="1040892" y="451738"/>
                </a:lnTo>
                <a:lnTo>
                  <a:pt x="1040892" y="55752"/>
                </a:lnTo>
                <a:lnTo>
                  <a:pt x="260858" y="55752"/>
                </a:lnTo>
                <a:lnTo>
                  <a:pt x="260858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103107" y="4355591"/>
            <a:ext cx="1041400" cy="508000"/>
          </a:xfrm>
          <a:custGeom>
            <a:avLst/>
            <a:gdLst/>
            <a:ahLst/>
            <a:cxnLst/>
            <a:rect l="l" t="t" r="r" b="b"/>
            <a:pathLst>
              <a:path w="1041400" h="508000">
                <a:moveTo>
                  <a:pt x="0" y="253745"/>
                </a:moveTo>
                <a:lnTo>
                  <a:pt x="260858" y="0"/>
                </a:lnTo>
                <a:lnTo>
                  <a:pt x="260858" y="55752"/>
                </a:lnTo>
                <a:lnTo>
                  <a:pt x="1040892" y="55752"/>
                </a:lnTo>
                <a:lnTo>
                  <a:pt x="1040892" y="451738"/>
                </a:lnTo>
                <a:lnTo>
                  <a:pt x="260858" y="451738"/>
                </a:lnTo>
                <a:lnTo>
                  <a:pt x="260858" y="507491"/>
                </a:lnTo>
                <a:lnTo>
                  <a:pt x="0" y="253745"/>
                </a:lnTo>
                <a:close/>
              </a:path>
            </a:pathLst>
          </a:custGeom>
          <a:ln w="57149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103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247" y="26923"/>
            <a:ext cx="41173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13275" y="26923"/>
            <a:ext cx="43694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6050" algn="l"/>
              </a:tabLst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6.6.4</a:t>
            </a:r>
            <a:r>
              <a:rPr dirty="0" u="sng" sz="2000" spc="42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数组说明与引用翻译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6240" y="840105"/>
            <a:ext cx="5582285" cy="1466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85153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一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数组说明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850">
              <a:latin typeface="宋体"/>
              <a:cs typeface="宋体"/>
            </a:endParaRPr>
          </a:p>
          <a:p>
            <a:pPr algn="ctr" marL="800100">
              <a:lnSpc>
                <a:spcPct val="100000"/>
              </a:lnSpc>
              <a:tabLst>
                <a:tab pos="1927225" algn="l"/>
                <a:tab pos="2402205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type	A	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[d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]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[d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]… [d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r>
              <a:rPr dirty="0" sz="3200" spc="-1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0818" y="5844946"/>
            <a:ext cx="77152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type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13305" y="5844946"/>
            <a:ext cx="583184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12445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	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[d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1 ..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'] [d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2 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..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']…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[d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n ..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']</a:t>
            </a:r>
            <a:r>
              <a:rPr dirty="0" sz="32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3742" y="2854579"/>
            <a:ext cx="14522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数组类型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3261" y="2370582"/>
            <a:ext cx="1181100" cy="0"/>
          </a:xfrm>
          <a:custGeom>
            <a:avLst/>
            <a:gdLst/>
            <a:ahLst/>
            <a:cxnLst/>
            <a:rect l="l" t="t" r="r" b="b"/>
            <a:pathLst>
              <a:path w="1181100" h="0">
                <a:moveTo>
                  <a:pt x="0" y="0"/>
                </a:moveTo>
                <a:lnTo>
                  <a:pt x="1181100" y="0"/>
                </a:lnTo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82674" y="2370582"/>
            <a:ext cx="0" cy="469900"/>
          </a:xfrm>
          <a:custGeom>
            <a:avLst/>
            <a:gdLst/>
            <a:ahLst/>
            <a:cxnLst/>
            <a:rect l="l" t="t" r="r" b="b"/>
            <a:pathLst>
              <a:path w="0" h="469900">
                <a:moveTo>
                  <a:pt x="0" y="0"/>
                </a:moveTo>
                <a:lnTo>
                  <a:pt x="0" y="469391"/>
                </a:lnTo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15717" y="2370582"/>
            <a:ext cx="475615" cy="0"/>
          </a:xfrm>
          <a:custGeom>
            <a:avLst/>
            <a:gdLst/>
            <a:ahLst/>
            <a:cxnLst/>
            <a:rect l="l" t="t" r="r" b="b"/>
            <a:pathLst>
              <a:path w="475614" h="0">
                <a:moveTo>
                  <a:pt x="0" y="0"/>
                </a:moveTo>
                <a:lnTo>
                  <a:pt x="475488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568701" y="2370582"/>
            <a:ext cx="480059" cy="469900"/>
          </a:xfrm>
          <a:custGeom>
            <a:avLst/>
            <a:gdLst/>
            <a:ahLst/>
            <a:cxnLst/>
            <a:rect l="l" t="t" r="r" b="b"/>
            <a:pathLst>
              <a:path w="480060" h="469900">
                <a:moveTo>
                  <a:pt x="0" y="0"/>
                </a:moveTo>
                <a:lnTo>
                  <a:pt x="480060" y="469391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949701" y="2408682"/>
            <a:ext cx="2976880" cy="0"/>
          </a:xfrm>
          <a:custGeom>
            <a:avLst/>
            <a:gdLst/>
            <a:ahLst/>
            <a:cxnLst/>
            <a:rect l="l" t="t" r="r" b="b"/>
            <a:pathLst>
              <a:path w="2976879" h="0">
                <a:moveTo>
                  <a:pt x="0" y="0"/>
                </a:moveTo>
                <a:lnTo>
                  <a:pt x="2976372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33138" y="2408682"/>
            <a:ext cx="516890" cy="469900"/>
          </a:xfrm>
          <a:custGeom>
            <a:avLst/>
            <a:gdLst/>
            <a:ahLst/>
            <a:cxnLst/>
            <a:rect l="l" t="t" r="r" b="b"/>
            <a:pathLst>
              <a:path w="516889" h="469900">
                <a:moveTo>
                  <a:pt x="0" y="0"/>
                </a:moveTo>
                <a:lnTo>
                  <a:pt x="516636" y="469391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552445" y="2835401"/>
            <a:ext cx="64884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82725" algn="l"/>
              </a:tabLst>
            </a:pP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数组</a:t>
            </a: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名</a:t>
            </a:r>
            <a:r>
              <a:rPr dirty="0" sz="2800" b="1">
                <a:solidFill>
                  <a:srgbClr val="66FFFF"/>
                </a:solidFill>
                <a:latin typeface="宋体"/>
                <a:cs typeface="宋体"/>
              </a:rPr>
              <a:t>	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数组维数、每维大小、数组体积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944873" y="3368802"/>
            <a:ext cx="1676400" cy="0"/>
          </a:xfrm>
          <a:custGeom>
            <a:avLst/>
            <a:gdLst/>
            <a:ahLst/>
            <a:cxnLst/>
            <a:rect l="l" t="t" r="r" b="b"/>
            <a:pathLst>
              <a:path w="1676400" h="0">
                <a:moveTo>
                  <a:pt x="0" y="0"/>
                </a:moveTo>
                <a:lnTo>
                  <a:pt x="1676400" y="0"/>
                </a:lnTo>
              </a:path>
            </a:pathLst>
          </a:custGeom>
          <a:ln w="38100">
            <a:solidFill>
              <a:srgbClr val="99FF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716273" y="3368802"/>
            <a:ext cx="817244" cy="424180"/>
          </a:xfrm>
          <a:custGeom>
            <a:avLst/>
            <a:gdLst/>
            <a:ahLst/>
            <a:cxnLst/>
            <a:rect l="l" t="t" r="r" b="b"/>
            <a:pathLst>
              <a:path w="817245" h="424179">
                <a:moveTo>
                  <a:pt x="816863" y="0"/>
                </a:moveTo>
                <a:lnTo>
                  <a:pt x="0" y="423672"/>
                </a:lnTo>
              </a:path>
            </a:pathLst>
          </a:custGeom>
          <a:ln w="38100">
            <a:solidFill>
              <a:srgbClr val="99FF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949701" y="3792473"/>
            <a:ext cx="2100580" cy="521334"/>
          </a:xfrm>
          <a:prstGeom prst="rect">
            <a:avLst/>
          </a:prstGeom>
          <a:ln w="38100">
            <a:solidFill>
              <a:srgbClr val="99FF33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3650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n:</a:t>
            </a:r>
            <a:r>
              <a:rPr dirty="0" sz="32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spc="-7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个数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59373" y="3876294"/>
            <a:ext cx="1676400" cy="521334"/>
          </a:xfrm>
          <a:prstGeom prst="rect">
            <a:avLst/>
          </a:prstGeom>
          <a:ln w="38100">
            <a:solidFill>
              <a:srgbClr val="FF66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92405">
              <a:lnSpc>
                <a:spcPts val="3654"/>
              </a:lnSpc>
            </a:pP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spc="-7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的值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906261" y="3368802"/>
            <a:ext cx="1181100" cy="0"/>
          </a:xfrm>
          <a:custGeom>
            <a:avLst/>
            <a:gdLst/>
            <a:ahLst/>
            <a:cxnLst/>
            <a:rect l="l" t="t" r="r" b="b"/>
            <a:pathLst>
              <a:path w="1181100" h="0">
                <a:moveTo>
                  <a:pt x="0" y="0"/>
                </a:moveTo>
                <a:lnTo>
                  <a:pt x="1181099" y="0"/>
                </a:lnTo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535673" y="3368802"/>
            <a:ext cx="0" cy="469900"/>
          </a:xfrm>
          <a:custGeom>
            <a:avLst/>
            <a:gdLst/>
            <a:ahLst/>
            <a:cxnLst/>
            <a:rect l="l" t="t" r="r" b="b"/>
            <a:pathLst>
              <a:path w="0" h="469900">
                <a:moveTo>
                  <a:pt x="0" y="0"/>
                </a:moveTo>
                <a:lnTo>
                  <a:pt x="0" y="469392"/>
                </a:lnTo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651497" y="4911090"/>
            <a:ext cx="2475230" cy="523240"/>
          </a:xfrm>
          <a:custGeom>
            <a:avLst/>
            <a:gdLst/>
            <a:ahLst/>
            <a:cxnLst/>
            <a:rect l="l" t="t" r="r" b="b"/>
            <a:pathLst>
              <a:path w="2475229" h="523239">
                <a:moveTo>
                  <a:pt x="0" y="522732"/>
                </a:moveTo>
                <a:lnTo>
                  <a:pt x="2474976" y="522732"/>
                </a:lnTo>
                <a:lnTo>
                  <a:pt x="2474976" y="0"/>
                </a:lnTo>
                <a:lnTo>
                  <a:pt x="0" y="0"/>
                </a:lnTo>
                <a:lnTo>
                  <a:pt x="0" y="522732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704330" y="4870196"/>
            <a:ext cx="229298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*d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*…</a:t>
            </a:r>
            <a:r>
              <a:rPr dirty="0" sz="32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*d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baseline="-15873" sz="31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695438" y="3323082"/>
            <a:ext cx="1181100" cy="0"/>
          </a:xfrm>
          <a:custGeom>
            <a:avLst/>
            <a:gdLst/>
            <a:ahLst/>
            <a:cxnLst/>
            <a:rect l="l" t="t" r="r" b="b"/>
            <a:pathLst>
              <a:path w="1181100" h="0">
                <a:moveTo>
                  <a:pt x="0" y="0"/>
                </a:moveTo>
                <a:lnTo>
                  <a:pt x="118110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077961" y="3323082"/>
            <a:ext cx="245745" cy="1612900"/>
          </a:xfrm>
          <a:custGeom>
            <a:avLst/>
            <a:gdLst/>
            <a:ahLst/>
            <a:cxnLst/>
            <a:rect l="l" t="t" r="r" b="b"/>
            <a:pathLst>
              <a:path w="245745" h="1612900">
                <a:moveTo>
                  <a:pt x="245364" y="0"/>
                </a:moveTo>
                <a:lnTo>
                  <a:pt x="0" y="1612391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103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247" y="26923"/>
            <a:ext cx="41173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13275" y="26923"/>
            <a:ext cx="43694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6050" algn="l"/>
              </a:tabLst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6.6.4</a:t>
            </a:r>
            <a:r>
              <a:rPr dirty="0" u="sng" sz="2000" spc="42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数组说明与引用翻译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740" y="865124"/>
            <a:ext cx="6045835" cy="13188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数组说明的语义处理</a:t>
            </a:r>
            <a:endParaRPr sz="3200">
              <a:latin typeface="宋体"/>
              <a:cs typeface="宋体"/>
            </a:endParaRPr>
          </a:p>
          <a:p>
            <a:pPr marL="724535">
              <a:lnSpc>
                <a:spcPct val="100000"/>
              </a:lnSpc>
              <a:spcBef>
                <a:spcPts val="249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填表，登记数组的属性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信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息。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5344" y="2680940"/>
            <a:ext cx="1834514" cy="29521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863600">
              <a:lnSpc>
                <a:spcPct val="120000"/>
              </a:lnSpc>
              <a:spcBef>
                <a:spcPts val="95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type 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name 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dim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4610"/>
              </a:lnSpc>
              <a:spcBef>
                <a:spcPts val="28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d</a:t>
            </a:r>
            <a:r>
              <a:rPr dirty="0" sz="3200" spc="-10" b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m_value  </a:t>
            </a:r>
            <a:r>
              <a:rPr dirty="0" sz="3200" spc="5" b="1">
                <a:solidFill>
                  <a:srgbClr val="66FFFF"/>
                </a:solidFill>
                <a:latin typeface="Times New Roman"/>
                <a:cs typeface="Times New Roman"/>
              </a:rPr>
              <a:t>vol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30473" y="2858261"/>
            <a:ext cx="266700" cy="2778760"/>
          </a:xfrm>
          <a:custGeom>
            <a:avLst/>
            <a:gdLst/>
            <a:ahLst/>
            <a:cxnLst/>
            <a:rect l="l" t="t" r="r" b="b"/>
            <a:pathLst>
              <a:path w="266700" h="2778760">
                <a:moveTo>
                  <a:pt x="0" y="0"/>
                </a:moveTo>
                <a:lnTo>
                  <a:pt x="67309" y="31604"/>
                </a:lnTo>
                <a:lnTo>
                  <a:pt x="94297" y="67802"/>
                </a:lnTo>
                <a:lnTo>
                  <a:pt x="115146" y="114657"/>
                </a:lnTo>
                <a:lnTo>
                  <a:pt x="128587" y="169965"/>
                </a:lnTo>
                <a:lnTo>
                  <a:pt x="133350" y="231521"/>
                </a:lnTo>
                <a:lnTo>
                  <a:pt x="133350" y="1157605"/>
                </a:lnTo>
                <a:lnTo>
                  <a:pt x="138112" y="1219160"/>
                </a:lnTo>
                <a:lnTo>
                  <a:pt x="151553" y="1274468"/>
                </a:lnTo>
                <a:lnTo>
                  <a:pt x="172402" y="1321323"/>
                </a:lnTo>
                <a:lnTo>
                  <a:pt x="199389" y="1357521"/>
                </a:lnTo>
                <a:lnTo>
                  <a:pt x="231245" y="1380857"/>
                </a:lnTo>
                <a:lnTo>
                  <a:pt x="266700" y="1389126"/>
                </a:lnTo>
                <a:lnTo>
                  <a:pt x="231245" y="1397394"/>
                </a:lnTo>
                <a:lnTo>
                  <a:pt x="199389" y="1420730"/>
                </a:lnTo>
                <a:lnTo>
                  <a:pt x="172402" y="1456928"/>
                </a:lnTo>
                <a:lnTo>
                  <a:pt x="151553" y="1503783"/>
                </a:lnTo>
                <a:lnTo>
                  <a:pt x="138112" y="1559091"/>
                </a:lnTo>
                <a:lnTo>
                  <a:pt x="133350" y="1620646"/>
                </a:lnTo>
                <a:lnTo>
                  <a:pt x="133350" y="2546731"/>
                </a:lnTo>
                <a:lnTo>
                  <a:pt x="128587" y="2608286"/>
                </a:lnTo>
                <a:lnTo>
                  <a:pt x="115146" y="2663594"/>
                </a:lnTo>
                <a:lnTo>
                  <a:pt x="94297" y="2710449"/>
                </a:lnTo>
                <a:lnTo>
                  <a:pt x="67309" y="2746647"/>
                </a:lnTo>
                <a:lnTo>
                  <a:pt x="35454" y="2769983"/>
                </a:lnTo>
                <a:lnTo>
                  <a:pt x="0" y="277825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451097" y="3907358"/>
            <a:ext cx="125222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符号表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94452" y="2966724"/>
            <a:ext cx="3237865" cy="260794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公共、等长信息</a:t>
            </a:r>
            <a:endParaRPr sz="2800">
              <a:latin typeface="宋体"/>
              <a:cs typeface="宋体"/>
            </a:endParaRPr>
          </a:p>
          <a:p>
            <a:pPr marL="457834">
              <a:lnSpc>
                <a:spcPct val="100000"/>
              </a:lnSpc>
              <a:spcBef>
                <a:spcPts val="50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（符号表）</a:t>
            </a:r>
            <a:endParaRPr sz="2800">
              <a:latin typeface="宋体"/>
              <a:cs typeface="宋体"/>
            </a:endParaRPr>
          </a:p>
          <a:p>
            <a:pPr marL="12700" marR="5080">
              <a:lnSpc>
                <a:spcPct val="114999"/>
              </a:lnSpc>
              <a:spcBef>
                <a:spcPts val="1010"/>
              </a:spcBef>
            </a:pP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与计算数组元素地址 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有关、不等长信息</a:t>
            </a:r>
            <a:endParaRPr sz="2800">
              <a:latin typeface="宋体"/>
              <a:cs typeface="宋体"/>
            </a:endParaRPr>
          </a:p>
          <a:p>
            <a:pPr marL="279400">
              <a:lnSpc>
                <a:spcPct val="100000"/>
              </a:lnSpc>
              <a:spcBef>
                <a:spcPts val="505"/>
              </a:spcBef>
            </a:pPr>
            <a:r>
              <a:rPr dirty="0" sz="2800" spc="-10" b="1">
                <a:solidFill>
                  <a:srgbClr val="FFCCCC"/>
                </a:solidFill>
                <a:latin typeface="宋体"/>
                <a:cs typeface="宋体"/>
              </a:rPr>
              <a:t>（信息向量表）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11673" y="3038094"/>
            <a:ext cx="304800" cy="2371725"/>
          </a:xfrm>
          <a:custGeom>
            <a:avLst/>
            <a:gdLst/>
            <a:ahLst/>
            <a:cxnLst/>
            <a:rect l="l" t="t" r="r" b="b"/>
            <a:pathLst>
              <a:path w="304800" h="2371725">
                <a:moveTo>
                  <a:pt x="304800" y="2371343"/>
                </a:moveTo>
                <a:lnTo>
                  <a:pt x="264274" y="2364281"/>
                </a:lnTo>
                <a:lnTo>
                  <a:pt x="227866" y="2344354"/>
                </a:lnTo>
                <a:lnTo>
                  <a:pt x="197024" y="2313447"/>
                </a:lnTo>
                <a:lnTo>
                  <a:pt x="173199" y="2273450"/>
                </a:lnTo>
                <a:lnTo>
                  <a:pt x="157841" y="2226249"/>
                </a:lnTo>
                <a:lnTo>
                  <a:pt x="152400" y="2173731"/>
                </a:lnTo>
                <a:lnTo>
                  <a:pt x="152400" y="1383283"/>
                </a:lnTo>
                <a:lnTo>
                  <a:pt x="146958" y="1330766"/>
                </a:lnTo>
                <a:lnTo>
                  <a:pt x="131600" y="1283565"/>
                </a:lnTo>
                <a:lnTo>
                  <a:pt x="107775" y="1243568"/>
                </a:lnTo>
                <a:lnTo>
                  <a:pt x="76933" y="1212661"/>
                </a:lnTo>
                <a:lnTo>
                  <a:pt x="40525" y="1192734"/>
                </a:lnTo>
                <a:lnTo>
                  <a:pt x="0" y="1185671"/>
                </a:lnTo>
                <a:lnTo>
                  <a:pt x="40525" y="1178609"/>
                </a:lnTo>
                <a:lnTo>
                  <a:pt x="76933" y="1158682"/>
                </a:lnTo>
                <a:lnTo>
                  <a:pt x="107775" y="1127775"/>
                </a:lnTo>
                <a:lnTo>
                  <a:pt x="131600" y="1087778"/>
                </a:lnTo>
                <a:lnTo>
                  <a:pt x="146958" y="1040577"/>
                </a:lnTo>
                <a:lnTo>
                  <a:pt x="152400" y="988059"/>
                </a:lnTo>
                <a:lnTo>
                  <a:pt x="152400" y="197611"/>
                </a:lnTo>
                <a:lnTo>
                  <a:pt x="157841" y="145094"/>
                </a:lnTo>
                <a:lnTo>
                  <a:pt x="173199" y="97893"/>
                </a:lnTo>
                <a:lnTo>
                  <a:pt x="197024" y="57896"/>
                </a:lnTo>
                <a:lnTo>
                  <a:pt x="227866" y="26989"/>
                </a:lnTo>
                <a:lnTo>
                  <a:pt x="264274" y="7062"/>
                </a:lnTo>
                <a:lnTo>
                  <a:pt x="3048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103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247" y="26923"/>
            <a:ext cx="53308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  <a:tab pos="4292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25744" y="26923"/>
            <a:ext cx="31572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383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6.6.4</a:t>
            </a:r>
            <a:r>
              <a:rPr dirty="0" u="sng" sz="2000" spc="42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数组说明与引用翻译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286773"/>
            <a:ext cx="3280410" cy="1293495"/>
          </a:xfrm>
          <a:prstGeom prst="rect">
            <a:avLst/>
          </a:prstGeom>
        </p:spPr>
        <p:txBody>
          <a:bodyPr wrap="square" lIns="0" tIns="158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6.3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设有说明</a:t>
            </a:r>
            <a:endParaRPr sz="32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1155"/>
              </a:spcBef>
              <a:tabLst>
                <a:tab pos="1704339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a[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][2</a:t>
            </a:r>
            <a:r>
              <a:rPr dirty="0" sz="3200" spc="10" b="1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49117" y="3679697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 h="0">
                <a:moveTo>
                  <a:pt x="0" y="0"/>
                </a:moveTo>
                <a:lnTo>
                  <a:pt x="685799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534917" y="1358646"/>
            <a:ext cx="0" cy="2321560"/>
          </a:xfrm>
          <a:custGeom>
            <a:avLst/>
            <a:gdLst/>
            <a:ahLst/>
            <a:cxnLst/>
            <a:rect l="l" t="t" r="r" b="b"/>
            <a:pathLst>
              <a:path w="0" h="2321560">
                <a:moveTo>
                  <a:pt x="0" y="2321052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525773" y="1301496"/>
            <a:ext cx="266700" cy="114300"/>
          </a:xfrm>
          <a:custGeom>
            <a:avLst/>
            <a:gdLst/>
            <a:ahLst/>
            <a:cxnLst/>
            <a:rect l="l" t="t" r="r" b="b"/>
            <a:pathLst>
              <a:path w="266700" h="114300">
                <a:moveTo>
                  <a:pt x="152400" y="0"/>
                </a:moveTo>
                <a:lnTo>
                  <a:pt x="152400" y="114300"/>
                </a:lnTo>
                <a:lnTo>
                  <a:pt x="228600" y="76200"/>
                </a:lnTo>
                <a:lnTo>
                  <a:pt x="171450" y="76200"/>
                </a:lnTo>
                <a:lnTo>
                  <a:pt x="171450" y="38100"/>
                </a:lnTo>
                <a:lnTo>
                  <a:pt x="228600" y="38100"/>
                </a:lnTo>
                <a:lnTo>
                  <a:pt x="152400" y="0"/>
                </a:lnTo>
                <a:close/>
              </a:path>
              <a:path w="266700" h="114300">
                <a:moveTo>
                  <a:pt x="1524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52400" y="76200"/>
                </a:lnTo>
                <a:lnTo>
                  <a:pt x="152400" y="38100"/>
                </a:lnTo>
                <a:close/>
              </a:path>
              <a:path w="266700" h="114300">
                <a:moveTo>
                  <a:pt x="228600" y="38100"/>
                </a:moveTo>
                <a:lnTo>
                  <a:pt x="171450" y="38100"/>
                </a:lnTo>
                <a:lnTo>
                  <a:pt x="171450" y="76200"/>
                </a:lnTo>
                <a:lnTo>
                  <a:pt x="228600" y="76200"/>
                </a:lnTo>
                <a:lnTo>
                  <a:pt x="266700" y="57150"/>
                </a:lnTo>
                <a:lnTo>
                  <a:pt x="2286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940557" y="4309109"/>
            <a:ext cx="585470" cy="0"/>
          </a:xfrm>
          <a:custGeom>
            <a:avLst/>
            <a:gdLst/>
            <a:ahLst/>
            <a:cxnLst/>
            <a:rect l="l" t="t" r="r" b="b"/>
            <a:pathLst>
              <a:path w="585470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515105" y="4299965"/>
            <a:ext cx="10795" cy="530860"/>
          </a:xfrm>
          <a:custGeom>
            <a:avLst/>
            <a:gdLst/>
            <a:ahLst/>
            <a:cxnLst/>
            <a:rect l="l" t="t" r="r" b="b"/>
            <a:pathLst>
              <a:path w="10795" h="530860">
                <a:moveTo>
                  <a:pt x="10668" y="530351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515105" y="4768596"/>
            <a:ext cx="219456" cy="114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81905" y="988313"/>
            <a:ext cx="342900" cy="3476625"/>
          </a:xfrm>
          <a:custGeom>
            <a:avLst/>
            <a:gdLst/>
            <a:ahLst/>
            <a:cxnLst/>
            <a:rect l="l" t="t" r="r" b="b"/>
            <a:pathLst>
              <a:path w="342900" h="3476625">
                <a:moveTo>
                  <a:pt x="0" y="0"/>
                </a:moveTo>
                <a:lnTo>
                  <a:pt x="66758" y="22760"/>
                </a:lnTo>
                <a:lnTo>
                  <a:pt x="95882" y="49466"/>
                </a:lnTo>
                <a:lnTo>
                  <a:pt x="121253" y="84836"/>
                </a:lnTo>
                <a:lnTo>
                  <a:pt x="142182" y="127706"/>
                </a:lnTo>
                <a:lnTo>
                  <a:pt x="157984" y="176914"/>
                </a:lnTo>
                <a:lnTo>
                  <a:pt x="167968" y="231296"/>
                </a:lnTo>
                <a:lnTo>
                  <a:pt x="171450" y="289687"/>
                </a:lnTo>
                <a:lnTo>
                  <a:pt x="171450" y="1448435"/>
                </a:lnTo>
                <a:lnTo>
                  <a:pt x="174931" y="1506825"/>
                </a:lnTo>
                <a:lnTo>
                  <a:pt x="184915" y="1561207"/>
                </a:lnTo>
                <a:lnTo>
                  <a:pt x="200717" y="1610415"/>
                </a:lnTo>
                <a:lnTo>
                  <a:pt x="221646" y="1653286"/>
                </a:lnTo>
                <a:lnTo>
                  <a:pt x="247017" y="1688655"/>
                </a:lnTo>
                <a:lnTo>
                  <a:pt x="276141" y="1715361"/>
                </a:lnTo>
                <a:lnTo>
                  <a:pt x="342900" y="1738122"/>
                </a:lnTo>
                <a:lnTo>
                  <a:pt x="308331" y="1744006"/>
                </a:lnTo>
                <a:lnTo>
                  <a:pt x="247017" y="1787588"/>
                </a:lnTo>
                <a:lnTo>
                  <a:pt x="221646" y="1822958"/>
                </a:lnTo>
                <a:lnTo>
                  <a:pt x="200717" y="1865828"/>
                </a:lnTo>
                <a:lnTo>
                  <a:pt x="184915" y="1915036"/>
                </a:lnTo>
                <a:lnTo>
                  <a:pt x="174931" y="1969418"/>
                </a:lnTo>
                <a:lnTo>
                  <a:pt x="171450" y="2027809"/>
                </a:lnTo>
                <a:lnTo>
                  <a:pt x="171450" y="3186557"/>
                </a:lnTo>
                <a:lnTo>
                  <a:pt x="167968" y="3244947"/>
                </a:lnTo>
                <a:lnTo>
                  <a:pt x="157984" y="3299329"/>
                </a:lnTo>
                <a:lnTo>
                  <a:pt x="142182" y="3348537"/>
                </a:lnTo>
                <a:lnTo>
                  <a:pt x="121253" y="3391408"/>
                </a:lnTo>
                <a:lnTo>
                  <a:pt x="95882" y="3426777"/>
                </a:lnTo>
                <a:lnTo>
                  <a:pt x="66758" y="3453483"/>
                </a:lnTo>
                <a:lnTo>
                  <a:pt x="34568" y="3470359"/>
                </a:lnTo>
                <a:lnTo>
                  <a:pt x="0" y="3476244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004053" y="2347721"/>
            <a:ext cx="254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81905" y="4464558"/>
            <a:ext cx="342900" cy="2318385"/>
          </a:xfrm>
          <a:custGeom>
            <a:avLst/>
            <a:gdLst/>
            <a:ahLst/>
            <a:cxnLst/>
            <a:rect l="l" t="t" r="r" b="b"/>
            <a:pathLst>
              <a:path w="342900" h="2318384">
                <a:moveTo>
                  <a:pt x="0" y="0"/>
                </a:moveTo>
                <a:lnTo>
                  <a:pt x="45596" y="6900"/>
                </a:lnTo>
                <a:lnTo>
                  <a:pt x="86557" y="26373"/>
                </a:lnTo>
                <a:lnTo>
                  <a:pt x="121253" y="56578"/>
                </a:lnTo>
                <a:lnTo>
                  <a:pt x="148053" y="95673"/>
                </a:lnTo>
                <a:lnTo>
                  <a:pt x="165329" y="141816"/>
                </a:lnTo>
                <a:lnTo>
                  <a:pt x="171450" y="193167"/>
                </a:lnTo>
                <a:lnTo>
                  <a:pt x="171450" y="965835"/>
                </a:lnTo>
                <a:lnTo>
                  <a:pt x="177570" y="1017185"/>
                </a:lnTo>
                <a:lnTo>
                  <a:pt x="194846" y="1063328"/>
                </a:lnTo>
                <a:lnTo>
                  <a:pt x="221646" y="1102423"/>
                </a:lnTo>
                <a:lnTo>
                  <a:pt x="256342" y="1132628"/>
                </a:lnTo>
                <a:lnTo>
                  <a:pt x="297303" y="1152101"/>
                </a:lnTo>
                <a:lnTo>
                  <a:pt x="342900" y="1159002"/>
                </a:lnTo>
                <a:lnTo>
                  <a:pt x="297303" y="1165901"/>
                </a:lnTo>
                <a:lnTo>
                  <a:pt x="256342" y="1185371"/>
                </a:lnTo>
                <a:lnTo>
                  <a:pt x="221646" y="1215572"/>
                </a:lnTo>
                <a:lnTo>
                  <a:pt x="194846" y="1254662"/>
                </a:lnTo>
                <a:lnTo>
                  <a:pt x="177570" y="1300799"/>
                </a:lnTo>
                <a:lnTo>
                  <a:pt x="171450" y="1352143"/>
                </a:lnTo>
                <a:lnTo>
                  <a:pt x="171450" y="2124862"/>
                </a:lnTo>
                <a:lnTo>
                  <a:pt x="165329" y="2176206"/>
                </a:lnTo>
                <a:lnTo>
                  <a:pt x="148053" y="2222343"/>
                </a:lnTo>
                <a:lnTo>
                  <a:pt x="121253" y="2261432"/>
                </a:lnTo>
                <a:lnTo>
                  <a:pt x="86557" y="2291633"/>
                </a:lnTo>
                <a:lnTo>
                  <a:pt x="45596" y="2311103"/>
                </a:lnTo>
                <a:lnTo>
                  <a:pt x="0" y="2318002"/>
                </a:lnTo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004053" y="5394756"/>
            <a:ext cx="2800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100" y="2954273"/>
            <a:ext cx="85534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name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150" y="1594205"/>
            <a:ext cx="3353435" cy="2443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73150" marR="394335" indent="-120650">
              <a:lnSpc>
                <a:spcPct val="121900"/>
              </a:lnSpc>
              <a:spcBef>
                <a:spcPts val="9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float</a:t>
            </a:r>
            <a:r>
              <a:rPr dirty="0" sz="3200" spc="-1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b[4]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； 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namelist</a:t>
            </a:r>
            <a:endParaRPr sz="3200">
              <a:latin typeface="Times New Roman"/>
              <a:cs typeface="Times New Roman"/>
            </a:endParaRPr>
          </a:p>
          <a:p>
            <a:pPr marL="188595" marR="8890" indent="713740">
              <a:lnSpc>
                <a:spcPts val="4970"/>
              </a:lnSpc>
              <a:spcBef>
                <a:spcPts val="170"/>
              </a:spcBef>
              <a:tabLst>
                <a:tab pos="899794" algn="l"/>
                <a:tab pos="1863089" algn="l"/>
                <a:tab pos="2012950" algn="l"/>
              </a:tabLst>
            </a:pP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kind	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type</a:t>
            </a:r>
            <a:r>
              <a:rPr dirty="0" sz="2800" spc="-8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addr 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	array		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8861" y="2896361"/>
            <a:ext cx="3382010" cy="0"/>
          </a:xfrm>
          <a:custGeom>
            <a:avLst/>
            <a:gdLst/>
            <a:ahLst/>
            <a:cxnLst/>
            <a:rect l="l" t="t" r="r" b="b"/>
            <a:pathLst>
              <a:path w="3382010" h="0">
                <a:moveTo>
                  <a:pt x="0" y="0"/>
                </a:moveTo>
                <a:lnTo>
                  <a:pt x="3381755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8100" y="3474720"/>
            <a:ext cx="3382010" cy="0"/>
          </a:xfrm>
          <a:custGeom>
            <a:avLst/>
            <a:gdLst/>
            <a:ahLst/>
            <a:cxnLst/>
            <a:rect l="l" t="t" r="r" b="b"/>
            <a:pathLst>
              <a:path w="3382010" h="0">
                <a:moveTo>
                  <a:pt x="0" y="0"/>
                </a:moveTo>
                <a:lnTo>
                  <a:pt x="3381755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8100" y="4053840"/>
            <a:ext cx="3382010" cy="0"/>
          </a:xfrm>
          <a:custGeom>
            <a:avLst/>
            <a:gdLst/>
            <a:ahLst/>
            <a:cxnLst/>
            <a:rect l="l" t="t" r="r" b="b"/>
            <a:pathLst>
              <a:path w="3382010" h="0">
                <a:moveTo>
                  <a:pt x="0" y="0"/>
                </a:moveTo>
                <a:lnTo>
                  <a:pt x="3381755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8861" y="4635246"/>
            <a:ext cx="3382010" cy="0"/>
          </a:xfrm>
          <a:custGeom>
            <a:avLst/>
            <a:gdLst/>
            <a:ahLst/>
            <a:cxnLst/>
            <a:rect l="l" t="t" r="r" b="b"/>
            <a:pathLst>
              <a:path w="3382010" h="0">
                <a:moveTo>
                  <a:pt x="0" y="0"/>
                </a:moveTo>
                <a:lnTo>
                  <a:pt x="3381755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8861" y="2896361"/>
            <a:ext cx="0" cy="1739264"/>
          </a:xfrm>
          <a:custGeom>
            <a:avLst/>
            <a:gdLst/>
            <a:ahLst/>
            <a:cxnLst/>
            <a:rect l="l" t="t" r="r" b="b"/>
            <a:pathLst>
              <a:path w="0" h="1739264">
                <a:moveTo>
                  <a:pt x="0" y="0"/>
                </a:moveTo>
                <a:lnTo>
                  <a:pt x="1" y="1738883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420617" y="2896361"/>
            <a:ext cx="0" cy="1739264"/>
          </a:xfrm>
          <a:custGeom>
            <a:avLst/>
            <a:gdLst/>
            <a:ahLst/>
            <a:cxnLst/>
            <a:rect l="l" t="t" r="r" b="b"/>
            <a:pathLst>
              <a:path w="0" h="1739264">
                <a:moveTo>
                  <a:pt x="0" y="0"/>
                </a:moveTo>
                <a:lnTo>
                  <a:pt x="0" y="1738883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12113" y="2896361"/>
            <a:ext cx="0" cy="1739264"/>
          </a:xfrm>
          <a:custGeom>
            <a:avLst/>
            <a:gdLst/>
            <a:ahLst/>
            <a:cxnLst/>
            <a:rect l="l" t="t" r="r" b="b"/>
            <a:pathLst>
              <a:path w="0" h="1739264">
                <a:moveTo>
                  <a:pt x="0" y="0"/>
                </a:moveTo>
                <a:lnTo>
                  <a:pt x="0" y="1738883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852422" y="2902457"/>
            <a:ext cx="0" cy="1739264"/>
          </a:xfrm>
          <a:custGeom>
            <a:avLst/>
            <a:gdLst/>
            <a:ahLst/>
            <a:cxnLst/>
            <a:rect l="l" t="t" r="r" b="b"/>
            <a:pathLst>
              <a:path w="0" h="1739264">
                <a:moveTo>
                  <a:pt x="0" y="0"/>
                </a:moveTo>
                <a:lnTo>
                  <a:pt x="0" y="1738883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591561" y="2900933"/>
            <a:ext cx="0" cy="1739264"/>
          </a:xfrm>
          <a:custGeom>
            <a:avLst/>
            <a:gdLst/>
            <a:ahLst/>
            <a:cxnLst/>
            <a:rect l="l" t="t" r="r" b="b"/>
            <a:pathLst>
              <a:path w="0" h="1739264">
                <a:moveTo>
                  <a:pt x="0" y="0"/>
                </a:moveTo>
                <a:lnTo>
                  <a:pt x="0" y="1738883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5364670" y="1105090"/>
          <a:ext cx="3556000" cy="5499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12820"/>
              </a:tblGrid>
              <a:tr h="57988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3000" spc="-5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第一维大小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B="0" marT="7683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791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3000" spc="-5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第二维大小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B="0" marT="7620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3000" spc="-5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第</a:t>
                      </a:r>
                      <a:r>
                        <a:rPr dirty="0" sz="30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3000" spc="-5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维大小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79119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3000" spc="-5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维数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B="0" marT="7810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806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2800" spc="-5" b="1">
                          <a:solidFill>
                            <a:srgbClr val="FFFF66"/>
                          </a:solidFill>
                          <a:latin typeface="宋体"/>
                          <a:cs typeface="宋体"/>
                        </a:rPr>
                        <a:t>体</a:t>
                      </a:r>
                      <a:r>
                        <a:rPr dirty="0" sz="2800" spc="-15" b="1">
                          <a:solidFill>
                            <a:srgbClr val="FFFF66"/>
                          </a:solidFill>
                          <a:latin typeface="宋体"/>
                          <a:cs typeface="宋体"/>
                        </a:rPr>
                        <a:t>积</a:t>
                      </a:r>
                      <a:r>
                        <a:rPr dirty="0" sz="2800" spc="-635" b="1">
                          <a:solidFill>
                            <a:srgbClr val="FFFF66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800" b="1">
                          <a:solidFill>
                            <a:srgbClr val="FFFF66"/>
                          </a:solidFill>
                          <a:latin typeface="Times New Roman"/>
                          <a:cs typeface="Times New Roman"/>
                        </a:rPr>
                        <a:t>=d</a:t>
                      </a:r>
                      <a:r>
                        <a:rPr dirty="0" baseline="-16516" sz="2775" b="1">
                          <a:solidFill>
                            <a:srgbClr val="FFFF66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800" b="1">
                          <a:solidFill>
                            <a:srgbClr val="FFFF66"/>
                          </a:solidFill>
                          <a:latin typeface="Times New Roman"/>
                          <a:cs typeface="Times New Roman"/>
                        </a:rPr>
                        <a:t>*d</a:t>
                      </a:r>
                      <a:r>
                        <a:rPr dirty="0" baseline="-16516" sz="2775" b="1">
                          <a:solidFill>
                            <a:srgbClr val="FFFF66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2800" b="1">
                          <a:solidFill>
                            <a:srgbClr val="FFFF66"/>
                          </a:solidFill>
                          <a:latin typeface="Times New Roman"/>
                          <a:cs typeface="Times New Roman"/>
                        </a:rPr>
                        <a:t>*…*d</a:t>
                      </a:r>
                      <a:r>
                        <a:rPr dirty="0" baseline="-16516" sz="2775" b="1">
                          <a:solidFill>
                            <a:srgbClr val="FFFF66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baseline="-16516" sz="27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marR="3746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2400" b="1">
                          <a:solidFill>
                            <a:srgbClr val="66FFFF"/>
                          </a:solidFill>
                          <a:latin typeface="宋体"/>
                          <a:cs typeface="宋体"/>
                        </a:rPr>
                        <a:t>计算数元地址不变部分</a:t>
                      </a:r>
                      <a:r>
                        <a:rPr dirty="0" sz="2400" spc="-5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747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791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240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数组第一个元素地</a:t>
                      </a:r>
                      <a:r>
                        <a:rPr dirty="0" sz="2400" spc="5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址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747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835913">
                <a:tc>
                  <a:txBody>
                    <a:bodyPr/>
                    <a:lstStyle/>
                    <a:p>
                      <a:pPr algn="ctr" marR="71755">
                        <a:lnSpc>
                          <a:spcPts val="3629"/>
                        </a:lnSpc>
                      </a:pPr>
                      <a:r>
                        <a:rPr dirty="0" sz="3200" b="1">
                          <a:solidFill>
                            <a:srgbClr val="EAEAEA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27" name="object 27"/>
          <p:cNvSpPr txBox="1"/>
          <p:nvPr/>
        </p:nvSpPr>
        <p:spPr>
          <a:xfrm>
            <a:off x="5964428" y="658494"/>
            <a:ext cx="18103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信息向量表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891778" y="1119377"/>
            <a:ext cx="241300" cy="2318385"/>
          </a:xfrm>
          <a:custGeom>
            <a:avLst/>
            <a:gdLst/>
            <a:ahLst/>
            <a:cxnLst/>
            <a:rect l="l" t="t" r="r" b="b"/>
            <a:pathLst>
              <a:path w="241300" h="2318385">
                <a:moveTo>
                  <a:pt x="0" y="0"/>
                </a:moveTo>
                <a:lnTo>
                  <a:pt x="38075" y="9891"/>
                </a:lnTo>
                <a:lnTo>
                  <a:pt x="71128" y="37437"/>
                </a:lnTo>
                <a:lnTo>
                  <a:pt x="97182" y="79443"/>
                </a:lnTo>
                <a:lnTo>
                  <a:pt x="114263" y="132713"/>
                </a:lnTo>
                <a:lnTo>
                  <a:pt x="120396" y="194056"/>
                </a:lnTo>
                <a:lnTo>
                  <a:pt x="120396" y="964946"/>
                </a:lnTo>
                <a:lnTo>
                  <a:pt x="126528" y="1026288"/>
                </a:lnTo>
                <a:lnTo>
                  <a:pt x="143609" y="1079558"/>
                </a:lnTo>
                <a:lnTo>
                  <a:pt x="169663" y="1121564"/>
                </a:lnTo>
                <a:lnTo>
                  <a:pt x="202716" y="1149110"/>
                </a:lnTo>
                <a:lnTo>
                  <a:pt x="240792" y="1159002"/>
                </a:lnTo>
                <a:lnTo>
                  <a:pt x="202716" y="1168893"/>
                </a:lnTo>
                <a:lnTo>
                  <a:pt x="169663" y="1196439"/>
                </a:lnTo>
                <a:lnTo>
                  <a:pt x="143609" y="1238445"/>
                </a:lnTo>
                <a:lnTo>
                  <a:pt x="126528" y="1291715"/>
                </a:lnTo>
                <a:lnTo>
                  <a:pt x="120396" y="1353058"/>
                </a:lnTo>
                <a:lnTo>
                  <a:pt x="120396" y="2123948"/>
                </a:lnTo>
                <a:lnTo>
                  <a:pt x="114263" y="2185290"/>
                </a:lnTo>
                <a:lnTo>
                  <a:pt x="97182" y="2238560"/>
                </a:lnTo>
                <a:lnTo>
                  <a:pt x="71128" y="2280566"/>
                </a:lnTo>
                <a:lnTo>
                  <a:pt x="38075" y="2308112"/>
                </a:lnTo>
                <a:lnTo>
                  <a:pt x="0" y="2318004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2484" y="4747259"/>
            <a:ext cx="3442970" cy="990600"/>
          </a:xfrm>
          <a:custGeom>
            <a:avLst/>
            <a:gdLst/>
            <a:ahLst/>
            <a:cxnLst/>
            <a:rect l="l" t="t" r="r" b="b"/>
            <a:pathLst>
              <a:path w="3442970" h="990600">
                <a:moveTo>
                  <a:pt x="0" y="990599"/>
                </a:moveTo>
                <a:lnTo>
                  <a:pt x="3442716" y="990599"/>
                </a:lnTo>
                <a:lnTo>
                  <a:pt x="3442716" y="0"/>
                </a:lnTo>
                <a:lnTo>
                  <a:pt x="0" y="0"/>
                </a:lnTo>
                <a:lnTo>
                  <a:pt x="0" y="990599"/>
                </a:lnTo>
                <a:close/>
              </a:path>
            </a:pathLst>
          </a:custGeom>
          <a:solidFill>
            <a:srgbClr val="66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2484" y="5737859"/>
            <a:ext cx="3386454" cy="483234"/>
          </a:xfrm>
          <a:custGeom>
            <a:avLst/>
            <a:gdLst/>
            <a:ahLst/>
            <a:cxnLst/>
            <a:rect l="l" t="t" r="r" b="b"/>
            <a:pathLst>
              <a:path w="3386454" h="483235">
                <a:moveTo>
                  <a:pt x="0" y="483107"/>
                </a:moveTo>
                <a:lnTo>
                  <a:pt x="3386328" y="483107"/>
                </a:lnTo>
                <a:lnTo>
                  <a:pt x="3386328" y="0"/>
                </a:lnTo>
                <a:lnTo>
                  <a:pt x="0" y="0"/>
                </a:lnTo>
                <a:lnTo>
                  <a:pt x="0" y="483107"/>
                </a:lnTo>
                <a:close/>
              </a:path>
            </a:pathLst>
          </a:custGeom>
          <a:solidFill>
            <a:srgbClr val="66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3150" y="3946915"/>
            <a:ext cx="3322954" cy="2268855"/>
          </a:xfrm>
          <a:prstGeom prst="rect">
            <a:avLst/>
          </a:prstGeom>
        </p:spPr>
        <p:txBody>
          <a:bodyPr wrap="square" lIns="0" tIns="230505" rIns="0" bIns="0" rtlCol="0" vert="horz">
            <a:spAutoFit/>
          </a:bodyPr>
          <a:lstStyle/>
          <a:p>
            <a:pPr marL="188595">
              <a:lnSpc>
                <a:spcPct val="100000"/>
              </a:lnSpc>
              <a:spcBef>
                <a:spcPts val="1815"/>
              </a:spcBef>
              <a:tabLst>
                <a:tab pos="920115" algn="l"/>
                <a:tab pos="203390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b	array	R</a:t>
            </a:r>
            <a:endParaRPr sz="2800">
              <a:latin typeface="Times New Roman"/>
              <a:cs typeface="Times New Roman"/>
            </a:endParaRPr>
          </a:p>
          <a:p>
            <a:pPr marL="99695">
              <a:lnSpc>
                <a:spcPct val="100000"/>
              </a:lnSpc>
              <a:spcBef>
                <a:spcPts val="1714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若为上下界需计算：</a:t>
            </a:r>
            <a:endParaRPr sz="2800">
              <a:latin typeface="宋体"/>
              <a:cs typeface="宋体"/>
            </a:endParaRPr>
          </a:p>
          <a:p>
            <a:pPr marL="366395">
              <a:lnSpc>
                <a:spcPts val="3360"/>
              </a:lnSpc>
              <a:spcBef>
                <a:spcPts val="31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a(2..10)</a:t>
            </a:r>
            <a:r>
              <a:rPr dirty="0" sz="2800" b="1">
                <a:solidFill>
                  <a:srgbClr val="FFFF66"/>
                </a:solidFill>
                <a:latin typeface="Symbol"/>
                <a:cs typeface="Symbol"/>
              </a:rPr>
              <a:t>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10-2+1=9</a:t>
            </a:r>
            <a:endParaRPr sz="2800">
              <a:latin typeface="Times New Roman"/>
              <a:cs typeface="Times New Roman"/>
            </a:endParaRPr>
          </a:p>
          <a:p>
            <a:pPr marL="99695">
              <a:lnSpc>
                <a:spcPts val="3840"/>
              </a:lnSpc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何时计算？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3819" y="6298691"/>
            <a:ext cx="3450590" cy="436245"/>
          </a:xfrm>
          <a:custGeom>
            <a:avLst/>
            <a:gdLst/>
            <a:ahLst/>
            <a:cxnLst/>
            <a:rect l="l" t="t" r="r" b="b"/>
            <a:pathLst>
              <a:path w="3450590" h="436245">
                <a:moveTo>
                  <a:pt x="0" y="435864"/>
                </a:moveTo>
                <a:lnTo>
                  <a:pt x="3450336" y="435864"/>
                </a:lnTo>
                <a:lnTo>
                  <a:pt x="3450336" y="0"/>
                </a:lnTo>
                <a:lnTo>
                  <a:pt x="0" y="0"/>
                </a:lnTo>
                <a:lnTo>
                  <a:pt x="0" y="435864"/>
                </a:lnTo>
                <a:close/>
              </a:path>
            </a:pathLst>
          </a:custGeom>
          <a:solidFill>
            <a:srgbClr val="66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62864" y="6277457"/>
            <a:ext cx="32353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动态数组如何处理？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952738" y="4033265"/>
            <a:ext cx="191770" cy="868044"/>
          </a:xfrm>
          <a:custGeom>
            <a:avLst/>
            <a:gdLst/>
            <a:ahLst/>
            <a:cxnLst/>
            <a:rect l="l" t="t" r="r" b="b"/>
            <a:pathLst>
              <a:path w="191770" h="868045">
                <a:moveTo>
                  <a:pt x="0" y="0"/>
                </a:moveTo>
                <a:lnTo>
                  <a:pt x="37801" y="7476"/>
                </a:lnTo>
                <a:lnTo>
                  <a:pt x="70640" y="28297"/>
                </a:lnTo>
                <a:lnTo>
                  <a:pt x="96542" y="60048"/>
                </a:lnTo>
                <a:lnTo>
                  <a:pt x="113531" y="100315"/>
                </a:lnTo>
                <a:lnTo>
                  <a:pt x="119633" y="146684"/>
                </a:lnTo>
                <a:lnTo>
                  <a:pt x="119633" y="734948"/>
                </a:lnTo>
                <a:lnTo>
                  <a:pt x="125736" y="781318"/>
                </a:lnTo>
                <a:lnTo>
                  <a:pt x="142725" y="821585"/>
                </a:lnTo>
                <a:lnTo>
                  <a:pt x="168627" y="853336"/>
                </a:lnTo>
                <a:lnTo>
                  <a:pt x="191261" y="867686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8952738" y="4928847"/>
            <a:ext cx="191770" cy="868044"/>
          </a:xfrm>
          <a:custGeom>
            <a:avLst/>
            <a:gdLst/>
            <a:ahLst/>
            <a:cxnLst/>
            <a:rect l="l" t="t" r="r" b="b"/>
            <a:pathLst>
              <a:path w="191770" h="868045">
                <a:moveTo>
                  <a:pt x="191261" y="0"/>
                </a:moveTo>
                <a:lnTo>
                  <a:pt x="168627" y="14350"/>
                </a:lnTo>
                <a:lnTo>
                  <a:pt x="142725" y="46101"/>
                </a:lnTo>
                <a:lnTo>
                  <a:pt x="125736" y="86368"/>
                </a:lnTo>
                <a:lnTo>
                  <a:pt x="119633" y="132737"/>
                </a:lnTo>
                <a:lnTo>
                  <a:pt x="119633" y="720976"/>
                </a:lnTo>
                <a:lnTo>
                  <a:pt x="113531" y="767348"/>
                </a:lnTo>
                <a:lnTo>
                  <a:pt x="96542" y="807621"/>
                </a:lnTo>
                <a:lnTo>
                  <a:pt x="70640" y="839380"/>
                </a:lnTo>
                <a:lnTo>
                  <a:pt x="37801" y="860207"/>
                </a:lnTo>
                <a:lnTo>
                  <a:pt x="0" y="867686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8462771" y="548640"/>
            <a:ext cx="669290" cy="292735"/>
          </a:xfrm>
          <a:custGeom>
            <a:avLst/>
            <a:gdLst/>
            <a:ahLst/>
            <a:cxnLst/>
            <a:rect l="l" t="t" r="r" b="b"/>
            <a:pathLst>
              <a:path w="669290" h="292734">
                <a:moveTo>
                  <a:pt x="669035" y="0"/>
                </a:moveTo>
                <a:lnTo>
                  <a:pt x="0" y="0"/>
                </a:lnTo>
                <a:lnTo>
                  <a:pt x="0" y="292608"/>
                </a:lnTo>
                <a:lnTo>
                  <a:pt x="669035" y="292608"/>
                </a:lnTo>
                <a:lnTo>
                  <a:pt x="669035" y="256032"/>
                </a:lnTo>
                <a:lnTo>
                  <a:pt x="444246" y="256032"/>
                </a:lnTo>
                <a:lnTo>
                  <a:pt x="224789" y="146304"/>
                </a:lnTo>
                <a:lnTo>
                  <a:pt x="444246" y="36575"/>
                </a:lnTo>
                <a:lnTo>
                  <a:pt x="669035" y="36575"/>
                </a:lnTo>
                <a:lnTo>
                  <a:pt x="669035" y="0"/>
                </a:lnTo>
                <a:close/>
              </a:path>
              <a:path w="669290" h="292734">
                <a:moveTo>
                  <a:pt x="669035" y="36575"/>
                </a:moveTo>
                <a:lnTo>
                  <a:pt x="444246" y="36575"/>
                </a:lnTo>
                <a:lnTo>
                  <a:pt x="444246" y="256032"/>
                </a:lnTo>
                <a:lnTo>
                  <a:pt x="669035" y="256032"/>
                </a:lnTo>
                <a:lnTo>
                  <a:pt x="669035" y="36575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8685974" y="583628"/>
            <a:ext cx="222631" cy="2226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8462771" y="548640"/>
            <a:ext cx="669290" cy="292735"/>
          </a:xfrm>
          <a:prstGeom prst="rect">
            <a:avLst/>
          </a:prstGeom>
          <a:ln w="3175">
            <a:solidFill>
              <a:srgbClr val="EAEAEA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385"/>
              </a:spcBef>
            </a:pPr>
            <a:r>
              <a:rPr dirty="0" sz="1400" spc="-5" b="1">
                <a:solidFill>
                  <a:srgbClr val="336699"/>
                </a:solidFill>
                <a:latin typeface="Times New Roman"/>
                <a:cs typeface="Times New Roman"/>
                <a:hlinkClick r:id="rId4" action="ppaction://hlinksldjump"/>
              </a:rPr>
              <a:t>return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103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3733990" y="974026"/>
          <a:ext cx="881380" cy="5822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/>
              </a:tblGrid>
              <a:tr h="578358">
                <a:tc>
                  <a:txBody>
                    <a:bodyPr/>
                    <a:lstStyle/>
                    <a:p>
                      <a:pPr marL="22796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858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79119">
                <a:tc>
                  <a:txBody>
                    <a:bodyPr/>
                    <a:lstStyle/>
                    <a:p>
                      <a:pPr marL="22796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80644">
                <a:tc>
                  <a:txBody>
                    <a:bodyPr/>
                    <a:lstStyle/>
                    <a:p>
                      <a:pPr marL="22796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79119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spc="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2*2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spc="1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baseline="-15873" sz="3150" spc="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baseline="-15873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79119"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spc="1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1164" sz="3150" spc="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baseline="-21164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227965">
                        <a:lnSpc>
                          <a:spcPts val="3560"/>
                        </a:lnSpc>
                      </a:pPr>
                      <a:r>
                        <a:rPr dirty="0" sz="32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17575">
                <a:tc>
                  <a:txBody>
                    <a:bodyPr/>
                    <a:lstStyle/>
                    <a:p>
                      <a:pPr marL="227965">
                        <a:lnSpc>
                          <a:spcPts val="3190"/>
                        </a:lnSpc>
                      </a:pPr>
                      <a:r>
                        <a:rPr dirty="0" sz="32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marL="128905">
                        <a:lnSpc>
                          <a:spcPts val="3590"/>
                        </a:lnSpc>
                        <a:spcBef>
                          <a:spcPts val="210"/>
                        </a:spcBef>
                      </a:pPr>
                      <a:r>
                        <a:rPr dirty="0" sz="3200" spc="5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4*1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67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99872">
                <a:tc>
                  <a:txBody>
                    <a:bodyPr/>
                    <a:lstStyle/>
                    <a:p>
                      <a:pPr marL="164465">
                        <a:lnSpc>
                          <a:spcPts val="3640"/>
                        </a:lnSpc>
                        <a:spcBef>
                          <a:spcPts val="195"/>
                        </a:spcBef>
                      </a:pPr>
                      <a:r>
                        <a:rPr dirty="0" sz="3200" spc="1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baseline="-15873" sz="3150" spc="15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baseline="-15873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76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41197">
                <a:tc>
                  <a:txBody>
                    <a:bodyPr/>
                    <a:lstStyle/>
                    <a:p>
                      <a:pPr marL="149225">
                        <a:lnSpc>
                          <a:spcPts val="3304"/>
                        </a:lnSpc>
                      </a:pPr>
                      <a:r>
                        <a:rPr dirty="0" sz="32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dirty="0" baseline="-15873" sz="315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baseline="-15873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0" name="object 40"/>
          <p:cNvSpPr txBox="1"/>
          <p:nvPr/>
        </p:nvSpPr>
        <p:spPr>
          <a:xfrm>
            <a:off x="3385184" y="457580"/>
            <a:ext cx="15570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信息向量表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247" y="26923"/>
            <a:ext cx="41173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103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13275" y="26923"/>
            <a:ext cx="10509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25744" y="26923"/>
            <a:ext cx="31572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383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6.6.4</a:t>
            </a:r>
            <a:r>
              <a:rPr dirty="0" u="sng" sz="2000" spc="42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数组说明与引用翻译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36233" y="1583182"/>
            <a:ext cx="166052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320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数组说明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6240" y="763905"/>
            <a:ext cx="5328285" cy="2306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85153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二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数组元素引用</a:t>
            </a:r>
            <a:endParaRPr sz="3200">
              <a:latin typeface="宋体"/>
              <a:cs typeface="宋体"/>
            </a:endParaRPr>
          </a:p>
          <a:p>
            <a:pPr marL="609600">
              <a:lnSpc>
                <a:spcPct val="100000"/>
              </a:lnSpc>
              <a:spcBef>
                <a:spcPts val="2610"/>
              </a:spcBef>
              <a:tabLst>
                <a:tab pos="1737360" algn="l"/>
                <a:tab pos="221234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type	A	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[d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]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[d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]… [d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r>
              <a:rPr dirty="0" sz="3200" spc="-10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50">
              <a:latin typeface="宋体"/>
              <a:cs typeface="宋体"/>
            </a:endParaRPr>
          </a:p>
          <a:p>
            <a:pPr marL="624840">
              <a:lnSpc>
                <a:spcPct val="100000"/>
              </a:lnSpc>
              <a:tabLst>
                <a:tab pos="109982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	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[i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]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[i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]…</a:t>
            </a:r>
            <a:r>
              <a:rPr dirty="0" sz="32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[i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06336" y="2556713"/>
            <a:ext cx="166052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320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数组引用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4331" y="3288919"/>
            <a:ext cx="8418195" cy="2706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23570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**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不能整体引用，仅对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单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一数组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元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素引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用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50">
              <a:latin typeface="宋体"/>
              <a:cs typeface="宋体"/>
            </a:endParaRPr>
          </a:p>
          <a:p>
            <a:pPr marL="800735" indent="-763270">
              <a:lnSpc>
                <a:spcPct val="100000"/>
              </a:lnSpc>
              <a:buClr>
                <a:srgbClr val="FFFFFF"/>
              </a:buClr>
              <a:buSzPct val="109375"/>
              <a:buFont typeface="Wingdings"/>
              <a:buChar char=""/>
              <a:tabLst>
                <a:tab pos="800735" algn="l"/>
                <a:tab pos="801370" algn="l"/>
              </a:tabLst>
            </a:pPr>
            <a:r>
              <a:rPr dirty="0" u="heavy" sz="3200" b="1">
                <a:solidFill>
                  <a:srgbClr val="99FFCC"/>
                </a:solidFill>
                <a:uFill>
                  <a:solidFill>
                    <a:srgbClr val="99FFCC"/>
                  </a:solidFill>
                </a:uFill>
                <a:latin typeface="宋体"/>
                <a:cs typeface="宋体"/>
              </a:rPr>
              <a:t>数组元素引用的语义处理</a:t>
            </a:r>
            <a:endParaRPr sz="3200">
              <a:latin typeface="宋体"/>
              <a:cs typeface="宋体"/>
            </a:endParaRPr>
          </a:p>
          <a:p>
            <a:pPr marL="648335">
              <a:lnSpc>
                <a:spcPct val="100000"/>
              </a:lnSpc>
              <a:spcBef>
                <a:spcPts val="115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语义检查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3200" spc="-83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类型匹配；下标越界检查；</a:t>
            </a:r>
            <a:endParaRPr sz="3200">
              <a:latin typeface="宋体"/>
              <a:cs typeface="宋体"/>
            </a:endParaRPr>
          </a:p>
          <a:p>
            <a:pPr marL="648335">
              <a:lnSpc>
                <a:spcPct val="100000"/>
              </a:lnSpc>
              <a:spcBef>
                <a:spcPts val="115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产生代码：数组元素地址计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的中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间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代码。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86499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  <a:tab pos="4292600" algn="l"/>
                <a:tab pos="56959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6.6.4</a:t>
            </a:r>
            <a:r>
              <a:rPr dirty="0" u="sng" sz="2000" spc="42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数组说明与引用翻译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88340" y="800481"/>
            <a:ext cx="671131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FFFFFF"/>
                </a:solidFill>
              </a:rPr>
              <a:t>数组元素地址计算编译时能</a:t>
            </a:r>
            <a:r>
              <a:rPr dirty="0" sz="3200" spc="-10">
                <a:solidFill>
                  <a:srgbClr val="FFFFFF"/>
                </a:solidFill>
              </a:rPr>
              <a:t>否</a:t>
            </a:r>
            <a:r>
              <a:rPr dirty="0" sz="3200">
                <a:solidFill>
                  <a:srgbClr val="FFFFFF"/>
                </a:solidFill>
              </a:rPr>
              <a:t>完</a:t>
            </a:r>
            <a:r>
              <a:rPr dirty="0" sz="3200" spc="-25">
                <a:solidFill>
                  <a:srgbClr val="FFFFFF"/>
                </a:solidFill>
              </a:rPr>
              <a:t>成</a:t>
            </a:r>
            <a:r>
              <a:rPr dirty="0" spc="-15">
                <a:solidFill>
                  <a:srgbClr val="FF3300"/>
                </a:solidFill>
              </a:rPr>
              <a:t>？</a:t>
            </a:r>
            <a:endParaRPr sz="3200"/>
          </a:p>
        </p:txBody>
      </p:sp>
      <p:sp>
        <p:nvSpPr>
          <p:cNvPr id="6" name="object 6"/>
          <p:cNvSpPr/>
          <p:nvPr/>
        </p:nvSpPr>
        <p:spPr>
          <a:xfrm>
            <a:off x="3268217" y="1716532"/>
            <a:ext cx="1210056" cy="7150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570732" y="1637157"/>
            <a:ext cx="605027" cy="529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570732" y="1584134"/>
            <a:ext cx="605027" cy="264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268217" y="1716532"/>
            <a:ext cx="1210310" cy="715010"/>
          </a:xfrm>
          <a:custGeom>
            <a:avLst/>
            <a:gdLst/>
            <a:ahLst/>
            <a:cxnLst/>
            <a:rect l="l" t="t" r="r" b="b"/>
            <a:pathLst>
              <a:path w="1210310" h="715010">
                <a:moveTo>
                  <a:pt x="1210056" y="503173"/>
                </a:moveTo>
                <a:lnTo>
                  <a:pt x="907542" y="503173"/>
                </a:lnTo>
                <a:lnTo>
                  <a:pt x="907542" y="0"/>
                </a:lnTo>
                <a:lnTo>
                  <a:pt x="302514" y="0"/>
                </a:lnTo>
                <a:lnTo>
                  <a:pt x="302514" y="503173"/>
                </a:lnTo>
                <a:lnTo>
                  <a:pt x="0" y="503173"/>
                </a:lnTo>
                <a:lnTo>
                  <a:pt x="605028" y="715009"/>
                </a:lnTo>
                <a:lnTo>
                  <a:pt x="1210056" y="50317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570732" y="1637157"/>
            <a:ext cx="605155" cy="53340"/>
          </a:xfrm>
          <a:custGeom>
            <a:avLst/>
            <a:gdLst/>
            <a:ahLst/>
            <a:cxnLst/>
            <a:rect l="l" t="t" r="r" b="b"/>
            <a:pathLst>
              <a:path w="605154" h="53339">
                <a:moveTo>
                  <a:pt x="0" y="52959"/>
                </a:moveTo>
                <a:lnTo>
                  <a:pt x="605027" y="52959"/>
                </a:lnTo>
                <a:lnTo>
                  <a:pt x="605027" y="0"/>
                </a:lnTo>
                <a:lnTo>
                  <a:pt x="0" y="0"/>
                </a:lnTo>
                <a:lnTo>
                  <a:pt x="0" y="5295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51682" y="1597374"/>
            <a:ext cx="643255" cy="0"/>
          </a:xfrm>
          <a:custGeom>
            <a:avLst/>
            <a:gdLst/>
            <a:ahLst/>
            <a:cxnLst/>
            <a:rect l="l" t="t" r="r" b="b"/>
            <a:pathLst>
              <a:path w="643254" h="0">
                <a:moveTo>
                  <a:pt x="0" y="0"/>
                </a:moveTo>
                <a:lnTo>
                  <a:pt x="643127" y="0"/>
                </a:lnTo>
              </a:path>
            </a:pathLst>
          </a:custGeom>
          <a:ln w="6457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40536" y="1689607"/>
            <a:ext cx="7983855" cy="2264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413885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一般不能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50">
              <a:latin typeface="宋体"/>
              <a:cs typeface="宋体"/>
            </a:endParaRPr>
          </a:p>
          <a:p>
            <a:pPr marL="63500">
              <a:lnSpc>
                <a:spcPct val="100000"/>
              </a:lnSpc>
              <a:tabLst>
                <a:tab pos="1228090" algn="l"/>
              </a:tabLst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∵</a:t>
            </a:r>
            <a:r>
              <a:rPr dirty="0" sz="3200" spc="6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	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[i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r>
              <a:rPr dirty="0" sz="32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[i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]…</a:t>
            </a:r>
            <a:r>
              <a:rPr dirty="0" sz="32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[i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21164" sz="3150" spc="7" b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多为表达式</a:t>
            </a:r>
            <a:endParaRPr sz="32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2690"/>
              </a:spcBef>
              <a:tabLst>
                <a:tab pos="466471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如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a[i+j-1][j++]	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运行时得到下标值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723132" y="4256722"/>
            <a:ext cx="605027" cy="6343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420617" y="4351909"/>
            <a:ext cx="1210056" cy="85636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723132" y="4193317"/>
            <a:ext cx="605027" cy="3171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420617" y="4351909"/>
            <a:ext cx="1210310" cy="856615"/>
          </a:xfrm>
          <a:custGeom>
            <a:avLst/>
            <a:gdLst/>
            <a:ahLst/>
            <a:cxnLst/>
            <a:rect l="l" t="t" r="r" b="b"/>
            <a:pathLst>
              <a:path w="1210310" h="856614">
                <a:moveTo>
                  <a:pt x="1210056" y="602615"/>
                </a:moveTo>
                <a:lnTo>
                  <a:pt x="907542" y="602615"/>
                </a:lnTo>
                <a:lnTo>
                  <a:pt x="907542" y="0"/>
                </a:lnTo>
                <a:lnTo>
                  <a:pt x="302514" y="0"/>
                </a:lnTo>
                <a:lnTo>
                  <a:pt x="302514" y="602615"/>
                </a:lnTo>
                <a:lnTo>
                  <a:pt x="0" y="602615"/>
                </a:lnTo>
                <a:lnTo>
                  <a:pt x="605028" y="856361"/>
                </a:lnTo>
                <a:lnTo>
                  <a:pt x="1210056" y="60261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723132" y="4256722"/>
            <a:ext cx="605155" cy="63500"/>
          </a:xfrm>
          <a:custGeom>
            <a:avLst/>
            <a:gdLst/>
            <a:ahLst/>
            <a:cxnLst/>
            <a:rect l="l" t="t" r="r" b="b"/>
            <a:pathLst>
              <a:path w="605154" h="63500">
                <a:moveTo>
                  <a:pt x="0" y="63436"/>
                </a:moveTo>
                <a:lnTo>
                  <a:pt x="605027" y="63436"/>
                </a:lnTo>
                <a:lnTo>
                  <a:pt x="605027" y="0"/>
                </a:lnTo>
                <a:lnTo>
                  <a:pt x="0" y="0"/>
                </a:lnTo>
                <a:lnTo>
                  <a:pt x="0" y="6343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704082" y="4209176"/>
            <a:ext cx="643255" cy="0"/>
          </a:xfrm>
          <a:custGeom>
            <a:avLst/>
            <a:gdLst/>
            <a:ahLst/>
            <a:cxnLst/>
            <a:rect l="l" t="t" r="r" b="b"/>
            <a:pathLst>
              <a:path w="643254" h="0">
                <a:moveTo>
                  <a:pt x="0" y="0"/>
                </a:moveTo>
                <a:lnTo>
                  <a:pt x="643127" y="0"/>
                </a:lnTo>
              </a:path>
            </a:pathLst>
          </a:custGeom>
          <a:ln w="69818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355216" y="5420969"/>
            <a:ext cx="615061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涉及数组元素地址计算的有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关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知识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105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34855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5783" y="26923"/>
            <a:ext cx="48774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  <a:tab pos="192341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6.6.4</a:t>
            </a:r>
            <a:r>
              <a:rPr dirty="0" u="sng" sz="2000" spc="42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数组说明与引用翻译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1034541"/>
            <a:ext cx="2894330" cy="8985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30530" indent="-418465">
              <a:lnSpc>
                <a:spcPts val="3675"/>
              </a:lnSpc>
              <a:spcBef>
                <a:spcPts val="105"/>
              </a:spcBef>
              <a:buClr>
                <a:srgbClr val="FFFF00"/>
              </a:buClr>
              <a:buSzPct val="114062"/>
              <a:buFont typeface="Wingdings"/>
              <a:buChar char=""/>
              <a:tabLst>
                <a:tab pos="429895" algn="l"/>
                <a:tab pos="431165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数组存储方式</a:t>
            </a:r>
            <a:endParaRPr sz="3200">
              <a:latin typeface="宋体"/>
              <a:cs typeface="宋体"/>
            </a:endParaRPr>
          </a:p>
          <a:p>
            <a:pPr marL="724535">
              <a:lnSpc>
                <a:spcPts val="3195"/>
              </a:lnSpc>
            </a:pPr>
            <a:r>
              <a:rPr dirty="0" sz="2800" spc="-5" b="1">
                <a:solidFill>
                  <a:srgbClr val="CCFFCC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>
                <a:solidFill>
                  <a:srgbClr val="CCFFCC"/>
                </a:solidFill>
                <a:latin typeface="宋体"/>
                <a:cs typeface="宋体"/>
              </a:rPr>
              <a:t>线性连</a:t>
            </a:r>
            <a:r>
              <a:rPr dirty="0" sz="2800" spc="-5" b="1">
                <a:solidFill>
                  <a:srgbClr val="CCFFCC"/>
                </a:solidFill>
                <a:latin typeface="宋体"/>
                <a:cs typeface="宋体"/>
              </a:rPr>
              <a:t>续</a:t>
            </a:r>
            <a:r>
              <a:rPr dirty="0" sz="2800" spc="-5" b="1">
                <a:solidFill>
                  <a:srgbClr val="CCFFCC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96461" y="782573"/>
            <a:ext cx="248920" cy="1104900"/>
          </a:xfrm>
          <a:custGeom>
            <a:avLst/>
            <a:gdLst/>
            <a:ahLst/>
            <a:cxnLst/>
            <a:rect l="l" t="t" r="r" b="b"/>
            <a:pathLst>
              <a:path w="248920" h="1104900">
                <a:moveTo>
                  <a:pt x="248412" y="1104900"/>
                </a:moveTo>
                <a:lnTo>
                  <a:pt x="200072" y="1097635"/>
                </a:lnTo>
                <a:lnTo>
                  <a:pt x="160591" y="1077833"/>
                </a:lnTo>
                <a:lnTo>
                  <a:pt x="133969" y="1048482"/>
                </a:lnTo>
                <a:lnTo>
                  <a:pt x="124205" y="1012571"/>
                </a:lnTo>
                <a:lnTo>
                  <a:pt x="124205" y="644778"/>
                </a:lnTo>
                <a:lnTo>
                  <a:pt x="114442" y="608867"/>
                </a:lnTo>
                <a:lnTo>
                  <a:pt x="87820" y="579516"/>
                </a:lnTo>
                <a:lnTo>
                  <a:pt x="48339" y="559714"/>
                </a:lnTo>
                <a:lnTo>
                  <a:pt x="0" y="552450"/>
                </a:lnTo>
                <a:lnTo>
                  <a:pt x="48339" y="545185"/>
                </a:lnTo>
                <a:lnTo>
                  <a:pt x="87820" y="525383"/>
                </a:lnTo>
                <a:lnTo>
                  <a:pt x="114442" y="496032"/>
                </a:lnTo>
                <a:lnTo>
                  <a:pt x="124205" y="460121"/>
                </a:lnTo>
                <a:lnTo>
                  <a:pt x="124205" y="92328"/>
                </a:lnTo>
                <a:lnTo>
                  <a:pt x="133969" y="56417"/>
                </a:lnTo>
                <a:lnTo>
                  <a:pt x="160591" y="27066"/>
                </a:lnTo>
                <a:lnTo>
                  <a:pt x="200072" y="7264"/>
                </a:lnTo>
                <a:lnTo>
                  <a:pt x="248412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137152" y="534746"/>
            <a:ext cx="165925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solidFill>
                  <a:srgbClr val="FFFF00"/>
                </a:solidFill>
              </a:rPr>
              <a:t>按行存储</a:t>
            </a:r>
            <a:endParaRPr sz="3200"/>
          </a:p>
        </p:txBody>
      </p:sp>
      <p:sp>
        <p:nvSpPr>
          <p:cNvPr id="9" name="object 9"/>
          <p:cNvSpPr txBox="1"/>
          <p:nvPr/>
        </p:nvSpPr>
        <p:spPr>
          <a:xfrm>
            <a:off x="4117975" y="1495806"/>
            <a:ext cx="165925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按列存储</a:t>
            </a:r>
            <a:endParaRPr sz="3200">
              <a:latin typeface="宋体"/>
              <a:cs typeface="宋体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606486" y="3453574"/>
          <a:ext cx="2176780" cy="2346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3600"/>
              </a:tblGrid>
              <a:tr h="57835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a[0][0]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791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a[0][1]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806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a[1][0]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7988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a[1][1]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1032052" y="3426967"/>
            <a:ext cx="416559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spc="10" b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baseline="-15873" sz="3150" spc="15" b="1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endParaRPr baseline="-15873" sz="31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1842" y="2329632"/>
            <a:ext cx="3318510" cy="1109345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  <a:tabLst>
                <a:tab pos="2016125" algn="l"/>
              </a:tabLst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例如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8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a[2][2];</a:t>
            </a:r>
            <a:endParaRPr sz="3200">
              <a:latin typeface="Times New Roman"/>
              <a:cs typeface="Times New Roman"/>
            </a:endParaRPr>
          </a:p>
          <a:p>
            <a:pPr marL="888365">
              <a:lnSpc>
                <a:spcPct val="100000"/>
              </a:lnSpc>
              <a:spcBef>
                <a:spcPts val="425"/>
              </a:spcBef>
            </a:pP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按行</a:t>
            </a:r>
            <a:endParaRPr sz="3200">
              <a:latin typeface="宋体"/>
              <a:cs typeface="宋体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5606986" y="3407854"/>
          <a:ext cx="2176780" cy="2346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3600"/>
              </a:tblGrid>
              <a:tr h="578358">
                <a:tc>
                  <a:txBody>
                    <a:bodyPr/>
                    <a:lstStyle/>
                    <a:p>
                      <a:pPr marL="48895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a[0][0]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21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79119">
                <a:tc>
                  <a:txBody>
                    <a:bodyPr/>
                    <a:lstStyle/>
                    <a:p>
                      <a:pPr marL="48895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a[1][0]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79119">
                <a:tc>
                  <a:txBody>
                    <a:bodyPr/>
                    <a:lstStyle/>
                    <a:p>
                      <a:pPr marL="48895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a[0][1]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81406">
                <a:tc>
                  <a:txBody>
                    <a:bodyPr/>
                    <a:lstStyle/>
                    <a:p>
                      <a:pPr marL="48895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a[1][1]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5033136" y="3380308"/>
            <a:ext cx="416559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spc="10" b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baseline="-17195" sz="3150" spc="15" b="1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endParaRPr baseline="-17195" sz="31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99505" y="2878963"/>
            <a:ext cx="842644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按列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1040" y="6031484"/>
            <a:ext cx="33312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a[0][1]</a:t>
            </a:r>
            <a:r>
              <a:rPr dirty="0" baseline="-15015" sz="2775" spc="7" b="1">
                <a:solidFill>
                  <a:srgbClr val="FFFF00"/>
                </a:solidFill>
                <a:latin typeface="Times New Roman"/>
                <a:cs typeface="Times New Roman"/>
              </a:rPr>
              <a:t>add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dirty="0" sz="2800" spc="-8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15015" sz="2775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+1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*byte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31028" y="6031484"/>
            <a:ext cx="33305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a[0][1]</a:t>
            </a:r>
            <a:r>
              <a:rPr dirty="0" baseline="-15015" sz="2775" b="1">
                <a:solidFill>
                  <a:srgbClr val="FFFF00"/>
                </a:solidFill>
                <a:latin typeface="Times New Roman"/>
                <a:cs typeface="Times New Roman"/>
              </a:rPr>
              <a:t>add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dirty="0" sz="2800" spc="-5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15015" sz="2775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+2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*byte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429511" y="2923032"/>
            <a:ext cx="1390015" cy="696595"/>
          </a:xfrm>
          <a:custGeom>
            <a:avLst/>
            <a:gdLst/>
            <a:ahLst/>
            <a:cxnLst/>
            <a:rect l="l" t="t" r="r" b="b"/>
            <a:pathLst>
              <a:path w="1390014" h="696595">
                <a:moveTo>
                  <a:pt x="0" y="348233"/>
                </a:moveTo>
                <a:lnTo>
                  <a:pt x="11196" y="285650"/>
                </a:lnTo>
                <a:lnTo>
                  <a:pt x="43478" y="226742"/>
                </a:lnTo>
                <a:lnTo>
                  <a:pt x="94883" y="172494"/>
                </a:lnTo>
                <a:lnTo>
                  <a:pt x="127142" y="147425"/>
                </a:lnTo>
                <a:lnTo>
                  <a:pt x="163446" y="123890"/>
                </a:lnTo>
                <a:lnTo>
                  <a:pt x="203549" y="102012"/>
                </a:lnTo>
                <a:lnTo>
                  <a:pt x="247205" y="81915"/>
                </a:lnTo>
                <a:lnTo>
                  <a:pt x="294170" y="63721"/>
                </a:lnTo>
                <a:lnTo>
                  <a:pt x="344198" y="47554"/>
                </a:lnTo>
                <a:lnTo>
                  <a:pt x="397043" y="33536"/>
                </a:lnTo>
                <a:lnTo>
                  <a:pt x="452460" y="21791"/>
                </a:lnTo>
                <a:lnTo>
                  <a:pt x="510204" y="12442"/>
                </a:lnTo>
                <a:lnTo>
                  <a:pt x="570030" y="5612"/>
                </a:lnTo>
                <a:lnTo>
                  <a:pt x="631691" y="1423"/>
                </a:lnTo>
                <a:lnTo>
                  <a:pt x="694944" y="0"/>
                </a:lnTo>
                <a:lnTo>
                  <a:pt x="758196" y="1423"/>
                </a:lnTo>
                <a:lnTo>
                  <a:pt x="819857" y="5612"/>
                </a:lnTo>
                <a:lnTo>
                  <a:pt x="879683" y="12442"/>
                </a:lnTo>
                <a:lnTo>
                  <a:pt x="937427" y="21791"/>
                </a:lnTo>
                <a:lnTo>
                  <a:pt x="992844" y="33536"/>
                </a:lnTo>
                <a:lnTo>
                  <a:pt x="1045689" y="47554"/>
                </a:lnTo>
                <a:lnTo>
                  <a:pt x="1095717" y="63721"/>
                </a:lnTo>
                <a:lnTo>
                  <a:pt x="1142682" y="81915"/>
                </a:lnTo>
                <a:lnTo>
                  <a:pt x="1186338" y="102012"/>
                </a:lnTo>
                <a:lnTo>
                  <a:pt x="1226441" y="123890"/>
                </a:lnTo>
                <a:lnTo>
                  <a:pt x="1262745" y="147425"/>
                </a:lnTo>
                <a:lnTo>
                  <a:pt x="1295004" y="172494"/>
                </a:lnTo>
                <a:lnTo>
                  <a:pt x="1322974" y="198974"/>
                </a:lnTo>
                <a:lnTo>
                  <a:pt x="1365063" y="255675"/>
                </a:lnTo>
                <a:lnTo>
                  <a:pt x="1387047" y="316544"/>
                </a:lnTo>
                <a:lnTo>
                  <a:pt x="1389888" y="348233"/>
                </a:lnTo>
                <a:lnTo>
                  <a:pt x="1387047" y="379923"/>
                </a:lnTo>
                <a:lnTo>
                  <a:pt x="1365063" y="440792"/>
                </a:lnTo>
                <a:lnTo>
                  <a:pt x="1322974" y="497493"/>
                </a:lnTo>
                <a:lnTo>
                  <a:pt x="1295004" y="523973"/>
                </a:lnTo>
                <a:lnTo>
                  <a:pt x="1262745" y="549042"/>
                </a:lnTo>
                <a:lnTo>
                  <a:pt x="1226441" y="572577"/>
                </a:lnTo>
                <a:lnTo>
                  <a:pt x="1186338" y="594455"/>
                </a:lnTo>
                <a:lnTo>
                  <a:pt x="1142682" y="614552"/>
                </a:lnTo>
                <a:lnTo>
                  <a:pt x="1095717" y="632746"/>
                </a:lnTo>
                <a:lnTo>
                  <a:pt x="1045689" y="648913"/>
                </a:lnTo>
                <a:lnTo>
                  <a:pt x="992844" y="662931"/>
                </a:lnTo>
                <a:lnTo>
                  <a:pt x="937427" y="674676"/>
                </a:lnTo>
                <a:lnTo>
                  <a:pt x="879683" y="684025"/>
                </a:lnTo>
                <a:lnTo>
                  <a:pt x="819857" y="690855"/>
                </a:lnTo>
                <a:lnTo>
                  <a:pt x="758196" y="695044"/>
                </a:lnTo>
                <a:lnTo>
                  <a:pt x="694944" y="696467"/>
                </a:lnTo>
                <a:lnTo>
                  <a:pt x="631691" y="695044"/>
                </a:lnTo>
                <a:lnTo>
                  <a:pt x="570030" y="690855"/>
                </a:lnTo>
                <a:lnTo>
                  <a:pt x="510204" y="684025"/>
                </a:lnTo>
                <a:lnTo>
                  <a:pt x="452460" y="674676"/>
                </a:lnTo>
                <a:lnTo>
                  <a:pt x="397043" y="662931"/>
                </a:lnTo>
                <a:lnTo>
                  <a:pt x="344198" y="648913"/>
                </a:lnTo>
                <a:lnTo>
                  <a:pt x="294170" y="632746"/>
                </a:lnTo>
                <a:lnTo>
                  <a:pt x="247205" y="614552"/>
                </a:lnTo>
                <a:lnTo>
                  <a:pt x="203549" y="594455"/>
                </a:lnTo>
                <a:lnTo>
                  <a:pt x="163446" y="572577"/>
                </a:lnTo>
                <a:lnTo>
                  <a:pt x="127142" y="549042"/>
                </a:lnTo>
                <a:lnTo>
                  <a:pt x="94883" y="523973"/>
                </a:lnTo>
                <a:lnTo>
                  <a:pt x="66913" y="497493"/>
                </a:lnTo>
                <a:lnTo>
                  <a:pt x="24824" y="440792"/>
                </a:lnTo>
                <a:lnTo>
                  <a:pt x="2840" y="379923"/>
                </a:lnTo>
                <a:lnTo>
                  <a:pt x="0" y="348233"/>
                </a:lnTo>
                <a:close/>
              </a:path>
            </a:pathLst>
          </a:custGeom>
          <a:ln w="5715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105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247" y="0"/>
            <a:ext cx="8649970" cy="1997075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  <a:tabLst>
                <a:tab pos="655955" algn="l"/>
                <a:tab pos="3784600" algn="l"/>
                <a:tab pos="4292600" algn="l"/>
                <a:tab pos="56959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6.6.4</a:t>
            </a:r>
            <a:r>
              <a:rPr dirty="0" u="sng" sz="2000" spc="42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数组说明与引用翻译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50">
              <a:latin typeface="宋体"/>
              <a:cs typeface="宋体"/>
            </a:endParaRPr>
          </a:p>
          <a:p>
            <a:pPr marL="573405" indent="-473075">
              <a:lnSpc>
                <a:spcPct val="100000"/>
              </a:lnSpc>
              <a:buClr>
                <a:srgbClr val="66FFFF"/>
              </a:buClr>
              <a:buSzPct val="145312"/>
              <a:buFont typeface="Wingdings"/>
              <a:buChar char=""/>
              <a:tabLst>
                <a:tab pos="57404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数组元素地址计算</a:t>
            </a:r>
            <a:endParaRPr sz="3200">
              <a:latin typeface="宋体"/>
              <a:cs typeface="宋体"/>
            </a:endParaRPr>
          </a:p>
          <a:p>
            <a:pPr marL="203200">
              <a:lnSpc>
                <a:spcPct val="100000"/>
              </a:lnSpc>
              <a:spcBef>
                <a:spcPts val="205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据存储方式，通过下述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规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则计算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组元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素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位置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105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20111" y="1981200"/>
            <a:ext cx="3657600" cy="800100"/>
          </a:xfrm>
          <a:prstGeom prst="rect">
            <a:avLst/>
          </a:prstGeom>
          <a:ln w="57150">
            <a:solidFill>
              <a:srgbClr val="FF99FF"/>
            </a:solidFill>
          </a:ln>
        </p:spPr>
        <p:txBody>
          <a:bodyPr wrap="square" lIns="0" tIns="101600" rIns="0" bIns="0" rtlCol="0" vert="horz">
            <a:spAutoFit/>
          </a:bodyPr>
          <a:lstStyle/>
          <a:p>
            <a:pPr marL="655955">
              <a:lnSpc>
                <a:spcPct val="100000"/>
              </a:lnSpc>
              <a:spcBef>
                <a:spcPts val="800"/>
              </a:spcBef>
              <a:tabLst>
                <a:tab pos="2353310" algn="l"/>
                <a:tab pos="278765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顺序号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	+	</a:t>
            </a:r>
            <a:r>
              <a:rPr dirty="0" sz="3200" spc="1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15873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baseline="-15873" sz="3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040" y="3031363"/>
            <a:ext cx="466217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4810" indent="-372745">
              <a:lnSpc>
                <a:spcPct val="100000"/>
              </a:lnSpc>
              <a:spcBef>
                <a:spcPts val="105"/>
              </a:spcBef>
              <a:buClr>
                <a:srgbClr val="66FFFF"/>
              </a:buClr>
              <a:buSzPct val="145312"/>
              <a:buFont typeface="Wingdings"/>
              <a:buChar char=""/>
              <a:tabLst>
                <a:tab pos="385445" algn="l"/>
                <a:tab pos="3135630" algn="l"/>
                <a:tab pos="3811904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对一维数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组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int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[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n];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2289" y="3133471"/>
            <a:ext cx="24339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CFFCC"/>
                </a:solidFill>
                <a:latin typeface="Times New Roman"/>
                <a:cs typeface="Times New Roman"/>
              </a:rPr>
              <a:t>//</a:t>
            </a:r>
            <a:r>
              <a:rPr dirty="0" sz="2400" spc="-95" b="1">
                <a:solidFill>
                  <a:srgbClr val="CCFFC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CCFFCC"/>
                </a:solidFill>
                <a:latin typeface="宋体"/>
                <a:cs typeface="宋体"/>
              </a:rPr>
              <a:t>默认下标下</a:t>
            </a:r>
            <a:r>
              <a:rPr dirty="0" sz="2400" spc="-10" b="1">
                <a:solidFill>
                  <a:srgbClr val="CCFFCC"/>
                </a:solidFill>
                <a:latin typeface="宋体"/>
                <a:cs typeface="宋体"/>
              </a:rPr>
              <a:t>界</a:t>
            </a:r>
            <a:r>
              <a:rPr dirty="0" sz="2400" b="1">
                <a:solidFill>
                  <a:srgbClr val="CCFFCC"/>
                </a:solidFill>
                <a:latin typeface="Times New Roman"/>
                <a:cs typeface="Times New Roman"/>
              </a:rPr>
              <a:t>=0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3152" y="3767150"/>
            <a:ext cx="7401559" cy="190436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275590">
              <a:lnSpc>
                <a:spcPct val="100000"/>
              </a:lnSpc>
              <a:spcBef>
                <a:spcPts val="105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则 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a[i]</a:t>
            </a:r>
            <a:r>
              <a:rPr dirty="0" baseline="-15873" sz="3150" spc="7" b="1">
                <a:solidFill>
                  <a:srgbClr val="FFFF00"/>
                </a:solidFill>
                <a:latin typeface="Times New Roman"/>
                <a:cs typeface="Times New Roman"/>
              </a:rPr>
              <a:t>addr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 </a:t>
            </a:r>
            <a:r>
              <a:rPr dirty="0" sz="3200" spc="1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15873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0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+( i</a:t>
            </a:r>
            <a:r>
              <a:rPr dirty="0" sz="3200" spc="1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262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66FFFF"/>
                </a:solidFill>
                <a:latin typeface="宋体"/>
                <a:cs typeface="宋体"/>
              </a:rPr>
              <a:t>若数组下标下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限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=1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66FFFF"/>
                </a:solidFill>
                <a:latin typeface="宋体"/>
                <a:cs typeface="宋体"/>
              </a:rPr>
              <a:t>则</a:t>
            </a:r>
            <a:r>
              <a:rPr dirty="0" sz="3200" spc="-5" b="1">
                <a:solidFill>
                  <a:srgbClr val="66FFFF"/>
                </a:solidFill>
                <a:latin typeface="Times New Roman"/>
                <a:cs typeface="Times New Roman"/>
              </a:rPr>
              <a:t>a[i]</a:t>
            </a:r>
            <a:r>
              <a:rPr dirty="0" sz="3200" spc="-4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=</a:t>
            </a:r>
            <a:r>
              <a:rPr dirty="0" sz="3200" spc="-1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spc="10" b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baseline="-15873" sz="3150" spc="15" b="1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r>
              <a:rPr dirty="0" baseline="-15873" sz="3150" spc="39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+ (</a:t>
            </a:r>
            <a:r>
              <a:rPr dirty="0" sz="3200" spc="-1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i-1</a:t>
            </a:r>
            <a:r>
              <a:rPr dirty="0" sz="3200" spc="-2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)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247" y="26923"/>
            <a:ext cx="41173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105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13275" y="26923"/>
            <a:ext cx="43694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6050" algn="l"/>
              </a:tabLst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6.6.4</a:t>
            </a:r>
            <a:r>
              <a:rPr dirty="0" u="sng" sz="2000" spc="42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数组说明与引用翻译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240" y="1011123"/>
            <a:ext cx="6909434" cy="37979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67665" indent="-317500">
              <a:lnSpc>
                <a:spcPct val="100000"/>
              </a:lnSpc>
              <a:spcBef>
                <a:spcPts val="105"/>
              </a:spcBef>
              <a:buClr>
                <a:srgbClr val="66FFFF"/>
              </a:buClr>
              <a:buSzPct val="114062"/>
              <a:buFont typeface="Wingdings"/>
              <a:buChar char=""/>
              <a:tabLst>
                <a:tab pos="368300" algn="l"/>
                <a:tab pos="3119120" algn="l"/>
                <a:tab pos="3796665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对二维数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组	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int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a[n][m]</a:t>
            </a:r>
            <a:r>
              <a:rPr dirty="0" sz="32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250">
              <a:latin typeface="Times New Roman"/>
              <a:cs typeface="Times New Roman"/>
            </a:endParaRPr>
          </a:p>
          <a:p>
            <a:pPr marL="762635">
              <a:lnSpc>
                <a:spcPct val="100000"/>
              </a:lnSpc>
              <a:tabLst>
                <a:tab pos="3155315" algn="l"/>
                <a:tab pos="4030345" algn="l"/>
              </a:tabLst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3200" spc="8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a[i][j]</a:t>
            </a:r>
            <a:r>
              <a:rPr dirty="0" baseline="-15873" sz="3150" spc="7" b="1">
                <a:solidFill>
                  <a:srgbClr val="FFFF00"/>
                </a:solidFill>
                <a:latin typeface="Times New Roman"/>
                <a:cs typeface="Times New Roman"/>
              </a:rPr>
              <a:t>addr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1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15873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0	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200" spc="-5" b="1">
                <a:solidFill>
                  <a:srgbClr val="FF0000"/>
                </a:solidFill>
                <a:latin typeface="Times New Roman"/>
                <a:cs typeface="Times New Roman"/>
              </a:rPr>
              <a:t>(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i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*m +</a:t>
            </a:r>
            <a:r>
              <a:rPr dirty="0" sz="32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j</a:t>
            </a:r>
            <a:r>
              <a:rPr dirty="0" sz="3200" b="1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 marL="152400">
              <a:lnSpc>
                <a:spcPct val="100000"/>
              </a:lnSpc>
              <a:spcBef>
                <a:spcPts val="2625"/>
              </a:spcBef>
            </a:pP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若数组下标下</a:t>
            </a:r>
            <a:r>
              <a:rPr dirty="0" sz="3200" spc="-10" b="1">
                <a:solidFill>
                  <a:srgbClr val="66FFFF"/>
                </a:solidFill>
                <a:latin typeface="宋体"/>
                <a:cs typeface="宋体"/>
              </a:rPr>
              <a:t>限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=1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，则</a:t>
            </a:r>
            <a:endParaRPr sz="3200">
              <a:latin typeface="宋体"/>
              <a:cs typeface="宋体"/>
            </a:endParaRPr>
          </a:p>
          <a:p>
            <a:pPr marL="1372235">
              <a:lnSpc>
                <a:spcPct val="100000"/>
              </a:lnSpc>
              <a:spcBef>
                <a:spcPts val="2310"/>
              </a:spcBef>
              <a:tabLst>
                <a:tab pos="2936240" algn="l"/>
              </a:tabLst>
            </a:pP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a[i][j]</a:t>
            </a:r>
            <a:r>
              <a:rPr dirty="0" baseline="-15873" sz="3150" spc="7" b="1">
                <a:solidFill>
                  <a:srgbClr val="FFFF00"/>
                </a:solidFill>
                <a:latin typeface="Times New Roman"/>
                <a:cs typeface="Times New Roman"/>
              </a:rPr>
              <a:t>add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 </a:t>
            </a:r>
            <a:r>
              <a:rPr dirty="0" sz="3200" spc="1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15873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0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200" b="1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(i-1) *m + (</a:t>
            </a:r>
            <a:r>
              <a:rPr dirty="0" sz="3200" spc="-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j-1)</a:t>
            </a:r>
            <a:r>
              <a:rPr dirty="0" sz="3200" b="1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5147" y="0"/>
            <a:ext cx="8726170" cy="2232025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15"/>
              </a:spcBef>
              <a:tabLst>
                <a:tab pos="694055" algn="l"/>
                <a:tab pos="3822700" algn="l"/>
                <a:tab pos="4330700" algn="l"/>
                <a:tab pos="57340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6.6.4</a:t>
            </a:r>
            <a:r>
              <a:rPr dirty="0" u="sng" sz="2000" spc="43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数组说明与引用翻译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750">
              <a:latin typeface="宋体"/>
              <a:cs typeface="宋体"/>
            </a:endParaRPr>
          </a:p>
          <a:p>
            <a:pPr marL="659130" indent="-482600">
              <a:lnSpc>
                <a:spcPct val="100000"/>
              </a:lnSpc>
              <a:buClr>
                <a:srgbClr val="99FFCC"/>
              </a:buClr>
              <a:buSzPct val="150000"/>
              <a:buFont typeface="Wingdings"/>
              <a:buChar char=""/>
              <a:tabLst>
                <a:tab pos="659765" algn="l"/>
                <a:tab pos="3228340" algn="l"/>
                <a:tab pos="390525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对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维数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组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int	a[d</a:t>
            </a:r>
            <a:r>
              <a:rPr dirty="0" baseline="-14550" sz="315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] [d</a:t>
            </a:r>
            <a:r>
              <a:rPr dirty="0" baseline="-14550" sz="315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]…</a:t>
            </a:r>
            <a:r>
              <a:rPr dirty="0" sz="32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[d</a:t>
            </a:r>
            <a:r>
              <a:rPr dirty="0" baseline="-14550" sz="3150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];</a:t>
            </a:r>
            <a:endParaRPr sz="3200">
              <a:latin typeface="Times New Roman"/>
              <a:cs typeface="Times New Roman"/>
            </a:endParaRPr>
          </a:p>
          <a:p>
            <a:pPr marL="481965">
              <a:lnSpc>
                <a:spcPct val="100000"/>
              </a:lnSpc>
              <a:spcBef>
                <a:spcPts val="2920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则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a[i</a:t>
            </a:r>
            <a:r>
              <a:rPr dirty="0" baseline="-15873" sz="315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] [i</a:t>
            </a:r>
            <a:r>
              <a:rPr dirty="0" baseline="-15873" sz="3150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] … [i</a:t>
            </a:r>
            <a:r>
              <a:rPr dirty="0" baseline="-15873" sz="3150" b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]</a:t>
            </a:r>
            <a:r>
              <a:rPr dirty="0" sz="3200" spc="76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baseline="-15873" sz="3150" spc="22" b="1">
                <a:solidFill>
                  <a:srgbClr val="FFFF00"/>
                </a:solidFill>
                <a:latin typeface="Times New Roman"/>
                <a:cs typeface="Times New Roman"/>
              </a:rPr>
              <a:t>add</a:t>
            </a:r>
            <a:endParaRPr baseline="-15873" sz="3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7536" y="2130399"/>
            <a:ext cx="4451985" cy="2659380"/>
          </a:xfrm>
          <a:prstGeom prst="rect">
            <a:avLst/>
          </a:prstGeom>
        </p:spPr>
        <p:txBody>
          <a:bodyPr wrap="square" lIns="0" tIns="18288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440"/>
              </a:spcBef>
              <a:tabLst>
                <a:tab pos="926465" algn="l"/>
                <a:tab pos="1812289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 </a:t>
            </a:r>
            <a:r>
              <a:rPr dirty="0" sz="3200" spc="1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15873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0	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200" spc="-5" b="1">
                <a:solidFill>
                  <a:srgbClr val="FF0000"/>
                </a:solidFill>
                <a:latin typeface="Times New Roman"/>
                <a:cs typeface="Times New Roman"/>
              </a:rPr>
              <a:t>( 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15873" sz="3150" spc="7" b="1">
                <a:solidFill>
                  <a:srgbClr val="FFFF00"/>
                </a:solidFill>
                <a:latin typeface="Times New Roman"/>
                <a:cs typeface="Times New Roman"/>
              </a:rPr>
              <a:t>1	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5" b="1">
                <a:solidFill>
                  <a:srgbClr val="66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spc="7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*d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 …</a:t>
            </a:r>
            <a:r>
              <a:rPr dirty="0" sz="3200" spc="-11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*d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baseline="-15873" sz="3150">
              <a:latin typeface="Times New Roman"/>
              <a:cs typeface="Times New Roman"/>
            </a:endParaRPr>
          </a:p>
          <a:p>
            <a:pPr marL="939165">
              <a:lnSpc>
                <a:spcPct val="100000"/>
              </a:lnSpc>
              <a:spcBef>
                <a:spcPts val="134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+ 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15873" sz="3150" spc="7" b="1">
                <a:solidFill>
                  <a:srgbClr val="FFFF00"/>
                </a:solidFill>
                <a:latin typeface="Times New Roman"/>
                <a:cs typeface="Times New Roman"/>
              </a:rPr>
              <a:t>2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5" b="1">
                <a:solidFill>
                  <a:srgbClr val="66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spc="7" b="1">
                <a:solidFill>
                  <a:srgbClr val="66FFFF"/>
                </a:solidFill>
                <a:latin typeface="Times New Roman"/>
                <a:cs typeface="Times New Roman"/>
              </a:rPr>
              <a:t>3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*d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*…</a:t>
            </a:r>
            <a:r>
              <a:rPr dirty="0" sz="3200" spc="-3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*d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baseline="-15873" sz="3150">
              <a:latin typeface="Times New Roman"/>
              <a:cs typeface="Times New Roman"/>
            </a:endParaRPr>
          </a:p>
          <a:p>
            <a:pPr marL="939165">
              <a:lnSpc>
                <a:spcPct val="100000"/>
              </a:lnSpc>
              <a:spcBef>
                <a:spcPts val="1345"/>
              </a:spcBef>
              <a:tabLst>
                <a:tab pos="137287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+	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  <a:spcBef>
                <a:spcPts val="1345"/>
              </a:spcBef>
              <a:tabLst>
                <a:tab pos="2568575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+ </a:t>
            </a:r>
            <a:r>
              <a:rPr dirty="0" sz="3200" spc="10" b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15873" sz="3150" spc="15" b="1">
                <a:solidFill>
                  <a:srgbClr val="FFFF00"/>
                </a:solidFill>
                <a:latin typeface="Times New Roman"/>
                <a:cs typeface="Times New Roman"/>
              </a:rPr>
              <a:t>n-1</a:t>
            </a:r>
            <a:r>
              <a:rPr dirty="0" baseline="-15873" sz="3150" spc="419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5" b="1">
                <a:solidFill>
                  <a:srgbClr val="66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spc="7" b="1">
                <a:solidFill>
                  <a:srgbClr val="66FFFF"/>
                </a:solidFill>
                <a:latin typeface="Times New Roman"/>
                <a:cs typeface="Times New Roman"/>
              </a:rPr>
              <a:t>n	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+</a:t>
            </a:r>
            <a:r>
              <a:rPr dirty="0" sz="3200" spc="-2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dirty="0" baseline="-15873" sz="3150" spc="7" b="1">
                <a:solidFill>
                  <a:srgbClr val="66FFFF"/>
                </a:solidFill>
                <a:latin typeface="Times New Roman"/>
                <a:cs typeface="Times New Roman"/>
              </a:rPr>
              <a:t>n</a:t>
            </a:r>
            <a:r>
              <a:rPr dirty="0" sz="3200" spc="5" b="1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9404" y="2286000"/>
            <a:ext cx="3771900" cy="2992120"/>
          </a:xfrm>
          <a:custGeom>
            <a:avLst/>
            <a:gdLst/>
            <a:ahLst/>
            <a:cxnLst/>
            <a:rect l="l" t="t" r="r" b="b"/>
            <a:pathLst>
              <a:path w="3771900" h="2992120">
                <a:moveTo>
                  <a:pt x="0" y="2991612"/>
                </a:moveTo>
                <a:lnTo>
                  <a:pt x="3771900" y="2991612"/>
                </a:lnTo>
                <a:lnTo>
                  <a:pt x="3771900" y="0"/>
                </a:lnTo>
                <a:lnTo>
                  <a:pt x="0" y="0"/>
                </a:lnTo>
                <a:lnTo>
                  <a:pt x="0" y="2991612"/>
                </a:lnTo>
                <a:close/>
              </a:path>
            </a:pathLst>
          </a:custGeom>
          <a:ln w="57150">
            <a:solidFill>
              <a:srgbClr val="FF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051550" y="3048761"/>
            <a:ext cx="578611" cy="1028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987160" y="3305936"/>
            <a:ext cx="42862" cy="5143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944361" y="3305936"/>
            <a:ext cx="21431" cy="5143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051550" y="3048761"/>
            <a:ext cx="579120" cy="1028700"/>
          </a:xfrm>
          <a:custGeom>
            <a:avLst/>
            <a:gdLst/>
            <a:ahLst/>
            <a:cxnLst/>
            <a:rect l="l" t="t" r="r" b="b"/>
            <a:pathLst>
              <a:path w="579120" h="1028700">
                <a:moveTo>
                  <a:pt x="407162" y="0"/>
                </a:moveTo>
                <a:lnTo>
                  <a:pt x="407162" y="257175"/>
                </a:lnTo>
                <a:lnTo>
                  <a:pt x="0" y="257175"/>
                </a:lnTo>
                <a:lnTo>
                  <a:pt x="0" y="771525"/>
                </a:lnTo>
                <a:lnTo>
                  <a:pt x="407162" y="771525"/>
                </a:lnTo>
                <a:lnTo>
                  <a:pt x="407162" y="1028700"/>
                </a:lnTo>
                <a:lnTo>
                  <a:pt x="578611" y="514350"/>
                </a:lnTo>
                <a:lnTo>
                  <a:pt x="407162" y="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984843" y="3286886"/>
            <a:ext cx="64769" cy="552450"/>
          </a:xfrm>
          <a:custGeom>
            <a:avLst/>
            <a:gdLst/>
            <a:ahLst/>
            <a:cxnLst/>
            <a:rect l="l" t="t" r="r" b="b"/>
            <a:pathLst>
              <a:path w="64770" h="552450">
                <a:moveTo>
                  <a:pt x="0" y="552450"/>
                </a:moveTo>
                <a:lnTo>
                  <a:pt x="64230" y="552450"/>
                </a:lnTo>
                <a:lnTo>
                  <a:pt x="64230" y="0"/>
                </a:lnTo>
                <a:lnTo>
                  <a:pt x="0" y="0"/>
                </a:lnTo>
                <a:lnTo>
                  <a:pt x="0" y="5524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25311" y="3286886"/>
            <a:ext cx="59690" cy="552450"/>
          </a:xfrm>
          <a:custGeom>
            <a:avLst/>
            <a:gdLst/>
            <a:ahLst/>
            <a:cxnLst/>
            <a:rect l="l" t="t" r="r" b="b"/>
            <a:pathLst>
              <a:path w="59689" h="552450">
                <a:moveTo>
                  <a:pt x="0" y="552450"/>
                </a:moveTo>
                <a:lnTo>
                  <a:pt x="59531" y="552450"/>
                </a:lnTo>
                <a:lnTo>
                  <a:pt x="59531" y="0"/>
                </a:lnTo>
                <a:lnTo>
                  <a:pt x="0" y="0"/>
                </a:lnTo>
                <a:lnTo>
                  <a:pt x="0" y="5524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760209" y="2740039"/>
            <a:ext cx="2216150" cy="178181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algn="just" marL="38100" marR="30480">
              <a:lnSpc>
                <a:spcPct val="128699"/>
              </a:lnSpc>
              <a:spcBef>
                <a:spcPts val="204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含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15873" sz="3150" spc="22" b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是可变部 分，程序运行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时方可知。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105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6542" y="5679440"/>
            <a:ext cx="820991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3200" spc="-5" b="1">
                <a:solidFill>
                  <a:srgbClr val="CCFFCC"/>
                </a:solidFill>
                <a:uFill>
                  <a:solidFill>
                    <a:srgbClr val="CCFFCC"/>
                  </a:solidFill>
                </a:uFill>
                <a:latin typeface="宋体"/>
                <a:cs typeface="宋体"/>
              </a:rPr>
              <a:t>进一步考虑更一般的情况</a:t>
            </a:r>
            <a:r>
              <a:rPr dirty="0" u="heavy" sz="3200" b="1">
                <a:solidFill>
                  <a:srgbClr val="CCFFCC"/>
                </a:solidFill>
                <a:uFill>
                  <a:solidFill>
                    <a:srgbClr val="CCFFCC"/>
                  </a:solidFill>
                </a:uFill>
                <a:latin typeface="宋体"/>
                <a:cs typeface="宋体"/>
              </a:rPr>
              <a:t>：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若数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下标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下限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≠0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171433" y="6678574"/>
            <a:ext cx="817244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spc="-25" b="1">
                <a:solidFill>
                  <a:srgbClr val="FFFFFF"/>
                </a:solidFill>
                <a:latin typeface="Times New Roman"/>
                <a:cs typeface="Times New Roman"/>
              </a:rPr>
              <a:t>110</a:t>
            </a:r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33247" y="26923"/>
            <a:ext cx="41173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13275" y="26923"/>
            <a:ext cx="43694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6050" algn="l"/>
              </a:tabLst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6.6.4</a:t>
            </a:r>
            <a:r>
              <a:rPr dirty="0" u="sng" sz="2000" spc="42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数组说明与引用翻译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8140" y="714501"/>
            <a:ext cx="382524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则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a[i</a:t>
            </a:r>
            <a:r>
              <a:rPr dirty="0" baseline="-15873" sz="315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] [i</a:t>
            </a:r>
            <a:r>
              <a:rPr dirty="0" baseline="-15873" sz="3150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] … 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[i</a:t>
            </a:r>
            <a:r>
              <a:rPr dirty="0" baseline="-15873" sz="3150" spc="7" b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]</a:t>
            </a:r>
            <a:r>
              <a:rPr dirty="0" sz="3200" spc="7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baseline="-15873" sz="3150" spc="22" b="1">
                <a:solidFill>
                  <a:srgbClr val="FFFF00"/>
                </a:solidFill>
                <a:latin typeface="Times New Roman"/>
                <a:cs typeface="Times New Roman"/>
              </a:rPr>
              <a:t>add</a:t>
            </a:r>
            <a:endParaRPr baseline="-15873" sz="31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6231" y="1202410"/>
            <a:ext cx="5060315" cy="2660015"/>
          </a:xfrm>
          <a:prstGeom prst="rect">
            <a:avLst/>
          </a:prstGeom>
        </p:spPr>
        <p:txBody>
          <a:bodyPr wrap="square" lIns="0" tIns="18351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445"/>
              </a:spcBef>
              <a:tabLst>
                <a:tab pos="927100" algn="l"/>
                <a:tab pos="242062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 </a:t>
            </a:r>
            <a:r>
              <a:rPr dirty="0" sz="3200" spc="1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15873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0	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200" spc="-5" b="1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dirty="0" sz="3200" spc="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15873" sz="315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-1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	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5" b="1">
                <a:solidFill>
                  <a:srgbClr val="66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spc="7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*d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 …</a:t>
            </a:r>
            <a:r>
              <a:rPr dirty="0" sz="3200" spc="-11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*d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baseline="-15873" sz="3150">
              <a:latin typeface="Times New Roman"/>
              <a:cs typeface="Times New Roman"/>
            </a:endParaRPr>
          </a:p>
          <a:p>
            <a:pPr marL="939165">
              <a:lnSpc>
                <a:spcPct val="100000"/>
              </a:lnSpc>
              <a:spcBef>
                <a:spcPts val="134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+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15873" sz="3150" spc="7" b="1">
                <a:solidFill>
                  <a:srgbClr val="FFFF00"/>
                </a:solidFill>
                <a:latin typeface="Times New Roman"/>
                <a:cs typeface="Times New Roman"/>
              </a:rPr>
              <a:t>2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-1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5" b="1">
                <a:solidFill>
                  <a:srgbClr val="66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spc="7" b="1">
                <a:solidFill>
                  <a:srgbClr val="66FFFF"/>
                </a:solidFill>
                <a:latin typeface="Times New Roman"/>
                <a:cs typeface="Times New Roman"/>
              </a:rPr>
              <a:t>3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*d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*…</a:t>
            </a:r>
            <a:r>
              <a:rPr dirty="0" sz="3200" spc="-10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*d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baseline="-15873" sz="3150">
              <a:latin typeface="Times New Roman"/>
              <a:cs typeface="Times New Roman"/>
            </a:endParaRPr>
          </a:p>
          <a:p>
            <a:pPr marL="939165">
              <a:lnSpc>
                <a:spcPct val="100000"/>
              </a:lnSpc>
              <a:spcBef>
                <a:spcPts val="1345"/>
              </a:spcBef>
              <a:tabLst>
                <a:tab pos="137287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+	…</a:t>
            </a:r>
            <a:endParaRPr sz="32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1345"/>
              </a:spcBef>
              <a:tabLst>
                <a:tab pos="324358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+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15873" sz="3150" spc="7" b="1">
                <a:solidFill>
                  <a:srgbClr val="FFFF00"/>
                </a:solidFill>
                <a:latin typeface="Times New Roman"/>
                <a:cs typeface="Times New Roman"/>
              </a:rPr>
              <a:t>n-1</a:t>
            </a:r>
            <a:r>
              <a:rPr dirty="0" baseline="-15873" sz="3150" spc="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-1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5" b="1">
                <a:solidFill>
                  <a:srgbClr val="66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spc="7" b="1">
                <a:solidFill>
                  <a:srgbClr val="66FFFF"/>
                </a:solidFill>
                <a:latin typeface="Times New Roman"/>
                <a:cs typeface="Times New Roman"/>
              </a:rPr>
              <a:t>n	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+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 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15873" sz="3150" spc="7" b="1">
                <a:solidFill>
                  <a:srgbClr val="FFFF00"/>
                </a:solidFill>
                <a:latin typeface="Times New Roman"/>
                <a:cs typeface="Times New Roman"/>
              </a:rPr>
              <a:t>n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-1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43661" y="4363973"/>
            <a:ext cx="8554720" cy="1618615"/>
          </a:xfrm>
          <a:custGeom>
            <a:avLst/>
            <a:gdLst/>
            <a:ahLst/>
            <a:cxnLst/>
            <a:rect l="l" t="t" r="r" b="b"/>
            <a:pathLst>
              <a:path w="8554720" h="1618614">
                <a:moveTo>
                  <a:pt x="0" y="1618488"/>
                </a:moveTo>
                <a:lnTo>
                  <a:pt x="8554212" y="1618488"/>
                </a:lnTo>
                <a:lnTo>
                  <a:pt x="8554212" y="0"/>
                </a:lnTo>
                <a:lnTo>
                  <a:pt x="0" y="0"/>
                </a:lnTo>
                <a:lnTo>
                  <a:pt x="0" y="1618488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86231" y="4107786"/>
            <a:ext cx="8159115" cy="1537335"/>
          </a:xfrm>
          <a:prstGeom prst="rect">
            <a:avLst/>
          </a:prstGeom>
        </p:spPr>
        <p:txBody>
          <a:bodyPr wrap="square" lIns="0" tIns="2800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2205"/>
              </a:spcBef>
              <a:tabLst>
                <a:tab pos="486409" algn="l"/>
                <a:tab pos="1027430" algn="l"/>
                <a:tab pos="2499995" algn="l"/>
                <a:tab pos="4925060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=	</a:t>
            </a:r>
            <a:r>
              <a:rPr dirty="0" sz="3200" spc="10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15873" sz="3150" spc="15" b="1">
                <a:solidFill>
                  <a:srgbClr val="FFFF00"/>
                </a:solidFill>
                <a:latin typeface="Times New Roman"/>
                <a:cs typeface="Times New Roman"/>
              </a:rPr>
              <a:t>0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+ </a:t>
            </a:r>
            <a:r>
              <a:rPr dirty="0" sz="3200" spc="5" b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dirty="0" baseline="-15873" sz="3150" spc="7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3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… d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-15873" sz="3150" spc="37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dirty="0" baseline="-15873" sz="3150" spc="7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4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…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+…+</a:t>
            </a:r>
            <a:r>
              <a:rPr dirty="0" sz="3200" spc="5" b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dirty="0" baseline="-15873" sz="3150" spc="7" b="1">
                <a:solidFill>
                  <a:srgbClr val="66FFFF"/>
                </a:solidFill>
                <a:latin typeface="Times New Roman"/>
                <a:cs typeface="Times New Roman"/>
              </a:rPr>
              <a:t>n-1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-15873" sz="3150" spc="-97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200" spc="5" b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dirty="0" baseline="-15873" sz="3150" spc="7" b="1">
                <a:solidFill>
                  <a:srgbClr val="66FFFF"/>
                </a:solidFill>
                <a:latin typeface="Times New Roman"/>
                <a:cs typeface="Times New Roman"/>
              </a:rPr>
              <a:t>n</a:t>
            </a:r>
            <a:endParaRPr baseline="-15873" sz="3150">
              <a:latin typeface="Times New Roman"/>
              <a:cs typeface="Times New Roman"/>
            </a:endParaRPr>
          </a:p>
          <a:p>
            <a:pPr algn="ctr" marL="354965">
              <a:lnSpc>
                <a:spcPct val="100000"/>
              </a:lnSpc>
              <a:spcBef>
                <a:spcPts val="2115"/>
              </a:spcBef>
              <a:tabLst>
                <a:tab pos="1685289" algn="l"/>
                <a:tab pos="376174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(d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3	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-15873" sz="3150" spc="22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4	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… d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n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+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32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+d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+1)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791461" y="4249673"/>
            <a:ext cx="7297420" cy="894715"/>
          </a:xfrm>
          <a:custGeom>
            <a:avLst/>
            <a:gdLst/>
            <a:ahLst/>
            <a:cxnLst/>
            <a:rect l="l" t="t" r="r" b="b"/>
            <a:pathLst>
              <a:path w="7297420" h="894714">
                <a:moveTo>
                  <a:pt x="0" y="447294"/>
                </a:moveTo>
                <a:lnTo>
                  <a:pt x="13048" y="409198"/>
                </a:lnTo>
                <a:lnTo>
                  <a:pt x="39558" y="381200"/>
                </a:lnTo>
                <a:lnTo>
                  <a:pt x="79909" y="353755"/>
                </a:lnTo>
                <a:lnTo>
                  <a:pt x="114279" y="335792"/>
                </a:lnTo>
                <a:lnTo>
                  <a:pt x="154472" y="318116"/>
                </a:lnTo>
                <a:lnTo>
                  <a:pt x="200355" y="300742"/>
                </a:lnTo>
                <a:lnTo>
                  <a:pt x="251798" y="283686"/>
                </a:lnTo>
                <a:lnTo>
                  <a:pt x="308668" y="266964"/>
                </a:lnTo>
                <a:lnTo>
                  <a:pt x="370834" y="250593"/>
                </a:lnTo>
                <a:lnTo>
                  <a:pt x="438164" y="234589"/>
                </a:lnTo>
                <a:lnTo>
                  <a:pt x="510526" y="218968"/>
                </a:lnTo>
                <a:lnTo>
                  <a:pt x="548553" y="211306"/>
                </a:lnTo>
                <a:lnTo>
                  <a:pt x="587789" y="203745"/>
                </a:lnTo>
                <a:lnTo>
                  <a:pt x="628218" y="196289"/>
                </a:lnTo>
                <a:lnTo>
                  <a:pt x="669822" y="188938"/>
                </a:lnTo>
                <a:lnTo>
                  <a:pt x="712586" y="181696"/>
                </a:lnTo>
                <a:lnTo>
                  <a:pt x="756493" y="174563"/>
                </a:lnTo>
                <a:lnTo>
                  <a:pt x="801526" y="167542"/>
                </a:lnTo>
                <a:lnTo>
                  <a:pt x="847669" y="160635"/>
                </a:lnTo>
                <a:lnTo>
                  <a:pt x="894906" y="153843"/>
                </a:lnTo>
                <a:lnTo>
                  <a:pt x="943220" y="147170"/>
                </a:lnTo>
                <a:lnTo>
                  <a:pt x="992594" y="140617"/>
                </a:lnTo>
                <a:lnTo>
                  <a:pt x="1043013" y="134185"/>
                </a:lnTo>
                <a:lnTo>
                  <a:pt x="1094460" y="127878"/>
                </a:lnTo>
                <a:lnTo>
                  <a:pt x="1146918" y="121696"/>
                </a:lnTo>
                <a:lnTo>
                  <a:pt x="1200371" y="115643"/>
                </a:lnTo>
                <a:lnTo>
                  <a:pt x="1254802" y="109719"/>
                </a:lnTo>
                <a:lnTo>
                  <a:pt x="1310196" y="103928"/>
                </a:lnTo>
                <a:lnTo>
                  <a:pt x="1366534" y="98271"/>
                </a:lnTo>
                <a:lnTo>
                  <a:pt x="1423802" y="92750"/>
                </a:lnTo>
                <a:lnTo>
                  <a:pt x="1481983" y="87367"/>
                </a:lnTo>
                <a:lnTo>
                  <a:pt x="1541059" y="82124"/>
                </a:lnTo>
                <a:lnTo>
                  <a:pt x="1601016" y="77023"/>
                </a:lnTo>
                <a:lnTo>
                  <a:pt x="1661835" y="72066"/>
                </a:lnTo>
                <a:lnTo>
                  <a:pt x="1723501" y="67256"/>
                </a:lnTo>
                <a:lnTo>
                  <a:pt x="1785998" y="62593"/>
                </a:lnTo>
                <a:lnTo>
                  <a:pt x="1849309" y="58081"/>
                </a:lnTo>
                <a:lnTo>
                  <a:pt x="1913417" y="53721"/>
                </a:lnTo>
                <a:lnTo>
                  <a:pt x="1978306" y="49516"/>
                </a:lnTo>
                <a:lnTo>
                  <a:pt x="2043959" y="45466"/>
                </a:lnTo>
                <a:lnTo>
                  <a:pt x="2110361" y="41575"/>
                </a:lnTo>
                <a:lnTo>
                  <a:pt x="2177494" y="37844"/>
                </a:lnTo>
                <a:lnTo>
                  <a:pt x="2245342" y="34276"/>
                </a:lnTo>
                <a:lnTo>
                  <a:pt x="2313889" y="30872"/>
                </a:lnTo>
                <a:lnTo>
                  <a:pt x="2383118" y="27634"/>
                </a:lnTo>
                <a:lnTo>
                  <a:pt x="2453013" y="24565"/>
                </a:lnTo>
                <a:lnTo>
                  <a:pt x="2523558" y="21666"/>
                </a:lnTo>
                <a:lnTo>
                  <a:pt x="2594735" y="18939"/>
                </a:lnTo>
                <a:lnTo>
                  <a:pt x="2666529" y="16387"/>
                </a:lnTo>
                <a:lnTo>
                  <a:pt x="2738922" y="14011"/>
                </a:lnTo>
                <a:lnTo>
                  <a:pt x="2811899" y="11814"/>
                </a:lnTo>
                <a:lnTo>
                  <a:pt x="2885444" y="9797"/>
                </a:lnTo>
                <a:lnTo>
                  <a:pt x="2959539" y="7963"/>
                </a:lnTo>
                <a:lnTo>
                  <a:pt x="3034168" y="6313"/>
                </a:lnTo>
                <a:lnTo>
                  <a:pt x="3109314" y="4850"/>
                </a:lnTo>
                <a:lnTo>
                  <a:pt x="3184962" y="3575"/>
                </a:lnTo>
                <a:lnTo>
                  <a:pt x="3261095" y="2491"/>
                </a:lnTo>
                <a:lnTo>
                  <a:pt x="3337696" y="1599"/>
                </a:lnTo>
                <a:lnTo>
                  <a:pt x="3414750" y="902"/>
                </a:lnTo>
                <a:lnTo>
                  <a:pt x="3492238" y="402"/>
                </a:lnTo>
                <a:lnTo>
                  <a:pt x="3570145" y="101"/>
                </a:lnTo>
                <a:lnTo>
                  <a:pt x="3648455" y="0"/>
                </a:lnTo>
                <a:lnTo>
                  <a:pt x="3726766" y="101"/>
                </a:lnTo>
                <a:lnTo>
                  <a:pt x="3804673" y="402"/>
                </a:lnTo>
                <a:lnTo>
                  <a:pt x="3882161" y="902"/>
                </a:lnTo>
                <a:lnTo>
                  <a:pt x="3959215" y="1599"/>
                </a:lnTo>
                <a:lnTo>
                  <a:pt x="4035816" y="2491"/>
                </a:lnTo>
                <a:lnTo>
                  <a:pt x="4111949" y="3575"/>
                </a:lnTo>
                <a:lnTo>
                  <a:pt x="4187597" y="4850"/>
                </a:lnTo>
                <a:lnTo>
                  <a:pt x="4262743" y="6313"/>
                </a:lnTo>
                <a:lnTo>
                  <a:pt x="4337372" y="7963"/>
                </a:lnTo>
                <a:lnTo>
                  <a:pt x="4411467" y="9797"/>
                </a:lnTo>
                <a:lnTo>
                  <a:pt x="4485012" y="11814"/>
                </a:lnTo>
                <a:lnTo>
                  <a:pt x="4557989" y="14011"/>
                </a:lnTo>
                <a:lnTo>
                  <a:pt x="4630382" y="16387"/>
                </a:lnTo>
                <a:lnTo>
                  <a:pt x="4702176" y="18939"/>
                </a:lnTo>
                <a:lnTo>
                  <a:pt x="4773353" y="21666"/>
                </a:lnTo>
                <a:lnTo>
                  <a:pt x="4843898" y="24565"/>
                </a:lnTo>
                <a:lnTo>
                  <a:pt x="4913793" y="27634"/>
                </a:lnTo>
                <a:lnTo>
                  <a:pt x="4983022" y="30872"/>
                </a:lnTo>
                <a:lnTo>
                  <a:pt x="5051569" y="34276"/>
                </a:lnTo>
                <a:lnTo>
                  <a:pt x="5119417" y="37844"/>
                </a:lnTo>
                <a:lnTo>
                  <a:pt x="5186550" y="41575"/>
                </a:lnTo>
                <a:lnTo>
                  <a:pt x="5252952" y="45466"/>
                </a:lnTo>
                <a:lnTo>
                  <a:pt x="5318605" y="49516"/>
                </a:lnTo>
                <a:lnTo>
                  <a:pt x="5383494" y="53721"/>
                </a:lnTo>
                <a:lnTo>
                  <a:pt x="5447602" y="58081"/>
                </a:lnTo>
                <a:lnTo>
                  <a:pt x="5510913" y="62593"/>
                </a:lnTo>
                <a:lnTo>
                  <a:pt x="5573410" y="67256"/>
                </a:lnTo>
                <a:lnTo>
                  <a:pt x="5635076" y="72066"/>
                </a:lnTo>
                <a:lnTo>
                  <a:pt x="5695895" y="77023"/>
                </a:lnTo>
                <a:lnTo>
                  <a:pt x="5755852" y="82124"/>
                </a:lnTo>
                <a:lnTo>
                  <a:pt x="5814928" y="87367"/>
                </a:lnTo>
                <a:lnTo>
                  <a:pt x="5873109" y="92750"/>
                </a:lnTo>
                <a:lnTo>
                  <a:pt x="5930377" y="98271"/>
                </a:lnTo>
                <a:lnTo>
                  <a:pt x="5986715" y="103928"/>
                </a:lnTo>
                <a:lnTo>
                  <a:pt x="6042109" y="109719"/>
                </a:lnTo>
                <a:lnTo>
                  <a:pt x="6096540" y="115643"/>
                </a:lnTo>
                <a:lnTo>
                  <a:pt x="6149993" y="121696"/>
                </a:lnTo>
                <a:lnTo>
                  <a:pt x="6202451" y="127878"/>
                </a:lnTo>
                <a:lnTo>
                  <a:pt x="6253898" y="134185"/>
                </a:lnTo>
                <a:lnTo>
                  <a:pt x="6304317" y="140617"/>
                </a:lnTo>
                <a:lnTo>
                  <a:pt x="6353691" y="147170"/>
                </a:lnTo>
                <a:lnTo>
                  <a:pt x="6402005" y="153843"/>
                </a:lnTo>
                <a:lnTo>
                  <a:pt x="6449242" y="160635"/>
                </a:lnTo>
                <a:lnTo>
                  <a:pt x="6495385" y="167542"/>
                </a:lnTo>
                <a:lnTo>
                  <a:pt x="6540418" y="174563"/>
                </a:lnTo>
                <a:lnTo>
                  <a:pt x="6584325" y="181696"/>
                </a:lnTo>
                <a:lnTo>
                  <a:pt x="6627089" y="188938"/>
                </a:lnTo>
                <a:lnTo>
                  <a:pt x="6668693" y="196289"/>
                </a:lnTo>
                <a:lnTo>
                  <a:pt x="6709122" y="203745"/>
                </a:lnTo>
                <a:lnTo>
                  <a:pt x="6748358" y="211306"/>
                </a:lnTo>
                <a:lnTo>
                  <a:pt x="6786385" y="218968"/>
                </a:lnTo>
                <a:lnTo>
                  <a:pt x="6858747" y="234589"/>
                </a:lnTo>
                <a:lnTo>
                  <a:pt x="6926077" y="250593"/>
                </a:lnTo>
                <a:lnTo>
                  <a:pt x="6988243" y="266964"/>
                </a:lnTo>
                <a:lnTo>
                  <a:pt x="7045113" y="283686"/>
                </a:lnTo>
                <a:lnTo>
                  <a:pt x="7096556" y="300742"/>
                </a:lnTo>
                <a:lnTo>
                  <a:pt x="7142439" y="318116"/>
                </a:lnTo>
                <a:lnTo>
                  <a:pt x="7182632" y="335792"/>
                </a:lnTo>
                <a:lnTo>
                  <a:pt x="7217002" y="353755"/>
                </a:lnTo>
                <a:lnTo>
                  <a:pt x="7257353" y="381200"/>
                </a:lnTo>
                <a:lnTo>
                  <a:pt x="7283863" y="409198"/>
                </a:lnTo>
                <a:lnTo>
                  <a:pt x="7296911" y="447294"/>
                </a:lnTo>
                <a:lnTo>
                  <a:pt x="7296088" y="456893"/>
                </a:lnTo>
                <a:lnTo>
                  <a:pt x="7276591" y="494780"/>
                </a:lnTo>
                <a:lnTo>
                  <a:pt x="7245418" y="522600"/>
                </a:lnTo>
                <a:lnTo>
                  <a:pt x="7200553" y="549848"/>
                </a:lnTo>
                <a:lnTo>
                  <a:pt x="7163255" y="567670"/>
                </a:lnTo>
                <a:lnTo>
                  <a:pt x="7120200" y="585197"/>
                </a:lnTo>
                <a:lnTo>
                  <a:pt x="7071521" y="602414"/>
                </a:lnTo>
                <a:lnTo>
                  <a:pt x="7017348" y="619305"/>
                </a:lnTo>
                <a:lnTo>
                  <a:pt x="6957814" y="635853"/>
                </a:lnTo>
                <a:lnTo>
                  <a:pt x="6893050" y="652043"/>
                </a:lnTo>
                <a:lnTo>
                  <a:pt x="6823187" y="667858"/>
                </a:lnTo>
                <a:lnTo>
                  <a:pt x="6748358" y="683281"/>
                </a:lnTo>
                <a:lnTo>
                  <a:pt x="6709122" y="690842"/>
                </a:lnTo>
                <a:lnTo>
                  <a:pt x="6668693" y="698298"/>
                </a:lnTo>
                <a:lnTo>
                  <a:pt x="6627089" y="705649"/>
                </a:lnTo>
                <a:lnTo>
                  <a:pt x="6584325" y="712891"/>
                </a:lnTo>
                <a:lnTo>
                  <a:pt x="6540418" y="720024"/>
                </a:lnTo>
                <a:lnTo>
                  <a:pt x="6495385" y="727045"/>
                </a:lnTo>
                <a:lnTo>
                  <a:pt x="6449242" y="733952"/>
                </a:lnTo>
                <a:lnTo>
                  <a:pt x="6402005" y="740744"/>
                </a:lnTo>
                <a:lnTo>
                  <a:pt x="6353691" y="747417"/>
                </a:lnTo>
                <a:lnTo>
                  <a:pt x="6304317" y="753970"/>
                </a:lnTo>
                <a:lnTo>
                  <a:pt x="6253898" y="760402"/>
                </a:lnTo>
                <a:lnTo>
                  <a:pt x="6202451" y="766709"/>
                </a:lnTo>
                <a:lnTo>
                  <a:pt x="6149993" y="772891"/>
                </a:lnTo>
                <a:lnTo>
                  <a:pt x="6096540" y="778944"/>
                </a:lnTo>
                <a:lnTo>
                  <a:pt x="6042109" y="784868"/>
                </a:lnTo>
                <a:lnTo>
                  <a:pt x="5986715" y="790659"/>
                </a:lnTo>
                <a:lnTo>
                  <a:pt x="5930377" y="796316"/>
                </a:lnTo>
                <a:lnTo>
                  <a:pt x="5873109" y="801837"/>
                </a:lnTo>
                <a:lnTo>
                  <a:pt x="5814928" y="807220"/>
                </a:lnTo>
                <a:lnTo>
                  <a:pt x="5755852" y="812463"/>
                </a:lnTo>
                <a:lnTo>
                  <a:pt x="5695895" y="817564"/>
                </a:lnTo>
                <a:lnTo>
                  <a:pt x="5635076" y="822521"/>
                </a:lnTo>
                <a:lnTo>
                  <a:pt x="5573410" y="827331"/>
                </a:lnTo>
                <a:lnTo>
                  <a:pt x="5510913" y="831994"/>
                </a:lnTo>
                <a:lnTo>
                  <a:pt x="5447602" y="836506"/>
                </a:lnTo>
                <a:lnTo>
                  <a:pt x="5383494" y="840866"/>
                </a:lnTo>
                <a:lnTo>
                  <a:pt x="5318605" y="845071"/>
                </a:lnTo>
                <a:lnTo>
                  <a:pt x="5252952" y="849121"/>
                </a:lnTo>
                <a:lnTo>
                  <a:pt x="5186550" y="853012"/>
                </a:lnTo>
                <a:lnTo>
                  <a:pt x="5119417" y="856743"/>
                </a:lnTo>
                <a:lnTo>
                  <a:pt x="5051569" y="860311"/>
                </a:lnTo>
                <a:lnTo>
                  <a:pt x="4983022" y="863715"/>
                </a:lnTo>
                <a:lnTo>
                  <a:pt x="4913793" y="866953"/>
                </a:lnTo>
                <a:lnTo>
                  <a:pt x="4843898" y="870022"/>
                </a:lnTo>
                <a:lnTo>
                  <a:pt x="4773353" y="872921"/>
                </a:lnTo>
                <a:lnTo>
                  <a:pt x="4702176" y="875648"/>
                </a:lnTo>
                <a:lnTo>
                  <a:pt x="4630382" y="878200"/>
                </a:lnTo>
                <a:lnTo>
                  <a:pt x="4557989" y="880576"/>
                </a:lnTo>
                <a:lnTo>
                  <a:pt x="4485012" y="882773"/>
                </a:lnTo>
                <a:lnTo>
                  <a:pt x="4411467" y="884790"/>
                </a:lnTo>
                <a:lnTo>
                  <a:pt x="4337372" y="886624"/>
                </a:lnTo>
                <a:lnTo>
                  <a:pt x="4262743" y="888274"/>
                </a:lnTo>
                <a:lnTo>
                  <a:pt x="4187597" y="889737"/>
                </a:lnTo>
                <a:lnTo>
                  <a:pt x="4111949" y="891012"/>
                </a:lnTo>
                <a:lnTo>
                  <a:pt x="4035816" y="892096"/>
                </a:lnTo>
                <a:lnTo>
                  <a:pt x="3959215" y="892988"/>
                </a:lnTo>
                <a:lnTo>
                  <a:pt x="3882161" y="893685"/>
                </a:lnTo>
                <a:lnTo>
                  <a:pt x="3804673" y="894185"/>
                </a:lnTo>
                <a:lnTo>
                  <a:pt x="3726766" y="894486"/>
                </a:lnTo>
                <a:lnTo>
                  <a:pt x="3648455" y="894588"/>
                </a:lnTo>
                <a:lnTo>
                  <a:pt x="3570145" y="894486"/>
                </a:lnTo>
                <a:lnTo>
                  <a:pt x="3492238" y="894185"/>
                </a:lnTo>
                <a:lnTo>
                  <a:pt x="3414750" y="893685"/>
                </a:lnTo>
                <a:lnTo>
                  <a:pt x="3337696" y="892988"/>
                </a:lnTo>
                <a:lnTo>
                  <a:pt x="3261095" y="892096"/>
                </a:lnTo>
                <a:lnTo>
                  <a:pt x="3184962" y="891012"/>
                </a:lnTo>
                <a:lnTo>
                  <a:pt x="3109314" y="889737"/>
                </a:lnTo>
                <a:lnTo>
                  <a:pt x="3034168" y="888274"/>
                </a:lnTo>
                <a:lnTo>
                  <a:pt x="2959539" y="886624"/>
                </a:lnTo>
                <a:lnTo>
                  <a:pt x="2885444" y="884790"/>
                </a:lnTo>
                <a:lnTo>
                  <a:pt x="2811899" y="882773"/>
                </a:lnTo>
                <a:lnTo>
                  <a:pt x="2738922" y="880576"/>
                </a:lnTo>
                <a:lnTo>
                  <a:pt x="2666529" y="878200"/>
                </a:lnTo>
                <a:lnTo>
                  <a:pt x="2594735" y="875648"/>
                </a:lnTo>
                <a:lnTo>
                  <a:pt x="2523558" y="872921"/>
                </a:lnTo>
                <a:lnTo>
                  <a:pt x="2453013" y="870022"/>
                </a:lnTo>
                <a:lnTo>
                  <a:pt x="2383118" y="866953"/>
                </a:lnTo>
                <a:lnTo>
                  <a:pt x="2313889" y="863715"/>
                </a:lnTo>
                <a:lnTo>
                  <a:pt x="2245342" y="860311"/>
                </a:lnTo>
                <a:lnTo>
                  <a:pt x="2177494" y="856743"/>
                </a:lnTo>
                <a:lnTo>
                  <a:pt x="2110361" y="853012"/>
                </a:lnTo>
                <a:lnTo>
                  <a:pt x="2043959" y="849121"/>
                </a:lnTo>
                <a:lnTo>
                  <a:pt x="1978306" y="845071"/>
                </a:lnTo>
                <a:lnTo>
                  <a:pt x="1913417" y="840866"/>
                </a:lnTo>
                <a:lnTo>
                  <a:pt x="1849309" y="836506"/>
                </a:lnTo>
                <a:lnTo>
                  <a:pt x="1785998" y="831994"/>
                </a:lnTo>
                <a:lnTo>
                  <a:pt x="1723501" y="827331"/>
                </a:lnTo>
                <a:lnTo>
                  <a:pt x="1661835" y="822521"/>
                </a:lnTo>
                <a:lnTo>
                  <a:pt x="1601016" y="817564"/>
                </a:lnTo>
                <a:lnTo>
                  <a:pt x="1541059" y="812463"/>
                </a:lnTo>
                <a:lnTo>
                  <a:pt x="1481983" y="807220"/>
                </a:lnTo>
                <a:lnTo>
                  <a:pt x="1423802" y="801837"/>
                </a:lnTo>
                <a:lnTo>
                  <a:pt x="1366534" y="796316"/>
                </a:lnTo>
                <a:lnTo>
                  <a:pt x="1310196" y="790659"/>
                </a:lnTo>
                <a:lnTo>
                  <a:pt x="1254802" y="784868"/>
                </a:lnTo>
                <a:lnTo>
                  <a:pt x="1200371" y="778944"/>
                </a:lnTo>
                <a:lnTo>
                  <a:pt x="1146918" y="772891"/>
                </a:lnTo>
                <a:lnTo>
                  <a:pt x="1094460" y="766709"/>
                </a:lnTo>
                <a:lnTo>
                  <a:pt x="1043013" y="760402"/>
                </a:lnTo>
                <a:lnTo>
                  <a:pt x="992594" y="753970"/>
                </a:lnTo>
                <a:lnTo>
                  <a:pt x="943220" y="747417"/>
                </a:lnTo>
                <a:lnTo>
                  <a:pt x="894906" y="740744"/>
                </a:lnTo>
                <a:lnTo>
                  <a:pt x="847669" y="733952"/>
                </a:lnTo>
                <a:lnTo>
                  <a:pt x="801526" y="727045"/>
                </a:lnTo>
                <a:lnTo>
                  <a:pt x="756493" y="720024"/>
                </a:lnTo>
                <a:lnTo>
                  <a:pt x="712586" y="712891"/>
                </a:lnTo>
                <a:lnTo>
                  <a:pt x="669822" y="705649"/>
                </a:lnTo>
                <a:lnTo>
                  <a:pt x="628218" y="698298"/>
                </a:lnTo>
                <a:lnTo>
                  <a:pt x="587789" y="690842"/>
                </a:lnTo>
                <a:lnTo>
                  <a:pt x="548553" y="683281"/>
                </a:lnTo>
                <a:lnTo>
                  <a:pt x="510526" y="675619"/>
                </a:lnTo>
                <a:lnTo>
                  <a:pt x="438164" y="659998"/>
                </a:lnTo>
                <a:lnTo>
                  <a:pt x="370834" y="643994"/>
                </a:lnTo>
                <a:lnTo>
                  <a:pt x="308668" y="627623"/>
                </a:lnTo>
                <a:lnTo>
                  <a:pt x="251798" y="610901"/>
                </a:lnTo>
                <a:lnTo>
                  <a:pt x="200355" y="593845"/>
                </a:lnTo>
                <a:lnTo>
                  <a:pt x="154472" y="576471"/>
                </a:lnTo>
                <a:lnTo>
                  <a:pt x="114279" y="558795"/>
                </a:lnTo>
                <a:lnTo>
                  <a:pt x="79909" y="540832"/>
                </a:lnTo>
                <a:lnTo>
                  <a:pt x="39558" y="513387"/>
                </a:lnTo>
                <a:lnTo>
                  <a:pt x="13048" y="485389"/>
                </a:lnTo>
                <a:lnTo>
                  <a:pt x="0" y="44729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675373" y="3791077"/>
            <a:ext cx="564006" cy="4691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675373" y="3791077"/>
            <a:ext cx="564515" cy="412750"/>
          </a:xfrm>
          <a:custGeom>
            <a:avLst/>
            <a:gdLst/>
            <a:ahLst/>
            <a:cxnLst/>
            <a:rect l="l" t="t" r="r" b="b"/>
            <a:pathLst>
              <a:path w="564515" h="412750">
                <a:moveTo>
                  <a:pt x="0" y="0"/>
                </a:moveTo>
                <a:lnTo>
                  <a:pt x="141097" y="65786"/>
                </a:lnTo>
                <a:lnTo>
                  <a:pt x="40640" y="281050"/>
                </a:lnTo>
                <a:lnTo>
                  <a:pt x="322706" y="412496"/>
                </a:lnTo>
                <a:lnTo>
                  <a:pt x="423036" y="197231"/>
                </a:lnTo>
                <a:lnTo>
                  <a:pt x="564006" y="263017"/>
                </a:lnTo>
                <a:lnTo>
                  <a:pt x="324357" y="408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700139" y="4083430"/>
            <a:ext cx="292735" cy="154305"/>
          </a:xfrm>
          <a:custGeom>
            <a:avLst/>
            <a:gdLst/>
            <a:ahLst/>
            <a:cxnLst/>
            <a:rect l="l" t="t" r="r" b="b"/>
            <a:pathLst>
              <a:path w="292734" h="154304">
                <a:moveTo>
                  <a:pt x="0" y="22606"/>
                </a:moveTo>
                <a:lnTo>
                  <a:pt x="282066" y="154178"/>
                </a:lnTo>
                <a:lnTo>
                  <a:pt x="292607" y="131445"/>
                </a:lnTo>
                <a:lnTo>
                  <a:pt x="10667" y="0"/>
                </a:lnTo>
                <a:lnTo>
                  <a:pt x="0" y="2260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689597" y="4117466"/>
            <a:ext cx="287655" cy="142875"/>
          </a:xfrm>
          <a:custGeom>
            <a:avLst/>
            <a:gdLst/>
            <a:ahLst/>
            <a:cxnLst/>
            <a:rect l="l" t="t" r="r" b="b"/>
            <a:pathLst>
              <a:path w="287654" h="142875">
                <a:moveTo>
                  <a:pt x="0" y="11302"/>
                </a:moveTo>
                <a:lnTo>
                  <a:pt x="282067" y="142747"/>
                </a:lnTo>
                <a:lnTo>
                  <a:pt x="287274" y="131444"/>
                </a:lnTo>
                <a:lnTo>
                  <a:pt x="5333" y="0"/>
                </a:lnTo>
                <a:lnTo>
                  <a:pt x="0" y="1130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902957" y="3201161"/>
            <a:ext cx="489584" cy="61912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2075">
              <a:lnSpc>
                <a:spcPts val="4355"/>
              </a:lnSpc>
            </a:pPr>
            <a:r>
              <a:rPr dirty="0" sz="4000" spc="-5" b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34974" y="4363973"/>
            <a:ext cx="628015" cy="780415"/>
          </a:xfrm>
          <a:custGeom>
            <a:avLst/>
            <a:gdLst/>
            <a:ahLst/>
            <a:cxnLst/>
            <a:rect l="l" t="t" r="r" b="b"/>
            <a:pathLst>
              <a:path w="628015" h="780414">
                <a:moveTo>
                  <a:pt x="0" y="390144"/>
                </a:moveTo>
                <a:lnTo>
                  <a:pt x="2866" y="337193"/>
                </a:lnTo>
                <a:lnTo>
                  <a:pt x="11214" y="286411"/>
                </a:lnTo>
                <a:lnTo>
                  <a:pt x="24672" y="238261"/>
                </a:lnTo>
                <a:lnTo>
                  <a:pt x="42863" y="193209"/>
                </a:lnTo>
                <a:lnTo>
                  <a:pt x="65416" y="151718"/>
                </a:lnTo>
                <a:lnTo>
                  <a:pt x="91954" y="114252"/>
                </a:lnTo>
                <a:lnTo>
                  <a:pt x="122104" y="81276"/>
                </a:lnTo>
                <a:lnTo>
                  <a:pt x="155493" y="53255"/>
                </a:lnTo>
                <a:lnTo>
                  <a:pt x="191745" y="30652"/>
                </a:lnTo>
                <a:lnTo>
                  <a:pt x="230487" y="13932"/>
                </a:lnTo>
                <a:lnTo>
                  <a:pt x="271344" y="3560"/>
                </a:lnTo>
                <a:lnTo>
                  <a:pt x="313944" y="0"/>
                </a:lnTo>
                <a:lnTo>
                  <a:pt x="356537" y="3560"/>
                </a:lnTo>
                <a:lnTo>
                  <a:pt x="397391" y="13932"/>
                </a:lnTo>
                <a:lnTo>
                  <a:pt x="436131" y="30652"/>
                </a:lnTo>
                <a:lnTo>
                  <a:pt x="472383" y="53255"/>
                </a:lnTo>
                <a:lnTo>
                  <a:pt x="505772" y="81276"/>
                </a:lnTo>
                <a:lnTo>
                  <a:pt x="535924" y="114252"/>
                </a:lnTo>
                <a:lnTo>
                  <a:pt x="562464" y="151718"/>
                </a:lnTo>
                <a:lnTo>
                  <a:pt x="585018" y="193209"/>
                </a:lnTo>
                <a:lnTo>
                  <a:pt x="603212" y="238261"/>
                </a:lnTo>
                <a:lnTo>
                  <a:pt x="616671" y="286411"/>
                </a:lnTo>
                <a:lnTo>
                  <a:pt x="625021" y="337193"/>
                </a:lnTo>
                <a:lnTo>
                  <a:pt x="627888" y="390144"/>
                </a:lnTo>
                <a:lnTo>
                  <a:pt x="625021" y="443094"/>
                </a:lnTo>
                <a:lnTo>
                  <a:pt x="616671" y="493876"/>
                </a:lnTo>
                <a:lnTo>
                  <a:pt x="603212" y="542026"/>
                </a:lnTo>
                <a:lnTo>
                  <a:pt x="585018" y="587078"/>
                </a:lnTo>
                <a:lnTo>
                  <a:pt x="562464" y="628569"/>
                </a:lnTo>
                <a:lnTo>
                  <a:pt x="535924" y="666035"/>
                </a:lnTo>
                <a:lnTo>
                  <a:pt x="505772" y="699011"/>
                </a:lnTo>
                <a:lnTo>
                  <a:pt x="472383" y="727032"/>
                </a:lnTo>
                <a:lnTo>
                  <a:pt x="436131" y="749635"/>
                </a:lnTo>
                <a:lnTo>
                  <a:pt x="397391" y="766355"/>
                </a:lnTo>
                <a:lnTo>
                  <a:pt x="356537" y="776727"/>
                </a:lnTo>
                <a:lnTo>
                  <a:pt x="313944" y="780288"/>
                </a:lnTo>
                <a:lnTo>
                  <a:pt x="271344" y="776727"/>
                </a:lnTo>
                <a:lnTo>
                  <a:pt x="230487" y="766355"/>
                </a:lnTo>
                <a:lnTo>
                  <a:pt x="191745" y="749635"/>
                </a:lnTo>
                <a:lnTo>
                  <a:pt x="155493" y="727032"/>
                </a:lnTo>
                <a:lnTo>
                  <a:pt x="122104" y="699011"/>
                </a:lnTo>
                <a:lnTo>
                  <a:pt x="91954" y="666035"/>
                </a:lnTo>
                <a:lnTo>
                  <a:pt x="65416" y="628569"/>
                </a:lnTo>
                <a:lnTo>
                  <a:pt x="42863" y="587078"/>
                </a:lnTo>
                <a:lnTo>
                  <a:pt x="24672" y="542026"/>
                </a:lnTo>
                <a:lnTo>
                  <a:pt x="11214" y="493876"/>
                </a:lnTo>
                <a:lnTo>
                  <a:pt x="2866" y="443094"/>
                </a:lnTo>
                <a:lnTo>
                  <a:pt x="0" y="390144"/>
                </a:lnTo>
                <a:close/>
              </a:path>
            </a:pathLst>
          </a:custGeom>
          <a:ln w="3810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829561" y="5106161"/>
            <a:ext cx="6611620" cy="838200"/>
          </a:xfrm>
          <a:custGeom>
            <a:avLst/>
            <a:gdLst/>
            <a:ahLst/>
            <a:cxnLst/>
            <a:rect l="l" t="t" r="r" b="b"/>
            <a:pathLst>
              <a:path w="6611620" h="838200">
                <a:moveTo>
                  <a:pt x="0" y="419100"/>
                </a:moveTo>
                <a:lnTo>
                  <a:pt x="14285" y="379867"/>
                </a:lnTo>
                <a:lnTo>
                  <a:pt x="43263" y="351105"/>
                </a:lnTo>
                <a:lnTo>
                  <a:pt x="87301" y="322985"/>
                </a:lnTo>
                <a:lnTo>
                  <a:pt x="124761" y="304629"/>
                </a:lnTo>
                <a:lnTo>
                  <a:pt x="168517" y="286609"/>
                </a:lnTo>
                <a:lnTo>
                  <a:pt x="218411" y="268945"/>
                </a:lnTo>
                <a:lnTo>
                  <a:pt x="274284" y="251656"/>
                </a:lnTo>
                <a:lnTo>
                  <a:pt x="335977" y="234764"/>
                </a:lnTo>
                <a:lnTo>
                  <a:pt x="403331" y="218288"/>
                </a:lnTo>
                <a:lnTo>
                  <a:pt x="476188" y="202249"/>
                </a:lnTo>
                <a:lnTo>
                  <a:pt x="514631" y="194399"/>
                </a:lnTo>
                <a:lnTo>
                  <a:pt x="554389" y="186666"/>
                </a:lnTo>
                <a:lnTo>
                  <a:pt x="595444" y="179052"/>
                </a:lnTo>
                <a:lnTo>
                  <a:pt x="637775" y="171559"/>
                </a:lnTo>
                <a:lnTo>
                  <a:pt x="681363" y="164191"/>
                </a:lnTo>
                <a:lnTo>
                  <a:pt x="726188" y="156949"/>
                </a:lnTo>
                <a:lnTo>
                  <a:pt x="772229" y="149837"/>
                </a:lnTo>
                <a:lnTo>
                  <a:pt x="819468" y="142856"/>
                </a:lnTo>
                <a:lnTo>
                  <a:pt x="867884" y="136010"/>
                </a:lnTo>
                <a:lnTo>
                  <a:pt x="917457" y="129300"/>
                </a:lnTo>
                <a:lnTo>
                  <a:pt x="968168" y="122729"/>
                </a:lnTo>
                <a:lnTo>
                  <a:pt x="1019997" y="116300"/>
                </a:lnTo>
                <a:lnTo>
                  <a:pt x="1072923" y="110016"/>
                </a:lnTo>
                <a:lnTo>
                  <a:pt x="1126928" y="103878"/>
                </a:lnTo>
                <a:lnTo>
                  <a:pt x="1181991" y="97889"/>
                </a:lnTo>
                <a:lnTo>
                  <a:pt x="1238092" y="92053"/>
                </a:lnTo>
                <a:lnTo>
                  <a:pt x="1295211" y="86370"/>
                </a:lnTo>
                <a:lnTo>
                  <a:pt x="1353330" y="80845"/>
                </a:lnTo>
                <a:lnTo>
                  <a:pt x="1412427" y="75478"/>
                </a:lnTo>
                <a:lnTo>
                  <a:pt x="1472483" y="70274"/>
                </a:lnTo>
                <a:lnTo>
                  <a:pt x="1533479" y="65234"/>
                </a:lnTo>
                <a:lnTo>
                  <a:pt x="1595393" y="60361"/>
                </a:lnTo>
                <a:lnTo>
                  <a:pt x="1658207" y="55657"/>
                </a:lnTo>
                <a:lnTo>
                  <a:pt x="1721901" y="51125"/>
                </a:lnTo>
                <a:lnTo>
                  <a:pt x="1786455" y="46768"/>
                </a:lnTo>
                <a:lnTo>
                  <a:pt x="1851848" y="42587"/>
                </a:lnTo>
                <a:lnTo>
                  <a:pt x="1918062" y="38586"/>
                </a:lnTo>
                <a:lnTo>
                  <a:pt x="1985076" y="34767"/>
                </a:lnTo>
                <a:lnTo>
                  <a:pt x="2052870" y="31132"/>
                </a:lnTo>
                <a:lnTo>
                  <a:pt x="2121425" y="27684"/>
                </a:lnTo>
                <a:lnTo>
                  <a:pt x="2190721" y="24426"/>
                </a:lnTo>
                <a:lnTo>
                  <a:pt x="2260738" y="21360"/>
                </a:lnTo>
                <a:lnTo>
                  <a:pt x="2331455" y="18488"/>
                </a:lnTo>
                <a:lnTo>
                  <a:pt x="2402854" y="15813"/>
                </a:lnTo>
                <a:lnTo>
                  <a:pt x="2474915" y="13338"/>
                </a:lnTo>
                <a:lnTo>
                  <a:pt x="2547617" y="11065"/>
                </a:lnTo>
                <a:lnTo>
                  <a:pt x="2620940" y="8997"/>
                </a:lnTo>
                <a:lnTo>
                  <a:pt x="2694866" y="7135"/>
                </a:lnTo>
                <a:lnTo>
                  <a:pt x="2769373" y="5483"/>
                </a:lnTo>
                <a:lnTo>
                  <a:pt x="2844443" y="4043"/>
                </a:lnTo>
                <a:lnTo>
                  <a:pt x="2920055" y="2818"/>
                </a:lnTo>
                <a:lnTo>
                  <a:pt x="2996189" y="1810"/>
                </a:lnTo>
                <a:lnTo>
                  <a:pt x="3072826" y="1022"/>
                </a:lnTo>
                <a:lnTo>
                  <a:pt x="3149946" y="456"/>
                </a:lnTo>
                <a:lnTo>
                  <a:pt x="3227529" y="114"/>
                </a:lnTo>
                <a:lnTo>
                  <a:pt x="3305555" y="0"/>
                </a:lnTo>
                <a:lnTo>
                  <a:pt x="3383582" y="114"/>
                </a:lnTo>
                <a:lnTo>
                  <a:pt x="3461165" y="456"/>
                </a:lnTo>
                <a:lnTo>
                  <a:pt x="3538285" y="1022"/>
                </a:lnTo>
                <a:lnTo>
                  <a:pt x="3614922" y="1810"/>
                </a:lnTo>
                <a:lnTo>
                  <a:pt x="3691056" y="2818"/>
                </a:lnTo>
                <a:lnTo>
                  <a:pt x="3766668" y="4043"/>
                </a:lnTo>
                <a:lnTo>
                  <a:pt x="3841738" y="5483"/>
                </a:lnTo>
                <a:lnTo>
                  <a:pt x="3916245" y="7135"/>
                </a:lnTo>
                <a:lnTo>
                  <a:pt x="3990171" y="8997"/>
                </a:lnTo>
                <a:lnTo>
                  <a:pt x="4063494" y="11065"/>
                </a:lnTo>
                <a:lnTo>
                  <a:pt x="4136196" y="13338"/>
                </a:lnTo>
                <a:lnTo>
                  <a:pt x="4208257" y="15813"/>
                </a:lnTo>
                <a:lnTo>
                  <a:pt x="4279656" y="18488"/>
                </a:lnTo>
                <a:lnTo>
                  <a:pt x="4350373" y="21360"/>
                </a:lnTo>
                <a:lnTo>
                  <a:pt x="4420390" y="24426"/>
                </a:lnTo>
                <a:lnTo>
                  <a:pt x="4489686" y="27684"/>
                </a:lnTo>
                <a:lnTo>
                  <a:pt x="4558241" y="31132"/>
                </a:lnTo>
                <a:lnTo>
                  <a:pt x="4626035" y="34767"/>
                </a:lnTo>
                <a:lnTo>
                  <a:pt x="4693049" y="38586"/>
                </a:lnTo>
                <a:lnTo>
                  <a:pt x="4759263" y="42587"/>
                </a:lnTo>
                <a:lnTo>
                  <a:pt x="4824656" y="46768"/>
                </a:lnTo>
                <a:lnTo>
                  <a:pt x="4889210" y="51125"/>
                </a:lnTo>
                <a:lnTo>
                  <a:pt x="4952904" y="55657"/>
                </a:lnTo>
                <a:lnTo>
                  <a:pt x="5015718" y="60361"/>
                </a:lnTo>
                <a:lnTo>
                  <a:pt x="5077632" y="65234"/>
                </a:lnTo>
                <a:lnTo>
                  <a:pt x="5138628" y="70274"/>
                </a:lnTo>
                <a:lnTo>
                  <a:pt x="5198684" y="75478"/>
                </a:lnTo>
                <a:lnTo>
                  <a:pt x="5257781" y="80845"/>
                </a:lnTo>
                <a:lnTo>
                  <a:pt x="5315900" y="86370"/>
                </a:lnTo>
                <a:lnTo>
                  <a:pt x="5373019" y="92053"/>
                </a:lnTo>
                <a:lnTo>
                  <a:pt x="5429120" y="97889"/>
                </a:lnTo>
                <a:lnTo>
                  <a:pt x="5484183" y="103878"/>
                </a:lnTo>
                <a:lnTo>
                  <a:pt x="5538188" y="110016"/>
                </a:lnTo>
                <a:lnTo>
                  <a:pt x="5591114" y="116300"/>
                </a:lnTo>
                <a:lnTo>
                  <a:pt x="5642943" y="122729"/>
                </a:lnTo>
                <a:lnTo>
                  <a:pt x="5693654" y="129300"/>
                </a:lnTo>
                <a:lnTo>
                  <a:pt x="5743227" y="136010"/>
                </a:lnTo>
                <a:lnTo>
                  <a:pt x="5791643" y="142856"/>
                </a:lnTo>
                <a:lnTo>
                  <a:pt x="5838882" y="149837"/>
                </a:lnTo>
                <a:lnTo>
                  <a:pt x="5884923" y="156949"/>
                </a:lnTo>
                <a:lnTo>
                  <a:pt x="5929748" y="164191"/>
                </a:lnTo>
                <a:lnTo>
                  <a:pt x="5973336" y="171559"/>
                </a:lnTo>
                <a:lnTo>
                  <a:pt x="6015667" y="179052"/>
                </a:lnTo>
                <a:lnTo>
                  <a:pt x="6056722" y="186666"/>
                </a:lnTo>
                <a:lnTo>
                  <a:pt x="6096480" y="194399"/>
                </a:lnTo>
                <a:lnTo>
                  <a:pt x="6134923" y="202249"/>
                </a:lnTo>
                <a:lnTo>
                  <a:pt x="6207780" y="218288"/>
                </a:lnTo>
                <a:lnTo>
                  <a:pt x="6275134" y="234764"/>
                </a:lnTo>
                <a:lnTo>
                  <a:pt x="6336827" y="251656"/>
                </a:lnTo>
                <a:lnTo>
                  <a:pt x="6392700" y="268945"/>
                </a:lnTo>
                <a:lnTo>
                  <a:pt x="6442594" y="286609"/>
                </a:lnTo>
                <a:lnTo>
                  <a:pt x="6486350" y="304629"/>
                </a:lnTo>
                <a:lnTo>
                  <a:pt x="6523810" y="322985"/>
                </a:lnTo>
                <a:lnTo>
                  <a:pt x="6567848" y="351105"/>
                </a:lnTo>
                <a:lnTo>
                  <a:pt x="6596826" y="379867"/>
                </a:lnTo>
                <a:lnTo>
                  <a:pt x="6611111" y="419100"/>
                </a:lnTo>
                <a:lnTo>
                  <a:pt x="6610209" y="428992"/>
                </a:lnTo>
                <a:lnTo>
                  <a:pt x="6588873" y="467974"/>
                </a:lnTo>
                <a:lnTo>
                  <a:pt x="6554815" y="496525"/>
                </a:lnTo>
                <a:lnTo>
                  <a:pt x="6505877" y="524411"/>
                </a:lnTo>
                <a:lnTo>
                  <a:pt x="6465249" y="542600"/>
                </a:lnTo>
                <a:lnTo>
                  <a:pt x="6418404" y="560443"/>
                </a:lnTo>
                <a:lnTo>
                  <a:pt x="6365501" y="577920"/>
                </a:lnTo>
                <a:lnTo>
                  <a:pt x="6306698" y="595012"/>
                </a:lnTo>
                <a:lnTo>
                  <a:pt x="6242155" y="611698"/>
                </a:lnTo>
                <a:lnTo>
                  <a:pt x="6172029" y="627958"/>
                </a:lnTo>
                <a:lnTo>
                  <a:pt x="6096480" y="643772"/>
                </a:lnTo>
                <a:lnTo>
                  <a:pt x="6056722" y="651505"/>
                </a:lnTo>
                <a:lnTo>
                  <a:pt x="6015667" y="659120"/>
                </a:lnTo>
                <a:lnTo>
                  <a:pt x="5973336" y="666612"/>
                </a:lnTo>
                <a:lnTo>
                  <a:pt x="5929748" y="673981"/>
                </a:lnTo>
                <a:lnTo>
                  <a:pt x="5884923" y="681223"/>
                </a:lnTo>
                <a:lnTo>
                  <a:pt x="5838882" y="688336"/>
                </a:lnTo>
                <a:lnTo>
                  <a:pt x="5791643" y="695317"/>
                </a:lnTo>
                <a:lnTo>
                  <a:pt x="5743227" y="702164"/>
                </a:lnTo>
                <a:lnTo>
                  <a:pt x="5693654" y="708875"/>
                </a:lnTo>
                <a:lnTo>
                  <a:pt x="5642943" y="715446"/>
                </a:lnTo>
                <a:lnTo>
                  <a:pt x="5591114" y="721876"/>
                </a:lnTo>
                <a:lnTo>
                  <a:pt x="5538188" y="728161"/>
                </a:lnTo>
                <a:lnTo>
                  <a:pt x="5484183" y="734299"/>
                </a:lnTo>
                <a:lnTo>
                  <a:pt x="5429120" y="740289"/>
                </a:lnTo>
                <a:lnTo>
                  <a:pt x="5373019" y="746126"/>
                </a:lnTo>
                <a:lnTo>
                  <a:pt x="5315900" y="751810"/>
                </a:lnTo>
                <a:lnTo>
                  <a:pt x="5257781" y="757336"/>
                </a:lnTo>
                <a:lnTo>
                  <a:pt x="5198684" y="762703"/>
                </a:lnTo>
                <a:lnTo>
                  <a:pt x="5138628" y="767908"/>
                </a:lnTo>
                <a:lnTo>
                  <a:pt x="5077632" y="772949"/>
                </a:lnTo>
                <a:lnTo>
                  <a:pt x="5015718" y="777824"/>
                </a:lnTo>
                <a:lnTo>
                  <a:pt x="4952904" y="782528"/>
                </a:lnTo>
                <a:lnTo>
                  <a:pt x="4889210" y="787061"/>
                </a:lnTo>
                <a:lnTo>
                  <a:pt x="4824656" y="791419"/>
                </a:lnTo>
                <a:lnTo>
                  <a:pt x="4759263" y="795601"/>
                </a:lnTo>
                <a:lnTo>
                  <a:pt x="4693049" y="799603"/>
                </a:lnTo>
                <a:lnTo>
                  <a:pt x="4626035" y="803423"/>
                </a:lnTo>
                <a:lnTo>
                  <a:pt x="4558241" y="807058"/>
                </a:lnTo>
                <a:lnTo>
                  <a:pt x="4489686" y="810507"/>
                </a:lnTo>
                <a:lnTo>
                  <a:pt x="4420390" y="813766"/>
                </a:lnTo>
                <a:lnTo>
                  <a:pt x="4350373" y="816833"/>
                </a:lnTo>
                <a:lnTo>
                  <a:pt x="4279656" y="819705"/>
                </a:lnTo>
                <a:lnTo>
                  <a:pt x="4208257" y="822381"/>
                </a:lnTo>
                <a:lnTo>
                  <a:pt x="4136196" y="824857"/>
                </a:lnTo>
                <a:lnTo>
                  <a:pt x="4063494" y="827131"/>
                </a:lnTo>
                <a:lnTo>
                  <a:pt x="3990171" y="829200"/>
                </a:lnTo>
                <a:lnTo>
                  <a:pt x="3916245" y="831062"/>
                </a:lnTo>
                <a:lnTo>
                  <a:pt x="3841738" y="832714"/>
                </a:lnTo>
                <a:lnTo>
                  <a:pt x="3766668" y="834154"/>
                </a:lnTo>
                <a:lnTo>
                  <a:pt x="3691056" y="835380"/>
                </a:lnTo>
                <a:lnTo>
                  <a:pt x="3614922" y="836388"/>
                </a:lnTo>
                <a:lnTo>
                  <a:pt x="3538285" y="837177"/>
                </a:lnTo>
                <a:lnTo>
                  <a:pt x="3461165" y="837743"/>
                </a:lnTo>
                <a:lnTo>
                  <a:pt x="3383582" y="838085"/>
                </a:lnTo>
                <a:lnTo>
                  <a:pt x="3305555" y="838200"/>
                </a:lnTo>
                <a:lnTo>
                  <a:pt x="3227529" y="838085"/>
                </a:lnTo>
                <a:lnTo>
                  <a:pt x="3149946" y="837743"/>
                </a:lnTo>
                <a:lnTo>
                  <a:pt x="3072826" y="837177"/>
                </a:lnTo>
                <a:lnTo>
                  <a:pt x="2996189" y="836388"/>
                </a:lnTo>
                <a:lnTo>
                  <a:pt x="2920055" y="835380"/>
                </a:lnTo>
                <a:lnTo>
                  <a:pt x="2844443" y="834154"/>
                </a:lnTo>
                <a:lnTo>
                  <a:pt x="2769373" y="832714"/>
                </a:lnTo>
                <a:lnTo>
                  <a:pt x="2694866" y="831062"/>
                </a:lnTo>
                <a:lnTo>
                  <a:pt x="2620940" y="829200"/>
                </a:lnTo>
                <a:lnTo>
                  <a:pt x="2547617" y="827131"/>
                </a:lnTo>
                <a:lnTo>
                  <a:pt x="2474915" y="824857"/>
                </a:lnTo>
                <a:lnTo>
                  <a:pt x="2402854" y="822381"/>
                </a:lnTo>
                <a:lnTo>
                  <a:pt x="2331455" y="819705"/>
                </a:lnTo>
                <a:lnTo>
                  <a:pt x="2260738" y="816833"/>
                </a:lnTo>
                <a:lnTo>
                  <a:pt x="2190721" y="813766"/>
                </a:lnTo>
                <a:lnTo>
                  <a:pt x="2121425" y="810507"/>
                </a:lnTo>
                <a:lnTo>
                  <a:pt x="2052870" y="807058"/>
                </a:lnTo>
                <a:lnTo>
                  <a:pt x="1985076" y="803423"/>
                </a:lnTo>
                <a:lnTo>
                  <a:pt x="1918062" y="799603"/>
                </a:lnTo>
                <a:lnTo>
                  <a:pt x="1851848" y="795601"/>
                </a:lnTo>
                <a:lnTo>
                  <a:pt x="1786455" y="791419"/>
                </a:lnTo>
                <a:lnTo>
                  <a:pt x="1721901" y="787061"/>
                </a:lnTo>
                <a:lnTo>
                  <a:pt x="1658207" y="782528"/>
                </a:lnTo>
                <a:lnTo>
                  <a:pt x="1595393" y="777824"/>
                </a:lnTo>
                <a:lnTo>
                  <a:pt x="1533479" y="772949"/>
                </a:lnTo>
                <a:lnTo>
                  <a:pt x="1472483" y="767908"/>
                </a:lnTo>
                <a:lnTo>
                  <a:pt x="1412427" y="762703"/>
                </a:lnTo>
                <a:lnTo>
                  <a:pt x="1353330" y="757336"/>
                </a:lnTo>
                <a:lnTo>
                  <a:pt x="1295211" y="751810"/>
                </a:lnTo>
                <a:lnTo>
                  <a:pt x="1238092" y="746126"/>
                </a:lnTo>
                <a:lnTo>
                  <a:pt x="1181991" y="740289"/>
                </a:lnTo>
                <a:lnTo>
                  <a:pt x="1126928" y="734299"/>
                </a:lnTo>
                <a:lnTo>
                  <a:pt x="1072923" y="728161"/>
                </a:lnTo>
                <a:lnTo>
                  <a:pt x="1019997" y="721876"/>
                </a:lnTo>
                <a:lnTo>
                  <a:pt x="968168" y="715446"/>
                </a:lnTo>
                <a:lnTo>
                  <a:pt x="917457" y="708875"/>
                </a:lnTo>
                <a:lnTo>
                  <a:pt x="867884" y="702164"/>
                </a:lnTo>
                <a:lnTo>
                  <a:pt x="819468" y="695317"/>
                </a:lnTo>
                <a:lnTo>
                  <a:pt x="772229" y="688336"/>
                </a:lnTo>
                <a:lnTo>
                  <a:pt x="726188" y="681223"/>
                </a:lnTo>
                <a:lnTo>
                  <a:pt x="681363" y="673981"/>
                </a:lnTo>
                <a:lnTo>
                  <a:pt x="637775" y="666612"/>
                </a:lnTo>
                <a:lnTo>
                  <a:pt x="595444" y="659120"/>
                </a:lnTo>
                <a:lnTo>
                  <a:pt x="554389" y="651505"/>
                </a:lnTo>
                <a:lnTo>
                  <a:pt x="514631" y="643772"/>
                </a:lnTo>
                <a:lnTo>
                  <a:pt x="476188" y="635922"/>
                </a:lnTo>
                <a:lnTo>
                  <a:pt x="403331" y="619882"/>
                </a:lnTo>
                <a:lnTo>
                  <a:pt x="335977" y="603407"/>
                </a:lnTo>
                <a:lnTo>
                  <a:pt x="274284" y="586515"/>
                </a:lnTo>
                <a:lnTo>
                  <a:pt x="218411" y="569228"/>
                </a:lnTo>
                <a:lnTo>
                  <a:pt x="168517" y="551566"/>
                </a:lnTo>
                <a:lnTo>
                  <a:pt x="124761" y="533547"/>
                </a:lnTo>
                <a:lnTo>
                  <a:pt x="87301" y="515194"/>
                </a:lnTo>
                <a:lnTo>
                  <a:pt x="43263" y="487078"/>
                </a:lnTo>
                <a:lnTo>
                  <a:pt x="14285" y="458322"/>
                </a:lnTo>
                <a:lnTo>
                  <a:pt x="0" y="419100"/>
                </a:lnTo>
                <a:close/>
              </a:path>
            </a:pathLst>
          </a:custGeom>
          <a:ln w="3810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95972" y="5082794"/>
            <a:ext cx="347980" cy="1109980"/>
          </a:xfrm>
          <a:custGeom>
            <a:avLst/>
            <a:gdLst/>
            <a:ahLst/>
            <a:cxnLst/>
            <a:rect l="l" t="t" r="r" b="b"/>
            <a:pathLst>
              <a:path w="347980" h="1109979">
                <a:moveTo>
                  <a:pt x="0" y="984592"/>
                </a:moveTo>
                <a:lnTo>
                  <a:pt x="24701" y="1109979"/>
                </a:lnTo>
                <a:lnTo>
                  <a:pt x="102778" y="1023226"/>
                </a:lnTo>
                <a:lnTo>
                  <a:pt x="68389" y="1023226"/>
                </a:lnTo>
                <a:lnTo>
                  <a:pt x="31661" y="1013091"/>
                </a:lnTo>
                <a:lnTo>
                  <a:pt x="36727" y="994727"/>
                </a:lnTo>
                <a:lnTo>
                  <a:pt x="0" y="984592"/>
                </a:lnTo>
                <a:close/>
              </a:path>
              <a:path w="347980" h="1109979">
                <a:moveTo>
                  <a:pt x="36727" y="994727"/>
                </a:moveTo>
                <a:lnTo>
                  <a:pt x="31661" y="1013091"/>
                </a:lnTo>
                <a:lnTo>
                  <a:pt x="68389" y="1023226"/>
                </a:lnTo>
                <a:lnTo>
                  <a:pt x="73455" y="1004861"/>
                </a:lnTo>
                <a:lnTo>
                  <a:pt x="36727" y="994727"/>
                </a:lnTo>
                <a:close/>
              </a:path>
              <a:path w="347980" h="1109979">
                <a:moveTo>
                  <a:pt x="73455" y="1004861"/>
                </a:moveTo>
                <a:lnTo>
                  <a:pt x="68389" y="1023226"/>
                </a:lnTo>
                <a:lnTo>
                  <a:pt x="102778" y="1023226"/>
                </a:lnTo>
                <a:lnTo>
                  <a:pt x="110185" y="1014996"/>
                </a:lnTo>
                <a:lnTo>
                  <a:pt x="73455" y="1004861"/>
                </a:lnTo>
                <a:close/>
              </a:path>
              <a:path w="347980" h="1109979">
                <a:moveTo>
                  <a:pt x="311137" y="0"/>
                </a:moveTo>
                <a:lnTo>
                  <a:pt x="36727" y="994727"/>
                </a:lnTo>
                <a:lnTo>
                  <a:pt x="73455" y="1004861"/>
                </a:lnTo>
                <a:lnTo>
                  <a:pt x="347865" y="10159"/>
                </a:lnTo>
                <a:lnTo>
                  <a:pt x="311137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34974" y="5679909"/>
            <a:ext cx="1188720" cy="521970"/>
          </a:xfrm>
          <a:custGeom>
            <a:avLst/>
            <a:gdLst/>
            <a:ahLst/>
            <a:cxnLst/>
            <a:rect l="l" t="t" r="r" b="b"/>
            <a:pathLst>
              <a:path w="1188720" h="521970">
                <a:moveTo>
                  <a:pt x="83299" y="415950"/>
                </a:moveTo>
                <a:lnTo>
                  <a:pt x="0" y="512864"/>
                </a:lnTo>
                <a:lnTo>
                  <a:pt x="127507" y="521360"/>
                </a:lnTo>
                <a:lnTo>
                  <a:pt x="115864" y="493598"/>
                </a:lnTo>
                <a:lnTo>
                  <a:pt x="95199" y="493598"/>
                </a:lnTo>
                <a:lnTo>
                  <a:pt x="80467" y="458457"/>
                </a:lnTo>
                <a:lnTo>
                  <a:pt x="98036" y="451089"/>
                </a:lnTo>
                <a:lnTo>
                  <a:pt x="83299" y="415950"/>
                </a:lnTo>
                <a:close/>
              </a:path>
              <a:path w="1188720" h="521970">
                <a:moveTo>
                  <a:pt x="98036" y="451089"/>
                </a:moveTo>
                <a:lnTo>
                  <a:pt x="80467" y="458457"/>
                </a:lnTo>
                <a:lnTo>
                  <a:pt x="95199" y="493598"/>
                </a:lnTo>
                <a:lnTo>
                  <a:pt x="112773" y="486228"/>
                </a:lnTo>
                <a:lnTo>
                  <a:pt x="98036" y="451089"/>
                </a:lnTo>
                <a:close/>
              </a:path>
              <a:path w="1188720" h="521970">
                <a:moveTo>
                  <a:pt x="112773" y="486228"/>
                </a:moveTo>
                <a:lnTo>
                  <a:pt x="95199" y="493598"/>
                </a:lnTo>
                <a:lnTo>
                  <a:pt x="115864" y="493598"/>
                </a:lnTo>
                <a:lnTo>
                  <a:pt x="112773" y="486228"/>
                </a:lnTo>
                <a:close/>
              </a:path>
              <a:path w="1188720" h="521970">
                <a:moveTo>
                  <a:pt x="1173733" y="0"/>
                </a:moveTo>
                <a:lnTo>
                  <a:pt x="98036" y="451089"/>
                </a:lnTo>
                <a:lnTo>
                  <a:pt x="112773" y="486228"/>
                </a:lnTo>
                <a:lnTo>
                  <a:pt x="1188465" y="35128"/>
                </a:lnTo>
                <a:lnTo>
                  <a:pt x="117373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59740" y="6099149"/>
            <a:ext cx="842644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不变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554473" y="5735573"/>
            <a:ext cx="952500" cy="3992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554473" y="5735573"/>
            <a:ext cx="952500" cy="399415"/>
          </a:xfrm>
          <a:custGeom>
            <a:avLst/>
            <a:gdLst/>
            <a:ahLst/>
            <a:cxnLst/>
            <a:rect l="l" t="t" r="r" b="b"/>
            <a:pathLst>
              <a:path w="952500" h="399414">
                <a:moveTo>
                  <a:pt x="0" y="299466"/>
                </a:moveTo>
                <a:lnTo>
                  <a:pt x="238125" y="299466"/>
                </a:lnTo>
                <a:lnTo>
                  <a:pt x="238125" y="0"/>
                </a:lnTo>
                <a:lnTo>
                  <a:pt x="714375" y="0"/>
                </a:lnTo>
                <a:lnTo>
                  <a:pt x="714375" y="299466"/>
                </a:lnTo>
                <a:lnTo>
                  <a:pt x="952500" y="299466"/>
                </a:lnTo>
                <a:lnTo>
                  <a:pt x="476250" y="399288"/>
                </a:lnTo>
                <a:lnTo>
                  <a:pt x="0" y="29946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861052" y="6137859"/>
            <a:ext cx="3556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115311" y="6560819"/>
            <a:ext cx="601980" cy="279400"/>
          </a:xfrm>
          <a:custGeom>
            <a:avLst/>
            <a:gdLst/>
            <a:ahLst/>
            <a:cxnLst/>
            <a:rect l="l" t="t" r="r" b="b"/>
            <a:pathLst>
              <a:path w="601980" h="279400">
                <a:moveTo>
                  <a:pt x="601980" y="0"/>
                </a:moveTo>
                <a:lnTo>
                  <a:pt x="0" y="0"/>
                </a:lnTo>
                <a:lnTo>
                  <a:pt x="0" y="278891"/>
                </a:lnTo>
                <a:lnTo>
                  <a:pt x="601980" y="278891"/>
                </a:lnTo>
                <a:lnTo>
                  <a:pt x="601980" y="244030"/>
                </a:lnTo>
                <a:lnTo>
                  <a:pt x="196469" y="244030"/>
                </a:lnTo>
                <a:lnTo>
                  <a:pt x="196469" y="34861"/>
                </a:lnTo>
                <a:lnTo>
                  <a:pt x="601980" y="34861"/>
                </a:lnTo>
                <a:lnTo>
                  <a:pt x="601980" y="0"/>
                </a:lnTo>
                <a:close/>
              </a:path>
              <a:path w="601980" h="279400">
                <a:moveTo>
                  <a:pt x="601980" y="34861"/>
                </a:moveTo>
                <a:lnTo>
                  <a:pt x="196469" y="34861"/>
                </a:lnTo>
                <a:lnTo>
                  <a:pt x="405511" y="139445"/>
                </a:lnTo>
                <a:lnTo>
                  <a:pt x="196469" y="244030"/>
                </a:lnTo>
                <a:lnTo>
                  <a:pt x="601980" y="244030"/>
                </a:lnTo>
                <a:lnTo>
                  <a:pt x="601980" y="34861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311780" y="6595681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0" y="209168"/>
                </a:lnTo>
                <a:lnTo>
                  <a:pt x="209042" y="104584"/>
                </a:lnTo>
                <a:lnTo>
                  <a:pt x="0" y="0"/>
                </a:lnTo>
                <a:close/>
              </a:path>
            </a:pathLst>
          </a:custGeom>
          <a:solidFill>
            <a:srgbClr val="9999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223261" y="6592316"/>
            <a:ext cx="3854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" b="1">
                <a:latin typeface="宋体"/>
                <a:cs typeface="宋体"/>
                <a:hlinkClick r:id="rId6" action="ppaction://hlinksldjump"/>
              </a:rPr>
              <a:t>返回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37428" y="520953"/>
            <a:ext cx="332041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若数组下标下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限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56210" y="2754629"/>
            <a:ext cx="1249680" cy="14950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56210" y="2754629"/>
            <a:ext cx="1249680" cy="1495425"/>
          </a:xfrm>
          <a:custGeom>
            <a:avLst/>
            <a:gdLst/>
            <a:ahLst/>
            <a:cxnLst/>
            <a:rect l="l" t="t" r="r" b="b"/>
            <a:pathLst>
              <a:path w="1249680" h="1495425">
                <a:moveTo>
                  <a:pt x="0" y="1121537"/>
                </a:moveTo>
                <a:lnTo>
                  <a:pt x="312420" y="1121537"/>
                </a:lnTo>
                <a:lnTo>
                  <a:pt x="312420" y="0"/>
                </a:lnTo>
                <a:lnTo>
                  <a:pt x="937260" y="0"/>
                </a:lnTo>
                <a:lnTo>
                  <a:pt x="937260" y="1121537"/>
                </a:lnTo>
                <a:lnTo>
                  <a:pt x="1249680" y="1121537"/>
                </a:lnTo>
                <a:lnTo>
                  <a:pt x="624840" y="1495044"/>
                </a:lnTo>
                <a:lnTo>
                  <a:pt x="0" y="1121537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63676" y="2666621"/>
            <a:ext cx="433070" cy="1294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100"/>
              </a:lnSpc>
              <a:spcBef>
                <a:spcPts val="100"/>
              </a:spcBef>
            </a:pPr>
            <a:r>
              <a:rPr dirty="0" sz="3200" spc="-5" b="1">
                <a:latin typeface="宋体"/>
                <a:cs typeface="宋体"/>
              </a:rPr>
              <a:t>变 </a:t>
            </a:r>
            <a:r>
              <a:rPr dirty="0" sz="3200" spc="-10" b="1">
                <a:latin typeface="宋体"/>
                <a:cs typeface="宋体"/>
              </a:rPr>
              <a:t>换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176006" y="6678574"/>
            <a:ext cx="8064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spc="-45" b="1">
                <a:solidFill>
                  <a:srgbClr val="FFFFFF"/>
                </a:solidFill>
                <a:latin typeface="Times New Roman"/>
                <a:cs typeface="Times New Roman"/>
              </a:rPr>
              <a:t>111</a:t>
            </a:r>
            <a:r>
              <a:rPr dirty="0" sz="1400" spc="2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07847" y="26923"/>
            <a:ext cx="4168140" cy="1201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81355" algn="l"/>
                <a:tab pos="38100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600">
              <a:latin typeface="Times New Roman"/>
              <a:cs typeface="Times New Roman"/>
            </a:endParaRPr>
          </a:p>
          <a:p>
            <a:pPr marL="290830">
              <a:lnSpc>
                <a:spcPct val="100000"/>
              </a:lnSpc>
            </a:pP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a[i</a:t>
            </a:r>
            <a:r>
              <a:rPr dirty="0" baseline="-15873" sz="3150" spc="7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]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[i</a:t>
            </a:r>
            <a:r>
              <a:rPr dirty="0" baseline="-15873" sz="3150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] … 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[i</a:t>
            </a:r>
            <a:r>
              <a:rPr dirty="0" baseline="-15873" sz="3150" spc="7" b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]</a:t>
            </a:r>
            <a:r>
              <a:rPr dirty="0" sz="3200" spc="-8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baseline="-15873" sz="3150" spc="22" b="1">
                <a:solidFill>
                  <a:srgbClr val="FFFF00"/>
                </a:solidFill>
                <a:latin typeface="Times New Roman"/>
                <a:cs typeface="Times New Roman"/>
              </a:rPr>
              <a:t>add</a:t>
            </a:r>
            <a:endParaRPr baseline="-15873" sz="31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1761" y="1562861"/>
            <a:ext cx="8554720" cy="1620520"/>
          </a:xfrm>
          <a:custGeom>
            <a:avLst/>
            <a:gdLst/>
            <a:ahLst/>
            <a:cxnLst/>
            <a:rect l="l" t="t" r="r" b="b"/>
            <a:pathLst>
              <a:path w="8554720" h="1620520">
                <a:moveTo>
                  <a:pt x="0" y="1620012"/>
                </a:moveTo>
                <a:lnTo>
                  <a:pt x="8554212" y="1620012"/>
                </a:lnTo>
                <a:lnTo>
                  <a:pt x="8554212" y="0"/>
                </a:lnTo>
                <a:lnTo>
                  <a:pt x="0" y="0"/>
                </a:lnTo>
                <a:lnTo>
                  <a:pt x="0" y="1620012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24331" y="1305915"/>
            <a:ext cx="8159115" cy="1537970"/>
          </a:xfrm>
          <a:prstGeom prst="rect">
            <a:avLst/>
          </a:prstGeom>
        </p:spPr>
        <p:txBody>
          <a:bodyPr wrap="square" lIns="0" tIns="28067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2210"/>
              </a:spcBef>
              <a:tabLst>
                <a:tab pos="486409" algn="l"/>
                <a:tab pos="1027430" algn="l"/>
                <a:tab pos="2499995" algn="l"/>
                <a:tab pos="4925060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=	</a:t>
            </a:r>
            <a:r>
              <a:rPr dirty="0" sz="3200" spc="10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15873" sz="3150" spc="15" b="1">
                <a:solidFill>
                  <a:srgbClr val="FFFF00"/>
                </a:solidFill>
                <a:latin typeface="Times New Roman"/>
                <a:cs typeface="Times New Roman"/>
              </a:rPr>
              <a:t>0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+ </a:t>
            </a:r>
            <a:r>
              <a:rPr dirty="0" sz="3200" spc="5" b="1">
                <a:solidFill>
                  <a:srgbClr val="FF66FF"/>
                </a:solidFill>
                <a:latin typeface="Times New Roman"/>
                <a:cs typeface="Times New Roman"/>
              </a:rPr>
              <a:t>i</a:t>
            </a:r>
            <a:r>
              <a:rPr dirty="0" baseline="-15873" sz="3150" spc="7" b="1">
                <a:solidFill>
                  <a:srgbClr val="FF66FF"/>
                </a:solidFill>
                <a:latin typeface="Times New Roman"/>
                <a:cs typeface="Times New Roman"/>
              </a:rPr>
              <a:t>1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3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… d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-15873" sz="3150" spc="37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66FF"/>
                </a:solidFill>
                <a:latin typeface="Times New Roman"/>
                <a:cs typeface="Times New Roman"/>
              </a:rPr>
              <a:t>i</a:t>
            </a:r>
            <a:r>
              <a:rPr dirty="0" baseline="-15873" sz="3150" spc="7" b="1">
                <a:solidFill>
                  <a:srgbClr val="FF66FF"/>
                </a:solidFill>
                <a:latin typeface="Times New Roman"/>
                <a:cs typeface="Times New Roman"/>
              </a:rPr>
              <a:t>2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4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…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+…+</a:t>
            </a:r>
            <a:r>
              <a:rPr dirty="0" sz="3200" spc="5" b="1">
                <a:solidFill>
                  <a:srgbClr val="FF66FF"/>
                </a:solidFill>
                <a:latin typeface="Times New Roman"/>
                <a:cs typeface="Times New Roman"/>
              </a:rPr>
              <a:t>i</a:t>
            </a:r>
            <a:r>
              <a:rPr dirty="0" baseline="-15873" sz="3150" spc="7" b="1">
                <a:solidFill>
                  <a:srgbClr val="FF66FF"/>
                </a:solidFill>
                <a:latin typeface="Times New Roman"/>
                <a:cs typeface="Times New Roman"/>
              </a:rPr>
              <a:t>n-1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spc="7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-15873" sz="3150" spc="-97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200" spc="5" b="1">
                <a:solidFill>
                  <a:srgbClr val="FF66FF"/>
                </a:solidFill>
                <a:latin typeface="Times New Roman"/>
                <a:cs typeface="Times New Roman"/>
              </a:rPr>
              <a:t>i</a:t>
            </a:r>
            <a:r>
              <a:rPr dirty="0" baseline="-15873" sz="3150" spc="7" b="1">
                <a:solidFill>
                  <a:srgbClr val="FF66FF"/>
                </a:solidFill>
                <a:latin typeface="Times New Roman"/>
                <a:cs typeface="Times New Roman"/>
              </a:rPr>
              <a:t>n</a:t>
            </a:r>
            <a:endParaRPr baseline="-15873" sz="3150">
              <a:latin typeface="Times New Roman"/>
              <a:cs typeface="Times New Roman"/>
            </a:endParaRPr>
          </a:p>
          <a:p>
            <a:pPr marL="965200">
              <a:lnSpc>
                <a:spcPct val="100000"/>
              </a:lnSpc>
              <a:spcBef>
                <a:spcPts val="2115"/>
              </a:spcBef>
              <a:tabLst>
                <a:tab pos="1372235" algn="l"/>
                <a:tab pos="2397760" algn="l"/>
                <a:tab pos="447421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–	(d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3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-15873" sz="3150" spc="37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4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… d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n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+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32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+d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+1)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29561" y="1448561"/>
            <a:ext cx="7297420" cy="896619"/>
          </a:xfrm>
          <a:custGeom>
            <a:avLst/>
            <a:gdLst/>
            <a:ahLst/>
            <a:cxnLst/>
            <a:rect l="l" t="t" r="r" b="b"/>
            <a:pathLst>
              <a:path w="7297420" h="896619">
                <a:moveTo>
                  <a:pt x="0" y="448055"/>
                </a:moveTo>
                <a:lnTo>
                  <a:pt x="13048" y="409900"/>
                </a:lnTo>
                <a:lnTo>
                  <a:pt x="39558" y="381858"/>
                </a:lnTo>
                <a:lnTo>
                  <a:pt x="79909" y="354369"/>
                </a:lnTo>
                <a:lnTo>
                  <a:pt x="114279" y="336378"/>
                </a:lnTo>
                <a:lnTo>
                  <a:pt x="154472" y="318672"/>
                </a:lnTo>
                <a:lnTo>
                  <a:pt x="200355" y="301269"/>
                </a:lnTo>
                <a:lnTo>
                  <a:pt x="251798" y="284185"/>
                </a:lnTo>
                <a:lnTo>
                  <a:pt x="308668" y="267436"/>
                </a:lnTo>
                <a:lnTo>
                  <a:pt x="370834" y="251037"/>
                </a:lnTo>
                <a:lnTo>
                  <a:pt x="438164" y="235006"/>
                </a:lnTo>
                <a:lnTo>
                  <a:pt x="510526" y="219358"/>
                </a:lnTo>
                <a:lnTo>
                  <a:pt x="548553" y="211683"/>
                </a:lnTo>
                <a:lnTo>
                  <a:pt x="587789" y="204110"/>
                </a:lnTo>
                <a:lnTo>
                  <a:pt x="628218" y="196641"/>
                </a:lnTo>
                <a:lnTo>
                  <a:pt x="669822" y="189278"/>
                </a:lnTo>
                <a:lnTo>
                  <a:pt x="712586" y="182022"/>
                </a:lnTo>
                <a:lnTo>
                  <a:pt x="756493" y="174877"/>
                </a:lnTo>
                <a:lnTo>
                  <a:pt x="801526" y="167844"/>
                </a:lnTo>
                <a:lnTo>
                  <a:pt x="847669" y="160925"/>
                </a:lnTo>
                <a:lnTo>
                  <a:pt x="894906" y="154122"/>
                </a:lnTo>
                <a:lnTo>
                  <a:pt x="943220" y="147437"/>
                </a:lnTo>
                <a:lnTo>
                  <a:pt x="992594" y="140872"/>
                </a:lnTo>
                <a:lnTo>
                  <a:pt x="1043013" y="134429"/>
                </a:lnTo>
                <a:lnTo>
                  <a:pt x="1094460" y="128110"/>
                </a:lnTo>
                <a:lnTo>
                  <a:pt x="1146918" y="121918"/>
                </a:lnTo>
                <a:lnTo>
                  <a:pt x="1200371" y="115854"/>
                </a:lnTo>
                <a:lnTo>
                  <a:pt x="1254802" y="109920"/>
                </a:lnTo>
                <a:lnTo>
                  <a:pt x="1310196" y="104118"/>
                </a:lnTo>
                <a:lnTo>
                  <a:pt x="1366534" y="98451"/>
                </a:lnTo>
                <a:lnTo>
                  <a:pt x="1423802" y="92920"/>
                </a:lnTo>
                <a:lnTo>
                  <a:pt x="1481983" y="87527"/>
                </a:lnTo>
                <a:lnTo>
                  <a:pt x="1541059" y="82275"/>
                </a:lnTo>
                <a:lnTo>
                  <a:pt x="1601016" y="77164"/>
                </a:lnTo>
                <a:lnTo>
                  <a:pt x="1661835" y="72199"/>
                </a:lnTo>
                <a:lnTo>
                  <a:pt x="1723501" y="67380"/>
                </a:lnTo>
                <a:lnTo>
                  <a:pt x="1785998" y="62709"/>
                </a:lnTo>
                <a:lnTo>
                  <a:pt x="1849309" y="58189"/>
                </a:lnTo>
                <a:lnTo>
                  <a:pt x="1913417" y="53821"/>
                </a:lnTo>
                <a:lnTo>
                  <a:pt x="1978306" y="49607"/>
                </a:lnTo>
                <a:lnTo>
                  <a:pt x="2043959" y="45551"/>
                </a:lnTo>
                <a:lnTo>
                  <a:pt x="2110361" y="41652"/>
                </a:lnTo>
                <a:lnTo>
                  <a:pt x="2177494" y="37915"/>
                </a:lnTo>
                <a:lnTo>
                  <a:pt x="2245342" y="34340"/>
                </a:lnTo>
                <a:lnTo>
                  <a:pt x="2313889" y="30929"/>
                </a:lnTo>
                <a:lnTo>
                  <a:pt x="2383118" y="27686"/>
                </a:lnTo>
                <a:lnTo>
                  <a:pt x="2453013" y="24611"/>
                </a:lnTo>
                <a:lnTo>
                  <a:pt x="2523558" y="21706"/>
                </a:lnTo>
                <a:lnTo>
                  <a:pt x="2594735" y="18975"/>
                </a:lnTo>
                <a:lnTo>
                  <a:pt x="2666529" y="16418"/>
                </a:lnTo>
                <a:lnTo>
                  <a:pt x="2738922" y="14037"/>
                </a:lnTo>
                <a:lnTo>
                  <a:pt x="2811899" y="11836"/>
                </a:lnTo>
                <a:lnTo>
                  <a:pt x="2885444" y="9815"/>
                </a:lnTo>
                <a:lnTo>
                  <a:pt x="2959539" y="7978"/>
                </a:lnTo>
                <a:lnTo>
                  <a:pt x="3034168" y="6325"/>
                </a:lnTo>
                <a:lnTo>
                  <a:pt x="3109314" y="4859"/>
                </a:lnTo>
                <a:lnTo>
                  <a:pt x="3184962" y="3582"/>
                </a:lnTo>
                <a:lnTo>
                  <a:pt x="3261095" y="2496"/>
                </a:lnTo>
                <a:lnTo>
                  <a:pt x="3337696" y="1602"/>
                </a:lnTo>
                <a:lnTo>
                  <a:pt x="3414750" y="904"/>
                </a:lnTo>
                <a:lnTo>
                  <a:pt x="3492238" y="403"/>
                </a:lnTo>
                <a:lnTo>
                  <a:pt x="3570145" y="101"/>
                </a:lnTo>
                <a:lnTo>
                  <a:pt x="3648455" y="0"/>
                </a:lnTo>
                <a:lnTo>
                  <a:pt x="3726766" y="101"/>
                </a:lnTo>
                <a:lnTo>
                  <a:pt x="3804673" y="403"/>
                </a:lnTo>
                <a:lnTo>
                  <a:pt x="3882161" y="904"/>
                </a:lnTo>
                <a:lnTo>
                  <a:pt x="3959215" y="1602"/>
                </a:lnTo>
                <a:lnTo>
                  <a:pt x="4035816" y="2496"/>
                </a:lnTo>
                <a:lnTo>
                  <a:pt x="4111949" y="3582"/>
                </a:lnTo>
                <a:lnTo>
                  <a:pt x="4187597" y="4859"/>
                </a:lnTo>
                <a:lnTo>
                  <a:pt x="4262743" y="6325"/>
                </a:lnTo>
                <a:lnTo>
                  <a:pt x="4337372" y="7978"/>
                </a:lnTo>
                <a:lnTo>
                  <a:pt x="4411467" y="9815"/>
                </a:lnTo>
                <a:lnTo>
                  <a:pt x="4485012" y="11836"/>
                </a:lnTo>
                <a:lnTo>
                  <a:pt x="4557989" y="14037"/>
                </a:lnTo>
                <a:lnTo>
                  <a:pt x="4630382" y="16418"/>
                </a:lnTo>
                <a:lnTo>
                  <a:pt x="4702176" y="18975"/>
                </a:lnTo>
                <a:lnTo>
                  <a:pt x="4773353" y="21706"/>
                </a:lnTo>
                <a:lnTo>
                  <a:pt x="4843898" y="24611"/>
                </a:lnTo>
                <a:lnTo>
                  <a:pt x="4913793" y="27686"/>
                </a:lnTo>
                <a:lnTo>
                  <a:pt x="4983022" y="30929"/>
                </a:lnTo>
                <a:lnTo>
                  <a:pt x="5051569" y="34340"/>
                </a:lnTo>
                <a:lnTo>
                  <a:pt x="5119417" y="37915"/>
                </a:lnTo>
                <a:lnTo>
                  <a:pt x="5186550" y="41652"/>
                </a:lnTo>
                <a:lnTo>
                  <a:pt x="5252952" y="45551"/>
                </a:lnTo>
                <a:lnTo>
                  <a:pt x="5318605" y="49607"/>
                </a:lnTo>
                <a:lnTo>
                  <a:pt x="5383494" y="53821"/>
                </a:lnTo>
                <a:lnTo>
                  <a:pt x="5447602" y="58189"/>
                </a:lnTo>
                <a:lnTo>
                  <a:pt x="5510913" y="62709"/>
                </a:lnTo>
                <a:lnTo>
                  <a:pt x="5573410" y="67380"/>
                </a:lnTo>
                <a:lnTo>
                  <a:pt x="5635076" y="72199"/>
                </a:lnTo>
                <a:lnTo>
                  <a:pt x="5695895" y="77164"/>
                </a:lnTo>
                <a:lnTo>
                  <a:pt x="5755852" y="82275"/>
                </a:lnTo>
                <a:lnTo>
                  <a:pt x="5814928" y="87527"/>
                </a:lnTo>
                <a:lnTo>
                  <a:pt x="5873109" y="92920"/>
                </a:lnTo>
                <a:lnTo>
                  <a:pt x="5930377" y="98451"/>
                </a:lnTo>
                <a:lnTo>
                  <a:pt x="5986715" y="104118"/>
                </a:lnTo>
                <a:lnTo>
                  <a:pt x="6042109" y="109920"/>
                </a:lnTo>
                <a:lnTo>
                  <a:pt x="6096540" y="115854"/>
                </a:lnTo>
                <a:lnTo>
                  <a:pt x="6149993" y="121918"/>
                </a:lnTo>
                <a:lnTo>
                  <a:pt x="6202451" y="128110"/>
                </a:lnTo>
                <a:lnTo>
                  <a:pt x="6253898" y="134429"/>
                </a:lnTo>
                <a:lnTo>
                  <a:pt x="6304317" y="140872"/>
                </a:lnTo>
                <a:lnTo>
                  <a:pt x="6353691" y="147437"/>
                </a:lnTo>
                <a:lnTo>
                  <a:pt x="6402005" y="154122"/>
                </a:lnTo>
                <a:lnTo>
                  <a:pt x="6449242" y="160925"/>
                </a:lnTo>
                <a:lnTo>
                  <a:pt x="6495385" y="167844"/>
                </a:lnTo>
                <a:lnTo>
                  <a:pt x="6540418" y="174877"/>
                </a:lnTo>
                <a:lnTo>
                  <a:pt x="6584325" y="182022"/>
                </a:lnTo>
                <a:lnTo>
                  <a:pt x="6627089" y="189278"/>
                </a:lnTo>
                <a:lnTo>
                  <a:pt x="6668693" y="196641"/>
                </a:lnTo>
                <a:lnTo>
                  <a:pt x="6709122" y="204110"/>
                </a:lnTo>
                <a:lnTo>
                  <a:pt x="6748358" y="211683"/>
                </a:lnTo>
                <a:lnTo>
                  <a:pt x="6786385" y="219358"/>
                </a:lnTo>
                <a:lnTo>
                  <a:pt x="6858747" y="235006"/>
                </a:lnTo>
                <a:lnTo>
                  <a:pt x="6926077" y="251037"/>
                </a:lnTo>
                <a:lnTo>
                  <a:pt x="6988243" y="267436"/>
                </a:lnTo>
                <a:lnTo>
                  <a:pt x="7045113" y="284185"/>
                </a:lnTo>
                <a:lnTo>
                  <a:pt x="7096556" y="301269"/>
                </a:lnTo>
                <a:lnTo>
                  <a:pt x="7142439" y="318672"/>
                </a:lnTo>
                <a:lnTo>
                  <a:pt x="7182632" y="336378"/>
                </a:lnTo>
                <a:lnTo>
                  <a:pt x="7217002" y="354369"/>
                </a:lnTo>
                <a:lnTo>
                  <a:pt x="7257353" y="381858"/>
                </a:lnTo>
                <a:lnTo>
                  <a:pt x="7283863" y="409900"/>
                </a:lnTo>
                <a:lnTo>
                  <a:pt x="7296911" y="448055"/>
                </a:lnTo>
                <a:lnTo>
                  <a:pt x="7296088" y="457670"/>
                </a:lnTo>
                <a:lnTo>
                  <a:pt x="7276591" y="495616"/>
                </a:lnTo>
                <a:lnTo>
                  <a:pt x="7245418" y="523480"/>
                </a:lnTo>
                <a:lnTo>
                  <a:pt x="7200553" y="550772"/>
                </a:lnTo>
                <a:lnTo>
                  <a:pt x="7163255" y="568623"/>
                </a:lnTo>
                <a:lnTo>
                  <a:pt x="7120200" y="586179"/>
                </a:lnTo>
                <a:lnTo>
                  <a:pt x="7071521" y="603425"/>
                </a:lnTo>
                <a:lnTo>
                  <a:pt x="7017348" y="620343"/>
                </a:lnTo>
                <a:lnTo>
                  <a:pt x="6957814" y="636919"/>
                </a:lnTo>
                <a:lnTo>
                  <a:pt x="6893050" y="653136"/>
                </a:lnTo>
                <a:lnTo>
                  <a:pt x="6823187" y="668978"/>
                </a:lnTo>
                <a:lnTo>
                  <a:pt x="6748358" y="684428"/>
                </a:lnTo>
                <a:lnTo>
                  <a:pt x="6709122" y="692001"/>
                </a:lnTo>
                <a:lnTo>
                  <a:pt x="6668693" y="699470"/>
                </a:lnTo>
                <a:lnTo>
                  <a:pt x="6627089" y="706833"/>
                </a:lnTo>
                <a:lnTo>
                  <a:pt x="6584325" y="714089"/>
                </a:lnTo>
                <a:lnTo>
                  <a:pt x="6540418" y="721234"/>
                </a:lnTo>
                <a:lnTo>
                  <a:pt x="6495385" y="728267"/>
                </a:lnTo>
                <a:lnTo>
                  <a:pt x="6449242" y="735186"/>
                </a:lnTo>
                <a:lnTo>
                  <a:pt x="6402005" y="741989"/>
                </a:lnTo>
                <a:lnTo>
                  <a:pt x="6353691" y="748674"/>
                </a:lnTo>
                <a:lnTo>
                  <a:pt x="6304317" y="755239"/>
                </a:lnTo>
                <a:lnTo>
                  <a:pt x="6253898" y="761682"/>
                </a:lnTo>
                <a:lnTo>
                  <a:pt x="6202451" y="768001"/>
                </a:lnTo>
                <a:lnTo>
                  <a:pt x="6149993" y="774193"/>
                </a:lnTo>
                <a:lnTo>
                  <a:pt x="6096540" y="780257"/>
                </a:lnTo>
                <a:lnTo>
                  <a:pt x="6042109" y="786191"/>
                </a:lnTo>
                <a:lnTo>
                  <a:pt x="5986715" y="791993"/>
                </a:lnTo>
                <a:lnTo>
                  <a:pt x="5930377" y="797660"/>
                </a:lnTo>
                <a:lnTo>
                  <a:pt x="5873109" y="803191"/>
                </a:lnTo>
                <a:lnTo>
                  <a:pt x="5814928" y="808584"/>
                </a:lnTo>
                <a:lnTo>
                  <a:pt x="5755852" y="813836"/>
                </a:lnTo>
                <a:lnTo>
                  <a:pt x="5695895" y="818947"/>
                </a:lnTo>
                <a:lnTo>
                  <a:pt x="5635076" y="823912"/>
                </a:lnTo>
                <a:lnTo>
                  <a:pt x="5573410" y="828731"/>
                </a:lnTo>
                <a:lnTo>
                  <a:pt x="5510913" y="833402"/>
                </a:lnTo>
                <a:lnTo>
                  <a:pt x="5447602" y="837922"/>
                </a:lnTo>
                <a:lnTo>
                  <a:pt x="5383494" y="842290"/>
                </a:lnTo>
                <a:lnTo>
                  <a:pt x="5318605" y="846504"/>
                </a:lnTo>
                <a:lnTo>
                  <a:pt x="5252952" y="850560"/>
                </a:lnTo>
                <a:lnTo>
                  <a:pt x="5186550" y="854459"/>
                </a:lnTo>
                <a:lnTo>
                  <a:pt x="5119417" y="858196"/>
                </a:lnTo>
                <a:lnTo>
                  <a:pt x="5051569" y="861771"/>
                </a:lnTo>
                <a:lnTo>
                  <a:pt x="4983022" y="865182"/>
                </a:lnTo>
                <a:lnTo>
                  <a:pt x="4913793" y="868425"/>
                </a:lnTo>
                <a:lnTo>
                  <a:pt x="4843898" y="871500"/>
                </a:lnTo>
                <a:lnTo>
                  <a:pt x="4773353" y="874405"/>
                </a:lnTo>
                <a:lnTo>
                  <a:pt x="4702176" y="877136"/>
                </a:lnTo>
                <a:lnTo>
                  <a:pt x="4630382" y="879693"/>
                </a:lnTo>
                <a:lnTo>
                  <a:pt x="4557989" y="882074"/>
                </a:lnTo>
                <a:lnTo>
                  <a:pt x="4485012" y="884275"/>
                </a:lnTo>
                <a:lnTo>
                  <a:pt x="4411467" y="886296"/>
                </a:lnTo>
                <a:lnTo>
                  <a:pt x="4337372" y="888133"/>
                </a:lnTo>
                <a:lnTo>
                  <a:pt x="4262743" y="889786"/>
                </a:lnTo>
                <a:lnTo>
                  <a:pt x="4187597" y="891252"/>
                </a:lnTo>
                <a:lnTo>
                  <a:pt x="4111949" y="892529"/>
                </a:lnTo>
                <a:lnTo>
                  <a:pt x="4035816" y="893615"/>
                </a:lnTo>
                <a:lnTo>
                  <a:pt x="3959215" y="894509"/>
                </a:lnTo>
                <a:lnTo>
                  <a:pt x="3882161" y="895207"/>
                </a:lnTo>
                <a:lnTo>
                  <a:pt x="3804673" y="895708"/>
                </a:lnTo>
                <a:lnTo>
                  <a:pt x="3726766" y="896010"/>
                </a:lnTo>
                <a:lnTo>
                  <a:pt x="3648455" y="896112"/>
                </a:lnTo>
                <a:lnTo>
                  <a:pt x="3570145" y="896010"/>
                </a:lnTo>
                <a:lnTo>
                  <a:pt x="3492238" y="895708"/>
                </a:lnTo>
                <a:lnTo>
                  <a:pt x="3414750" y="895207"/>
                </a:lnTo>
                <a:lnTo>
                  <a:pt x="3337696" y="894509"/>
                </a:lnTo>
                <a:lnTo>
                  <a:pt x="3261095" y="893615"/>
                </a:lnTo>
                <a:lnTo>
                  <a:pt x="3184962" y="892529"/>
                </a:lnTo>
                <a:lnTo>
                  <a:pt x="3109314" y="891252"/>
                </a:lnTo>
                <a:lnTo>
                  <a:pt x="3034168" y="889786"/>
                </a:lnTo>
                <a:lnTo>
                  <a:pt x="2959539" y="888133"/>
                </a:lnTo>
                <a:lnTo>
                  <a:pt x="2885444" y="886296"/>
                </a:lnTo>
                <a:lnTo>
                  <a:pt x="2811899" y="884275"/>
                </a:lnTo>
                <a:lnTo>
                  <a:pt x="2738922" y="882074"/>
                </a:lnTo>
                <a:lnTo>
                  <a:pt x="2666529" y="879693"/>
                </a:lnTo>
                <a:lnTo>
                  <a:pt x="2594735" y="877136"/>
                </a:lnTo>
                <a:lnTo>
                  <a:pt x="2523558" y="874405"/>
                </a:lnTo>
                <a:lnTo>
                  <a:pt x="2453013" y="871500"/>
                </a:lnTo>
                <a:lnTo>
                  <a:pt x="2383118" y="868425"/>
                </a:lnTo>
                <a:lnTo>
                  <a:pt x="2313889" y="865182"/>
                </a:lnTo>
                <a:lnTo>
                  <a:pt x="2245342" y="861771"/>
                </a:lnTo>
                <a:lnTo>
                  <a:pt x="2177494" y="858196"/>
                </a:lnTo>
                <a:lnTo>
                  <a:pt x="2110361" y="854459"/>
                </a:lnTo>
                <a:lnTo>
                  <a:pt x="2043959" y="850560"/>
                </a:lnTo>
                <a:lnTo>
                  <a:pt x="1978306" y="846504"/>
                </a:lnTo>
                <a:lnTo>
                  <a:pt x="1913417" y="842290"/>
                </a:lnTo>
                <a:lnTo>
                  <a:pt x="1849309" y="837922"/>
                </a:lnTo>
                <a:lnTo>
                  <a:pt x="1785998" y="833402"/>
                </a:lnTo>
                <a:lnTo>
                  <a:pt x="1723501" y="828731"/>
                </a:lnTo>
                <a:lnTo>
                  <a:pt x="1661835" y="823912"/>
                </a:lnTo>
                <a:lnTo>
                  <a:pt x="1601016" y="818947"/>
                </a:lnTo>
                <a:lnTo>
                  <a:pt x="1541059" y="813836"/>
                </a:lnTo>
                <a:lnTo>
                  <a:pt x="1481983" y="808584"/>
                </a:lnTo>
                <a:lnTo>
                  <a:pt x="1423802" y="803191"/>
                </a:lnTo>
                <a:lnTo>
                  <a:pt x="1366534" y="797660"/>
                </a:lnTo>
                <a:lnTo>
                  <a:pt x="1310196" y="791993"/>
                </a:lnTo>
                <a:lnTo>
                  <a:pt x="1254802" y="786191"/>
                </a:lnTo>
                <a:lnTo>
                  <a:pt x="1200371" y="780257"/>
                </a:lnTo>
                <a:lnTo>
                  <a:pt x="1146918" y="774193"/>
                </a:lnTo>
                <a:lnTo>
                  <a:pt x="1094460" y="768001"/>
                </a:lnTo>
                <a:lnTo>
                  <a:pt x="1043013" y="761682"/>
                </a:lnTo>
                <a:lnTo>
                  <a:pt x="992594" y="755239"/>
                </a:lnTo>
                <a:lnTo>
                  <a:pt x="943220" y="748674"/>
                </a:lnTo>
                <a:lnTo>
                  <a:pt x="894906" y="741989"/>
                </a:lnTo>
                <a:lnTo>
                  <a:pt x="847669" y="735186"/>
                </a:lnTo>
                <a:lnTo>
                  <a:pt x="801526" y="728267"/>
                </a:lnTo>
                <a:lnTo>
                  <a:pt x="756493" y="721234"/>
                </a:lnTo>
                <a:lnTo>
                  <a:pt x="712586" y="714089"/>
                </a:lnTo>
                <a:lnTo>
                  <a:pt x="669822" y="706833"/>
                </a:lnTo>
                <a:lnTo>
                  <a:pt x="628218" y="699470"/>
                </a:lnTo>
                <a:lnTo>
                  <a:pt x="587789" y="692001"/>
                </a:lnTo>
                <a:lnTo>
                  <a:pt x="548553" y="684428"/>
                </a:lnTo>
                <a:lnTo>
                  <a:pt x="510526" y="676753"/>
                </a:lnTo>
                <a:lnTo>
                  <a:pt x="438164" y="661105"/>
                </a:lnTo>
                <a:lnTo>
                  <a:pt x="370834" y="645074"/>
                </a:lnTo>
                <a:lnTo>
                  <a:pt x="308668" y="628675"/>
                </a:lnTo>
                <a:lnTo>
                  <a:pt x="251798" y="611926"/>
                </a:lnTo>
                <a:lnTo>
                  <a:pt x="200355" y="594842"/>
                </a:lnTo>
                <a:lnTo>
                  <a:pt x="154472" y="577439"/>
                </a:lnTo>
                <a:lnTo>
                  <a:pt x="114279" y="559733"/>
                </a:lnTo>
                <a:lnTo>
                  <a:pt x="79909" y="541742"/>
                </a:lnTo>
                <a:lnTo>
                  <a:pt x="39558" y="514253"/>
                </a:lnTo>
                <a:lnTo>
                  <a:pt x="13048" y="486211"/>
                </a:lnTo>
                <a:lnTo>
                  <a:pt x="0" y="448055"/>
                </a:lnTo>
                <a:close/>
              </a:path>
            </a:pathLst>
          </a:custGeom>
          <a:ln w="38100">
            <a:solidFill>
              <a:srgbClr val="99FF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713473" y="990727"/>
            <a:ext cx="564006" cy="4691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713473" y="990727"/>
            <a:ext cx="564515" cy="412750"/>
          </a:xfrm>
          <a:custGeom>
            <a:avLst/>
            <a:gdLst/>
            <a:ahLst/>
            <a:cxnLst/>
            <a:rect l="l" t="t" r="r" b="b"/>
            <a:pathLst>
              <a:path w="564515" h="412750">
                <a:moveTo>
                  <a:pt x="0" y="0"/>
                </a:moveTo>
                <a:lnTo>
                  <a:pt x="141097" y="65786"/>
                </a:lnTo>
                <a:lnTo>
                  <a:pt x="40640" y="281050"/>
                </a:lnTo>
                <a:lnTo>
                  <a:pt x="322706" y="412496"/>
                </a:lnTo>
                <a:lnTo>
                  <a:pt x="423036" y="197231"/>
                </a:lnTo>
                <a:lnTo>
                  <a:pt x="564006" y="263017"/>
                </a:lnTo>
                <a:lnTo>
                  <a:pt x="324357" y="40894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738239" y="1283080"/>
            <a:ext cx="292735" cy="154305"/>
          </a:xfrm>
          <a:custGeom>
            <a:avLst/>
            <a:gdLst/>
            <a:ahLst/>
            <a:cxnLst/>
            <a:rect l="l" t="t" r="r" b="b"/>
            <a:pathLst>
              <a:path w="292734" h="154305">
                <a:moveTo>
                  <a:pt x="0" y="22606"/>
                </a:moveTo>
                <a:lnTo>
                  <a:pt x="282066" y="154178"/>
                </a:lnTo>
                <a:lnTo>
                  <a:pt x="292607" y="131445"/>
                </a:lnTo>
                <a:lnTo>
                  <a:pt x="10667" y="0"/>
                </a:lnTo>
                <a:lnTo>
                  <a:pt x="0" y="22606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727697" y="1317116"/>
            <a:ext cx="287655" cy="142875"/>
          </a:xfrm>
          <a:custGeom>
            <a:avLst/>
            <a:gdLst/>
            <a:ahLst/>
            <a:cxnLst/>
            <a:rect l="l" t="t" r="r" b="b"/>
            <a:pathLst>
              <a:path w="287654" h="142875">
                <a:moveTo>
                  <a:pt x="0" y="11303"/>
                </a:moveTo>
                <a:lnTo>
                  <a:pt x="282067" y="142748"/>
                </a:lnTo>
                <a:lnTo>
                  <a:pt x="287274" y="131445"/>
                </a:lnTo>
                <a:lnTo>
                  <a:pt x="5333" y="0"/>
                </a:lnTo>
                <a:lnTo>
                  <a:pt x="0" y="1130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613275" y="26923"/>
            <a:ext cx="436943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395"/>
              </a:lnSpc>
              <a:spcBef>
                <a:spcPts val="100"/>
              </a:spcBef>
              <a:tabLst>
                <a:tab pos="1416050" algn="l"/>
              </a:tabLst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6.6.4</a:t>
            </a:r>
            <a:r>
              <a:rPr dirty="0" u="sng" sz="2000" spc="42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数组说明与引用翻译</a:t>
            </a:r>
            <a:endParaRPr sz="2000">
              <a:latin typeface="宋体"/>
              <a:cs typeface="宋体"/>
            </a:endParaRPr>
          </a:p>
          <a:p>
            <a:pPr algn="ctr" marL="836930">
              <a:lnSpc>
                <a:spcPts val="4795"/>
              </a:lnSpc>
            </a:pPr>
            <a:r>
              <a:rPr dirty="0" sz="4000" spc="-5" b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73074" y="1562861"/>
            <a:ext cx="628015" cy="782320"/>
          </a:xfrm>
          <a:custGeom>
            <a:avLst/>
            <a:gdLst/>
            <a:ahLst/>
            <a:cxnLst/>
            <a:rect l="l" t="t" r="r" b="b"/>
            <a:pathLst>
              <a:path w="628015" h="782319">
                <a:moveTo>
                  <a:pt x="0" y="390905"/>
                </a:moveTo>
                <a:lnTo>
                  <a:pt x="2866" y="337860"/>
                </a:lnTo>
                <a:lnTo>
                  <a:pt x="11214" y="286984"/>
                </a:lnTo>
                <a:lnTo>
                  <a:pt x="24672" y="238744"/>
                </a:lnTo>
                <a:lnTo>
                  <a:pt x="42863" y="193604"/>
                </a:lnTo>
                <a:lnTo>
                  <a:pt x="65416" y="152031"/>
                </a:lnTo>
                <a:lnTo>
                  <a:pt x="91954" y="114490"/>
                </a:lnTo>
                <a:lnTo>
                  <a:pt x="122104" y="81447"/>
                </a:lnTo>
                <a:lnTo>
                  <a:pt x="155493" y="53368"/>
                </a:lnTo>
                <a:lnTo>
                  <a:pt x="191745" y="30718"/>
                </a:lnTo>
                <a:lnTo>
                  <a:pt x="230487" y="13962"/>
                </a:lnTo>
                <a:lnTo>
                  <a:pt x="271344" y="3568"/>
                </a:lnTo>
                <a:lnTo>
                  <a:pt x="313944" y="0"/>
                </a:lnTo>
                <a:lnTo>
                  <a:pt x="356537" y="3568"/>
                </a:lnTo>
                <a:lnTo>
                  <a:pt x="397391" y="13962"/>
                </a:lnTo>
                <a:lnTo>
                  <a:pt x="436131" y="30718"/>
                </a:lnTo>
                <a:lnTo>
                  <a:pt x="472383" y="53368"/>
                </a:lnTo>
                <a:lnTo>
                  <a:pt x="505772" y="81447"/>
                </a:lnTo>
                <a:lnTo>
                  <a:pt x="535924" y="114490"/>
                </a:lnTo>
                <a:lnTo>
                  <a:pt x="562464" y="152031"/>
                </a:lnTo>
                <a:lnTo>
                  <a:pt x="585018" y="193604"/>
                </a:lnTo>
                <a:lnTo>
                  <a:pt x="603212" y="238744"/>
                </a:lnTo>
                <a:lnTo>
                  <a:pt x="616671" y="286984"/>
                </a:lnTo>
                <a:lnTo>
                  <a:pt x="625021" y="337860"/>
                </a:lnTo>
                <a:lnTo>
                  <a:pt x="627888" y="390905"/>
                </a:lnTo>
                <a:lnTo>
                  <a:pt x="625021" y="443951"/>
                </a:lnTo>
                <a:lnTo>
                  <a:pt x="616671" y="494827"/>
                </a:lnTo>
                <a:lnTo>
                  <a:pt x="603212" y="543067"/>
                </a:lnTo>
                <a:lnTo>
                  <a:pt x="585018" y="588207"/>
                </a:lnTo>
                <a:lnTo>
                  <a:pt x="562464" y="629780"/>
                </a:lnTo>
                <a:lnTo>
                  <a:pt x="535924" y="667321"/>
                </a:lnTo>
                <a:lnTo>
                  <a:pt x="505772" y="700364"/>
                </a:lnTo>
                <a:lnTo>
                  <a:pt x="472383" y="728443"/>
                </a:lnTo>
                <a:lnTo>
                  <a:pt x="436131" y="751093"/>
                </a:lnTo>
                <a:lnTo>
                  <a:pt x="397391" y="767849"/>
                </a:lnTo>
                <a:lnTo>
                  <a:pt x="356537" y="778243"/>
                </a:lnTo>
                <a:lnTo>
                  <a:pt x="313944" y="781812"/>
                </a:lnTo>
                <a:lnTo>
                  <a:pt x="271344" y="778243"/>
                </a:lnTo>
                <a:lnTo>
                  <a:pt x="230487" y="767849"/>
                </a:lnTo>
                <a:lnTo>
                  <a:pt x="191745" y="751093"/>
                </a:lnTo>
                <a:lnTo>
                  <a:pt x="155493" y="728443"/>
                </a:lnTo>
                <a:lnTo>
                  <a:pt x="122104" y="700364"/>
                </a:lnTo>
                <a:lnTo>
                  <a:pt x="91954" y="667321"/>
                </a:lnTo>
                <a:lnTo>
                  <a:pt x="65416" y="629780"/>
                </a:lnTo>
                <a:lnTo>
                  <a:pt x="42863" y="588207"/>
                </a:lnTo>
                <a:lnTo>
                  <a:pt x="24672" y="543067"/>
                </a:lnTo>
                <a:lnTo>
                  <a:pt x="11214" y="494827"/>
                </a:lnTo>
                <a:lnTo>
                  <a:pt x="2866" y="443951"/>
                </a:lnTo>
                <a:lnTo>
                  <a:pt x="0" y="390905"/>
                </a:lnTo>
                <a:close/>
              </a:path>
            </a:pathLst>
          </a:custGeom>
          <a:ln w="38099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867661" y="2306573"/>
            <a:ext cx="6611620" cy="838200"/>
          </a:xfrm>
          <a:custGeom>
            <a:avLst/>
            <a:gdLst/>
            <a:ahLst/>
            <a:cxnLst/>
            <a:rect l="l" t="t" r="r" b="b"/>
            <a:pathLst>
              <a:path w="6611620" h="838200">
                <a:moveTo>
                  <a:pt x="0" y="419100"/>
                </a:moveTo>
                <a:lnTo>
                  <a:pt x="14285" y="379867"/>
                </a:lnTo>
                <a:lnTo>
                  <a:pt x="43263" y="351105"/>
                </a:lnTo>
                <a:lnTo>
                  <a:pt x="87301" y="322985"/>
                </a:lnTo>
                <a:lnTo>
                  <a:pt x="124761" y="304629"/>
                </a:lnTo>
                <a:lnTo>
                  <a:pt x="168517" y="286609"/>
                </a:lnTo>
                <a:lnTo>
                  <a:pt x="218411" y="268945"/>
                </a:lnTo>
                <a:lnTo>
                  <a:pt x="274284" y="251656"/>
                </a:lnTo>
                <a:lnTo>
                  <a:pt x="335977" y="234764"/>
                </a:lnTo>
                <a:lnTo>
                  <a:pt x="403331" y="218288"/>
                </a:lnTo>
                <a:lnTo>
                  <a:pt x="476188" y="202249"/>
                </a:lnTo>
                <a:lnTo>
                  <a:pt x="514631" y="194399"/>
                </a:lnTo>
                <a:lnTo>
                  <a:pt x="554389" y="186666"/>
                </a:lnTo>
                <a:lnTo>
                  <a:pt x="595444" y="179052"/>
                </a:lnTo>
                <a:lnTo>
                  <a:pt x="637775" y="171559"/>
                </a:lnTo>
                <a:lnTo>
                  <a:pt x="681363" y="164191"/>
                </a:lnTo>
                <a:lnTo>
                  <a:pt x="726188" y="156949"/>
                </a:lnTo>
                <a:lnTo>
                  <a:pt x="772229" y="149837"/>
                </a:lnTo>
                <a:lnTo>
                  <a:pt x="819468" y="142856"/>
                </a:lnTo>
                <a:lnTo>
                  <a:pt x="867884" y="136010"/>
                </a:lnTo>
                <a:lnTo>
                  <a:pt x="917457" y="129300"/>
                </a:lnTo>
                <a:lnTo>
                  <a:pt x="968168" y="122729"/>
                </a:lnTo>
                <a:lnTo>
                  <a:pt x="1019997" y="116300"/>
                </a:lnTo>
                <a:lnTo>
                  <a:pt x="1072923" y="110016"/>
                </a:lnTo>
                <a:lnTo>
                  <a:pt x="1126928" y="103878"/>
                </a:lnTo>
                <a:lnTo>
                  <a:pt x="1181991" y="97889"/>
                </a:lnTo>
                <a:lnTo>
                  <a:pt x="1238092" y="92053"/>
                </a:lnTo>
                <a:lnTo>
                  <a:pt x="1295211" y="86370"/>
                </a:lnTo>
                <a:lnTo>
                  <a:pt x="1353330" y="80845"/>
                </a:lnTo>
                <a:lnTo>
                  <a:pt x="1412427" y="75478"/>
                </a:lnTo>
                <a:lnTo>
                  <a:pt x="1472483" y="70274"/>
                </a:lnTo>
                <a:lnTo>
                  <a:pt x="1533479" y="65234"/>
                </a:lnTo>
                <a:lnTo>
                  <a:pt x="1595393" y="60361"/>
                </a:lnTo>
                <a:lnTo>
                  <a:pt x="1658207" y="55657"/>
                </a:lnTo>
                <a:lnTo>
                  <a:pt x="1721901" y="51125"/>
                </a:lnTo>
                <a:lnTo>
                  <a:pt x="1786455" y="46768"/>
                </a:lnTo>
                <a:lnTo>
                  <a:pt x="1851848" y="42587"/>
                </a:lnTo>
                <a:lnTo>
                  <a:pt x="1918062" y="38586"/>
                </a:lnTo>
                <a:lnTo>
                  <a:pt x="1985076" y="34767"/>
                </a:lnTo>
                <a:lnTo>
                  <a:pt x="2052870" y="31132"/>
                </a:lnTo>
                <a:lnTo>
                  <a:pt x="2121425" y="27684"/>
                </a:lnTo>
                <a:lnTo>
                  <a:pt x="2190721" y="24426"/>
                </a:lnTo>
                <a:lnTo>
                  <a:pt x="2260738" y="21360"/>
                </a:lnTo>
                <a:lnTo>
                  <a:pt x="2331455" y="18488"/>
                </a:lnTo>
                <a:lnTo>
                  <a:pt x="2402854" y="15813"/>
                </a:lnTo>
                <a:lnTo>
                  <a:pt x="2474915" y="13338"/>
                </a:lnTo>
                <a:lnTo>
                  <a:pt x="2547617" y="11065"/>
                </a:lnTo>
                <a:lnTo>
                  <a:pt x="2620940" y="8997"/>
                </a:lnTo>
                <a:lnTo>
                  <a:pt x="2694866" y="7135"/>
                </a:lnTo>
                <a:lnTo>
                  <a:pt x="2769373" y="5483"/>
                </a:lnTo>
                <a:lnTo>
                  <a:pt x="2844443" y="4043"/>
                </a:lnTo>
                <a:lnTo>
                  <a:pt x="2920055" y="2818"/>
                </a:lnTo>
                <a:lnTo>
                  <a:pt x="2996189" y="1810"/>
                </a:lnTo>
                <a:lnTo>
                  <a:pt x="3072826" y="1022"/>
                </a:lnTo>
                <a:lnTo>
                  <a:pt x="3149946" y="456"/>
                </a:lnTo>
                <a:lnTo>
                  <a:pt x="3227529" y="114"/>
                </a:lnTo>
                <a:lnTo>
                  <a:pt x="3305555" y="0"/>
                </a:lnTo>
                <a:lnTo>
                  <a:pt x="3383582" y="114"/>
                </a:lnTo>
                <a:lnTo>
                  <a:pt x="3461165" y="456"/>
                </a:lnTo>
                <a:lnTo>
                  <a:pt x="3538285" y="1022"/>
                </a:lnTo>
                <a:lnTo>
                  <a:pt x="3614922" y="1810"/>
                </a:lnTo>
                <a:lnTo>
                  <a:pt x="3691056" y="2818"/>
                </a:lnTo>
                <a:lnTo>
                  <a:pt x="3766668" y="4043"/>
                </a:lnTo>
                <a:lnTo>
                  <a:pt x="3841738" y="5483"/>
                </a:lnTo>
                <a:lnTo>
                  <a:pt x="3916245" y="7135"/>
                </a:lnTo>
                <a:lnTo>
                  <a:pt x="3990171" y="8997"/>
                </a:lnTo>
                <a:lnTo>
                  <a:pt x="4063494" y="11065"/>
                </a:lnTo>
                <a:lnTo>
                  <a:pt x="4136196" y="13338"/>
                </a:lnTo>
                <a:lnTo>
                  <a:pt x="4208257" y="15813"/>
                </a:lnTo>
                <a:lnTo>
                  <a:pt x="4279656" y="18488"/>
                </a:lnTo>
                <a:lnTo>
                  <a:pt x="4350373" y="21360"/>
                </a:lnTo>
                <a:lnTo>
                  <a:pt x="4420390" y="24426"/>
                </a:lnTo>
                <a:lnTo>
                  <a:pt x="4489686" y="27684"/>
                </a:lnTo>
                <a:lnTo>
                  <a:pt x="4558241" y="31132"/>
                </a:lnTo>
                <a:lnTo>
                  <a:pt x="4626035" y="34767"/>
                </a:lnTo>
                <a:lnTo>
                  <a:pt x="4693049" y="38586"/>
                </a:lnTo>
                <a:lnTo>
                  <a:pt x="4759263" y="42587"/>
                </a:lnTo>
                <a:lnTo>
                  <a:pt x="4824656" y="46768"/>
                </a:lnTo>
                <a:lnTo>
                  <a:pt x="4889210" y="51125"/>
                </a:lnTo>
                <a:lnTo>
                  <a:pt x="4952904" y="55657"/>
                </a:lnTo>
                <a:lnTo>
                  <a:pt x="5015718" y="60361"/>
                </a:lnTo>
                <a:lnTo>
                  <a:pt x="5077632" y="65234"/>
                </a:lnTo>
                <a:lnTo>
                  <a:pt x="5138628" y="70274"/>
                </a:lnTo>
                <a:lnTo>
                  <a:pt x="5198684" y="75478"/>
                </a:lnTo>
                <a:lnTo>
                  <a:pt x="5257781" y="80845"/>
                </a:lnTo>
                <a:lnTo>
                  <a:pt x="5315900" y="86370"/>
                </a:lnTo>
                <a:lnTo>
                  <a:pt x="5373019" y="92053"/>
                </a:lnTo>
                <a:lnTo>
                  <a:pt x="5429120" y="97889"/>
                </a:lnTo>
                <a:lnTo>
                  <a:pt x="5484183" y="103878"/>
                </a:lnTo>
                <a:lnTo>
                  <a:pt x="5538188" y="110016"/>
                </a:lnTo>
                <a:lnTo>
                  <a:pt x="5591114" y="116300"/>
                </a:lnTo>
                <a:lnTo>
                  <a:pt x="5642943" y="122729"/>
                </a:lnTo>
                <a:lnTo>
                  <a:pt x="5693654" y="129300"/>
                </a:lnTo>
                <a:lnTo>
                  <a:pt x="5743227" y="136010"/>
                </a:lnTo>
                <a:lnTo>
                  <a:pt x="5791643" y="142856"/>
                </a:lnTo>
                <a:lnTo>
                  <a:pt x="5838882" y="149837"/>
                </a:lnTo>
                <a:lnTo>
                  <a:pt x="5884923" y="156949"/>
                </a:lnTo>
                <a:lnTo>
                  <a:pt x="5929748" y="164191"/>
                </a:lnTo>
                <a:lnTo>
                  <a:pt x="5973336" y="171559"/>
                </a:lnTo>
                <a:lnTo>
                  <a:pt x="6015667" y="179052"/>
                </a:lnTo>
                <a:lnTo>
                  <a:pt x="6056722" y="186666"/>
                </a:lnTo>
                <a:lnTo>
                  <a:pt x="6096480" y="194399"/>
                </a:lnTo>
                <a:lnTo>
                  <a:pt x="6134923" y="202249"/>
                </a:lnTo>
                <a:lnTo>
                  <a:pt x="6207780" y="218288"/>
                </a:lnTo>
                <a:lnTo>
                  <a:pt x="6275134" y="234764"/>
                </a:lnTo>
                <a:lnTo>
                  <a:pt x="6336827" y="251656"/>
                </a:lnTo>
                <a:lnTo>
                  <a:pt x="6392700" y="268945"/>
                </a:lnTo>
                <a:lnTo>
                  <a:pt x="6442594" y="286609"/>
                </a:lnTo>
                <a:lnTo>
                  <a:pt x="6486350" y="304629"/>
                </a:lnTo>
                <a:lnTo>
                  <a:pt x="6523810" y="322985"/>
                </a:lnTo>
                <a:lnTo>
                  <a:pt x="6567848" y="351105"/>
                </a:lnTo>
                <a:lnTo>
                  <a:pt x="6596826" y="379867"/>
                </a:lnTo>
                <a:lnTo>
                  <a:pt x="6611111" y="419100"/>
                </a:lnTo>
                <a:lnTo>
                  <a:pt x="6610209" y="428995"/>
                </a:lnTo>
                <a:lnTo>
                  <a:pt x="6588873" y="467986"/>
                </a:lnTo>
                <a:lnTo>
                  <a:pt x="6554815" y="496542"/>
                </a:lnTo>
                <a:lnTo>
                  <a:pt x="6505877" y="524432"/>
                </a:lnTo>
                <a:lnTo>
                  <a:pt x="6465249" y="542623"/>
                </a:lnTo>
                <a:lnTo>
                  <a:pt x="6418404" y="560468"/>
                </a:lnTo>
                <a:lnTo>
                  <a:pt x="6365501" y="577947"/>
                </a:lnTo>
                <a:lnTo>
                  <a:pt x="6306698" y="595039"/>
                </a:lnTo>
                <a:lnTo>
                  <a:pt x="6242155" y="611726"/>
                </a:lnTo>
                <a:lnTo>
                  <a:pt x="6172029" y="627986"/>
                </a:lnTo>
                <a:lnTo>
                  <a:pt x="6096480" y="643800"/>
                </a:lnTo>
                <a:lnTo>
                  <a:pt x="6056722" y="651533"/>
                </a:lnTo>
                <a:lnTo>
                  <a:pt x="6015667" y="659147"/>
                </a:lnTo>
                <a:lnTo>
                  <a:pt x="5973336" y="666640"/>
                </a:lnTo>
                <a:lnTo>
                  <a:pt x="5929748" y="674008"/>
                </a:lnTo>
                <a:lnTo>
                  <a:pt x="5884923" y="681250"/>
                </a:lnTo>
                <a:lnTo>
                  <a:pt x="5838882" y="688362"/>
                </a:lnTo>
                <a:lnTo>
                  <a:pt x="5791643" y="695343"/>
                </a:lnTo>
                <a:lnTo>
                  <a:pt x="5743227" y="702189"/>
                </a:lnTo>
                <a:lnTo>
                  <a:pt x="5693654" y="708899"/>
                </a:lnTo>
                <a:lnTo>
                  <a:pt x="5642943" y="715470"/>
                </a:lnTo>
                <a:lnTo>
                  <a:pt x="5591114" y="721899"/>
                </a:lnTo>
                <a:lnTo>
                  <a:pt x="5538188" y="728183"/>
                </a:lnTo>
                <a:lnTo>
                  <a:pt x="5484183" y="734321"/>
                </a:lnTo>
                <a:lnTo>
                  <a:pt x="5429120" y="740310"/>
                </a:lnTo>
                <a:lnTo>
                  <a:pt x="5373019" y="746146"/>
                </a:lnTo>
                <a:lnTo>
                  <a:pt x="5315900" y="751829"/>
                </a:lnTo>
                <a:lnTo>
                  <a:pt x="5257781" y="757354"/>
                </a:lnTo>
                <a:lnTo>
                  <a:pt x="5198684" y="762721"/>
                </a:lnTo>
                <a:lnTo>
                  <a:pt x="5138628" y="767925"/>
                </a:lnTo>
                <a:lnTo>
                  <a:pt x="5077632" y="772965"/>
                </a:lnTo>
                <a:lnTo>
                  <a:pt x="5015718" y="777838"/>
                </a:lnTo>
                <a:lnTo>
                  <a:pt x="4952904" y="782542"/>
                </a:lnTo>
                <a:lnTo>
                  <a:pt x="4889210" y="787074"/>
                </a:lnTo>
                <a:lnTo>
                  <a:pt x="4824656" y="791431"/>
                </a:lnTo>
                <a:lnTo>
                  <a:pt x="4759263" y="795612"/>
                </a:lnTo>
                <a:lnTo>
                  <a:pt x="4693049" y="799613"/>
                </a:lnTo>
                <a:lnTo>
                  <a:pt x="4626035" y="803432"/>
                </a:lnTo>
                <a:lnTo>
                  <a:pt x="4558241" y="807067"/>
                </a:lnTo>
                <a:lnTo>
                  <a:pt x="4489686" y="810515"/>
                </a:lnTo>
                <a:lnTo>
                  <a:pt x="4420390" y="813773"/>
                </a:lnTo>
                <a:lnTo>
                  <a:pt x="4350373" y="816839"/>
                </a:lnTo>
                <a:lnTo>
                  <a:pt x="4279656" y="819711"/>
                </a:lnTo>
                <a:lnTo>
                  <a:pt x="4208257" y="822386"/>
                </a:lnTo>
                <a:lnTo>
                  <a:pt x="4136196" y="824861"/>
                </a:lnTo>
                <a:lnTo>
                  <a:pt x="4063494" y="827134"/>
                </a:lnTo>
                <a:lnTo>
                  <a:pt x="3990171" y="829202"/>
                </a:lnTo>
                <a:lnTo>
                  <a:pt x="3916245" y="831064"/>
                </a:lnTo>
                <a:lnTo>
                  <a:pt x="3841738" y="832716"/>
                </a:lnTo>
                <a:lnTo>
                  <a:pt x="3766668" y="834156"/>
                </a:lnTo>
                <a:lnTo>
                  <a:pt x="3691056" y="835381"/>
                </a:lnTo>
                <a:lnTo>
                  <a:pt x="3614922" y="836389"/>
                </a:lnTo>
                <a:lnTo>
                  <a:pt x="3538285" y="837177"/>
                </a:lnTo>
                <a:lnTo>
                  <a:pt x="3461165" y="837743"/>
                </a:lnTo>
                <a:lnTo>
                  <a:pt x="3383582" y="838085"/>
                </a:lnTo>
                <a:lnTo>
                  <a:pt x="3305555" y="838200"/>
                </a:lnTo>
                <a:lnTo>
                  <a:pt x="3227529" y="838085"/>
                </a:lnTo>
                <a:lnTo>
                  <a:pt x="3149946" y="837743"/>
                </a:lnTo>
                <a:lnTo>
                  <a:pt x="3072826" y="837177"/>
                </a:lnTo>
                <a:lnTo>
                  <a:pt x="2996189" y="836389"/>
                </a:lnTo>
                <a:lnTo>
                  <a:pt x="2920055" y="835381"/>
                </a:lnTo>
                <a:lnTo>
                  <a:pt x="2844443" y="834156"/>
                </a:lnTo>
                <a:lnTo>
                  <a:pt x="2769373" y="832716"/>
                </a:lnTo>
                <a:lnTo>
                  <a:pt x="2694866" y="831064"/>
                </a:lnTo>
                <a:lnTo>
                  <a:pt x="2620940" y="829202"/>
                </a:lnTo>
                <a:lnTo>
                  <a:pt x="2547617" y="827134"/>
                </a:lnTo>
                <a:lnTo>
                  <a:pt x="2474915" y="824861"/>
                </a:lnTo>
                <a:lnTo>
                  <a:pt x="2402854" y="822386"/>
                </a:lnTo>
                <a:lnTo>
                  <a:pt x="2331455" y="819711"/>
                </a:lnTo>
                <a:lnTo>
                  <a:pt x="2260738" y="816839"/>
                </a:lnTo>
                <a:lnTo>
                  <a:pt x="2190721" y="813773"/>
                </a:lnTo>
                <a:lnTo>
                  <a:pt x="2121425" y="810515"/>
                </a:lnTo>
                <a:lnTo>
                  <a:pt x="2052870" y="807067"/>
                </a:lnTo>
                <a:lnTo>
                  <a:pt x="1985076" y="803432"/>
                </a:lnTo>
                <a:lnTo>
                  <a:pt x="1918062" y="799613"/>
                </a:lnTo>
                <a:lnTo>
                  <a:pt x="1851848" y="795612"/>
                </a:lnTo>
                <a:lnTo>
                  <a:pt x="1786455" y="791431"/>
                </a:lnTo>
                <a:lnTo>
                  <a:pt x="1721901" y="787074"/>
                </a:lnTo>
                <a:lnTo>
                  <a:pt x="1658207" y="782542"/>
                </a:lnTo>
                <a:lnTo>
                  <a:pt x="1595393" y="777838"/>
                </a:lnTo>
                <a:lnTo>
                  <a:pt x="1533479" y="772965"/>
                </a:lnTo>
                <a:lnTo>
                  <a:pt x="1472483" y="767925"/>
                </a:lnTo>
                <a:lnTo>
                  <a:pt x="1412427" y="762721"/>
                </a:lnTo>
                <a:lnTo>
                  <a:pt x="1353330" y="757354"/>
                </a:lnTo>
                <a:lnTo>
                  <a:pt x="1295211" y="751829"/>
                </a:lnTo>
                <a:lnTo>
                  <a:pt x="1238092" y="746146"/>
                </a:lnTo>
                <a:lnTo>
                  <a:pt x="1181991" y="740310"/>
                </a:lnTo>
                <a:lnTo>
                  <a:pt x="1126928" y="734321"/>
                </a:lnTo>
                <a:lnTo>
                  <a:pt x="1072923" y="728183"/>
                </a:lnTo>
                <a:lnTo>
                  <a:pt x="1019997" y="721899"/>
                </a:lnTo>
                <a:lnTo>
                  <a:pt x="968168" y="715470"/>
                </a:lnTo>
                <a:lnTo>
                  <a:pt x="917457" y="708899"/>
                </a:lnTo>
                <a:lnTo>
                  <a:pt x="867884" y="702189"/>
                </a:lnTo>
                <a:lnTo>
                  <a:pt x="819468" y="695343"/>
                </a:lnTo>
                <a:lnTo>
                  <a:pt x="772229" y="688362"/>
                </a:lnTo>
                <a:lnTo>
                  <a:pt x="726188" y="681250"/>
                </a:lnTo>
                <a:lnTo>
                  <a:pt x="681363" y="674008"/>
                </a:lnTo>
                <a:lnTo>
                  <a:pt x="637775" y="666640"/>
                </a:lnTo>
                <a:lnTo>
                  <a:pt x="595444" y="659147"/>
                </a:lnTo>
                <a:lnTo>
                  <a:pt x="554389" y="651533"/>
                </a:lnTo>
                <a:lnTo>
                  <a:pt x="514631" y="643800"/>
                </a:lnTo>
                <a:lnTo>
                  <a:pt x="476188" y="635950"/>
                </a:lnTo>
                <a:lnTo>
                  <a:pt x="403331" y="619911"/>
                </a:lnTo>
                <a:lnTo>
                  <a:pt x="335977" y="603435"/>
                </a:lnTo>
                <a:lnTo>
                  <a:pt x="274284" y="586543"/>
                </a:lnTo>
                <a:lnTo>
                  <a:pt x="218411" y="569254"/>
                </a:lnTo>
                <a:lnTo>
                  <a:pt x="168517" y="551590"/>
                </a:lnTo>
                <a:lnTo>
                  <a:pt x="124761" y="533570"/>
                </a:lnTo>
                <a:lnTo>
                  <a:pt x="87301" y="515214"/>
                </a:lnTo>
                <a:lnTo>
                  <a:pt x="43263" y="487094"/>
                </a:lnTo>
                <a:lnTo>
                  <a:pt x="14285" y="458332"/>
                </a:lnTo>
                <a:lnTo>
                  <a:pt x="0" y="419100"/>
                </a:lnTo>
                <a:close/>
              </a:path>
            </a:pathLst>
          </a:custGeom>
          <a:ln w="3810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34072" y="2281682"/>
            <a:ext cx="347980" cy="1109980"/>
          </a:xfrm>
          <a:custGeom>
            <a:avLst/>
            <a:gdLst/>
            <a:ahLst/>
            <a:cxnLst/>
            <a:rect l="l" t="t" r="r" b="b"/>
            <a:pathLst>
              <a:path w="347980" h="1109979">
                <a:moveTo>
                  <a:pt x="0" y="984630"/>
                </a:moveTo>
                <a:lnTo>
                  <a:pt x="24701" y="1109979"/>
                </a:lnTo>
                <a:lnTo>
                  <a:pt x="102756" y="1023238"/>
                </a:lnTo>
                <a:lnTo>
                  <a:pt x="68389" y="1023238"/>
                </a:lnTo>
                <a:lnTo>
                  <a:pt x="31661" y="1013078"/>
                </a:lnTo>
                <a:lnTo>
                  <a:pt x="36718" y="994745"/>
                </a:lnTo>
                <a:lnTo>
                  <a:pt x="0" y="984630"/>
                </a:lnTo>
                <a:close/>
              </a:path>
              <a:path w="347980" h="1109979">
                <a:moveTo>
                  <a:pt x="36718" y="994745"/>
                </a:moveTo>
                <a:lnTo>
                  <a:pt x="31661" y="1013078"/>
                </a:lnTo>
                <a:lnTo>
                  <a:pt x="68389" y="1023238"/>
                </a:lnTo>
                <a:lnTo>
                  <a:pt x="73457" y="1004866"/>
                </a:lnTo>
                <a:lnTo>
                  <a:pt x="36718" y="994745"/>
                </a:lnTo>
                <a:close/>
              </a:path>
              <a:path w="347980" h="1109979">
                <a:moveTo>
                  <a:pt x="73457" y="1004866"/>
                </a:moveTo>
                <a:lnTo>
                  <a:pt x="68389" y="1023238"/>
                </a:lnTo>
                <a:lnTo>
                  <a:pt x="102756" y="1023238"/>
                </a:lnTo>
                <a:lnTo>
                  <a:pt x="110185" y="1014983"/>
                </a:lnTo>
                <a:lnTo>
                  <a:pt x="73457" y="1004866"/>
                </a:lnTo>
                <a:close/>
              </a:path>
              <a:path w="347980" h="1109979">
                <a:moveTo>
                  <a:pt x="311137" y="0"/>
                </a:moveTo>
                <a:lnTo>
                  <a:pt x="36718" y="994745"/>
                </a:lnTo>
                <a:lnTo>
                  <a:pt x="73457" y="1004866"/>
                </a:lnTo>
                <a:lnTo>
                  <a:pt x="347865" y="10159"/>
                </a:lnTo>
                <a:lnTo>
                  <a:pt x="311137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73074" y="2878835"/>
            <a:ext cx="1188720" cy="521334"/>
          </a:xfrm>
          <a:custGeom>
            <a:avLst/>
            <a:gdLst/>
            <a:ahLst/>
            <a:cxnLst/>
            <a:rect l="l" t="t" r="r" b="b"/>
            <a:pathLst>
              <a:path w="1188720" h="521335">
                <a:moveTo>
                  <a:pt x="83312" y="415925"/>
                </a:moveTo>
                <a:lnTo>
                  <a:pt x="0" y="512825"/>
                </a:lnTo>
                <a:lnTo>
                  <a:pt x="127507" y="521335"/>
                </a:lnTo>
                <a:lnTo>
                  <a:pt x="115846" y="493522"/>
                </a:lnTo>
                <a:lnTo>
                  <a:pt x="95199" y="493522"/>
                </a:lnTo>
                <a:lnTo>
                  <a:pt x="80467" y="458469"/>
                </a:lnTo>
                <a:lnTo>
                  <a:pt x="98057" y="451093"/>
                </a:lnTo>
                <a:lnTo>
                  <a:pt x="83312" y="415925"/>
                </a:lnTo>
                <a:close/>
              </a:path>
              <a:path w="1188720" h="521335">
                <a:moveTo>
                  <a:pt x="98057" y="451093"/>
                </a:moveTo>
                <a:lnTo>
                  <a:pt x="80467" y="458469"/>
                </a:lnTo>
                <a:lnTo>
                  <a:pt x="95199" y="493522"/>
                </a:lnTo>
                <a:lnTo>
                  <a:pt x="112759" y="486158"/>
                </a:lnTo>
                <a:lnTo>
                  <a:pt x="98057" y="451093"/>
                </a:lnTo>
                <a:close/>
              </a:path>
              <a:path w="1188720" h="521335">
                <a:moveTo>
                  <a:pt x="112759" y="486158"/>
                </a:moveTo>
                <a:lnTo>
                  <a:pt x="95199" y="493522"/>
                </a:lnTo>
                <a:lnTo>
                  <a:pt x="115846" y="493522"/>
                </a:lnTo>
                <a:lnTo>
                  <a:pt x="112759" y="486158"/>
                </a:lnTo>
                <a:close/>
              </a:path>
              <a:path w="1188720" h="521335">
                <a:moveTo>
                  <a:pt x="1173733" y="0"/>
                </a:moveTo>
                <a:lnTo>
                  <a:pt x="98057" y="451093"/>
                </a:lnTo>
                <a:lnTo>
                  <a:pt x="112759" y="486158"/>
                </a:lnTo>
                <a:lnTo>
                  <a:pt x="1188465" y="35051"/>
                </a:lnTo>
                <a:lnTo>
                  <a:pt x="117373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592573" y="2934461"/>
            <a:ext cx="952500" cy="4008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592573" y="2934461"/>
            <a:ext cx="952500" cy="401320"/>
          </a:xfrm>
          <a:custGeom>
            <a:avLst/>
            <a:gdLst/>
            <a:ahLst/>
            <a:cxnLst/>
            <a:rect l="l" t="t" r="r" b="b"/>
            <a:pathLst>
              <a:path w="952500" h="401320">
                <a:moveTo>
                  <a:pt x="0" y="300609"/>
                </a:moveTo>
                <a:lnTo>
                  <a:pt x="238125" y="300609"/>
                </a:lnTo>
                <a:lnTo>
                  <a:pt x="238125" y="0"/>
                </a:lnTo>
                <a:lnTo>
                  <a:pt x="714375" y="0"/>
                </a:lnTo>
                <a:lnTo>
                  <a:pt x="714375" y="300609"/>
                </a:lnTo>
                <a:lnTo>
                  <a:pt x="952500" y="300609"/>
                </a:lnTo>
                <a:lnTo>
                  <a:pt x="476250" y="400812"/>
                </a:lnTo>
                <a:lnTo>
                  <a:pt x="0" y="30060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59740" y="3298063"/>
            <a:ext cx="2690495" cy="13284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不变</a:t>
            </a:r>
            <a:endParaRPr sz="3200">
              <a:latin typeface="宋体"/>
              <a:cs typeface="宋体"/>
            </a:endParaRPr>
          </a:p>
          <a:p>
            <a:pPr marL="152400">
              <a:lnSpc>
                <a:spcPct val="100000"/>
              </a:lnSpc>
              <a:spcBef>
                <a:spcPts val="2575"/>
              </a:spcBef>
              <a:tabLst>
                <a:tab pos="688975" algn="l"/>
                <a:tab pos="203200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	</a:t>
            </a:r>
            <a:r>
              <a:rPr dirty="0" sz="3200" spc="1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15873" sz="3150" spc="1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baseline="-15873" sz="3150" spc="382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C	+</a:t>
            </a:r>
            <a:r>
              <a:rPr dirty="0" sz="3200" spc="-1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64734" y="3066414"/>
            <a:ext cx="2545715" cy="1664335"/>
          </a:xfrm>
          <a:prstGeom prst="rect">
            <a:avLst/>
          </a:prstGeom>
        </p:spPr>
        <p:txBody>
          <a:bodyPr wrap="square" lIns="0" tIns="283210" rIns="0" bIns="0" rtlCol="0" vert="horz">
            <a:spAutoFit/>
          </a:bodyPr>
          <a:lstStyle/>
          <a:p>
            <a:pPr marL="46990">
              <a:lnSpc>
                <a:spcPct val="100000"/>
              </a:lnSpc>
              <a:spcBef>
                <a:spcPts val="2230"/>
              </a:spcBef>
            </a:pPr>
            <a:r>
              <a:rPr dirty="0" sz="3600" spc="-5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30"/>
              </a:spcBef>
              <a:tabLst>
                <a:tab pos="499745" algn="l"/>
                <a:tab pos="1721485" algn="l"/>
                <a:tab pos="2202180" algn="l"/>
              </a:tabLst>
            </a:pPr>
            <a:r>
              <a:rPr dirty="0" sz="3600" b="1">
                <a:solidFill>
                  <a:srgbClr val="FFFF0D"/>
                </a:solidFill>
                <a:latin typeface="Times New Roman"/>
                <a:cs typeface="Times New Roman"/>
              </a:rPr>
              <a:t>=	</a:t>
            </a:r>
            <a:r>
              <a:rPr dirty="0" sz="3600" spc="-5" b="1">
                <a:solidFill>
                  <a:srgbClr val="FFFF0D"/>
                </a:solidFill>
                <a:latin typeface="Times New Roman"/>
                <a:cs typeface="Times New Roman"/>
              </a:rPr>
              <a:t>C</a:t>
            </a:r>
            <a:r>
              <a:rPr dirty="0" sz="3600" spc="5" b="1">
                <a:solidFill>
                  <a:srgbClr val="FFFF0D"/>
                </a:solidFill>
                <a:latin typeface="Times New Roman"/>
                <a:cs typeface="Times New Roman"/>
              </a:rPr>
              <a:t>U</a:t>
            </a:r>
            <a:r>
              <a:rPr dirty="0" sz="3600" spc="-5" b="1">
                <a:solidFill>
                  <a:srgbClr val="FFFF0D"/>
                </a:solidFill>
                <a:latin typeface="Times New Roman"/>
                <a:cs typeface="Times New Roman"/>
              </a:rPr>
              <a:t>N</a:t>
            </a:r>
            <a:r>
              <a:rPr dirty="0" sz="3600" b="1">
                <a:solidFill>
                  <a:srgbClr val="FFFF0D"/>
                </a:solidFill>
                <a:latin typeface="Times New Roman"/>
                <a:cs typeface="Times New Roman"/>
              </a:rPr>
              <a:t>	+	</a:t>
            </a:r>
            <a:r>
              <a:rPr dirty="0" sz="3600" spc="-5" b="1">
                <a:solidFill>
                  <a:srgbClr val="FFFF0D"/>
                </a:solidFill>
                <a:latin typeface="Times New Roman"/>
                <a:cs typeface="Times New Roman"/>
              </a:rPr>
              <a:t>V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73074" y="4694682"/>
            <a:ext cx="1181100" cy="0"/>
          </a:xfrm>
          <a:custGeom>
            <a:avLst/>
            <a:gdLst/>
            <a:ahLst/>
            <a:cxnLst/>
            <a:rect l="l" t="t" r="r" b="b"/>
            <a:pathLst>
              <a:path w="1181100" h="0">
                <a:moveTo>
                  <a:pt x="0" y="0"/>
                </a:moveTo>
                <a:lnTo>
                  <a:pt x="1181100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840739" y="4667453"/>
            <a:ext cx="13500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co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art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649473" y="4694682"/>
            <a:ext cx="970915" cy="0"/>
          </a:xfrm>
          <a:custGeom>
            <a:avLst/>
            <a:gdLst/>
            <a:ahLst/>
            <a:cxnLst/>
            <a:rect l="l" t="t" r="r" b="b"/>
            <a:pathLst>
              <a:path w="970914" h="0">
                <a:moveTo>
                  <a:pt x="0" y="0"/>
                </a:moveTo>
                <a:lnTo>
                  <a:pt x="970788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536698" y="4648961"/>
            <a:ext cx="11906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v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rpart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120902" y="5191505"/>
            <a:ext cx="605028" cy="2987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120902" y="5191505"/>
            <a:ext cx="605155" cy="299085"/>
          </a:xfrm>
          <a:custGeom>
            <a:avLst/>
            <a:gdLst/>
            <a:ahLst/>
            <a:cxnLst/>
            <a:rect l="l" t="t" r="r" b="b"/>
            <a:pathLst>
              <a:path w="605155" h="299085">
                <a:moveTo>
                  <a:pt x="453770" y="0"/>
                </a:moveTo>
                <a:lnTo>
                  <a:pt x="453770" y="224028"/>
                </a:lnTo>
                <a:lnTo>
                  <a:pt x="605028" y="224028"/>
                </a:lnTo>
                <a:lnTo>
                  <a:pt x="302513" y="298704"/>
                </a:lnTo>
                <a:lnTo>
                  <a:pt x="0" y="224028"/>
                </a:lnTo>
                <a:lnTo>
                  <a:pt x="151256" y="224028"/>
                </a:lnTo>
                <a:lnTo>
                  <a:pt x="151256" y="0"/>
                </a:lnTo>
                <a:lnTo>
                  <a:pt x="302513" y="37338"/>
                </a:lnTo>
                <a:lnTo>
                  <a:pt x="453770" y="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59740" y="5414823"/>
            <a:ext cx="2252980" cy="1136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10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编译时计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填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入内情向量表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767963" y="4900676"/>
            <a:ext cx="561594" cy="5614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767963" y="4900676"/>
            <a:ext cx="561975" cy="561975"/>
          </a:xfrm>
          <a:custGeom>
            <a:avLst/>
            <a:gdLst/>
            <a:ahLst/>
            <a:cxnLst/>
            <a:rect l="l" t="t" r="r" b="b"/>
            <a:pathLst>
              <a:path w="561975" h="561975">
                <a:moveTo>
                  <a:pt x="175640" y="0"/>
                </a:moveTo>
                <a:lnTo>
                  <a:pt x="473710" y="297942"/>
                </a:lnTo>
                <a:lnTo>
                  <a:pt x="561594" y="210185"/>
                </a:lnTo>
                <a:lnTo>
                  <a:pt x="485139" y="485140"/>
                </a:lnTo>
                <a:lnTo>
                  <a:pt x="210185" y="561467"/>
                </a:lnTo>
                <a:lnTo>
                  <a:pt x="298069" y="473710"/>
                </a:lnTo>
                <a:lnTo>
                  <a:pt x="0" y="175641"/>
                </a:lnTo>
                <a:lnTo>
                  <a:pt x="137540" y="137413"/>
                </a:lnTo>
                <a:lnTo>
                  <a:pt x="175640" y="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3622675" y="5421224"/>
            <a:ext cx="4661535" cy="1136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10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据数元引用情况，产生计算的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中间代码，程序运行时算出。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648711" y="6562343"/>
            <a:ext cx="1156970" cy="295910"/>
          </a:xfrm>
          <a:custGeom>
            <a:avLst/>
            <a:gdLst/>
            <a:ahLst/>
            <a:cxnLst/>
            <a:rect l="l" t="t" r="r" b="b"/>
            <a:pathLst>
              <a:path w="1156970" h="295909">
                <a:moveTo>
                  <a:pt x="1156715" y="0"/>
                </a:moveTo>
                <a:lnTo>
                  <a:pt x="0" y="0"/>
                </a:lnTo>
                <a:lnTo>
                  <a:pt x="0" y="295654"/>
                </a:lnTo>
                <a:lnTo>
                  <a:pt x="1156715" y="295654"/>
                </a:lnTo>
                <a:lnTo>
                  <a:pt x="1156715" y="273367"/>
                </a:lnTo>
                <a:lnTo>
                  <a:pt x="695578" y="273367"/>
                </a:lnTo>
                <a:lnTo>
                  <a:pt x="461263" y="156209"/>
                </a:lnTo>
                <a:lnTo>
                  <a:pt x="695578" y="39052"/>
                </a:lnTo>
                <a:lnTo>
                  <a:pt x="1156715" y="39052"/>
                </a:lnTo>
                <a:lnTo>
                  <a:pt x="1156715" y="0"/>
                </a:lnTo>
                <a:close/>
              </a:path>
              <a:path w="1156970" h="295909">
                <a:moveTo>
                  <a:pt x="1156715" y="39052"/>
                </a:moveTo>
                <a:lnTo>
                  <a:pt x="695578" y="39052"/>
                </a:lnTo>
                <a:lnTo>
                  <a:pt x="695578" y="273367"/>
                </a:lnTo>
                <a:lnTo>
                  <a:pt x="1156715" y="273367"/>
                </a:lnTo>
                <a:lnTo>
                  <a:pt x="1156715" y="39052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109976" y="6601396"/>
            <a:ext cx="234315" cy="234315"/>
          </a:xfrm>
          <a:custGeom>
            <a:avLst/>
            <a:gdLst/>
            <a:ahLst/>
            <a:cxnLst/>
            <a:rect l="l" t="t" r="r" b="b"/>
            <a:pathLst>
              <a:path w="234314" h="234315">
                <a:moveTo>
                  <a:pt x="234314" y="0"/>
                </a:moveTo>
                <a:lnTo>
                  <a:pt x="0" y="117157"/>
                </a:lnTo>
                <a:lnTo>
                  <a:pt x="234314" y="234315"/>
                </a:lnTo>
                <a:lnTo>
                  <a:pt x="234314" y="0"/>
                </a:lnTo>
                <a:close/>
              </a:path>
            </a:pathLst>
          </a:custGeom>
          <a:solidFill>
            <a:srgbClr val="9999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2767329" y="6610908"/>
            <a:ext cx="92011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5" b="1">
                <a:latin typeface="宋体"/>
                <a:cs typeface="宋体"/>
                <a:hlinkClick r:id="rId8" action="ppaction://hlinksldjump"/>
              </a:rPr>
              <a:t>信息</a:t>
            </a:r>
            <a:r>
              <a:rPr dirty="0" sz="1400" b="1">
                <a:latin typeface="宋体"/>
                <a:cs typeface="宋体"/>
                <a:hlinkClick r:id="rId8" action="ppaction://hlinksldjump"/>
              </a:rPr>
              <a:t>向</a:t>
            </a:r>
            <a:r>
              <a:rPr dirty="0" sz="1400" spc="-5" b="1">
                <a:latin typeface="宋体"/>
                <a:cs typeface="宋体"/>
                <a:hlinkClick r:id="rId8" action="ppaction://hlinksldjump"/>
              </a:rPr>
              <a:t>量</a:t>
            </a:r>
            <a:r>
              <a:rPr dirty="0" sz="1400" b="1">
                <a:latin typeface="宋体"/>
                <a:cs typeface="宋体"/>
                <a:hlinkClick r:id="rId8" action="ppaction://hlinksldjump"/>
              </a:rPr>
              <a:t>表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705355" y="3924300"/>
            <a:ext cx="733425" cy="982980"/>
          </a:xfrm>
          <a:custGeom>
            <a:avLst/>
            <a:gdLst/>
            <a:ahLst/>
            <a:cxnLst/>
            <a:rect l="l" t="t" r="r" b="b"/>
            <a:pathLst>
              <a:path w="733425" h="982979">
                <a:moveTo>
                  <a:pt x="0" y="491489"/>
                </a:moveTo>
                <a:lnTo>
                  <a:pt x="2150" y="437944"/>
                </a:lnTo>
                <a:lnTo>
                  <a:pt x="8453" y="386066"/>
                </a:lnTo>
                <a:lnTo>
                  <a:pt x="18684" y="336157"/>
                </a:lnTo>
                <a:lnTo>
                  <a:pt x="32620" y="288517"/>
                </a:lnTo>
                <a:lnTo>
                  <a:pt x="50037" y="243444"/>
                </a:lnTo>
                <a:lnTo>
                  <a:pt x="70713" y="201241"/>
                </a:lnTo>
                <a:lnTo>
                  <a:pt x="94423" y="162205"/>
                </a:lnTo>
                <a:lnTo>
                  <a:pt x="120944" y="126639"/>
                </a:lnTo>
                <a:lnTo>
                  <a:pt x="150053" y="94841"/>
                </a:lnTo>
                <a:lnTo>
                  <a:pt x="181525" y="67112"/>
                </a:lnTo>
                <a:lnTo>
                  <a:pt x="215137" y="43752"/>
                </a:lnTo>
                <a:lnTo>
                  <a:pt x="250667" y="25060"/>
                </a:lnTo>
                <a:lnTo>
                  <a:pt x="287890" y="11338"/>
                </a:lnTo>
                <a:lnTo>
                  <a:pt x="326583" y="2884"/>
                </a:lnTo>
                <a:lnTo>
                  <a:pt x="366521" y="0"/>
                </a:lnTo>
                <a:lnTo>
                  <a:pt x="406460" y="2884"/>
                </a:lnTo>
                <a:lnTo>
                  <a:pt x="445153" y="11338"/>
                </a:lnTo>
                <a:lnTo>
                  <a:pt x="482376" y="25060"/>
                </a:lnTo>
                <a:lnTo>
                  <a:pt x="517906" y="43752"/>
                </a:lnTo>
                <a:lnTo>
                  <a:pt x="551518" y="67112"/>
                </a:lnTo>
                <a:lnTo>
                  <a:pt x="582990" y="94841"/>
                </a:lnTo>
                <a:lnTo>
                  <a:pt x="612099" y="126639"/>
                </a:lnTo>
                <a:lnTo>
                  <a:pt x="638620" y="162205"/>
                </a:lnTo>
                <a:lnTo>
                  <a:pt x="662330" y="201241"/>
                </a:lnTo>
                <a:lnTo>
                  <a:pt x="683006" y="243444"/>
                </a:lnTo>
                <a:lnTo>
                  <a:pt x="700423" y="288517"/>
                </a:lnTo>
                <a:lnTo>
                  <a:pt x="714359" y="336157"/>
                </a:lnTo>
                <a:lnTo>
                  <a:pt x="724590" y="386066"/>
                </a:lnTo>
                <a:lnTo>
                  <a:pt x="730893" y="437944"/>
                </a:lnTo>
                <a:lnTo>
                  <a:pt x="733044" y="491489"/>
                </a:lnTo>
                <a:lnTo>
                  <a:pt x="730893" y="545035"/>
                </a:lnTo>
                <a:lnTo>
                  <a:pt x="724590" y="596913"/>
                </a:lnTo>
                <a:lnTo>
                  <a:pt x="714359" y="646822"/>
                </a:lnTo>
                <a:lnTo>
                  <a:pt x="700423" y="694462"/>
                </a:lnTo>
                <a:lnTo>
                  <a:pt x="683006" y="739535"/>
                </a:lnTo>
                <a:lnTo>
                  <a:pt x="662330" y="781738"/>
                </a:lnTo>
                <a:lnTo>
                  <a:pt x="638620" y="820774"/>
                </a:lnTo>
                <a:lnTo>
                  <a:pt x="612099" y="856340"/>
                </a:lnTo>
                <a:lnTo>
                  <a:pt x="582990" y="888138"/>
                </a:lnTo>
                <a:lnTo>
                  <a:pt x="551518" y="915867"/>
                </a:lnTo>
                <a:lnTo>
                  <a:pt x="517906" y="939227"/>
                </a:lnTo>
                <a:lnTo>
                  <a:pt x="482376" y="957919"/>
                </a:lnTo>
                <a:lnTo>
                  <a:pt x="445153" y="971641"/>
                </a:lnTo>
                <a:lnTo>
                  <a:pt x="406460" y="980095"/>
                </a:lnTo>
                <a:lnTo>
                  <a:pt x="366521" y="982980"/>
                </a:lnTo>
                <a:lnTo>
                  <a:pt x="326583" y="980095"/>
                </a:lnTo>
                <a:lnTo>
                  <a:pt x="287890" y="971641"/>
                </a:lnTo>
                <a:lnTo>
                  <a:pt x="250667" y="957919"/>
                </a:lnTo>
                <a:lnTo>
                  <a:pt x="215137" y="939227"/>
                </a:lnTo>
                <a:lnTo>
                  <a:pt x="181525" y="915867"/>
                </a:lnTo>
                <a:lnTo>
                  <a:pt x="150053" y="888138"/>
                </a:lnTo>
                <a:lnTo>
                  <a:pt x="120944" y="856340"/>
                </a:lnTo>
                <a:lnTo>
                  <a:pt x="94423" y="820774"/>
                </a:lnTo>
                <a:lnTo>
                  <a:pt x="70713" y="781738"/>
                </a:lnTo>
                <a:lnTo>
                  <a:pt x="50037" y="739535"/>
                </a:lnTo>
                <a:lnTo>
                  <a:pt x="32620" y="694462"/>
                </a:lnTo>
                <a:lnTo>
                  <a:pt x="18684" y="646822"/>
                </a:lnTo>
                <a:lnTo>
                  <a:pt x="8453" y="596913"/>
                </a:lnTo>
                <a:lnTo>
                  <a:pt x="2150" y="545035"/>
                </a:lnTo>
                <a:lnTo>
                  <a:pt x="0" y="491489"/>
                </a:lnTo>
                <a:close/>
              </a:path>
            </a:pathLst>
          </a:custGeom>
          <a:ln w="5715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171433" y="6678574"/>
            <a:ext cx="817244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spc="-25" b="1">
                <a:solidFill>
                  <a:srgbClr val="FFFFFF"/>
                </a:solidFill>
                <a:latin typeface="Times New Roman"/>
                <a:cs typeface="Times New Roman"/>
              </a:rPr>
              <a:t>112</a:t>
            </a:r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33247" y="26923"/>
            <a:ext cx="41173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13275" y="26923"/>
            <a:ext cx="43694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6050" algn="l"/>
              </a:tabLst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6.6.4</a:t>
            </a:r>
            <a:r>
              <a:rPr dirty="0" u="sng" sz="2000" spc="42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数组说明与引用翻译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9740" y="845311"/>
            <a:ext cx="50946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94030" indent="-481965">
              <a:lnSpc>
                <a:spcPct val="100000"/>
              </a:lnSpc>
              <a:spcBef>
                <a:spcPts val="100"/>
              </a:spcBef>
              <a:buClr>
                <a:srgbClr val="66FFFF"/>
              </a:buClr>
              <a:buSzPct val="133333"/>
              <a:buFont typeface="Wingdings"/>
              <a:buChar char=""/>
              <a:tabLst>
                <a:tab pos="494665" algn="l"/>
              </a:tabLst>
            </a:pPr>
            <a:r>
              <a:rPr dirty="0" sz="3600" spc="-5" b="1">
                <a:solidFill>
                  <a:srgbClr val="FFFF0D"/>
                </a:solidFill>
                <a:latin typeface="宋体"/>
                <a:cs typeface="宋体"/>
              </a:rPr>
              <a:t>数组元素引用目标结构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62062" y="3281171"/>
            <a:ext cx="3095625" cy="0"/>
          </a:xfrm>
          <a:custGeom>
            <a:avLst/>
            <a:gdLst/>
            <a:ahLst/>
            <a:cxnLst/>
            <a:rect l="l" t="t" r="r" b="b"/>
            <a:pathLst>
              <a:path w="3095625" h="0">
                <a:moveTo>
                  <a:pt x="0" y="0"/>
                </a:moveTo>
                <a:lnTo>
                  <a:pt x="3095561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62062" y="4036948"/>
            <a:ext cx="3095625" cy="0"/>
          </a:xfrm>
          <a:custGeom>
            <a:avLst/>
            <a:gdLst/>
            <a:ahLst/>
            <a:cxnLst/>
            <a:rect l="l" t="t" r="r" b="b"/>
            <a:pathLst>
              <a:path w="3095625" h="0">
                <a:moveTo>
                  <a:pt x="0" y="0"/>
                </a:moveTo>
                <a:lnTo>
                  <a:pt x="3095561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76350" y="2100326"/>
            <a:ext cx="0" cy="2707005"/>
          </a:xfrm>
          <a:custGeom>
            <a:avLst/>
            <a:gdLst/>
            <a:ahLst/>
            <a:cxnLst/>
            <a:rect l="l" t="t" r="r" b="b"/>
            <a:pathLst>
              <a:path w="0" h="2707004">
                <a:moveTo>
                  <a:pt x="0" y="0"/>
                </a:moveTo>
                <a:lnTo>
                  <a:pt x="0" y="2706624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343400" y="2100326"/>
            <a:ext cx="0" cy="2707005"/>
          </a:xfrm>
          <a:custGeom>
            <a:avLst/>
            <a:gdLst/>
            <a:ahLst/>
            <a:cxnLst/>
            <a:rect l="l" t="t" r="r" b="b"/>
            <a:pathLst>
              <a:path w="0" h="2707004">
                <a:moveTo>
                  <a:pt x="0" y="0"/>
                </a:moveTo>
                <a:lnTo>
                  <a:pt x="0" y="2706624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262062" y="2114550"/>
            <a:ext cx="3095625" cy="0"/>
          </a:xfrm>
          <a:custGeom>
            <a:avLst/>
            <a:gdLst/>
            <a:ahLst/>
            <a:cxnLst/>
            <a:rect l="l" t="t" r="r" b="b"/>
            <a:pathLst>
              <a:path w="3095625" h="0">
                <a:moveTo>
                  <a:pt x="0" y="0"/>
                </a:moveTo>
                <a:lnTo>
                  <a:pt x="3095561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262062" y="4792598"/>
            <a:ext cx="3095625" cy="0"/>
          </a:xfrm>
          <a:custGeom>
            <a:avLst/>
            <a:gdLst/>
            <a:ahLst/>
            <a:cxnLst/>
            <a:rect l="l" t="t" r="r" b="b"/>
            <a:pathLst>
              <a:path w="3095625" h="0">
                <a:moveTo>
                  <a:pt x="0" y="0"/>
                </a:moveTo>
                <a:lnTo>
                  <a:pt x="3095561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265237" y="2072614"/>
            <a:ext cx="3089275" cy="1200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16610" marR="807720" indent="160020">
              <a:lnSpc>
                <a:spcPct val="120400"/>
              </a:lnSpc>
              <a:spcBef>
                <a:spcPts val="95"/>
              </a:spcBef>
            </a:pPr>
            <a:r>
              <a:rPr dirty="0" sz="3200" spc="-65" b="1">
                <a:solidFill>
                  <a:srgbClr val="FFFF00"/>
                </a:solidFill>
                <a:latin typeface="Times New Roman"/>
                <a:cs typeface="Times New Roman"/>
              </a:rPr>
              <a:t>V.code 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V</a:t>
            </a:r>
            <a:r>
              <a:rPr dirty="0" baseline="-15873" sz="3150" spc="37" b="1">
                <a:solidFill>
                  <a:srgbClr val="FFFF00"/>
                </a:solidFill>
                <a:latin typeface="宋体"/>
                <a:cs typeface="宋体"/>
              </a:rPr>
              <a:t>值</a:t>
            </a:r>
            <a:r>
              <a:rPr dirty="0" baseline="-15873" sz="3150" spc="-48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</a:t>
            </a:r>
            <a:r>
              <a:rPr dirty="0" sz="3200" spc="-9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65237" y="3338576"/>
            <a:ext cx="308927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354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CUN = </a:t>
            </a:r>
            <a:r>
              <a:rPr dirty="0" sz="3200" spc="10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15873" sz="3150" spc="15" b="1">
                <a:solidFill>
                  <a:srgbClr val="FFFF00"/>
                </a:solidFill>
                <a:latin typeface="Times New Roman"/>
                <a:cs typeface="Times New Roman"/>
              </a:rPr>
              <a:t>0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–</a:t>
            </a:r>
            <a:r>
              <a:rPr dirty="0" sz="3200" spc="-6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90637" y="4094479"/>
            <a:ext cx="303847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8935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T = CUN +</a:t>
            </a:r>
            <a:r>
              <a:rPr dirty="0" sz="3200" spc="-18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658361" y="2429129"/>
            <a:ext cx="1574800" cy="114300"/>
          </a:xfrm>
          <a:custGeom>
            <a:avLst/>
            <a:gdLst/>
            <a:ahLst/>
            <a:cxnLst/>
            <a:rect l="l" t="t" r="r" b="b"/>
            <a:pathLst>
              <a:path w="1574800" h="114300">
                <a:moveTo>
                  <a:pt x="1383791" y="76181"/>
                </a:moveTo>
                <a:lnTo>
                  <a:pt x="1383791" y="114300"/>
                </a:lnTo>
                <a:lnTo>
                  <a:pt x="1511074" y="76200"/>
                </a:lnTo>
                <a:lnTo>
                  <a:pt x="1402841" y="76200"/>
                </a:lnTo>
                <a:lnTo>
                  <a:pt x="1383791" y="76181"/>
                </a:lnTo>
                <a:close/>
              </a:path>
              <a:path w="1574800" h="114300">
                <a:moveTo>
                  <a:pt x="1383791" y="38081"/>
                </a:moveTo>
                <a:lnTo>
                  <a:pt x="1383791" y="76181"/>
                </a:lnTo>
                <a:lnTo>
                  <a:pt x="1402841" y="76200"/>
                </a:lnTo>
                <a:lnTo>
                  <a:pt x="1402841" y="38100"/>
                </a:lnTo>
                <a:lnTo>
                  <a:pt x="1383791" y="38081"/>
                </a:lnTo>
                <a:close/>
              </a:path>
              <a:path w="1574800" h="114300">
                <a:moveTo>
                  <a:pt x="1383791" y="0"/>
                </a:moveTo>
                <a:lnTo>
                  <a:pt x="1383791" y="38081"/>
                </a:lnTo>
                <a:lnTo>
                  <a:pt x="1402841" y="38100"/>
                </a:lnTo>
                <a:lnTo>
                  <a:pt x="1402841" y="76200"/>
                </a:lnTo>
                <a:lnTo>
                  <a:pt x="1511074" y="76200"/>
                </a:lnTo>
                <a:lnTo>
                  <a:pt x="1574291" y="57276"/>
                </a:lnTo>
                <a:lnTo>
                  <a:pt x="1383791" y="0"/>
                </a:lnTo>
                <a:close/>
              </a:path>
              <a:path w="1574800" h="114300">
                <a:moveTo>
                  <a:pt x="0" y="36703"/>
                </a:moveTo>
                <a:lnTo>
                  <a:pt x="0" y="74803"/>
                </a:lnTo>
                <a:lnTo>
                  <a:pt x="1383791" y="76181"/>
                </a:lnTo>
                <a:lnTo>
                  <a:pt x="1383791" y="38081"/>
                </a:lnTo>
                <a:lnTo>
                  <a:pt x="0" y="36703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261228" y="2192782"/>
            <a:ext cx="31800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计算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的中间代码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059173" y="3579876"/>
            <a:ext cx="1094740" cy="114300"/>
          </a:xfrm>
          <a:custGeom>
            <a:avLst/>
            <a:gdLst/>
            <a:ahLst/>
            <a:cxnLst/>
            <a:rect l="l" t="t" r="r" b="b"/>
            <a:pathLst>
              <a:path w="1094739" h="114300">
                <a:moveTo>
                  <a:pt x="903731" y="0"/>
                </a:moveTo>
                <a:lnTo>
                  <a:pt x="903731" y="114300"/>
                </a:lnTo>
                <a:lnTo>
                  <a:pt x="1030731" y="76200"/>
                </a:lnTo>
                <a:lnTo>
                  <a:pt x="922781" y="76200"/>
                </a:lnTo>
                <a:lnTo>
                  <a:pt x="922781" y="38100"/>
                </a:lnTo>
                <a:lnTo>
                  <a:pt x="1030731" y="38100"/>
                </a:lnTo>
                <a:lnTo>
                  <a:pt x="903731" y="0"/>
                </a:lnTo>
                <a:close/>
              </a:path>
              <a:path w="1094739" h="114300">
                <a:moveTo>
                  <a:pt x="90373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03731" y="76200"/>
                </a:lnTo>
                <a:lnTo>
                  <a:pt x="903731" y="38100"/>
                </a:lnTo>
                <a:close/>
              </a:path>
              <a:path w="1094739" h="114300">
                <a:moveTo>
                  <a:pt x="1030731" y="38100"/>
                </a:moveTo>
                <a:lnTo>
                  <a:pt x="922781" y="38100"/>
                </a:lnTo>
                <a:lnTo>
                  <a:pt x="922781" y="76200"/>
                </a:lnTo>
                <a:lnTo>
                  <a:pt x="1030731" y="76200"/>
                </a:lnTo>
                <a:lnTo>
                  <a:pt x="1094231" y="57150"/>
                </a:lnTo>
                <a:lnTo>
                  <a:pt x="1030731" y="381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059173" y="4309871"/>
            <a:ext cx="1123315" cy="114300"/>
          </a:xfrm>
          <a:custGeom>
            <a:avLst/>
            <a:gdLst/>
            <a:ahLst/>
            <a:cxnLst/>
            <a:rect l="l" t="t" r="r" b="b"/>
            <a:pathLst>
              <a:path w="1123314" h="114300">
                <a:moveTo>
                  <a:pt x="932688" y="0"/>
                </a:moveTo>
                <a:lnTo>
                  <a:pt x="932688" y="114300"/>
                </a:lnTo>
                <a:lnTo>
                  <a:pt x="1059688" y="76200"/>
                </a:lnTo>
                <a:lnTo>
                  <a:pt x="951738" y="76200"/>
                </a:lnTo>
                <a:lnTo>
                  <a:pt x="951738" y="38100"/>
                </a:lnTo>
                <a:lnTo>
                  <a:pt x="1059688" y="38100"/>
                </a:lnTo>
                <a:lnTo>
                  <a:pt x="932688" y="0"/>
                </a:lnTo>
                <a:close/>
              </a:path>
              <a:path w="1123314" h="114300">
                <a:moveTo>
                  <a:pt x="9326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32688" y="76200"/>
                </a:lnTo>
                <a:lnTo>
                  <a:pt x="932688" y="38100"/>
                </a:lnTo>
                <a:close/>
              </a:path>
              <a:path w="1123314" h="114300">
                <a:moveTo>
                  <a:pt x="1059688" y="38100"/>
                </a:moveTo>
                <a:lnTo>
                  <a:pt x="951738" y="38100"/>
                </a:lnTo>
                <a:lnTo>
                  <a:pt x="951738" y="76200"/>
                </a:lnTo>
                <a:lnTo>
                  <a:pt x="1059688" y="76200"/>
                </a:lnTo>
                <a:lnTo>
                  <a:pt x="1123188" y="57150"/>
                </a:lnTo>
                <a:lnTo>
                  <a:pt x="1059688" y="381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232653" y="3047974"/>
            <a:ext cx="3418840" cy="1559560"/>
          </a:xfrm>
          <a:prstGeom prst="rect">
            <a:avLst/>
          </a:prstGeom>
        </p:spPr>
        <p:txBody>
          <a:bodyPr wrap="square" lIns="0" tIns="291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9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计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dirty="0" sz="3200" spc="-819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CUN</a:t>
            </a:r>
            <a:endParaRPr sz="32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22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数组元素地</a:t>
            </a:r>
            <a:r>
              <a:rPr dirty="0" sz="3200" spc="780" b="1">
                <a:solidFill>
                  <a:srgbClr val="FFFFFF"/>
                </a:solidFill>
                <a:latin typeface="宋体"/>
                <a:cs typeface="宋体"/>
              </a:rPr>
              <a:t>址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</a:t>
            </a:r>
            <a:r>
              <a:rPr dirty="0" sz="3200" spc="-13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171433" y="6678574"/>
            <a:ext cx="2038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4463" y="6678574"/>
            <a:ext cx="2038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33247" y="26923"/>
            <a:ext cx="34855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4317" y="355853"/>
            <a:ext cx="288036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3317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6.4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设有说明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18717" y="765809"/>
            <a:ext cx="432434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1809" y="1180033"/>
            <a:ext cx="236474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91845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a[1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[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20]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18717" y="1595120"/>
            <a:ext cx="432434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1809" y="2014220"/>
            <a:ext cx="2078989" cy="9239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535"/>
              </a:lnSpc>
              <a:spcBef>
                <a:spcPts val="105"/>
              </a:spcBef>
            </a:pP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s=</a:t>
            </a:r>
            <a:r>
              <a:rPr dirty="0" u="heavy" sz="3200" spc="-7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a[x][y]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marL="419100">
              <a:lnSpc>
                <a:spcPts val="3535"/>
              </a:lnSpc>
            </a:pP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75478" y="2085848"/>
            <a:ext cx="432434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Arial"/>
                <a:cs typeface="Arial"/>
              </a:rPr>
              <a:t>…</a:t>
            </a:r>
            <a:endParaRPr sz="3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61276" y="1447800"/>
            <a:ext cx="995680" cy="579120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wrap="square" lIns="0" tIns="704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66103" y="1447800"/>
            <a:ext cx="995680" cy="579120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wrap="square" lIns="0" tIns="71120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560"/>
              </a:spcBef>
            </a:pPr>
            <a:r>
              <a:rPr dirty="0" sz="2600" b="1">
                <a:solidFill>
                  <a:srgbClr val="FFFF00"/>
                </a:solidFill>
                <a:latin typeface="Times New Roman"/>
                <a:cs typeface="Times New Roman"/>
              </a:rPr>
              <a:t>array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85981" y="1506092"/>
            <a:ext cx="9740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826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171694" y="872489"/>
            <a:ext cx="3972560" cy="0"/>
          </a:xfrm>
          <a:custGeom>
            <a:avLst/>
            <a:gdLst/>
            <a:ahLst/>
            <a:cxnLst/>
            <a:rect l="l" t="t" r="r" b="b"/>
            <a:pathLst>
              <a:path w="3972559" h="0">
                <a:moveTo>
                  <a:pt x="0" y="0"/>
                </a:moveTo>
                <a:lnTo>
                  <a:pt x="3972305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170932" y="1447800"/>
            <a:ext cx="3973195" cy="0"/>
          </a:xfrm>
          <a:custGeom>
            <a:avLst/>
            <a:gdLst/>
            <a:ahLst/>
            <a:cxnLst/>
            <a:rect l="l" t="t" r="r" b="b"/>
            <a:pathLst>
              <a:path w="3973195" h="0">
                <a:moveTo>
                  <a:pt x="0" y="0"/>
                </a:moveTo>
                <a:lnTo>
                  <a:pt x="3973067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170932" y="2026920"/>
            <a:ext cx="3973195" cy="0"/>
          </a:xfrm>
          <a:custGeom>
            <a:avLst/>
            <a:gdLst/>
            <a:ahLst/>
            <a:cxnLst/>
            <a:rect l="l" t="t" r="r" b="b"/>
            <a:pathLst>
              <a:path w="3973195" h="0">
                <a:moveTo>
                  <a:pt x="0" y="0"/>
                </a:moveTo>
                <a:lnTo>
                  <a:pt x="3973067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166103" y="871727"/>
            <a:ext cx="0" cy="1734820"/>
          </a:xfrm>
          <a:custGeom>
            <a:avLst/>
            <a:gdLst/>
            <a:ahLst/>
            <a:cxnLst/>
            <a:rect l="l" t="t" r="r" b="b"/>
            <a:pathLst>
              <a:path w="0" h="1734820">
                <a:moveTo>
                  <a:pt x="0" y="0"/>
                </a:moveTo>
                <a:lnTo>
                  <a:pt x="0" y="17343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161276" y="871727"/>
            <a:ext cx="0" cy="1734820"/>
          </a:xfrm>
          <a:custGeom>
            <a:avLst/>
            <a:gdLst/>
            <a:ahLst/>
            <a:cxnLst/>
            <a:rect l="l" t="t" r="r" b="b"/>
            <a:pathLst>
              <a:path w="0" h="1734820">
                <a:moveTo>
                  <a:pt x="0" y="0"/>
                </a:moveTo>
                <a:lnTo>
                  <a:pt x="0" y="17343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156447" y="871727"/>
            <a:ext cx="0" cy="1734820"/>
          </a:xfrm>
          <a:custGeom>
            <a:avLst/>
            <a:gdLst/>
            <a:ahLst/>
            <a:cxnLst/>
            <a:rect l="l" t="t" r="r" b="b"/>
            <a:pathLst>
              <a:path w="0" h="1734820">
                <a:moveTo>
                  <a:pt x="0" y="0"/>
                </a:moveTo>
                <a:lnTo>
                  <a:pt x="0" y="17343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170932" y="2026920"/>
            <a:ext cx="0" cy="579120"/>
          </a:xfrm>
          <a:custGeom>
            <a:avLst/>
            <a:gdLst/>
            <a:ahLst/>
            <a:cxnLst/>
            <a:rect l="l" t="t" r="r" b="b"/>
            <a:pathLst>
              <a:path w="0" h="579119">
                <a:moveTo>
                  <a:pt x="0" y="0"/>
                </a:moveTo>
                <a:lnTo>
                  <a:pt x="0" y="57911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171694" y="872489"/>
            <a:ext cx="0" cy="1155700"/>
          </a:xfrm>
          <a:custGeom>
            <a:avLst/>
            <a:gdLst/>
            <a:ahLst/>
            <a:cxnLst/>
            <a:rect l="l" t="t" r="r" b="b"/>
            <a:pathLst>
              <a:path w="0" h="1155700">
                <a:moveTo>
                  <a:pt x="0" y="0"/>
                </a:moveTo>
                <a:lnTo>
                  <a:pt x="0" y="1155192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105783" y="9246"/>
            <a:ext cx="4877435" cy="131381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520065" algn="l"/>
                <a:tab pos="1923414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6.6.4</a:t>
            </a:r>
            <a:r>
              <a:rPr dirty="0" u="sng" sz="2000" spc="42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数组说明与引用翻译</a:t>
            </a:r>
            <a:endParaRPr sz="2000">
              <a:latin typeface="宋体"/>
              <a:cs typeface="宋体"/>
            </a:endParaRPr>
          </a:p>
          <a:p>
            <a:pPr marL="1161415">
              <a:lnSpc>
                <a:spcPct val="100000"/>
              </a:lnSpc>
              <a:spcBef>
                <a:spcPts val="1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namelist</a:t>
            </a:r>
            <a:endParaRPr sz="2800">
              <a:latin typeface="Times New Roman"/>
              <a:cs typeface="Times New Roman"/>
            </a:endParaRPr>
          </a:p>
          <a:p>
            <a:pPr marL="1206500">
              <a:lnSpc>
                <a:spcPct val="100000"/>
              </a:lnSpc>
              <a:spcBef>
                <a:spcPts val="1165"/>
              </a:spcBef>
              <a:tabLst>
                <a:tab pos="2261235" algn="l"/>
                <a:tab pos="3273425" algn="l"/>
                <a:tab pos="4235450" algn="l"/>
              </a:tabLst>
            </a:pP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name	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k</a:t>
            </a: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ind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	type	</a:t>
            </a: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addr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9021318" y="1867661"/>
            <a:ext cx="0" cy="1295400"/>
          </a:xfrm>
          <a:custGeom>
            <a:avLst/>
            <a:gdLst/>
            <a:ahLst/>
            <a:cxnLst/>
            <a:rect l="l" t="t" r="r" b="b"/>
            <a:pathLst>
              <a:path w="0" h="1295400">
                <a:moveTo>
                  <a:pt x="0" y="0"/>
                </a:moveTo>
                <a:lnTo>
                  <a:pt x="0" y="1295400"/>
                </a:lnTo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8734806" y="3105911"/>
            <a:ext cx="287020" cy="114300"/>
          </a:xfrm>
          <a:custGeom>
            <a:avLst/>
            <a:gdLst/>
            <a:ahLst/>
            <a:cxnLst/>
            <a:rect l="l" t="t" r="r" b="b"/>
            <a:pathLst>
              <a:path w="28702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28702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287020" h="114300">
                <a:moveTo>
                  <a:pt x="286512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286512" y="76200"/>
                </a:lnTo>
                <a:lnTo>
                  <a:pt x="286512" y="38100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6222682" y="2912554"/>
          <a:ext cx="2576195" cy="38341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33015"/>
              </a:tblGrid>
              <a:tr h="531113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318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75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318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10*20=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200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75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318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C=(20+1)*4=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75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3200" spc="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15873" sz="3150" spc="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baseline="-15873" sz="3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81406">
                <a:tc>
                  <a:txBody>
                    <a:bodyPr/>
                    <a:lstStyle/>
                    <a:p>
                      <a:pPr algn="ctr" marR="130810">
                        <a:lnSpc>
                          <a:spcPts val="3760"/>
                        </a:lnSpc>
                        <a:spcBef>
                          <a:spcPts val="57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3200">
                        <a:latin typeface="Arial"/>
                        <a:cs typeface="Arial"/>
                      </a:endParaRPr>
                    </a:p>
                    <a:p>
                      <a:pPr algn="r" marR="50800">
                        <a:lnSpc>
                          <a:spcPts val="140"/>
                        </a:lnSpc>
                      </a:pPr>
                      <a:r>
                        <a:rPr dirty="0" sz="1400" spc="-7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302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29" name="object 29"/>
          <p:cNvSpPr txBox="1"/>
          <p:nvPr/>
        </p:nvSpPr>
        <p:spPr>
          <a:xfrm>
            <a:off x="5743955" y="3567429"/>
            <a:ext cx="381000" cy="1854200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algn="just" marL="12700" marR="5080">
              <a:lnSpc>
                <a:spcPts val="2760"/>
              </a:lnSpc>
              <a:spcBef>
                <a:spcPts val="68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内 情 向 量 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658861" y="5060441"/>
            <a:ext cx="567055" cy="532130"/>
          </a:xfrm>
          <a:custGeom>
            <a:avLst/>
            <a:gdLst/>
            <a:ahLst/>
            <a:cxnLst/>
            <a:rect l="l" t="t" r="r" b="b"/>
            <a:pathLst>
              <a:path w="567054" h="532129">
                <a:moveTo>
                  <a:pt x="0" y="265937"/>
                </a:moveTo>
                <a:lnTo>
                  <a:pt x="4565" y="218151"/>
                </a:lnTo>
                <a:lnTo>
                  <a:pt x="17729" y="173168"/>
                </a:lnTo>
                <a:lnTo>
                  <a:pt x="38692" y="131741"/>
                </a:lnTo>
                <a:lnTo>
                  <a:pt x="66654" y="94622"/>
                </a:lnTo>
                <a:lnTo>
                  <a:pt x="100816" y="62565"/>
                </a:lnTo>
                <a:lnTo>
                  <a:pt x="140377" y="36321"/>
                </a:lnTo>
                <a:lnTo>
                  <a:pt x="184538" y="16644"/>
                </a:lnTo>
                <a:lnTo>
                  <a:pt x="232500" y="4286"/>
                </a:lnTo>
                <a:lnTo>
                  <a:pt x="283464" y="0"/>
                </a:lnTo>
                <a:lnTo>
                  <a:pt x="334427" y="4286"/>
                </a:lnTo>
                <a:lnTo>
                  <a:pt x="382389" y="16644"/>
                </a:lnTo>
                <a:lnTo>
                  <a:pt x="426550" y="36321"/>
                </a:lnTo>
                <a:lnTo>
                  <a:pt x="466111" y="62565"/>
                </a:lnTo>
                <a:lnTo>
                  <a:pt x="500273" y="94622"/>
                </a:lnTo>
                <a:lnTo>
                  <a:pt x="528235" y="131741"/>
                </a:lnTo>
                <a:lnTo>
                  <a:pt x="549198" y="173168"/>
                </a:lnTo>
                <a:lnTo>
                  <a:pt x="562362" y="218151"/>
                </a:lnTo>
                <a:lnTo>
                  <a:pt x="566928" y="265937"/>
                </a:lnTo>
                <a:lnTo>
                  <a:pt x="562362" y="313724"/>
                </a:lnTo>
                <a:lnTo>
                  <a:pt x="549198" y="358707"/>
                </a:lnTo>
                <a:lnTo>
                  <a:pt x="528235" y="400134"/>
                </a:lnTo>
                <a:lnTo>
                  <a:pt x="500273" y="437253"/>
                </a:lnTo>
                <a:lnTo>
                  <a:pt x="466111" y="469310"/>
                </a:lnTo>
                <a:lnTo>
                  <a:pt x="426550" y="495553"/>
                </a:lnTo>
                <a:lnTo>
                  <a:pt x="382389" y="515231"/>
                </a:lnTo>
                <a:lnTo>
                  <a:pt x="334427" y="527589"/>
                </a:lnTo>
                <a:lnTo>
                  <a:pt x="283464" y="531875"/>
                </a:lnTo>
                <a:lnTo>
                  <a:pt x="232500" y="527589"/>
                </a:lnTo>
                <a:lnTo>
                  <a:pt x="184538" y="515231"/>
                </a:lnTo>
                <a:lnTo>
                  <a:pt x="140377" y="495553"/>
                </a:lnTo>
                <a:lnTo>
                  <a:pt x="100816" y="469310"/>
                </a:lnTo>
                <a:lnTo>
                  <a:pt x="66654" y="437253"/>
                </a:lnTo>
                <a:lnTo>
                  <a:pt x="38692" y="400134"/>
                </a:lnTo>
                <a:lnTo>
                  <a:pt x="17729" y="358707"/>
                </a:lnTo>
                <a:lnTo>
                  <a:pt x="4565" y="313724"/>
                </a:lnTo>
                <a:lnTo>
                  <a:pt x="0" y="265937"/>
                </a:lnTo>
                <a:close/>
              </a:path>
            </a:pathLst>
          </a:custGeom>
          <a:ln w="38099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375397" y="1495805"/>
            <a:ext cx="565785" cy="532130"/>
          </a:xfrm>
          <a:custGeom>
            <a:avLst/>
            <a:gdLst/>
            <a:ahLst/>
            <a:cxnLst/>
            <a:rect l="l" t="t" r="r" b="b"/>
            <a:pathLst>
              <a:path w="565784" h="532130">
                <a:moveTo>
                  <a:pt x="0" y="265938"/>
                </a:moveTo>
                <a:lnTo>
                  <a:pt x="4556" y="218151"/>
                </a:lnTo>
                <a:lnTo>
                  <a:pt x="17692" y="173168"/>
                </a:lnTo>
                <a:lnTo>
                  <a:pt x="38607" y="131741"/>
                </a:lnTo>
                <a:lnTo>
                  <a:pt x="66504" y="94622"/>
                </a:lnTo>
                <a:lnTo>
                  <a:pt x="100580" y="62565"/>
                </a:lnTo>
                <a:lnTo>
                  <a:pt x="140038" y="36322"/>
                </a:lnTo>
                <a:lnTo>
                  <a:pt x="184077" y="16644"/>
                </a:lnTo>
                <a:lnTo>
                  <a:pt x="231898" y="4286"/>
                </a:lnTo>
                <a:lnTo>
                  <a:pt x="282701" y="0"/>
                </a:lnTo>
                <a:lnTo>
                  <a:pt x="333505" y="4286"/>
                </a:lnTo>
                <a:lnTo>
                  <a:pt x="381326" y="16644"/>
                </a:lnTo>
                <a:lnTo>
                  <a:pt x="425365" y="36322"/>
                </a:lnTo>
                <a:lnTo>
                  <a:pt x="464823" y="62565"/>
                </a:lnTo>
                <a:lnTo>
                  <a:pt x="498899" y="94622"/>
                </a:lnTo>
                <a:lnTo>
                  <a:pt x="526795" y="131741"/>
                </a:lnTo>
                <a:lnTo>
                  <a:pt x="547711" y="173168"/>
                </a:lnTo>
                <a:lnTo>
                  <a:pt x="560847" y="218151"/>
                </a:lnTo>
                <a:lnTo>
                  <a:pt x="565403" y="265938"/>
                </a:lnTo>
                <a:lnTo>
                  <a:pt x="560847" y="313724"/>
                </a:lnTo>
                <a:lnTo>
                  <a:pt x="547711" y="358707"/>
                </a:lnTo>
                <a:lnTo>
                  <a:pt x="526796" y="400134"/>
                </a:lnTo>
                <a:lnTo>
                  <a:pt x="498899" y="437253"/>
                </a:lnTo>
                <a:lnTo>
                  <a:pt x="464823" y="469310"/>
                </a:lnTo>
                <a:lnTo>
                  <a:pt x="425365" y="495554"/>
                </a:lnTo>
                <a:lnTo>
                  <a:pt x="381326" y="515231"/>
                </a:lnTo>
                <a:lnTo>
                  <a:pt x="333505" y="527589"/>
                </a:lnTo>
                <a:lnTo>
                  <a:pt x="282701" y="531876"/>
                </a:lnTo>
                <a:lnTo>
                  <a:pt x="231898" y="527589"/>
                </a:lnTo>
                <a:lnTo>
                  <a:pt x="184077" y="515231"/>
                </a:lnTo>
                <a:lnTo>
                  <a:pt x="140038" y="495554"/>
                </a:lnTo>
                <a:lnTo>
                  <a:pt x="100580" y="469310"/>
                </a:lnTo>
                <a:lnTo>
                  <a:pt x="66504" y="437253"/>
                </a:lnTo>
                <a:lnTo>
                  <a:pt x="38608" y="400134"/>
                </a:lnTo>
                <a:lnTo>
                  <a:pt x="17692" y="358707"/>
                </a:lnTo>
                <a:lnTo>
                  <a:pt x="4556" y="313724"/>
                </a:lnTo>
                <a:lnTo>
                  <a:pt x="0" y="265938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696211" y="6585204"/>
            <a:ext cx="952500" cy="273050"/>
          </a:xfrm>
          <a:custGeom>
            <a:avLst/>
            <a:gdLst/>
            <a:ahLst/>
            <a:cxnLst/>
            <a:rect l="l" t="t" r="r" b="b"/>
            <a:pathLst>
              <a:path w="952500" h="273050">
                <a:moveTo>
                  <a:pt x="952500" y="0"/>
                </a:moveTo>
                <a:lnTo>
                  <a:pt x="0" y="0"/>
                </a:lnTo>
                <a:lnTo>
                  <a:pt x="0" y="272794"/>
                </a:lnTo>
                <a:lnTo>
                  <a:pt x="952500" y="272794"/>
                </a:lnTo>
                <a:lnTo>
                  <a:pt x="952500" y="256030"/>
                </a:lnTo>
                <a:lnTo>
                  <a:pt x="585977" y="256030"/>
                </a:lnTo>
                <a:lnTo>
                  <a:pt x="366521" y="146304"/>
                </a:lnTo>
                <a:lnTo>
                  <a:pt x="585977" y="36576"/>
                </a:lnTo>
                <a:lnTo>
                  <a:pt x="952500" y="36576"/>
                </a:lnTo>
                <a:lnTo>
                  <a:pt x="952500" y="0"/>
                </a:lnTo>
                <a:close/>
              </a:path>
              <a:path w="952500" h="273050">
                <a:moveTo>
                  <a:pt x="952500" y="36576"/>
                </a:moveTo>
                <a:lnTo>
                  <a:pt x="585977" y="36576"/>
                </a:lnTo>
                <a:lnTo>
                  <a:pt x="585977" y="256030"/>
                </a:lnTo>
                <a:lnTo>
                  <a:pt x="952500" y="256030"/>
                </a:lnTo>
                <a:lnTo>
                  <a:pt x="952500" y="36576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062733" y="6621780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09">
                <a:moveTo>
                  <a:pt x="219456" y="0"/>
                </a:moveTo>
                <a:lnTo>
                  <a:pt x="0" y="109728"/>
                </a:lnTo>
                <a:lnTo>
                  <a:pt x="219456" y="219454"/>
                </a:lnTo>
                <a:lnTo>
                  <a:pt x="219456" y="0"/>
                </a:lnTo>
                <a:close/>
              </a:path>
            </a:pathLst>
          </a:custGeom>
          <a:solidFill>
            <a:srgbClr val="9999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825498" y="6623405"/>
            <a:ext cx="6934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Times New Roman"/>
                <a:cs typeface="Times New Roman"/>
                <a:hlinkClick r:id="rId4" action="ppaction://hlinksldjump"/>
              </a:rPr>
              <a:t>C</a:t>
            </a:r>
            <a:r>
              <a:rPr dirty="0" sz="1400" spc="5" b="1">
                <a:latin typeface="宋体"/>
                <a:cs typeface="宋体"/>
                <a:hlinkClick r:id="rId4" action="ppaction://hlinksldjump"/>
              </a:rPr>
              <a:t>的计算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563111" y="1362075"/>
            <a:ext cx="1313815" cy="171450"/>
          </a:xfrm>
          <a:custGeom>
            <a:avLst/>
            <a:gdLst/>
            <a:ahLst/>
            <a:cxnLst/>
            <a:rect l="l" t="t" r="r" b="b"/>
            <a:pathLst>
              <a:path w="1313814" h="171450">
                <a:moveTo>
                  <a:pt x="1027938" y="0"/>
                </a:moveTo>
                <a:lnTo>
                  <a:pt x="1027938" y="171450"/>
                </a:lnTo>
                <a:lnTo>
                  <a:pt x="1218438" y="114300"/>
                </a:lnTo>
                <a:lnTo>
                  <a:pt x="1056513" y="114300"/>
                </a:lnTo>
                <a:lnTo>
                  <a:pt x="1056513" y="57150"/>
                </a:lnTo>
                <a:lnTo>
                  <a:pt x="1218438" y="57150"/>
                </a:lnTo>
                <a:lnTo>
                  <a:pt x="1027938" y="0"/>
                </a:lnTo>
                <a:close/>
              </a:path>
              <a:path w="1313814" h="171450">
                <a:moveTo>
                  <a:pt x="1027938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027938" y="114300"/>
                </a:lnTo>
                <a:lnTo>
                  <a:pt x="1027938" y="57150"/>
                </a:lnTo>
                <a:close/>
              </a:path>
              <a:path w="1313814" h="171450">
                <a:moveTo>
                  <a:pt x="1218438" y="57150"/>
                </a:moveTo>
                <a:lnTo>
                  <a:pt x="1056513" y="57150"/>
                </a:lnTo>
                <a:lnTo>
                  <a:pt x="1056513" y="114300"/>
                </a:lnTo>
                <a:lnTo>
                  <a:pt x="1218438" y="114300"/>
                </a:lnTo>
                <a:lnTo>
                  <a:pt x="1313688" y="85725"/>
                </a:lnTo>
                <a:lnTo>
                  <a:pt x="1218438" y="57150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790700" y="1735835"/>
            <a:ext cx="1638300" cy="0"/>
          </a:xfrm>
          <a:custGeom>
            <a:avLst/>
            <a:gdLst/>
            <a:ahLst/>
            <a:cxnLst/>
            <a:rect l="l" t="t" r="r" b="b"/>
            <a:pathLst>
              <a:path w="1638300" h="0">
                <a:moveTo>
                  <a:pt x="0" y="0"/>
                </a:moveTo>
                <a:lnTo>
                  <a:pt x="1638300" y="0"/>
                </a:lnTo>
              </a:path>
            </a:pathLst>
          </a:custGeom>
          <a:ln w="5715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111125" y="3148012"/>
          <a:ext cx="2616200" cy="2557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3655"/>
              </a:tblGrid>
              <a:tr h="1216025">
                <a:tc>
                  <a:txBody>
                    <a:bodyPr/>
                    <a:lstStyle/>
                    <a:p>
                      <a:pPr marL="558165" marR="549910" indent="160020">
                        <a:lnSpc>
                          <a:spcPts val="4620"/>
                        </a:lnSpc>
                        <a:spcBef>
                          <a:spcPts val="55"/>
                        </a:spcBef>
                      </a:pPr>
                      <a:r>
                        <a:rPr dirty="0" sz="3200" spc="-6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V.code  </a:t>
                      </a: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dirty="0" baseline="-15873" sz="3150" spc="37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值</a:t>
                      </a:r>
                      <a:r>
                        <a:rPr dirty="0" baseline="-15873" sz="3150" spc="-48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3200" b="1">
                          <a:solidFill>
                            <a:srgbClr val="FFFF00"/>
                          </a:solidFill>
                          <a:latin typeface="Symbol"/>
                          <a:cs typeface="Symbol"/>
                        </a:rPr>
                        <a:t></a:t>
                      </a:r>
                      <a:r>
                        <a:rPr dirty="0" sz="3200" spc="-9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063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CUN = </a:t>
                      </a:r>
                      <a:r>
                        <a:rPr dirty="0" sz="3200" spc="1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15873" sz="3150" spc="1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0 </a:t>
                      </a: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dirty="0" sz="3200" spc="-9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6064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T = CUN +</a:t>
                      </a:r>
                      <a:r>
                        <a:rPr dirty="0" sz="3200" spc="-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8" name="object 38"/>
          <p:cNvSpPr/>
          <p:nvPr/>
        </p:nvSpPr>
        <p:spPr>
          <a:xfrm>
            <a:off x="2699004" y="3649598"/>
            <a:ext cx="485140" cy="171450"/>
          </a:xfrm>
          <a:custGeom>
            <a:avLst/>
            <a:gdLst/>
            <a:ahLst/>
            <a:cxnLst/>
            <a:rect l="l" t="t" r="r" b="b"/>
            <a:pathLst>
              <a:path w="485139" h="171450">
                <a:moveTo>
                  <a:pt x="313181" y="0"/>
                </a:moveTo>
                <a:lnTo>
                  <a:pt x="313181" y="171450"/>
                </a:lnTo>
                <a:lnTo>
                  <a:pt x="427481" y="114300"/>
                </a:lnTo>
                <a:lnTo>
                  <a:pt x="341756" y="114300"/>
                </a:lnTo>
                <a:lnTo>
                  <a:pt x="341756" y="57150"/>
                </a:lnTo>
                <a:lnTo>
                  <a:pt x="427481" y="57150"/>
                </a:lnTo>
                <a:lnTo>
                  <a:pt x="313181" y="0"/>
                </a:lnTo>
                <a:close/>
              </a:path>
              <a:path w="485139" h="171450">
                <a:moveTo>
                  <a:pt x="313181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313181" y="114300"/>
                </a:lnTo>
                <a:lnTo>
                  <a:pt x="313181" y="57150"/>
                </a:lnTo>
                <a:close/>
              </a:path>
              <a:path w="485139" h="171450">
                <a:moveTo>
                  <a:pt x="427481" y="57150"/>
                </a:moveTo>
                <a:lnTo>
                  <a:pt x="341756" y="57150"/>
                </a:lnTo>
                <a:lnTo>
                  <a:pt x="341756" y="114300"/>
                </a:lnTo>
                <a:lnTo>
                  <a:pt x="427481" y="114300"/>
                </a:lnTo>
                <a:lnTo>
                  <a:pt x="484631" y="85725"/>
                </a:lnTo>
                <a:lnTo>
                  <a:pt x="427481" y="57150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204210" y="3077717"/>
            <a:ext cx="131445" cy="1306195"/>
          </a:xfrm>
          <a:custGeom>
            <a:avLst/>
            <a:gdLst/>
            <a:ahLst/>
            <a:cxnLst/>
            <a:rect l="l" t="t" r="r" b="b"/>
            <a:pathLst>
              <a:path w="131445" h="1306195">
                <a:moveTo>
                  <a:pt x="131063" y="1306068"/>
                </a:moveTo>
                <a:lnTo>
                  <a:pt x="105554" y="1301857"/>
                </a:lnTo>
                <a:lnTo>
                  <a:pt x="84724" y="1290383"/>
                </a:lnTo>
                <a:lnTo>
                  <a:pt x="70681" y="1273385"/>
                </a:lnTo>
                <a:lnTo>
                  <a:pt x="65531" y="1252601"/>
                </a:lnTo>
                <a:lnTo>
                  <a:pt x="65531" y="706501"/>
                </a:lnTo>
                <a:lnTo>
                  <a:pt x="60382" y="685716"/>
                </a:lnTo>
                <a:lnTo>
                  <a:pt x="46339" y="668718"/>
                </a:lnTo>
                <a:lnTo>
                  <a:pt x="25509" y="657244"/>
                </a:lnTo>
                <a:lnTo>
                  <a:pt x="0" y="653034"/>
                </a:lnTo>
                <a:lnTo>
                  <a:pt x="25509" y="648823"/>
                </a:lnTo>
                <a:lnTo>
                  <a:pt x="46339" y="637349"/>
                </a:lnTo>
                <a:lnTo>
                  <a:pt x="60382" y="620351"/>
                </a:lnTo>
                <a:lnTo>
                  <a:pt x="65531" y="599567"/>
                </a:lnTo>
                <a:lnTo>
                  <a:pt x="65531" y="53467"/>
                </a:lnTo>
                <a:lnTo>
                  <a:pt x="70681" y="32682"/>
                </a:lnTo>
                <a:lnTo>
                  <a:pt x="84724" y="15684"/>
                </a:lnTo>
                <a:lnTo>
                  <a:pt x="105554" y="4210"/>
                </a:lnTo>
                <a:lnTo>
                  <a:pt x="131063" y="0"/>
                </a:lnTo>
              </a:path>
            </a:pathLst>
          </a:custGeom>
          <a:ln w="38100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3317875" y="2886201"/>
            <a:ext cx="20383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66FFFF"/>
                </a:solidFill>
                <a:latin typeface="方正舒体"/>
                <a:cs typeface="方正舒体"/>
              </a:rPr>
              <a:t>①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t1 = x *</a:t>
            </a:r>
            <a:r>
              <a:rPr dirty="0" sz="28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317875" y="3312727"/>
            <a:ext cx="2004060" cy="1134745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z="2800" spc="-15" b="1">
                <a:solidFill>
                  <a:srgbClr val="66FFFF"/>
                </a:solidFill>
                <a:latin typeface="方正舒体"/>
                <a:cs typeface="方正舒体"/>
              </a:rPr>
              <a:t>②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t1 = t1 +</a:t>
            </a:r>
            <a:r>
              <a:rPr dirty="0" sz="28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2800" spc="-15" b="1">
                <a:solidFill>
                  <a:srgbClr val="66FFFF"/>
                </a:solidFill>
                <a:latin typeface="方正舒体"/>
                <a:cs typeface="方正舒体"/>
              </a:rPr>
              <a:t>③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t2 = 4 *</a:t>
            </a:r>
            <a:r>
              <a:rPr dirty="0" sz="28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t1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591050" y="4675759"/>
            <a:ext cx="144780" cy="311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 spc="1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289172" y="4488307"/>
            <a:ext cx="21596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22730" algn="l"/>
              </a:tabLst>
            </a:pPr>
            <a:r>
              <a:rPr dirty="0" sz="2800" spc="-15" b="1">
                <a:solidFill>
                  <a:srgbClr val="66FFFF"/>
                </a:solidFill>
                <a:latin typeface="方正舒体"/>
                <a:cs typeface="方正舒体"/>
              </a:rPr>
              <a:t>④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t3</a:t>
            </a:r>
            <a:r>
              <a:rPr dirty="0" sz="2800" spc="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	–</a:t>
            </a:r>
            <a:r>
              <a:rPr dirty="0" sz="2800" spc="-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84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763011" y="4682871"/>
            <a:ext cx="571500" cy="171450"/>
          </a:xfrm>
          <a:custGeom>
            <a:avLst/>
            <a:gdLst/>
            <a:ahLst/>
            <a:cxnLst/>
            <a:rect l="l" t="t" r="r" b="b"/>
            <a:pathLst>
              <a:path w="571500" h="171450">
                <a:moveTo>
                  <a:pt x="400050" y="0"/>
                </a:moveTo>
                <a:lnTo>
                  <a:pt x="400050" y="171449"/>
                </a:lnTo>
                <a:lnTo>
                  <a:pt x="514350" y="114299"/>
                </a:lnTo>
                <a:lnTo>
                  <a:pt x="428625" y="114299"/>
                </a:lnTo>
                <a:lnTo>
                  <a:pt x="428625" y="57149"/>
                </a:lnTo>
                <a:lnTo>
                  <a:pt x="514350" y="57149"/>
                </a:lnTo>
                <a:lnTo>
                  <a:pt x="400050" y="0"/>
                </a:lnTo>
                <a:close/>
              </a:path>
              <a:path w="571500" h="171450">
                <a:moveTo>
                  <a:pt x="400050" y="57149"/>
                </a:moveTo>
                <a:lnTo>
                  <a:pt x="0" y="57149"/>
                </a:lnTo>
                <a:lnTo>
                  <a:pt x="0" y="114299"/>
                </a:lnTo>
                <a:lnTo>
                  <a:pt x="400050" y="114299"/>
                </a:lnTo>
                <a:lnTo>
                  <a:pt x="400050" y="57149"/>
                </a:lnTo>
                <a:close/>
              </a:path>
              <a:path w="571500" h="171450">
                <a:moveTo>
                  <a:pt x="514350" y="57149"/>
                </a:moveTo>
                <a:lnTo>
                  <a:pt x="428625" y="57149"/>
                </a:lnTo>
                <a:lnTo>
                  <a:pt x="428625" y="114299"/>
                </a:lnTo>
                <a:lnTo>
                  <a:pt x="514350" y="114299"/>
                </a:lnTo>
                <a:lnTo>
                  <a:pt x="571500" y="85724"/>
                </a:lnTo>
                <a:lnTo>
                  <a:pt x="514350" y="57149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3312667" y="5078983"/>
            <a:ext cx="198056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66FFFF"/>
                </a:solidFill>
                <a:latin typeface="方正舒体"/>
                <a:cs typeface="方正舒体"/>
              </a:rPr>
              <a:t>⑤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t4 =</a:t>
            </a:r>
            <a:r>
              <a:rPr dirty="0" sz="28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t3[t2]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312667" y="5633415"/>
            <a:ext cx="12877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66FFFF"/>
                </a:solidFill>
                <a:latin typeface="方正舒体"/>
                <a:cs typeface="方正舒体"/>
              </a:rPr>
              <a:t>⑥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 =</a:t>
            </a:r>
            <a:r>
              <a:rPr dirty="0" sz="28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t4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2763011" y="5260466"/>
            <a:ext cx="571500" cy="171450"/>
          </a:xfrm>
          <a:custGeom>
            <a:avLst/>
            <a:gdLst/>
            <a:ahLst/>
            <a:cxnLst/>
            <a:rect l="l" t="t" r="r" b="b"/>
            <a:pathLst>
              <a:path w="571500" h="171450">
                <a:moveTo>
                  <a:pt x="400050" y="0"/>
                </a:moveTo>
                <a:lnTo>
                  <a:pt x="400050" y="171450"/>
                </a:lnTo>
                <a:lnTo>
                  <a:pt x="514350" y="114300"/>
                </a:lnTo>
                <a:lnTo>
                  <a:pt x="428625" y="114300"/>
                </a:lnTo>
                <a:lnTo>
                  <a:pt x="428625" y="57150"/>
                </a:lnTo>
                <a:lnTo>
                  <a:pt x="514350" y="57150"/>
                </a:lnTo>
                <a:lnTo>
                  <a:pt x="400050" y="0"/>
                </a:lnTo>
                <a:close/>
              </a:path>
              <a:path w="571500" h="171450">
                <a:moveTo>
                  <a:pt x="400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400050" y="114300"/>
                </a:lnTo>
                <a:lnTo>
                  <a:pt x="400050" y="57150"/>
                </a:lnTo>
                <a:close/>
              </a:path>
              <a:path w="571500" h="171450">
                <a:moveTo>
                  <a:pt x="514350" y="57150"/>
                </a:moveTo>
                <a:lnTo>
                  <a:pt x="428625" y="57150"/>
                </a:lnTo>
                <a:lnTo>
                  <a:pt x="428625" y="114300"/>
                </a:lnTo>
                <a:lnTo>
                  <a:pt x="514350" y="114300"/>
                </a:lnTo>
                <a:lnTo>
                  <a:pt x="571500" y="85725"/>
                </a:lnTo>
                <a:lnTo>
                  <a:pt x="514350" y="57150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685794" y="2894838"/>
            <a:ext cx="1833880" cy="2677795"/>
          </a:xfrm>
          <a:custGeom>
            <a:avLst/>
            <a:gdLst/>
            <a:ahLst/>
            <a:cxnLst/>
            <a:rect l="l" t="t" r="r" b="b"/>
            <a:pathLst>
              <a:path w="1833879" h="2677795">
                <a:moveTo>
                  <a:pt x="0" y="2677668"/>
                </a:moveTo>
                <a:lnTo>
                  <a:pt x="1833372" y="2677668"/>
                </a:lnTo>
                <a:lnTo>
                  <a:pt x="1833372" y="0"/>
                </a:lnTo>
                <a:lnTo>
                  <a:pt x="0" y="0"/>
                </a:lnTo>
                <a:lnTo>
                  <a:pt x="0" y="2677668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3482975" y="2421127"/>
            <a:ext cx="23888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a[x][y]</a:t>
            </a:r>
            <a:r>
              <a:rPr dirty="0" baseline="-16516" sz="2775" b="1">
                <a:solidFill>
                  <a:srgbClr val="FFFFFF"/>
                </a:solidFill>
                <a:latin typeface="Times New Roman"/>
                <a:cs typeface="Times New Roman"/>
              </a:rPr>
              <a:t>addr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•code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13275" y="26923"/>
            <a:ext cx="43694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6050" algn="l"/>
              </a:tabLst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6.6.4</a:t>
            </a:r>
            <a:r>
              <a:rPr dirty="0" u="sng" sz="2000" spc="42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数组说明与引用翻译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3247" y="0"/>
            <a:ext cx="4117340" cy="111633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  <a:tabLst>
                <a:tab pos="655955" algn="l"/>
                <a:tab pos="3784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  <a:p>
            <a:pPr marL="583565" indent="-464184">
              <a:lnSpc>
                <a:spcPct val="100000"/>
              </a:lnSpc>
              <a:spcBef>
                <a:spcPts val="1835"/>
              </a:spcBef>
              <a:buClr>
                <a:srgbClr val="66FFFF"/>
              </a:buClr>
              <a:buSzPct val="139062"/>
              <a:buFont typeface="Wingdings"/>
              <a:buChar char=""/>
              <a:tabLst>
                <a:tab pos="58420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动态数组？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4640" y="1020583"/>
            <a:ext cx="8420735" cy="5200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66115" marR="431165" indent="304800">
              <a:lnSpc>
                <a:spcPct val="127600"/>
              </a:lnSpc>
              <a:spcBef>
                <a:spcPts val="100"/>
              </a:spcBef>
              <a:tabLst>
                <a:tab pos="2100580" algn="l"/>
                <a:tab pos="2574925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type	A	[d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r>
              <a:rPr dirty="0" sz="32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[d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]…</a:t>
            </a:r>
            <a:r>
              <a:rPr dirty="0" sz="32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[d</a:t>
            </a:r>
            <a:r>
              <a:rPr dirty="0" baseline="-15873" sz="3150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3200" spc="78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66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spc="-15" b="1">
                <a:solidFill>
                  <a:srgbClr val="66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66FFFF"/>
                </a:solidFill>
                <a:latin typeface="宋体"/>
                <a:cs typeface="宋体"/>
              </a:rPr>
              <a:t>是变</a:t>
            </a:r>
            <a:r>
              <a:rPr dirty="0" sz="3200" spc="780" b="1">
                <a:solidFill>
                  <a:srgbClr val="66FFFF"/>
                </a:solidFill>
                <a:latin typeface="宋体"/>
                <a:cs typeface="宋体"/>
              </a:rPr>
              <a:t>量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)  </a:t>
            </a:r>
            <a:r>
              <a:rPr dirty="0" sz="3200" b="1">
                <a:solidFill>
                  <a:srgbClr val="FFCCCC"/>
                </a:solidFill>
                <a:latin typeface="Times New Roman"/>
                <a:cs typeface="Times New Roman"/>
              </a:rPr>
              <a:t>(</a:t>
            </a:r>
            <a:r>
              <a:rPr dirty="0" sz="3200" spc="-65" b="1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CCCC"/>
                </a:solidFill>
                <a:latin typeface="宋体"/>
                <a:cs typeface="宋体"/>
              </a:rPr>
              <a:t>每维大小、体积等信息</a:t>
            </a:r>
            <a:r>
              <a:rPr dirty="0" sz="3200" spc="-15" b="1">
                <a:solidFill>
                  <a:srgbClr val="FFCCCC"/>
                </a:solidFill>
                <a:latin typeface="宋体"/>
                <a:cs typeface="宋体"/>
              </a:rPr>
              <a:t>程</a:t>
            </a:r>
            <a:r>
              <a:rPr dirty="0" sz="3200" b="1">
                <a:solidFill>
                  <a:srgbClr val="FFCCCC"/>
                </a:solidFill>
                <a:latin typeface="宋体"/>
                <a:cs typeface="宋体"/>
              </a:rPr>
              <a:t>序运</a:t>
            </a:r>
            <a:r>
              <a:rPr dirty="0" sz="3200" spc="-15" b="1">
                <a:solidFill>
                  <a:srgbClr val="FFCCCC"/>
                </a:solidFill>
                <a:latin typeface="宋体"/>
                <a:cs typeface="宋体"/>
              </a:rPr>
              <a:t>行</a:t>
            </a:r>
            <a:r>
              <a:rPr dirty="0" sz="3200" b="1">
                <a:solidFill>
                  <a:srgbClr val="FFCCCC"/>
                </a:solidFill>
                <a:latin typeface="宋体"/>
                <a:cs typeface="宋体"/>
              </a:rPr>
              <a:t>时确</a:t>
            </a:r>
            <a:r>
              <a:rPr dirty="0" sz="3200" spc="10" b="1">
                <a:solidFill>
                  <a:srgbClr val="FFCCCC"/>
                </a:solidFill>
                <a:latin typeface="宋体"/>
                <a:cs typeface="宋体"/>
              </a:rPr>
              <a:t>定</a:t>
            </a:r>
            <a:r>
              <a:rPr dirty="0" sz="3200" b="1">
                <a:solidFill>
                  <a:srgbClr val="FFCCCC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659765" indent="-463550">
              <a:lnSpc>
                <a:spcPct val="100000"/>
              </a:lnSpc>
              <a:spcBef>
                <a:spcPts val="2095"/>
              </a:spcBef>
              <a:buClr>
                <a:srgbClr val="66FFFF"/>
              </a:buClr>
              <a:buSzPct val="139062"/>
              <a:buFont typeface="Wingdings"/>
              <a:buChar char=""/>
              <a:tabLst>
                <a:tab pos="66040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动态数组处理</a:t>
            </a:r>
            <a:endParaRPr sz="3200">
              <a:latin typeface="宋体"/>
              <a:cs typeface="宋体"/>
            </a:endParaRPr>
          </a:p>
          <a:p>
            <a:pPr marL="196850" marR="55880" indent="812165">
              <a:lnSpc>
                <a:spcPct val="120000"/>
              </a:lnSpc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内情向量表在程序运行时建立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编译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时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仅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分配内情向量表所占存储空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间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据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维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。在运 行时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869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baseline="-15873" sz="3150" spc="-7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确定后，</a:t>
            </a:r>
            <a:r>
              <a:rPr dirty="0" u="heavy" sz="320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计算体积、计</a:t>
            </a:r>
            <a:r>
              <a:rPr dirty="0" u="heavy" sz="3200" spc="-1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算</a:t>
            </a:r>
            <a:r>
              <a:rPr dirty="0" u="heavy" sz="320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Times New Roman"/>
                <a:cs typeface="Times New Roman"/>
              </a:rPr>
              <a:t>C</a:t>
            </a:r>
            <a:r>
              <a:rPr dirty="0" u="heavy" sz="320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、</a:t>
            </a:r>
            <a:r>
              <a:rPr dirty="0" u="heavy" sz="32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为</a:t>
            </a:r>
            <a:r>
              <a:rPr dirty="0" u="heavy" sz="3200" spc="-1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数组</a:t>
            </a:r>
            <a:r>
              <a:rPr dirty="0" u="heavy" sz="3200" spc="-228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分 </a:t>
            </a:r>
            <a:r>
              <a:rPr dirty="0" u="heavy" sz="320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配存储空间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且将这些信息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登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录内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情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向量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表。</a:t>
            </a:r>
            <a:endParaRPr sz="3200">
              <a:latin typeface="宋体"/>
              <a:cs typeface="宋体"/>
            </a:endParaRPr>
          </a:p>
          <a:p>
            <a:pPr marL="25400">
              <a:lnSpc>
                <a:spcPct val="100000"/>
              </a:lnSpc>
              <a:spcBef>
                <a:spcPts val="2735"/>
              </a:spcBef>
              <a:tabLst>
                <a:tab pos="2361565" algn="l"/>
              </a:tabLst>
            </a:pPr>
            <a:r>
              <a:rPr dirty="0" sz="3200" spc="-10" b="1">
                <a:solidFill>
                  <a:srgbClr val="FFFF0D"/>
                </a:solidFill>
                <a:latin typeface="宋体"/>
                <a:cs typeface="宋体"/>
              </a:rPr>
              <a:t>∴</a:t>
            </a:r>
            <a:r>
              <a:rPr dirty="0" sz="3200" spc="-5" b="1">
                <a:solidFill>
                  <a:srgbClr val="FFFF0D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D"/>
                </a:solidFill>
                <a:latin typeface="宋体"/>
                <a:cs typeface="宋体"/>
              </a:rPr>
              <a:t>动态数组</a:t>
            </a:r>
            <a:r>
              <a:rPr dirty="0" sz="2800" spc="-5" b="1">
                <a:solidFill>
                  <a:srgbClr val="FFFF0D"/>
                </a:solidFill>
                <a:latin typeface="Times New Roman"/>
                <a:cs typeface="Times New Roman"/>
              </a:rPr>
              <a:t>:	</a:t>
            </a:r>
            <a:r>
              <a:rPr dirty="0" sz="2800" spc="-5" b="1">
                <a:solidFill>
                  <a:srgbClr val="FFFF0D"/>
                </a:solidFill>
                <a:latin typeface="宋体"/>
                <a:cs typeface="宋体"/>
              </a:rPr>
              <a:t>产生此部分代</a:t>
            </a:r>
            <a:r>
              <a:rPr dirty="0" sz="2800" spc="-15" b="1">
                <a:solidFill>
                  <a:srgbClr val="FFFF0D"/>
                </a:solidFill>
                <a:latin typeface="宋体"/>
                <a:cs typeface="宋体"/>
              </a:rPr>
              <a:t>码</a:t>
            </a:r>
            <a:r>
              <a:rPr dirty="0" sz="2800" spc="-695" b="1">
                <a:solidFill>
                  <a:srgbClr val="FFFF0D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D"/>
                </a:solidFill>
                <a:latin typeface="Times New Roman"/>
                <a:cs typeface="Times New Roman"/>
              </a:rPr>
              <a:t>+</a:t>
            </a:r>
            <a:r>
              <a:rPr dirty="0" sz="2800" spc="-10" b="1">
                <a:solidFill>
                  <a:srgbClr val="FFFF0D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D"/>
                </a:solidFill>
                <a:latin typeface="宋体"/>
                <a:cs typeface="宋体"/>
              </a:rPr>
              <a:t>静态数组元素引用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10611" y="6301740"/>
            <a:ext cx="2685415" cy="0"/>
          </a:xfrm>
          <a:custGeom>
            <a:avLst/>
            <a:gdLst/>
            <a:ahLst/>
            <a:cxnLst/>
            <a:rect l="l" t="t" r="r" b="b"/>
            <a:pathLst>
              <a:path w="2685415" h="0">
                <a:moveTo>
                  <a:pt x="0" y="0"/>
                </a:moveTo>
                <a:lnTo>
                  <a:pt x="2685288" y="0"/>
                </a:lnTo>
              </a:path>
            </a:pathLst>
          </a:custGeom>
          <a:ln w="5715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00700" y="6301740"/>
            <a:ext cx="3068320" cy="0"/>
          </a:xfrm>
          <a:custGeom>
            <a:avLst/>
            <a:gdLst/>
            <a:ahLst/>
            <a:cxnLst/>
            <a:rect l="l" t="t" r="r" b="b"/>
            <a:pathLst>
              <a:path w="3068320" h="0">
                <a:moveTo>
                  <a:pt x="0" y="0"/>
                </a:moveTo>
                <a:lnTo>
                  <a:pt x="3067811" y="0"/>
                </a:lnTo>
              </a:path>
            </a:pathLst>
          </a:custGeom>
          <a:ln w="5715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171433" y="6697989"/>
            <a:ext cx="817244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114</a:t>
            </a:fld>
            <a:r>
              <a:rPr dirty="0" sz="1400" spc="2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25744" y="26923"/>
            <a:ext cx="31572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383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6.6.4</a:t>
            </a:r>
            <a:r>
              <a:rPr dirty="0" u="sng" sz="2000" spc="42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数组说明与引用翻译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3247" y="0"/>
            <a:ext cx="5330825" cy="1334135"/>
          </a:xfrm>
          <a:prstGeom prst="rect">
            <a:avLst/>
          </a:prstGeom>
        </p:spPr>
        <p:txBody>
          <a:bodyPr wrap="square" lIns="0" tIns="168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25"/>
              </a:spcBef>
              <a:tabLst>
                <a:tab pos="655955" algn="l"/>
                <a:tab pos="3784600" algn="l"/>
                <a:tab pos="4292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00">
              <a:latin typeface="宋体"/>
              <a:cs typeface="宋体"/>
            </a:endParaRPr>
          </a:p>
          <a:p>
            <a:pPr marL="652145" indent="-418465">
              <a:lnSpc>
                <a:spcPct val="100000"/>
              </a:lnSpc>
              <a:buClr>
                <a:srgbClr val="66FFFF"/>
              </a:buClr>
              <a:buSzPct val="114062"/>
              <a:buFont typeface="Wingdings"/>
              <a:buChar char=""/>
              <a:tabLst>
                <a:tab pos="651510" algn="l"/>
                <a:tab pos="652780" algn="l"/>
              </a:tabLst>
            </a:pPr>
            <a:r>
              <a:rPr dirty="0" sz="3200" spc="-5" b="1">
                <a:solidFill>
                  <a:srgbClr val="FFFF0D"/>
                </a:solidFill>
                <a:latin typeface="宋体"/>
                <a:cs typeface="宋体"/>
              </a:rPr>
              <a:t>动态数组处理目标结构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09612" y="2113026"/>
            <a:ext cx="4067175" cy="0"/>
          </a:xfrm>
          <a:custGeom>
            <a:avLst/>
            <a:gdLst/>
            <a:ahLst/>
            <a:cxnLst/>
            <a:rect l="l" t="t" r="r" b="b"/>
            <a:pathLst>
              <a:path w="4067175" h="0">
                <a:moveTo>
                  <a:pt x="0" y="0"/>
                </a:moveTo>
                <a:lnTo>
                  <a:pt x="4067111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09612" y="2868676"/>
            <a:ext cx="4067175" cy="0"/>
          </a:xfrm>
          <a:custGeom>
            <a:avLst/>
            <a:gdLst/>
            <a:ahLst/>
            <a:cxnLst/>
            <a:rect l="l" t="t" r="r" b="b"/>
            <a:pathLst>
              <a:path w="4067175" h="0">
                <a:moveTo>
                  <a:pt x="0" y="0"/>
                </a:moveTo>
                <a:lnTo>
                  <a:pt x="4067111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09612" y="3624198"/>
            <a:ext cx="4067175" cy="0"/>
          </a:xfrm>
          <a:custGeom>
            <a:avLst/>
            <a:gdLst/>
            <a:ahLst/>
            <a:cxnLst/>
            <a:rect l="l" t="t" r="r" b="b"/>
            <a:pathLst>
              <a:path w="4067175" h="0">
                <a:moveTo>
                  <a:pt x="0" y="0"/>
                </a:moveTo>
                <a:lnTo>
                  <a:pt x="4067111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09612" y="4743450"/>
            <a:ext cx="4067175" cy="0"/>
          </a:xfrm>
          <a:custGeom>
            <a:avLst/>
            <a:gdLst/>
            <a:ahLst/>
            <a:cxnLst/>
            <a:rect l="l" t="t" r="r" b="b"/>
            <a:pathLst>
              <a:path w="4067175" h="0">
                <a:moveTo>
                  <a:pt x="0" y="0"/>
                </a:moveTo>
                <a:lnTo>
                  <a:pt x="4067111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09612" y="5499100"/>
            <a:ext cx="4067175" cy="0"/>
          </a:xfrm>
          <a:custGeom>
            <a:avLst/>
            <a:gdLst/>
            <a:ahLst/>
            <a:cxnLst/>
            <a:rect l="l" t="t" r="r" b="b"/>
            <a:pathLst>
              <a:path w="4067175" h="0">
                <a:moveTo>
                  <a:pt x="0" y="0"/>
                </a:moveTo>
                <a:lnTo>
                  <a:pt x="4067111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23900" y="1343025"/>
            <a:ext cx="0" cy="4926330"/>
          </a:xfrm>
          <a:custGeom>
            <a:avLst/>
            <a:gdLst/>
            <a:ahLst/>
            <a:cxnLst/>
            <a:rect l="l" t="t" r="r" b="b"/>
            <a:pathLst>
              <a:path w="0" h="4926330">
                <a:moveTo>
                  <a:pt x="0" y="0"/>
                </a:moveTo>
                <a:lnTo>
                  <a:pt x="0" y="4926012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762500" y="1343025"/>
            <a:ext cx="0" cy="4926330"/>
          </a:xfrm>
          <a:custGeom>
            <a:avLst/>
            <a:gdLst/>
            <a:ahLst/>
            <a:cxnLst/>
            <a:rect l="l" t="t" r="r" b="b"/>
            <a:pathLst>
              <a:path w="0" h="4926330">
                <a:moveTo>
                  <a:pt x="0" y="0"/>
                </a:moveTo>
                <a:lnTo>
                  <a:pt x="0" y="4926012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09612" y="1357375"/>
            <a:ext cx="4067175" cy="0"/>
          </a:xfrm>
          <a:custGeom>
            <a:avLst/>
            <a:gdLst/>
            <a:ahLst/>
            <a:cxnLst/>
            <a:rect l="l" t="t" r="r" b="b"/>
            <a:pathLst>
              <a:path w="4067175" h="0">
                <a:moveTo>
                  <a:pt x="0" y="0"/>
                </a:moveTo>
                <a:lnTo>
                  <a:pt x="4067111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09612" y="6254750"/>
            <a:ext cx="4067175" cy="0"/>
          </a:xfrm>
          <a:custGeom>
            <a:avLst/>
            <a:gdLst/>
            <a:ahLst/>
            <a:cxnLst/>
            <a:rect l="l" t="t" r="r" b="b"/>
            <a:pathLst>
              <a:path w="4067175" h="0">
                <a:moveTo>
                  <a:pt x="0" y="0"/>
                </a:moveTo>
                <a:lnTo>
                  <a:pt x="4067111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65936" y="1420113"/>
            <a:ext cx="36703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取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baseline="-16516" sz="2775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baseline="-16516" sz="2775" spc="-37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Symbol"/>
                <a:cs typeface="Symbol"/>
              </a:rPr>
              <a:t>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内情向量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code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69644" y="2176017"/>
            <a:ext cx="31121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计算体积、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code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1336" y="2931922"/>
            <a:ext cx="35693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为数组分配存储的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code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75992" y="3655660"/>
            <a:ext cx="1533525" cy="1053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160020">
              <a:lnSpc>
                <a:spcPct val="105400"/>
              </a:lnSpc>
              <a:spcBef>
                <a:spcPts val="100"/>
              </a:spcBef>
            </a:pPr>
            <a:r>
              <a:rPr dirty="0" sz="3200" spc="-65" b="1">
                <a:solidFill>
                  <a:srgbClr val="FFFF00"/>
                </a:solidFill>
                <a:latin typeface="Times New Roman"/>
                <a:cs typeface="Times New Roman"/>
              </a:rPr>
              <a:t>V.code 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V</a:t>
            </a:r>
            <a:r>
              <a:rPr dirty="0" baseline="-15873" sz="3150" spc="37" b="1">
                <a:solidFill>
                  <a:srgbClr val="FFFF00"/>
                </a:solidFill>
                <a:latin typeface="宋体"/>
                <a:cs typeface="宋体"/>
              </a:rPr>
              <a:t>值</a:t>
            </a:r>
            <a:r>
              <a:rPr dirty="0" baseline="-15873" sz="3150" spc="-472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</a:t>
            </a:r>
            <a:r>
              <a:rPr dirty="0" sz="3200" spc="-9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44700" y="4800980"/>
            <a:ext cx="239776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CUN = </a:t>
            </a:r>
            <a:r>
              <a:rPr dirty="0" sz="3200" spc="10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-15873" sz="3150" spc="15" b="1">
                <a:solidFill>
                  <a:srgbClr val="FFFF00"/>
                </a:solidFill>
                <a:latin typeface="Times New Roman"/>
                <a:cs typeface="Times New Roman"/>
              </a:rPr>
              <a:t>0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–</a:t>
            </a:r>
            <a:r>
              <a:rPr dirty="0" sz="3200" spc="-1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79244" y="5556910"/>
            <a:ext cx="232600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T = CUN +</a:t>
            </a:r>
            <a:r>
              <a:rPr dirty="0" sz="3200" spc="-2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830573" y="3933444"/>
            <a:ext cx="1275715" cy="114300"/>
          </a:xfrm>
          <a:custGeom>
            <a:avLst/>
            <a:gdLst/>
            <a:ahLst/>
            <a:cxnLst/>
            <a:rect l="l" t="t" r="r" b="b"/>
            <a:pathLst>
              <a:path w="1275714" h="114300">
                <a:moveTo>
                  <a:pt x="1161288" y="0"/>
                </a:moveTo>
                <a:lnTo>
                  <a:pt x="1161288" y="114299"/>
                </a:lnTo>
                <a:lnTo>
                  <a:pt x="1237488" y="76199"/>
                </a:lnTo>
                <a:lnTo>
                  <a:pt x="1180338" y="76199"/>
                </a:lnTo>
                <a:lnTo>
                  <a:pt x="1180338" y="38099"/>
                </a:lnTo>
                <a:lnTo>
                  <a:pt x="1237488" y="38099"/>
                </a:lnTo>
                <a:lnTo>
                  <a:pt x="1161288" y="0"/>
                </a:lnTo>
                <a:close/>
              </a:path>
              <a:path w="1275714" h="114300">
                <a:moveTo>
                  <a:pt x="1161288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1161288" y="76199"/>
                </a:lnTo>
                <a:lnTo>
                  <a:pt x="1161288" y="38099"/>
                </a:lnTo>
                <a:close/>
              </a:path>
              <a:path w="1275714" h="114300">
                <a:moveTo>
                  <a:pt x="1237488" y="38099"/>
                </a:moveTo>
                <a:lnTo>
                  <a:pt x="1180338" y="38099"/>
                </a:lnTo>
                <a:lnTo>
                  <a:pt x="1180338" y="76199"/>
                </a:lnTo>
                <a:lnTo>
                  <a:pt x="1237488" y="76199"/>
                </a:lnTo>
                <a:lnTo>
                  <a:pt x="1275588" y="57149"/>
                </a:lnTo>
                <a:lnTo>
                  <a:pt x="1237488" y="38099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223128" y="3730878"/>
            <a:ext cx="27793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计算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的中间代码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249673" y="5085588"/>
            <a:ext cx="856615" cy="114300"/>
          </a:xfrm>
          <a:custGeom>
            <a:avLst/>
            <a:gdLst/>
            <a:ahLst/>
            <a:cxnLst/>
            <a:rect l="l" t="t" r="r" b="b"/>
            <a:pathLst>
              <a:path w="856614" h="114300">
                <a:moveTo>
                  <a:pt x="742188" y="0"/>
                </a:moveTo>
                <a:lnTo>
                  <a:pt x="742188" y="114300"/>
                </a:lnTo>
                <a:lnTo>
                  <a:pt x="818388" y="76200"/>
                </a:lnTo>
                <a:lnTo>
                  <a:pt x="761238" y="76200"/>
                </a:lnTo>
                <a:lnTo>
                  <a:pt x="761238" y="38100"/>
                </a:lnTo>
                <a:lnTo>
                  <a:pt x="818388" y="38100"/>
                </a:lnTo>
                <a:lnTo>
                  <a:pt x="742188" y="0"/>
                </a:lnTo>
                <a:close/>
              </a:path>
              <a:path w="856614" h="114300">
                <a:moveTo>
                  <a:pt x="7421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42188" y="76200"/>
                </a:lnTo>
                <a:lnTo>
                  <a:pt x="742188" y="38100"/>
                </a:lnTo>
                <a:close/>
              </a:path>
              <a:path w="856614" h="114300">
                <a:moveTo>
                  <a:pt x="818388" y="38100"/>
                </a:moveTo>
                <a:lnTo>
                  <a:pt x="761238" y="38100"/>
                </a:lnTo>
                <a:lnTo>
                  <a:pt x="761238" y="76200"/>
                </a:lnTo>
                <a:lnTo>
                  <a:pt x="818388" y="76200"/>
                </a:lnTo>
                <a:lnTo>
                  <a:pt x="856488" y="57150"/>
                </a:lnTo>
                <a:lnTo>
                  <a:pt x="818388" y="381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249673" y="5814059"/>
            <a:ext cx="856615" cy="114300"/>
          </a:xfrm>
          <a:custGeom>
            <a:avLst/>
            <a:gdLst/>
            <a:ahLst/>
            <a:cxnLst/>
            <a:rect l="l" t="t" r="r" b="b"/>
            <a:pathLst>
              <a:path w="856614" h="114300">
                <a:moveTo>
                  <a:pt x="742188" y="0"/>
                </a:moveTo>
                <a:lnTo>
                  <a:pt x="742188" y="114299"/>
                </a:lnTo>
                <a:lnTo>
                  <a:pt x="818388" y="76199"/>
                </a:lnTo>
                <a:lnTo>
                  <a:pt x="761238" y="76199"/>
                </a:lnTo>
                <a:lnTo>
                  <a:pt x="761238" y="38099"/>
                </a:lnTo>
                <a:lnTo>
                  <a:pt x="818388" y="38099"/>
                </a:lnTo>
                <a:lnTo>
                  <a:pt x="742188" y="0"/>
                </a:lnTo>
                <a:close/>
              </a:path>
              <a:path w="856614" h="114300">
                <a:moveTo>
                  <a:pt x="742188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742188" y="76199"/>
                </a:lnTo>
                <a:lnTo>
                  <a:pt x="742188" y="38099"/>
                </a:lnTo>
                <a:close/>
              </a:path>
              <a:path w="856614" h="114300">
                <a:moveTo>
                  <a:pt x="818388" y="38099"/>
                </a:moveTo>
                <a:lnTo>
                  <a:pt x="761238" y="38099"/>
                </a:lnTo>
                <a:lnTo>
                  <a:pt x="761238" y="76199"/>
                </a:lnTo>
                <a:lnTo>
                  <a:pt x="818388" y="76199"/>
                </a:lnTo>
                <a:lnTo>
                  <a:pt x="856488" y="57149"/>
                </a:lnTo>
                <a:lnTo>
                  <a:pt x="818388" y="38099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213730" y="4599825"/>
            <a:ext cx="3515995" cy="1471930"/>
          </a:xfrm>
          <a:prstGeom prst="rect">
            <a:avLst/>
          </a:prstGeom>
        </p:spPr>
        <p:txBody>
          <a:bodyPr wrap="square" lIns="0" tIns="2482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5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计算不变部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800" spc="-70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</a:t>
            </a:r>
            <a:r>
              <a:rPr dirty="0" sz="3200" spc="-14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CUN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5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数组元素地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址</a:t>
            </a:r>
            <a:r>
              <a:rPr dirty="0" sz="2800" spc="-68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</a:t>
            </a:r>
            <a:r>
              <a:rPr dirty="0" sz="3200" spc="-8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106161" y="1358646"/>
            <a:ext cx="401320" cy="2266315"/>
          </a:xfrm>
          <a:custGeom>
            <a:avLst/>
            <a:gdLst/>
            <a:ahLst/>
            <a:cxnLst/>
            <a:rect l="l" t="t" r="r" b="b"/>
            <a:pathLst>
              <a:path w="401320" h="2266315">
                <a:moveTo>
                  <a:pt x="0" y="0"/>
                </a:moveTo>
                <a:lnTo>
                  <a:pt x="45971" y="4997"/>
                </a:lnTo>
                <a:lnTo>
                  <a:pt x="88160" y="19231"/>
                </a:lnTo>
                <a:lnTo>
                  <a:pt x="125370" y="41567"/>
                </a:lnTo>
                <a:lnTo>
                  <a:pt x="156398" y="70871"/>
                </a:lnTo>
                <a:lnTo>
                  <a:pt x="180047" y="106006"/>
                </a:lnTo>
                <a:lnTo>
                  <a:pt x="195116" y="145837"/>
                </a:lnTo>
                <a:lnTo>
                  <a:pt x="200405" y="189229"/>
                </a:lnTo>
                <a:lnTo>
                  <a:pt x="200405" y="943863"/>
                </a:lnTo>
                <a:lnTo>
                  <a:pt x="205695" y="987256"/>
                </a:lnTo>
                <a:lnTo>
                  <a:pt x="220764" y="1027087"/>
                </a:lnTo>
                <a:lnTo>
                  <a:pt x="244413" y="1062222"/>
                </a:lnTo>
                <a:lnTo>
                  <a:pt x="275441" y="1091526"/>
                </a:lnTo>
                <a:lnTo>
                  <a:pt x="312651" y="1113862"/>
                </a:lnTo>
                <a:lnTo>
                  <a:pt x="354840" y="1128096"/>
                </a:lnTo>
                <a:lnTo>
                  <a:pt x="400812" y="1133093"/>
                </a:lnTo>
                <a:lnTo>
                  <a:pt x="354840" y="1138091"/>
                </a:lnTo>
                <a:lnTo>
                  <a:pt x="312651" y="1152325"/>
                </a:lnTo>
                <a:lnTo>
                  <a:pt x="275441" y="1174661"/>
                </a:lnTo>
                <a:lnTo>
                  <a:pt x="244413" y="1203965"/>
                </a:lnTo>
                <a:lnTo>
                  <a:pt x="220764" y="1239100"/>
                </a:lnTo>
                <a:lnTo>
                  <a:pt x="205695" y="1278931"/>
                </a:lnTo>
                <a:lnTo>
                  <a:pt x="200405" y="1322324"/>
                </a:lnTo>
                <a:lnTo>
                  <a:pt x="200405" y="2076957"/>
                </a:lnTo>
                <a:lnTo>
                  <a:pt x="195116" y="2120350"/>
                </a:lnTo>
                <a:lnTo>
                  <a:pt x="180047" y="2160181"/>
                </a:lnTo>
                <a:lnTo>
                  <a:pt x="156398" y="2195316"/>
                </a:lnTo>
                <a:lnTo>
                  <a:pt x="125370" y="2224620"/>
                </a:lnTo>
                <a:lnTo>
                  <a:pt x="88160" y="2246956"/>
                </a:lnTo>
                <a:lnTo>
                  <a:pt x="45971" y="2261190"/>
                </a:lnTo>
                <a:lnTo>
                  <a:pt x="0" y="2266187"/>
                </a:lnTo>
              </a:path>
            </a:pathLst>
          </a:custGeom>
          <a:ln w="38099">
            <a:solidFill>
              <a:srgbClr val="FF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718428" y="2171776"/>
            <a:ext cx="247650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动态数组说明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171433" y="6697989"/>
            <a:ext cx="817244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114</a:t>
            </a:fld>
            <a:r>
              <a:rPr dirty="0" sz="1400" spc="2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1032" y="1001395"/>
            <a:ext cx="7164070" cy="60515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3800" spc="-15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黑体"/>
                <a:cs typeface="黑体"/>
                <a:hlinkClick r:id="rId2" action="ppaction://hlinksldjump"/>
              </a:rPr>
              <a:t>第</a:t>
            </a:r>
            <a:r>
              <a:rPr dirty="0" u="heavy" sz="3800" spc="-965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黑体"/>
                <a:cs typeface="黑体"/>
                <a:hlinkClick r:id="rId2" action="ppaction://hlinksldjump"/>
              </a:rPr>
              <a:t> </a:t>
            </a:r>
            <a:r>
              <a:rPr dirty="0" u="heavy" sz="3800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Times New Roman"/>
                <a:cs typeface="Times New Roman"/>
                <a:hlinkClick r:id="rId2" action="ppaction://hlinksldjump"/>
              </a:rPr>
              <a:t>6</a:t>
            </a:r>
            <a:r>
              <a:rPr dirty="0" u="heavy" sz="3800" spc="-20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dirty="0" u="heavy" sz="3800" spc="-15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黑体"/>
                <a:cs typeface="黑体"/>
                <a:hlinkClick r:id="rId2" action="ppaction://hlinksldjump"/>
              </a:rPr>
              <a:t>章</a:t>
            </a:r>
            <a:r>
              <a:rPr dirty="0" sz="3800" spc="925">
                <a:solidFill>
                  <a:srgbClr val="EAEAEA"/>
                </a:solidFill>
                <a:latin typeface="黑体"/>
                <a:cs typeface="黑体"/>
                <a:hlinkClick r:id="rId2" action="ppaction://hlinksldjump"/>
              </a:rPr>
              <a:t> </a:t>
            </a:r>
            <a:r>
              <a:rPr dirty="0" sz="3800">
                <a:solidFill>
                  <a:srgbClr val="FFFF00"/>
                </a:solidFill>
                <a:latin typeface="黑体"/>
                <a:cs typeface="黑体"/>
              </a:rPr>
              <a:t>语义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分</a:t>
            </a: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析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与中间</a:t>
            </a: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代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码生</a:t>
            </a: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成</a:t>
            </a:r>
            <a:endParaRPr sz="38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1744" y="1613968"/>
            <a:ext cx="7612380" cy="4057015"/>
          </a:xfrm>
          <a:prstGeom prst="rect">
            <a:avLst/>
          </a:prstGeom>
        </p:spPr>
        <p:txBody>
          <a:bodyPr wrap="square" lIns="0" tIns="285750" rIns="0" bIns="0" rtlCol="0" vert="horz">
            <a:spAutoFit/>
          </a:bodyPr>
          <a:lstStyle/>
          <a:p>
            <a:pPr lvl="2" marL="1361440" indent="-1337310">
              <a:lnSpc>
                <a:spcPct val="100000"/>
              </a:lnSpc>
              <a:spcBef>
                <a:spcPts val="2250"/>
              </a:spcBef>
              <a:buFont typeface="Times New Roman"/>
              <a:buAutoNum type="arabicPeriod"/>
              <a:tabLst>
                <a:tab pos="1361440" algn="l"/>
                <a:tab pos="1362075" algn="l"/>
              </a:tabLst>
            </a:pPr>
            <a:r>
              <a:rPr dirty="0" sz="3500" spc="-5" b="1">
                <a:solidFill>
                  <a:srgbClr val="FFFF66"/>
                </a:solidFill>
                <a:latin typeface="宋体"/>
                <a:cs typeface="宋体"/>
              </a:rPr>
              <a:t>说明类语句的翻译</a:t>
            </a:r>
            <a:endParaRPr sz="3500">
              <a:latin typeface="宋体"/>
              <a:cs typeface="宋体"/>
            </a:endParaRPr>
          </a:p>
          <a:p>
            <a:pPr lvl="2" marL="1349375" indent="-1337310">
              <a:lnSpc>
                <a:spcPct val="100000"/>
              </a:lnSpc>
              <a:spcBef>
                <a:spcPts val="2150"/>
              </a:spcBef>
              <a:buFont typeface="Times New Roman"/>
              <a:buAutoNum type="arabicPeriod"/>
              <a:tabLst>
                <a:tab pos="1349375" algn="l"/>
                <a:tab pos="1350010" algn="l"/>
              </a:tabLst>
            </a:pPr>
            <a:r>
              <a:rPr dirty="0" sz="3500" b="1">
                <a:solidFill>
                  <a:srgbClr val="FFFF66"/>
                </a:solidFill>
                <a:latin typeface="宋体"/>
                <a:cs typeface="宋体"/>
              </a:rPr>
              <a:t>赋值语句与表达式翻译</a:t>
            </a:r>
            <a:endParaRPr sz="3500">
              <a:latin typeface="宋体"/>
              <a:cs typeface="宋体"/>
            </a:endParaRPr>
          </a:p>
          <a:p>
            <a:pPr lvl="2" marL="1349375" indent="-1337310">
              <a:lnSpc>
                <a:spcPct val="100000"/>
              </a:lnSpc>
              <a:spcBef>
                <a:spcPts val="2105"/>
              </a:spcBef>
              <a:buFont typeface="Times New Roman"/>
              <a:buAutoNum type="arabicPeriod"/>
              <a:tabLst>
                <a:tab pos="1349375" algn="l"/>
                <a:tab pos="1350010" algn="l"/>
              </a:tabLst>
            </a:pPr>
            <a:r>
              <a:rPr dirty="0" sz="3500" b="1">
                <a:solidFill>
                  <a:srgbClr val="FFFF66"/>
                </a:solidFill>
                <a:latin typeface="宋体"/>
                <a:cs typeface="宋体"/>
              </a:rPr>
              <a:t>控制流类语句翻译</a:t>
            </a:r>
            <a:endParaRPr sz="3500">
              <a:latin typeface="宋体"/>
              <a:cs typeface="宋体"/>
            </a:endParaRPr>
          </a:p>
          <a:p>
            <a:pPr lvl="2" marL="1349375" indent="-1337310">
              <a:lnSpc>
                <a:spcPct val="100000"/>
              </a:lnSpc>
              <a:spcBef>
                <a:spcPts val="2100"/>
              </a:spcBef>
              <a:buFont typeface="Times New Roman"/>
              <a:buAutoNum type="arabicPeriod"/>
              <a:tabLst>
                <a:tab pos="1349375" algn="l"/>
                <a:tab pos="1350010" algn="l"/>
              </a:tabLst>
            </a:pPr>
            <a:r>
              <a:rPr dirty="0" sz="3500" spc="-5" b="1">
                <a:solidFill>
                  <a:srgbClr val="FFFF66"/>
                </a:solidFill>
                <a:latin typeface="宋体"/>
                <a:cs typeface="宋体"/>
              </a:rPr>
              <a:t>数组说明与数组元素引用</a:t>
            </a:r>
            <a:r>
              <a:rPr dirty="0" sz="3500" spc="-15" b="1">
                <a:solidFill>
                  <a:srgbClr val="FFFF66"/>
                </a:solidFill>
                <a:latin typeface="宋体"/>
                <a:cs typeface="宋体"/>
              </a:rPr>
              <a:t>的</a:t>
            </a:r>
            <a:r>
              <a:rPr dirty="0" sz="3500" spc="-5" b="1">
                <a:solidFill>
                  <a:srgbClr val="FFFF66"/>
                </a:solidFill>
                <a:latin typeface="宋体"/>
                <a:cs typeface="宋体"/>
              </a:rPr>
              <a:t>翻译</a:t>
            </a:r>
            <a:endParaRPr sz="3500">
              <a:latin typeface="宋体"/>
              <a:cs typeface="宋体"/>
            </a:endParaRPr>
          </a:p>
          <a:p>
            <a:pPr lvl="2" marL="1349375" indent="-1337310">
              <a:lnSpc>
                <a:spcPct val="100000"/>
              </a:lnSpc>
              <a:spcBef>
                <a:spcPts val="2235"/>
              </a:spcBef>
              <a:buFont typeface="Times New Roman"/>
              <a:buAutoNum type="arabicPeriod"/>
              <a:tabLst>
                <a:tab pos="1349375" algn="l"/>
                <a:tab pos="1350010" algn="l"/>
              </a:tabLst>
            </a:pP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过程</a:t>
            </a:r>
            <a:r>
              <a:rPr dirty="0" sz="3500" spc="5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函数说明和调用的</a:t>
            </a:r>
            <a:r>
              <a:rPr dirty="0" sz="3500" spc="-10" b="1">
                <a:solidFill>
                  <a:srgbClr val="FFFFFF"/>
                </a:solidFill>
                <a:latin typeface="宋体"/>
                <a:cs typeface="宋体"/>
              </a:rPr>
              <a:t>翻译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76731" y="26923"/>
            <a:ext cx="34855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40021" y="26923"/>
            <a:ext cx="33508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语句翻译与中间代码生成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36407" y="5067300"/>
            <a:ext cx="1041400" cy="685800"/>
          </a:xfrm>
          <a:custGeom>
            <a:avLst/>
            <a:gdLst/>
            <a:ahLst/>
            <a:cxnLst/>
            <a:rect l="l" t="t" r="r" b="b"/>
            <a:pathLst>
              <a:path w="1041400" h="685800">
                <a:moveTo>
                  <a:pt x="260350" y="0"/>
                </a:moveTo>
                <a:lnTo>
                  <a:pt x="0" y="342900"/>
                </a:lnTo>
                <a:lnTo>
                  <a:pt x="260350" y="685800"/>
                </a:lnTo>
                <a:lnTo>
                  <a:pt x="260350" y="610425"/>
                </a:lnTo>
                <a:lnTo>
                  <a:pt x="1040892" y="610425"/>
                </a:lnTo>
                <a:lnTo>
                  <a:pt x="1040892" y="75311"/>
                </a:lnTo>
                <a:lnTo>
                  <a:pt x="260350" y="75311"/>
                </a:lnTo>
                <a:lnTo>
                  <a:pt x="260350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836407" y="5067300"/>
            <a:ext cx="1041400" cy="685800"/>
          </a:xfrm>
          <a:custGeom>
            <a:avLst/>
            <a:gdLst/>
            <a:ahLst/>
            <a:cxnLst/>
            <a:rect l="l" t="t" r="r" b="b"/>
            <a:pathLst>
              <a:path w="1041400" h="685800">
                <a:moveTo>
                  <a:pt x="0" y="342900"/>
                </a:moveTo>
                <a:lnTo>
                  <a:pt x="260350" y="0"/>
                </a:lnTo>
                <a:lnTo>
                  <a:pt x="260350" y="75311"/>
                </a:lnTo>
                <a:lnTo>
                  <a:pt x="1040892" y="75311"/>
                </a:lnTo>
                <a:lnTo>
                  <a:pt x="1040892" y="610425"/>
                </a:lnTo>
                <a:lnTo>
                  <a:pt x="260350" y="610425"/>
                </a:lnTo>
                <a:lnTo>
                  <a:pt x="260350" y="685800"/>
                </a:lnTo>
                <a:lnTo>
                  <a:pt x="0" y="342900"/>
                </a:lnTo>
                <a:close/>
              </a:path>
            </a:pathLst>
          </a:custGeom>
          <a:ln w="5715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171433" y="6697989"/>
            <a:ext cx="817244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114</a:t>
            </a:fld>
            <a:r>
              <a:rPr dirty="0" sz="1400" spc="2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247" y="26923"/>
            <a:ext cx="41173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13275" y="26923"/>
            <a:ext cx="43694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6050" algn="l"/>
              </a:tabLst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6.6.5</a:t>
            </a:r>
            <a:r>
              <a:rPr dirty="0" u="sng" sz="2000" spc="42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函数说明与调用翻译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78073" y="1105661"/>
            <a:ext cx="419100" cy="1201420"/>
          </a:xfrm>
          <a:custGeom>
            <a:avLst/>
            <a:gdLst/>
            <a:ahLst/>
            <a:cxnLst/>
            <a:rect l="l" t="t" r="r" b="b"/>
            <a:pathLst>
              <a:path w="419100" h="1201420">
                <a:moveTo>
                  <a:pt x="419100" y="1200912"/>
                </a:moveTo>
                <a:lnTo>
                  <a:pt x="352879" y="1195807"/>
                </a:lnTo>
                <a:lnTo>
                  <a:pt x="295357" y="1181595"/>
                </a:lnTo>
                <a:lnTo>
                  <a:pt x="249990" y="1159928"/>
                </a:lnTo>
                <a:lnTo>
                  <a:pt x="220236" y="1132457"/>
                </a:lnTo>
                <a:lnTo>
                  <a:pt x="209550" y="1100836"/>
                </a:lnTo>
                <a:lnTo>
                  <a:pt x="209550" y="700532"/>
                </a:lnTo>
                <a:lnTo>
                  <a:pt x="198863" y="668910"/>
                </a:lnTo>
                <a:lnTo>
                  <a:pt x="169109" y="641439"/>
                </a:lnTo>
                <a:lnTo>
                  <a:pt x="123742" y="619772"/>
                </a:lnTo>
                <a:lnTo>
                  <a:pt x="66220" y="605560"/>
                </a:lnTo>
                <a:lnTo>
                  <a:pt x="0" y="600455"/>
                </a:lnTo>
                <a:lnTo>
                  <a:pt x="66220" y="595351"/>
                </a:lnTo>
                <a:lnTo>
                  <a:pt x="123742" y="581139"/>
                </a:lnTo>
                <a:lnTo>
                  <a:pt x="169109" y="559472"/>
                </a:lnTo>
                <a:lnTo>
                  <a:pt x="198863" y="532001"/>
                </a:lnTo>
                <a:lnTo>
                  <a:pt x="209550" y="500379"/>
                </a:lnTo>
                <a:lnTo>
                  <a:pt x="209550" y="100075"/>
                </a:lnTo>
                <a:lnTo>
                  <a:pt x="220236" y="68454"/>
                </a:lnTo>
                <a:lnTo>
                  <a:pt x="249990" y="40983"/>
                </a:lnTo>
                <a:lnTo>
                  <a:pt x="295357" y="19316"/>
                </a:lnTo>
                <a:lnTo>
                  <a:pt x="352879" y="5104"/>
                </a:lnTo>
                <a:lnTo>
                  <a:pt x="4191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74040" y="870331"/>
            <a:ext cx="7685405" cy="46183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099435">
              <a:lnSpc>
                <a:spcPts val="3825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处理说明（定义）</a:t>
            </a:r>
            <a:endParaRPr sz="3200">
              <a:latin typeface="宋体"/>
              <a:cs typeface="宋体"/>
            </a:endParaRPr>
          </a:p>
          <a:p>
            <a:pPr marL="575310">
              <a:lnSpc>
                <a:spcPts val="3815"/>
              </a:lnSpc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函数翻译</a:t>
            </a:r>
            <a:endParaRPr sz="3200">
              <a:latin typeface="宋体"/>
              <a:cs typeface="宋体"/>
            </a:endParaRPr>
          </a:p>
          <a:p>
            <a:pPr marL="3099435">
              <a:lnSpc>
                <a:spcPts val="3825"/>
              </a:lnSpc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处理调用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72580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一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函数说明的翻译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300">
              <a:latin typeface="宋体"/>
              <a:cs typeface="宋体"/>
            </a:endParaRPr>
          </a:p>
          <a:p>
            <a:pPr marL="1144905" indent="-713740">
              <a:lnSpc>
                <a:spcPct val="100000"/>
              </a:lnSpc>
              <a:buFont typeface="Times New Roman"/>
              <a:buAutoNum type="arabicPlain"/>
              <a:tabLst>
                <a:tab pos="114554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函数及局部量信息登录符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表；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FFFFFF"/>
              </a:buClr>
              <a:buFont typeface="Times New Roman"/>
              <a:buAutoNum type="arabicPlain"/>
            </a:pPr>
            <a:endParaRPr sz="3400">
              <a:latin typeface="宋体"/>
              <a:cs typeface="宋体"/>
            </a:endParaRPr>
          </a:p>
          <a:p>
            <a:pPr marL="1144905" indent="-713740">
              <a:lnSpc>
                <a:spcPct val="100000"/>
              </a:lnSpc>
              <a:buFont typeface="Times New Roman"/>
              <a:buAutoNum type="arabicPlain"/>
              <a:tabLst>
                <a:tab pos="1145540" algn="l"/>
              </a:tabLst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记录函数中局部量的作用域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(Level)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71433" y="6697989"/>
            <a:ext cx="817244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114</a:t>
            </a:fld>
            <a:r>
              <a:rPr dirty="0" sz="1400" spc="2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247" y="26923"/>
            <a:ext cx="86499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  <a:tab pos="4292600" algn="l"/>
                <a:tab pos="56959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6.6.5</a:t>
            </a:r>
            <a:r>
              <a:rPr dirty="0" u="sng" sz="2000" spc="42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函数说明与调用翻译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93242" y="576783"/>
            <a:ext cx="317436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33170" algn="l"/>
              </a:tabLst>
            </a:pPr>
            <a:r>
              <a:rPr dirty="0" sz="3200" spc="-5">
                <a:solidFill>
                  <a:srgbClr val="FFFF00"/>
                </a:solidFill>
              </a:rPr>
              <a:t>例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6.5	</a:t>
            </a:r>
            <a:r>
              <a:rPr dirty="0" sz="3200" spc="-5">
                <a:solidFill>
                  <a:srgbClr val="FFFF00"/>
                </a:solidFill>
              </a:rPr>
              <a:t>设有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dirty="0" sz="3200" spc="-5">
                <a:solidFill>
                  <a:srgbClr val="FFFF00"/>
                </a:solidFill>
              </a:rPr>
              <a:t>函数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64911" y="576783"/>
            <a:ext cx="2294890" cy="9766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74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fun1( int</a:t>
            </a:r>
            <a:r>
              <a:rPr dirty="0" sz="32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a,b)</a:t>
            </a:r>
            <a:endParaRPr sz="3200">
              <a:latin typeface="Times New Roman"/>
              <a:cs typeface="Times New Roman"/>
            </a:endParaRPr>
          </a:p>
          <a:p>
            <a:pPr marL="217804">
              <a:lnSpc>
                <a:spcPts val="3740"/>
              </a:lnSpc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75705" y="1502409"/>
            <a:ext cx="1903095" cy="144081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 marR="5080">
              <a:lnSpc>
                <a:spcPct val="95000"/>
              </a:lnSpc>
              <a:spcBef>
                <a:spcPts val="295"/>
              </a:spcBef>
              <a:tabLst>
                <a:tab pos="790575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int	c;  c=a+b ;  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return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 c</a:t>
            </a:r>
            <a:r>
              <a:rPr dirty="0" sz="3200" spc="-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72759" y="2892679"/>
            <a:ext cx="18605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43674" y="3712654"/>
          <a:ext cx="7149465" cy="2804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3640"/>
                <a:gridCol w="1184274"/>
                <a:gridCol w="1184275"/>
                <a:gridCol w="1184275"/>
                <a:gridCol w="1184275"/>
                <a:gridCol w="1186814"/>
              </a:tblGrid>
              <a:tr h="456438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spcBef>
                          <a:spcPts val="550"/>
                        </a:spcBef>
                      </a:pPr>
                      <a:r>
                        <a:rPr dirty="0" sz="28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spcBef>
                          <a:spcPts val="550"/>
                        </a:spcBef>
                      </a:pPr>
                      <a:r>
                        <a:rPr dirty="0" sz="2800" spc="-1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kind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2940"/>
                        </a:lnSpc>
                        <a:spcBef>
                          <a:spcPts val="550"/>
                        </a:spcBef>
                      </a:pPr>
                      <a:r>
                        <a:rPr dirty="0" sz="28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type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940"/>
                        </a:lnSpc>
                        <a:spcBef>
                          <a:spcPts val="550"/>
                        </a:spcBef>
                      </a:pPr>
                      <a:r>
                        <a:rPr dirty="0" sz="28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len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spcBef>
                          <a:spcPts val="55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offset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7329">
                        <a:lnSpc>
                          <a:spcPts val="2940"/>
                        </a:lnSpc>
                        <a:spcBef>
                          <a:spcPts val="550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addr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791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8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fun1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2800" spc="-5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函数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791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2800" spc="-5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形参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774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2800" spc="-5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形参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774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814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755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8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638048" y="3037408"/>
            <a:ext cx="149606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namelist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030973" y="4504944"/>
            <a:ext cx="990600" cy="114300"/>
          </a:xfrm>
          <a:custGeom>
            <a:avLst/>
            <a:gdLst/>
            <a:ahLst/>
            <a:cxnLst/>
            <a:rect l="l" t="t" r="r" b="b"/>
            <a:pathLst>
              <a:path w="990600" h="114300">
                <a:moveTo>
                  <a:pt x="876300" y="0"/>
                </a:moveTo>
                <a:lnTo>
                  <a:pt x="876300" y="114299"/>
                </a:lnTo>
                <a:lnTo>
                  <a:pt x="952500" y="76199"/>
                </a:lnTo>
                <a:lnTo>
                  <a:pt x="895350" y="76199"/>
                </a:lnTo>
                <a:lnTo>
                  <a:pt x="895350" y="38099"/>
                </a:lnTo>
                <a:lnTo>
                  <a:pt x="952500" y="38099"/>
                </a:lnTo>
                <a:lnTo>
                  <a:pt x="876300" y="0"/>
                </a:lnTo>
                <a:close/>
              </a:path>
              <a:path w="990600" h="114300">
                <a:moveTo>
                  <a:pt x="876300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876300" y="76199"/>
                </a:lnTo>
                <a:lnTo>
                  <a:pt x="876300" y="38099"/>
                </a:lnTo>
                <a:close/>
              </a:path>
              <a:path w="990600" h="114300">
                <a:moveTo>
                  <a:pt x="952500" y="38099"/>
                </a:moveTo>
                <a:lnTo>
                  <a:pt x="895350" y="38099"/>
                </a:lnTo>
                <a:lnTo>
                  <a:pt x="895350" y="76199"/>
                </a:lnTo>
                <a:lnTo>
                  <a:pt x="952500" y="76199"/>
                </a:lnTo>
                <a:lnTo>
                  <a:pt x="990600" y="57149"/>
                </a:lnTo>
                <a:lnTo>
                  <a:pt x="952500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100186" y="4265167"/>
            <a:ext cx="81788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792973" y="2687573"/>
            <a:ext cx="701110" cy="11007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792973" y="2687573"/>
            <a:ext cx="701040" cy="1101090"/>
          </a:xfrm>
          <a:custGeom>
            <a:avLst/>
            <a:gdLst/>
            <a:ahLst/>
            <a:cxnLst/>
            <a:rect l="l" t="t" r="r" b="b"/>
            <a:pathLst>
              <a:path w="701040" h="1101089">
                <a:moveTo>
                  <a:pt x="701040" y="617727"/>
                </a:moveTo>
                <a:lnTo>
                  <a:pt x="690888" y="550673"/>
                </a:lnTo>
                <a:lnTo>
                  <a:pt x="661556" y="487297"/>
                </a:lnTo>
                <a:lnTo>
                  <a:pt x="614726" y="428545"/>
                </a:lnTo>
                <a:lnTo>
                  <a:pt x="585275" y="401198"/>
                </a:lnTo>
                <a:lnTo>
                  <a:pt x="552080" y="375360"/>
                </a:lnTo>
                <a:lnTo>
                  <a:pt x="515352" y="351150"/>
                </a:lnTo>
                <a:lnTo>
                  <a:pt x="475300" y="328686"/>
                </a:lnTo>
                <a:lnTo>
                  <a:pt x="432136" y="308086"/>
                </a:lnTo>
                <a:lnTo>
                  <a:pt x="386069" y="289467"/>
                </a:lnTo>
                <a:lnTo>
                  <a:pt x="337311" y="272948"/>
                </a:lnTo>
                <a:lnTo>
                  <a:pt x="286070" y="258647"/>
                </a:lnTo>
                <a:lnTo>
                  <a:pt x="232558" y="246682"/>
                </a:lnTo>
                <a:lnTo>
                  <a:pt x="176984" y="237170"/>
                </a:lnTo>
                <a:lnTo>
                  <a:pt x="119560" y="230229"/>
                </a:lnTo>
                <a:lnTo>
                  <a:pt x="60495" y="225979"/>
                </a:lnTo>
                <a:lnTo>
                  <a:pt x="0" y="224536"/>
                </a:lnTo>
                <a:lnTo>
                  <a:pt x="0" y="0"/>
                </a:lnTo>
                <a:lnTo>
                  <a:pt x="60495" y="1443"/>
                </a:lnTo>
                <a:lnTo>
                  <a:pt x="119560" y="5693"/>
                </a:lnTo>
                <a:lnTo>
                  <a:pt x="176984" y="12634"/>
                </a:lnTo>
                <a:lnTo>
                  <a:pt x="232558" y="22146"/>
                </a:lnTo>
                <a:lnTo>
                  <a:pt x="286070" y="34111"/>
                </a:lnTo>
                <a:lnTo>
                  <a:pt x="337311" y="48412"/>
                </a:lnTo>
                <a:lnTo>
                  <a:pt x="386069" y="64931"/>
                </a:lnTo>
                <a:lnTo>
                  <a:pt x="432136" y="83550"/>
                </a:lnTo>
                <a:lnTo>
                  <a:pt x="475300" y="104150"/>
                </a:lnTo>
                <a:lnTo>
                  <a:pt x="515352" y="126614"/>
                </a:lnTo>
                <a:lnTo>
                  <a:pt x="552080" y="150824"/>
                </a:lnTo>
                <a:lnTo>
                  <a:pt x="585275" y="176662"/>
                </a:lnTo>
                <a:lnTo>
                  <a:pt x="614726" y="204009"/>
                </a:lnTo>
                <a:lnTo>
                  <a:pt x="640223" y="232748"/>
                </a:lnTo>
                <a:lnTo>
                  <a:pt x="678515" y="293930"/>
                </a:lnTo>
                <a:lnTo>
                  <a:pt x="698467" y="359263"/>
                </a:lnTo>
                <a:lnTo>
                  <a:pt x="701040" y="393191"/>
                </a:lnTo>
                <a:lnTo>
                  <a:pt x="701040" y="617727"/>
                </a:lnTo>
                <a:lnTo>
                  <a:pt x="689846" y="687808"/>
                </a:lnTo>
                <a:lnTo>
                  <a:pt x="657371" y="754359"/>
                </a:lnTo>
                <a:lnTo>
                  <a:pt x="633669" y="785902"/>
                </a:lnTo>
                <a:lnTo>
                  <a:pt x="605267" y="816073"/>
                </a:lnTo>
                <a:lnTo>
                  <a:pt x="572373" y="844708"/>
                </a:lnTo>
                <a:lnTo>
                  <a:pt x="535192" y="871645"/>
                </a:lnTo>
                <a:lnTo>
                  <a:pt x="493931" y="896719"/>
                </a:lnTo>
                <a:lnTo>
                  <a:pt x="448798" y="919767"/>
                </a:lnTo>
                <a:lnTo>
                  <a:pt x="400000" y="940627"/>
                </a:lnTo>
                <a:lnTo>
                  <a:pt x="347743" y="959135"/>
                </a:lnTo>
                <a:lnTo>
                  <a:pt x="292233" y="975127"/>
                </a:lnTo>
                <a:lnTo>
                  <a:pt x="233679" y="988440"/>
                </a:lnTo>
                <a:lnTo>
                  <a:pt x="233679" y="1100708"/>
                </a:lnTo>
                <a:lnTo>
                  <a:pt x="0" y="898651"/>
                </a:lnTo>
                <a:lnTo>
                  <a:pt x="233679" y="651510"/>
                </a:lnTo>
                <a:lnTo>
                  <a:pt x="233679" y="763777"/>
                </a:lnTo>
                <a:lnTo>
                  <a:pt x="290074" y="751028"/>
                </a:lnTo>
                <a:lnTo>
                  <a:pt x="343836" y="735731"/>
                </a:lnTo>
                <a:lnTo>
                  <a:pt x="394739" y="718018"/>
                </a:lnTo>
                <a:lnTo>
                  <a:pt x="442556" y="698025"/>
                </a:lnTo>
                <a:lnTo>
                  <a:pt x="487060" y="675884"/>
                </a:lnTo>
                <a:lnTo>
                  <a:pt x="528026" y="651731"/>
                </a:lnTo>
                <a:lnTo>
                  <a:pt x="565225" y="625699"/>
                </a:lnTo>
                <a:lnTo>
                  <a:pt x="598432" y="597921"/>
                </a:lnTo>
                <a:lnTo>
                  <a:pt x="627419" y="568533"/>
                </a:lnTo>
                <a:lnTo>
                  <a:pt x="651961" y="537668"/>
                </a:lnTo>
                <a:lnTo>
                  <a:pt x="671829" y="50546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171433" y="6697989"/>
            <a:ext cx="817244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114</a:t>
            </a:fld>
            <a:r>
              <a:rPr dirty="0" sz="1400" spc="2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247" y="26923"/>
            <a:ext cx="41173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71433" y="6697989"/>
            <a:ext cx="817244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114</a:t>
            </a:fld>
            <a:r>
              <a:rPr dirty="0" sz="1400" spc="2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13275" y="26923"/>
            <a:ext cx="43694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6050" algn="l"/>
              </a:tabLst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6.6.5</a:t>
            </a:r>
            <a:r>
              <a:rPr dirty="0" u="sng" sz="2000" spc="42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函数说明与调用翻译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8942" y="840105"/>
            <a:ext cx="359791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2580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二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函数调用的翻译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7744" y="1697482"/>
            <a:ext cx="74930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33801" y="1552201"/>
            <a:ext cx="3778885" cy="12934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2065">
              <a:lnSpc>
                <a:spcPct val="130000"/>
              </a:lnSpc>
              <a:spcBef>
                <a:spcPts val="95"/>
              </a:spcBef>
              <a:tabLst>
                <a:tab pos="167386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 →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call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id (Elist)  Elist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Elist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┃</a:t>
            </a:r>
            <a:r>
              <a:rPr dirty="0" sz="3200" spc="-92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7744" y="3208502"/>
            <a:ext cx="4585970" cy="2294255"/>
          </a:xfrm>
          <a:prstGeom prst="rect">
            <a:avLst/>
          </a:prstGeom>
        </p:spPr>
        <p:txBody>
          <a:bodyPr wrap="square" lIns="0" tIns="280670" rIns="0" bIns="0" rtlCol="0" vert="horz">
            <a:spAutoFit/>
          </a:bodyPr>
          <a:lstStyle/>
          <a:p>
            <a:pPr algn="r" marR="13970">
              <a:lnSpc>
                <a:spcPct val="100000"/>
              </a:lnSpc>
              <a:spcBef>
                <a:spcPts val="2210"/>
              </a:spcBef>
              <a:tabLst>
                <a:tab pos="1731010" algn="l"/>
                <a:tab pos="291719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其中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	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函数名；</a:t>
            </a:r>
            <a:endParaRPr sz="3200">
              <a:latin typeface="宋体"/>
              <a:cs typeface="宋体"/>
            </a:endParaRPr>
          </a:p>
          <a:p>
            <a:pPr algn="r" marR="16510">
              <a:lnSpc>
                <a:spcPct val="100000"/>
              </a:lnSpc>
              <a:spcBef>
                <a:spcPts val="2115"/>
              </a:spcBef>
              <a:tabLst>
                <a:tab pos="1188085" algn="l"/>
              </a:tabLst>
            </a:pP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表达式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1739264">
              <a:lnSpc>
                <a:spcPct val="100000"/>
              </a:lnSpc>
              <a:spcBef>
                <a:spcPts val="211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Elis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：实参表；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247" y="26923"/>
            <a:ext cx="8649970" cy="6700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  <a:tab pos="4292600" algn="l"/>
                <a:tab pos="56959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6.6.5</a:t>
            </a:r>
            <a:r>
              <a:rPr dirty="0" u="sng" sz="2000" spc="42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函数说明与调用翻译</a:t>
            </a:r>
            <a:endParaRPr sz="2000">
              <a:latin typeface="宋体"/>
              <a:cs typeface="宋体"/>
            </a:endParaRPr>
          </a:p>
          <a:p>
            <a:pPr marL="587375" indent="-372745">
              <a:lnSpc>
                <a:spcPct val="100000"/>
              </a:lnSpc>
              <a:spcBef>
                <a:spcPts val="1605"/>
              </a:spcBef>
              <a:buClr>
                <a:srgbClr val="66FFFF"/>
              </a:buClr>
              <a:buSzPct val="145312"/>
              <a:buFont typeface="Wingdings"/>
              <a:buChar char=""/>
              <a:tabLst>
                <a:tab pos="58801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函数调用的语义处理：</a:t>
            </a:r>
            <a:endParaRPr sz="3200">
              <a:latin typeface="宋体"/>
              <a:cs typeface="宋体"/>
            </a:endParaRPr>
          </a:p>
          <a:p>
            <a:pPr algn="just" marL="1231900" marR="462915" indent="-607060">
              <a:lnSpc>
                <a:spcPct val="130000"/>
              </a:lnSpc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①</a:t>
            </a:r>
            <a:r>
              <a:rPr dirty="0" sz="3200" spc="-7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检查所调用的过程或函数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否定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义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；与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所定义的过程或函数的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类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型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实参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形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参的数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顺序及类型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否一致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  <a:p>
            <a:pPr algn="just" marL="1263015" marR="833755" indent="-605155">
              <a:lnSpc>
                <a:spcPts val="4990"/>
              </a:lnSpc>
              <a:spcBef>
                <a:spcPts val="345"/>
              </a:spcBef>
            </a:pPr>
            <a:r>
              <a:rPr dirty="0" sz="3200" spc="-10" b="1">
                <a:solidFill>
                  <a:srgbClr val="66FFFF"/>
                </a:solidFill>
                <a:latin typeface="宋体"/>
                <a:cs typeface="宋体"/>
              </a:rPr>
              <a:t>②</a:t>
            </a:r>
            <a:r>
              <a:rPr dirty="0" sz="3200" spc="-80" b="1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给被调过程或函数分配活动</a:t>
            </a:r>
            <a:r>
              <a:rPr dirty="0" sz="3200" spc="-10" b="1">
                <a:solidFill>
                  <a:srgbClr val="66FFFF"/>
                </a:solidFill>
                <a:latin typeface="宋体"/>
                <a:cs typeface="宋体"/>
              </a:rPr>
              <a:t>记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录所需 的存储空间；</a:t>
            </a:r>
            <a:endParaRPr sz="3200">
              <a:latin typeface="宋体"/>
              <a:cs typeface="宋体"/>
            </a:endParaRPr>
          </a:p>
          <a:p>
            <a:pPr algn="just" marL="715010">
              <a:lnSpc>
                <a:spcPct val="100000"/>
              </a:lnSpc>
              <a:spcBef>
                <a:spcPts val="560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③</a:t>
            </a:r>
            <a:r>
              <a:rPr dirty="0" sz="3200" spc="7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传送实参并计算；</a:t>
            </a:r>
            <a:endParaRPr sz="3200">
              <a:latin typeface="宋体"/>
              <a:cs typeface="宋体"/>
            </a:endParaRPr>
          </a:p>
          <a:p>
            <a:pPr algn="just" marL="1377315" marR="725170" indent="-605155">
              <a:lnSpc>
                <a:spcPct val="130100"/>
              </a:lnSpc>
              <a:spcBef>
                <a:spcPts val="254"/>
              </a:spcBef>
            </a:pPr>
            <a:r>
              <a:rPr dirty="0" sz="3200" spc="-10" b="1">
                <a:solidFill>
                  <a:srgbClr val="66FFFF"/>
                </a:solidFill>
                <a:latin typeface="宋体"/>
                <a:cs typeface="宋体"/>
              </a:rPr>
              <a:t>④</a:t>
            </a:r>
            <a:r>
              <a:rPr dirty="0" sz="3200" spc="-45" b="1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加载调用结果和返回地</a:t>
            </a:r>
            <a:r>
              <a:rPr dirty="0" sz="3200" spc="-20" b="1">
                <a:solidFill>
                  <a:srgbClr val="66FFFF"/>
                </a:solidFill>
                <a:latin typeface="宋体"/>
                <a:cs typeface="宋体"/>
              </a:rPr>
              <a:t>址</a:t>
            </a:r>
            <a:r>
              <a:rPr dirty="0" sz="3200" spc="-5" b="1">
                <a:solidFill>
                  <a:srgbClr val="66FFFF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66FFFF"/>
                </a:solidFill>
                <a:latin typeface="宋体"/>
                <a:cs typeface="宋体"/>
              </a:rPr>
              <a:t>恢复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主</a:t>
            </a:r>
            <a:r>
              <a:rPr dirty="0" sz="3200" spc="-10" b="1">
                <a:solidFill>
                  <a:srgbClr val="66FFFF"/>
                </a:solidFill>
                <a:latin typeface="宋体"/>
                <a:cs typeface="宋体"/>
              </a:rPr>
              <a:t>调 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用过程或函数的继续执行；</a:t>
            </a:r>
            <a:endParaRPr sz="3200">
              <a:latin typeface="宋体"/>
              <a:cs typeface="宋体"/>
            </a:endParaRPr>
          </a:p>
          <a:p>
            <a:pPr algn="just" marL="767715">
              <a:lnSpc>
                <a:spcPct val="100000"/>
              </a:lnSpc>
              <a:spcBef>
                <a:spcPts val="919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⑤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转向相应的过程或函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120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247" y="26923"/>
            <a:ext cx="41173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120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13275" y="26923"/>
            <a:ext cx="43694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6050" algn="l"/>
              </a:tabLst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6.6.5</a:t>
            </a:r>
            <a:r>
              <a:rPr dirty="0" u="sng" sz="2000" spc="42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函数说明与调用翻译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820927"/>
            <a:ext cx="8194675" cy="36201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4175" indent="-372110">
              <a:lnSpc>
                <a:spcPct val="100000"/>
              </a:lnSpc>
              <a:spcBef>
                <a:spcPts val="105"/>
              </a:spcBef>
              <a:buClr>
                <a:srgbClr val="66FFFF"/>
              </a:buClr>
              <a:buSzPct val="145312"/>
              <a:buFont typeface="Wingdings"/>
              <a:buChar char=""/>
              <a:tabLst>
                <a:tab pos="38481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函数调用返回的语义处理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900">
              <a:latin typeface="宋体"/>
              <a:cs typeface="宋体"/>
            </a:endParaRPr>
          </a:p>
          <a:p>
            <a:pPr marL="626745">
              <a:lnSpc>
                <a:spcPct val="100000"/>
              </a:lnSpc>
              <a:spcBef>
                <a:spcPts val="5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①</a:t>
            </a:r>
            <a:r>
              <a:rPr dirty="0" sz="3200" spc="-6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返回一个或多个结果值存于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指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定位置；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00">
              <a:latin typeface="宋体"/>
              <a:cs typeface="宋体"/>
            </a:endParaRPr>
          </a:p>
          <a:p>
            <a:pPr marL="724535">
              <a:lnSpc>
                <a:spcPct val="100000"/>
              </a:lnSpc>
              <a:tabLst>
                <a:tab pos="1335405" algn="l"/>
              </a:tabLst>
            </a:pPr>
            <a:r>
              <a:rPr dirty="0" sz="3200" spc="-10" b="1">
                <a:solidFill>
                  <a:srgbClr val="FFFFFF"/>
                </a:solidFill>
                <a:latin typeface="方正舒体"/>
                <a:cs typeface="方正舒体"/>
              </a:rPr>
              <a:t>②	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恢复调用过程的活动记录；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00">
              <a:latin typeface="宋体"/>
              <a:cs typeface="宋体"/>
            </a:endParaRPr>
          </a:p>
          <a:p>
            <a:pPr marL="774700">
              <a:lnSpc>
                <a:spcPct val="100000"/>
              </a:lnSpc>
              <a:tabLst>
                <a:tab pos="1385570" algn="l"/>
              </a:tabLst>
            </a:pPr>
            <a:r>
              <a:rPr dirty="0" sz="3200" spc="-10" b="1">
                <a:solidFill>
                  <a:srgbClr val="FFFFFF"/>
                </a:solidFill>
                <a:latin typeface="方正舒体"/>
                <a:cs typeface="方正舒体"/>
              </a:rPr>
              <a:t>③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生成一条转移指令（返回）；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5151" y="397002"/>
            <a:ext cx="6642734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">
                <a:solidFill>
                  <a:srgbClr val="FFFF00"/>
                </a:solidFill>
              </a:rPr>
              <a:t>语义分析与中间代码生成总结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878073" y="1620774"/>
            <a:ext cx="2705100" cy="1056640"/>
          </a:xfrm>
          <a:prstGeom prst="rect">
            <a:avLst/>
          </a:prstGeom>
          <a:ln w="38100">
            <a:solidFill>
              <a:srgbClr val="00FF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746125">
              <a:lnSpc>
                <a:spcPts val="3465"/>
              </a:lnSpc>
            </a:pPr>
            <a:r>
              <a:rPr dirty="0" sz="3800" spc="-15" b="1">
                <a:solidFill>
                  <a:srgbClr val="FFFF00"/>
                </a:solidFill>
                <a:latin typeface="宋体"/>
                <a:cs typeface="宋体"/>
              </a:rPr>
              <a:t>语</a:t>
            </a:r>
            <a:r>
              <a:rPr dirty="0" sz="3800" spc="-10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800" spc="-15" b="1">
                <a:solidFill>
                  <a:srgbClr val="FFFF00"/>
                </a:solidFill>
                <a:latin typeface="宋体"/>
                <a:cs typeface="宋体"/>
              </a:rPr>
              <a:t>义</a:t>
            </a:r>
            <a:endParaRPr sz="3800">
              <a:latin typeface="宋体"/>
              <a:cs typeface="宋体"/>
            </a:endParaRPr>
          </a:p>
          <a:p>
            <a:pPr marL="746125">
              <a:lnSpc>
                <a:spcPts val="4105"/>
              </a:lnSpc>
            </a:pPr>
            <a:r>
              <a:rPr dirty="0" sz="3800" spc="-10" b="1">
                <a:solidFill>
                  <a:srgbClr val="FFFF00"/>
                </a:solidFill>
                <a:latin typeface="宋体"/>
                <a:cs typeface="宋体"/>
              </a:rPr>
              <a:t>分</a:t>
            </a:r>
            <a:r>
              <a:rPr dirty="0" sz="3800" spc="-11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800" spc="-10" b="1">
                <a:solidFill>
                  <a:srgbClr val="FFFF00"/>
                </a:solidFill>
                <a:latin typeface="宋体"/>
                <a:cs typeface="宋体"/>
              </a:rPr>
              <a:t>析</a:t>
            </a:r>
            <a:endParaRPr sz="3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25474" y="2249423"/>
            <a:ext cx="1732914" cy="114300"/>
          </a:xfrm>
          <a:custGeom>
            <a:avLst/>
            <a:gdLst/>
            <a:ahLst/>
            <a:cxnLst/>
            <a:rect l="l" t="t" r="r" b="b"/>
            <a:pathLst>
              <a:path w="1732914" h="114300">
                <a:moveTo>
                  <a:pt x="1542288" y="0"/>
                </a:moveTo>
                <a:lnTo>
                  <a:pt x="1542288" y="114300"/>
                </a:lnTo>
                <a:lnTo>
                  <a:pt x="1669288" y="76200"/>
                </a:lnTo>
                <a:lnTo>
                  <a:pt x="1561338" y="76200"/>
                </a:lnTo>
                <a:lnTo>
                  <a:pt x="1561338" y="38100"/>
                </a:lnTo>
                <a:lnTo>
                  <a:pt x="1669288" y="38100"/>
                </a:lnTo>
                <a:lnTo>
                  <a:pt x="1542288" y="0"/>
                </a:lnTo>
                <a:close/>
              </a:path>
              <a:path w="1732914" h="114300">
                <a:moveTo>
                  <a:pt x="15422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542288" y="76200"/>
                </a:lnTo>
                <a:lnTo>
                  <a:pt x="1542288" y="38100"/>
                </a:lnTo>
                <a:close/>
              </a:path>
              <a:path w="1732914" h="114300">
                <a:moveTo>
                  <a:pt x="1669288" y="38100"/>
                </a:moveTo>
                <a:lnTo>
                  <a:pt x="1561338" y="38100"/>
                </a:lnTo>
                <a:lnTo>
                  <a:pt x="1561338" y="76200"/>
                </a:lnTo>
                <a:lnTo>
                  <a:pt x="1669288" y="76200"/>
                </a:lnTo>
                <a:lnTo>
                  <a:pt x="1732788" y="57150"/>
                </a:lnTo>
                <a:lnTo>
                  <a:pt x="1669288" y="3810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08760" y="1716786"/>
            <a:ext cx="4318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EAEAEA"/>
                </a:solidFill>
                <a:latin typeface="Times New Roman"/>
                <a:cs typeface="Times New Roman"/>
              </a:rPr>
              <a:t>L</a:t>
            </a:r>
            <a:r>
              <a:rPr dirty="0" baseline="-21021" sz="2775" b="1">
                <a:solidFill>
                  <a:srgbClr val="EAEAEA"/>
                </a:solidFill>
                <a:latin typeface="Times New Roman"/>
                <a:cs typeface="Times New Roman"/>
              </a:rPr>
              <a:t>2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83173" y="2249423"/>
            <a:ext cx="1732914" cy="114300"/>
          </a:xfrm>
          <a:custGeom>
            <a:avLst/>
            <a:gdLst/>
            <a:ahLst/>
            <a:cxnLst/>
            <a:rect l="l" t="t" r="r" b="b"/>
            <a:pathLst>
              <a:path w="1732915" h="114300">
                <a:moveTo>
                  <a:pt x="1542287" y="0"/>
                </a:moveTo>
                <a:lnTo>
                  <a:pt x="1542287" y="114300"/>
                </a:lnTo>
                <a:lnTo>
                  <a:pt x="1669287" y="76200"/>
                </a:lnTo>
                <a:lnTo>
                  <a:pt x="1561337" y="76200"/>
                </a:lnTo>
                <a:lnTo>
                  <a:pt x="1561337" y="38100"/>
                </a:lnTo>
                <a:lnTo>
                  <a:pt x="1669287" y="38100"/>
                </a:lnTo>
                <a:lnTo>
                  <a:pt x="1542287" y="0"/>
                </a:lnTo>
                <a:close/>
              </a:path>
              <a:path w="1732915" h="114300">
                <a:moveTo>
                  <a:pt x="154228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542287" y="76200"/>
                </a:lnTo>
                <a:lnTo>
                  <a:pt x="1542287" y="38100"/>
                </a:lnTo>
                <a:close/>
              </a:path>
              <a:path w="1732915" h="114300">
                <a:moveTo>
                  <a:pt x="1669287" y="38100"/>
                </a:moveTo>
                <a:lnTo>
                  <a:pt x="1561337" y="38100"/>
                </a:lnTo>
                <a:lnTo>
                  <a:pt x="1561337" y="76200"/>
                </a:lnTo>
                <a:lnTo>
                  <a:pt x="1669287" y="76200"/>
                </a:lnTo>
                <a:lnTo>
                  <a:pt x="1732787" y="57150"/>
                </a:lnTo>
                <a:lnTo>
                  <a:pt x="1669287" y="3810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130416" y="1740535"/>
            <a:ext cx="18580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EAEAEA"/>
                </a:solidFill>
                <a:latin typeface="Times New Roman"/>
                <a:cs typeface="Times New Roman"/>
              </a:rPr>
              <a:t>L</a:t>
            </a:r>
            <a:r>
              <a:rPr dirty="0" baseline="-21021" sz="2775" b="1">
                <a:solidFill>
                  <a:srgbClr val="EAEAEA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EAEAEA"/>
                </a:solidFill>
                <a:latin typeface="宋体"/>
                <a:cs typeface="宋体"/>
              </a:rPr>
              <a:t>中间代码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62705" y="3009900"/>
            <a:ext cx="1886712" cy="8679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834384" y="2913348"/>
            <a:ext cx="943356" cy="642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834384" y="2849101"/>
            <a:ext cx="943356" cy="321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362705" y="3009900"/>
            <a:ext cx="1887220" cy="868044"/>
          </a:xfrm>
          <a:custGeom>
            <a:avLst/>
            <a:gdLst/>
            <a:ahLst/>
            <a:cxnLst/>
            <a:rect l="l" t="t" r="r" b="b"/>
            <a:pathLst>
              <a:path w="1887220" h="868045">
                <a:moveTo>
                  <a:pt x="1886712" y="610743"/>
                </a:moveTo>
                <a:lnTo>
                  <a:pt x="1415034" y="610743"/>
                </a:lnTo>
                <a:lnTo>
                  <a:pt x="1415034" y="0"/>
                </a:lnTo>
                <a:lnTo>
                  <a:pt x="471678" y="0"/>
                </a:lnTo>
                <a:lnTo>
                  <a:pt x="471678" y="610743"/>
                </a:lnTo>
                <a:lnTo>
                  <a:pt x="0" y="610743"/>
                </a:lnTo>
                <a:lnTo>
                  <a:pt x="943356" y="867918"/>
                </a:lnTo>
                <a:lnTo>
                  <a:pt x="1886712" y="610743"/>
                </a:lnTo>
                <a:close/>
              </a:path>
            </a:pathLst>
          </a:custGeom>
          <a:ln w="38100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834384" y="2913348"/>
            <a:ext cx="943610" cy="64769"/>
          </a:xfrm>
          <a:custGeom>
            <a:avLst/>
            <a:gdLst/>
            <a:ahLst/>
            <a:cxnLst/>
            <a:rect l="l" t="t" r="r" b="b"/>
            <a:pathLst>
              <a:path w="943610" h="64769">
                <a:moveTo>
                  <a:pt x="0" y="64293"/>
                </a:moveTo>
                <a:lnTo>
                  <a:pt x="943356" y="64293"/>
                </a:lnTo>
                <a:lnTo>
                  <a:pt x="943356" y="0"/>
                </a:lnTo>
                <a:lnTo>
                  <a:pt x="0" y="0"/>
                </a:lnTo>
                <a:lnTo>
                  <a:pt x="0" y="64293"/>
                </a:lnTo>
                <a:close/>
              </a:path>
            </a:pathLst>
          </a:custGeom>
          <a:ln w="38100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815334" y="2865175"/>
            <a:ext cx="981710" cy="0"/>
          </a:xfrm>
          <a:custGeom>
            <a:avLst/>
            <a:gdLst/>
            <a:ahLst/>
            <a:cxnLst/>
            <a:rect l="l" t="t" r="r" b="b"/>
            <a:pathLst>
              <a:path w="981710" h="0">
                <a:moveTo>
                  <a:pt x="0" y="0"/>
                </a:moveTo>
                <a:lnTo>
                  <a:pt x="981456" y="0"/>
                </a:lnTo>
              </a:path>
            </a:pathLst>
          </a:custGeom>
          <a:ln w="70247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91711" y="4724400"/>
            <a:ext cx="3695700" cy="0"/>
          </a:xfrm>
          <a:custGeom>
            <a:avLst/>
            <a:gdLst/>
            <a:ahLst/>
            <a:cxnLst/>
            <a:rect l="l" t="t" r="r" b="b"/>
            <a:pathLst>
              <a:path w="3695700" h="0">
                <a:moveTo>
                  <a:pt x="0" y="0"/>
                </a:moveTo>
                <a:lnTo>
                  <a:pt x="3695699" y="0"/>
                </a:lnTo>
              </a:path>
            </a:pathLst>
          </a:custGeom>
          <a:ln w="5715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936142" y="4084065"/>
            <a:ext cx="7596505" cy="1957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2905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根据语义进行语义检查和代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码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生成</a:t>
            </a:r>
            <a:endParaRPr sz="3200">
              <a:latin typeface="宋体"/>
              <a:cs typeface="宋体"/>
            </a:endParaRPr>
          </a:p>
          <a:p>
            <a:pPr marL="50800" marR="43180">
              <a:lnSpc>
                <a:spcPts val="5710"/>
              </a:lnSpc>
              <a:spcBef>
                <a:spcPts val="525"/>
              </a:spcBef>
            </a:pPr>
            <a:r>
              <a:rPr dirty="0" sz="2800" spc="-5" b="1">
                <a:solidFill>
                  <a:srgbClr val="EAEAEA"/>
                </a:solidFill>
                <a:latin typeface="宋体"/>
                <a:cs typeface="宋体"/>
              </a:rPr>
              <a:t>对</a:t>
            </a:r>
            <a:r>
              <a:rPr dirty="0" sz="2800" spc="-10" b="1">
                <a:solidFill>
                  <a:srgbClr val="EAEAEA"/>
                </a:solidFill>
                <a:latin typeface="Times New Roman"/>
                <a:cs typeface="Times New Roman"/>
              </a:rPr>
              <a:t>L</a:t>
            </a:r>
            <a:r>
              <a:rPr dirty="0" baseline="-21021" sz="2775" spc="15" b="1">
                <a:solidFill>
                  <a:srgbClr val="EAEAEA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EAEAEA"/>
                </a:solidFill>
                <a:latin typeface="宋体"/>
                <a:cs typeface="宋体"/>
              </a:rPr>
              <a:t>扫描的顺序性；产生的代</a:t>
            </a:r>
            <a:r>
              <a:rPr dirty="0" sz="2800" spc="5" b="1">
                <a:solidFill>
                  <a:srgbClr val="EAEAEA"/>
                </a:solidFill>
                <a:latin typeface="宋体"/>
                <a:cs typeface="宋体"/>
              </a:rPr>
              <a:t>码</a:t>
            </a:r>
            <a:r>
              <a:rPr dirty="0" sz="2800" spc="-5" b="1">
                <a:solidFill>
                  <a:srgbClr val="EAEAEA"/>
                </a:solidFill>
                <a:latin typeface="宋体"/>
                <a:cs typeface="宋体"/>
              </a:rPr>
              <a:t>执行</a:t>
            </a:r>
            <a:r>
              <a:rPr dirty="0" sz="2800" spc="5" b="1">
                <a:solidFill>
                  <a:srgbClr val="EAEAEA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EAEAEA"/>
                </a:solidFill>
                <a:latin typeface="宋体"/>
                <a:cs typeface="宋体"/>
              </a:rPr>
              <a:t>线性</a:t>
            </a:r>
            <a:r>
              <a:rPr dirty="0" sz="2800" spc="5" b="1">
                <a:solidFill>
                  <a:srgbClr val="EAEAEA"/>
                </a:solidFill>
                <a:latin typeface="宋体"/>
                <a:cs typeface="宋体"/>
              </a:rPr>
              <a:t>性</a:t>
            </a:r>
            <a:r>
              <a:rPr dirty="0" sz="2800" spc="-15" b="1">
                <a:solidFill>
                  <a:srgbClr val="EAEAEA"/>
                </a:solidFill>
                <a:latin typeface="宋体"/>
                <a:cs typeface="宋体"/>
              </a:rPr>
              <a:t>； </a:t>
            </a:r>
            <a:r>
              <a:rPr dirty="0" sz="2800" spc="-10" b="1">
                <a:solidFill>
                  <a:srgbClr val="EAEAEA"/>
                </a:solidFill>
                <a:latin typeface="宋体"/>
                <a:cs typeface="宋体"/>
              </a:rPr>
              <a:t>语义映射的准确性；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12569" y="1201674"/>
            <a:ext cx="6210300" cy="0"/>
          </a:xfrm>
          <a:custGeom>
            <a:avLst/>
            <a:gdLst/>
            <a:ahLst/>
            <a:cxnLst/>
            <a:rect l="l" t="t" r="r" b="b"/>
            <a:pathLst>
              <a:path w="6210300" h="0">
                <a:moveTo>
                  <a:pt x="0" y="0"/>
                </a:moveTo>
                <a:lnTo>
                  <a:pt x="62103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9811" y="4668011"/>
            <a:ext cx="9124315" cy="847725"/>
          </a:xfrm>
          <a:custGeom>
            <a:avLst/>
            <a:gdLst/>
            <a:ahLst/>
            <a:cxnLst/>
            <a:rect l="l" t="t" r="r" b="b"/>
            <a:pathLst>
              <a:path w="9124315" h="847725">
                <a:moveTo>
                  <a:pt x="0" y="847344"/>
                </a:moveTo>
                <a:lnTo>
                  <a:pt x="5484" y="805471"/>
                </a:lnTo>
                <a:lnTo>
                  <a:pt x="21768" y="764125"/>
                </a:lnTo>
                <a:lnTo>
                  <a:pt x="48597" y="723351"/>
                </a:lnTo>
                <a:lnTo>
                  <a:pt x="85718" y="683197"/>
                </a:lnTo>
                <a:lnTo>
                  <a:pt x="116057" y="656796"/>
                </a:lnTo>
                <a:lnTo>
                  <a:pt x="150782" y="630705"/>
                </a:lnTo>
                <a:lnTo>
                  <a:pt x="189816" y="604938"/>
                </a:lnTo>
                <a:lnTo>
                  <a:pt x="233086" y="579510"/>
                </a:lnTo>
                <a:lnTo>
                  <a:pt x="280516" y="554434"/>
                </a:lnTo>
                <a:lnTo>
                  <a:pt x="332029" y="529724"/>
                </a:lnTo>
                <a:lnTo>
                  <a:pt x="387552" y="505394"/>
                </a:lnTo>
                <a:lnTo>
                  <a:pt x="447009" y="481459"/>
                </a:lnTo>
                <a:lnTo>
                  <a:pt x="510324" y="457931"/>
                </a:lnTo>
                <a:lnTo>
                  <a:pt x="577422" y="434826"/>
                </a:lnTo>
                <a:lnTo>
                  <a:pt x="648228" y="412157"/>
                </a:lnTo>
                <a:lnTo>
                  <a:pt x="684998" y="400990"/>
                </a:lnTo>
                <a:lnTo>
                  <a:pt x="722666" y="389938"/>
                </a:lnTo>
                <a:lnTo>
                  <a:pt x="761224" y="379001"/>
                </a:lnTo>
                <a:lnTo>
                  <a:pt x="800662" y="368182"/>
                </a:lnTo>
                <a:lnTo>
                  <a:pt x="840970" y="357483"/>
                </a:lnTo>
                <a:lnTo>
                  <a:pt x="882139" y="346905"/>
                </a:lnTo>
                <a:lnTo>
                  <a:pt x="924160" y="336449"/>
                </a:lnTo>
                <a:lnTo>
                  <a:pt x="967024" y="326119"/>
                </a:lnTo>
                <a:lnTo>
                  <a:pt x="1010719" y="315915"/>
                </a:lnTo>
                <a:lnTo>
                  <a:pt x="1055239" y="305839"/>
                </a:lnTo>
                <a:lnTo>
                  <a:pt x="1100572" y="295893"/>
                </a:lnTo>
                <a:lnTo>
                  <a:pt x="1146710" y="286079"/>
                </a:lnTo>
                <a:lnTo>
                  <a:pt x="1193643" y="276398"/>
                </a:lnTo>
                <a:lnTo>
                  <a:pt x="1241362" y="266852"/>
                </a:lnTo>
                <a:lnTo>
                  <a:pt x="1289857" y="257443"/>
                </a:lnTo>
                <a:lnTo>
                  <a:pt x="1339119" y="248173"/>
                </a:lnTo>
                <a:lnTo>
                  <a:pt x="1389139" y="239044"/>
                </a:lnTo>
                <a:lnTo>
                  <a:pt x="1439906" y="230056"/>
                </a:lnTo>
                <a:lnTo>
                  <a:pt x="1491413" y="221212"/>
                </a:lnTo>
                <a:lnTo>
                  <a:pt x="1543648" y="212514"/>
                </a:lnTo>
                <a:lnTo>
                  <a:pt x="1596604" y="203964"/>
                </a:lnTo>
                <a:lnTo>
                  <a:pt x="1650270" y="195562"/>
                </a:lnTo>
                <a:lnTo>
                  <a:pt x="1704637" y="187311"/>
                </a:lnTo>
                <a:lnTo>
                  <a:pt x="1759695" y="179213"/>
                </a:lnTo>
                <a:lnTo>
                  <a:pt x="1815436" y="171270"/>
                </a:lnTo>
                <a:lnTo>
                  <a:pt x="1871849" y="163482"/>
                </a:lnTo>
                <a:lnTo>
                  <a:pt x="1928926" y="155852"/>
                </a:lnTo>
                <a:lnTo>
                  <a:pt x="1986657" y="148382"/>
                </a:lnTo>
                <a:lnTo>
                  <a:pt x="2045032" y="141073"/>
                </a:lnTo>
                <a:lnTo>
                  <a:pt x="2104043" y="133927"/>
                </a:lnTo>
                <a:lnTo>
                  <a:pt x="2163679" y="126946"/>
                </a:lnTo>
                <a:lnTo>
                  <a:pt x="2223932" y="120132"/>
                </a:lnTo>
                <a:lnTo>
                  <a:pt x="2284791" y="113486"/>
                </a:lnTo>
                <a:lnTo>
                  <a:pt x="2346248" y="107010"/>
                </a:lnTo>
                <a:lnTo>
                  <a:pt x="2408293" y="100705"/>
                </a:lnTo>
                <a:lnTo>
                  <a:pt x="2470916" y="94575"/>
                </a:lnTo>
                <a:lnTo>
                  <a:pt x="2534109" y="88619"/>
                </a:lnTo>
                <a:lnTo>
                  <a:pt x="2597862" y="82841"/>
                </a:lnTo>
                <a:lnTo>
                  <a:pt x="2662165" y="77241"/>
                </a:lnTo>
                <a:lnTo>
                  <a:pt x="2727009" y="71822"/>
                </a:lnTo>
                <a:lnTo>
                  <a:pt x="2792384" y="66585"/>
                </a:lnTo>
                <a:lnTo>
                  <a:pt x="2858282" y="61532"/>
                </a:lnTo>
                <a:lnTo>
                  <a:pt x="2924692" y="56665"/>
                </a:lnTo>
                <a:lnTo>
                  <a:pt x="2991606" y="51986"/>
                </a:lnTo>
                <a:lnTo>
                  <a:pt x="3059014" y="47495"/>
                </a:lnTo>
                <a:lnTo>
                  <a:pt x="3126906" y="43196"/>
                </a:lnTo>
                <a:lnTo>
                  <a:pt x="3195273" y="39089"/>
                </a:lnTo>
                <a:lnTo>
                  <a:pt x="3264106" y="35177"/>
                </a:lnTo>
                <a:lnTo>
                  <a:pt x="3333396" y="31461"/>
                </a:lnTo>
                <a:lnTo>
                  <a:pt x="3403132" y="27943"/>
                </a:lnTo>
                <a:lnTo>
                  <a:pt x="3473305" y="24624"/>
                </a:lnTo>
                <a:lnTo>
                  <a:pt x="3543907" y="21508"/>
                </a:lnTo>
                <a:lnTo>
                  <a:pt x="3614927" y="18594"/>
                </a:lnTo>
                <a:lnTo>
                  <a:pt x="3686356" y="15885"/>
                </a:lnTo>
                <a:lnTo>
                  <a:pt x="3758186" y="13383"/>
                </a:lnTo>
                <a:lnTo>
                  <a:pt x="3830405" y="11089"/>
                </a:lnTo>
                <a:lnTo>
                  <a:pt x="3903006" y="9006"/>
                </a:lnTo>
                <a:lnTo>
                  <a:pt x="3975978" y="7134"/>
                </a:lnTo>
                <a:lnTo>
                  <a:pt x="4049312" y="5476"/>
                </a:lnTo>
                <a:lnTo>
                  <a:pt x="4122999" y="4034"/>
                </a:lnTo>
                <a:lnTo>
                  <a:pt x="4197029" y="2808"/>
                </a:lnTo>
                <a:lnTo>
                  <a:pt x="4271393" y="1802"/>
                </a:lnTo>
                <a:lnTo>
                  <a:pt x="4346081" y="1016"/>
                </a:lnTo>
                <a:lnTo>
                  <a:pt x="4421085" y="452"/>
                </a:lnTo>
                <a:lnTo>
                  <a:pt x="4496394" y="113"/>
                </a:lnTo>
                <a:lnTo>
                  <a:pt x="4572000" y="0"/>
                </a:lnTo>
                <a:lnTo>
                  <a:pt x="4647605" y="113"/>
                </a:lnTo>
                <a:lnTo>
                  <a:pt x="4722914" y="452"/>
                </a:lnTo>
                <a:lnTo>
                  <a:pt x="4797918" y="1016"/>
                </a:lnTo>
                <a:lnTo>
                  <a:pt x="4872606" y="1802"/>
                </a:lnTo>
                <a:lnTo>
                  <a:pt x="4946970" y="2808"/>
                </a:lnTo>
                <a:lnTo>
                  <a:pt x="5021000" y="4034"/>
                </a:lnTo>
                <a:lnTo>
                  <a:pt x="5094687" y="5476"/>
                </a:lnTo>
                <a:lnTo>
                  <a:pt x="5168021" y="7134"/>
                </a:lnTo>
                <a:lnTo>
                  <a:pt x="5240993" y="9006"/>
                </a:lnTo>
                <a:lnTo>
                  <a:pt x="5313594" y="11089"/>
                </a:lnTo>
                <a:lnTo>
                  <a:pt x="5385813" y="13383"/>
                </a:lnTo>
                <a:lnTo>
                  <a:pt x="5457643" y="15885"/>
                </a:lnTo>
                <a:lnTo>
                  <a:pt x="5529072" y="18594"/>
                </a:lnTo>
                <a:lnTo>
                  <a:pt x="5600092" y="21508"/>
                </a:lnTo>
                <a:lnTo>
                  <a:pt x="5670694" y="24624"/>
                </a:lnTo>
                <a:lnTo>
                  <a:pt x="5740867" y="27943"/>
                </a:lnTo>
                <a:lnTo>
                  <a:pt x="5810603" y="31461"/>
                </a:lnTo>
                <a:lnTo>
                  <a:pt x="5879893" y="35177"/>
                </a:lnTo>
                <a:lnTo>
                  <a:pt x="5948726" y="39089"/>
                </a:lnTo>
                <a:lnTo>
                  <a:pt x="6017093" y="43196"/>
                </a:lnTo>
                <a:lnTo>
                  <a:pt x="6084985" y="47495"/>
                </a:lnTo>
                <a:lnTo>
                  <a:pt x="6152393" y="51986"/>
                </a:lnTo>
                <a:lnTo>
                  <a:pt x="6219307" y="56665"/>
                </a:lnTo>
                <a:lnTo>
                  <a:pt x="6285717" y="61532"/>
                </a:lnTo>
                <a:lnTo>
                  <a:pt x="6351615" y="66585"/>
                </a:lnTo>
                <a:lnTo>
                  <a:pt x="6416990" y="71822"/>
                </a:lnTo>
                <a:lnTo>
                  <a:pt x="6481834" y="77241"/>
                </a:lnTo>
                <a:lnTo>
                  <a:pt x="6546137" y="82841"/>
                </a:lnTo>
                <a:lnTo>
                  <a:pt x="6609890" y="88619"/>
                </a:lnTo>
                <a:lnTo>
                  <a:pt x="6673083" y="94575"/>
                </a:lnTo>
                <a:lnTo>
                  <a:pt x="6735706" y="100705"/>
                </a:lnTo>
                <a:lnTo>
                  <a:pt x="6797751" y="107010"/>
                </a:lnTo>
                <a:lnTo>
                  <a:pt x="6859208" y="113486"/>
                </a:lnTo>
                <a:lnTo>
                  <a:pt x="6920067" y="120132"/>
                </a:lnTo>
                <a:lnTo>
                  <a:pt x="6980320" y="126946"/>
                </a:lnTo>
                <a:lnTo>
                  <a:pt x="7039956" y="133927"/>
                </a:lnTo>
                <a:lnTo>
                  <a:pt x="7098967" y="141073"/>
                </a:lnTo>
                <a:lnTo>
                  <a:pt x="7157342" y="148382"/>
                </a:lnTo>
                <a:lnTo>
                  <a:pt x="7215073" y="155852"/>
                </a:lnTo>
                <a:lnTo>
                  <a:pt x="7272150" y="163482"/>
                </a:lnTo>
                <a:lnTo>
                  <a:pt x="7328563" y="171270"/>
                </a:lnTo>
                <a:lnTo>
                  <a:pt x="7384304" y="179213"/>
                </a:lnTo>
                <a:lnTo>
                  <a:pt x="7439362" y="187311"/>
                </a:lnTo>
                <a:lnTo>
                  <a:pt x="7493729" y="195562"/>
                </a:lnTo>
                <a:lnTo>
                  <a:pt x="7547395" y="203964"/>
                </a:lnTo>
                <a:lnTo>
                  <a:pt x="7600351" y="212514"/>
                </a:lnTo>
                <a:lnTo>
                  <a:pt x="7652586" y="221212"/>
                </a:lnTo>
                <a:lnTo>
                  <a:pt x="7704093" y="230056"/>
                </a:lnTo>
                <a:lnTo>
                  <a:pt x="7754860" y="239044"/>
                </a:lnTo>
                <a:lnTo>
                  <a:pt x="7804880" y="248173"/>
                </a:lnTo>
                <a:lnTo>
                  <a:pt x="7854142" y="257443"/>
                </a:lnTo>
                <a:lnTo>
                  <a:pt x="7902637" y="266852"/>
                </a:lnTo>
                <a:lnTo>
                  <a:pt x="7950356" y="276398"/>
                </a:lnTo>
                <a:lnTo>
                  <a:pt x="7997289" y="286079"/>
                </a:lnTo>
                <a:lnTo>
                  <a:pt x="8043427" y="295893"/>
                </a:lnTo>
                <a:lnTo>
                  <a:pt x="8088760" y="305839"/>
                </a:lnTo>
                <a:lnTo>
                  <a:pt x="8133280" y="315915"/>
                </a:lnTo>
                <a:lnTo>
                  <a:pt x="8176975" y="326119"/>
                </a:lnTo>
                <a:lnTo>
                  <a:pt x="8219839" y="336449"/>
                </a:lnTo>
                <a:lnTo>
                  <a:pt x="8261860" y="346905"/>
                </a:lnTo>
                <a:lnTo>
                  <a:pt x="8303029" y="357483"/>
                </a:lnTo>
                <a:lnTo>
                  <a:pt x="8343337" y="368182"/>
                </a:lnTo>
                <a:lnTo>
                  <a:pt x="8382775" y="379001"/>
                </a:lnTo>
                <a:lnTo>
                  <a:pt x="8421333" y="389938"/>
                </a:lnTo>
                <a:lnTo>
                  <a:pt x="8459001" y="400990"/>
                </a:lnTo>
                <a:lnTo>
                  <a:pt x="8495771" y="412157"/>
                </a:lnTo>
                <a:lnTo>
                  <a:pt x="8566577" y="434826"/>
                </a:lnTo>
                <a:lnTo>
                  <a:pt x="8633675" y="457931"/>
                </a:lnTo>
                <a:lnTo>
                  <a:pt x="8696990" y="481459"/>
                </a:lnTo>
                <a:lnTo>
                  <a:pt x="8756447" y="505394"/>
                </a:lnTo>
                <a:lnTo>
                  <a:pt x="8811970" y="529724"/>
                </a:lnTo>
                <a:lnTo>
                  <a:pt x="8863483" y="554434"/>
                </a:lnTo>
                <a:lnTo>
                  <a:pt x="8910913" y="579510"/>
                </a:lnTo>
                <a:lnTo>
                  <a:pt x="8954183" y="604938"/>
                </a:lnTo>
                <a:lnTo>
                  <a:pt x="8993217" y="630705"/>
                </a:lnTo>
                <a:lnTo>
                  <a:pt x="9027942" y="656796"/>
                </a:lnTo>
                <a:lnTo>
                  <a:pt x="9058281" y="683197"/>
                </a:lnTo>
                <a:lnTo>
                  <a:pt x="9095402" y="723351"/>
                </a:lnTo>
                <a:lnTo>
                  <a:pt x="9122231" y="764125"/>
                </a:lnTo>
                <a:lnTo>
                  <a:pt x="9124188" y="768185"/>
                </a:lnTo>
              </a:path>
            </a:pathLst>
          </a:custGeom>
          <a:ln w="5715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9811" y="5515355"/>
            <a:ext cx="9124315" cy="847725"/>
          </a:xfrm>
          <a:custGeom>
            <a:avLst/>
            <a:gdLst/>
            <a:ahLst/>
            <a:cxnLst/>
            <a:rect l="l" t="t" r="r" b="b"/>
            <a:pathLst>
              <a:path w="9124315" h="847725">
                <a:moveTo>
                  <a:pt x="9124188" y="79155"/>
                </a:moveTo>
                <a:lnTo>
                  <a:pt x="9095402" y="123986"/>
                </a:lnTo>
                <a:lnTo>
                  <a:pt x="9058281" y="164139"/>
                </a:lnTo>
                <a:lnTo>
                  <a:pt x="9027942" y="190539"/>
                </a:lnTo>
                <a:lnTo>
                  <a:pt x="8993217" y="216630"/>
                </a:lnTo>
                <a:lnTo>
                  <a:pt x="8954183" y="242396"/>
                </a:lnTo>
                <a:lnTo>
                  <a:pt x="8910913" y="267824"/>
                </a:lnTo>
                <a:lnTo>
                  <a:pt x="8863483" y="292899"/>
                </a:lnTo>
                <a:lnTo>
                  <a:pt x="8811970" y="317609"/>
                </a:lnTo>
                <a:lnTo>
                  <a:pt x="8756447" y="341938"/>
                </a:lnTo>
                <a:lnTo>
                  <a:pt x="8696990" y="365873"/>
                </a:lnTo>
                <a:lnTo>
                  <a:pt x="8633675" y="389400"/>
                </a:lnTo>
                <a:lnTo>
                  <a:pt x="8566577" y="412506"/>
                </a:lnTo>
                <a:lnTo>
                  <a:pt x="8495771" y="435175"/>
                </a:lnTo>
                <a:lnTo>
                  <a:pt x="8459001" y="446342"/>
                </a:lnTo>
                <a:lnTo>
                  <a:pt x="8421333" y="457394"/>
                </a:lnTo>
                <a:lnTo>
                  <a:pt x="8382775" y="468331"/>
                </a:lnTo>
                <a:lnTo>
                  <a:pt x="8343337" y="479150"/>
                </a:lnTo>
                <a:lnTo>
                  <a:pt x="8303029" y="489849"/>
                </a:lnTo>
                <a:lnTo>
                  <a:pt x="8261860" y="500427"/>
                </a:lnTo>
                <a:lnTo>
                  <a:pt x="8219839" y="510883"/>
                </a:lnTo>
                <a:lnTo>
                  <a:pt x="8176975" y="521213"/>
                </a:lnTo>
                <a:lnTo>
                  <a:pt x="8133280" y="531418"/>
                </a:lnTo>
                <a:lnTo>
                  <a:pt x="8088760" y="541494"/>
                </a:lnTo>
                <a:lnTo>
                  <a:pt x="8043427" y="551440"/>
                </a:lnTo>
                <a:lnTo>
                  <a:pt x="7997289" y="561254"/>
                </a:lnTo>
                <a:lnTo>
                  <a:pt x="7950356" y="570935"/>
                </a:lnTo>
                <a:lnTo>
                  <a:pt x="7902637" y="580481"/>
                </a:lnTo>
                <a:lnTo>
                  <a:pt x="7854142" y="589890"/>
                </a:lnTo>
                <a:lnTo>
                  <a:pt x="7804880" y="599160"/>
                </a:lnTo>
                <a:lnTo>
                  <a:pt x="7754860" y="608290"/>
                </a:lnTo>
                <a:lnTo>
                  <a:pt x="7704093" y="617278"/>
                </a:lnTo>
                <a:lnTo>
                  <a:pt x="7652586" y="626122"/>
                </a:lnTo>
                <a:lnTo>
                  <a:pt x="7600351" y="634820"/>
                </a:lnTo>
                <a:lnTo>
                  <a:pt x="7547395" y="643371"/>
                </a:lnTo>
                <a:lnTo>
                  <a:pt x="7493729" y="651773"/>
                </a:lnTo>
                <a:lnTo>
                  <a:pt x="7439362" y="660024"/>
                </a:lnTo>
                <a:lnTo>
                  <a:pt x="7384304" y="668122"/>
                </a:lnTo>
                <a:lnTo>
                  <a:pt x="7328563" y="676066"/>
                </a:lnTo>
                <a:lnTo>
                  <a:pt x="7272150" y="683854"/>
                </a:lnTo>
                <a:lnTo>
                  <a:pt x="7215073" y="691484"/>
                </a:lnTo>
                <a:lnTo>
                  <a:pt x="7157342" y="698954"/>
                </a:lnTo>
                <a:lnTo>
                  <a:pt x="7098967" y="706263"/>
                </a:lnTo>
                <a:lnTo>
                  <a:pt x="7039956" y="713409"/>
                </a:lnTo>
                <a:lnTo>
                  <a:pt x="6980320" y="720391"/>
                </a:lnTo>
                <a:lnTo>
                  <a:pt x="6920067" y="727205"/>
                </a:lnTo>
                <a:lnTo>
                  <a:pt x="6859208" y="733852"/>
                </a:lnTo>
                <a:lnTo>
                  <a:pt x="6797751" y="740328"/>
                </a:lnTo>
                <a:lnTo>
                  <a:pt x="6735706" y="746632"/>
                </a:lnTo>
                <a:lnTo>
                  <a:pt x="6673083" y="752763"/>
                </a:lnTo>
                <a:lnTo>
                  <a:pt x="6609890" y="758719"/>
                </a:lnTo>
                <a:lnTo>
                  <a:pt x="6546137" y="764498"/>
                </a:lnTo>
                <a:lnTo>
                  <a:pt x="6481834" y="770098"/>
                </a:lnTo>
                <a:lnTo>
                  <a:pt x="6416990" y="775517"/>
                </a:lnTo>
                <a:lnTo>
                  <a:pt x="6351615" y="780754"/>
                </a:lnTo>
                <a:lnTo>
                  <a:pt x="6285717" y="785807"/>
                </a:lnTo>
                <a:lnTo>
                  <a:pt x="6219307" y="790675"/>
                </a:lnTo>
                <a:lnTo>
                  <a:pt x="6152393" y="795355"/>
                </a:lnTo>
                <a:lnTo>
                  <a:pt x="6084985" y="799845"/>
                </a:lnTo>
                <a:lnTo>
                  <a:pt x="6017093" y="804145"/>
                </a:lnTo>
                <a:lnTo>
                  <a:pt x="5948726" y="808252"/>
                </a:lnTo>
                <a:lnTo>
                  <a:pt x="5879893" y="812164"/>
                </a:lnTo>
                <a:lnTo>
                  <a:pt x="5810603" y="815880"/>
                </a:lnTo>
                <a:lnTo>
                  <a:pt x="5740867" y="819399"/>
                </a:lnTo>
                <a:lnTo>
                  <a:pt x="5670694" y="822717"/>
                </a:lnTo>
                <a:lnTo>
                  <a:pt x="5600092" y="825834"/>
                </a:lnTo>
                <a:lnTo>
                  <a:pt x="5529072" y="828748"/>
                </a:lnTo>
                <a:lnTo>
                  <a:pt x="5457643" y="831457"/>
                </a:lnTo>
                <a:lnTo>
                  <a:pt x="5385813" y="833959"/>
                </a:lnTo>
                <a:lnTo>
                  <a:pt x="5313594" y="836253"/>
                </a:lnTo>
                <a:lnTo>
                  <a:pt x="5240993" y="838337"/>
                </a:lnTo>
                <a:lnTo>
                  <a:pt x="5168021" y="840208"/>
                </a:lnTo>
                <a:lnTo>
                  <a:pt x="5094687" y="841866"/>
                </a:lnTo>
                <a:lnTo>
                  <a:pt x="5021000" y="843309"/>
                </a:lnTo>
                <a:lnTo>
                  <a:pt x="4946970" y="844535"/>
                </a:lnTo>
                <a:lnTo>
                  <a:pt x="4872606" y="845541"/>
                </a:lnTo>
                <a:lnTo>
                  <a:pt x="4797918" y="846327"/>
                </a:lnTo>
                <a:lnTo>
                  <a:pt x="4722914" y="846891"/>
                </a:lnTo>
                <a:lnTo>
                  <a:pt x="4647605" y="847230"/>
                </a:lnTo>
                <a:lnTo>
                  <a:pt x="4572000" y="847344"/>
                </a:lnTo>
                <a:lnTo>
                  <a:pt x="4496394" y="847230"/>
                </a:lnTo>
                <a:lnTo>
                  <a:pt x="4421085" y="846891"/>
                </a:lnTo>
                <a:lnTo>
                  <a:pt x="4346081" y="846327"/>
                </a:lnTo>
                <a:lnTo>
                  <a:pt x="4271393" y="845541"/>
                </a:lnTo>
                <a:lnTo>
                  <a:pt x="4197029" y="844535"/>
                </a:lnTo>
                <a:lnTo>
                  <a:pt x="4122999" y="843309"/>
                </a:lnTo>
                <a:lnTo>
                  <a:pt x="4049312" y="841866"/>
                </a:lnTo>
                <a:lnTo>
                  <a:pt x="3975978" y="840208"/>
                </a:lnTo>
                <a:lnTo>
                  <a:pt x="3903006" y="838337"/>
                </a:lnTo>
                <a:lnTo>
                  <a:pt x="3830405" y="836253"/>
                </a:lnTo>
                <a:lnTo>
                  <a:pt x="3758186" y="833959"/>
                </a:lnTo>
                <a:lnTo>
                  <a:pt x="3686356" y="831457"/>
                </a:lnTo>
                <a:lnTo>
                  <a:pt x="3614927" y="828748"/>
                </a:lnTo>
                <a:lnTo>
                  <a:pt x="3543907" y="825834"/>
                </a:lnTo>
                <a:lnTo>
                  <a:pt x="3473305" y="822717"/>
                </a:lnTo>
                <a:lnTo>
                  <a:pt x="3403132" y="819399"/>
                </a:lnTo>
                <a:lnTo>
                  <a:pt x="3333396" y="815880"/>
                </a:lnTo>
                <a:lnTo>
                  <a:pt x="3264106" y="812164"/>
                </a:lnTo>
                <a:lnTo>
                  <a:pt x="3195273" y="808252"/>
                </a:lnTo>
                <a:lnTo>
                  <a:pt x="3126906" y="804145"/>
                </a:lnTo>
                <a:lnTo>
                  <a:pt x="3059014" y="799845"/>
                </a:lnTo>
                <a:lnTo>
                  <a:pt x="2991606" y="795355"/>
                </a:lnTo>
                <a:lnTo>
                  <a:pt x="2924692" y="790675"/>
                </a:lnTo>
                <a:lnTo>
                  <a:pt x="2858282" y="785807"/>
                </a:lnTo>
                <a:lnTo>
                  <a:pt x="2792384" y="780754"/>
                </a:lnTo>
                <a:lnTo>
                  <a:pt x="2727009" y="775517"/>
                </a:lnTo>
                <a:lnTo>
                  <a:pt x="2662165" y="770098"/>
                </a:lnTo>
                <a:lnTo>
                  <a:pt x="2597862" y="764498"/>
                </a:lnTo>
                <a:lnTo>
                  <a:pt x="2534109" y="758719"/>
                </a:lnTo>
                <a:lnTo>
                  <a:pt x="2470916" y="752763"/>
                </a:lnTo>
                <a:lnTo>
                  <a:pt x="2408293" y="746632"/>
                </a:lnTo>
                <a:lnTo>
                  <a:pt x="2346248" y="740328"/>
                </a:lnTo>
                <a:lnTo>
                  <a:pt x="2284791" y="733852"/>
                </a:lnTo>
                <a:lnTo>
                  <a:pt x="2223932" y="727205"/>
                </a:lnTo>
                <a:lnTo>
                  <a:pt x="2163679" y="720391"/>
                </a:lnTo>
                <a:lnTo>
                  <a:pt x="2104043" y="713409"/>
                </a:lnTo>
                <a:lnTo>
                  <a:pt x="2045032" y="706263"/>
                </a:lnTo>
                <a:lnTo>
                  <a:pt x="1986657" y="698954"/>
                </a:lnTo>
                <a:lnTo>
                  <a:pt x="1928926" y="691484"/>
                </a:lnTo>
                <a:lnTo>
                  <a:pt x="1871849" y="683854"/>
                </a:lnTo>
                <a:lnTo>
                  <a:pt x="1815436" y="676066"/>
                </a:lnTo>
                <a:lnTo>
                  <a:pt x="1759695" y="668122"/>
                </a:lnTo>
                <a:lnTo>
                  <a:pt x="1704637" y="660024"/>
                </a:lnTo>
                <a:lnTo>
                  <a:pt x="1650270" y="651773"/>
                </a:lnTo>
                <a:lnTo>
                  <a:pt x="1596604" y="643371"/>
                </a:lnTo>
                <a:lnTo>
                  <a:pt x="1543648" y="634820"/>
                </a:lnTo>
                <a:lnTo>
                  <a:pt x="1491413" y="626122"/>
                </a:lnTo>
                <a:lnTo>
                  <a:pt x="1439906" y="617278"/>
                </a:lnTo>
                <a:lnTo>
                  <a:pt x="1389139" y="608290"/>
                </a:lnTo>
                <a:lnTo>
                  <a:pt x="1339119" y="599160"/>
                </a:lnTo>
                <a:lnTo>
                  <a:pt x="1289857" y="589890"/>
                </a:lnTo>
                <a:lnTo>
                  <a:pt x="1241362" y="580481"/>
                </a:lnTo>
                <a:lnTo>
                  <a:pt x="1193643" y="570935"/>
                </a:lnTo>
                <a:lnTo>
                  <a:pt x="1146710" y="561254"/>
                </a:lnTo>
                <a:lnTo>
                  <a:pt x="1100572" y="551440"/>
                </a:lnTo>
                <a:lnTo>
                  <a:pt x="1055239" y="541494"/>
                </a:lnTo>
                <a:lnTo>
                  <a:pt x="1010719" y="531418"/>
                </a:lnTo>
                <a:lnTo>
                  <a:pt x="967024" y="521213"/>
                </a:lnTo>
                <a:lnTo>
                  <a:pt x="924160" y="510883"/>
                </a:lnTo>
                <a:lnTo>
                  <a:pt x="882139" y="500427"/>
                </a:lnTo>
                <a:lnTo>
                  <a:pt x="840970" y="489849"/>
                </a:lnTo>
                <a:lnTo>
                  <a:pt x="800662" y="479150"/>
                </a:lnTo>
                <a:lnTo>
                  <a:pt x="761224" y="468331"/>
                </a:lnTo>
                <a:lnTo>
                  <a:pt x="722666" y="457394"/>
                </a:lnTo>
                <a:lnTo>
                  <a:pt x="684998" y="446342"/>
                </a:lnTo>
                <a:lnTo>
                  <a:pt x="648228" y="435175"/>
                </a:lnTo>
                <a:lnTo>
                  <a:pt x="577422" y="412506"/>
                </a:lnTo>
                <a:lnTo>
                  <a:pt x="510324" y="389400"/>
                </a:lnTo>
                <a:lnTo>
                  <a:pt x="447009" y="365873"/>
                </a:lnTo>
                <a:lnTo>
                  <a:pt x="387552" y="341938"/>
                </a:lnTo>
                <a:lnTo>
                  <a:pt x="332029" y="317609"/>
                </a:lnTo>
                <a:lnTo>
                  <a:pt x="280516" y="292899"/>
                </a:lnTo>
                <a:lnTo>
                  <a:pt x="233086" y="267824"/>
                </a:lnTo>
                <a:lnTo>
                  <a:pt x="189816" y="242396"/>
                </a:lnTo>
                <a:lnTo>
                  <a:pt x="150782" y="216630"/>
                </a:lnTo>
                <a:lnTo>
                  <a:pt x="116057" y="190539"/>
                </a:lnTo>
                <a:lnTo>
                  <a:pt x="85718" y="164139"/>
                </a:lnTo>
                <a:lnTo>
                  <a:pt x="48597" y="123986"/>
                </a:lnTo>
                <a:lnTo>
                  <a:pt x="21768" y="83214"/>
                </a:lnTo>
                <a:lnTo>
                  <a:pt x="5484" y="41870"/>
                </a:lnTo>
                <a:lnTo>
                  <a:pt x="612" y="14012"/>
                </a:lnTo>
                <a:lnTo>
                  <a:pt x="0" y="0"/>
                </a:lnTo>
              </a:path>
            </a:pathLst>
          </a:custGeom>
          <a:ln w="5715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120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874647"/>
            <a:ext cx="2069464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EAEAEA"/>
                </a:solidFill>
                <a:latin typeface="宋体"/>
                <a:cs typeface="宋体"/>
              </a:rPr>
              <a:t>说明性语句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97173" y="1981961"/>
            <a:ext cx="1009015" cy="325120"/>
          </a:xfrm>
          <a:custGeom>
            <a:avLst/>
            <a:gdLst/>
            <a:ahLst/>
            <a:cxnLst/>
            <a:rect l="l" t="t" r="r" b="b"/>
            <a:pathLst>
              <a:path w="1009014" h="325119">
                <a:moveTo>
                  <a:pt x="755903" y="0"/>
                </a:moveTo>
                <a:lnTo>
                  <a:pt x="755903" y="81152"/>
                </a:lnTo>
                <a:lnTo>
                  <a:pt x="0" y="81152"/>
                </a:lnTo>
                <a:lnTo>
                  <a:pt x="0" y="243459"/>
                </a:lnTo>
                <a:lnTo>
                  <a:pt x="755903" y="243459"/>
                </a:lnTo>
                <a:lnTo>
                  <a:pt x="755903" y="324612"/>
                </a:lnTo>
                <a:lnTo>
                  <a:pt x="1008888" y="162305"/>
                </a:lnTo>
                <a:lnTo>
                  <a:pt x="755903" y="0"/>
                </a:lnTo>
                <a:close/>
              </a:path>
            </a:pathLst>
          </a:custGeom>
          <a:solidFill>
            <a:srgbClr val="FFD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97173" y="1981961"/>
            <a:ext cx="1009015" cy="325120"/>
          </a:xfrm>
          <a:custGeom>
            <a:avLst/>
            <a:gdLst/>
            <a:ahLst/>
            <a:cxnLst/>
            <a:rect l="l" t="t" r="r" b="b"/>
            <a:pathLst>
              <a:path w="1009014" h="325119">
                <a:moveTo>
                  <a:pt x="0" y="81152"/>
                </a:moveTo>
                <a:lnTo>
                  <a:pt x="755903" y="81152"/>
                </a:lnTo>
                <a:lnTo>
                  <a:pt x="755903" y="0"/>
                </a:lnTo>
                <a:lnTo>
                  <a:pt x="1008888" y="162305"/>
                </a:lnTo>
                <a:lnTo>
                  <a:pt x="755903" y="324612"/>
                </a:lnTo>
                <a:lnTo>
                  <a:pt x="755903" y="243459"/>
                </a:lnTo>
                <a:lnTo>
                  <a:pt x="0" y="243459"/>
                </a:lnTo>
                <a:lnTo>
                  <a:pt x="0" y="81152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918328" y="1607947"/>
            <a:ext cx="3591560" cy="128714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algn="just" marL="12700" marR="5080">
              <a:lnSpc>
                <a:spcPct val="97900"/>
              </a:lnSpc>
              <a:spcBef>
                <a:spcPts val="16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登录编译信息、为可执 行语句提供语义检查和 语句翻译的信息依据。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3742" y="3799077"/>
            <a:ext cx="206756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EAEAEA"/>
                </a:solidFill>
                <a:latin typeface="宋体"/>
                <a:cs typeface="宋体"/>
              </a:rPr>
              <a:t>可执行语句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15561" y="3640073"/>
            <a:ext cx="1468120" cy="98298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189865" marR="198755">
              <a:lnSpc>
                <a:spcPct val="100000"/>
              </a:lnSpc>
              <a:spcBef>
                <a:spcPts val="30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目标代 码结构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58761" y="3772661"/>
            <a:ext cx="1811020" cy="55816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190500">
              <a:lnSpc>
                <a:spcPct val="100000"/>
              </a:lnSpc>
              <a:spcBef>
                <a:spcPts val="30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中间代码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54673" y="4382261"/>
            <a:ext cx="266700" cy="800100"/>
          </a:xfrm>
          <a:custGeom>
            <a:avLst/>
            <a:gdLst/>
            <a:ahLst/>
            <a:cxnLst/>
            <a:rect l="l" t="t" r="r" b="b"/>
            <a:pathLst>
              <a:path w="266700" h="800100">
                <a:moveTo>
                  <a:pt x="133350" y="0"/>
                </a:moveTo>
                <a:lnTo>
                  <a:pt x="0" y="200025"/>
                </a:lnTo>
                <a:lnTo>
                  <a:pt x="0" y="800100"/>
                </a:lnTo>
                <a:lnTo>
                  <a:pt x="133350" y="600075"/>
                </a:lnTo>
                <a:lnTo>
                  <a:pt x="266700" y="600075"/>
                </a:lnTo>
                <a:lnTo>
                  <a:pt x="266700" y="200025"/>
                </a:lnTo>
                <a:lnTo>
                  <a:pt x="133350" y="0"/>
                </a:lnTo>
                <a:close/>
              </a:path>
              <a:path w="266700" h="800100">
                <a:moveTo>
                  <a:pt x="266700" y="600075"/>
                </a:moveTo>
                <a:lnTo>
                  <a:pt x="133350" y="600075"/>
                </a:lnTo>
                <a:lnTo>
                  <a:pt x="266700" y="800100"/>
                </a:lnTo>
                <a:lnTo>
                  <a:pt x="266700" y="600075"/>
                </a:lnTo>
                <a:close/>
              </a:path>
            </a:pathLst>
          </a:custGeom>
          <a:solidFill>
            <a:srgbClr val="FFD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154673" y="4382261"/>
            <a:ext cx="266700" cy="800100"/>
          </a:xfrm>
          <a:custGeom>
            <a:avLst/>
            <a:gdLst/>
            <a:ahLst/>
            <a:cxnLst/>
            <a:rect l="l" t="t" r="r" b="b"/>
            <a:pathLst>
              <a:path w="266700" h="800100">
                <a:moveTo>
                  <a:pt x="0" y="800100"/>
                </a:moveTo>
                <a:lnTo>
                  <a:pt x="0" y="200025"/>
                </a:lnTo>
                <a:lnTo>
                  <a:pt x="133350" y="0"/>
                </a:lnTo>
                <a:lnTo>
                  <a:pt x="266700" y="200025"/>
                </a:lnTo>
                <a:lnTo>
                  <a:pt x="266700" y="800100"/>
                </a:lnTo>
                <a:lnTo>
                  <a:pt x="133350" y="600075"/>
                </a:lnTo>
                <a:lnTo>
                  <a:pt x="0" y="800100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628513" y="5267045"/>
            <a:ext cx="14522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EAEAEA"/>
                </a:solidFill>
                <a:latin typeface="宋体"/>
                <a:cs typeface="宋体"/>
              </a:rPr>
              <a:t>语义动作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39261" y="4382261"/>
            <a:ext cx="266700" cy="800100"/>
          </a:xfrm>
          <a:custGeom>
            <a:avLst/>
            <a:gdLst/>
            <a:ahLst/>
            <a:cxnLst/>
            <a:rect l="l" t="t" r="r" b="b"/>
            <a:pathLst>
              <a:path w="266700" h="800100">
                <a:moveTo>
                  <a:pt x="133350" y="0"/>
                </a:moveTo>
                <a:lnTo>
                  <a:pt x="0" y="200025"/>
                </a:lnTo>
                <a:lnTo>
                  <a:pt x="0" y="800100"/>
                </a:lnTo>
                <a:lnTo>
                  <a:pt x="133350" y="600075"/>
                </a:lnTo>
                <a:lnTo>
                  <a:pt x="266700" y="600075"/>
                </a:lnTo>
                <a:lnTo>
                  <a:pt x="266700" y="200025"/>
                </a:lnTo>
                <a:lnTo>
                  <a:pt x="133350" y="0"/>
                </a:lnTo>
                <a:close/>
              </a:path>
              <a:path w="266700" h="800100">
                <a:moveTo>
                  <a:pt x="266700" y="600075"/>
                </a:moveTo>
                <a:lnTo>
                  <a:pt x="133350" y="600075"/>
                </a:lnTo>
                <a:lnTo>
                  <a:pt x="266700" y="800100"/>
                </a:lnTo>
                <a:lnTo>
                  <a:pt x="266700" y="600075"/>
                </a:lnTo>
                <a:close/>
              </a:path>
            </a:pathLst>
          </a:custGeom>
          <a:solidFill>
            <a:srgbClr val="FFD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239261" y="4382261"/>
            <a:ext cx="266700" cy="800100"/>
          </a:xfrm>
          <a:custGeom>
            <a:avLst/>
            <a:gdLst/>
            <a:ahLst/>
            <a:cxnLst/>
            <a:rect l="l" t="t" r="r" b="b"/>
            <a:pathLst>
              <a:path w="266700" h="800100">
                <a:moveTo>
                  <a:pt x="0" y="800100"/>
                </a:moveTo>
                <a:lnTo>
                  <a:pt x="0" y="200025"/>
                </a:lnTo>
                <a:lnTo>
                  <a:pt x="133350" y="0"/>
                </a:lnTo>
                <a:lnTo>
                  <a:pt x="266700" y="200025"/>
                </a:lnTo>
                <a:lnTo>
                  <a:pt x="266700" y="800100"/>
                </a:lnTo>
                <a:lnTo>
                  <a:pt x="133350" y="600075"/>
                </a:lnTo>
                <a:lnTo>
                  <a:pt x="0" y="800100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713482" y="5267045"/>
            <a:ext cx="14522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EAEAEA"/>
                </a:solidFill>
                <a:latin typeface="宋体"/>
                <a:cs typeface="宋体"/>
              </a:rPr>
              <a:t>动态语义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410461" y="991361"/>
            <a:ext cx="6210300" cy="0"/>
          </a:xfrm>
          <a:custGeom>
            <a:avLst/>
            <a:gdLst/>
            <a:ahLst/>
            <a:cxnLst/>
            <a:rect l="l" t="t" r="r" b="b"/>
            <a:pathLst>
              <a:path w="6210300" h="0">
                <a:moveTo>
                  <a:pt x="0" y="0"/>
                </a:moveTo>
                <a:lnTo>
                  <a:pt x="6210299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86861" y="3906773"/>
            <a:ext cx="800100" cy="304800"/>
          </a:xfrm>
          <a:custGeom>
            <a:avLst/>
            <a:gdLst/>
            <a:ahLst/>
            <a:cxnLst/>
            <a:rect l="l" t="t" r="r" b="b"/>
            <a:pathLst>
              <a:path w="800100" h="304800">
                <a:moveTo>
                  <a:pt x="600075" y="0"/>
                </a:moveTo>
                <a:lnTo>
                  <a:pt x="600075" y="76200"/>
                </a:lnTo>
                <a:lnTo>
                  <a:pt x="0" y="76200"/>
                </a:lnTo>
                <a:lnTo>
                  <a:pt x="0" y="228600"/>
                </a:lnTo>
                <a:lnTo>
                  <a:pt x="600075" y="228600"/>
                </a:lnTo>
                <a:lnTo>
                  <a:pt x="600075" y="304800"/>
                </a:lnTo>
                <a:lnTo>
                  <a:pt x="800100" y="152400"/>
                </a:lnTo>
                <a:lnTo>
                  <a:pt x="600075" y="0"/>
                </a:lnTo>
                <a:close/>
              </a:path>
            </a:pathLst>
          </a:custGeom>
          <a:solidFill>
            <a:srgbClr val="FFD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86861" y="3906773"/>
            <a:ext cx="800100" cy="304800"/>
          </a:xfrm>
          <a:custGeom>
            <a:avLst/>
            <a:gdLst/>
            <a:ahLst/>
            <a:cxnLst/>
            <a:rect l="l" t="t" r="r" b="b"/>
            <a:pathLst>
              <a:path w="800100" h="304800">
                <a:moveTo>
                  <a:pt x="0" y="76200"/>
                </a:moveTo>
                <a:lnTo>
                  <a:pt x="600075" y="76200"/>
                </a:lnTo>
                <a:lnTo>
                  <a:pt x="600075" y="0"/>
                </a:lnTo>
                <a:lnTo>
                  <a:pt x="800100" y="152400"/>
                </a:lnTo>
                <a:lnTo>
                  <a:pt x="600075" y="304800"/>
                </a:lnTo>
                <a:lnTo>
                  <a:pt x="600075" y="228600"/>
                </a:lnTo>
                <a:lnTo>
                  <a:pt x="0" y="228600"/>
                </a:lnTo>
                <a:lnTo>
                  <a:pt x="0" y="76200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997835" y="3323335"/>
            <a:ext cx="842644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设计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773673" y="3868673"/>
            <a:ext cx="932815" cy="342900"/>
          </a:xfrm>
          <a:custGeom>
            <a:avLst/>
            <a:gdLst/>
            <a:ahLst/>
            <a:cxnLst/>
            <a:rect l="l" t="t" r="r" b="b"/>
            <a:pathLst>
              <a:path w="932815" h="342900">
                <a:moveTo>
                  <a:pt x="699262" y="0"/>
                </a:moveTo>
                <a:lnTo>
                  <a:pt x="699262" y="85725"/>
                </a:lnTo>
                <a:lnTo>
                  <a:pt x="0" y="85725"/>
                </a:lnTo>
                <a:lnTo>
                  <a:pt x="0" y="257175"/>
                </a:lnTo>
                <a:lnTo>
                  <a:pt x="699262" y="257175"/>
                </a:lnTo>
                <a:lnTo>
                  <a:pt x="699262" y="342900"/>
                </a:lnTo>
                <a:lnTo>
                  <a:pt x="932687" y="171450"/>
                </a:lnTo>
                <a:lnTo>
                  <a:pt x="699262" y="0"/>
                </a:lnTo>
                <a:close/>
              </a:path>
            </a:pathLst>
          </a:custGeom>
          <a:solidFill>
            <a:srgbClr val="FFD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773673" y="3868673"/>
            <a:ext cx="932815" cy="342900"/>
          </a:xfrm>
          <a:custGeom>
            <a:avLst/>
            <a:gdLst/>
            <a:ahLst/>
            <a:cxnLst/>
            <a:rect l="l" t="t" r="r" b="b"/>
            <a:pathLst>
              <a:path w="932815" h="342900">
                <a:moveTo>
                  <a:pt x="0" y="85725"/>
                </a:moveTo>
                <a:lnTo>
                  <a:pt x="699262" y="85725"/>
                </a:lnTo>
                <a:lnTo>
                  <a:pt x="699262" y="0"/>
                </a:lnTo>
                <a:lnTo>
                  <a:pt x="932687" y="171450"/>
                </a:lnTo>
                <a:lnTo>
                  <a:pt x="699262" y="342900"/>
                </a:lnTo>
                <a:lnTo>
                  <a:pt x="699262" y="257175"/>
                </a:lnTo>
                <a:lnTo>
                  <a:pt x="0" y="257175"/>
                </a:lnTo>
                <a:lnTo>
                  <a:pt x="0" y="85725"/>
                </a:lnTo>
                <a:close/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779389" y="3324555"/>
            <a:ext cx="84264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映射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120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1744217" y="331419"/>
            <a:ext cx="562483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5">
                <a:solidFill>
                  <a:srgbClr val="FFFF00"/>
                </a:solidFill>
              </a:rPr>
              <a:t>语义分析与中间代码生成</a:t>
            </a:r>
            <a:endParaRPr sz="400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3350" y="2535758"/>
            <a:ext cx="6859270" cy="12458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312285" algn="l"/>
                <a:tab pos="5828665" algn="l"/>
              </a:tabLst>
            </a:pPr>
            <a:r>
              <a:rPr dirty="0" sz="8000" spc="1960">
                <a:latin typeface="华文彩云"/>
                <a:cs typeface="华文彩云"/>
              </a:rPr>
              <a:t>第</a:t>
            </a:r>
            <a:r>
              <a:rPr dirty="0" sz="8000" spc="1970">
                <a:latin typeface="华文彩云"/>
                <a:cs typeface="华文彩云"/>
              </a:rPr>
              <a:t>六</a:t>
            </a:r>
            <a:r>
              <a:rPr dirty="0" sz="8000" spc="-5">
                <a:latin typeface="华文彩云"/>
                <a:cs typeface="华文彩云"/>
              </a:rPr>
              <a:t>章</a:t>
            </a:r>
            <a:r>
              <a:rPr dirty="0" sz="8000">
                <a:latin typeface="华文彩云"/>
                <a:cs typeface="华文彩云"/>
              </a:rPr>
              <a:t>	</a:t>
            </a:r>
            <a:r>
              <a:rPr dirty="0" sz="8000" spc="-5">
                <a:latin typeface="华文彩云"/>
                <a:cs typeface="华文彩云"/>
              </a:rPr>
              <a:t>结</a:t>
            </a:r>
            <a:r>
              <a:rPr dirty="0" sz="8000">
                <a:latin typeface="华文彩云"/>
                <a:cs typeface="华文彩云"/>
              </a:rPr>
              <a:t>	</a:t>
            </a:r>
            <a:r>
              <a:rPr dirty="0" sz="8000" spc="-5">
                <a:latin typeface="华文彩云"/>
                <a:cs typeface="华文彩云"/>
              </a:rPr>
              <a:t>束</a:t>
            </a:r>
            <a:endParaRPr sz="8000">
              <a:latin typeface="华文彩云"/>
              <a:cs typeface="华文彩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120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31140" y="0"/>
            <a:ext cx="8510905" cy="2240280"/>
          </a:xfrm>
          <a:prstGeom prst="rect">
            <a:avLst/>
          </a:prstGeom>
        </p:spPr>
        <p:txBody>
          <a:bodyPr wrap="square" lIns="0" tIns="135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给定文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E→E+T|T</a:t>
            </a:r>
            <a:endParaRPr sz="2800">
              <a:latin typeface="Times New Roman"/>
              <a:cs typeface="Times New Roman"/>
            </a:endParaRPr>
          </a:p>
          <a:p>
            <a:pPr marL="2501265" marR="4491355" indent="-6350">
              <a:lnSpc>
                <a:spcPts val="4370"/>
              </a:lnSpc>
              <a:spcBef>
                <a:spcPts val="27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T→T*F</a:t>
            </a:r>
            <a:r>
              <a:rPr dirty="0" sz="2800" spc="-2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 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F→i|(E)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  <a:tabLst>
                <a:tab pos="814260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L(G)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中的一个句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子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i+i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(i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i)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*i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的逆波兰表示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EFEFE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>
                <a:solidFill>
                  <a:srgbClr val="FFFFFF"/>
                </a:solidFill>
                <a:uFill>
                  <a:solidFill>
                    <a:srgbClr val="FEFEFE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120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8027" y="2147110"/>
            <a:ext cx="1765935" cy="1144905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A)</a:t>
            </a:r>
            <a:r>
              <a:rPr dirty="0" sz="28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iii*i++</a:t>
            </a:r>
            <a:endParaRPr sz="2800">
              <a:latin typeface="Times New Roman"/>
              <a:cs typeface="Times New Roman"/>
            </a:endParaRPr>
          </a:p>
          <a:p>
            <a:pPr marL="32384">
              <a:lnSpc>
                <a:spcPct val="100000"/>
              </a:lnSpc>
              <a:spcBef>
                <a:spcPts val="104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C)</a:t>
            </a:r>
            <a:r>
              <a:rPr dirty="0" sz="2800" spc="-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ii+ii*i*+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31306" y="2147110"/>
            <a:ext cx="3390900" cy="1144905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B)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ii+iii**+</a:t>
            </a:r>
            <a:endParaRPr sz="2800">
              <a:latin typeface="Times New Roman"/>
              <a:cs typeface="Times New Roman"/>
            </a:endParaRPr>
          </a:p>
          <a:p>
            <a:pPr marL="39370">
              <a:lnSpc>
                <a:spcPct val="100000"/>
              </a:lnSpc>
              <a:spcBef>
                <a:spcPts val="104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D)</a:t>
            </a:r>
            <a:r>
              <a:rPr dirty="0" sz="2800" spc="-2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25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都不正确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1140" y="3395217"/>
            <a:ext cx="73056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93737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中间代码生成时所依据的</a:t>
            </a:r>
            <a:r>
              <a:rPr dirty="0" sz="2800" spc="-25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EFEFE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>
                <a:solidFill>
                  <a:srgbClr val="FFFFFF"/>
                </a:solidFill>
                <a:uFill>
                  <a:solidFill>
                    <a:srgbClr val="FEFEFE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3340" y="3821709"/>
            <a:ext cx="2084705" cy="1135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384" marR="5080" indent="-20320">
              <a:lnSpc>
                <a:spcPct val="13000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语法规则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）语义规则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66384" y="3821709"/>
            <a:ext cx="2797810" cy="1135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384" marR="5080" indent="-20320">
              <a:lnSpc>
                <a:spcPct val="13000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词法规则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）等价变换规则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1140" y="5059502"/>
            <a:ext cx="84689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100059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(3)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在编译程序中与生成中间代码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目的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无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关的</a:t>
            </a:r>
            <a:r>
              <a:rPr dirty="0" sz="2800" spc="-35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EFEFE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>
                <a:solidFill>
                  <a:srgbClr val="FFFFFF"/>
                </a:solidFill>
                <a:uFill>
                  <a:solidFill>
                    <a:srgbClr val="FEFEFE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6419" y="5486196"/>
            <a:ext cx="2540635" cy="1135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384" marR="5080" indent="-20320">
              <a:lnSpc>
                <a:spcPct val="13000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便于代码优化 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C)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便于移植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76596" y="5486196"/>
            <a:ext cx="3590290" cy="1135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209" marR="5080" indent="-17145">
              <a:lnSpc>
                <a:spcPct val="13000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便于存储空间的组织 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D)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便于生成目标代码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69240" y="63806"/>
            <a:ext cx="7021830" cy="1136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7200" marR="5080" indent="-445134">
              <a:lnSpc>
                <a:spcPct val="130100"/>
              </a:lnSpc>
              <a:spcBef>
                <a:spcPts val="100"/>
              </a:spcBef>
              <a:tabLst>
                <a:tab pos="313245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(4)</a:t>
            </a:r>
            <a:r>
              <a:rPr dirty="0" sz="2800" spc="-409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在语法制导翻译中不采用拉</a:t>
            </a:r>
            <a:r>
              <a:rPr dirty="0" sz="2800" spc="-30" b="1">
                <a:solidFill>
                  <a:srgbClr val="FFFFFF"/>
                </a:solidFill>
                <a:latin typeface="宋体"/>
                <a:cs typeface="宋体"/>
              </a:rPr>
              <a:t>链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返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填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技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术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的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语句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u="heavy" sz="2800" spc="-10" b="1">
                <a:solidFill>
                  <a:srgbClr val="FFFFFF"/>
                </a:solidFill>
                <a:uFill>
                  <a:solidFill>
                    <a:srgbClr val="FEFEFE"/>
                  </a:solidFill>
                </a:uFill>
                <a:latin typeface="宋体"/>
                <a:cs typeface="宋体"/>
              </a:rPr>
              <a:t> 	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126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04484" y="1173405"/>
            <a:ext cx="2084705" cy="1136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384" marR="5080" indent="-20320">
              <a:lnSpc>
                <a:spcPct val="13010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）赋值语句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）循环语句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9240" y="1173405"/>
            <a:ext cx="2776855" cy="1691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24535" marR="5080" indent="-20320">
              <a:lnSpc>
                <a:spcPct val="13010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）转向语句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）条件语句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判断正误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9240" y="2838120"/>
            <a:ext cx="8376284" cy="39103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7665" marR="83820" indent="-355600">
              <a:lnSpc>
                <a:spcPct val="130100"/>
              </a:lnSpc>
              <a:spcBef>
                <a:spcPts val="100"/>
              </a:spcBef>
              <a:buSzPct val="96428"/>
              <a:buFont typeface="Times New Roman"/>
              <a:buAutoNum type="arabicParenBoth"/>
              <a:tabLst>
                <a:tab pos="429259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使用语法制导翻译方法的编译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程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序能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时进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语法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分析和语义分析。</a:t>
            </a:r>
            <a:endParaRPr sz="2800">
              <a:latin typeface="宋体"/>
              <a:cs typeface="宋体"/>
            </a:endParaRPr>
          </a:p>
          <a:p>
            <a:pPr marL="428625" indent="-416559">
              <a:lnSpc>
                <a:spcPct val="100000"/>
              </a:lnSpc>
              <a:spcBef>
                <a:spcPts val="1010"/>
              </a:spcBef>
              <a:buSzPct val="96428"/>
              <a:buFont typeface="Times New Roman"/>
              <a:buAutoNum type="arabicParenBoth"/>
              <a:tabLst>
                <a:tab pos="429259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返填就是稍后填写转移指令的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地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址。</a:t>
            </a:r>
            <a:endParaRPr sz="2800">
              <a:latin typeface="宋体"/>
              <a:cs typeface="宋体"/>
            </a:endParaRPr>
          </a:p>
          <a:p>
            <a:pPr marL="12700" marR="5080">
              <a:lnSpc>
                <a:spcPct val="130000"/>
              </a:lnSpc>
              <a:buSzPct val="96428"/>
              <a:buFont typeface="Times New Roman"/>
              <a:buAutoNum type="arabicParenBoth"/>
              <a:tabLst>
                <a:tab pos="429259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对任何一个编译程</a:t>
            </a:r>
            <a:r>
              <a:rPr dirty="0" sz="2800" spc="-20" b="1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产生中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间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代码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不可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缺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少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。 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(4)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三元式同间接三元式是等价的。</a:t>
            </a:r>
            <a:endParaRPr sz="2800">
              <a:latin typeface="宋体"/>
              <a:cs typeface="宋体"/>
            </a:endParaRPr>
          </a:p>
          <a:p>
            <a:pPr marL="367665" marR="83820" indent="-355600">
              <a:lnSpc>
                <a:spcPct val="130000"/>
              </a:lnSpc>
              <a:spcBef>
                <a:spcPts val="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5)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语法制导翻译方法可用来产生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各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种中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间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代码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又可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用来产生目标代码。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71621" y="162560"/>
            <a:ext cx="248284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4563" y="554306"/>
            <a:ext cx="8562975" cy="1701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700"/>
              </a:lnSpc>
              <a:spcBef>
                <a:spcPts val="95"/>
              </a:spcBef>
            </a:pPr>
            <a:r>
              <a:rPr dirty="0" sz="3200">
                <a:solidFill>
                  <a:srgbClr val="FFFFFF"/>
                </a:solidFill>
              </a:rPr>
              <a:t>设有下</a:t>
            </a:r>
            <a:r>
              <a:rPr dirty="0" sz="3200" spc="-5">
                <a:solidFill>
                  <a:srgbClr val="FFFFFF"/>
                </a:solidFill>
              </a:rPr>
              <a:t>列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>
                <a:solidFill>
                  <a:srgbClr val="FFFFFF"/>
                </a:solidFill>
              </a:rPr>
              <a:t>语言的语句（注</a:t>
            </a:r>
            <a:r>
              <a:rPr dirty="0" sz="3200" spc="-10">
                <a:solidFill>
                  <a:srgbClr val="FFFFFF"/>
                </a:solidFill>
              </a:rPr>
              <a:t>：</a:t>
            </a:r>
            <a:r>
              <a:rPr dirty="0" sz="3200" spc="-919">
                <a:solidFill>
                  <a:srgbClr val="FFFFFF"/>
                </a:solidFill>
              </a:rPr>
              <a:t> </a:t>
            </a:r>
            <a:r>
              <a:rPr dirty="0" sz="3200" spc="-5">
                <a:solidFill>
                  <a:srgbClr val="FFFFFF"/>
                </a:solidFill>
                <a:latin typeface="Times New Roman"/>
                <a:cs typeface="Times New Roman"/>
              </a:rPr>
              <a:t>Li</a:t>
            </a:r>
            <a:r>
              <a:rPr dirty="0" sz="3200">
                <a:solidFill>
                  <a:srgbClr val="FFFFFF"/>
                </a:solidFill>
              </a:rPr>
              <a:t>是设定的语句标 号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5">
                <a:solidFill>
                  <a:srgbClr val="FFFFFF"/>
                </a:solidFill>
              </a:rPr>
              <a:t>在注释中标识出所在</a:t>
            </a:r>
            <a:r>
              <a:rPr dirty="0" sz="3200" spc="-15">
                <a:solidFill>
                  <a:srgbClr val="FFFFFF"/>
                </a:solidFill>
              </a:rPr>
              <a:t>位</a:t>
            </a:r>
            <a:r>
              <a:rPr dirty="0" sz="3200" spc="-5">
                <a:solidFill>
                  <a:srgbClr val="FFFFFF"/>
                </a:solidFill>
              </a:rPr>
              <a:t>置）</a:t>
            </a:r>
            <a:endParaRPr sz="320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  <a:spcBef>
                <a:spcPts val="555"/>
              </a:spcBef>
            </a:pP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i=j=0;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4563" y="2230221"/>
            <a:ext cx="8615045" cy="114490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for ( ; j&gt;=0, i&lt;=100;</a:t>
            </a:r>
            <a:r>
              <a:rPr dirty="0" sz="3200" spc="-11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i++,j--)</a:t>
            </a:r>
            <a:endParaRPr sz="3200">
              <a:latin typeface="Times New Roman"/>
              <a:cs typeface="Times New Roman"/>
            </a:endParaRPr>
          </a:p>
          <a:p>
            <a:pPr marL="2248535">
              <a:lnSpc>
                <a:spcPct val="100000"/>
              </a:lnSpc>
              <a:spcBef>
                <a:spcPts val="56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//for (;L1: j&gt;=0, i&lt;=100;</a:t>
            </a:r>
            <a:r>
              <a:rPr dirty="0" sz="3200" spc="-1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L2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i++,j--)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7160" y="3419094"/>
            <a:ext cx="188912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1064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(E1)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S1;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6672" y="3978097"/>
            <a:ext cx="59118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S2;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07253" y="3348433"/>
            <a:ext cx="3715385" cy="1144270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660"/>
              </a:spcBef>
              <a:tabLst>
                <a:tab pos="86741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//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if	L3: (E1) L4:</a:t>
            </a:r>
            <a:r>
              <a:rPr dirty="0" sz="3200" spc="-1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S1;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  <a:tabLst>
                <a:tab pos="440055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//	L5: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S2;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4563" y="4468469"/>
            <a:ext cx="8448040" cy="170116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9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其中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S1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S2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代表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句，对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应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的四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元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式分别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为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S1.code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S2.code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E1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代表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条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件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达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，对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应的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四元式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E1.code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33247" y="26923"/>
            <a:ext cx="83908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  <a:tab pos="4292600" algn="l"/>
                <a:tab pos="56959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126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71621" y="162560"/>
            <a:ext cx="248284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1863" y="554306"/>
            <a:ext cx="8527415" cy="226123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5400" marR="119380">
              <a:lnSpc>
                <a:spcPct val="114700"/>
              </a:lnSpc>
              <a:spcBef>
                <a:spcPts val="95"/>
              </a:spcBef>
            </a:pP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>
                <a:solidFill>
                  <a:srgbClr val="FFFFFF"/>
                </a:solidFill>
              </a:rPr>
              <a:t>．给出该语句的四元</a:t>
            </a:r>
            <a:r>
              <a:rPr dirty="0" sz="3200" spc="-10">
                <a:solidFill>
                  <a:srgbClr val="FFFFFF"/>
                </a:solidFill>
              </a:rPr>
              <a:t>式</a:t>
            </a:r>
            <a:r>
              <a:rPr dirty="0" sz="3200">
                <a:solidFill>
                  <a:srgbClr val="FFFFFF"/>
                </a:solidFill>
              </a:rPr>
              <a:t>形式的</a:t>
            </a:r>
            <a:r>
              <a:rPr dirty="0" sz="3200" spc="-10">
                <a:solidFill>
                  <a:srgbClr val="FFFFFF"/>
                </a:solidFill>
              </a:rPr>
              <a:t>目</a:t>
            </a:r>
            <a:r>
              <a:rPr dirty="0" sz="3200">
                <a:solidFill>
                  <a:srgbClr val="FFFFFF"/>
                </a:solidFill>
              </a:rPr>
              <a:t>标代</a:t>
            </a:r>
            <a:r>
              <a:rPr dirty="0" sz="3200" spc="-10">
                <a:solidFill>
                  <a:srgbClr val="FFFFFF"/>
                </a:solidFill>
              </a:rPr>
              <a:t>码</a:t>
            </a:r>
            <a:r>
              <a:rPr dirty="0" sz="3200">
                <a:solidFill>
                  <a:srgbClr val="FFFFFF"/>
                </a:solidFill>
              </a:rPr>
              <a:t>结构，  填入下表。</a:t>
            </a:r>
            <a:endParaRPr sz="3200">
              <a:latin typeface="Times New Roman"/>
              <a:cs typeface="Times New Roman"/>
            </a:endParaRPr>
          </a:p>
          <a:p>
            <a:pPr marL="25400" marR="17780">
              <a:lnSpc>
                <a:spcPts val="4400"/>
              </a:lnSpc>
              <a:spcBef>
                <a:spcPts val="234"/>
              </a:spcBef>
            </a:pPr>
            <a:r>
              <a:rPr dirty="0" u="heavy" sz="32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说明</a:t>
            </a:r>
            <a:r>
              <a:rPr dirty="0" u="heavy" sz="3200" spc="-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：</a:t>
            </a:r>
            <a:r>
              <a:rPr dirty="0" sz="3200">
                <a:solidFill>
                  <a:srgbClr val="FFFFFF"/>
                </a:solidFill>
              </a:rPr>
              <a:t>无条件转移操作符</a:t>
            </a:r>
            <a:r>
              <a:rPr dirty="0" sz="3200" spc="5">
                <a:solidFill>
                  <a:srgbClr val="FFFFFF"/>
                </a:solidFill>
              </a:rPr>
              <a:t>用</a:t>
            </a:r>
            <a:r>
              <a:rPr dirty="0" sz="3200" spc="-5">
                <a:solidFill>
                  <a:srgbClr val="FFFFFF"/>
                </a:solidFill>
                <a:latin typeface="Times New Roman"/>
                <a:cs typeface="Times New Roman"/>
              </a:rPr>
              <a:t>“j”</a:t>
            </a:r>
            <a:r>
              <a:rPr dirty="0" sz="3200" spc="-10">
                <a:solidFill>
                  <a:srgbClr val="FFFFFF"/>
                </a:solidFill>
              </a:rPr>
              <a:t>表</a:t>
            </a:r>
            <a:r>
              <a:rPr dirty="0" sz="3200" spc="-5">
                <a:solidFill>
                  <a:srgbClr val="FFFFFF"/>
                </a:solidFill>
              </a:rPr>
              <a:t>示；条</a:t>
            </a:r>
            <a:r>
              <a:rPr dirty="0" sz="3200" spc="-10">
                <a:solidFill>
                  <a:srgbClr val="FFFFFF"/>
                </a:solidFill>
              </a:rPr>
              <a:t>件</a:t>
            </a:r>
            <a:r>
              <a:rPr dirty="0" sz="3200" spc="-5">
                <a:solidFill>
                  <a:srgbClr val="FFFFFF"/>
                </a:solidFill>
              </a:rPr>
              <a:t>成</a:t>
            </a:r>
            <a:r>
              <a:rPr dirty="0" sz="3200" spc="-10">
                <a:solidFill>
                  <a:srgbClr val="FFFFFF"/>
                </a:solidFill>
              </a:rPr>
              <a:t>立 </a:t>
            </a:r>
            <a:r>
              <a:rPr dirty="0" sz="3200">
                <a:solidFill>
                  <a:srgbClr val="FFFFFF"/>
                </a:solidFill>
              </a:rPr>
              <a:t>转移的操作符</a:t>
            </a:r>
            <a:r>
              <a:rPr dirty="0" sz="3200" spc="-10">
                <a:solidFill>
                  <a:srgbClr val="FFFFFF"/>
                </a:solidFill>
              </a:rPr>
              <a:t>用</a:t>
            </a:r>
            <a:r>
              <a:rPr dirty="0" sz="3200" spc="5">
                <a:solidFill>
                  <a:srgbClr val="FFFFFF"/>
                </a:solidFill>
                <a:latin typeface="Times New Roman"/>
                <a:cs typeface="Times New Roman"/>
              </a:rPr>
              <a:t>“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baseline="-21164" sz="3150" spc="3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3200" spc="-10">
                <a:solidFill>
                  <a:srgbClr val="FFFFFF"/>
                </a:solidFill>
                <a:latin typeface="Times New Roman"/>
                <a:cs typeface="Times New Roman"/>
              </a:rPr>
              <a:t>”</a:t>
            </a:r>
            <a:r>
              <a:rPr dirty="0" sz="3200" spc="-5">
                <a:solidFill>
                  <a:srgbClr val="FFFFFF"/>
                </a:solidFill>
              </a:rPr>
              <a:t>表</a:t>
            </a:r>
            <a:r>
              <a:rPr dirty="0" sz="3200" spc="-10">
                <a:solidFill>
                  <a:srgbClr val="FFFFFF"/>
                </a:solidFill>
              </a:rPr>
              <a:t>示</a:t>
            </a:r>
            <a:r>
              <a:rPr dirty="0" sz="3200" spc="-5">
                <a:solidFill>
                  <a:srgbClr val="FFFFFF"/>
                </a:solidFill>
              </a:rPr>
              <a:t>；条</a:t>
            </a:r>
            <a:r>
              <a:rPr dirty="0" sz="3200" spc="-10">
                <a:solidFill>
                  <a:srgbClr val="FFFFFF"/>
                </a:solidFill>
              </a:rPr>
              <a:t>件</a:t>
            </a:r>
            <a:r>
              <a:rPr dirty="0" sz="3200" spc="-5">
                <a:solidFill>
                  <a:srgbClr val="FFFFFF"/>
                </a:solidFill>
              </a:rPr>
              <a:t>不成立</a:t>
            </a:r>
            <a:r>
              <a:rPr dirty="0" sz="3200" spc="-10">
                <a:solidFill>
                  <a:srgbClr val="FFFFFF"/>
                </a:solidFill>
              </a:rPr>
              <a:t>转</a:t>
            </a:r>
            <a:r>
              <a:rPr dirty="0" sz="3200" spc="-5">
                <a:solidFill>
                  <a:srgbClr val="FFFFFF"/>
                </a:solidFill>
              </a:rPr>
              <a:t>移的</a:t>
            </a:r>
            <a:r>
              <a:rPr dirty="0" sz="3200" spc="-10">
                <a:solidFill>
                  <a:srgbClr val="FFFFFF"/>
                </a:solidFill>
              </a:rPr>
              <a:t>操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863" y="2861310"/>
            <a:ext cx="320929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作符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“j</a:t>
            </a:r>
            <a:r>
              <a:rPr dirty="0" baseline="-21164" sz="3150" spc="7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”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示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33247" y="26923"/>
            <a:ext cx="83908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  <a:tab pos="4292600" algn="l"/>
                <a:tab pos="56959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126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17525" y="3613150"/>
          <a:ext cx="7836534" cy="28657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0695"/>
                <a:gridCol w="3010535"/>
                <a:gridCol w="3054985"/>
              </a:tblGrid>
              <a:tr h="579119"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32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Adress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code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32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备注</a:t>
                      </a:r>
                      <a:r>
                        <a:rPr dirty="0" sz="32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dirty="0" sz="32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可有可无</a:t>
                      </a:r>
                      <a:r>
                        <a:rPr dirty="0" sz="32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54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547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546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54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54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71621" y="162560"/>
            <a:ext cx="248284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4563" y="554306"/>
            <a:ext cx="8596630" cy="1701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700"/>
              </a:lnSpc>
              <a:spcBef>
                <a:spcPts val="95"/>
              </a:spcBef>
            </a:pP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2.</a:t>
            </a:r>
            <a:r>
              <a:rPr dirty="0" sz="32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</a:rPr>
              <a:t>给出中间代码生成后对</a:t>
            </a:r>
            <a:r>
              <a:rPr dirty="0" sz="3200" spc="-15">
                <a:solidFill>
                  <a:srgbClr val="FFFFFF"/>
                </a:solidFill>
              </a:rPr>
              <a:t>应</a:t>
            </a:r>
            <a:r>
              <a:rPr dirty="0" sz="3200">
                <a:solidFill>
                  <a:srgbClr val="FFFFFF"/>
                </a:solidFill>
              </a:rPr>
              <a:t>该段代</a:t>
            </a:r>
            <a:r>
              <a:rPr dirty="0" sz="3200" spc="-15">
                <a:solidFill>
                  <a:srgbClr val="FFFFFF"/>
                </a:solidFill>
              </a:rPr>
              <a:t>码</a:t>
            </a:r>
            <a:r>
              <a:rPr dirty="0" sz="3200">
                <a:solidFill>
                  <a:srgbClr val="FFFFFF"/>
                </a:solidFill>
              </a:rPr>
              <a:t>填写</a:t>
            </a:r>
            <a:r>
              <a:rPr dirty="0" sz="3200" spc="-15">
                <a:solidFill>
                  <a:srgbClr val="FFFFFF"/>
                </a:solidFill>
              </a:rPr>
              <a:t>的</a:t>
            </a:r>
            <a:r>
              <a:rPr dirty="0" sz="3200">
                <a:solidFill>
                  <a:srgbClr val="FFFFFF"/>
                </a:solidFill>
              </a:rPr>
              <a:t>下列 语句标号表内容（按填写标</a:t>
            </a:r>
            <a:r>
              <a:rPr dirty="0" sz="3200" spc="-15">
                <a:solidFill>
                  <a:srgbClr val="FFFFFF"/>
                </a:solidFill>
              </a:rPr>
              <a:t>号</a:t>
            </a:r>
            <a:r>
              <a:rPr dirty="0" sz="3200">
                <a:solidFill>
                  <a:srgbClr val="FFFFFF"/>
                </a:solidFill>
              </a:rPr>
              <a:t>表的</a:t>
            </a:r>
            <a:r>
              <a:rPr dirty="0" sz="3200" spc="-15">
                <a:solidFill>
                  <a:srgbClr val="FFFFFF"/>
                </a:solidFill>
              </a:rPr>
              <a:t>实</a:t>
            </a:r>
            <a:r>
              <a:rPr dirty="0" sz="3200" spc="-10">
                <a:solidFill>
                  <a:srgbClr val="FFFFFF"/>
                </a:solidFill>
              </a:rPr>
              <a:t>际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3200">
                <a:solidFill>
                  <a:srgbClr val="FFFFFF"/>
                </a:solidFill>
              </a:rPr>
              <a:t>顺序）</a:t>
            </a:r>
            <a:r>
              <a:rPr dirty="0" sz="3200" spc="-10">
                <a:solidFill>
                  <a:srgbClr val="FFFFFF"/>
                </a:solidFill>
              </a:rPr>
              <a:t>。</a:t>
            </a:r>
            <a:r>
              <a:rPr dirty="0" sz="3200" spc="-835">
                <a:solidFill>
                  <a:srgbClr val="FFFFFF"/>
                </a:solidFill>
              </a:rPr>
              <a:t> </a:t>
            </a:r>
            <a:r>
              <a:rPr dirty="0" sz="3200">
                <a:solidFill>
                  <a:srgbClr val="FFFFFF"/>
                </a:solidFill>
              </a:rPr>
              <a:t>注：设编译器是一遍扫</a:t>
            </a:r>
            <a:r>
              <a:rPr dirty="0" sz="3200" spc="-15">
                <a:solidFill>
                  <a:srgbClr val="FFFFFF"/>
                </a:solidFill>
              </a:rPr>
              <a:t>描</a:t>
            </a:r>
            <a:r>
              <a:rPr dirty="0" sz="3200">
                <a:solidFill>
                  <a:srgbClr val="FFFFFF"/>
                </a:solidFill>
              </a:rPr>
              <a:t>的编</a:t>
            </a:r>
            <a:r>
              <a:rPr dirty="0" sz="3200" spc="-15">
                <a:solidFill>
                  <a:srgbClr val="FFFFFF"/>
                </a:solidFill>
              </a:rPr>
              <a:t>译</a:t>
            </a:r>
            <a:r>
              <a:rPr dirty="0" sz="3200">
                <a:solidFill>
                  <a:srgbClr val="FFFFFF"/>
                </a:solidFill>
              </a:rPr>
              <a:t>器。</a:t>
            </a:r>
            <a:endParaRPr sz="3200"/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33247" y="26923"/>
            <a:ext cx="83908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  <a:tab pos="4292600" algn="l"/>
                <a:tab pos="56959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语义分析与中间代码生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6.6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语句翻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译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 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6.6.3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控制流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类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语句翻译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66861" y="6697989"/>
            <a:ext cx="8261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126</a:t>
            </a:fld>
            <a:r>
              <a:rPr dirty="0" sz="1400" spc="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50850" y="2620898"/>
          <a:ext cx="8397875" cy="3404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7060"/>
                <a:gridCol w="4454525"/>
                <a:gridCol w="2047874"/>
              </a:tblGrid>
              <a:tr h="1117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语句标号</a:t>
                      </a:r>
                      <a:endParaRPr sz="3200">
                        <a:latin typeface="宋体"/>
                        <a:cs typeface="宋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(Li)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定义与否标志</a:t>
                      </a:r>
                      <a:endParaRPr sz="3200">
                        <a:latin typeface="宋体"/>
                        <a:cs typeface="宋体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(1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表示已定义</a:t>
                      </a:r>
                      <a:r>
                        <a:rPr dirty="0" sz="32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，</a:t>
                      </a:r>
                      <a:r>
                        <a:rPr dirty="0" sz="32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反之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ct val="100000"/>
                        </a:lnSpc>
                        <a:spcBef>
                          <a:spcPts val="248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Addr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4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546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54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54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546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54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wgz</dc:creator>
  <dc:title>ch6 语义分析</dc:title>
  <dcterms:created xsi:type="dcterms:W3CDTF">2025-05-20T06:48:42Z</dcterms:created>
  <dcterms:modified xsi:type="dcterms:W3CDTF">2025-05-20T06:48:42Z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2025-05-12T00:00:00Z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2025-05-20T00:00:00Z</vt:filetime>
  </property>
</Properties>
</file>