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FFFF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FFFF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FFFF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6545" y="970026"/>
            <a:ext cx="4470908" cy="60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FFFF00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7199" y="2435199"/>
            <a:ext cx="7374255" cy="2952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3.png"/><Relationship Id="rId4" Type="http://schemas.openxmlformats.org/officeDocument/2006/relationships/slide" Target="slide1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6504" y="232790"/>
            <a:ext cx="525018" cy="5519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34411" y="19811"/>
            <a:ext cx="495300" cy="571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28104" y="5847791"/>
            <a:ext cx="577342" cy="575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91628" y="5277611"/>
            <a:ext cx="495300" cy="495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97926" y="5203825"/>
            <a:ext cx="674624" cy="7881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1388" y="276606"/>
            <a:ext cx="866432" cy="9204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871727"/>
            <a:ext cx="9144000" cy="5986780"/>
          </a:xfrm>
          <a:custGeom>
            <a:avLst/>
            <a:gdLst/>
            <a:ahLst/>
            <a:cxnLst/>
            <a:rect l="l" t="t" r="r" b="b"/>
            <a:pathLst>
              <a:path w="9144000" h="5986780">
                <a:moveTo>
                  <a:pt x="9144000" y="5986268"/>
                </a:moveTo>
                <a:lnTo>
                  <a:pt x="9144000" y="0"/>
                </a:lnTo>
                <a:lnTo>
                  <a:pt x="0" y="0"/>
                </a:lnTo>
                <a:lnTo>
                  <a:pt x="0" y="5986268"/>
                </a:lnTo>
                <a:lnTo>
                  <a:pt x="9144000" y="598626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38527" y="0"/>
            <a:ext cx="1750314" cy="13693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87623" y="0"/>
            <a:ext cx="1750314" cy="13693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36720" y="0"/>
            <a:ext cx="1750314" cy="13693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85815" y="0"/>
            <a:ext cx="1750314" cy="13693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394966" y="0"/>
            <a:ext cx="42354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课 程 内</a:t>
            </a:r>
            <a:r>
              <a:rPr dirty="0" sz="6000" spc="25">
                <a:solidFill>
                  <a:srgbClr val="FF5D5D"/>
                </a:solidFill>
                <a:latin typeface="隶书"/>
                <a:cs typeface="隶书"/>
              </a:rPr>
              <a:t> </a:t>
            </a:r>
            <a:r>
              <a:rPr dirty="0" sz="6000" spc="-25">
                <a:solidFill>
                  <a:srgbClr val="FF5D5D"/>
                </a:solidFill>
                <a:latin typeface="隶书"/>
                <a:cs typeface="隶书"/>
              </a:rPr>
              <a:t>容</a:t>
            </a:r>
            <a:endParaRPr sz="6000">
              <a:latin typeface="隶书"/>
              <a:cs typeface="隶书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777240"/>
            <a:ext cx="9144000" cy="1341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9564" y="1233954"/>
            <a:ext cx="5485765" cy="49764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编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译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引</a:t>
            </a:r>
            <a:r>
              <a:rPr dirty="0" sz="2800" spc="-69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论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形式语言与自动机基础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词法分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析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(Lexical</a:t>
            </a:r>
            <a:r>
              <a:rPr dirty="0" sz="2800" spc="-1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Analysis)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自上而下分析法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014470" algn="l"/>
              </a:tabLst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68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语法分析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(Syntax	Analysis)</a:t>
            </a:r>
            <a:endParaRPr sz="2800">
              <a:latin typeface="Times New Roman"/>
              <a:cs typeface="Times New Roman"/>
            </a:endParaRPr>
          </a:p>
          <a:p>
            <a:pPr marL="1701164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——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自下而上分析法</a:t>
            </a:r>
            <a:endParaRPr sz="2800">
              <a:latin typeface="宋体"/>
              <a:cs typeface="宋体"/>
            </a:endParaRPr>
          </a:p>
          <a:p>
            <a:pPr marL="12700" marR="293370">
              <a:lnSpc>
                <a:spcPct val="120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第</a:t>
            </a:r>
            <a:r>
              <a:rPr dirty="0" sz="2800" spc="-7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章</a:t>
            </a:r>
            <a:r>
              <a:rPr dirty="0" sz="2800" spc="-4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语义分析与中间代码生成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69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7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2800" spc="-71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dirty="0" sz="2800" spc="-6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第</a:t>
            </a:r>
            <a:r>
              <a:rPr dirty="0" sz="2800" spc="-705" b="1">
                <a:solidFill>
                  <a:srgbClr val="FFFF99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8 </a:t>
            </a:r>
            <a:r>
              <a:rPr dirty="0" sz="2800" spc="-15" b="1">
                <a:solidFill>
                  <a:srgbClr val="FFFF99"/>
                </a:solidFill>
                <a:latin typeface="宋体"/>
                <a:cs typeface="宋体"/>
              </a:rPr>
              <a:t>章</a:t>
            </a:r>
            <a:r>
              <a:rPr dirty="0" sz="2800" spc="-10" b="1">
                <a:solidFill>
                  <a:srgbClr val="FFFF99"/>
                </a:solidFill>
                <a:latin typeface="宋体"/>
                <a:cs typeface="宋体"/>
              </a:rPr>
              <a:t> 代码优化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（</a:t>
            </a:r>
            <a:r>
              <a:rPr dirty="0" sz="2800" spc="-5" b="1">
                <a:solidFill>
                  <a:srgbClr val="FFFF99"/>
                </a:solidFill>
                <a:latin typeface="Times New Roman"/>
                <a:cs typeface="Times New Roman"/>
              </a:rPr>
              <a:t>optimization</a:t>
            </a:r>
            <a:r>
              <a:rPr dirty="0" sz="2800" spc="-5" b="1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98591" y="5109971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29">
                <a:moveTo>
                  <a:pt x="548894" y="0"/>
                </a:moveTo>
                <a:lnTo>
                  <a:pt x="0" y="361187"/>
                </a:lnTo>
                <a:lnTo>
                  <a:pt x="548894" y="722375"/>
                </a:lnTo>
                <a:lnTo>
                  <a:pt x="548894" y="541781"/>
                </a:lnTo>
                <a:lnTo>
                  <a:pt x="2196084" y="541781"/>
                </a:lnTo>
                <a:lnTo>
                  <a:pt x="2196084" y="180593"/>
                </a:lnTo>
                <a:lnTo>
                  <a:pt x="548894" y="180593"/>
                </a:lnTo>
                <a:lnTo>
                  <a:pt x="5488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98591" y="5109971"/>
            <a:ext cx="2196465" cy="722630"/>
          </a:xfrm>
          <a:custGeom>
            <a:avLst/>
            <a:gdLst/>
            <a:ahLst/>
            <a:cxnLst/>
            <a:rect l="l" t="t" r="r" b="b"/>
            <a:pathLst>
              <a:path w="2196465" h="722629">
                <a:moveTo>
                  <a:pt x="0" y="361187"/>
                </a:moveTo>
                <a:lnTo>
                  <a:pt x="548894" y="0"/>
                </a:lnTo>
                <a:lnTo>
                  <a:pt x="548894" y="180593"/>
                </a:lnTo>
                <a:lnTo>
                  <a:pt x="2196084" y="180593"/>
                </a:lnTo>
                <a:lnTo>
                  <a:pt x="2196084" y="541781"/>
                </a:lnTo>
                <a:lnTo>
                  <a:pt x="548894" y="541781"/>
                </a:lnTo>
                <a:lnTo>
                  <a:pt x="548894" y="722375"/>
                </a:lnTo>
                <a:lnTo>
                  <a:pt x="0" y="361187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105"/>
              </a:spcBef>
              <a:tabLst>
                <a:tab pos="2159000" algn="l"/>
              </a:tabLst>
            </a:pPr>
            <a:r>
              <a:rPr dirty="0" spc="-15"/>
              <a:t>第</a:t>
            </a:r>
            <a:r>
              <a:rPr dirty="0" spc="-955"/>
              <a:t> </a:t>
            </a:r>
            <a:r>
              <a:rPr dirty="0">
                <a:latin typeface="Times New Roman"/>
                <a:cs typeface="Times New Roman"/>
              </a:rPr>
              <a:t>7 </a:t>
            </a:r>
            <a:r>
              <a:rPr dirty="0" spc="-15"/>
              <a:t>章	运</a:t>
            </a:r>
            <a:r>
              <a:rPr dirty="0" spc="-980"/>
              <a:t> </a:t>
            </a:r>
            <a:r>
              <a:rPr dirty="0" spc="-15"/>
              <a:t>行</a:t>
            </a:r>
            <a:r>
              <a:rPr dirty="0" spc="-980"/>
              <a:t> </a:t>
            </a:r>
            <a:r>
              <a:rPr dirty="0" spc="-15"/>
              <a:t>环</a:t>
            </a:r>
            <a:r>
              <a:rPr dirty="0" spc="-985"/>
              <a:t> </a:t>
            </a:r>
            <a:r>
              <a:rPr dirty="0" spc="-15"/>
              <a:t>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797" y="2310994"/>
            <a:ext cx="7947659" cy="2533650"/>
          </a:xfrm>
          <a:prstGeom prst="rect">
            <a:avLst/>
          </a:prstGeom>
        </p:spPr>
        <p:txBody>
          <a:bodyPr wrap="square" lIns="0" tIns="297815" rIns="0" bIns="0" rtlCol="0" vert="horz">
            <a:spAutoFit/>
          </a:bodyPr>
          <a:lstStyle/>
          <a:p>
            <a:pPr lvl="1" marL="810895" indent="-786765">
              <a:lnSpc>
                <a:spcPct val="100000"/>
              </a:lnSpc>
              <a:spcBef>
                <a:spcPts val="2345"/>
              </a:spcBef>
              <a:buSzPct val="102857"/>
              <a:buFont typeface="Times New Roman"/>
              <a:buAutoNum type="arabicPeriod"/>
              <a:tabLst>
                <a:tab pos="810895" algn="l"/>
                <a:tab pos="811530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关于程序运行环境</a:t>
            </a:r>
            <a:r>
              <a:rPr dirty="0" sz="3500" spc="5" b="1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存储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组织</a:t>
            </a:r>
            <a:endParaRPr sz="3500">
              <a:latin typeface="宋体"/>
              <a:cs typeface="宋体"/>
            </a:endParaRPr>
          </a:p>
          <a:p>
            <a:pPr lvl="1" marL="791210" indent="-779145">
              <a:lnSpc>
                <a:spcPct val="100000"/>
              </a:lnSpc>
              <a:spcBef>
                <a:spcPts val="2335"/>
              </a:spcBef>
              <a:buFont typeface="Times New Roman"/>
              <a:buAutoNum type="arabicPeriod"/>
              <a:tabLst>
                <a:tab pos="791210" algn="l"/>
                <a:tab pos="791845" algn="l"/>
              </a:tabLst>
            </a:pPr>
            <a:r>
              <a:rPr dirty="0" sz="3500" spc="-5" b="1">
                <a:solidFill>
                  <a:srgbClr val="FFFFFF"/>
                </a:solidFill>
                <a:latin typeface="宋体"/>
                <a:cs typeface="宋体"/>
              </a:rPr>
              <a:t>静态运行时环境与存储分配</a:t>
            </a:r>
            <a:endParaRPr sz="3500">
              <a:latin typeface="宋体"/>
              <a:cs typeface="宋体"/>
            </a:endParaRPr>
          </a:p>
          <a:p>
            <a:pPr lvl="1" marL="791210" indent="-779145">
              <a:lnSpc>
                <a:spcPct val="100000"/>
              </a:lnSpc>
              <a:spcBef>
                <a:spcPts val="2450"/>
              </a:spcBef>
              <a:buFont typeface="Times New Roman"/>
              <a:buAutoNum type="arabicPeriod"/>
              <a:tabLst>
                <a:tab pos="791210" algn="l"/>
                <a:tab pos="791845" algn="l"/>
              </a:tabLst>
            </a:pP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基于栈的运行时环境的动态</a:t>
            </a:r>
            <a:r>
              <a:rPr dirty="0" sz="3500" spc="-10" b="1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3500" b="1">
                <a:solidFill>
                  <a:srgbClr val="FFFFFF"/>
                </a:solidFill>
                <a:latin typeface="宋体"/>
                <a:cs typeface="宋体"/>
              </a:rPr>
              <a:t>储分配</a:t>
            </a:r>
            <a:endParaRPr sz="35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68349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h7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44156" y="2572511"/>
            <a:ext cx="1445260" cy="721360"/>
          </a:xfrm>
          <a:custGeom>
            <a:avLst/>
            <a:gdLst/>
            <a:ahLst/>
            <a:cxnLst/>
            <a:rect l="l" t="t" r="r" b="b"/>
            <a:pathLst>
              <a:path w="1445259" h="721360">
                <a:moveTo>
                  <a:pt x="360425" y="0"/>
                </a:moveTo>
                <a:lnTo>
                  <a:pt x="0" y="360425"/>
                </a:lnTo>
                <a:lnTo>
                  <a:pt x="360425" y="720851"/>
                </a:lnTo>
                <a:lnTo>
                  <a:pt x="360425" y="540638"/>
                </a:lnTo>
                <a:lnTo>
                  <a:pt x="1444752" y="540638"/>
                </a:lnTo>
                <a:lnTo>
                  <a:pt x="1444752" y="180212"/>
                </a:lnTo>
                <a:lnTo>
                  <a:pt x="360425" y="180212"/>
                </a:lnTo>
                <a:lnTo>
                  <a:pt x="36042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98797" y="14732"/>
            <a:ext cx="3776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44156" y="2572511"/>
            <a:ext cx="1445260" cy="721360"/>
          </a:xfrm>
          <a:custGeom>
            <a:avLst/>
            <a:gdLst/>
            <a:ahLst/>
            <a:cxnLst/>
            <a:rect l="l" t="t" r="r" b="b"/>
            <a:pathLst>
              <a:path w="1445259" h="721360">
                <a:moveTo>
                  <a:pt x="0" y="360425"/>
                </a:moveTo>
                <a:lnTo>
                  <a:pt x="360425" y="0"/>
                </a:lnTo>
                <a:lnTo>
                  <a:pt x="360425" y="180212"/>
                </a:lnTo>
                <a:lnTo>
                  <a:pt x="1444752" y="180212"/>
                </a:lnTo>
                <a:lnTo>
                  <a:pt x="1444752" y="540638"/>
                </a:lnTo>
                <a:lnTo>
                  <a:pt x="360425" y="540638"/>
                </a:lnTo>
                <a:lnTo>
                  <a:pt x="360425" y="720851"/>
                </a:lnTo>
                <a:lnTo>
                  <a:pt x="0" y="360425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255254" y="6697989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8942" y="14732"/>
            <a:ext cx="8185150" cy="273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2005">
              <a:lnSpc>
                <a:spcPct val="100000"/>
              </a:lnSpc>
              <a:spcBef>
                <a:spcPts val="100"/>
              </a:spcBef>
              <a:tabLst>
                <a:tab pos="1440180" algn="l"/>
                <a:tab pos="36322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华文新魏"/>
              <a:cs typeface="华文新魏"/>
            </a:endParaRPr>
          </a:p>
          <a:p>
            <a:pPr marL="429895" indent="-417830">
              <a:lnSpc>
                <a:spcPct val="100000"/>
              </a:lnSpc>
              <a:spcBef>
                <a:spcPts val="5"/>
              </a:spcBef>
              <a:buClr>
                <a:srgbClr val="00FFFF"/>
              </a:buClr>
              <a:buSzPct val="101388"/>
              <a:buFont typeface="Wingdings"/>
              <a:buChar char=""/>
              <a:tabLst>
                <a:tab pos="429895" algn="l"/>
                <a:tab pos="43053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运行环境</a:t>
            </a:r>
            <a:endParaRPr sz="3600">
              <a:latin typeface="宋体"/>
              <a:cs typeface="宋体"/>
            </a:endParaRPr>
          </a:p>
          <a:p>
            <a:pPr marL="12700" marR="5080" indent="812165">
              <a:lnSpc>
                <a:spcPct val="150100"/>
              </a:lnSpc>
              <a:spcBef>
                <a:spcPts val="1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指目标计算机的寄存器及存储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器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结构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用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来管理存储器并保存执行过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信息。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6713" y="3288919"/>
            <a:ext cx="638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环境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0250" y="3288919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状态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50644" y="3759580"/>
            <a:ext cx="2142490" cy="616585"/>
          </a:xfrm>
          <a:custGeom>
            <a:avLst/>
            <a:gdLst/>
            <a:ahLst/>
            <a:cxnLst/>
            <a:rect l="l" t="t" r="r" b="b"/>
            <a:pathLst>
              <a:path w="2142490" h="616585">
                <a:moveTo>
                  <a:pt x="2067280" y="438624"/>
                </a:moveTo>
                <a:lnTo>
                  <a:pt x="2032127" y="448437"/>
                </a:lnTo>
                <a:lnTo>
                  <a:pt x="2138426" y="616585"/>
                </a:lnTo>
                <a:lnTo>
                  <a:pt x="2141462" y="458089"/>
                </a:lnTo>
                <a:lnTo>
                  <a:pt x="2074545" y="458089"/>
                </a:lnTo>
                <a:lnTo>
                  <a:pt x="2067280" y="438624"/>
                </a:lnTo>
                <a:close/>
              </a:path>
              <a:path w="2142490" h="616585">
                <a:moveTo>
                  <a:pt x="1074293" y="0"/>
                </a:moveTo>
                <a:lnTo>
                  <a:pt x="1023619" y="762"/>
                </a:lnTo>
                <a:lnTo>
                  <a:pt x="973455" y="2794"/>
                </a:lnTo>
                <a:lnTo>
                  <a:pt x="923798" y="5969"/>
                </a:lnTo>
                <a:lnTo>
                  <a:pt x="874903" y="10541"/>
                </a:lnTo>
                <a:lnTo>
                  <a:pt x="826643" y="16383"/>
                </a:lnTo>
                <a:lnTo>
                  <a:pt x="779144" y="23241"/>
                </a:lnTo>
                <a:lnTo>
                  <a:pt x="732536" y="31369"/>
                </a:lnTo>
                <a:lnTo>
                  <a:pt x="686816" y="40767"/>
                </a:lnTo>
                <a:lnTo>
                  <a:pt x="641985" y="51181"/>
                </a:lnTo>
                <a:lnTo>
                  <a:pt x="598169" y="62611"/>
                </a:lnTo>
                <a:lnTo>
                  <a:pt x="555498" y="75184"/>
                </a:lnTo>
                <a:lnTo>
                  <a:pt x="513714" y="88773"/>
                </a:lnTo>
                <a:lnTo>
                  <a:pt x="473329" y="103505"/>
                </a:lnTo>
                <a:lnTo>
                  <a:pt x="433958" y="119126"/>
                </a:lnTo>
                <a:lnTo>
                  <a:pt x="395986" y="135763"/>
                </a:lnTo>
                <a:lnTo>
                  <a:pt x="359282" y="153289"/>
                </a:lnTo>
                <a:lnTo>
                  <a:pt x="323976" y="171704"/>
                </a:lnTo>
                <a:lnTo>
                  <a:pt x="290068" y="191008"/>
                </a:lnTo>
                <a:lnTo>
                  <a:pt x="257682" y="211328"/>
                </a:lnTo>
                <a:lnTo>
                  <a:pt x="197738" y="254254"/>
                </a:lnTo>
                <a:lnTo>
                  <a:pt x="144272" y="300482"/>
                </a:lnTo>
                <a:lnTo>
                  <a:pt x="97917" y="349758"/>
                </a:lnTo>
                <a:lnTo>
                  <a:pt x="59308" y="401955"/>
                </a:lnTo>
                <a:lnTo>
                  <a:pt x="28829" y="456819"/>
                </a:lnTo>
                <a:lnTo>
                  <a:pt x="7238" y="513715"/>
                </a:lnTo>
                <a:lnTo>
                  <a:pt x="0" y="542544"/>
                </a:lnTo>
                <a:lnTo>
                  <a:pt x="37083" y="551053"/>
                </a:lnTo>
                <a:lnTo>
                  <a:pt x="40386" y="536956"/>
                </a:lnTo>
                <a:lnTo>
                  <a:pt x="43942" y="523748"/>
                </a:lnTo>
                <a:lnTo>
                  <a:pt x="63881" y="471551"/>
                </a:lnTo>
                <a:lnTo>
                  <a:pt x="91948" y="421513"/>
                </a:lnTo>
                <a:lnTo>
                  <a:pt x="127762" y="373253"/>
                </a:lnTo>
                <a:lnTo>
                  <a:pt x="171323" y="327279"/>
                </a:lnTo>
                <a:lnTo>
                  <a:pt x="221869" y="283591"/>
                </a:lnTo>
                <a:lnTo>
                  <a:pt x="279273" y="242697"/>
                </a:lnTo>
                <a:lnTo>
                  <a:pt x="342900" y="204851"/>
                </a:lnTo>
                <a:lnTo>
                  <a:pt x="376936" y="187071"/>
                </a:lnTo>
                <a:lnTo>
                  <a:pt x="412369" y="170053"/>
                </a:lnTo>
                <a:lnTo>
                  <a:pt x="449325" y="153924"/>
                </a:lnTo>
                <a:lnTo>
                  <a:pt x="487299" y="138938"/>
                </a:lnTo>
                <a:lnTo>
                  <a:pt x="526669" y="124587"/>
                </a:lnTo>
                <a:lnTo>
                  <a:pt x="567308" y="111379"/>
                </a:lnTo>
                <a:lnTo>
                  <a:pt x="608964" y="99187"/>
                </a:lnTo>
                <a:lnTo>
                  <a:pt x="651637" y="88011"/>
                </a:lnTo>
                <a:lnTo>
                  <a:pt x="695451" y="77851"/>
                </a:lnTo>
                <a:lnTo>
                  <a:pt x="740156" y="68707"/>
                </a:lnTo>
                <a:lnTo>
                  <a:pt x="785749" y="60833"/>
                </a:lnTo>
                <a:lnTo>
                  <a:pt x="832104" y="53975"/>
                </a:lnTo>
                <a:lnTo>
                  <a:pt x="879348" y="48387"/>
                </a:lnTo>
                <a:lnTo>
                  <a:pt x="927226" y="43942"/>
                </a:lnTo>
                <a:lnTo>
                  <a:pt x="975868" y="40767"/>
                </a:lnTo>
                <a:lnTo>
                  <a:pt x="1025144" y="38735"/>
                </a:lnTo>
                <a:lnTo>
                  <a:pt x="1074801" y="38100"/>
                </a:lnTo>
                <a:lnTo>
                  <a:pt x="1450428" y="38100"/>
                </a:lnTo>
                <a:lnTo>
                  <a:pt x="1444117" y="36703"/>
                </a:lnTo>
                <a:lnTo>
                  <a:pt x="1394079" y="27178"/>
                </a:lnTo>
                <a:lnTo>
                  <a:pt x="1343152" y="19050"/>
                </a:lnTo>
                <a:lnTo>
                  <a:pt x="1291082" y="12319"/>
                </a:lnTo>
                <a:lnTo>
                  <a:pt x="1238250" y="6985"/>
                </a:lnTo>
                <a:lnTo>
                  <a:pt x="1184402" y="3175"/>
                </a:lnTo>
                <a:lnTo>
                  <a:pt x="1129919" y="889"/>
                </a:lnTo>
                <a:lnTo>
                  <a:pt x="1074293" y="0"/>
                </a:lnTo>
                <a:close/>
              </a:path>
              <a:path w="2142490" h="616585">
                <a:moveTo>
                  <a:pt x="2104081" y="428352"/>
                </a:moveTo>
                <a:lnTo>
                  <a:pt x="2067280" y="438624"/>
                </a:lnTo>
                <a:lnTo>
                  <a:pt x="2074545" y="458089"/>
                </a:lnTo>
                <a:lnTo>
                  <a:pt x="2110232" y="444754"/>
                </a:lnTo>
                <a:lnTo>
                  <a:pt x="2104081" y="428352"/>
                </a:lnTo>
                <a:close/>
              </a:path>
              <a:path w="2142490" h="616585">
                <a:moveTo>
                  <a:pt x="2142235" y="417703"/>
                </a:moveTo>
                <a:lnTo>
                  <a:pt x="2104081" y="428352"/>
                </a:lnTo>
                <a:lnTo>
                  <a:pt x="2110232" y="444754"/>
                </a:lnTo>
                <a:lnTo>
                  <a:pt x="2074545" y="458089"/>
                </a:lnTo>
                <a:lnTo>
                  <a:pt x="2141462" y="458089"/>
                </a:lnTo>
                <a:lnTo>
                  <a:pt x="2142235" y="417703"/>
                </a:lnTo>
                <a:close/>
              </a:path>
              <a:path w="2142490" h="616585">
                <a:moveTo>
                  <a:pt x="2065307" y="433336"/>
                </a:moveTo>
                <a:lnTo>
                  <a:pt x="2067280" y="438624"/>
                </a:lnTo>
                <a:lnTo>
                  <a:pt x="2079901" y="435102"/>
                </a:lnTo>
                <a:lnTo>
                  <a:pt x="2066417" y="435102"/>
                </a:lnTo>
                <a:lnTo>
                  <a:pt x="2065307" y="433336"/>
                </a:lnTo>
                <a:close/>
              </a:path>
              <a:path w="2142490" h="616585">
                <a:moveTo>
                  <a:pt x="2064639" y="431546"/>
                </a:moveTo>
                <a:lnTo>
                  <a:pt x="2065307" y="433336"/>
                </a:lnTo>
                <a:lnTo>
                  <a:pt x="2066417" y="435102"/>
                </a:lnTo>
                <a:lnTo>
                  <a:pt x="2064639" y="431546"/>
                </a:lnTo>
                <a:close/>
              </a:path>
              <a:path w="2142490" h="616585">
                <a:moveTo>
                  <a:pt x="2092641" y="431546"/>
                </a:moveTo>
                <a:lnTo>
                  <a:pt x="2064639" y="431546"/>
                </a:lnTo>
                <a:lnTo>
                  <a:pt x="2066417" y="435102"/>
                </a:lnTo>
                <a:lnTo>
                  <a:pt x="2079901" y="435102"/>
                </a:lnTo>
                <a:lnTo>
                  <a:pt x="2092641" y="431546"/>
                </a:lnTo>
                <a:close/>
              </a:path>
              <a:path w="2142490" h="616585">
                <a:moveTo>
                  <a:pt x="1450428" y="38100"/>
                </a:moveTo>
                <a:lnTo>
                  <a:pt x="1074801" y="38100"/>
                </a:lnTo>
                <a:lnTo>
                  <a:pt x="1129283" y="38989"/>
                </a:lnTo>
                <a:lnTo>
                  <a:pt x="1182878" y="41275"/>
                </a:lnTo>
                <a:lnTo>
                  <a:pt x="1235583" y="45085"/>
                </a:lnTo>
                <a:lnTo>
                  <a:pt x="1287272" y="50292"/>
                </a:lnTo>
                <a:lnTo>
                  <a:pt x="1338199" y="56896"/>
                </a:lnTo>
                <a:lnTo>
                  <a:pt x="1388110" y="64897"/>
                </a:lnTo>
                <a:lnTo>
                  <a:pt x="1437005" y="74168"/>
                </a:lnTo>
                <a:lnTo>
                  <a:pt x="1484757" y="84709"/>
                </a:lnTo>
                <a:lnTo>
                  <a:pt x="1531366" y="96520"/>
                </a:lnTo>
                <a:lnTo>
                  <a:pt x="1576451" y="109601"/>
                </a:lnTo>
                <a:lnTo>
                  <a:pt x="1620520" y="123825"/>
                </a:lnTo>
                <a:lnTo>
                  <a:pt x="1663065" y="139065"/>
                </a:lnTo>
                <a:lnTo>
                  <a:pt x="1704213" y="155575"/>
                </a:lnTo>
                <a:lnTo>
                  <a:pt x="1743709" y="172974"/>
                </a:lnTo>
                <a:lnTo>
                  <a:pt x="1781683" y="191516"/>
                </a:lnTo>
                <a:lnTo>
                  <a:pt x="1818005" y="210947"/>
                </a:lnTo>
                <a:lnTo>
                  <a:pt x="1852421" y="231267"/>
                </a:lnTo>
                <a:lnTo>
                  <a:pt x="1885188" y="252476"/>
                </a:lnTo>
                <a:lnTo>
                  <a:pt x="1945005" y="297434"/>
                </a:lnTo>
                <a:lnTo>
                  <a:pt x="1996694" y="345440"/>
                </a:lnTo>
                <a:lnTo>
                  <a:pt x="2039873" y="395986"/>
                </a:lnTo>
                <a:lnTo>
                  <a:pt x="2065307" y="433336"/>
                </a:lnTo>
                <a:lnTo>
                  <a:pt x="2064639" y="431546"/>
                </a:lnTo>
                <a:lnTo>
                  <a:pt x="2092641" y="431546"/>
                </a:lnTo>
                <a:lnTo>
                  <a:pt x="2104081" y="428352"/>
                </a:lnTo>
                <a:lnTo>
                  <a:pt x="2100326" y="418338"/>
                </a:lnTo>
                <a:lnTo>
                  <a:pt x="2099945" y="417068"/>
                </a:lnTo>
                <a:lnTo>
                  <a:pt x="2069719" y="372110"/>
                </a:lnTo>
                <a:lnTo>
                  <a:pt x="2023364" y="318135"/>
                </a:lnTo>
                <a:lnTo>
                  <a:pt x="1968627" y="267589"/>
                </a:lnTo>
                <a:lnTo>
                  <a:pt x="1938273" y="243586"/>
                </a:lnTo>
                <a:lnTo>
                  <a:pt x="1905889" y="220599"/>
                </a:lnTo>
                <a:lnTo>
                  <a:pt x="1871853" y="198501"/>
                </a:lnTo>
                <a:lnTo>
                  <a:pt x="1835911" y="177419"/>
                </a:lnTo>
                <a:lnTo>
                  <a:pt x="1798320" y="157226"/>
                </a:lnTo>
                <a:lnTo>
                  <a:pt x="1759077" y="138176"/>
                </a:lnTo>
                <a:lnTo>
                  <a:pt x="1718309" y="120142"/>
                </a:lnTo>
                <a:lnTo>
                  <a:pt x="1676019" y="103251"/>
                </a:lnTo>
                <a:lnTo>
                  <a:pt x="1632204" y="87503"/>
                </a:lnTo>
                <a:lnTo>
                  <a:pt x="1587119" y="73025"/>
                </a:lnTo>
                <a:lnTo>
                  <a:pt x="1540636" y="59563"/>
                </a:lnTo>
                <a:lnTo>
                  <a:pt x="1492884" y="47498"/>
                </a:lnTo>
                <a:lnTo>
                  <a:pt x="145042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25135" y="3759580"/>
            <a:ext cx="2142490" cy="616585"/>
          </a:xfrm>
          <a:custGeom>
            <a:avLst/>
            <a:gdLst/>
            <a:ahLst/>
            <a:cxnLst/>
            <a:rect l="l" t="t" r="r" b="b"/>
            <a:pathLst>
              <a:path w="2142490" h="616585">
                <a:moveTo>
                  <a:pt x="2067280" y="438624"/>
                </a:moveTo>
                <a:lnTo>
                  <a:pt x="2032127" y="448437"/>
                </a:lnTo>
                <a:lnTo>
                  <a:pt x="2138425" y="616585"/>
                </a:lnTo>
                <a:lnTo>
                  <a:pt x="2141462" y="458089"/>
                </a:lnTo>
                <a:lnTo>
                  <a:pt x="2074544" y="458089"/>
                </a:lnTo>
                <a:lnTo>
                  <a:pt x="2067280" y="438624"/>
                </a:lnTo>
                <a:close/>
              </a:path>
              <a:path w="2142490" h="616585">
                <a:moveTo>
                  <a:pt x="1074292" y="0"/>
                </a:moveTo>
                <a:lnTo>
                  <a:pt x="1023619" y="762"/>
                </a:lnTo>
                <a:lnTo>
                  <a:pt x="973454" y="2794"/>
                </a:lnTo>
                <a:lnTo>
                  <a:pt x="923798" y="5969"/>
                </a:lnTo>
                <a:lnTo>
                  <a:pt x="874902" y="10541"/>
                </a:lnTo>
                <a:lnTo>
                  <a:pt x="826642" y="16383"/>
                </a:lnTo>
                <a:lnTo>
                  <a:pt x="779144" y="23241"/>
                </a:lnTo>
                <a:lnTo>
                  <a:pt x="732536" y="31369"/>
                </a:lnTo>
                <a:lnTo>
                  <a:pt x="686815" y="40767"/>
                </a:lnTo>
                <a:lnTo>
                  <a:pt x="641985" y="51181"/>
                </a:lnTo>
                <a:lnTo>
                  <a:pt x="598169" y="62611"/>
                </a:lnTo>
                <a:lnTo>
                  <a:pt x="555498" y="75184"/>
                </a:lnTo>
                <a:lnTo>
                  <a:pt x="513714" y="88773"/>
                </a:lnTo>
                <a:lnTo>
                  <a:pt x="473328" y="103505"/>
                </a:lnTo>
                <a:lnTo>
                  <a:pt x="433959" y="119126"/>
                </a:lnTo>
                <a:lnTo>
                  <a:pt x="395986" y="135763"/>
                </a:lnTo>
                <a:lnTo>
                  <a:pt x="359283" y="153289"/>
                </a:lnTo>
                <a:lnTo>
                  <a:pt x="323976" y="171704"/>
                </a:lnTo>
                <a:lnTo>
                  <a:pt x="290067" y="191008"/>
                </a:lnTo>
                <a:lnTo>
                  <a:pt x="257683" y="211328"/>
                </a:lnTo>
                <a:lnTo>
                  <a:pt x="197738" y="254254"/>
                </a:lnTo>
                <a:lnTo>
                  <a:pt x="144272" y="300482"/>
                </a:lnTo>
                <a:lnTo>
                  <a:pt x="97916" y="349758"/>
                </a:lnTo>
                <a:lnTo>
                  <a:pt x="59309" y="401955"/>
                </a:lnTo>
                <a:lnTo>
                  <a:pt x="28828" y="456819"/>
                </a:lnTo>
                <a:lnTo>
                  <a:pt x="7238" y="513715"/>
                </a:lnTo>
                <a:lnTo>
                  <a:pt x="0" y="542544"/>
                </a:lnTo>
                <a:lnTo>
                  <a:pt x="37084" y="551053"/>
                </a:lnTo>
                <a:lnTo>
                  <a:pt x="40386" y="536956"/>
                </a:lnTo>
                <a:lnTo>
                  <a:pt x="43941" y="523748"/>
                </a:lnTo>
                <a:lnTo>
                  <a:pt x="63880" y="471551"/>
                </a:lnTo>
                <a:lnTo>
                  <a:pt x="91948" y="421513"/>
                </a:lnTo>
                <a:lnTo>
                  <a:pt x="127762" y="373253"/>
                </a:lnTo>
                <a:lnTo>
                  <a:pt x="171323" y="327279"/>
                </a:lnTo>
                <a:lnTo>
                  <a:pt x="221868" y="283591"/>
                </a:lnTo>
                <a:lnTo>
                  <a:pt x="279273" y="242697"/>
                </a:lnTo>
                <a:lnTo>
                  <a:pt x="342900" y="204851"/>
                </a:lnTo>
                <a:lnTo>
                  <a:pt x="376936" y="187071"/>
                </a:lnTo>
                <a:lnTo>
                  <a:pt x="412368" y="170053"/>
                </a:lnTo>
                <a:lnTo>
                  <a:pt x="449325" y="153924"/>
                </a:lnTo>
                <a:lnTo>
                  <a:pt x="487299" y="138938"/>
                </a:lnTo>
                <a:lnTo>
                  <a:pt x="526668" y="124587"/>
                </a:lnTo>
                <a:lnTo>
                  <a:pt x="567309" y="111379"/>
                </a:lnTo>
                <a:lnTo>
                  <a:pt x="608964" y="99187"/>
                </a:lnTo>
                <a:lnTo>
                  <a:pt x="651637" y="88011"/>
                </a:lnTo>
                <a:lnTo>
                  <a:pt x="695451" y="77851"/>
                </a:lnTo>
                <a:lnTo>
                  <a:pt x="740155" y="68707"/>
                </a:lnTo>
                <a:lnTo>
                  <a:pt x="785749" y="60833"/>
                </a:lnTo>
                <a:lnTo>
                  <a:pt x="832103" y="53975"/>
                </a:lnTo>
                <a:lnTo>
                  <a:pt x="879348" y="48387"/>
                </a:lnTo>
                <a:lnTo>
                  <a:pt x="927226" y="43942"/>
                </a:lnTo>
                <a:lnTo>
                  <a:pt x="975867" y="40767"/>
                </a:lnTo>
                <a:lnTo>
                  <a:pt x="1025143" y="38735"/>
                </a:lnTo>
                <a:lnTo>
                  <a:pt x="1074801" y="38100"/>
                </a:lnTo>
                <a:lnTo>
                  <a:pt x="1450428" y="38100"/>
                </a:lnTo>
                <a:lnTo>
                  <a:pt x="1444116" y="36703"/>
                </a:lnTo>
                <a:lnTo>
                  <a:pt x="1394078" y="27178"/>
                </a:lnTo>
                <a:lnTo>
                  <a:pt x="1343152" y="19050"/>
                </a:lnTo>
                <a:lnTo>
                  <a:pt x="1291081" y="12319"/>
                </a:lnTo>
                <a:lnTo>
                  <a:pt x="1238250" y="6985"/>
                </a:lnTo>
                <a:lnTo>
                  <a:pt x="1184402" y="3175"/>
                </a:lnTo>
                <a:lnTo>
                  <a:pt x="1129918" y="889"/>
                </a:lnTo>
                <a:lnTo>
                  <a:pt x="1074292" y="0"/>
                </a:lnTo>
                <a:close/>
              </a:path>
              <a:path w="2142490" h="616585">
                <a:moveTo>
                  <a:pt x="2104081" y="428352"/>
                </a:moveTo>
                <a:lnTo>
                  <a:pt x="2067280" y="438624"/>
                </a:lnTo>
                <a:lnTo>
                  <a:pt x="2074544" y="458089"/>
                </a:lnTo>
                <a:lnTo>
                  <a:pt x="2110232" y="444754"/>
                </a:lnTo>
                <a:lnTo>
                  <a:pt x="2104081" y="428352"/>
                </a:lnTo>
                <a:close/>
              </a:path>
              <a:path w="2142490" h="616585">
                <a:moveTo>
                  <a:pt x="2142236" y="417703"/>
                </a:moveTo>
                <a:lnTo>
                  <a:pt x="2104081" y="428352"/>
                </a:lnTo>
                <a:lnTo>
                  <a:pt x="2110232" y="444754"/>
                </a:lnTo>
                <a:lnTo>
                  <a:pt x="2074544" y="458089"/>
                </a:lnTo>
                <a:lnTo>
                  <a:pt x="2141462" y="458089"/>
                </a:lnTo>
                <a:lnTo>
                  <a:pt x="2142236" y="417703"/>
                </a:lnTo>
                <a:close/>
              </a:path>
              <a:path w="2142490" h="616585">
                <a:moveTo>
                  <a:pt x="2065307" y="433336"/>
                </a:moveTo>
                <a:lnTo>
                  <a:pt x="2067280" y="438624"/>
                </a:lnTo>
                <a:lnTo>
                  <a:pt x="2079901" y="435102"/>
                </a:lnTo>
                <a:lnTo>
                  <a:pt x="2066416" y="435102"/>
                </a:lnTo>
                <a:lnTo>
                  <a:pt x="2065307" y="433336"/>
                </a:lnTo>
                <a:close/>
              </a:path>
              <a:path w="2142490" h="616585">
                <a:moveTo>
                  <a:pt x="2064639" y="431546"/>
                </a:moveTo>
                <a:lnTo>
                  <a:pt x="2065307" y="433336"/>
                </a:lnTo>
                <a:lnTo>
                  <a:pt x="2066416" y="435102"/>
                </a:lnTo>
                <a:lnTo>
                  <a:pt x="2064639" y="431546"/>
                </a:lnTo>
                <a:close/>
              </a:path>
              <a:path w="2142490" h="616585">
                <a:moveTo>
                  <a:pt x="2092641" y="431546"/>
                </a:moveTo>
                <a:lnTo>
                  <a:pt x="2064639" y="431546"/>
                </a:lnTo>
                <a:lnTo>
                  <a:pt x="2066416" y="435102"/>
                </a:lnTo>
                <a:lnTo>
                  <a:pt x="2079901" y="435102"/>
                </a:lnTo>
                <a:lnTo>
                  <a:pt x="2092641" y="431546"/>
                </a:lnTo>
                <a:close/>
              </a:path>
              <a:path w="2142490" h="616585">
                <a:moveTo>
                  <a:pt x="1450428" y="38100"/>
                </a:moveTo>
                <a:lnTo>
                  <a:pt x="1074801" y="38100"/>
                </a:lnTo>
                <a:lnTo>
                  <a:pt x="1129284" y="38989"/>
                </a:lnTo>
                <a:lnTo>
                  <a:pt x="1182877" y="41275"/>
                </a:lnTo>
                <a:lnTo>
                  <a:pt x="1235583" y="45085"/>
                </a:lnTo>
                <a:lnTo>
                  <a:pt x="1287272" y="50292"/>
                </a:lnTo>
                <a:lnTo>
                  <a:pt x="1338199" y="56896"/>
                </a:lnTo>
                <a:lnTo>
                  <a:pt x="1388110" y="64897"/>
                </a:lnTo>
                <a:lnTo>
                  <a:pt x="1437004" y="74168"/>
                </a:lnTo>
                <a:lnTo>
                  <a:pt x="1484757" y="84709"/>
                </a:lnTo>
                <a:lnTo>
                  <a:pt x="1531365" y="96520"/>
                </a:lnTo>
                <a:lnTo>
                  <a:pt x="1576450" y="109601"/>
                </a:lnTo>
                <a:lnTo>
                  <a:pt x="1620519" y="123825"/>
                </a:lnTo>
                <a:lnTo>
                  <a:pt x="1663064" y="139065"/>
                </a:lnTo>
                <a:lnTo>
                  <a:pt x="1704213" y="155575"/>
                </a:lnTo>
                <a:lnTo>
                  <a:pt x="1743710" y="172974"/>
                </a:lnTo>
                <a:lnTo>
                  <a:pt x="1781683" y="191516"/>
                </a:lnTo>
                <a:lnTo>
                  <a:pt x="1818005" y="210947"/>
                </a:lnTo>
                <a:lnTo>
                  <a:pt x="1852421" y="231267"/>
                </a:lnTo>
                <a:lnTo>
                  <a:pt x="1885188" y="252476"/>
                </a:lnTo>
                <a:lnTo>
                  <a:pt x="1945005" y="297434"/>
                </a:lnTo>
                <a:lnTo>
                  <a:pt x="1996693" y="345440"/>
                </a:lnTo>
                <a:lnTo>
                  <a:pt x="2039873" y="395986"/>
                </a:lnTo>
                <a:lnTo>
                  <a:pt x="2065307" y="433336"/>
                </a:lnTo>
                <a:lnTo>
                  <a:pt x="2064639" y="431546"/>
                </a:lnTo>
                <a:lnTo>
                  <a:pt x="2092641" y="431546"/>
                </a:lnTo>
                <a:lnTo>
                  <a:pt x="2104081" y="428352"/>
                </a:lnTo>
                <a:lnTo>
                  <a:pt x="2100325" y="418338"/>
                </a:lnTo>
                <a:lnTo>
                  <a:pt x="2099944" y="417068"/>
                </a:lnTo>
                <a:lnTo>
                  <a:pt x="2069718" y="372110"/>
                </a:lnTo>
                <a:lnTo>
                  <a:pt x="2023364" y="318135"/>
                </a:lnTo>
                <a:lnTo>
                  <a:pt x="1968627" y="267589"/>
                </a:lnTo>
                <a:lnTo>
                  <a:pt x="1938273" y="243586"/>
                </a:lnTo>
                <a:lnTo>
                  <a:pt x="1905889" y="220599"/>
                </a:lnTo>
                <a:lnTo>
                  <a:pt x="1871853" y="198501"/>
                </a:lnTo>
                <a:lnTo>
                  <a:pt x="1835912" y="177419"/>
                </a:lnTo>
                <a:lnTo>
                  <a:pt x="1798319" y="157226"/>
                </a:lnTo>
                <a:lnTo>
                  <a:pt x="1759077" y="138176"/>
                </a:lnTo>
                <a:lnTo>
                  <a:pt x="1718310" y="120142"/>
                </a:lnTo>
                <a:lnTo>
                  <a:pt x="1676018" y="103251"/>
                </a:lnTo>
                <a:lnTo>
                  <a:pt x="1632204" y="87503"/>
                </a:lnTo>
                <a:lnTo>
                  <a:pt x="1587118" y="73025"/>
                </a:lnTo>
                <a:lnTo>
                  <a:pt x="1540637" y="59563"/>
                </a:lnTo>
                <a:lnTo>
                  <a:pt x="1492885" y="47498"/>
                </a:lnTo>
                <a:lnTo>
                  <a:pt x="1450428" y="3810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53490" y="4403217"/>
            <a:ext cx="21697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名字（标识符）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3914" y="4403217"/>
            <a:ext cx="1250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存储位置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6242" y="4403217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78685" y="5028438"/>
            <a:ext cx="2464435" cy="248920"/>
          </a:xfrm>
          <a:custGeom>
            <a:avLst/>
            <a:gdLst/>
            <a:ahLst/>
            <a:cxnLst/>
            <a:rect l="l" t="t" r="r" b="b"/>
            <a:pathLst>
              <a:path w="2464435" h="248920">
                <a:moveTo>
                  <a:pt x="2464308" y="0"/>
                </a:moveTo>
                <a:lnTo>
                  <a:pt x="2436184" y="62681"/>
                </a:lnTo>
                <a:lnTo>
                  <a:pt x="2403967" y="87820"/>
                </a:lnTo>
                <a:lnTo>
                  <a:pt x="2362256" y="107244"/>
                </a:lnTo>
                <a:lnTo>
                  <a:pt x="2313010" y="119768"/>
                </a:lnTo>
                <a:lnTo>
                  <a:pt x="2258187" y="124206"/>
                </a:lnTo>
                <a:lnTo>
                  <a:pt x="1438275" y="124206"/>
                </a:lnTo>
                <a:lnTo>
                  <a:pt x="1383451" y="128643"/>
                </a:lnTo>
                <a:lnTo>
                  <a:pt x="1334205" y="141167"/>
                </a:lnTo>
                <a:lnTo>
                  <a:pt x="1292494" y="160591"/>
                </a:lnTo>
                <a:lnTo>
                  <a:pt x="1260277" y="185730"/>
                </a:lnTo>
                <a:lnTo>
                  <a:pt x="1232153" y="248412"/>
                </a:lnTo>
                <a:lnTo>
                  <a:pt x="1224796" y="215399"/>
                </a:lnTo>
                <a:lnTo>
                  <a:pt x="1171813" y="160591"/>
                </a:lnTo>
                <a:lnTo>
                  <a:pt x="1130102" y="141167"/>
                </a:lnTo>
                <a:lnTo>
                  <a:pt x="1080856" y="128643"/>
                </a:lnTo>
                <a:lnTo>
                  <a:pt x="1026032" y="124206"/>
                </a:lnTo>
                <a:lnTo>
                  <a:pt x="206120" y="124206"/>
                </a:lnTo>
                <a:lnTo>
                  <a:pt x="151297" y="119768"/>
                </a:lnTo>
                <a:lnTo>
                  <a:pt x="102051" y="107244"/>
                </a:lnTo>
                <a:lnTo>
                  <a:pt x="60340" y="87820"/>
                </a:lnTo>
                <a:lnTo>
                  <a:pt x="28123" y="62681"/>
                </a:lnTo>
                <a:lnTo>
                  <a:pt x="7357" y="33012"/>
                </a:lnTo>
                <a:lnTo>
                  <a:pt x="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02842" y="5389575"/>
            <a:ext cx="31896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Compiler/run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99253" y="5037582"/>
            <a:ext cx="2466340" cy="247015"/>
          </a:xfrm>
          <a:custGeom>
            <a:avLst/>
            <a:gdLst/>
            <a:ahLst/>
            <a:cxnLst/>
            <a:rect l="l" t="t" r="r" b="b"/>
            <a:pathLst>
              <a:path w="2466340" h="247014">
                <a:moveTo>
                  <a:pt x="2465831" y="0"/>
                </a:moveTo>
                <a:lnTo>
                  <a:pt x="2437868" y="62314"/>
                </a:lnTo>
                <a:lnTo>
                  <a:pt x="2405840" y="87296"/>
                </a:lnTo>
                <a:lnTo>
                  <a:pt x="2364382" y="106595"/>
                </a:lnTo>
                <a:lnTo>
                  <a:pt x="2315445" y="119036"/>
                </a:lnTo>
                <a:lnTo>
                  <a:pt x="2260980" y="123444"/>
                </a:lnTo>
                <a:lnTo>
                  <a:pt x="1437767" y="123444"/>
                </a:lnTo>
                <a:lnTo>
                  <a:pt x="1383302" y="127851"/>
                </a:lnTo>
                <a:lnTo>
                  <a:pt x="1334365" y="140292"/>
                </a:lnTo>
                <a:lnTo>
                  <a:pt x="1292907" y="159591"/>
                </a:lnTo>
                <a:lnTo>
                  <a:pt x="1260879" y="184573"/>
                </a:lnTo>
                <a:lnTo>
                  <a:pt x="1232916" y="246888"/>
                </a:lnTo>
                <a:lnTo>
                  <a:pt x="1225599" y="214063"/>
                </a:lnTo>
                <a:lnTo>
                  <a:pt x="1172924" y="159591"/>
                </a:lnTo>
                <a:lnTo>
                  <a:pt x="1131466" y="140292"/>
                </a:lnTo>
                <a:lnTo>
                  <a:pt x="1082529" y="127851"/>
                </a:lnTo>
                <a:lnTo>
                  <a:pt x="1028065" y="123444"/>
                </a:lnTo>
                <a:lnTo>
                  <a:pt x="204850" y="123444"/>
                </a:lnTo>
                <a:lnTo>
                  <a:pt x="150386" y="119036"/>
                </a:lnTo>
                <a:lnTo>
                  <a:pt x="101449" y="106595"/>
                </a:lnTo>
                <a:lnTo>
                  <a:pt x="59991" y="87296"/>
                </a:lnTo>
                <a:lnTo>
                  <a:pt x="27963" y="62314"/>
                </a:lnTo>
                <a:lnTo>
                  <a:pt x="7316" y="32824"/>
                </a:lnTo>
                <a:lnTo>
                  <a:pt x="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314315" y="5313375"/>
            <a:ext cx="142684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run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55254" y="6697989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342" y="463753"/>
            <a:ext cx="2009139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0560" algn="l"/>
              </a:tabLst>
            </a:pPr>
            <a:r>
              <a:rPr dirty="0" sz="3200" b="0">
                <a:solidFill>
                  <a:srgbClr val="99FFCC"/>
                </a:solidFill>
                <a:latin typeface="Wingdings"/>
                <a:cs typeface="Wingdings"/>
              </a:rPr>
              <a:t></a:t>
            </a:r>
            <a:r>
              <a:rPr dirty="0" sz="3200" b="0">
                <a:solidFill>
                  <a:srgbClr val="99FFCC"/>
                </a:solidFill>
                <a:latin typeface="Times New Roman"/>
                <a:cs typeface="Times New Roman"/>
              </a:rPr>
              <a:t>	</a:t>
            </a:r>
            <a:r>
              <a:rPr dirty="0" sz="3600" spc="-10">
                <a:latin typeface="宋体"/>
                <a:cs typeface="宋体"/>
              </a:rPr>
              <a:t>注</a:t>
            </a:r>
            <a:r>
              <a:rPr dirty="0" sz="3600" spc="-5">
                <a:latin typeface="宋体"/>
                <a:cs typeface="宋体"/>
              </a:rPr>
              <a:t>意</a:t>
            </a:r>
            <a:r>
              <a:rPr dirty="0" sz="3200" spc="-10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68349" y="14732"/>
            <a:ext cx="660780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84289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7834" y="1015499"/>
            <a:ext cx="6453505" cy="248221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环境、状态的区别：</a:t>
            </a:r>
            <a:endParaRPr sz="3200">
              <a:latin typeface="宋体"/>
              <a:cs typeface="宋体"/>
            </a:endParaRPr>
          </a:p>
          <a:p>
            <a:pPr marL="1867535" marR="5080" indent="-1143635">
              <a:lnSpc>
                <a:spcPct val="124700"/>
              </a:lnSpc>
              <a:spcBef>
                <a:spcPts val="204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赋值改变状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，但不改变环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完全静态环境</a:t>
            </a:r>
            <a:endParaRPr sz="3200">
              <a:latin typeface="宋体"/>
              <a:cs typeface="宋体"/>
            </a:endParaRPr>
          </a:p>
          <a:p>
            <a:pPr marL="1803400">
              <a:lnSpc>
                <a:spcPct val="100000"/>
              </a:lnSpc>
              <a:spcBef>
                <a:spcPts val="73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 full static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environment</a:t>
            </a:r>
            <a:r>
              <a:rPr dirty="0" sz="32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7685" y="3754434"/>
            <a:ext cx="4919345" cy="113919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基于栈的环境</a:t>
            </a:r>
            <a:endParaRPr sz="3200">
              <a:latin typeface="宋体"/>
              <a:cs typeface="宋体"/>
            </a:endParaRPr>
          </a:p>
          <a:p>
            <a:pPr marL="26034">
              <a:lnSpc>
                <a:spcPct val="100000"/>
              </a:lnSpc>
              <a:spcBef>
                <a:spcPts val="54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 stack_based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environment</a:t>
            </a:r>
            <a:r>
              <a:rPr dirty="0" sz="3200" spc="-1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670" y="4209669"/>
            <a:ext cx="16605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运行环境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87117" y="2632710"/>
            <a:ext cx="208915" cy="3813175"/>
          </a:xfrm>
          <a:custGeom>
            <a:avLst/>
            <a:gdLst/>
            <a:ahLst/>
            <a:cxnLst/>
            <a:rect l="l" t="t" r="r" b="b"/>
            <a:pathLst>
              <a:path w="208914" h="3813175">
                <a:moveTo>
                  <a:pt x="208787" y="3813048"/>
                </a:moveTo>
                <a:lnTo>
                  <a:pt x="168151" y="3788168"/>
                </a:lnTo>
                <a:lnTo>
                  <a:pt x="134969" y="3720317"/>
                </a:lnTo>
                <a:lnTo>
                  <a:pt x="122222" y="3673460"/>
                </a:lnTo>
                <a:lnTo>
                  <a:pt x="112597" y="3619679"/>
                </a:lnTo>
                <a:lnTo>
                  <a:pt x="106514" y="3560247"/>
                </a:lnTo>
                <a:lnTo>
                  <a:pt x="104393" y="3496437"/>
                </a:lnTo>
                <a:lnTo>
                  <a:pt x="104393" y="2223135"/>
                </a:lnTo>
                <a:lnTo>
                  <a:pt x="102273" y="2159321"/>
                </a:lnTo>
                <a:lnTo>
                  <a:pt x="96190" y="2099887"/>
                </a:lnTo>
                <a:lnTo>
                  <a:pt x="86565" y="2046106"/>
                </a:lnTo>
                <a:lnTo>
                  <a:pt x="73818" y="1999249"/>
                </a:lnTo>
                <a:lnTo>
                  <a:pt x="58368" y="1960591"/>
                </a:lnTo>
                <a:lnTo>
                  <a:pt x="21039" y="1912955"/>
                </a:lnTo>
                <a:lnTo>
                  <a:pt x="0" y="1906523"/>
                </a:lnTo>
                <a:lnTo>
                  <a:pt x="21039" y="1900092"/>
                </a:lnTo>
                <a:lnTo>
                  <a:pt x="58368" y="1852456"/>
                </a:lnTo>
                <a:lnTo>
                  <a:pt x="73818" y="1813798"/>
                </a:lnTo>
                <a:lnTo>
                  <a:pt x="86565" y="1766941"/>
                </a:lnTo>
                <a:lnTo>
                  <a:pt x="96190" y="1713160"/>
                </a:lnTo>
                <a:lnTo>
                  <a:pt x="102273" y="1653726"/>
                </a:lnTo>
                <a:lnTo>
                  <a:pt x="104393" y="1589913"/>
                </a:lnTo>
                <a:lnTo>
                  <a:pt x="104393" y="316611"/>
                </a:lnTo>
                <a:lnTo>
                  <a:pt x="106514" y="252797"/>
                </a:lnTo>
                <a:lnTo>
                  <a:pt x="112597" y="193363"/>
                </a:lnTo>
                <a:lnTo>
                  <a:pt x="122222" y="139582"/>
                </a:lnTo>
                <a:lnTo>
                  <a:pt x="134969" y="92725"/>
                </a:lnTo>
                <a:lnTo>
                  <a:pt x="150419" y="54067"/>
                </a:lnTo>
                <a:lnTo>
                  <a:pt x="187748" y="6431"/>
                </a:lnTo>
                <a:lnTo>
                  <a:pt x="208787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81401" y="5105383"/>
            <a:ext cx="4981575" cy="1480820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985"/>
              </a:spcBef>
            </a:pPr>
            <a:r>
              <a:rPr dirty="0" sz="3200" b="1">
                <a:solidFill>
                  <a:srgbClr val="66FFFF"/>
                </a:solidFill>
                <a:latin typeface="宋体"/>
                <a:cs typeface="宋体"/>
              </a:rPr>
              <a:t>完全动态环境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 full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dynamic environment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55254" y="6697989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68349" y="14732"/>
            <a:ext cx="16846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55254" y="6697989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8797" y="14732"/>
            <a:ext cx="3776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948" y="1302224"/>
            <a:ext cx="8086725" cy="2757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 marR="2602865" indent="-610235">
              <a:lnSpc>
                <a:spcPct val="140100"/>
              </a:lnSpc>
              <a:spcBef>
                <a:spcPts val="10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u="heavy" sz="3200" spc="78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环境与语言特性相关：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FO</a:t>
            </a:r>
            <a:r>
              <a:rPr dirty="0" sz="3200" spc="-10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TRA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全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静态环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境；</a:t>
            </a:r>
            <a:endParaRPr sz="3200">
              <a:latin typeface="宋体"/>
              <a:cs typeface="宋体"/>
            </a:endParaRPr>
          </a:p>
          <a:p>
            <a:pPr marL="622300" marR="5080">
              <a:lnSpc>
                <a:spcPts val="5380"/>
              </a:lnSpc>
              <a:spcBef>
                <a:spcPts val="43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C+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ASCA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Ad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基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栈的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境； 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LISP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完全动态环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240" y="955845"/>
            <a:ext cx="8126095" cy="458914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just" marL="356235" marR="403860" indent="-356235">
              <a:lnSpc>
                <a:spcPts val="5380"/>
              </a:lnSpc>
              <a:spcBef>
                <a:spcPts val="525"/>
              </a:spcBef>
              <a:buClr>
                <a:srgbClr val="00FFFF"/>
              </a:buClr>
              <a:buSzPct val="145312"/>
              <a:buFont typeface="Wingdings"/>
              <a:buChar char=""/>
              <a:tabLst>
                <a:tab pos="35623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静态：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如果一个名字的性质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过说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明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语句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的隐或显规则而定义，则称这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性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质是“静态”确定的。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FFFF"/>
              </a:buClr>
              <a:buFont typeface="Wingdings"/>
              <a:buChar char=""/>
            </a:pPr>
            <a:endParaRPr sz="2500">
              <a:latin typeface="宋体"/>
              <a:cs typeface="宋体"/>
            </a:endParaRPr>
          </a:p>
          <a:p>
            <a:pPr marL="395605" marR="5080" indent="-395605">
              <a:lnSpc>
                <a:spcPct val="140000"/>
              </a:lnSpc>
              <a:buClr>
                <a:srgbClr val="00FFFF"/>
              </a:buClr>
              <a:buSzPct val="145312"/>
              <a:buFont typeface="Wingdings"/>
              <a:buChar char=""/>
              <a:tabLst>
                <a:tab pos="3956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动态：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如果名字的性质只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在程序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行时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才能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知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道，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称这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性质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“动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态”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确定的。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68349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55254" y="6697989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8797" y="14732"/>
            <a:ext cx="3776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48811" y="661416"/>
            <a:ext cx="2647315" cy="581025"/>
          </a:xfrm>
          <a:prstGeom prst="rect">
            <a:avLst/>
          </a:prstGeom>
          <a:solidFill>
            <a:srgbClr val="FFFF9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300"/>
              </a:spcBef>
            </a:pPr>
            <a:r>
              <a:rPr dirty="0" sz="3200" b="1">
                <a:latin typeface="宋体"/>
                <a:cs typeface="宋体"/>
              </a:rPr>
              <a:t>静态分配策略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48811" y="1866900"/>
            <a:ext cx="2667000" cy="506095"/>
          </a:xfrm>
          <a:prstGeom prst="rect">
            <a:avLst/>
          </a:prstGeom>
          <a:solidFill>
            <a:srgbClr val="FFFF99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3560"/>
              </a:lnSpc>
            </a:pPr>
            <a:r>
              <a:rPr dirty="0" sz="3200" b="1">
                <a:latin typeface="宋体"/>
                <a:cs typeface="宋体"/>
              </a:rPr>
              <a:t>动态分配策略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204" y="1265377"/>
            <a:ext cx="24765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存储分配策略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06673" y="662177"/>
            <a:ext cx="152400" cy="1711960"/>
          </a:xfrm>
          <a:custGeom>
            <a:avLst/>
            <a:gdLst/>
            <a:ahLst/>
            <a:cxnLst/>
            <a:rect l="l" t="t" r="r" b="b"/>
            <a:pathLst>
              <a:path w="152400" h="1711960">
                <a:moveTo>
                  <a:pt x="152400" y="1711452"/>
                </a:moveTo>
                <a:lnTo>
                  <a:pt x="122759" y="1700240"/>
                </a:lnTo>
                <a:lnTo>
                  <a:pt x="98536" y="1669669"/>
                </a:lnTo>
                <a:lnTo>
                  <a:pt x="82194" y="1624333"/>
                </a:lnTo>
                <a:lnTo>
                  <a:pt x="76200" y="1568831"/>
                </a:lnTo>
                <a:lnTo>
                  <a:pt x="76200" y="998347"/>
                </a:lnTo>
                <a:lnTo>
                  <a:pt x="70205" y="942844"/>
                </a:lnTo>
                <a:lnTo>
                  <a:pt x="53863" y="897509"/>
                </a:lnTo>
                <a:lnTo>
                  <a:pt x="29640" y="866937"/>
                </a:lnTo>
                <a:lnTo>
                  <a:pt x="0" y="855726"/>
                </a:lnTo>
                <a:lnTo>
                  <a:pt x="29640" y="844514"/>
                </a:lnTo>
                <a:lnTo>
                  <a:pt x="53863" y="813943"/>
                </a:lnTo>
                <a:lnTo>
                  <a:pt x="70205" y="768607"/>
                </a:lnTo>
                <a:lnTo>
                  <a:pt x="76200" y="713105"/>
                </a:lnTo>
                <a:lnTo>
                  <a:pt x="76200" y="142621"/>
                </a:lnTo>
                <a:lnTo>
                  <a:pt x="82194" y="87118"/>
                </a:lnTo>
                <a:lnTo>
                  <a:pt x="98536" y="41783"/>
                </a:lnTo>
                <a:lnTo>
                  <a:pt x="122759" y="11211"/>
                </a:lnTo>
                <a:lnTo>
                  <a:pt x="1524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0842" y="2982316"/>
            <a:ext cx="8333105" cy="312864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421005" indent="-408940">
              <a:lnSpc>
                <a:spcPct val="100000"/>
              </a:lnSpc>
              <a:spcBef>
                <a:spcPts val="1360"/>
              </a:spcBef>
              <a:buClr>
                <a:srgbClr val="00FFFF"/>
              </a:buClr>
              <a:buSzPct val="109375"/>
              <a:buFont typeface="Wingdings"/>
              <a:buChar char=""/>
              <a:tabLst>
                <a:tab pos="421005" algn="l"/>
                <a:tab pos="4216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静态存储分配</a:t>
            </a:r>
            <a:endParaRPr sz="3200">
              <a:latin typeface="宋体"/>
              <a:cs typeface="宋体"/>
            </a:endParaRPr>
          </a:p>
          <a:p>
            <a:pPr algn="just" marL="152400" marR="5080" indent="817880">
              <a:lnSpc>
                <a:spcPct val="125000"/>
              </a:lnSpc>
              <a:spcBef>
                <a:spcPts val="3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在编译时能够确定目标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序运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时所需的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全部数据空间的大小，即在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编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译时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可以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序中的名字关联到存储单元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存储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位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置</a:t>
            </a:r>
            <a:endParaRPr sz="3200">
              <a:latin typeface="宋体"/>
              <a:cs typeface="宋体"/>
            </a:endParaRPr>
          </a:p>
          <a:p>
            <a:pPr marL="88900">
              <a:lnSpc>
                <a:spcPct val="100000"/>
              </a:lnSpc>
              <a:spcBef>
                <a:spcPts val="79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，这种分配策略称为静态存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储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分配。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45173" y="1600961"/>
            <a:ext cx="152400" cy="1125220"/>
          </a:xfrm>
          <a:custGeom>
            <a:avLst/>
            <a:gdLst/>
            <a:ahLst/>
            <a:cxnLst/>
            <a:rect l="l" t="t" r="r" b="b"/>
            <a:pathLst>
              <a:path w="152400" h="1125220">
                <a:moveTo>
                  <a:pt x="152400" y="1124712"/>
                </a:moveTo>
                <a:lnTo>
                  <a:pt x="122759" y="1117355"/>
                </a:lnTo>
                <a:lnTo>
                  <a:pt x="98536" y="1097295"/>
                </a:lnTo>
                <a:lnTo>
                  <a:pt x="82194" y="1067544"/>
                </a:lnTo>
                <a:lnTo>
                  <a:pt x="76200" y="1031113"/>
                </a:lnTo>
                <a:lnTo>
                  <a:pt x="76200" y="655954"/>
                </a:lnTo>
                <a:lnTo>
                  <a:pt x="70205" y="619523"/>
                </a:lnTo>
                <a:lnTo>
                  <a:pt x="53863" y="589772"/>
                </a:lnTo>
                <a:lnTo>
                  <a:pt x="29640" y="569712"/>
                </a:lnTo>
                <a:lnTo>
                  <a:pt x="0" y="562355"/>
                </a:lnTo>
                <a:lnTo>
                  <a:pt x="29640" y="554999"/>
                </a:lnTo>
                <a:lnTo>
                  <a:pt x="53863" y="534939"/>
                </a:lnTo>
                <a:lnTo>
                  <a:pt x="70205" y="505188"/>
                </a:lnTo>
                <a:lnTo>
                  <a:pt x="76200" y="468757"/>
                </a:lnTo>
                <a:lnTo>
                  <a:pt x="76200" y="93599"/>
                </a:lnTo>
                <a:lnTo>
                  <a:pt x="82194" y="57167"/>
                </a:lnTo>
                <a:lnTo>
                  <a:pt x="98536" y="27416"/>
                </a:lnTo>
                <a:lnTo>
                  <a:pt x="122759" y="7356"/>
                </a:lnTo>
                <a:lnTo>
                  <a:pt x="1524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686168" y="1288471"/>
            <a:ext cx="1659255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栈式方案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堆式方案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68349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55254" y="6697989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fld id="{81D60167-4931-47E6-BA6A-407CBD079E47}" type="slidenum"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fld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98797" y="14732"/>
            <a:ext cx="3776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0842" y="0"/>
            <a:ext cx="8616950" cy="633476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840105">
              <a:lnSpc>
                <a:spcPct val="100000"/>
              </a:lnSpc>
              <a:spcBef>
                <a:spcPts val="650"/>
              </a:spcBef>
              <a:tabLst>
                <a:tab pos="1478280" algn="l"/>
                <a:tab pos="36703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华文新魏"/>
              <a:cs typeface="华文新魏"/>
            </a:endParaRPr>
          </a:p>
          <a:p>
            <a:pPr marL="486409" indent="-474345">
              <a:lnSpc>
                <a:spcPct val="100000"/>
              </a:lnSpc>
              <a:buClr>
                <a:srgbClr val="00FFFF"/>
              </a:buClr>
              <a:buSzPct val="145312"/>
              <a:buFont typeface="Wingdings"/>
              <a:buChar char=""/>
              <a:tabLst>
                <a:tab pos="48704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动态存储分配</a:t>
            </a:r>
            <a:endParaRPr sz="3200">
              <a:latin typeface="宋体"/>
              <a:cs typeface="宋体"/>
            </a:endParaRPr>
          </a:p>
          <a:p>
            <a:pPr algn="just" marL="88900" marR="288925" indent="882015">
              <a:lnSpc>
                <a:spcPct val="125000"/>
              </a:lnSpc>
              <a:spcBef>
                <a:spcPts val="3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在编译时不能确定目标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序运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时所需的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全部数据空间的大小，而是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序运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时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动态确定的。</a:t>
            </a:r>
            <a:endParaRPr sz="3200">
              <a:latin typeface="宋体"/>
              <a:cs typeface="宋体"/>
            </a:endParaRPr>
          </a:p>
          <a:p>
            <a:pPr marL="485140" indent="-472440">
              <a:lnSpc>
                <a:spcPct val="100000"/>
              </a:lnSpc>
              <a:spcBef>
                <a:spcPts val="2750"/>
              </a:spcBef>
              <a:buClr>
                <a:srgbClr val="00FFFF"/>
              </a:buClr>
              <a:buSzPct val="145312"/>
              <a:buFont typeface="Wingdings"/>
              <a:buChar char=""/>
              <a:tabLst>
                <a:tab pos="4851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栈式动态存储分配</a:t>
            </a:r>
            <a:endParaRPr sz="3200">
              <a:latin typeface="宋体"/>
              <a:cs typeface="宋体"/>
            </a:endParaRPr>
          </a:p>
          <a:p>
            <a:pPr marL="743585">
              <a:lnSpc>
                <a:spcPct val="100000"/>
              </a:lnSpc>
              <a:spcBef>
                <a:spcPts val="63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在内存中开辟一个栈区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按栈的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特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性进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endParaRPr sz="3200">
              <a:latin typeface="宋体"/>
              <a:cs typeface="宋体"/>
            </a:endParaRPr>
          </a:p>
          <a:p>
            <a:pPr marL="31115">
              <a:lnSpc>
                <a:spcPct val="100000"/>
              </a:lnSpc>
              <a:spcBef>
                <a:spcPts val="96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储分配。程序运行时，每当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入一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endParaRPr sz="3200">
              <a:latin typeface="宋体"/>
              <a:cs typeface="宋体"/>
            </a:endParaRPr>
          </a:p>
          <a:p>
            <a:pPr marL="31115" marR="5080">
              <a:lnSpc>
                <a:spcPct val="125000"/>
              </a:lnSpc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，该函数所需的存储空间动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地分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于栈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，函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数返回时，释放所占用的空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5254" y="6697989"/>
            <a:ext cx="64770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100" y="5035296"/>
            <a:ext cx="8420100" cy="1283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0540" y="4777681"/>
            <a:ext cx="7823200" cy="149860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717550" marR="5080" indent="-718185">
              <a:lnSpc>
                <a:spcPct val="139600"/>
              </a:lnSpc>
              <a:spcBef>
                <a:spcPts val="590"/>
              </a:spcBef>
              <a:tabLst>
                <a:tab pos="675005" algn="l"/>
              </a:tabLst>
            </a:pPr>
            <a:r>
              <a:rPr dirty="0" sz="3600">
                <a:latin typeface="Wingdings"/>
                <a:cs typeface="Wingdings"/>
              </a:rPr>
              <a:t></a:t>
            </a:r>
            <a:r>
              <a:rPr dirty="0" sz="3600"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宋体"/>
                <a:cs typeface="宋体"/>
              </a:rPr>
              <a:t>运行时存储分配的一个原则是，</a:t>
            </a:r>
            <a:r>
              <a:rPr dirty="0" sz="2800" spc="5" b="1">
                <a:latin typeface="宋体"/>
                <a:cs typeface="宋体"/>
              </a:rPr>
              <a:t>尽</a:t>
            </a:r>
            <a:r>
              <a:rPr dirty="0" sz="2800" spc="-5" b="1">
                <a:latin typeface="宋体"/>
                <a:cs typeface="宋体"/>
              </a:rPr>
              <a:t>可能</a:t>
            </a:r>
            <a:r>
              <a:rPr dirty="0" sz="2800" spc="5" b="1">
                <a:latin typeface="宋体"/>
                <a:cs typeface="宋体"/>
              </a:rPr>
              <a:t>对</a:t>
            </a:r>
            <a:r>
              <a:rPr dirty="0" sz="2800" spc="-5" b="1">
                <a:latin typeface="宋体"/>
                <a:cs typeface="宋体"/>
              </a:rPr>
              <a:t>数据 </a:t>
            </a:r>
            <a:r>
              <a:rPr dirty="0" sz="2800" spc="-10" b="1">
                <a:latin typeface="宋体"/>
                <a:cs typeface="宋体"/>
              </a:rPr>
              <a:t>对象进行静态分</a:t>
            </a:r>
            <a:r>
              <a:rPr dirty="0" sz="2800" spc="-15" b="1">
                <a:latin typeface="宋体"/>
                <a:cs typeface="宋体"/>
              </a:rPr>
              <a:t>配</a:t>
            </a:r>
            <a:r>
              <a:rPr dirty="0" sz="2800" spc="-675" b="1">
                <a:latin typeface="宋体"/>
                <a:cs typeface="宋体"/>
              </a:rPr>
              <a:t> 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3540" y="0"/>
            <a:ext cx="8302625" cy="457009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897255">
              <a:lnSpc>
                <a:spcPct val="100000"/>
              </a:lnSpc>
              <a:spcBef>
                <a:spcPts val="705"/>
              </a:spcBef>
              <a:tabLst>
                <a:tab pos="1535430" algn="l"/>
                <a:tab pos="37274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华文新魏"/>
              <a:cs typeface="华文新魏"/>
            </a:endParaRPr>
          </a:p>
          <a:p>
            <a:pPr marL="485140" indent="-472440">
              <a:lnSpc>
                <a:spcPct val="100000"/>
              </a:lnSpc>
              <a:buClr>
                <a:srgbClr val="00FFFF"/>
              </a:buClr>
              <a:buSzPct val="145312"/>
              <a:buFont typeface="Wingdings"/>
              <a:buChar char=""/>
              <a:tabLst>
                <a:tab pos="4851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堆式动态存储分配</a:t>
            </a:r>
            <a:endParaRPr sz="3200">
              <a:latin typeface="宋体"/>
              <a:cs typeface="宋体"/>
            </a:endParaRPr>
          </a:p>
          <a:p>
            <a:pPr marL="127000" marR="5080" indent="711835">
              <a:lnSpc>
                <a:spcPct val="125000"/>
              </a:lnSpc>
              <a:spcBef>
                <a:spcPts val="208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在内存中开辟一个称为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堆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的存储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区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，程序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运行每当需要（申请）时就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按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照某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分配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原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在堆的自由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可占用区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中，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配能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满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足其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需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要的存储空间给它，使用后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要释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操作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再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将不再占用的存储空间归还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堆的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由区。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9740" y="0"/>
            <a:ext cx="8408035" cy="536829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821055">
              <a:lnSpc>
                <a:spcPct val="100000"/>
              </a:lnSpc>
              <a:spcBef>
                <a:spcPts val="1130"/>
              </a:spcBef>
              <a:tabLst>
                <a:tab pos="1459230" algn="l"/>
                <a:tab pos="365125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8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华文新魏"/>
              <a:cs typeface="华文新魏"/>
            </a:endParaRPr>
          </a:p>
          <a:p>
            <a:pPr marL="512445" indent="-500380">
              <a:lnSpc>
                <a:spcPct val="100000"/>
              </a:lnSpc>
              <a:spcBef>
                <a:spcPts val="5"/>
              </a:spcBef>
              <a:buClr>
                <a:srgbClr val="00FFFF"/>
              </a:buClr>
              <a:buSzPct val="159375"/>
              <a:buFont typeface="Wingdings"/>
              <a:buChar char=""/>
              <a:tabLst>
                <a:tab pos="51308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存储区保存的对象</a:t>
            </a:r>
            <a:endParaRPr sz="3200">
              <a:latin typeface="宋体"/>
              <a:cs typeface="宋体"/>
            </a:endParaRPr>
          </a:p>
          <a:p>
            <a:pPr lvl="1" marL="1228725" indent="-594995">
              <a:lnSpc>
                <a:spcPct val="100000"/>
              </a:lnSpc>
              <a:spcBef>
                <a:spcPts val="1680"/>
              </a:spcBef>
              <a:buFont typeface="Times New Roman"/>
              <a:buAutoNum type="arabicParenBoth"/>
              <a:tabLst>
                <a:tab pos="1228725" algn="l"/>
                <a:tab pos="122936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生成的目标代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代码区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lvl="1" marL="1257935" marR="5080" indent="-623570">
              <a:lnSpc>
                <a:spcPct val="150000"/>
              </a:lnSpc>
              <a:spcBef>
                <a:spcPts val="5"/>
              </a:spcBef>
              <a:buFont typeface="Times New Roman"/>
              <a:buAutoNum type="arabicParenBoth"/>
              <a:tabLst>
                <a:tab pos="1228725" algn="l"/>
                <a:tab pos="122936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目标代码运行时的数据空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包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括用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义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的各种类型的数据对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作为保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中间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果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和传递参数的临时工作单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输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输出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所需的缓冲区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lvl="1" marL="1326515" indent="-602615">
              <a:lnSpc>
                <a:spcPct val="100000"/>
              </a:lnSpc>
              <a:spcBef>
                <a:spcPts val="1680"/>
              </a:spcBef>
              <a:buFont typeface="Times New Roman"/>
              <a:buAutoNum type="arabicParenBoth"/>
              <a:tabLst>
                <a:tab pos="1326515" algn="l"/>
                <a:tab pos="132715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记录过程活动的控制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51247" y="3505961"/>
            <a:ext cx="114300" cy="596265"/>
          </a:xfrm>
          <a:custGeom>
            <a:avLst/>
            <a:gdLst/>
            <a:ahLst/>
            <a:cxnLst/>
            <a:rect l="l" t="t" r="r" b="b"/>
            <a:pathLst>
              <a:path w="114300" h="596264">
                <a:moveTo>
                  <a:pt x="38100" y="405383"/>
                </a:moveTo>
                <a:lnTo>
                  <a:pt x="0" y="405383"/>
                </a:lnTo>
                <a:lnTo>
                  <a:pt x="57150" y="595883"/>
                </a:lnTo>
                <a:lnTo>
                  <a:pt x="108585" y="424433"/>
                </a:lnTo>
                <a:lnTo>
                  <a:pt x="38100" y="424433"/>
                </a:lnTo>
                <a:lnTo>
                  <a:pt x="38100" y="405383"/>
                </a:lnTo>
                <a:close/>
              </a:path>
              <a:path w="114300" h="596264">
                <a:moveTo>
                  <a:pt x="76200" y="0"/>
                </a:moveTo>
                <a:lnTo>
                  <a:pt x="38100" y="0"/>
                </a:lnTo>
                <a:lnTo>
                  <a:pt x="38100" y="424433"/>
                </a:lnTo>
                <a:lnTo>
                  <a:pt x="76200" y="424433"/>
                </a:lnTo>
                <a:lnTo>
                  <a:pt x="76200" y="0"/>
                </a:lnTo>
                <a:close/>
              </a:path>
              <a:path w="114300" h="596264">
                <a:moveTo>
                  <a:pt x="114300" y="405383"/>
                </a:moveTo>
                <a:lnTo>
                  <a:pt x="76200" y="405383"/>
                </a:lnTo>
                <a:lnTo>
                  <a:pt x="76200" y="424433"/>
                </a:lnTo>
                <a:lnTo>
                  <a:pt x="108585" y="424433"/>
                </a:lnTo>
                <a:lnTo>
                  <a:pt x="114300" y="40538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19828" y="5037582"/>
            <a:ext cx="114300" cy="596265"/>
          </a:xfrm>
          <a:custGeom>
            <a:avLst/>
            <a:gdLst/>
            <a:ahLst/>
            <a:cxnLst/>
            <a:rect l="l" t="t" r="r" b="b"/>
            <a:pathLst>
              <a:path w="114300" h="596264">
                <a:moveTo>
                  <a:pt x="76200" y="171450"/>
                </a:moveTo>
                <a:lnTo>
                  <a:pt x="38100" y="171450"/>
                </a:lnTo>
                <a:lnTo>
                  <a:pt x="38100" y="595884"/>
                </a:lnTo>
                <a:lnTo>
                  <a:pt x="76200" y="595884"/>
                </a:lnTo>
                <a:lnTo>
                  <a:pt x="76200" y="171450"/>
                </a:lnTo>
                <a:close/>
              </a:path>
              <a:path w="114300" h="596264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5" y="171450"/>
                </a:lnTo>
                <a:lnTo>
                  <a:pt x="57150" y="0"/>
                </a:lnTo>
                <a:close/>
              </a:path>
              <a:path w="114300" h="596264">
                <a:moveTo>
                  <a:pt x="108585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5" y="1714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79801" y="1881251"/>
          <a:ext cx="3162300" cy="3879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0"/>
              </a:tblGrid>
              <a:tr h="649351">
                <a:tc>
                  <a:txBody>
                    <a:bodyPr/>
                    <a:lstStyle/>
                    <a:p>
                      <a:pPr algn="r" marR="6203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3200" spc="10" b="1">
                          <a:solidFill>
                            <a:srgbClr val="66FFFF"/>
                          </a:solidFill>
                          <a:latin typeface="宋体"/>
                          <a:cs typeface="宋体"/>
                        </a:rPr>
                        <a:t>目标代码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r" marR="629920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dirty="0" sz="3200" spc="10" b="1">
                          <a:solidFill>
                            <a:srgbClr val="66FFFF"/>
                          </a:solidFill>
                          <a:latin typeface="宋体"/>
                          <a:cs typeface="宋体"/>
                        </a:rPr>
                        <a:t>静态数据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1873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2335085">
                <a:tc>
                  <a:txBody>
                    <a:bodyPr/>
                    <a:lstStyle/>
                    <a:p>
                      <a:pPr algn="ctr" marR="419734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3200" b="1">
                          <a:solidFill>
                            <a:srgbClr val="66FFFF"/>
                          </a:solidFill>
                          <a:latin typeface="宋体"/>
                          <a:cs typeface="宋体"/>
                        </a:rPr>
                        <a:t>栈</a:t>
                      </a:r>
                      <a:endParaRPr sz="3200">
                        <a:latin typeface="宋体"/>
                        <a:cs typeface="宋体"/>
                      </a:endParaRPr>
                    </a:p>
                    <a:p>
                      <a:pPr algn="ctr" marR="370205">
                        <a:lnSpc>
                          <a:spcPct val="100000"/>
                        </a:lnSpc>
                        <a:spcBef>
                          <a:spcPts val="286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自由空间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R="456565">
                        <a:lnSpc>
                          <a:spcPct val="100000"/>
                        </a:lnSpc>
                      </a:pPr>
                      <a:r>
                        <a:rPr dirty="0" sz="3200" b="1">
                          <a:solidFill>
                            <a:srgbClr val="66FFFF"/>
                          </a:solidFill>
                          <a:latin typeface="宋体"/>
                          <a:cs typeface="宋体"/>
                        </a:rPr>
                        <a:t>堆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172961" y="1806701"/>
            <a:ext cx="266700" cy="1584960"/>
          </a:xfrm>
          <a:custGeom>
            <a:avLst/>
            <a:gdLst/>
            <a:ahLst/>
            <a:cxnLst/>
            <a:rect l="l" t="t" r="r" b="b"/>
            <a:pathLst>
              <a:path w="266700" h="1584960">
                <a:moveTo>
                  <a:pt x="0" y="0"/>
                </a:moveTo>
                <a:lnTo>
                  <a:pt x="42153" y="6725"/>
                </a:lnTo>
                <a:lnTo>
                  <a:pt x="78760" y="25460"/>
                </a:lnTo>
                <a:lnTo>
                  <a:pt x="107624" y="54041"/>
                </a:lnTo>
                <a:lnTo>
                  <a:pt x="126552" y="90302"/>
                </a:lnTo>
                <a:lnTo>
                  <a:pt x="133350" y="132080"/>
                </a:lnTo>
                <a:lnTo>
                  <a:pt x="133350" y="660400"/>
                </a:lnTo>
                <a:lnTo>
                  <a:pt x="140147" y="702177"/>
                </a:lnTo>
                <a:lnTo>
                  <a:pt x="159075" y="738438"/>
                </a:lnTo>
                <a:lnTo>
                  <a:pt x="187939" y="767019"/>
                </a:lnTo>
                <a:lnTo>
                  <a:pt x="224546" y="785754"/>
                </a:lnTo>
                <a:lnTo>
                  <a:pt x="266700" y="792480"/>
                </a:lnTo>
                <a:lnTo>
                  <a:pt x="224546" y="799205"/>
                </a:lnTo>
                <a:lnTo>
                  <a:pt x="187939" y="817940"/>
                </a:lnTo>
                <a:lnTo>
                  <a:pt x="159075" y="846521"/>
                </a:lnTo>
                <a:lnTo>
                  <a:pt x="140147" y="882782"/>
                </a:lnTo>
                <a:lnTo>
                  <a:pt x="133350" y="924560"/>
                </a:lnTo>
                <a:lnTo>
                  <a:pt x="133350" y="1452880"/>
                </a:lnTo>
                <a:lnTo>
                  <a:pt x="126552" y="1494657"/>
                </a:lnTo>
                <a:lnTo>
                  <a:pt x="107624" y="1530918"/>
                </a:lnTo>
                <a:lnTo>
                  <a:pt x="78760" y="1559499"/>
                </a:lnTo>
                <a:lnTo>
                  <a:pt x="42153" y="1578234"/>
                </a:lnTo>
                <a:lnTo>
                  <a:pt x="0" y="158496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68349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2961" y="3489197"/>
            <a:ext cx="266700" cy="2144395"/>
          </a:xfrm>
          <a:custGeom>
            <a:avLst/>
            <a:gdLst/>
            <a:ahLst/>
            <a:cxnLst/>
            <a:rect l="l" t="t" r="r" b="b"/>
            <a:pathLst>
              <a:path w="266700" h="2144395">
                <a:moveTo>
                  <a:pt x="0" y="0"/>
                </a:moveTo>
                <a:lnTo>
                  <a:pt x="42153" y="9110"/>
                </a:lnTo>
                <a:lnTo>
                  <a:pt x="78760" y="34478"/>
                </a:lnTo>
                <a:lnTo>
                  <a:pt x="107624" y="73161"/>
                </a:lnTo>
                <a:lnTo>
                  <a:pt x="126552" y="122212"/>
                </a:lnTo>
                <a:lnTo>
                  <a:pt x="133350" y="178688"/>
                </a:lnTo>
                <a:lnTo>
                  <a:pt x="133350" y="893444"/>
                </a:lnTo>
                <a:lnTo>
                  <a:pt x="140147" y="949921"/>
                </a:lnTo>
                <a:lnTo>
                  <a:pt x="159075" y="998972"/>
                </a:lnTo>
                <a:lnTo>
                  <a:pt x="187939" y="1037655"/>
                </a:lnTo>
                <a:lnTo>
                  <a:pt x="224546" y="1063023"/>
                </a:lnTo>
                <a:lnTo>
                  <a:pt x="266700" y="1072133"/>
                </a:lnTo>
                <a:lnTo>
                  <a:pt x="224546" y="1081244"/>
                </a:lnTo>
                <a:lnTo>
                  <a:pt x="187939" y="1106612"/>
                </a:lnTo>
                <a:lnTo>
                  <a:pt x="159075" y="1145295"/>
                </a:lnTo>
                <a:lnTo>
                  <a:pt x="140147" y="1194346"/>
                </a:lnTo>
                <a:lnTo>
                  <a:pt x="133350" y="1250822"/>
                </a:lnTo>
                <a:lnTo>
                  <a:pt x="133350" y="1965578"/>
                </a:lnTo>
                <a:lnTo>
                  <a:pt x="126552" y="2022055"/>
                </a:lnTo>
                <a:lnTo>
                  <a:pt x="107624" y="2071106"/>
                </a:lnTo>
                <a:lnTo>
                  <a:pt x="78760" y="2109789"/>
                </a:lnTo>
                <a:lnTo>
                  <a:pt x="42153" y="2135157"/>
                </a:lnTo>
                <a:lnTo>
                  <a:pt x="0" y="2144267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98797" y="14732"/>
            <a:ext cx="3776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5945" y="842518"/>
            <a:ext cx="8191500" cy="40589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1005" indent="-408940">
              <a:lnSpc>
                <a:spcPct val="100000"/>
              </a:lnSpc>
              <a:spcBef>
                <a:spcPts val="105"/>
              </a:spcBef>
              <a:buClr>
                <a:srgbClr val="00FFFF"/>
              </a:buClr>
              <a:buSzPct val="109375"/>
              <a:buFont typeface="Wingdings"/>
              <a:buChar char=""/>
              <a:tabLst>
                <a:tab pos="421005" algn="l"/>
                <a:tab pos="42164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运行时内存分成代码区和数据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区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的典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型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划分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4950">
              <a:latin typeface="宋体"/>
              <a:cs typeface="宋体"/>
            </a:endParaRPr>
          </a:p>
          <a:p>
            <a:pPr algn="r" marL="6478270" marR="278130">
              <a:lnSpc>
                <a:spcPct val="12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固定长度 编译确定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>
              <a:latin typeface="宋体"/>
              <a:cs typeface="宋体"/>
            </a:endParaRPr>
          </a:p>
          <a:p>
            <a:pPr marL="6200140" marR="199390" indent="177800">
              <a:lnSpc>
                <a:spcPct val="120000"/>
              </a:lnSpc>
              <a:spcBef>
                <a:spcPts val="18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自由变化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运行时确定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76712" y="1890712"/>
          <a:ext cx="3395979" cy="4092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/>
              </a:tblGrid>
              <a:tr h="1016000">
                <a:tc>
                  <a:txBody>
                    <a:bodyPr/>
                    <a:lstStyle/>
                    <a:p>
                      <a:pPr marL="542925">
                        <a:lnSpc>
                          <a:spcPct val="100000"/>
                        </a:lnSpc>
                        <a:spcBef>
                          <a:spcPts val="2014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函数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1_code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5904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marL="542925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函数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2_code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654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marL="994410">
                        <a:lnSpc>
                          <a:spcPct val="100000"/>
                        </a:lnSpc>
                        <a:spcBef>
                          <a:spcPts val="199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2533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marL="655955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函数</a:t>
                      </a:r>
                      <a:r>
                        <a:rPr dirty="0" sz="32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n_code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654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992373" y="2039111"/>
            <a:ext cx="1199515" cy="114300"/>
          </a:xfrm>
          <a:custGeom>
            <a:avLst/>
            <a:gdLst/>
            <a:ahLst/>
            <a:cxnLst/>
            <a:rect l="l" t="t" r="r" b="b"/>
            <a:pathLst>
              <a:path w="1199514" h="114300">
                <a:moveTo>
                  <a:pt x="1085088" y="0"/>
                </a:moveTo>
                <a:lnTo>
                  <a:pt x="1085088" y="114300"/>
                </a:lnTo>
                <a:lnTo>
                  <a:pt x="1161288" y="76200"/>
                </a:lnTo>
                <a:lnTo>
                  <a:pt x="1104138" y="76200"/>
                </a:lnTo>
                <a:lnTo>
                  <a:pt x="1104138" y="38100"/>
                </a:lnTo>
                <a:lnTo>
                  <a:pt x="1161288" y="38100"/>
                </a:lnTo>
                <a:lnTo>
                  <a:pt x="1085088" y="0"/>
                </a:lnTo>
                <a:close/>
              </a:path>
              <a:path w="1199514" h="114300">
                <a:moveTo>
                  <a:pt x="10850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85088" y="76200"/>
                </a:lnTo>
                <a:lnTo>
                  <a:pt x="1085088" y="38100"/>
                </a:lnTo>
                <a:close/>
              </a:path>
              <a:path w="1199514" h="114300">
                <a:moveTo>
                  <a:pt x="1161288" y="38100"/>
                </a:moveTo>
                <a:lnTo>
                  <a:pt x="1104138" y="38100"/>
                </a:lnTo>
                <a:lnTo>
                  <a:pt x="1104138" y="76200"/>
                </a:lnTo>
                <a:lnTo>
                  <a:pt x="1161288" y="76200"/>
                </a:lnTo>
                <a:lnTo>
                  <a:pt x="1199388" y="57150"/>
                </a:lnTo>
                <a:lnTo>
                  <a:pt x="11612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92373" y="3055620"/>
            <a:ext cx="1199515" cy="114300"/>
          </a:xfrm>
          <a:custGeom>
            <a:avLst/>
            <a:gdLst/>
            <a:ahLst/>
            <a:cxnLst/>
            <a:rect l="l" t="t" r="r" b="b"/>
            <a:pathLst>
              <a:path w="1199514" h="114300">
                <a:moveTo>
                  <a:pt x="1085088" y="0"/>
                </a:moveTo>
                <a:lnTo>
                  <a:pt x="1085088" y="114300"/>
                </a:lnTo>
                <a:lnTo>
                  <a:pt x="1161288" y="76200"/>
                </a:lnTo>
                <a:lnTo>
                  <a:pt x="1104138" y="76200"/>
                </a:lnTo>
                <a:lnTo>
                  <a:pt x="1104138" y="38100"/>
                </a:lnTo>
                <a:lnTo>
                  <a:pt x="1161288" y="38100"/>
                </a:lnTo>
                <a:lnTo>
                  <a:pt x="1085088" y="0"/>
                </a:lnTo>
                <a:close/>
              </a:path>
              <a:path w="1199514" h="114300">
                <a:moveTo>
                  <a:pt x="10850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85088" y="76200"/>
                </a:lnTo>
                <a:lnTo>
                  <a:pt x="1085088" y="38100"/>
                </a:lnTo>
                <a:close/>
              </a:path>
              <a:path w="1199514" h="114300">
                <a:moveTo>
                  <a:pt x="1161288" y="38100"/>
                </a:moveTo>
                <a:lnTo>
                  <a:pt x="1104138" y="38100"/>
                </a:lnTo>
                <a:lnTo>
                  <a:pt x="1104138" y="76200"/>
                </a:lnTo>
                <a:lnTo>
                  <a:pt x="1161288" y="76200"/>
                </a:lnTo>
                <a:lnTo>
                  <a:pt x="1199388" y="57150"/>
                </a:lnTo>
                <a:lnTo>
                  <a:pt x="11612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5142" y="880948"/>
            <a:ext cx="2224405" cy="25787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5"/>
              </a:spcBef>
              <a:buClr>
                <a:srgbClr val="00FFFF"/>
              </a:buClr>
              <a:buSzPct val="150000"/>
              <a:buFont typeface="Wingdings"/>
              <a:buChar char=""/>
              <a:tabLst>
                <a:tab pos="39370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代码区</a:t>
            </a:r>
            <a:endParaRPr sz="3200">
              <a:latin typeface="宋体"/>
              <a:cs typeface="宋体"/>
            </a:endParaRPr>
          </a:p>
          <a:p>
            <a:pPr marL="372745" marR="5080">
              <a:lnSpc>
                <a:spcPct val="208400"/>
              </a:lnSpc>
              <a:spcBef>
                <a:spcPts val="25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入口 函数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入口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2373" y="5233415"/>
            <a:ext cx="1199515" cy="114300"/>
          </a:xfrm>
          <a:custGeom>
            <a:avLst/>
            <a:gdLst/>
            <a:ahLst/>
            <a:cxnLst/>
            <a:rect l="l" t="t" r="r" b="b"/>
            <a:pathLst>
              <a:path w="1199514" h="114300">
                <a:moveTo>
                  <a:pt x="1085088" y="0"/>
                </a:moveTo>
                <a:lnTo>
                  <a:pt x="1085088" y="114300"/>
                </a:lnTo>
                <a:lnTo>
                  <a:pt x="1161288" y="76200"/>
                </a:lnTo>
                <a:lnTo>
                  <a:pt x="1104138" y="76200"/>
                </a:lnTo>
                <a:lnTo>
                  <a:pt x="1104138" y="38100"/>
                </a:lnTo>
                <a:lnTo>
                  <a:pt x="1161288" y="38100"/>
                </a:lnTo>
                <a:lnTo>
                  <a:pt x="1085088" y="0"/>
                </a:lnTo>
                <a:close/>
              </a:path>
              <a:path w="1199514" h="114300">
                <a:moveTo>
                  <a:pt x="10850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85088" y="76200"/>
                </a:lnTo>
                <a:lnTo>
                  <a:pt x="1085088" y="38100"/>
                </a:lnTo>
                <a:close/>
              </a:path>
              <a:path w="1199514" h="114300">
                <a:moveTo>
                  <a:pt x="1161288" y="38100"/>
                </a:moveTo>
                <a:lnTo>
                  <a:pt x="1104138" y="38100"/>
                </a:lnTo>
                <a:lnTo>
                  <a:pt x="1104138" y="76200"/>
                </a:lnTo>
                <a:lnTo>
                  <a:pt x="1161288" y="76200"/>
                </a:lnTo>
                <a:lnTo>
                  <a:pt x="1199388" y="57150"/>
                </a:lnTo>
                <a:lnTo>
                  <a:pt x="11612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4747" y="5123764"/>
            <a:ext cx="188531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函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入口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68349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8797" y="14732"/>
            <a:ext cx="37769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34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337" y="4592573"/>
            <a:ext cx="8269223" cy="1275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8337" y="4592573"/>
            <a:ext cx="8269605" cy="1275715"/>
          </a:xfrm>
          <a:prstGeom prst="rect">
            <a:avLst/>
          </a:prstGeom>
          <a:ln w="38100">
            <a:solidFill>
              <a:srgbClr val="336699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699770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latin typeface="宋体"/>
                <a:cs typeface="宋体"/>
              </a:rPr>
              <a:t>活动记录的组织依赖于目标</a:t>
            </a:r>
            <a:r>
              <a:rPr dirty="0" sz="3200" spc="-10" b="1">
                <a:latin typeface="宋体"/>
                <a:cs typeface="宋体"/>
              </a:rPr>
              <a:t>机</a:t>
            </a:r>
            <a:r>
              <a:rPr dirty="0" sz="3200" b="1">
                <a:latin typeface="宋体"/>
                <a:cs typeface="宋体"/>
              </a:rPr>
              <a:t>体系</a:t>
            </a:r>
            <a:r>
              <a:rPr dirty="0" sz="3200" spc="-10" b="1">
                <a:latin typeface="宋体"/>
                <a:cs typeface="宋体"/>
              </a:rPr>
              <a:t>结</a:t>
            </a:r>
            <a:r>
              <a:rPr dirty="0" sz="3200" b="1">
                <a:latin typeface="宋体"/>
                <a:cs typeface="宋体"/>
              </a:rPr>
              <a:t>构，</a:t>
            </a:r>
            <a:endParaRPr sz="3200">
              <a:latin typeface="宋体"/>
              <a:cs typeface="宋体"/>
            </a:endParaRPr>
          </a:p>
          <a:p>
            <a:pPr marL="90170">
              <a:lnSpc>
                <a:spcPct val="100000"/>
              </a:lnSpc>
              <a:spcBef>
                <a:spcPts val="1345"/>
              </a:spcBef>
            </a:pPr>
            <a:r>
              <a:rPr dirty="0" sz="3200" spc="-5" b="1">
                <a:latin typeface="宋体"/>
                <a:cs typeface="宋体"/>
              </a:rPr>
              <a:t>被编译的语言特性等。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8617" y="0"/>
            <a:ext cx="8094980" cy="398208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962025">
              <a:lnSpc>
                <a:spcPct val="100000"/>
              </a:lnSpc>
              <a:spcBef>
                <a:spcPts val="1180"/>
              </a:spcBef>
              <a:tabLst>
                <a:tab pos="1600835" algn="l"/>
                <a:tab pos="37922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8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50">
              <a:latin typeface="华文新魏"/>
              <a:cs typeface="华文新魏"/>
            </a:endParaRPr>
          </a:p>
          <a:p>
            <a:pPr marL="506730" indent="-494665">
              <a:lnSpc>
                <a:spcPct val="100000"/>
              </a:lnSpc>
              <a:buClr>
                <a:srgbClr val="00FFFF"/>
              </a:buClr>
              <a:buSzPct val="154687"/>
              <a:buFont typeface="Wingdings"/>
              <a:buChar char=""/>
              <a:tabLst>
                <a:tab pos="507365" algn="l"/>
              </a:tabLst>
            </a:pPr>
            <a:r>
              <a:rPr dirty="0" u="heavy" sz="3200" spc="-5" b="1">
                <a:solidFill>
                  <a:srgbClr val="EAEAEA"/>
                </a:solidFill>
                <a:uFill>
                  <a:solidFill>
                    <a:srgbClr val="EAEAEA"/>
                  </a:solidFill>
                </a:uFill>
                <a:latin typeface="宋体"/>
                <a:cs typeface="宋体"/>
                <a:hlinkClick r:id="rId4" action="ppaction://hlinksldjump"/>
              </a:rPr>
              <a:t>存储分配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的重要单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元─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过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程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的活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动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记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录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AR</a:t>
            </a:r>
            <a:endParaRPr sz="3200">
              <a:latin typeface="Times New Roman"/>
              <a:cs typeface="Times New Roman"/>
            </a:endParaRPr>
          </a:p>
          <a:p>
            <a:pPr marL="2219325">
              <a:lnSpc>
                <a:spcPct val="100000"/>
              </a:lnSpc>
              <a:spcBef>
                <a:spcPts val="192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Procedure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ctivation</a:t>
            </a:r>
            <a:r>
              <a:rPr dirty="0" sz="3200" spc="-2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ecord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439420" marR="93980" indent="614045">
              <a:lnSpc>
                <a:spcPct val="149400"/>
              </a:lnSpc>
              <a:spcBef>
                <a:spcPts val="217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一块连续的存储区，被用来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放过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或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函数的一次调用执行所需要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信息。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3247" y="26923"/>
            <a:ext cx="86499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  <a:tab pos="3784600" algn="l"/>
                <a:tab pos="42926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h7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语义分析</a:t>
            </a:r>
            <a:r>
              <a:rPr dirty="0" sz="2000" spc="-1720" b="1">
                <a:solidFill>
                  <a:srgbClr val="A15100"/>
                </a:solidFill>
                <a:latin typeface="宋体"/>
                <a:cs typeface="宋体"/>
              </a:rPr>
              <a:t>与</a:t>
            </a:r>
            <a:r>
              <a:rPr dirty="0" sz="2000" spc="-42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spc="-1170" b="1">
                <a:solidFill>
                  <a:srgbClr val="A15100"/>
                </a:solidFill>
                <a:latin typeface="宋体"/>
                <a:cs typeface="宋体"/>
              </a:rPr>
              <a:t>中</a:t>
            </a:r>
            <a:r>
              <a:rPr dirty="0" sz="2000" spc="17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间</a:t>
            </a:r>
            <a:r>
              <a:rPr dirty="0" sz="2000" spc="-1705" b="1">
                <a:solidFill>
                  <a:srgbClr val="A15100"/>
                </a:solidFill>
                <a:latin typeface="宋体"/>
                <a:cs typeface="宋体"/>
              </a:rPr>
              <a:t>代</a:t>
            </a:r>
            <a:r>
              <a:rPr dirty="0" sz="2000" spc="-305" b="1">
                <a:solidFill>
                  <a:srgbClr val="A15100"/>
                </a:solidFill>
                <a:latin typeface="宋体"/>
                <a:cs typeface="宋体"/>
              </a:rPr>
              <a:t>运</a:t>
            </a:r>
            <a:r>
              <a:rPr dirty="0" sz="2000" spc="-1705" b="1">
                <a:solidFill>
                  <a:srgbClr val="A15100"/>
                </a:solidFill>
                <a:latin typeface="宋体"/>
                <a:cs typeface="宋体"/>
              </a:rPr>
              <a:t>码</a:t>
            </a:r>
            <a:r>
              <a:rPr dirty="0" sz="2000" spc="-305" b="1">
                <a:solidFill>
                  <a:srgbClr val="A15100"/>
                </a:solidFill>
                <a:latin typeface="宋体"/>
                <a:cs typeface="宋体"/>
              </a:rPr>
              <a:t>行</a:t>
            </a:r>
            <a:r>
              <a:rPr dirty="0" sz="2000" spc="-1705" b="1">
                <a:solidFill>
                  <a:srgbClr val="A15100"/>
                </a:solidFill>
                <a:latin typeface="宋体"/>
                <a:cs typeface="宋体"/>
              </a:rPr>
              <a:t>生</a:t>
            </a:r>
            <a:r>
              <a:rPr dirty="0" sz="2000" spc="-305" b="1">
                <a:solidFill>
                  <a:srgbClr val="A15100"/>
                </a:solidFill>
                <a:latin typeface="宋体"/>
                <a:cs typeface="宋体"/>
              </a:rPr>
              <a:t>环</a:t>
            </a:r>
            <a:r>
              <a:rPr dirty="0" sz="2000" spc="-1705" b="1">
                <a:solidFill>
                  <a:srgbClr val="A15100"/>
                </a:solidFill>
                <a:latin typeface="宋体"/>
                <a:cs typeface="宋体"/>
              </a:rPr>
              <a:t>成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境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7.6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语</a:t>
            </a:r>
            <a:r>
              <a:rPr dirty="0" sz="2000" spc="-685" b="1">
                <a:solidFill>
                  <a:srgbClr val="A15100"/>
                </a:solidFill>
                <a:latin typeface="宋体"/>
                <a:cs typeface="宋体"/>
              </a:rPr>
              <a:t>句</a:t>
            </a:r>
            <a:r>
              <a:rPr dirty="0" u="sng" sz="2000" spc="-3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</a:t>
            </a:r>
            <a:r>
              <a:rPr dirty="0" u="sng" sz="2000" spc="-170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翻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.1</a:t>
            </a:r>
            <a:r>
              <a:rPr dirty="0" u="sng" sz="2000" spc="-3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73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译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关</a:t>
            </a:r>
            <a:r>
              <a:rPr dirty="0" u="sng" sz="2000" spc="-3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于</a:t>
            </a:r>
            <a:r>
              <a:rPr dirty="0" u="sng" sz="2000" spc="-68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</a:t>
            </a:r>
            <a:r>
              <a:rPr dirty="0" u="sng" sz="2000" spc="-132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存</a:t>
            </a:r>
            <a:r>
              <a:rPr dirty="0" u="sng" sz="2000" spc="-9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.6</a:t>
            </a:r>
            <a:r>
              <a:rPr dirty="0" u="sng" sz="2000" spc="-183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.5</a:t>
            </a:r>
            <a:r>
              <a:rPr dirty="0" u="sng" sz="2000" spc="-2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13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组</a:t>
            </a:r>
            <a:r>
              <a:rPr dirty="0" u="sng" sz="2000" spc="-6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函</a:t>
            </a:r>
            <a:r>
              <a:rPr dirty="0" u="sng" sz="2000" spc="-135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织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宋体"/>
                <a:cs typeface="宋体"/>
              </a:rPr>
              <a:t>数说明与调用翻译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388750"/>
            <a:ext cx="7988934" cy="2562860"/>
          </a:xfrm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3200">
                <a:latin typeface="宋体"/>
                <a:cs typeface="宋体"/>
              </a:rPr>
              <a:t>函数调用的语义处理：</a:t>
            </a:r>
            <a:endParaRPr sz="3200">
              <a:latin typeface="宋体"/>
              <a:cs typeface="宋体"/>
            </a:endParaRPr>
          </a:p>
          <a:p>
            <a:pPr algn="just" marL="1029335" marR="5080" indent="-607060">
              <a:lnSpc>
                <a:spcPct val="130000"/>
              </a:lnSpc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3200" spc="-7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检查所调用的过程或函数</a:t>
            </a:r>
            <a:r>
              <a:rPr dirty="0" sz="3200" spc="-1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否定</a:t>
            </a:r>
            <a:r>
              <a:rPr dirty="0" sz="3200" spc="-15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；与 </a:t>
            </a: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所定义的过程或函数的</a:t>
            </a:r>
            <a:r>
              <a:rPr dirty="0" sz="3200" spc="-15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3200" spc="5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实参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形 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参的数量及类型是否一</a:t>
            </a:r>
            <a:r>
              <a:rPr dirty="0" sz="3200" spc="-15">
                <a:solidFill>
                  <a:srgbClr val="FFFFFF"/>
                </a:solidFill>
                <a:latin typeface="宋体"/>
                <a:cs typeface="宋体"/>
              </a:rPr>
              <a:t>致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7136" y="3095244"/>
            <a:ext cx="7999730" cy="1271270"/>
          </a:xfrm>
          <a:prstGeom prst="rect">
            <a:avLst/>
          </a:prstGeom>
          <a:ln w="57150">
            <a:solidFill>
              <a:srgbClr val="FF99CC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20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3200" spc="-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给被调过程或函数分配活动</a:t>
            </a:r>
            <a:r>
              <a:rPr dirty="0" sz="3200" spc="-10" b="1">
                <a:solidFill>
                  <a:srgbClr val="FFFF00"/>
                </a:solidFill>
                <a:latin typeface="宋体"/>
                <a:cs typeface="宋体"/>
              </a:rPr>
              <a:t>记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录所需</a:t>
            </a:r>
            <a:endParaRPr sz="32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的存储空间；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914" y="4147812"/>
            <a:ext cx="7169150" cy="257937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计算并传送实参；</a:t>
            </a:r>
            <a:endParaRPr sz="3200">
              <a:latin typeface="宋体"/>
              <a:cs typeface="宋体"/>
            </a:endParaRPr>
          </a:p>
          <a:p>
            <a:pPr marL="617220" marR="5080" indent="-605155">
              <a:lnSpc>
                <a:spcPct val="130000"/>
              </a:lnSpc>
              <a:spcBef>
                <a:spcPts val="11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④</a:t>
            </a:r>
            <a:r>
              <a:rPr dirty="0" sz="3200" spc="-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加载调用结果和返回地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恢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复主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调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用过程或函数的继续执行；</a:t>
            </a:r>
            <a:endParaRPr sz="3200">
              <a:latin typeface="宋体"/>
              <a:cs typeface="宋体"/>
            </a:endParaRPr>
          </a:p>
          <a:p>
            <a:pPr marL="83820">
              <a:lnSpc>
                <a:spcPct val="100000"/>
              </a:lnSpc>
              <a:spcBef>
                <a:spcPts val="107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⑤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转向相应的过程或函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66060" y="1574291"/>
          <a:ext cx="2910205" cy="4688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3055"/>
              </a:tblGrid>
              <a:tr h="662939">
                <a:tc>
                  <a:txBody>
                    <a:bodyPr/>
                    <a:lstStyle/>
                    <a:p>
                      <a:pPr marL="35369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自变量实参空间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498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65988"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局部数据空间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9969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marL="2381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局部临时变量空间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B="0" marT="11176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65988"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机器状态信息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11874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marL="39116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返回地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址</a:t>
                      </a:r>
                      <a:r>
                        <a:rPr dirty="0" sz="2800" spc="-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RA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652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64463">
                <a:tc>
                  <a:txBody>
                    <a:bodyPr/>
                    <a:lstStyle/>
                    <a:p>
                      <a:pPr marL="6286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存取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链</a:t>
                      </a:r>
                      <a:r>
                        <a:rPr dirty="0" sz="2800" spc="-70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SL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74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64464">
                <a:tc>
                  <a:txBody>
                    <a:bodyPr/>
                    <a:lstStyle/>
                    <a:p>
                      <a:pPr marL="58039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控制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链</a:t>
                      </a:r>
                      <a:r>
                        <a:rPr dirty="0" sz="2800" spc="-7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66FFFF"/>
                          </a:solidFill>
                          <a:latin typeface="Times New Roman"/>
                          <a:cs typeface="Times New Roman"/>
                        </a:rPr>
                        <a:t>DL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033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35940" y="748030"/>
            <a:ext cx="376745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86409" indent="-474345">
              <a:lnSpc>
                <a:spcPct val="100000"/>
              </a:lnSpc>
              <a:spcBef>
                <a:spcPts val="105"/>
              </a:spcBef>
              <a:buClr>
                <a:srgbClr val="00FFFF"/>
              </a:buClr>
              <a:buSzPct val="145312"/>
              <a:buFont typeface="Wingdings"/>
              <a:buChar char=""/>
              <a:tabLst>
                <a:tab pos="48704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活动记录基本内容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68349" y="14732"/>
            <a:ext cx="6607809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842895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7.1</a:t>
            </a:r>
            <a:r>
              <a:rPr dirty="0" u="sng" sz="2000" spc="434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1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关于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程序</a:t>
            </a:r>
            <a:r>
              <a:rPr dirty="0" u="sng" sz="2000" spc="-1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行环</a:t>
            </a:r>
            <a:r>
              <a:rPr dirty="0" u="sng" sz="2000" spc="-1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与存</a:t>
            </a:r>
            <a:r>
              <a:rPr dirty="0" u="sng" sz="2000" spc="-1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组</a:t>
            </a:r>
            <a:r>
              <a:rPr dirty="0" u="sng" sz="2000" spc="-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织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105"/>
              </a:spcBef>
              <a:tabLst>
                <a:tab pos="2159000" algn="l"/>
              </a:tabLst>
            </a:pPr>
            <a:r>
              <a:rPr dirty="0" spc="-15"/>
              <a:t>第</a:t>
            </a:r>
            <a:r>
              <a:rPr dirty="0" spc="-955"/>
              <a:t> </a:t>
            </a:r>
            <a:r>
              <a:rPr dirty="0">
                <a:latin typeface="Times New Roman"/>
                <a:cs typeface="Times New Roman"/>
              </a:rPr>
              <a:t>7 </a:t>
            </a:r>
            <a:r>
              <a:rPr dirty="0" spc="-15"/>
              <a:t>章	运</a:t>
            </a:r>
            <a:r>
              <a:rPr dirty="0" spc="-980"/>
              <a:t> </a:t>
            </a:r>
            <a:r>
              <a:rPr dirty="0" spc="-15"/>
              <a:t>行</a:t>
            </a:r>
            <a:r>
              <a:rPr dirty="0" spc="-980"/>
              <a:t> </a:t>
            </a:r>
            <a:r>
              <a:rPr dirty="0" spc="-15"/>
              <a:t>环</a:t>
            </a:r>
            <a:r>
              <a:rPr dirty="0" spc="-985"/>
              <a:t> </a:t>
            </a:r>
            <a:r>
              <a:rPr dirty="0" spc="-15"/>
              <a:t>境</a:t>
            </a: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29990" y="14732"/>
            <a:ext cx="168528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h7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04659" y="3450335"/>
            <a:ext cx="1984375" cy="722630"/>
          </a:xfrm>
          <a:custGeom>
            <a:avLst/>
            <a:gdLst/>
            <a:ahLst/>
            <a:cxnLst/>
            <a:rect l="l" t="t" r="r" b="b"/>
            <a:pathLst>
              <a:path w="1984375" h="722629">
                <a:moveTo>
                  <a:pt x="496189" y="0"/>
                </a:moveTo>
                <a:lnTo>
                  <a:pt x="0" y="361188"/>
                </a:lnTo>
                <a:lnTo>
                  <a:pt x="496189" y="722376"/>
                </a:lnTo>
                <a:lnTo>
                  <a:pt x="496189" y="541782"/>
                </a:lnTo>
                <a:lnTo>
                  <a:pt x="1984248" y="541782"/>
                </a:lnTo>
                <a:lnTo>
                  <a:pt x="1984248" y="180594"/>
                </a:lnTo>
                <a:lnTo>
                  <a:pt x="496189" y="180594"/>
                </a:lnTo>
                <a:lnTo>
                  <a:pt x="49618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04659" y="3450335"/>
            <a:ext cx="1984375" cy="722630"/>
          </a:xfrm>
          <a:custGeom>
            <a:avLst/>
            <a:gdLst/>
            <a:ahLst/>
            <a:cxnLst/>
            <a:rect l="l" t="t" r="r" b="b"/>
            <a:pathLst>
              <a:path w="1984375" h="722629">
                <a:moveTo>
                  <a:pt x="0" y="361188"/>
                </a:moveTo>
                <a:lnTo>
                  <a:pt x="496189" y="0"/>
                </a:lnTo>
                <a:lnTo>
                  <a:pt x="496189" y="180594"/>
                </a:lnTo>
                <a:lnTo>
                  <a:pt x="1984248" y="180594"/>
                </a:lnTo>
                <a:lnTo>
                  <a:pt x="1984248" y="541782"/>
                </a:lnTo>
                <a:lnTo>
                  <a:pt x="496189" y="541782"/>
                </a:lnTo>
                <a:lnTo>
                  <a:pt x="496189" y="722376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7540" y="2561285"/>
            <a:ext cx="8056245" cy="249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698500" indent="-68580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关</a:t>
            </a: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于程序</a:t>
            </a: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运行环境与存储组织</a:t>
            </a:r>
            <a:endParaRPr sz="3600">
              <a:latin typeface="宋体"/>
              <a:cs typeface="宋体"/>
            </a:endParaRPr>
          </a:p>
          <a:p>
            <a:pPr lvl="1" marL="698500" indent="-685800">
              <a:lnSpc>
                <a:spcPct val="100000"/>
              </a:lnSpc>
              <a:spcBef>
                <a:spcPts val="3245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静态运行时环境与存储分配</a:t>
            </a:r>
            <a:endParaRPr sz="3600">
              <a:latin typeface="宋体"/>
              <a:cs typeface="宋体"/>
            </a:endParaRPr>
          </a:p>
          <a:p>
            <a:pPr lvl="1" marL="698500" indent="-685800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基于栈的运行时环境的动态存储分配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26360" y="14732"/>
            <a:ext cx="489013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780" algn="l"/>
                <a:tab pos="2785110" algn="l"/>
                <a:tab pos="335026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r>
              <a:rPr dirty="0" sz="2000">
                <a:solidFill>
                  <a:srgbClr val="A15100"/>
                </a:solidFill>
                <a:latin typeface="华文新魏"/>
                <a:cs typeface="华文新魏"/>
              </a:rPr>
              <a:t>	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</a:t>
            </a:r>
            <a:r>
              <a:rPr dirty="0" u="sng" sz="2000" spc="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1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静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7042" y="731265"/>
            <a:ext cx="7878445" cy="35642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86409" indent="-474345">
              <a:lnSpc>
                <a:spcPct val="100000"/>
              </a:lnSpc>
              <a:spcBef>
                <a:spcPts val="105"/>
              </a:spcBef>
              <a:buClr>
                <a:srgbClr val="00FFFF"/>
              </a:buClr>
              <a:buSzPct val="145312"/>
              <a:buFont typeface="Wingdings"/>
              <a:buChar char=""/>
              <a:tabLst>
                <a:tab pos="48704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静态存储分配</a:t>
            </a:r>
            <a:endParaRPr sz="3200">
              <a:latin typeface="宋体"/>
              <a:cs typeface="宋体"/>
            </a:endParaRPr>
          </a:p>
          <a:p>
            <a:pPr algn="just" marL="102870" marR="5080" indent="816610">
              <a:lnSpc>
                <a:spcPct val="148600"/>
              </a:lnSpc>
              <a:spcBef>
                <a:spcPts val="119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在编译时能够确定目标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序运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时所需 的全部数据空间的大小，即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编译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就可以 将程序中的名字关联到存储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元，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定其存 储位置，这种分配策略称为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态存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分配。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93877"/>
            <a:ext cx="600075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840" algn="l"/>
              </a:tabLst>
            </a:pPr>
            <a:r>
              <a:rPr dirty="0" sz="3200">
                <a:latin typeface="宋体"/>
                <a:cs typeface="宋体"/>
              </a:rPr>
              <a:t>例</a:t>
            </a:r>
            <a:r>
              <a:rPr dirty="0" sz="3200">
                <a:latin typeface="Times New Roman"/>
                <a:cs typeface="Times New Roman"/>
              </a:rPr>
              <a:t>7.1	</a:t>
            </a:r>
            <a:r>
              <a:rPr dirty="0" sz="3200">
                <a:latin typeface="宋体"/>
                <a:cs typeface="宋体"/>
              </a:rPr>
              <a:t>给出</a:t>
            </a:r>
            <a:r>
              <a:rPr dirty="0" sz="3200" spc="-15">
                <a:latin typeface="Times New Roman"/>
                <a:cs typeface="Times New Roman"/>
              </a:rPr>
              <a:t>FORTRAN</a:t>
            </a:r>
            <a:r>
              <a:rPr dirty="0" sz="3200" spc="-5">
                <a:latin typeface="宋体"/>
                <a:cs typeface="宋体"/>
              </a:rPr>
              <a:t>程序</a:t>
            </a:r>
            <a:r>
              <a:rPr dirty="0" sz="3200" spc="-10">
                <a:latin typeface="宋体"/>
                <a:cs typeface="宋体"/>
              </a:rPr>
              <a:t>如</a:t>
            </a:r>
            <a:r>
              <a:rPr dirty="0" sz="3200" spc="5">
                <a:latin typeface="宋体"/>
                <a:cs typeface="宋体"/>
              </a:rPr>
              <a:t>下</a:t>
            </a:r>
            <a:r>
              <a:rPr dirty="0" sz="3200" spc="-1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96311" y="803529"/>
          <a:ext cx="5657850" cy="2068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7060"/>
                <a:gridCol w="1481455"/>
                <a:gridCol w="2242820"/>
              </a:tblGrid>
              <a:tr h="560070">
                <a:tc>
                  <a:txBody>
                    <a:bodyPr/>
                    <a:lstStyle/>
                    <a:p>
                      <a:pPr marL="255904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2400" spc="-1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2400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OGRAM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R w="76200">
                      <a:solidFill>
                        <a:srgbClr val="FF99CC"/>
                      </a:solidFill>
                      <a:prstDash val="solid"/>
                    </a:lnR>
                    <a:lnB w="38100">
                      <a:solidFill>
                        <a:srgbClr val="99FF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CNSUME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L w="76200">
                      <a:solidFill>
                        <a:srgbClr val="FF99CC"/>
                      </a:solidFill>
                      <a:prstDash val="solid"/>
                    </a:lnL>
                    <a:lnR w="76200">
                      <a:solidFill>
                        <a:srgbClr val="FF99CC"/>
                      </a:solidFill>
                      <a:prstDash val="solid"/>
                    </a:lnR>
                    <a:lnT w="76200">
                      <a:solidFill>
                        <a:srgbClr val="FF99CC"/>
                      </a:solidFill>
                      <a:prstDash val="solid"/>
                    </a:lnT>
                    <a:lnB w="76200">
                      <a:solidFill>
                        <a:srgbClr val="FF99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CC"/>
                      </a:solidFill>
                      <a:prstDash val="solid"/>
                    </a:lnL>
                    <a:lnB w="38100">
                      <a:solidFill>
                        <a:srgbClr val="99FF99"/>
                      </a:solidFill>
                      <a:prstDash val="solid"/>
                    </a:lnB>
                  </a:tcPr>
                </a:tc>
              </a:tr>
              <a:tr h="1459991">
                <a:tc gridSpan="3">
                  <a:txBody>
                    <a:bodyPr/>
                    <a:lstStyle/>
                    <a:p>
                      <a:pPr marL="86486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CHARACTER 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*50</a:t>
                      </a:r>
                      <a:r>
                        <a:rPr dirty="0" sz="2400" spc="5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BUF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41069" marR="965200">
                        <a:lnSpc>
                          <a:spcPct val="135000"/>
                        </a:lnSpc>
                        <a:tabLst>
                          <a:tab pos="2576830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INTEGER	</a:t>
                      </a:r>
                      <a:r>
                        <a:rPr dirty="0" sz="24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NEXT 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CHARACTER 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, PRDUCE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38100">
                      <a:solidFill>
                        <a:srgbClr val="99FF99"/>
                      </a:solidFill>
                      <a:prstDash val="solid"/>
                    </a:lnL>
                    <a:lnR w="38100">
                      <a:solidFill>
                        <a:srgbClr val="99FF99"/>
                      </a:solidFill>
                      <a:prstDash val="solid"/>
                    </a:lnR>
                    <a:lnT w="76200">
                      <a:solidFill>
                        <a:srgbClr val="FF99CC"/>
                      </a:solidFill>
                      <a:prstDash val="solid"/>
                    </a:lnT>
                    <a:lnB w="38100">
                      <a:solidFill>
                        <a:srgbClr val="99FF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758567" y="3377565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4894" y="779280"/>
            <a:ext cx="534035" cy="545909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(1)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(2)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(3)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(4)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(5)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(6)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(7)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(8)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(9)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(10)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400" spc="-35" b="1">
                <a:solidFill>
                  <a:srgbClr val="00FFFF"/>
                </a:solidFill>
                <a:latin typeface="Times New Roman"/>
                <a:cs typeface="Times New Roman"/>
              </a:rPr>
              <a:t>(11)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6602" y="2755773"/>
            <a:ext cx="4099560" cy="3482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6409" marR="5080">
              <a:lnSpc>
                <a:spcPct val="135000"/>
              </a:lnSpc>
              <a:spcBef>
                <a:spcPts val="100"/>
              </a:spcBef>
            </a:pPr>
            <a:r>
              <a:rPr dirty="0" sz="2400" spc="-95" b="1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NEXT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/ 1 /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,BUF/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' '</a:t>
            </a:r>
            <a:r>
              <a:rPr dirty="0" sz="24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/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C=PRDUCE(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BUF(NEXT:NEXT)=C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NEXT=NEXT+1</a:t>
            </a:r>
            <a:endParaRPr sz="2400">
              <a:latin typeface="Times New Roman"/>
              <a:cs typeface="Times New Roman"/>
            </a:endParaRPr>
          </a:p>
          <a:p>
            <a:pPr marL="486409">
              <a:lnSpc>
                <a:spcPct val="100000"/>
              </a:lnSpc>
              <a:spcBef>
                <a:spcPts val="1005"/>
              </a:spcBef>
              <a:tabLst>
                <a:tab pos="218884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IF(C.NE.'</a:t>
            </a:r>
            <a:r>
              <a:rPr dirty="0" sz="24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')	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GOTO</a:t>
            </a: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12700" marR="622300" indent="469265">
              <a:lnSpc>
                <a:spcPct val="135000"/>
              </a:lnSpc>
              <a:spcBef>
                <a:spcPts val="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WRITE(*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 '(A)' )</a:t>
            </a:r>
            <a:r>
              <a:rPr dirty="0" sz="2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BUF  </a:t>
            </a:r>
            <a:r>
              <a:rPr dirty="0" sz="2400" spc="-10" b="1">
                <a:solidFill>
                  <a:srgbClr val="00FFFF"/>
                </a:solidFill>
                <a:latin typeface="Times New Roman"/>
                <a:cs typeface="Times New Roman"/>
              </a:rPr>
              <a:t>END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93877"/>
            <a:ext cx="600075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840" algn="l"/>
              </a:tabLst>
            </a:pPr>
            <a:r>
              <a:rPr dirty="0" sz="3200">
                <a:latin typeface="宋体"/>
                <a:cs typeface="宋体"/>
              </a:rPr>
              <a:t>例</a:t>
            </a:r>
            <a:r>
              <a:rPr dirty="0" sz="3200">
                <a:latin typeface="Times New Roman"/>
                <a:cs typeface="Times New Roman"/>
              </a:rPr>
              <a:t>7.1	</a:t>
            </a:r>
            <a:r>
              <a:rPr dirty="0" sz="3200">
                <a:latin typeface="宋体"/>
                <a:cs typeface="宋体"/>
              </a:rPr>
              <a:t>给出</a:t>
            </a:r>
            <a:r>
              <a:rPr dirty="0" sz="3200" spc="-15">
                <a:latin typeface="Times New Roman"/>
                <a:cs typeface="Times New Roman"/>
              </a:rPr>
              <a:t>FORTRAN</a:t>
            </a:r>
            <a:r>
              <a:rPr dirty="0" sz="3200" spc="-5">
                <a:latin typeface="宋体"/>
                <a:cs typeface="宋体"/>
              </a:rPr>
              <a:t>程序</a:t>
            </a:r>
            <a:r>
              <a:rPr dirty="0" sz="3200" spc="-10">
                <a:latin typeface="宋体"/>
                <a:cs typeface="宋体"/>
              </a:rPr>
              <a:t>如</a:t>
            </a:r>
            <a:r>
              <a:rPr dirty="0" sz="3200" spc="5">
                <a:latin typeface="宋体"/>
                <a:cs typeface="宋体"/>
              </a:rPr>
              <a:t>下</a:t>
            </a:r>
            <a:r>
              <a:rPr dirty="0" sz="3200" spc="-1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96311" y="774573"/>
          <a:ext cx="5686425" cy="1437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3815"/>
                <a:gridCol w="1756410"/>
              </a:tblGrid>
              <a:tr h="436626">
                <a:tc>
                  <a:txBody>
                    <a:bodyPr/>
                    <a:lstStyle/>
                    <a:p>
                      <a:pPr marL="179070">
                        <a:lnSpc>
                          <a:spcPts val="2845"/>
                        </a:lnSpc>
                        <a:spcBef>
                          <a:spcPts val="490"/>
                        </a:spcBef>
                      </a:pP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CHARACTER FUNCTION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R w="76200">
                      <a:solidFill>
                        <a:srgbClr val="FF99CC"/>
                      </a:solidFill>
                      <a:prstDash val="solid"/>
                    </a:lnR>
                    <a:lnB w="38100">
                      <a:solidFill>
                        <a:srgbClr val="99FF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2845"/>
                        </a:lnSpc>
                        <a:spcBef>
                          <a:spcPts val="490"/>
                        </a:spcBef>
                      </a:pP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PRDUCE</a:t>
                      </a:r>
                      <a:r>
                        <a:rPr dirty="0" sz="2400" spc="-5" b="1">
                          <a:solidFill>
                            <a:srgbClr val="00FFFF"/>
                          </a:solidFill>
                          <a:latin typeface="Times New Roman"/>
                          <a:cs typeface="Times New Roman"/>
                        </a:rPr>
                        <a:t>()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L w="76200">
                      <a:solidFill>
                        <a:srgbClr val="FF99CC"/>
                      </a:solidFill>
                      <a:prstDash val="solid"/>
                    </a:lnL>
                    <a:lnR w="76200">
                      <a:solidFill>
                        <a:srgbClr val="FF99CC"/>
                      </a:solidFill>
                      <a:prstDash val="solid"/>
                    </a:lnR>
                    <a:lnT w="76200">
                      <a:solidFill>
                        <a:srgbClr val="FF99CC"/>
                      </a:solidFill>
                      <a:prstDash val="solid"/>
                    </a:lnT>
                    <a:lnB w="38100">
                      <a:solidFill>
                        <a:srgbClr val="99FF99"/>
                      </a:solidFill>
                      <a:prstDash val="solid"/>
                    </a:lnB>
                  </a:tcPr>
                </a:tc>
              </a:tr>
              <a:tr h="122681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99FF99"/>
                      </a:solidFill>
                      <a:prstDash val="solid"/>
                    </a:lnL>
                    <a:lnR w="76200">
                      <a:solidFill>
                        <a:srgbClr val="FF99CC"/>
                      </a:solidFill>
                      <a:prstDash val="solid"/>
                    </a:lnR>
                    <a:lnT w="38100">
                      <a:solidFill>
                        <a:srgbClr val="99FF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99CC"/>
                      </a:solidFill>
                      <a:prstDash val="solid"/>
                    </a:lnL>
                    <a:lnR w="38100">
                      <a:solidFill>
                        <a:srgbClr val="FF99CC"/>
                      </a:solidFill>
                      <a:prstDash val="solid"/>
                    </a:lnR>
                    <a:lnT w="38100">
                      <a:solidFill>
                        <a:srgbClr val="99FF99"/>
                      </a:solidFill>
                      <a:prstDash val="solid"/>
                    </a:lnT>
                    <a:lnB w="76200">
                      <a:solidFill>
                        <a:srgbClr val="FF99CC"/>
                      </a:solidFill>
                      <a:prstDash val="solid"/>
                    </a:lnB>
                  </a:tcPr>
                </a:tc>
              </a:tr>
              <a:tr h="829818">
                <a:tc gridSpan="2">
                  <a:txBody>
                    <a:bodyPr/>
                    <a:lstStyle/>
                    <a:p>
                      <a:pPr marL="636905">
                        <a:lnSpc>
                          <a:spcPts val="2430"/>
                        </a:lnSpc>
                        <a:tabLst>
                          <a:tab pos="2832735" algn="l"/>
                          <a:tab pos="3442335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CHARACTER	</a:t>
                      </a:r>
                      <a:r>
                        <a:rPr dirty="0" sz="240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*80	</a:t>
                      </a:r>
                      <a:r>
                        <a:rPr dirty="0" sz="2400" spc="-5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BUFFER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369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INTEGER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00"/>
                          </a:solidFill>
                          <a:latin typeface="Times New Roman"/>
                          <a:cs typeface="Times New Roman"/>
                        </a:rPr>
                        <a:t>NEXT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99FF99"/>
                      </a:solidFill>
                      <a:prstDash val="solid"/>
                    </a:lnL>
                    <a:lnR w="38100">
                      <a:solidFill>
                        <a:srgbClr val="99FF99"/>
                      </a:solidFill>
                      <a:prstDash val="solid"/>
                    </a:lnR>
                    <a:lnB w="38100">
                      <a:solidFill>
                        <a:srgbClr val="99FF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88694" y="779335"/>
            <a:ext cx="534035" cy="529463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>
                <a:solidFill>
                  <a:srgbClr val="00FFFF"/>
                </a:solidFill>
                <a:latin typeface="Times New Roman"/>
                <a:cs typeface="Times New Roman"/>
              </a:rPr>
              <a:t>12</a:t>
            </a: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(13)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(14)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(16)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(17)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(19)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(20)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21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(22)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(23)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967" y="2096580"/>
            <a:ext cx="4889500" cy="397764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680"/>
              </a:spcBef>
            </a:pPr>
            <a:r>
              <a:rPr dirty="0" sz="2400" spc="-80" b="1">
                <a:solidFill>
                  <a:srgbClr val="FFFFFF"/>
                </a:solidFill>
                <a:latin typeface="Times New Roman"/>
                <a:cs typeface="Times New Roman"/>
              </a:rPr>
              <a:t>SAVE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BUFFER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spc="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dirty="0" sz="2400" spc="-95" b="1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dirty="0" sz="2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/81/</a:t>
            </a:r>
            <a:endParaRPr sz="2400">
              <a:latin typeface="Times New Roman"/>
              <a:cs typeface="Times New Roman"/>
            </a:endParaRPr>
          </a:p>
          <a:p>
            <a:pPr marL="241300" marR="1075055">
              <a:lnSpc>
                <a:spcPct val="12000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(NEXT.GT.80)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THEN 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READ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 * , '(A)' )</a:t>
            </a:r>
            <a:r>
              <a:rPr dirty="0" sz="2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BUFFER</a:t>
            </a:r>
            <a:endParaRPr sz="2400">
              <a:latin typeface="Times New Roman"/>
              <a:cs typeface="Times New Roman"/>
            </a:endParaRPr>
          </a:p>
          <a:p>
            <a:pPr marL="241300" marR="3469640">
              <a:lnSpc>
                <a:spcPct val="120000"/>
              </a:lnSpc>
              <a:spcBef>
                <a:spcPts val="5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18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1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T)</a:t>
            </a:r>
            <a:endParaRPr sz="2400">
              <a:latin typeface="Times New Roman"/>
              <a:cs typeface="Times New Roman"/>
            </a:endParaRPr>
          </a:p>
          <a:p>
            <a:pPr marL="12700" marR="2451735" indent="228600">
              <a:lnSpc>
                <a:spcPct val="120000"/>
              </a:lnSpc>
              <a:spcBef>
                <a:spcPts val="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=N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+1  </a:t>
            </a:r>
            <a:r>
              <a:rPr dirty="0" sz="2400" spc="-10" b="1">
                <a:solidFill>
                  <a:srgbClr val="00FFFF"/>
                </a:solidFill>
                <a:latin typeface="Times New Roman"/>
                <a:cs typeface="Times New Roman"/>
              </a:rPr>
              <a:t>END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869" y="5144261"/>
            <a:ext cx="3789045" cy="7620"/>
          </a:xfrm>
          <a:custGeom>
            <a:avLst/>
            <a:gdLst/>
            <a:ahLst/>
            <a:cxnLst/>
            <a:rect l="l" t="t" r="r" b="b"/>
            <a:pathLst>
              <a:path w="3789045" h="7620">
                <a:moveTo>
                  <a:pt x="0" y="0"/>
                </a:moveTo>
                <a:lnTo>
                  <a:pt x="3788664" y="7619"/>
                </a:lnTo>
              </a:path>
            </a:pathLst>
          </a:custGeom>
          <a:ln w="38100">
            <a:solidFill>
              <a:srgbClr val="00FFFF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58774" y="3117342"/>
            <a:ext cx="3785870" cy="0"/>
          </a:xfrm>
          <a:custGeom>
            <a:avLst/>
            <a:gdLst/>
            <a:ahLst/>
            <a:cxnLst/>
            <a:rect l="l" t="t" r="r" b="b"/>
            <a:pathLst>
              <a:path w="3785870" h="0">
                <a:moveTo>
                  <a:pt x="0" y="0"/>
                </a:moveTo>
                <a:lnTo>
                  <a:pt x="3785616" y="0"/>
                </a:lnTo>
              </a:path>
            </a:pathLst>
          </a:custGeom>
          <a:ln w="38100">
            <a:solidFill>
              <a:srgbClr val="00FFFF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73929" y="2734817"/>
            <a:ext cx="533400" cy="1871980"/>
          </a:xfrm>
          <a:custGeom>
            <a:avLst/>
            <a:gdLst/>
            <a:ahLst/>
            <a:cxnLst/>
            <a:rect l="l" t="t" r="r" b="b"/>
            <a:pathLst>
              <a:path w="533400" h="1871979">
                <a:moveTo>
                  <a:pt x="0" y="0"/>
                </a:moveTo>
                <a:lnTo>
                  <a:pt x="47946" y="4039"/>
                </a:lnTo>
                <a:lnTo>
                  <a:pt x="93070" y="15687"/>
                </a:lnTo>
                <a:lnTo>
                  <a:pt x="134619" y="34233"/>
                </a:lnTo>
                <a:lnTo>
                  <a:pt x="171841" y="58969"/>
                </a:lnTo>
                <a:lnTo>
                  <a:pt x="203983" y="89187"/>
                </a:lnTo>
                <a:lnTo>
                  <a:pt x="230293" y="124177"/>
                </a:lnTo>
                <a:lnTo>
                  <a:pt x="250017" y="163232"/>
                </a:lnTo>
                <a:lnTo>
                  <a:pt x="262403" y="205641"/>
                </a:lnTo>
                <a:lnTo>
                  <a:pt x="266700" y="250698"/>
                </a:lnTo>
                <a:lnTo>
                  <a:pt x="266700" y="685038"/>
                </a:lnTo>
                <a:lnTo>
                  <a:pt x="270996" y="730094"/>
                </a:lnTo>
                <a:lnTo>
                  <a:pt x="283382" y="772503"/>
                </a:lnTo>
                <a:lnTo>
                  <a:pt x="303106" y="811558"/>
                </a:lnTo>
                <a:lnTo>
                  <a:pt x="329416" y="846548"/>
                </a:lnTo>
                <a:lnTo>
                  <a:pt x="361558" y="876766"/>
                </a:lnTo>
                <a:lnTo>
                  <a:pt x="398779" y="901502"/>
                </a:lnTo>
                <a:lnTo>
                  <a:pt x="440329" y="920048"/>
                </a:lnTo>
                <a:lnTo>
                  <a:pt x="485453" y="931696"/>
                </a:lnTo>
                <a:lnTo>
                  <a:pt x="533400" y="935736"/>
                </a:lnTo>
                <a:lnTo>
                  <a:pt x="485453" y="939775"/>
                </a:lnTo>
                <a:lnTo>
                  <a:pt x="440329" y="951423"/>
                </a:lnTo>
                <a:lnTo>
                  <a:pt x="398780" y="969969"/>
                </a:lnTo>
                <a:lnTo>
                  <a:pt x="361558" y="994705"/>
                </a:lnTo>
                <a:lnTo>
                  <a:pt x="329416" y="1024923"/>
                </a:lnTo>
                <a:lnTo>
                  <a:pt x="303106" y="1059913"/>
                </a:lnTo>
                <a:lnTo>
                  <a:pt x="283382" y="1098968"/>
                </a:lnTo>
                <a:lnTo>
                  <a:pt x="270996" y="1141377"/>
                </a:lnTo>
                <a:lnTo>
                  <a:pt x="266700" y="1186434"/>
                </a:lnTo>
                <a:lnTo>
                  <a:pt x="266700" y="1620774"/>
                </a:lnTo>
                <a:lnTo>
                  <a:pt x="262403" y="1665830"/>
                </a:lnTo>
                <a:lnTo>
                  <a:pt x="250017" y="1708239"/>
                </a:lnTo>
                <a:lnTo>
                  <a:pt x="230293" y="1747294"/>
                </a:lnTo>
                <a:lnTo>
                  <a:pt x="203983" y="1782284"/>
                </a:lnTo>
                <a:lnTo>
                  <a:pt x="171841" y="1812502"/>
                </a:lnTo>
                <a:lnTo>
                  <a:pt x="134620" y="1837238"/>
                </a:lnTo>
                <a:lnTo>
                  <a:pt x="93070" y="1855784"/>
                </a:lnTo>
                <a:lnTo>
                  <a:pt x="47946" y="1867432"/>
                </a:lnTo>
                <a:lnTo>
                  <a:pt x="0" y="1871472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01361" y="4685538"/>
            <a:ext cx="352425" cy="1870075"/>
          </a:xfrm>
          <a:custGeom>
            <a:avLst/>
            <a:gdLst/>
            <a:ahLst/>
            <a:cxnLst/>
            <a:rect l="l" t="t" r="r" b="b"/>
            <a:pathLst>
              <a:path w="352425" h="1870075">
                <a:moveTo>
                  <a:pt x="0" y="0"/>
                </a:moveTo>
                <a:lnTo>
                  <a:pt x="40341" y="6615"/>
                </a:lnTo>
                <a:lnTo>
                  <a:pt x="77384" y="25457"/>
                </a:lnTo>
                <a:lnTo>
                  <a:pt x="110067" y="55023"/>
                </a:lnTo>
                <a:lnTo>
                  <a:pt x="137333" y="93809"/>
                </a:lnTo>
                <a:lnTo>
                  <a:pt x="158120" y="140310"/>
                </a:lnTo>
                <a:lnTo>
                  <a:pt x="171370" y="193023"/>
                </a:lnTo>
                <a:lnTo>
                  <a:pt x="176022" y="250444"/>
                </a:lnTo>
                <a:lnTo>
                  <a:pt x="176022" y="684530"/>
                </a:lnTo>
                <a:lnTo>
                  <a:pt x="180673" y="741950"/>
                </a:lnTo>
                <a:lnTo>
                  <a:pt x="193923" y="794663"/>
                </a:lnTo>
                <a:lnTo>
                  <a:pt x="214710" y="841164"/>
                </a:lnTo>
                <a:lnTo>
                  <a:pt x="241976" y="879950"/>
                </a:lnTo>
                <a:lnTo>
                  <a:pt x="274659" y="909516"/>
                </a:lnTo>
                <a:lnTo>
                  <a:pt x="311702" y="928358"/>
                </a:lnTo>
                <a:lnTo>
                  <a:pt x="352043" y="934974"/>
                </a:lnTo>
                <a:lnTo>
                  <a:pt x="311702" y="941587"/>
                </a:lnTo>
                <a:lnTo>
                  <a:pt x="274659" y="960426"/>
                </a:lnTo>
                <a:lnTo>
                  <a:pt x="241976" y="989987"/>
                </a:lnTo>
                <a:lnTo>
                  <a:pt x="214710" y="1028768"/>
                </a:lnTo>
                <a:lnTo>
                  <a:pt x="193923" y="1075264"/>
                </a:lnTo>
                <a:lnTo>
                  <a:pt x="180673" y="1127973"/>
                </a:lnTo>
                <a:lnTo>
                  <a:pt x="176022" y="1185392"/>
                </a:lnTo>
                <a:lnTo>
                  <a:pt x="176022" y="1619516"/>
                </a:lnTo>
                <a:lnTo>
                  <a:pt x="171370" y="1676940"/>
                </a:lnTo>
                <a:lnTo>
                  <a:pt x="158120" y="1729652"/>
                </a:lnTo>
                <a:lnTo>
                  <a:pt x="137333" y="1776151"/>
                </a:lnTo>
                <a:lnTo>
                  <a:pt x="110067" y="1814933"/>
                </a:lnTo>
                <a:lnTo>
                  <a:pt x="77384" y="1844494"/>
                </a:lnTo>
                <a:lnTo>
                  <a:pt x="40341" y="1863334"/>
                </a:lnTo>
                <a:lnTo>
                  <a:pt x="0" y="1869948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12790" y="5197602"/>
            <a:ext cx="155702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PRDUCE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7621" y="3338321"/>
            <a:ext cx="155702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CNSUME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03241" y="6604254"/>
            <a:ext cx="3215640" cy="0"/>
          </a:xfrm>
          <a:custGeom>
            <a:avLst/>
            <a:gdLst/>
            <a:ahLst/>
            <a:cxnLst/>
            <a:rect l="l" t="t" r="r" b="b"/>
            <a:pathLst>
              <a:path w="3215640" h="0">
                <a:moveTo>
                  <a:pt x="0" y="0"/>
                </a:moveTo>
                <a:lnTo>
                  <a:pt x="321564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17535" y="5037582"/>
            <a:ext cx="114300" cy="1560830"/>
          </a:xfrm>
          <a:custGeom>
            <a:avLst/>
            <a:gdLst/>
            <a:ahLst/>
            <a:cxnLst/>
            <a:rect l="l" t="t" r="r" b="b"/>
            <a:pathLst>
              <a:path w="114300" h="1560829">
                <a:moveTo>
                  <a:pt x="38100" y="1370076"/>
                </a:moveTo>
                <a:lnTo>
                  <a:pt x="0" y="1370076"/>
                </a:lnTo>
                <a:lnTo>
                  <a:pt x="57150" y="1560576"/>
                </a:lnTo>
                <a:lnTo>
                  <a:pt x="108584" y="1389126"/>
                </a:lnTo>
                <a:lnTo>
                  <a:pt x="38100" y="1389126"/>
                </a:lnTo>
                <a:lnTo>
                  <a:pt x="38100" y="1370076"/>
                </a:lnTo>
                <a:close/>
              </a:path>
              <a:path w="114300" h="1560829">
                <a:moveTo>
                  <a:pt x="76200" y="0"/>
                </a:moveTo>
                <a:lnTo>
                  <a:pt x="38100" y="0"/>
                </a:lnTo>
                <a:lnTo>
                  <a:pt x="38100" y="1389126"/>
                </a:lnTo>
                <a:lnTo>
                  <a:pt x="76200" y="1389126"/>
                </a:lnTo>
                <a:lnTo>
                  <a:pt x="76200" y="0"/>
                </a:lnTo>
                <a:close/>
              </a:path>
              <a:path w="114300" h="1560829">
                <a:moveTo>
                  <a:pt x="114300" y="1370076"/>
                </a:moveTo>
                <a:lnTo>
                  <a:pt x="76200" y="1370076"/>
                </a:lnTo>
                <a:lnTo>
                  <a:pt x="76200" y="1389126"/>
                </a:lnTo>
                <a:lnTo>
                  <a:pt x="108584" y="1389126"/>
                </a:lnTo>
                <a:lnTo>
                  <a:pt x="114300" y="137007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61731" y="2734817"/>
            <a:ext cx="114300" cy="1445260"/>
          </a:xfrm>
          <a:custGeom>
            <a:avLst/>
            <a:gdLst/>
            <a:ahLst/>
            <a:cxnLst/>
            <a:rect l="l" t="t" r="r" b="b"/>
            <a:pathLst>
              <a:path w="114300" h="1445260">
                <a:moveTo>
                  <a:pt x="76200" y="171450"/>
                </a:moveTo>
                <a:lnTo>
                  <a:pt x="38100" y="171450"/>
                </a:lnTo>
                <a:lnTo>
                  <a:pt x="38100" y="1444752"/>
                </a:lnTo>
                <a:lnTo>
                  <a:pt x="76200" y="1444752"/>
                </a:lnTo>
                <a:lnTo>
                  <a:pt x="76200" y="171450"/>
                </a:lnTo>
                <a:close/>
              </a:path>
              <a:path w="114300" h="1445260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4" y="171450"/>
                </a:lnTo>
                <a:lnTo>
                  <a:pt x="57150" y="0"/>
                </a:lnTo>
                <a:close/>
              </a:path>
              <a:path w="114300" h="1445260">
                <a:moveTo>
                  <a:pt x="108584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4" y="17145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79441" y="863346"/>
            <a:ext cx="3215640" cy="0"/>
          </a:xfrm>
          <a:custGeom>
            <a:avLst/>
            <a:gdLst/>
            <a:ahLst/>
            <a:cxnLst/>
            <a:rect l="l" t="t" r="r" b="b"/>
            <a:pathLst>
              <a:path w="3215640" h="0">
                <a:moveTo>
                  <a:pt x="0" y="0"/>
                </a:moveTo>
                <a:lnTo>
                  <a:pt x="321564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79441" y="2748533"/>
            <a:ext cx="3215640" cy="0"/>
          </a:xfrm>
          <a:custGeom>
            <a:avLst/>
            <a:gdLst/>
            <a:ahLst/>
            <a:cxnLst/>
            <a:rect l="l" t="t" r="r" b="b"/>
            <a:pathLst>
              <a:path w="3215640" h="0">
                <a:moveTo>
                  <a:pt x="0" y="0"/>
                </a:moveTo>
                <a:lnTo>
                  <a:pt x="3215640" y="0"/>
                </a:lnTo>
              </a:path>
            </a:pathLst>
          </a:custGeom>
          <a:ln w="3810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49083" y="1928622"/>
            <a:ext cx="114300" cy="820419"/>
          </a:xfrm>
          <a:custGeom>
            <a:avLst/>
            <a:gdLst/>
            <a:ahLst/>
            <a:cxnLst/>
            <a:rect l="l" t="t" r="r" b="b"/>
            <a:pathLst>
              <a:path w="114300" h="820419">
                <a:moveTo>
                  <a:pt x="38100" y="629412"/>
                </a:moveTo>
                <a:lnTo>
                  <a:pt x="0" y="629412"/>
                </a:lnTo>
                <a:lnTo>
                  <a:pt x="57150" y="819912"/>
                </a:lnTo>
                <a:lnTo>
                  <a:pt x="108584" y="648462"/>
                </a:lnTo>
                <a:lnTo>
                  <a:pt x="38100" y="648462"/>
                </a:lnTo>
                <a:lnTo>
                  <a:pt x="38100" y="629412"/>
                </a:lnTo>
                <a:close/>
              </a:path>
              <a:path w="114300" h="820419">
                <a:moveTo>
                  <a:pt x="76200" y="0"/>
                </a:moveTo>
                <a:lnTo>
                  <a:pt x="38100" y="0"/>
                </a:lnTo>
                <a:lnTo>
                  <a:pt x="38100" y="648462"/>
                </a:lnTo>
                <a:lnTo>
                  <a:pt x="76200" y="648462"/>
                </a:lnTo>
                <a:lnTo>
                  <a:pt x="76200" y="0"/>
                </a:lnTo>
                <a:close/>
              </a:path>
              <a:path w="114300" h="820419">
                <a:moveTo>
                  <a:pt x="114300" y="629412"/>
                </a:moveTo>
                <a:lnTo>
                  <a:pt x="76200" y="629412"/>
                </a:lnTo>
                <a:lnTo>
                  <a:pt x="76200" y="648462"/>
                </a:lnTo>
                <a:lnTo>
                  <a:pt x="108584" y="648462"/>
                </a:lnTo>
                <a:lnTo>
                  <a:pt x="114300" y="62941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33843" y="822197"/>
            <a:ext cx="114300" cy="548640"/>
          </a:xfrm>
          <a:custGeom>
            <a:avLst/>
            <a:gdLst/>
            <a:ahLst/>
            <a:cxnLst/>
            <a:rect l="l" t="t" r="r" b="b"/>
            <a:pathLst>
              <a:path w="114300" h="548640">
                <a:moveTo>
                  <a:pt x="76200" y="171450"/>
                </a:moveTo>
                <a:lnTo>
                  <a:pt x="38100" y="171450"/>
                </a:lnTo>
                <a:lnTo>
                  <a:pt x="38100" y="548639"/>
                </a:lnTo>
                <a:lnTo>
                  <a:pt x="76200" y="548639"/>
                </a:lnTo>
                <a:lnTo>
                  <a:pt x="76200" y="171450"/>
                </a:lnTo>
                <a:close/>
              </a:path>
              <a:path w="114300" h="548640">
                <a:moveTo>
                  <a:pt x="57150" y="0"/>
                </a:moveTo>
                <a:lnTo>
                  <a:pt x="0" y="190500"/>
                </a:lnTo>
                <a:lnTo>
                  <a:pt x="38100" y="190500"/>
                </a:lnTo>
                <a:lnTo>
                  <a:pt x="38100" y="171450"/>
                </a:lnTo>
                <a:lnTo>
                  <a:pt x="108584" y="171450"/>
                </a:lnTo>
                <a:lnTo>
                  <a:pt x="57150" y="0"/>
                </a:lnTo>
                <a:close/>
              </a:path>
              <a:path w="114300" h="548640">
                <a:moveTo>
                  <a:pt x="108584" y="171450"/>
                </a:moveTo>
                <a:lnTo>
                  <a:pt x="76200" y="171450"/>
                </a:lnTo>
                <a:lnTo>
                  <a:pt x="76200" y="190500"/>
                </a:lnTo>
                <a:lnTo>
                  <a:pt x="114300" y="190500"/>
                </a:lnTo>
                <a:lnTo>
                  <a:pt x="108584" y="17145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44081" y="1446403"/>
            <a:ext cx="944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代码区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99478" y="4361764"/>
            <a:ext cx="15570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静态数据区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6227" y="886205"/>
            <a:ext cx="28759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的目标代码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64869" y="860297"/>
            <a:ext cx="3779520" cy="850900"/>
          </a:xfrm>
          <a:custGeom>
            <a:avLst/>
            <a:gdLst/>
            <a:ahLst/>
            <a:cxnLst/>
            <a:rect l="l" t="t" r="r" b="b"/>
            <a:pathLst>
              <a:path w="3779520" h="850900">
                <a:moveTo>
                  <a:pt x="0" y="850391"/>
                </a:moveTo>
                <a:lnTo>
                  <a:pt x="3779520" y="850391"/>
                </a:lnTo>
                <a:lnTo>
                  <a:pt x="3779520" y="0"/>
                </a:lnTo>
                <a:lnTo>
                  <a:pt x="0" y="0"/>
                </a:lnTo>
                <a:lnTo>
                  <a:pt x="0" y="850391"/>
                </a:lnTo>
                <a:close/>
              </a:path>
            </a:pathLst>
          </a:custGeom>
          <a:ln w="31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85494" y="2102865"/>
            <a:ext cx="282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PRDUCE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的目标代码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64869" y="1710689"/>
            <a:ext cx="3779520" cy="1062355"/>
          </a:xfrm>
          <a:custGeom>
            <a:avLst/>
            <a:gdLst/>
            <a:ahLst/>
            <a:cxnLst/>
            <a:rect l="l" t="t" r="r" b="b"/>
            <a:pathLst>
              <a:path w="3779520" h="1062355">
                <a:moveTo>
                  <a:pt x="0" y="1062227"/>
                </a:moveTo>
                <a:lnTo>
                  <a:pt x="3779520" y="1062227"/>
                </a:lnTo>
                <a:lnTo>
                  <a:pt x="3779520" y="0"/>
                </a:lnTo>
                <a:lnTo>
                  <a:pt x="0" y="0"/>
                </a:lnTo>
                <a:lnTo>
                  <a:pt x="0" y="1062227"/>
                </a:lnTo>
                <a:close/>
              </a:path>
            </a:pathLst>
          </a:custGeom>
          <a:ln w="28574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287907" y="3156661"/>
            <a:ext cx="305371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1005" marR="5080" indent="-40894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CH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*50BUF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INTEGER 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NEXT 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CHARACTER</a:t>
            </a:r>
            <a:r>
              <a:rPr dirty="0" sz="24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64869" y="2772917"/>
            <a:ext cx="3779520" cy="1912620"/>
          </a:xfrm>
          <a:custGeom>
            <a:avLst/>
            <a:gdLst/>
            <a:ahLst/>
            <a:cxnLst/>
            <a:rect l="l" t="t" r="r" b="b"/>
            <a:pathLst>
              <a:path w="3779520" h="1912620">
                <a:moveTo>
                  <a:pt x="0" y="1912619"/>
                </a:moveTo>
                <a:lnTo>
                  <a:pt x="3779520" y="1912619"/>
                </a:lnTo>
                <a:lnTo>
                  <a:pt x="3779520" y="0"/>
                </a:lnTo>
                <a:lnTo>
                  <a:pt x="0" y="0"/>
                </a:lnTo>
                <a:lnTo>
                  <a:pt x="0" y="1912619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69872" y="5343705"/>
            <a:ext cx="3194685" cy="97345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CHARACTER</a:t>
            </a:r>
            <a:r>
              <a:rPr dirty="0" sz="2000" spc="5" b="1">
                <a:solidFill>
                  <a:srgbClr val="FFFF00"/>
                </a:solidFill>
                <a:latin typeface="Times New Roman"/>
                <a:cs typeface="Times New Roman"/>
              </a:rPr>
              <a:t>*80</a:t>
            </a:r>
            <a:r>
              <a:rPr dirty="0" sz="2000" spc="3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00"/>
                </a:solidFill>
                <a:latin typeface="Times New Roman"/>
                <a:cs typeface="Times New Roman"/>
              </a:rPr>
              <a:t>BUFFER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571625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INTEGER	</a:t>
            </a: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NEXT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64869" y="4685538"/>
            <a:ext cx="3779520" cy="1912620"/>
          </a:xfrm>
          <a:custGeom>
            <a:avLst/>
            <a:gdLst/>
            <a:ahLst/>
            <a:cxnLst/>
            <a:rect l="l" t="t" r="r" b="b"/>
            <a:pathLst>
              <a:path w="3779520" h="1912620">
                <a:moveTo>
                  <a:pt x="0" y="1912620"/>
                </a:moveTo>
                <a:lnTo>
                  <a:pt x="3779520" y="1912620"/>
                </a:lnTo>
                <a:lnTo>
                  <a:pt x="3779520" y="0"/>
                </a:lnTo>
                <a:lnTo>
                  <a:pt x="0" y="0"/>
                </a:lnTo>
                <a:lnTo>
                  <a:pt x="0" y="1912620"/>
                </a:lnTo>
                <a:close/>
              </a:path>
            </a:pathLst>
          </a:custGeom>
          <a:ln w="2857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126360" y="14732"/>
            <a:ext cx="16865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78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899152" y="14732"/>
            <a:ext cx="21170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850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</a:t>
            </a:r>
            <a:r>
              <a:rPr dirty="0" u="sng" sz="2000" spc="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静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7568" y="0"/>
            <a:ext cx="7944484" cy="575691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ctr" marR="8890">
              <a:lnSpc>
                <a:spcPct val="100000"/>
              </a:lnSpc>
              <a:spcBef>
                <a:spcPts val="405"/>
              </a:spcBef>
              <a:tabLst>
                <a:tab pos="640080" algn="l"/>
                <a:tab pos="2772410" algn="l"/>
                <a:tab pos="333756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7.2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静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华文新魏"/>
              <a:cs typeface="华文新魏"/>
            </a:endParaRPr>
          </a:p>
          <a:p>
            <a:pPr marL="403860" indent="-391795">
              <a:lnSpc>
                <a:spcPct val="100000"/>
              </a:lnSpc>
              <a:buClr>
                <a:srgbClr val="00FFFF"/>
              </a:buClr>
              <a:buSzPct val="154687"/>
              <a:buFont typeface="Wingdings"/>
              <a:buChar char=""/>
              <a:tabLst>
                <a:tab pos="40449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静态分配对语言的限制</a:t>
            </a:r>
            <a:endParaRPr sz="3200">
              <a:latin typeface="宋体"/>
              <a:cs typeface="宋体"/>
            </a:endParaRPr>
          </a:p>
          <a:p>
            <a:pPr lvl="1" marL="12700" marR="102235" indent="711200">
              <a:lnSpc>
                <a:spcPct val="150100"/>
              </a:lnSpc>
              <a:buFont typeface="Times New Roman"/>
              <a:buAutoNum type="arabicParenBoth"/>
              <a:tabLst>
                <a:tab pos="129921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数据对象的长度和它在内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位置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的限制必须在编译时知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道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lvl="1" marL="114300" marR="108585" indent="609600">
              <a:lnSpc>
                <a:spcPct val="150000"/>
              </a:lnSpc>
              <a:spcBef>
                <a:spcPts val="869"/>
              </a:spcBef>
              <a:buFont typeface="Times New Roman"/>
              <a:buAutoNum type="arabicParenBoth"/>
              <a:tabLst>
                <a:tab pos="129921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不允许递归过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因为一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的所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有活动使用同样的局部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字结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lvl="1" marL="215265" marR="5080" indent="508634">
              <a:lnSpc>
                <a:spcPct val="150100"/>
              </a:lnSpc>
              <a:spcBef>
                <a:spcPts val="625"/>
              </a:spcBef>
              <a:buFont typeface="Times New Roman"/>
              <a:buAutoNum type="arabicParenBoth"/>
              <a:tabLst>
                <a:tab pos="1400810" algn="l"/>
                <a:tab pos="140144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数据结构不能动态建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立，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因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没有运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行时的存储分配机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24790">
              <a:lnSpc>
                <a:spcPct val="100000"/>
              </a:lnSpc>
              <a:spcBef>
                <a:spcPts val="105"/>
              </a:spcBef>
              <a:tabLst>
                <a:tab pos="2159000" algn="l"/>
              </a:tabLst>
            </a:pPr>
            <a:r>
              <a:rPr dirty="0" spc="-15"/>
              <a:t>第</a:t>
            </a:r>
            <a:r>
              <a:rPr dirty="0" spc="-955"/>
              <a:t> </a:t>
            </a:r>
            <a:r>
              <a:rPr dirty="0">
                <a:latin typeface="Times New Roman"/>
                <a:cs typeface="Times New Roman"/>
              </a:rPr>
              <a:t>7 </a:t>
            </a:r>
            <a:r>
              <a:rPr dirty="0" spc="-15"/>
              <a:t>章	运</a:t>
            </a:r>
            <a:r>
              <a:rPr dirty="0" spc="-980"/>
              <a:t> </a:t>
            </a:r>
            <a:r>
              <a:rPr dirty="0" spc="-15"/>
              <a:t>行</a:t>
            </a:r>
            <a:r>
              <a:rPr dirty="0" spc="-980"/>
              <a:t> </a:t>
            </a:r>
            <a:r>
              <a:rPr dirty="0" spc="-15"/>
              <a:t>环</a:t>
            </a:r>
            <a:r>
              <a:rPr dirty="0" spc="-985"/>
              <a:t> </a:t>
            </a:r>
            <a:r>
              <a:rPr dirty="0" spc="-15"/>
              <a:t>境</a:t>
            </a: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29990" y="14732"/>
            <a:ext cx="168528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h7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96656" y="4451603"/>
            <a:ext cx="847725" cy="722630"/>
          </a:xfrm>
          <a:custGeom>
            <a:avLst/>
            <a:gdLst/>
            <a:ahLst/>
            <a:cxnLst/>
            <a:rect l="l" t="t" r="r" b="b"/>
            <a:pathLst>
              <a:path w="847725" h="722629">
                <a:moveTo>
                  <a:pt x="211963" y="0"/>
                </a:moveTo>
                <a:lnTo>
                  <a:pt x="0" y="361188"/>
                </a:lnTo>
                <a:lnTo>
                  <a:pt x="211963" y="722376"/>
                </a:lnTo>
                <a:lnTo>
                  <a:pt x="211963" y="541782"/>
                </a:lnTo>
                <a:lnTo>
                  <a:pt x="847344" y="541782"/>
                </a:lnTo>
                <a:lnTo>
                  <a:pt x="847344" y="180594"/>
                </a:lnTo>
                <a:lnTo>
                  <a:pt x="211963" y="180594"/>
                </a:lnTo>
                <a:lnTo>
                  <a:pt x="211963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96656" y="4451603"/>
            <a:ext cx="847725" cy="722630"/>
          </a:xfrm>
          <a:custGeom>
            <a:avLst/>
            <a:gdLst/>
            <a:ahLst/>
            <a:cxnLst/>
            <a:rect l="l" t="t" r="r" b="b"/>
            <a:pathLst>
              <a:path w="847725" h="722629">
                <a:moveTo>
                  <a:pt x="0" y="361188"/>
                </a:moveTo>
                <a:lnTo>
                  <a:pt x="211963" y="0"/>
                </a:lnTo>
                <a:lnTo>
                  <a:pt x="211963" y="180594"/>
                </a:lnTo>
                <a:lnTo>
                  <a:pt x="847344" y="180594"/>
                </a:lnTo>
                <a:lnTo>
                  <a:pt x="847344" y="541782"/>
                </a:lnTo>
                <a:lnTo>
                  <a:pt x="211963" y="541782"/>
                </a:lnTo>
                <a:lnTo>
                  <a:pt x="211963" y="722376"/>
                </a:lnTo>
                <a:lnTo>
                  <a:pt x="0" y="361188"/>
                </a:lnTo>
                <a:close/>
              </a:path>
            </a:pathLst>
          </a:custGeom>
          <a:ln w="9524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7540" y="2561285"/>
            <a:ext cx="8056245" cy="249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698500" indent="-68580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关</a:t>
            </a:r>
            <a:r>
              <a:rPr dirty="0" sz="3600" spc="-10" b="1">
                <a:solidFill>
                  <a:srgbClr val="FFFF00"/>
                </a:solidFill>
                <a:latin typeface="宋体"/>
                <a:cs typeface="宋体"/>
              </a:rPr>
              <a:t>于程序</a:t>
            </a: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运行环境与存储组织</a:t>
            </a:r>
            <a:endParaRPr sz="3600">
              <a:latin typeface="宋体"/>
              <a:cs typeface="宋体"/>
            </a:endParaRPr>
          </a:p>
          <a:p>
            <a:pPr lvl="1" marL="698500" indent="-685800">
              <a:lnSpc>
                <a:spcPct val="100000"/>
              </a:lnSpc>
              <a:spcBef>
                <a:spcPts val="3245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静态运行时环境与存储分配</a:t>
            </a:r>
            <a:endParaRPr sz="3600">
              <a:latin typeface="宋体"/>
              <a:cs typeface="宋体"/>
            </a:endParaRPr>
          </a:p>
          <a:p>
            <a:pPr lvl="1" marL="698500" indent="-685800">
              <a:lnSpc>
                <a:spcPct val="100000"/>
              </a:lnSpc>
              <a:spcBef>
                <a:spcPts val="3240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dirty="0" sz="3600" spc="-5" b="1">
                <a:solidFill>
                  <a:srgbClr val="FFFFFF"/>
                </a:solidFill>
                <a:latin typeface="宋体"/>
                <a:cs typeface="宋体"/>
              </a:rPr>
              <a:t>基于栈的运行时环境的动态存储分配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9759" y="4505096"/>
            <a:ext cx="1808480" cy="1052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0" marR="5080" indent="-178435">
              <a:lnSpc>
                <a:spcPct val="1204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函数所需的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数据空间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11373" y="4211573"/>
            <a:ext cx="533400" cy="1638300"/>
          </a:xfrm>
          <a:custGeom>
            <a:avLst/>
            <a:gdLst/>
            <a:ahLst/>
            <a:cxnLst/>
            <a:rect l="l" t="t" r="r" b="b"/>
            <a:pathLst>
              <a:path w="533400" h="1638300">
                <a:moveTo>
                  <a:pt x="533400" y="1638300"/>
                </a:moveTo>
                <a:lnTo>
                  <a:pt x="472240" y="1634694"/>
                </a:lnTo>
                <a:lnTo>
                  <a:pt x="416100" y="1624423"/>
                </a:lnTo>
                <a:lnTo>
                  <a:pt x="366581" y="1608306"/>
                </a:lnTo>
                <a:lnTo>
                  <a:pt x="325282" y="1587164"/>
                </a:lnTo>
                <a:lnTo>
                  <a:pt x="293803" y="1561814"/>
                </a:lnTo>
                <a:lnTo>
                  <a:pt x="266700" y="1501775"/>
                </a:lnTo>
                <a:lnTo>
                  <a:pt x="266700" y="955675"/>
                </a:lnTo>
                <a:lnTo>
                  <a:pt x="259657" y="924359"/>
                </a:lnTo>
                <a:lnTo>
                  <a:pt x="208117" y="870269"/>
                </a:lnTo>
                <a:lnTo>
                  <a:pt x="166818" y="849131"/>
                </a:lnTo>
                <a:lnTo>
                  <a:pt x="117299" y="833020"/>
                </a:lnTo>
                <a:lnTo>
                  <a:pt x="61159" y="822753"/>
                </a:lnTo>
                <a:lnTo>
                  <a:pt x="0" y="819150"/>
                </a:lnTo>
                <a:lnTo>
                  <a:pt x="61159" y="815546"/>
                </a:lnTo>
                <a:lnTo>
                  <a:pt x="117299" y="805279"/>
                </a:lnTo>
                <a:lnTo>
                  <a:pt x="166818" y="789168"/>
                </a:lnTo>
                <a:lnTo>
                  <a:pt x="208117" y="768030"/>
                </a:lnTo>
                <a:lnTo>
                  <a:pt x="239596" y="742681"/>
                </a:lnTo>
                <a:lnTo>
                  <a:pt x="266700" y="682625"/>
                </a:lnTo>
                <a:lnTo>
                  <a:pt x="266700" y="136525"/>
                </a:lnTo>
                <a:lnTo>
                  <a:pt x="273742" y="105209"/>
                </a:lnTo>
                <a:lnTo>
                  <a:pt x="325282" y="51119"/>
                </a:lnTo>
                <a:lnTo>
                  <a:pt x="366581" y="29981"/>
                </a:lnTo>
                <a:lnTo>
                  <a:pt x="416100" y="13870"/>
                </a:lnTo>
                <a:lnTo>
                  <a:pt x="472240" y="3603"/>
                </a:lnTo>
                <a:lnTo>
                  <a:pt x="53340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54227" y="0"/>
            <a:ext cx="8197215" cy="448437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593725">
              <a:lnSpc>
                <a:spcPct val="100000"/>
              </a:lnSpc>
              <a:spcBef>
                <a:spcPts val="1200"/>
              </a:spcBef>
              <a:tabLst>
                <a:tab pos="1232535" algn="l"/>
                <a:tab pos="2869565" algn="l"/>
                <a:tab pos="337121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华文新魏"/>
              <a:cs typeface="华文新魏"/>
            </a:endParaRPr>
          </a:p>
          <a:p>
            <a:pPr marL="758190" indent="-474345">
              <a:lnSpc>
                <a:spcPct val="100000"/>
              </a:lnSpc>
              <a:buClr>
                <a:srgbClr val="00FFFF"/>
              </a:buClr>
              <a:buSzPct val="145312"/>
              <a:buFont typeface="Wingdings"/>
              <a:buChar char=""/>
              <a:tabLst>
                <a:tab pos="75819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基于栈的运行时环境的动态存</a:t>
            </a:r>
            <a:r>
              <a:rPr dirty="0" sz="3200" spc="-15" b="1">
                <a:solidFill>
                  <a:srgbClr val="FFFF00"/>
                </a:solidFill>
                <a:latin typeface="宋体"/>
                <a:cs typeface="宋体"/>
              </a:rPr>
              <a:t>储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分配</a:t>
            </a:r>
            <a:endParaRPr sz="3200">
              <a:latin typeface="宋体"/>
              <a:cs typeface="宋体"/>
            </a:endParaRPr>
          </a:p>
          <a:p>
            <a:pPr algn="just" marL="12700" marR="5080" indent="410209">
              <a:lnSpc>
                <a:spcPct val="123600"/>
              </a:lnSpc>
              <a:spcBef>
                <a:spcPts val="5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将整个程序运行时使用的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储空间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都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安排在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一个栈里。每当调用一个函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时，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所需的数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据空间就分配在栈顶，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当过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结束时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释放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这部分空间。</a:t>
            </a:r>
            <a:endParaRPr sz="3200">
              <a:latin typeface="宋体"/>
              <a:cs typeface="宋体"/>
            </a:endParaRPr>
          </a:p>
          <a:p>
            <a:pPr marL="2715260">
              <a:lnSpc>
                <a:spcPct val="100000"/>
              </a:lnSpc>
              <a:spcBef>
                <a:spcPts val="138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生存期在本过程的本次活动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98775" y="4421885"/>
            <a:ext cx="49879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据对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dirty="0" sz="2800" spc="-77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局部变量、临时变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量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8405" y="5172252"/>
            <a:ext cx="5234940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25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00FFFF"/>
                </a:solidFill>
                <a:latin typeface="宋体"/>
                <a:cs typeface="宋体"/>
              </a:rPr>
              <a:t>管理过程活动的记录信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息</a:t>
            </a:r>
            <a:r>
              <a:rPr dirty="0" sz="2800" spc="-745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过程调 用中断时当前机器的状态信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息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98812" y="4175125"/>
          <a:ext cx="2620010" cy="191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6830"/>
              </a:tblGrid>
              <a:tr h="63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00"/>
                      </a:solidFill>
                      <a:prstDash val="solid"/>
                    </a:lnL>
                    <a:lnR w="28575">
                      <a:solidFill>
                        <a:srgbClr val="FFFF00"/>
                      </a:solidFill>
                      <a:prstDash val="solid"/>
                    </a:lnR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当前过程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4139">
                    <a:lnL w="28575">
                      <a:solidFill>
                        <a:srgbClr val="FFFF00"/>
                      </a:solidFill>
                      <a:prstDash val="solid"/>
                    </a:lnL>
                    <a:lnR w="28575">
                      <a:solidFill>
                        <a:srgbClr val="FFFF00"/>
                      </a:solidFill>
                      <a:prstDash val="solid"/>
                    </a:lnR>
                    <a:lnT w="28575">
                      <a:solidFill>
                        <a:srgbClr val="FFFF00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ctr" marR="1454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……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FFFF00"/>
                      </a:solidFill>
                      <a:prstDash val="solid"/>
                    </a:lnL>
                    <a:lnR w="28575">
                      <a:solidFill>
                        <a:srgbClr val="FFFF00"/>
                      </a:solidFill>
                      <a:prstDash val="solid"/>
                    </a:lnR>
                    <a:lnT w="28575">
                      <a:solidFill>
                        <a:srgbClr val="FFFF00"/>
                      </a:solidFill>
                      <a:prstDash val="solid"/>
                    </a:lnT>
                    <a:lnB w="28575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35786" y="14732"/>
            <a:ext cx="68713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287905" algn="l"/>
                <a:tab pos="2789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0185" y="4814315"/>
            <a:ext cx="935990" cy="114300"/>
          </a:xfrm>
          <a:custGeom>
            <a:avLst/>
            <a:gdLst/>
            <a:ahLst/>
            <a:cxnLst/>
            <a:rect l="l" t="t" r="r" b="b"/>
            <a:pathLst>
              <a:path w="935989" h="114300">
                <a:moveTo>
                  <a:pt x="745236" y="0"/>
                </a:moveTo>
                <a:lnTo>
                  <a:pt x="745236" y="114299"/>
                </a:lnTo>
                <a:lnTo>
                  <a:pt x="872236" y="76199"/>
                </a:lnTo>
                <a:lnTo>
                  <a:pt x="764286" y="76199"/>
                </a:lnTo>
                <a:lnTo>
                  <a:pt x="764286" y="38099"/>
                </a:lnTo>
                <a:lnTo>
                  <a:pt x="872236" y="38099"/>
                </a:lnTo>
                <a:lnTo>
                  <a:pt x="745236" y="0"/>
                </a:lnTo>
                <a:close/>
              </a:path>
              <a:path w="935989" h="114300">
                <a:moveTo>
                  <a:pt x="74523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745236" y="76199"/>
                </a:lnTo>
                <a:lnTo>
                  <a:pt x="745236" y="38099"/>
                </a:lnTo>
                <a:close/>
              </a:path>
              <a:path w="935989" h="114300">
                <a:moveTo>
                  <a:pt x="872236" y="38099"/>
                </a:moveTo>
                <a:lnTo>
                  <a:pt x="764286" y="38099"/>
                </a:lnTo>
                <a:lnTo>
                  <a:pt x="764286" y="76199"/>
                </a:lnTo>
                <a:lnTo>
                  <a:pt x="872236" y="76199"/>
                </a:lnTo>
                <a:lnTo>
                  <a:pt x="935736" y="57149"/>
                </a:lnTo>
                <a:lnTo>
                  <a:pt x="87223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50185" y="5303520"/>
            <a:ext cx="935990" cy="114300"/>
          </a:xfrm>
          <a:custGeom>
            <a:avLst/>
            <a:gdLst/>
            <a:ahLst/>
            <a:cxnLst/>
            <a:rect l="l" t="t" r="r" b="b"/>
            <a:pathLst>
              <a:path w="935989" h="114300">
                <a:moveTo>
                  <a:pt x="745236" y="0"/>
                </a:moveTo>
                <a:lnTo>
                  <a:pt x="745236" y="114299"/>
                </a:lnTo>
                <a:lnTo>
                  <a:pt x="872236" y="76199"/>
                </a:lnTo>
                <a:lnTo>
                  <a:pt x="764286" y="76199"/>
                </a:lnTo>
                <a:lnTo>
                  <a:pt x="764286" y="38099"/>
                </a:lnTo>
                <a:lnTo>
                  <a:pt x="872236" y="38099"/>
                </a:lnTo>
                <a:lnTo>
                  <a:pt x="745236" y="0"/>
                </a:lnTo>
                <a:close/>
              </a:path>
              <a:path w="935989" h="114300">
                <a:moveTo>
                  <a:pt x="74523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745236" y="76199"/>
                </a:lnTo>
                <a:lnTo>
                  <a:pt x="745236" y="38099"/>
                </a:lnTo>
                <a:close/>
              </a:path>
              <a:path w="935989" h="114300">
                <a:moveTo>
                  <a:pt x="872236" y="38099"/>
                </a:moveTo>
                <a:lnTo>
                  <a:pt x="764286" y="38099"/>
                </a:lnTo>
                <a:lnTo>
                  <a:pt x="764286" y="76199"/>
                </a:lnTo>
                <a:lnTo>
                  <a:pt x="872236" y="76199"/>
                </a:lnTo>
                <a:lnTo>
                  <a:pt x="935736" y="57149"/>
                </a:lnTo>
                <a:lnTo>
                  <a:pt x="87223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10641" y="437945"/>
            <a:ext cx="7966075" cy="5114290"/>
          </a:xfrm>
          <a:prstGeom prst="rect">
            <a:avLst/>
          </a:prstGeom>
        </p:spPr>
        <p:txBody>
          <a:bodyPr wrap="square" lIns="0" tIns="266065" rIns="0" bIns="0" rtlCol="0" vert="horz">
            <a:spAutoFit/>
          </a:bodyPr>
          <a:lstStyle/>
          <a:p>
            <a:pPr marL="384175" indent="-372110">
              <a:lnSpc>
                <a:spcPct val="100000"/>
              </a:lnSpc>
              <a:spcBef>
                <a:spcPts val="2095"/>
              </a:spcBef>
              <a:buClr>
                <a:srgbClr val="00FFFF"/>
              </a:buClr>
              <a:buSzPct val="145312"/>
              <a:buFont typeface="Wingdings"/>
              <a:buChar char=""/>
              <a:tabLst>
                <a:tab pos="38481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活动记录的栈</a:t>
            </a:r>
            <a:endParaRPr sz="3200">
              <a:latin typeface="宋体"/>
              <a:cs typeface="宋体"/>
            </a:endParaRPr>
          </a:p>
          <a:p>
            <a:pPr algn="just" marL="189865" marR="5080">
              <a:lnSpc>
                <a:spcPct val="114999"/>
              </a:lnSpc>
              <a:spcBef>
                <a:spcPts val="141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运行时存储活动记录的空间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称为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行时栈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或调用栈。它随着程序执行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发生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调用链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生长或缩小。每个过程每次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栈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上可以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有不同的活动记录，每个都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表一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不同的 调用。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>
              <a:latin typeface="宋体"/>
              <a:cs typeface="宋体"/>
            </a:endParaRPr>
          </a:p>
          <a:p>
            <a:pPr algn="r" marR="6290310">
              <a:lnSpc>
                <a:spcPct val="100000"/>
              </a:lnSpc>
            </a:pPr>
            <a:r>
              <a:rPr dirty="0" sz="2400" spc="-5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OP</a:t>
            </a:r>
            <a:endParaRPr sz="2400">
              <a:latin typeface="Times New Roman"/>
              <a:cs typeface="Times New Roman"/>
            </a:endParaRPr>
          </a:p>
          <a:p>
            <a:pPr algn="r" marR="6295390">
              <a:lnSpc>
                <a:spcPct val="100000"/>
              </a:lnSpc>
              <a:spcBef>
                <a:spcPts val="112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SP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98548" y="1946148"/>
            <a:ext cx="3526790" cy="10795"/>
          </a:xfrm>
          <a:custGeom>
            <a:avLst/>
            <a:gdLst/>
            <a:ahLst/>
            <a:cxnLst/>
            <a:rect l="l" t="t" r="r" b="b"/>
            <a:pathLst>
              <a:path w="3526790" h="10794">
                <a:moveTo>
                  <a:pt x="0" y="10667"/>
                </a:moveTo>
                <a:lnTo>
                  <a:pt x="3526536" y="0"/>
                </a:lnTo>
              </a:path>
            </a:pathLst>
          </a:custGeom>
          <a:ln w="762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66494" y="5138165"/>
            <a:ext cx="584200" cy="457200"/>
          </a:xfrm>
          <a:custGeom>
            <a:avLst/>
            <a:gdLst/>
            <a:ahLst/>
            <a:cxnLst/>
            <a:rect l="l" t="t" r="r" b="b"/>
            <a:pathLst>
              <a:path w="584200" h="457200">
                <a:moveTo>
                  <a:pt x="0" y="228599"/>
                </a:moveTo>
                <a:lnTo>
                  <a:pt x="4702" y="187512"/>
                </a:lnTo>
                <a:lnTo>
                  <a:pt x="18260" y="148839"/>
                </a:lnTo>
                <a:lnTo>
                  <a:pt x="39849" y="113227"/>
                </a:lnTo>
                <a:lnTo>
                  <a:pt x="68644" y="81321"/>
                </a:lnTo>
                <a:lnTo>
                  <a:pt x="103821" y="53768"/>
                </a:lnTo>
                <a:lnTo>
                  <a:pt x="144554" y="31213"/>
                </a:lnTo>
                <a:lnTo>
                  <a:pt x="190019" y="14303"/>
                </a:lnTo>
                <a:lnTo>
                  <a:pt x="239391" y="3683"/>
                </a:lnTo>
                <a:lnTo>
                  <a:pt x="291845" y="0"/>
                </a:lnTo>
                <a:lnTo>
                  <a:pt x="344300" y="3683"/>
                </a:lnTo>
                <a:lnTo>
                  <a:pt x="393672" y="14303"/>
                </a:lnTo>
                <a:lnTo>
                  <a:pt x="439137" y="31213"/>
                </a:lnTo>
                <a:lnTo>
                  <a:pt x="479870" y="53768"/>
                </a:lnTo>
                <a:lnTo>
                  <a:pt x="515047" y="81321"/>
                </a:lnTo>
                <a:lnTo>
                  <a:pt x="543842" y="113227"/>
                </a:lnTo>
                <a:lnTo>
                  <a:pt x="565431" y="148839"/>
                </a:lnTo>
                <a:lnTo>
                  <a:pt x="578989" y="187512"/>
                </a:lnTo>
                <a:lnTo>
                  <a:pt x="583692" y="228599"/>
                </a:lnTo>
                <a:lnTo>
                  <a:pt x="578989" y="269687"/>
                </a:lnTo>
                <a:lnTo>
                  <a:pt x="565431" y="308360"/>
                </a:lnTo>
                <a:lnTo>
                  <a:pt x="543842" y="343972"/>
                </a:lnTo>
                <a:lnTo>
                  <a:pt x="515047" y="375878"/>
                </a:lnTo>
                <a:lnTo>
                  <a:pt x="479870" y="403431"/>
                </a:lnTo>
                <a:lnTo>
                  <a:pt x="439137" y="425986"/>
                </a:lnTo>
                <a:lnTo>
                  <a:pt x="393672" y="442896"/>
                </a:lnTo>
                <a:lnTo>
                  <a:pt x="344300" y="453516"/>
                </a:lnTo>
                <a:lnTo>
                  <a:pt x="291845" y="457199"/>
                </a:lnTo>
                <a:lnTo>
                  <a:pt x="239391" y="453516"/>
                </a:lnTo>
                <a:lnTo>
                  <a:pt x="190019" y="442896"/>
                </a:lnTo>
                <a:lnTo>
                  <a:pt x="144554" y="425986"/>
                </a:lnTo>
                <a:lnTo>
                  <a:pt x="103821" y="403431"/>
                </a:lnTo>
                <a:lnTo>
                  <a:pt x="68644" y="375878"/>
                </a:lnTo>
                <a:lnTo>
                  <a:pt x="39849" y="343972"/>
                </a:lnTo>
                <a:lnTo>
                  <a:pt x="18260" y="308360"/>
                </a:lnTo>
                <a:lnTo>
                  <a:pt x="4702" y="269687"/>
                </a:lnTo>
                <a:lnTo>
                  <a:pt x="0" y="228599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62277" y="4630673"/>
            <a:ext cx="788035" cy="457200"/>
          </a:xfrm>
          <a:custGeom>
            <a:avLst/>
            <a:gdLst/>
            <a:ahLst/>
            <a:cxnLst/>
            <a:rect l="l" t="t" r="r" b="b"/>
            <a:pathLst>
              <a:path w="788035" h="457200">
                <a:moveTo>
                  <a:pt x="0" y="228600"/>
                </a:moveTo>
                <a:lnTo>
                  <a:pt x="16681" y="162582"/>
                </a:lnTo>
                <a:lnTo>
                  <a:pt x="63474" y="104131"/>
                </a:lnTo>
                <a:lnTo>
                  <a:pt x="96638" y="78627"/>
                </a:lnTo>
                <a:lnTo>
                  <a:pt x="135500" y="56076"/>
                </a:lnTo>
                <a:lnTo>
                  <a:pt x="179452" y="36832"/>
                </a:lnTo>
                <a:lnTo>
                  <a:pt x="227883" y="21248"/>
                </a:lnTo>
                <a:lnTo>
                  <a:pt x="280183" y="9679"/>
                </a:lnTo>
                <a:lnTo>
                  <a:pt x="335743" y="2478"/>
                </a:lnTo>
                <a:lnTo>
                  <a:pt x="393953" y="0"/>
                </a:lnTo>
                <a:lnTo>
                  <a:pt x="452164" y="2478"/>
                </a:lnTo>
                <a:lnTo>
                  <a:pt x="507724" y="9679"/>
                </a:lnTo>
                <a:lnTo>
                  <a:pt x="560024" y="21248"/>
                </a:lnTo>
                <a:lnTo>
                  <a:pt x="608455" y="36832"/>
                </a:lnTo>
                <a:lnTo>
                  <a:pt x="652407" y="56076"/>
                </a:lnTo>
                <a:lnTo>
                  <a:pt x="691269" y="78627"/>
                </a:lnTo>
                <a:lnTo>
                  <a:pt x="724433" y="104131"/>
                </a:lnTo>
                <a:lnTo>
                  <a:pt x="751289" y="132234"/>
                </a:lnTo>
                <a:lnTo>
                  <a:pt x="783635" y="194822"/>
                </a:lnTo>
                <a:lnTo>
                  <a:pt x="787908" y="228600"/>
                </a:lnTo>
                <a:lnTo>
                  <a:pt x="783635" y="262377"/>
                </a:lnTo>
                <a:lnTo>
                  <a:pt x="751289" y="324965"/>
                </a:lnTo>
                <a:lnTo>
                  <a:pt x="724433" y="353068"/>
                </a:lnTo>
                <a:lnTo>
                  <a:pt x="691269" y="378572"/>
                </a:lnTo>
                <a:lnTo>
                  <a:pt x="652407" y="401123"/>
                </a:lnTo>
                <a:lnTo>
                  <a:pt x="608455" y="420367"/>
                </a:lnTo>
                <a:lnTo>
                  <a:pt x="560024" y="435951"/>
                </a:lnTo>
                <a:lnTo>
                  <a:pt x="507724" y="447520"/>
                </a:lnTo>
                <a:lnTo>
                  <a:pt x="452164" y="454721"/>
                </a:lnTo>
                <a:lnTo>
                  <a:pt x="393953" y="457200"/>
                </a:lnTo>
                <a:lnTo>
                  <a:pt x="335743" y="454721"/>
                </a:lnTo>
                <a:lnTo>
                  <a:pt x="280183" y="447520"/>
                </a:lnTo>
                <a:lnTo>
                  <a:pt x="227883" y="435951"/>
                </a:lnTo>
                <a:lnTo>
                  <a:pt x="179452" y="420367"/>
                </a:lnTo>
                <a:lnTo>
                  <a:pt x="135500" y="401123"/>
                </a:lnTo>
                <a:lnTo>
                  <a:pt x="96638" y="378572"/>
                </a:lnTo>
                <a:lnTo>
                  <a:pt x="63474" y="353068"/>
                </a:lnTo>
                <a:lnTo>
                  <a:pt x="36618" y="324965"/>
                </a:lnTo>
                <a:lnTo>
                  <a:pt x="4272" y="262377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36777"/>
            <a:ext cx="7504430" cy="9969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820"/>
              </a:lnSpc>
              <a:spcBef>
                <a:spcPts val="105"/>
              </a:spcBef>
              <a:tabLst>
                <a:tab pos="1233170" algn="l"/>
              </a:tabLst>
            </a:pPr>
            <a:r>
              <a:rPr dirty="0" sz="3200">
                <a:solidFill>
                  <a:srgbClr val="FFFF99"/>
                </a:solidFill>
                <a:latin typeface="宋体"/>
                <a:cs typeface="宋体"/>
              </a:rPr>
              <a:t>例</a:t>
            </a:r>
            <a:r>
              <a:rPr dirty="0" sz="3200">
                <a:solidFill>
                  <a:srgbClr val="FFFF99"/>
                </a:solidFill>
                <a:latin typeface="Times New Roman"/>
                <a:cs typeface="Times New Roman"/>
              </a:rPr>
              <a:t>7.2	</a:t>
            </a:r>
            <a:r>
              <a:rPr dirty="0" sz="3200">
                <a:solidFill>
                  <a:srgbClr val="FFFF99"/>
                </a:solidFill>
                <a:latin typeface="宋体"/>
                <a:cs typeface="宋体"/>
              </a:rPr>
              <a:t>设有如下程</a:t>
            </a:r>
            <a:r>
              <a:rPr dirty="0" sz="3200" spc="5">
                <a:solidFill>
                  <a:srgbClr val="FFFF99"/>
                </a:solidFill>
                <a:latin typeface="宋体"/>
                <a:cs typeface="宋体"/>
              </a:rPr>
              <a:t>序</a:t>
            </a:r>
            <a:r>
              <a:rPr dirty="0" sz="3200">
                <a:solidFill>
                  <a:srgbClr val="FFFF99"/>
                </a:solidFill>
                <a:latin typeface="Times New Roman"/>
                <a:cs typeface="Times New Roman"/>
              </a:rPr>
              <a:t>(</a:t>
            </a:r>
            <a:r>
              <a:rPr dirty="0" sz="3200" spc="-5">
                <a:solidFill>
                  <a:srgbClr val="FFFF99"/>
                </a:solidFill>
                <a:latin typeface="宋体"/>
                <a:cs typeface="宋体"/>
              </a:rPr>
              <a:t>允许嵌套</a:t>
            </a:r>
            <a:r>
              <a:rPr dirty="0" sz="3200" spc="-10">
                <a:solidFill>
                  <a:srgbClr val="FFFF99"/>
                </a:solidFill>
                <a:latin typeface="宋体"/>
                <a:cs typeface="宋体"/>
              </a:rPr>
              <a:t>定</a:t>
            </a:r>
            <a:r>
              <a:rPr dirty="0" sz="3200">
                <a:solidFill>
                  <a:srgbClr val="FFFF99"/>
                </a:solidFill>
                <a:latin typeface="宋体"/>
                <a:cs typeface="宋体"/>
              </a:rPr>
              <a:t>义</a:t>
            </a:r>
            <a:r>
              <a:rPr dirty="0" sz="3200" spc="-5">
                <a:solidFill>
                  <a:srgbClr val="FFFF99"/>
                </a:solidFill>
                <a:latin typeface="宋体"/>
                <a:cs typeface="宋体"/>
              </a:rPr>
              <a:t>过程</a:t>
            </a:r>
            <a:r>
              <a:rPr dirty="0" sz="3200" spc="-10">
                <a:solidFill>
                  <a:srgbClr val="FFFF99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927100">
              <a:lnSpc>
                <a:spcPts val="3820"/>
              </a:lnSpc>
            </a:pPr>
            <a:r>
              <a:rPr dirty="0" sz="3200">
                <a:latin typeface="Times New Roman"/>
                <a:cs typeface="Times New Roman"/>
              </a:rPr>
              <a:t>main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1659763"/>
            <a:ext cx="28848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全局变量的说明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3594" y="2156587"/>
            <a:ext cx="1610995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4290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oc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  <a:p>
            <a:pPr marL="12700" marR="324485" indent="304800">
              <a:lnSpc>
                <a:spcPct val="100000"/>
              </a:lnSpc>
              <a:tabLst>
                <a:tab pos="848994" algn="l"/>
              </a:tabLst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……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94" y="3619880"/>
            <a:ext cx="14306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0455" algn="l"/>
              </a:tabLst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dirty="0" sz="3200" spc="-60" b="1">
                <a:solidFill>
                  <a:srgbClr val="66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oc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6502" y="4107256"/>
            <a:ext cx="3315970" cy="1978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29665" marR="889000" indent="407034">
              <a:lnSpc>
                <a:spcPct val="100000"/>
              </a:lnSpc>
              <a:spcBef>
                <a:spcPts val="105"/>
              </a:spcBef>
              <a:tabLst>
                <a:tab pos="1965960" algn="l"/>
              </a:tabLst>
            </a:pPr>
            <a:r>
              <a:rPr dirty="0" sz="3200" spc="5" b="1">
                <a:solidFill>
                  <a:srgbClr val="66FFFF"/>
                </a:solidFill>
                <a:latin typeface="Times New Roman"/>
                <a:cs typeface="Times New Roman"/>
              </a:rPr>
              <a:t>…… 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end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Q;</a:t>
            </a:r>
            <a:endParaRPr sz="3200">
              <a:latin typeface="Times New Roman"/>
              <a:cs typeface="Times New Roman"/>
            </a:endParaRPr>
          </a:p>
          <a:p>
            <a:pPr algn="ctr" marL="431165">
              <a:lnSpc>
                <a:spcPts val="3820"/>
              </a:lnSpc>
              <a:spcBef>
                <a:spcPts val="40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主程序执行语句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3820"/>
              </a:lnSpc>
              <a:tabLst>
                <a:tab pos="847090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end	main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44283" y="1496567"/>
            <a:ext cx="373380" cy="4460875"/>
          </a:xfrm>
          <a:custGeom>
            <a:avLst/>
            <a:gdLst/>
            <a:ahLst/>
            <a:cxnLst/>
            <a:rect l="l" t="t" r="r" b="b"/>
            <a:pathLst>
              <a:path w="373379" h="4460875">
                <a:moveTo>
                  <a:pt x="0" y="0"/>
                </a:moveTo>
                <a:lnTo>
                  <a:pt x="59015" y="18886"/>
                </a:lnTo>
                <a:lnTo>
                  <a:pt x="110264" y="71477"/>
                </a:lnTo>
                <a:lnTo>
                  <a:pt x="132016" y="108505"/>
                </a:lnTo>
                <a:lnTo>
                  <a:pt x="150674" y="151671"/>
                </a:lnTo>
                <a:lnTo>
                  <a:pt x="165855" y="200212"/>
                </a:lnTo>
                <a:lnTo>
                  <a:pt x="177174" y="253366"/>
                </a:lnTo>
                <a:lnTo>
                  <a:pt x="184247" y="310369"/>
                </a:lnTo>
                <a:lnTo>
                  <a:pt x="186690" y="370459"/>
                </a:lnTo>
                <a:lnTo>
                  <a:pt x="186690" y="1859915"/>
                </a:lnTo>
                <a:lnTo>
                  <a:pt x="189132" y="1920004"/>
                </a:lnTo>
                <a:lnTo>
                  <a:pt x="196205" y="1977007"/>
                </a:lnTo>
                <a:lnTo>
                  <a:pt x="207524" y="2030161"/>
                </a:lnTo>
                <a:lnTo>
                  <a:pt x="222705" y="2078702"/>
                </a:lnTo>
                <a:lnTo>
                  <a:pt x="241363" y="2121868"/>
                </a:lnTo>
                <a:lnTo>
                  <a:pt x="263115" y="2158896"/>
                </a:lnTo>
                <a:lnTo>
                  <a:pt x="287577" y="2189023"/>
                </a:lnTo>
                <a:lnTo>
                  <a:pt x="343093" y="2225525"/>
                </a:lnTo>
                <a:lnTo>
                  <a:pt x="373380" y="2230374"/>
                </a:lnTo>
                <a:lnTo>
                  <a:pt x="343093" y="2235222"/>
                </a:lnTo>
                <a:lnTo>
                  <a:pt x="287577" y="2271724"/>
                </a:lnTo>
                <a:lnTo>
                  <a:pt x="263115" y="2301851"/>
                </a:lnTo>
                <a:lnTo>
                  <a:pt x="241363" y="2338879"/>
                </a:lnTo>
                <a:lnTo>
                  <a:pt x="222705" y="2382045"/>
                </a:lnTo>
                <a:lnTo>
                  <a:pt x="207524" y="2430586"/>
                </a:lnTo>
                <a:lnTo>
                  <a:pt x="196205" y="2483740"/>
                </a:lnTo>
                <a:lnTo>
                  <a:pt x="189132" y="2540743"/>
                </a:lnTo>
                <a:lnTo>
                  <a:pt x="186690" y="2600833"/>
                </a:lnTo>
                <a:lnTo>
                  <a:pt x="186690" y="4090289"/>
                </a:lnTo>
                <a:lnTo>
                  <a:pt x="184247" y="4150378"/>
                </a:lnTo>
                <a:lnTo>
                  <a:pt x="177174" y="4207381"/>
                </a:lnTo>
                <a:lnTo>
                  <a:pt x="165855" y="4260535"/>
                </a:lnTo>
                <a:lnTo>
                  <a:pt x="150674" y="4309076"/>
                </a:lnTo>
                <a:lnTo>
                  <a:pt x="132016" y="4352242"/>
                </a:lnTo>
                <a:lnTo>
                  <a:pt x="110264" y="4389270"/>
                </a:lnTo>
                <a:lnTo>
                  <a:pt x="85802" y="4419397"/>
                </a:lnTo>
                <a:lnTo>
                  <a:pt x="30286" y="4455899"/>
                </a:lnTo>
                <a:lnTo>
                  <a:pt x="0" y="4460748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35786" y="14732"/>
            <a:ext cx="68713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287905" algn="l"/>
                <a:tab pos="2789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0086" y="3407486"/>
            <a:ext cx="90805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99CC"/>
                </a:solidFill>
                <a:latin typeface="Times New Roman"/>
                <a:cs typeface="Times New Roman"/>
              </a:rPr>
              <a:t>main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50991" y="2237232"/>
            <a:ext cx="375285" cy="1412875"/>
          </a:xfrm>
          <a:custGeom>
            <a:avLst/>
            <a:gdLst/>
            <a:ahLst/>
            <a:cxnLst/>
            <a:rect l="l" t="t" r="r" b="b"/>
            <a:pathLst>
              <a:path w="375285" h="1412875">
                <a:moveTo>
                  <a:pt x="0" y="0"/>
                </a:moveTo>
                <a:lnTo>
                  <a:pt x="59240" y="6002"/>
                </a:lnTo>
                <a:lnTo>
                  <a:pt x="110697" y="22721"/>
                </a:lnTo>
                <a:lnTo>
                  <a:pt x="151278" y="48225"/>
                </a:lnTo>
                <a:lnTo>
                  <a:pt x="177893" y="80580"/>
                </a:lnTo>
                <a:lnTo>
                  <a:pt x="187452" y="117855"/>
                </a:lnTo>
                <a:lnTo>
                  <a:pt x="187452" y="588517"/>
                </a:lnTo>
                <a:lnTo>
                  <a:pt x="197010" y="625793"/>
                </a:lnTo>
                <a:lnTo>
                  <a:pt x="223625" y="658148"/>
                </a:lnTo>
                <a:lnTo>
                  <a:pt x="264206" y="683652"/>
                </a:lnTo>
                <a:lnTo>
                  <a:pt x="315663" y="700371"/>
                </a:lnTo>
                <a:lnTo>
                  <a:pt x="374904" y="706373"/>
                </a:lnTo>
                <a:lnTo>
                  <a:pt x="315663" y="712376"/>
                </a:lnTo>
                <a:lnTo>
                  <a:pt x="264206" y="729095"/>
                </a:lnTo>
                <a:lnTo>
                  <a:pt x="223625" y="754599"/>
                </a:lnTo>
                <a:lnTo>
                  <a:pt x="197010" y="786954"/>
                </a:lnTo>
                <a:lnTo>
                  <a:pt x="187452" y="824229"/>
                </a:lnTo>
                <a:lnTo>
                  <a:pt x="187452" y="1294891"/>
                </a:lnTo>
                <a:lnTo>
                  <a:pt x="177893" y="1332167"/>
                </a:lnTo>
                <a:lnTo>
                  <a:pt x="151278" y="1364522"/>
                </a:lnTo>
                <a:lnTo>
                  <a:pt x="110697" y="1390026"/>
                </a:lnTo>
                <a:lnTo>
                  <a:pt x="59240" y="1406745"/>
                </a:lnTo>
                <a:lnTo>
                  <a:pt x="0" y="1412747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068314" y="2718943"/>
            <a:ext cx="3194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87567" y="3831335"/>
            <a:ext cx="375285" cy="1211580"/>
          </a:xfrm>
          <a:custGeom>
            <a:avLst/>
            <a:gdLst/>
            <a:ahLst/>
            <a:cxnLst/>
            <a:rect l="l" t="t" r="r" b="b"/>
            <a:pathLst>
              <a:path w="375285" h="1211579">
                <a:moveTo>
                  <a:pt x="0" y="0"/>
                </a:moveTo>
                <a:lnTo>
                  <a:pt x="59240" y="5161"/>
                </a:lnTo>
                <a:lnTo>
                  <a:pt x="110697" y="19527"/>
                </a:lnTo>
                <a:lnTo>
                  <a:pt x="151278" y="41422"/>
                </a:lnTo>
                <a:lnTo>
                  <a:pt x="177893" y="69169"/>
                </a:lnTo>
                <a:lnTo>
                  <a:pt x="187452" y="101091"/>
                </a:lnTo>
                <a:lnTo>
                  <a:pt x="187452" y="504697"/>
                </a:lnTo>
                <a:lnTo>
                  <a:pt x="197010" y="536620"/>
                </a:lnTo>
                <a:lnTo>
                  <a:pt x="223625" y="564367"/>
                </a:lnTo>
                <a:lnTo>
                  <a:pt x="264206" y="586262"/>
                </a:lnTo>
                <a:lnTo>
                  <a:pt x="315663" y="600628"/>
                </a:lnTo>
                <a:lnTo>
                  <a:pt x="374904" y="605789"/>
                </a:lnTo>
                <a:lnTo>
                  <a:pt x="315663" y="610951"/>
                </a:lnTo>
                <a:lnTo>
                  <a:pt x="264206" y="625317"/>
                </a:lnTo>
                <a:lnTo>
                  <a:pt x="223625" y="647212"/>
                </a:lnTo>
                <a:lnTo>
                  <a:pt x="197010" y="674959"/>
                </a:lnTo>
                <a:lnTo>
                  <a:pt x="187452" y="706882"/>
                </a:lnTo>
                <a:lnTo>
                  <a:pt x="187452" y="1110488"/>
                </a:lnTo>
                <a:lnTo>
                  <a:pt x="177893" y="1142410"/>
                </a:lnTo>
                <a:lnTo>
                  <a:pt x="151278" y="1170157"/>
                </a:lnTo>
                <a:lnTo>
                  <a:pt x="110697" y="1192052"/>
                </a:lnTo>
                <a:lnTo>
                  <a:pt x="59240" y="1206418"/>
                </a:lnTo>
                <a:lnTo>
                  <a:pt x="0" y="121158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20765" y="4162171"/>
            <a:ext cx="3422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5786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1473" y="14732"/>
            <a:ext cx="45954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2478" y="1367789"/>
            <a:ext cx="64408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00195" algn="l"/>
                <a:tab pos="4806315" algn="l"/>
                <a:tab pos="5426710" algn="l"/>
                <a:tab pos="613346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程序运行顺序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Main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3198" y="2620709"/>
            <a:ext cx="974725" cy="14681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TOP</a:t>
            </a:r>
            <a:endParaRPr sz="3200">
              <a:latin typeface="Times New Roman"/>
              <a:cs typeface="Times New Roman"/>
            </a:endParaRPr>
          </a:p>
          <a:p>
            <a:pPr marL="487680">
              <a:lnSpc>
                <a:spcPct val="100000"/>
              </a:lnSpc>
              <a:spcBef>
                <a:spcPts val="1835"/>
              </a:spcBef>
            </a:pP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SP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79498" y="3840479"/>
            <a:ext cx="741045" cy="114300"/>
          </a:xfrm>
          <a:custGeom>
            <a:avLst/>
            <a:gdLst/>
            <a:ahLst/>
            <a:cxnLst/>
            <a:rect l="l" t="t" r="r" b="b"/>
            <a:pathLst>
              <a:path w="741044" h="114300">
                <a:moveTo>
                  <a:pt x="550163" y="0"/>
                </a:moveTo>
                <a:lnTo>
                  <a:pt x="550163" y="114300"/>
                </a:lnTo>
                <a:lnTo>
                  <a:pt x="677163" y="76200"/>
                </a:lnTo>
                <a:lnTo>
                  <a:pt x="569213" y="76200"/>
                </a:lnTo>
                <a:lnTo>
                  <a:pt x="569213" y="38100"/>
                </a:lnTo>
                <a:lnTo>
                  <a:pt x="677163" y="38100"/>
                </a:lnTo>
                <a:lnTo>
                  <a:pt x="550163" y="0"/>
                </a:lnTo>
                <a:close/>
              </a:path>
              <a:path w="741044" h="114300">
                <a:moveTo>
                  <a:pt x="5501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0163" y="76200"/>
                </a:lnTo>
                <a:lnTo>
                  <a:pt x="550163" y="38100"/>
                </a:lnTo>
                <a:close/>
              </a:path>
              <a:path w="741044" h="114300">
                <a:moveTo>
                  <a:pt x="677163" y="38100"/>
                </a:moveTo>
                <a:lnTo>
                  <a:pt x="569213" y="38100"/>
                </a:lnTo>
                <a:lnTo>
                  <a:pt x="569213" y="76200"/>
                </a:lnTo>
                <a:lnTo>
                  <a:pt x="677163" y="76200"/>
                </a:lnTo>
                <a:lnTo>
                  <a:pt x="740663" y="57150"/>
                </a:lnTo>
                <a:lnTo>
                  <a:pt x="67716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801111" y="2538222"/>
          <a:ext cx="4055110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7325"/>
              </a:tblGrid>
              <a:tr h="493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  <a:tr h="966215">
                <a:tc>
                  <a:txBody>
                    <a:bodyPr/>
                    <a:lstStyle/>
                    <a:p>
                      <a:pPr algn="ctr" marR="29845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16065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  <a:tr h="998219">
                <a:tc>
                  <a:txBody>
                    <a:bodyPr/>
                    <a:lstStyle/>
                    <a:p>
                      <a:pPr algn="ctr" marR="275590">
                        <a:lnSpc>
                          <a:spcPct val="100000"/>
                        </a:lnSpc>
                        <a:spcBef>
                          <a:spcPts val="1945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24701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ctr" marR="198755">
                        <a:lnSpc>
                          <a:spcPct val="100000"/>
                        </a:lnSpc>
                        <a:spcBef>
                          <a:spcPts val="2315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主程序的活动记录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294005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003298" y="3075432"/>
            <a:ext cx="741045" cy="114300"/>
          </a:xfrm>
          <a:custGeom>
            <a:avLst/>
            <a:gdLst/>
            <a:ahLst/>
            <a:cxnLst/>
            <a:rect l="l" t="t" r="r" b="b"/>
            <a:pathLst>
              <a:path w="741044" h="114300">
                <a:moveTo>
                  <a:pt x="550163" y="0"/>
                </a:moveTo>
                <a:lnTo>
                  <a:pt x="550163" y="114300"/>
                </a:lnTo>
                <a:lnTo>
                  <a:pt x="677163" y="76200"/>
                </a:lnTo>
                <a:lnTo>
                  <a:pt x="569213" y="76200"/>
                </a:lnTo>
                <a:lnTo>
                  <a:pt x="569213" y="38100"/>
                </a:lnTo>
                <a:lnTo>
                  <a:pt x="677163" y="38100"/>
                </a:lnTo>
                <a:lnTo>
                  <a:pt x="550163" y="0"/>
                </a:lnTo>
                <a:close/>
              </a:path>
              <a:path w="741044" h="114300">
                <a:moveTo>
                  <a:pt x="5501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0163" y="76200"/>
                </a:lnTo>
                <a:lnTo>
                  <a:pt x="550163" y="38100"/>
                </a:lnTo>
                <a:close/>
              </a:path>
              <a:path w="741044" h="114300">
                <a:moveTo>
                  <a:pt x="677163" y="38100"/>
                </a:moveTo>
                <a:lnTo>
                  <a:pt x="569213" y="38100"/>
                </a:lnTo>
                <a:lnTo>
                  <a:pt x="569213" y="76200"/>
                </a:lnTo>
                <a:lnTo>
                  <a:pt x="677163" y="76200"/>
                </a:lnTo>
                <a:lnTo>
                  <a:pt x="740663" y="57150"/>
                </a:lnTo>
                <a:lnTo>
                  <a:pt x="67716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93875" y="1933955"/>
            <a:ext cx="6436360" cy="0"/>
          </a:xfrm>
          <a:custGeom>
            <a:avLst/>
            <a:gdLst/>
            <a:ahLst/>
            <a:cxnLst/>
            <a:rect l="l" t="t" r="r" b="b"/>
            <a:pathLst>
              <a:path w="6436359" h="0">
                <a:moveTo>
                  <a:pt x="0" y="0"/>
                </a:moveTo>
                <a:lnTo>
                  <a:pt x="6435852" y="0"/>
                </a:lnTo>
              </a:path>
            </a:pathLst>
          </a:custGeom>
          <a:ln w="762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28335" y="1125981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83102" y="6177097"/>
            <a:ext cx="2476500" cy="4324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404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活动记录的栈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14338" y="1147648"/>
            <a:ext cx="7397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1430" y="1367789"/>
            <a:ext cx="646366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00195" algn="l"/>
                <a:tab pos="4805680" algn="l"/>
                <a:tab pos="5426075" algn="l"/>
                <a:tab pos="6133465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程序运行顺序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Main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5786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3875" y="1933955"/>
            <a:ext cx="6436360" cy="0"/>
          </a:xfrm>
          <a:custGeom>
            <a:avLst/>
            <a:gdLst/>
            <a:ahLst/>
            <a:cxnLst/>
            <a:rect l="l" t="t" r="r" b="b"/>
            <a:pathLst>
              <a:path w="6436359" h="0">
                <a:moveTo>
                  <a:pt x="0" y="0"/>
                </a:moveTo>
                <a:lnTo>
                  <a:pt x="6435852" y="0"/>
                </a:lnTo>
              </a:path>
            </a:pathLst>
          </a:custGeom>
          <a:ln w="762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11473" y="14732"/>
            <a:ext cx="45954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8335" y="1125981"/>
            <a:ext cx="739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14338" y="1147648"/>
            <a:ext cx="7397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2751" y="2372334"/>
            <a:ext cx="895350" cy="1543685"/>
          </a:xfrm>
          <a:prstGeom prst="rect">
            <a:avLst/>
          </a:prstGeom>
        </p:spPr>
        <p:txBody>
          <a:bodyPr wrap="square" lIns="0" tIns="283845" rIns="0" bIns="0" rtlCol="0" vert="horz">
            <a:spAutoFit/>
          </a:bodyPr>
          <a:lstStyle/>
          <a:p>
            <a:pPr algn="r" marR="45085">
              <a:lnSpc>
                <a:spcPct val="100000"/>
              </a:lnSpc>
              <a:spcBef>
                <a:spcPts val="2235"/>
              </a:spcBef>
            </a:pPr>
            <a:r>
              <a:rPr dirty="0" sz="3200" spc="-65" b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OP</a:t>
            </a:r>
            <a:endParaRPr sz="32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2135"/>
              </a:spcBef>
            </a:pP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SP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79498" y="3668267"/>
            <a:ext cx="741045" cy="114300"/>
          </a:xfrm>
          <a:custGeom>
            <a:avLst/>
            <a:gdLst/>
            <a:ahLst/>
            <a:cxnLst/>
            <a:rect l="l" t="t" r="r" b="b"/>
            <a:pathLst>
              <a:path w="741044" h="114300">
                <a:moveTo>
                  <a:pt x="550163" y="0"/>
                </a:moveTo>
                <a:lnTo>
                  <a:pt x="550163" y="114299"/>
                </a:lnTo>
                <a:lnTo>
                  <a:pt x="677163" y="76199"/>
                </a:lnTo>
                <a:lnTo>
                  <a:pt x="569213" y="76199"/>
                </a:lnTo>
                <a:lnTo>
                  <a:pt x="569213" y="38099"/>
                </a:lnTo>
                <a:lnTo>
                  <a:pt x="677163" y="38099"/>
                </a:lnTo>
                <a:lnTo>
                  <a:pt x="550163" y="0"/>
                </a:lnTo>
                <a:close/>
              </a:path>
              <a:path w="741044" h="114300">
                <a:moveTo>
                  <a:pt x="55016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50163" y="76199"/>
                </a:lnTo>
                <a:lnTo>
                  <a:pt x="550163" y="38099"/>
                </a:lnTo>
                <a:close/>
              </a:path>
              <a:path w="741044" h="114300">
                <a:moveTo>
                  <a:pt x="677163" y="38099"/>
                </a:moveTo>
                <a:lnTo>
                  <a:pt x="569213" y="38099"/>
                </a:lnTo>
                <a:lnTo>
                  <a:pt x="569213" y="76199"/>
                </a:lnTo>
                <a:lnTo>
                  <a:pt x="677163" y="76199"/>
                </a:lnTo>
                <a:lnTo>
                  <a:pt x="740663" y="57149"/>
                </a:lnTo>
                <a:lnTo>
                  <a:pt x="677163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79498" y="2775204"/>
            <a:ext cx="741045" cy="114300"/>
          </a:xfrm>
          <a:custGeom>
            <a:avLst/>
            <a:gdLst/>
            <a:ahLst/>
            <a:cxnLst/>
            <a:rect l="l" t="t" r="r" b="b"/>
            <a:pathLst>
              <a:path w="741044" h="114300">
                <a:moveTo>
                  <a:pt x="550163" y="0"/>
                </a:moveTo>
                <a:lnTo>
                  <a:pt x="550163" y="114300"/>
                </a:lnTo>
                <a:lnTo>
                  <a:pt x="677163" y="76200"/>
                </a:lnTo>
                <a:lnTo>
                  <a:pt x="569213" y="76200"/>
                </a:lnTo>
                <a:lnTo>
                  <a:pt x="569213" y="38100"/>
                </a:lnTo>
                <a:lnTo>
                  <a:pt x="677163" y="38100"/>
                </a:lnTo>
                <a:lnTo>
                  <a:pt x="550163" y="0"/>
                </a:lnTo>
                <a:close/>
              </a:path>
              <a:path w="741044" h="114300">
                <a:moveTo>
                  <a:pt x="5501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0163" y="76200"/>
                </a:lnTo>
                <a:lnTo>
                  <a:pt x="550163" y="38100"/>
                </a:lnTo>
                <a:close/>
              </a:path>
              <a:path w="741044" h="114300">
                <a:moveTo>
                  <a:pt x="677163" y="38100"/>
                </a:moveTo>
                <a:lnTo>
                  <a:pt x="569213" y="38100"/>
                </a:lnTo>
                <a:lnTo>
                  <a:pt x="569213" y="76200"/>
                </a:lnTo>
                <a:lnTo>
                  <a:pt x="677163" y="76200"/>
                </a:lnTo>
                <a:lnTo>
                  <a:pt x="740663" y="57150"/>
                </a:lnTo>
                <a:lnTo>
                  <a:pt x="67716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801111" y="2326385"/>
          <a:ext cx="4055110" cy="3475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7325"/>
              </a:tblGrid>
              <a:tr h="493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  <a:tr h="966215">
                <a:tc>
                  <a:txBody>
                    <a:bodyPr/>
                    <a:lstStyle/>
                    <a:p>
                      <a:pPr algn="ctr" marR="275590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dirty="0" sz="32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32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18796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  <a:tr h="999744">
                <a:tc>
                  <a:txBody>
                    <a:bodyPr/>
                    <a:lstStyle/>
                    <a:p>
                      <a:pPr algn="ctr" marR="27559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24765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  <a:tr h="996695">
                <a:tc>
                  <a:txBody>
                    <a:bodyPr/>
                    <a:lstStyle/>
                    <a:p>
                      <a:pPr algn="ctr" marR="198755">
                        <a:lnSpc>
                          <a:spcPct val="100000"/>
                        </a:lnSpc>
                        <a:spcBef>
                          <a:spcPts val="231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主程序的活动记录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293370">
                    <a:lnL w="38100">
                      <a:solidFill>
                        <a:srgbClr val="66FFFF"/>
                      </a:solidFill>
                      <a:prstDash val="solid"/>
                    </a:lnL>
                    <a:lnR w="38100">
                      <a:solidFill>
                        <a:srgbClr val="66FFFF"/>
                      </a:solidFill>
                      <a:prstDash val="solid"/>
                    </a:lnR>
                    <a:lnT w="38100">
                      <a:solidFill>
                        <a:srgbClr val="66FFFF"/>
                      </a:solidFill>
                      <a:prstDash val="solid"/>
                    </a:lnT>
                    <a:lnB w="38100">
                      <a:solidFill>
                        <a:srgbClr val="66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3483102" y="6177097"/>
            <a:ext cx="2476500" cy="4324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404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活动记录的栈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5786" y="14732"/>
            <a:ext cx="68713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287905" algn="l"/>
                <a:tab pos="2789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0939" y="810006"/>
            <a:ext cx="574484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宋体"/>
                <a:cs typeface="宋体"/>
              </a:rPr>
              <a:t>嵌套定义的过程可使用的数</a:t>
            </a:r>
            <a:r>
              <a:rPr dirty="0" sz="3200" spc="-10">
                <a:latin typeface="宋体"/>
                <a:cs typeface="宋体"/>
              </a:rPr>
              <a:t>据：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763" y="1298549"/>
            <a:ext cx="6155055" cy="340106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2020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、本过程定义的数据；</a:t>
            </a:r>
            <a:endParaRPr sz="3200">
              <a:latin typeface="宋体"/>
              <a:cs typeface="宋体"/>
            </a:endParaRPr>
          </a:p>
          <a:p>
            <a:pPr marL="42545">
              <a:lnSpc>
                <a:spcPct val="100000"/>
              </a:lnSpc>
              <a:spcBef>
                <a:spcPts val="1920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、外层过程中定义的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据。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2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引入问题：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外层过程中定义的数据怎样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找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到？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7314" y="0"/>
            <a:ext cx="7625080" cy="585597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741045">
              <a:lnSpc>
                <a:spcPct val="100000"/>
              </a:lnSpc>
              <a:spcBef>
                <a:spcPts val="969"/>
              </a:spcBef>
              <a:tabLst>
                <a:tab pos="1379220" algn="l"/>
                <a:tab pos="3016250" algn="l"/>
                <a:tab pos="35179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华文新魏"/>
              <a:cs typeface="华文新魏"/>
            </a:endParaRPr>
          </a:p>
          <a:p>
            <a:pPr marL="814705" indent="-445770">
              <a:lnSpc>
                <a:spcPct val="100000"/>
              </a:lnSpc>
              <a:buClr>
                <a:srgbClr val="00FFFF"/>
              </a:buClr>
              <a:buSzPct val="139062"/>
              <a:buFont typeface="Wingdings"/>
              <a:buChar char=""/>
              <a:tabLst>
                <a:tab pos="81534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关键技术：</a:t>
            </a:r>
            <a:endParaRPr sz="3200">
              <a:latin typeface="宋体"/>
              <a:cs typeface="宋体"/>
            </a:endParaRPr>
          </a:p>
          <a:p>
            <a:pPr marL="1081405" marR="5080">
              <a:lnSpc>
                <a:spcPts val="5760"/>
              </a:lnSpc>
              <a:spcBef>
                <a:spcPts val="21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解决对非局部量的引用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存取）。 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设法跟踪每个外层过程</a:t>
            </a:r>
            <a:r>
              <a:rPr dirty="0" sz="3200" spc="-15" b="1">
                <a:solidFill>
                  <a:srgbClr val="FFFF99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99"/>
                </a:solidFill>
                <a:latin typeface="宋体"/>
                <a:cs typeface="宋体"/>
              </a:rPr>
              <a:t>最新活</a:t>
            </a:r>
            <a:r>
              <a:rPr dirty="0" sz="3200" spc="-15" b="1">
                <a:solidFill>
                  <a:srgbClr val="FFFF99"/>
                </a:solidFill>
                <a:latin typeface="宋体"/>
                <a:cs typeface="宋体"/>
              </a:rPr>
              <a:t>动</a:t>
            </a:r>
            <a:r>
              <a:rPr dirty="0" sz="3200" spc="-10" b="1">
                <a:solidFill>
                  <a:srgbClr val="FFFF99"/>
                </a:solidFill>
                <a:latin typeface="宋体"/>
                <a:cs typeface="宋体"/>
              </a:rPr>
              <a:t>记</a:t>
            </a:r>
            <a:endParaRPr sz="3200">
              <a:latin typeface="宋体"/>
              <a:cs typeface="宋体"/>
            </a:endParaRPr>
          </a:p>
          <a:p>
            <a:pPr marL="369570">
              <a:lnSpc>
                <a:spcPct val="100000"/>
              </a:lnSpc>
              <a:spcBef>
                <a:spcPts val="1410"/>
              </a:spcBef>
            </a:pP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录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AR</a:t>
            </a: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的位置。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宋体"/>
              <a:cs typeface="宋体"/>
            </a:endParaRPr>
          </a:p>
          <a:p>
            <a:pPr marL="375285" indent="-363220">
              <a:lnSpc>
                <a:spcPct val="100000"/>
              </a:lnSpc>
              <a:buClr>
                <a:srgbClr val="00FFFF"/>
              </a:buClr>
              <a:buSzPct val="139062"/>
              <a:buFont typeface="Wingdings"/>
              <a:buChar char=""/>
              <a:tabLst>
                <a:tab pos="37592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跟踪办法：</a:t>
            </a:r>
            <a:endParaRPr sz="3200">
              <a:latin typeface="宋体"/>
              <a:cs typeface="宋体"/>
            </a:endParaRPr>
          </a:p>
          <a:p>
            <a:pPr lvl="1" marL="1129665" indent="-405765">
              <a:lnSpc>
                <a:spcPct val="100000"/>
              </a:lnSpc>
              <a:spcBef>
                <a:spcPts val="1920"/>
              </a:spcBef>
              <a:buFont typeface="Times New Roman"/>
              <a:buAutoNum type="arabicPeriod"/>
              <a:tabLst>
                <a:tab pos="113030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用静态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访问、存取）链。</a:t>
            </a:r>
            <a:endParaRPr sz="3200">
              <a:latin typeface="宋体"/>
              <a:cs typeface="宋体"/>
            </a:endParaRPr>
          </a:p>
          <a:p>
            <a:pPr lvl="1" marL="1129665" indent="-405765">
              <a:lnSpc>
                <a:spcPct val="100000"/>
              </a:lnSpc>
              <a:spcBef>
                <a:spcPts val="1920"/>
              </a:spcBef>
              <a:buFont typeface="Times New Roman"/>
              <a:buAutoNum type="arabicPeriod"/>
              <a:tabLst>
                <a:tab pos="113030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DISPLAY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表。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3412" y="1311338"/>
          <a:ext cx="4081779" cy="3511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8600"/>
              </a:tblGrid>
              <a:tr h="5793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局部变量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320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机器状态信息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400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32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存</a:t>
                      </a:r>
                      <a:r>
                        <a:rPr dirty="0" sz="3200" spc="-72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32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取</a:t>
                      </a:r>
                      <a:r>
                        <a:rPr dirty="0" sz="3200" spc="-73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32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链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400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32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控</a:t>
                      </a:r>
                      <a:r>
                        <a:rPr dirty="0" sz="3200" spc="-72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32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制</a:t>
                      </a:r>
                      <a:r>
                        <a:rPr dirty="0" sz="3200" spc="-73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32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链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400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  <a:tabLst>
                          <a:tab pos="746760" algn="l"/>
                        </a:tabLst>
                      </a:pPr>
                      <a:r>
                        <a:rPr dirty="0" sz="3200" spc="-10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实	参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393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3200" spc="-5" b="1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返回地址</a:t>
                      </a:r>
                      <a:endParaRPr sz="3200">
                        <a:latin typeface="宋体"/>
                        <a:cs typeface="宋体"/>
                      </a:endParaRPr>
                    </a:p>
                  </a:txBody>
                  <a:tcPr marL="0" marR="0" marB="0" marT="400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2408" y="748030"/>
            <a:ext cx="306451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（活动记录）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77461" y="2801111"/>
            <a:ext cx="1049020" cy="114300"/>
          </a:xfrm>
          <a:custGeom>
            <a:avLst/>
            <a:gdLst/>
            <a:ahLst/>
            <a:cxnLst/>
            <a:rect l="l" t="t" r="r" b="b"/>
            <a:pathLst>
              <a:path w="1049020" h="114300">
                <a:moveTo>
                  <a:pt x="934212" y="0"/>
                </a:moveTo>
                <a:lnTo>
                  <a:pt x="934212" y="114300"/>
                </a:lnTo>
                <a:lnTo>
                  <a:pt x="1010412" y="76200"/>
                </a:lnTo>
                <a:lnTo>
                  <a:pt x="953262" y="76200"/>
                </a:lnTo>
                <a:lnTo>
                  <a:pt x="953262" y="38100"/>
                </a:lnTo>
                <a:lnTo>
                  <a:pt x="1010412" y="38100"/>
                </a:lnTo>
                <a:lnTo>
                  <a:pt x="934212" y="0"/>
                </a:lnTo>
                <a:close/>
              </a:path>
              <a:path w="1049020" h="114300">
                <a:moveTo>
                  <a:pt x="9342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34212" y="76200"/>
                </a:lnTo>
                <a:lnTo>
                  <a:pt x="934212" y="38100"/>
                </a:lnTo>
                <a:close/>
              </a:path>
              <a:path w="1049020" h="114300">
                <a:moveTo>
                  <a:pt x="1010412" y="38100"/>
                </a:moveTo>
                <a:lnTo>
                  <a:pt x="953262" y="38100"/>
                </a:lnTo>
                <a:lnTo>
                  <a:pt x="953262" y="76200"/>
                </a:lnTo>
                <a:lnTo>
                  <a:pt x="1010412" y="76200"/>
                </a:lnTo>
                <a:lnTo>
                  <a:pt x="1048512" y="57150"/>
                </a:lnTo>
                <a:lnTo>
                  <a:pt x="10104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016246" y="915161"/>
            <a:ext cx="4000500" cy="1371600"/>
          </a:xfrm>
          <a:prstGeom prst="rect">
            <a:avLst/>
          </a:prstGeom>
          <a:ln w="38100">
            <a:solidFill>
              <a:srgbClr val="99FFC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81305">
              <a:lnSpc>
                <a:spcPts val="2610"/>
              </a:lnSpc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SL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存取链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指向定义该</a:t>
            </a:r>
            <a:endParaRPr sz="24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980"/>
              </a:spcBef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过程的直接外层过程运行</a:t>
            </a:r>
            <a:endParaRPr sz="24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869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时最新活动记录的基地址。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77461" y="3392423"/>
            <a:ext cx="1061085" cy="114300"/>
          </a:xfrm>
          <a:custGeom>
            <a:avLst/>
            <a:gdLst/>
            <a:ahLst/>
            <a:cxnLst/>
            <a:rect l="l" t="t" r="r" b="b"/>
            <a:pathLst>
              <a:path w="1061085" h="114300">
                <a:moveTo>
                  <a:pt x="946403" y="0"/>
                </a:moveTo>
                <a:lnTo>
                  <a:pt x="946403" y="114300"/>
                </a:lnTo>
                <a:lnTo>
                  <a:pt x="1022603" y="76200"/>
                </a:lnTo>
                <a:lnTo>
                  <a:pt x="965453" y="76200"/>
                </a:lnTo>
                <a:lnTo>
                  <a:pt x="965453" y="38100"/>
                </a:lnTo>
                <a:lnTo>
                  <a:pt x="1022603" y="38100"/>
                </a:lnTo>
                <a:lnTo>
                  <a:pt x="946403" y="0"/>
                </a:lnTo>
                <a:close/>
              </a:path>
              <a:path w="1061085" h="114300">
                <a:moveTo>
                  <a:pt x="94640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46403" y="76200"/>
                </a:lnTo>
                <a:lnTo>
                  <a:pt x="946403" y="38100"/>
                </a:lnTo>
                <a:close/>
              </a:path>
              <a:path w="1061085" h="114300">
                <a:moveTo>
                  <a:pt x="1022603" y="38100"/>
                </a:moveTo>
                <a:lnTo>
                  <a:pt x="965453" y="38100"/>
                </a:lnTo>
                <a:lnTo>
                  <a:pt x="965453" y="76200"/>
                </a:lnTo>
                <a:lnTo>
                  <a:pt x="1022603" y="76200"/>
                </a:lnTo>
                <a:lnTo>
                  <a:pt x="1060703" y="57150"/>
                </a:lnTo>
                <a:lnTo>
                  <a:pt x="102260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333238" y="2383782"/>
            <a:ext cx="591820" cy="1322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">
              <a:lnSpc>
                <a:spcPct val="1329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SL 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DL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38165" y="4278629"/>
            <a:ext cx="3878579" cy="1446530"/>
          </a:xfrm>
          <a:prstGeom prst="rect">
            <a:avLst/>
          </a:prstGeom>
          <a:ln w="38100">
            <a:solidFill>
              <a:srgbClr val="99FFCC"/>
            </a:solidFill>
          </a:ln>
        </p:spPr>
        <p:txBody>
          <a:bodyPr wrap="square" lIns="0" tIns="58419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459"/>
              </a:spcBef>
            </a:pPr>
            <a:r>
              <a:rPr dirty="0" sz="2400" spc="-10" b="1">
                <a:solidFill>
                  <a:srgbClr val="FFFF00"/>
                </a:solidFill>
                <a:latin typeface="Times New Roman"/>
                <a:cs typeface="Times New Roman"/>
              </a:rPr>
              <a:t>DL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2400" b="1">
                <a:solidFill>
                  <a:srgbClr val="FFFF00"/>
                </a:solidFill>
                <a:latin typeface="宋体"/>
                <a:cs typeface="宋体"/>
              </a:rPr>
              <a:t>控制链</a:t>
            </a:r>
            <a:r>
              <a:rPr dirty="0" sz="2400" spc="-10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r>
              <a:rPr dirty="0" sz="2400" spc="-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指向调用</a:t>
            </a:r>
            <a:endParaRPr sz="2400">
              <a:latin typeface="宋体"/>
              <a:cs typeface="宋体"/>
            </a:endParaRPr>
          </a:p>
          <a:p>
            <a:pPr marL="154305" marR="346710">
              <a:lnSpc>
                <a:spcPct val="120800"/>
              </a:lnSpc>
              <a:spcBef>
                <a:spcPts val="245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该过程前正在运行过程的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活动记录基地址。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35786" y="14732"/>
            <a:ext cx="68713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287905" algn="l"/>
                <a:tab pos="2789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4224" y="1405889"/>
            <a:ext cx="9429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7.3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422" y="244600"/>
            <a:ext cx="3914140" cy="6535420"/>
          </a:xfrm>
          <a:custGeom>
            <a:avLst/>
            <a:gdLst/>
            <a:ahLst/>
            <a:cxnLst/>
            <a:rect l="l" t="t" r="r" b="b"/>
            <a:pathLst>
              <a:path w="3914140" h="6535420">
                <a:moveTo>
                  <a:pt x="0" y="6534911"/>
                </a:moveTo>
                <a:lnTo>
                  <a:pt x="3913632" y="6534911"/>
                </a:lnTo>
                <a:lnTo>
                  <a:pt x="3913632" y="0"/>
                </a:lnTo>
                <a:lnTo>
                  <a:pt x="0" y="0"/>
                </a:lnTo>
                <a:lnTo>
                  <a:pt x="0" y="6534911"/>
                </a:lnTo>
                <a:close/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5321" y="257302"/>
            <a:ext cx="273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97940" algn="l"/>
              </a:tabLst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program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main( i,0)</a:t>
            </a:r>
            <a:r>
              <a:rPr dirty="0" sz="24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2547" y="437133"/>
            <a:ext cx="1734185" cy="15468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466090">
              <a:lnSpc>
                <a:spcPct val="100000"/>
              </a:lnSpc>
              <a:spcBef>
                <a:spcPts val="545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425"/>
              </a:lnSpc>
              <a:spcBef>
                <a:spcPts val="440"/>
              </a:spcBef>
              <a:tabLst>
                <a:tab pos="738505" algn="l"/>
              </a:tabLst>
            </a:pP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proc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R(c,d)</a:t>
            </a:r>
            <a:r>
              <a:rPr dirty="0" sz="24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619760">
              <a:lnSpc>
                <a:spcPts val="2425"/>
              </a:lnSpc>
            </a:pPr>
            <a:r>
              <a:rPr dirty="0" sz="2400" spc="-5" b="1">
                <a:solidFill>
                  <a:srgbClr val="FFFF00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4"/>
              </a:spcBef>
              <a:tabLst>
                <a:tab pos="626110" algn="l"/>
              </a:tabLst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end	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/*R*/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5321" y="1958466"/>
            <a:ext cx="2453005" cy="4744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ts val="2480"/>
              </a:lnSpc>
              <a:spcBef>
                <a:spcPts val="100"/>
              </a:spcBef>
              <a:tabLst>
                <a:tab pos="1348105" algn="l"/>
              </a:tabLst>
            </a:pPr>
            <a:r>
              <a:rPr dirty="0" sz="2400" spc="-15" b="1">
                <a:solidFill>
                  <a:srgbClr val="66FFFF"/>
                </a:solidFill>
                <a:latin typeface="Times New Roman"/>
                <a:cs typeface="Times New Roman"/>
              </a:rPr>
              <a:t>proc	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dirty="0" sz="2400" spc="-15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(a);</a:t>
            </a:r>
            <a:endParaRPr sz="2400">
              <a:latin typeface="Times New Roman"/>
              <a:cs typeface="Times New Roman"/>
            </a:endParaRPr>
          </a:p>
          <a:p>
            <a:pPr marL="615315">
              <a:lnSpc>
                <a:spcPts val="2480"/>
              </a:lnSpc>
            </a:pPr>
            <a:r>
              <a:rPr dirty="0" sz="2400" b="1">
                <a:solidFill>
                  <a:srgbClr val="66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838200">
              <a:lnSpc>
                <a:spcPts val="2425"/>
              </a:lnSpc>
              <a:spcBef>
                <a:spcPts val="515"/>
              </a:spcBef>
              <a:tabLst>
                <a:tab pos="1653539" algn="l"/>
              </a:tabLst>
            </a:pPr>
            <a:r>
              <a:rPr dirty="0" sz="2400" spc="-15" b="1">
                <a:solidFill>
                  <a:srgbClr val="FFFF99"/>
                </a:solidFill>
                <a:latin typeface="Times New Roman"/>
                <a:cs typeface="Times New Roman"/>
              </a:rPr>
              <a:t>proc	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sz="2400" spc="-10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(b);</a:t>
            </a:r>
            <a:endParaRPr sz="2400">
              <a:latin typeface="Times New Roman"/>
              <a:cs typeface="Times New Roman"/>
            </a:endParaRPr>
          </a:p>
          <a:p>
            <a:pPr marL="1384935">
              <a:lnSpc>
                <a:spcPts val="2325"/>
              </a:lnSpc>
            </a:pPr>
            <a:r>
              <a:rPr dirty="0" sz="2400" b="1">
                <a:solidFill>
                  <a:srgbClr val="FFFF99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1066800">
              <a:lnSpc>
                <a:spcPts val="2690"/>
              </a:lnSpc>
            </a:pP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R(x,y);</a:t>
            </a:r>
            <a:endParaRPr sz="2400">
              <a:latin typeface="Times New Roman"/>
              <a:cs typeface="Times New Roman"/>
            </a:endParaRPr>
          </a:p>
          <a:p>
            <a:pPr marL="838200">
              <a:lnSpc>
                <a:spcPts val="2335"/>
              </a:lnSpc>
              <a:tabLst>
                <a:tab pos="1616710" algn="l"/>
              </a:tabLst>
            </a:pP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end	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/*</a:t>
            </a:r>
            <a:r>
              <a:rPr dirty="0" sz="2400" spc="-6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Q*/</a:t>
            </a:r>
            <a:endParaRPr sz="2400">
              <a:latin typeface="Times New Roman"/>
              <a:cs typeface="Times New Roman"/>
            </a:endParaRPr>
          </a:p>
          <a:p>
            <a:pPr marL="615315">
              <a:lnSpc>
                <a:spcPts val="2425"/>
              </a:lnSpc>
            </a:pPr>
            <a:r>
              <a:rPr dirty="0" sz="2400" spc="-5" b="1">
                <a:solidFill>
                  <a:srgbClr val="66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685800">
              <a:lnSpc>
                <a:spcPts val="2690"/>
              </a:lnSpc>
              <a:spcBef>
                <a:spcPts val="145"/>
              </a:spcBef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Q(z);</a:t>
            </a:r>
            <a:endParaRPr sz="2400">
              <a:latin typeface="Times New Roman"/>
              <a:cs typeface="Times New Roman"/>
            </a:endParaRPr>
          </a:p>
          <a:p>
            <a:pPr marL="457200">
              <a:lnSpc>
                <a:spcPts val="2425"/>
              </a:lnSpc>
              <a:tabLst>
                <a:tab pos="1159510" algn="l"/>
              </a:tabLst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end	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/*</a:t>
            </a:r>
            <a:r>
              <a:rPr dirty="0" sz="2400" spc="-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P*/</a:t>
            </a:r>
            <a:endParaRPr sz="2400">
              <a:latin typeface="Times New Roman"/>
              <a:cs typeface="Times New Roman"/>
            </a:endParaRPr>
          </a:p>
          <a:p>
            <a:pPr marL="615315">
              <a:lnSpc>
                <a:spcPts val="2320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381000">
              <a:lnSpc>
                <a:spcPts val="2305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P(W)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15315">
              <a:lnSpc>
                <a:spcPts val="2305"/>
              </a:lnSpc>
            </a:pPr>
            <a:r>
              <a:rPr dirty="0" sz="2400" spc="-5" b="1">
                <a:solidFill>
                  <a:srgbClr val="FF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381000">
              <a:lnSpc>
                <a:spcPts val="230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R(U,V)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15315">
              <a:lnSpc>
                <a:spcPts val="2360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645"/>
              </a:lnSpc>
              <a:tabLst>
                <a:tab pos="70231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end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/*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main*/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0513" y="254635"/>
            <a:ext cx="18103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程序结构图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06261" y="1067561"/>
            <a:ext cx="599440" cy="4958080"/>
          </a:xfrm>
          <a:custGeom>
            <a:avLst/>
            <a:gdLst/>
            <a:ahLst/>
            <a:cxnLst/>
            <a:rect l="l" t="t" r="r" b="b"/>
            <a:pathLst>
              <a:path w="599440" h="4958080">
                <a:moveTo>
                  <a:pt x="598932" y="4957572"/>
                </a:moveTo>
                <a:lnTo>
                  <a:pt x="541242" y="4955679"/>
                </a:lnTo>
                <a:lnTo>
                  <a:pt x="485106" y="4950116"/>
                </a:lnTo>
                <a:lnTo>
                  <a:pt x="430773" y="4941057"/>
                </a:lnTo>
                <a:lnTo>
                  <a:pt x="378496" y="4928674"/>
                </a:lnTo>
                <a:lnTo>
                  <a:pt x="328525" y="4913141"/>
                </a:lnTo>
                <a:lnTo>
                  <a:pt x="281110" y="4894631"/>
                </a:lnTo>
                <a:lnTo>
                  <a:pt x="236502" y="4873318"/>
                </a:lnTo>
                <a:lnTo>
                  <a:pt x="194952" y="4849375"/>
                </a:lnTo>
                <a:lnTo>
                  <a:pt x="156711" y="4822974"/>
                </a:lnTo>
                <a:lnTo>
                  <a:pt x="122030" y="4794290"/>
                </a:lnTo>
                <a:lnTo>
                  <a:pt x="91159" y="4763495"/>
                </a:lnTo>
                <a:lnTo>
                  <a:pt x="64350" y="4730763"/>
                </a:lnTo>
                <a:lnTo>
                  <a:pt x="41853" y="4696267"/>
                </a:lnTo>
                <a:lnTo>
                  <a:pt x="23918" y="4660181"/>
                </a:lnTo>
                <a:lnTo>
                  <a:pt x="10797" y="4622677"/>
                </a:lnTo>
                <a:lnTo>
                  <a:pt x="2741" y="4583929"/>
                </a:lnTo>
                <a:lnTo>
                  <a:pt x="0" y="4544110"/>
                </a:lnTo>
                <a:lnTo>
                  <a:pt x="0" y="413512"/>
                </a:lnTo>
                <a:lnTo>
                  <a:pt x="2741" y="373692"/>
                </a:lnTo>
                <a:lnTo>
                  <a:pt x="10797" y="334943"/>
                </a:lnTo>
                <a:lnTo>
                  <a:pt x="23918" y="297437"/>
                </a:lnTo>
                <a:lnTo>
                  <a:pt x="41853" y="261347"/>
                </a:lnTo>
                <a:lnTo>
                  <a:pt x="64350" y="226848"/>
                </a:lnTo>
                <a:lnTo>
                  <a:pt x="91159" y="194112"/>
                </a:lnTo>
                <a:lnTo>
                  <a:pt x="122030" y="163313"/>
                </a:lnTo>
                <a:lnTo>
                  <a:pt x="156711" y="134625"/>
                </a:lnTo>
                <a:lnTo>
                  <a:pt x="194952" y="108220"/>
                </a:lnTo>
                <a:lnTo>
                  <a:pt x="236502" y="84272"/>
                </a:lnTo>
                <a:lnTo>
                  <a:pt x="281110" y="62954"/>
                </a:lnTo>
                <a:lnTo>
                  <a:pt x="328525" y="44440"/>
                </a:lnTo>
                <a:lnTo>
                  <a:pt x="378496" y="28904"/>
                </a:lnTo>
                <a:lnTo>
                  <a:pt x="430773" y="16518"/>
                </a:lnTo>
                <a:lnTo>
                  <a:pt x="485106" y="7457"/>
                </a:lnTo>
                <a:lnTo>
                  <a:pt x="541242" y="1893"/>
                </a:lnTo>
                <a:lnTo>
                  <a:pt x="59893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45402" y="1427225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5" h="792480">
                <a:moveTo>
                  <a:pt x="283464" y="792479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45402" y="2830829"/>
            <a:ext cx="283845" cy="1460500"/>
          </a:xfrm>
          <a:custGeom>
            <a:avLst/>
            <a:gdLst/>
            <a:ahLst/>
            <a:cxnLst/>
            <a:rect l="l" t="t" r="r" b="b"/>
            <a:pathLst>
              <a:path w="283845" h="1460500">
                <a:moveTo>
                  <a:pt x="283464" y="1459992"/>
                </a:moveTo>
                <a:lnTo>
                  <a:pt x="218456" y="1456770"/>
                </a:lnTo>
                <a:lnTo>
                  <a:pt x="158787" y="1447595"/>
                </a:lnTo>
                <a:lnTo>
                  <a:pt x="106155" y="1433199"/>
                </a:lnTo>
                <a:lnTo>
                  <a:pt x="62261" y="1414316"/>
                </a:lnTo>
                <a:lnTo>
                  <a:pt x="28804" y="1391678"/>
                </a:lnTo>
                <a:lnTo>
                  <a:pt x="0" y="1338072"/>
                </a:lnTo>
                <a:lnTo>
                  <a:pt x="0" y="121920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59320" y="4702302"/>
            <a:ext cx="902335" cy="1092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685">
              <a:lnSpc>
                <a:spcPct val="1250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 P  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94626" y="3006089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5" h="792479">
                <a:moveTo>
                  <a:pt x="283464" y="792480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7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983351" y="2519298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83351" y="2946018"/>
            <a:ext cx="381000" cy="858519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7732" y="1599437"/>
            <a:ext cx="281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06945" y="3299840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3335" y="3869817"/>
            <a:ext cx="794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call</a:t>
            </a:r>
            <a:r>
              <a:rPr dirty="0" sz="2400" spc="-10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57058" y="3212338"/>
            <a:ext cx="1242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884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0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49017" y="4909565"/>
            <a:ext cx="2563495" cy="1175385"/>
          </a:xfrm>
          <a:custGeom>
            <a:avLst/>
            <a:gdLst/>
            <a:ahLst/>
            <a:cxnLst/>
            <a:rect l="l" t="t" r="r" b="b"/>
            <a:pathLst>
              <a:path w="2563495" h="1175385">
                <a:moveTo>
                  <a:pt x="0" y="1175003"/>
                </a:moveTo>
                <a:lnTo>
                  <a:pt x="2563368" y="1175003"/>
                </a:lnTo>
                <a:lnTo>
                  <a:pt x="2563368" y="0"/>
                </a:lnTo>
                <a:lnTo>
                  <a:pt x="0" y="0"/>
                </a:lnTo>
                <a:lnTo>
                  <a:pt x="0" y="11750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80260" y="5049723"/>
            <a:ext cx="251714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5305" marR="54546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主程序的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47394" y="4852415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299"/>
                </a:lnTo>
                <a:lnTo>
                  <a:pt x="773176" y="76199"/>
                </a:lnTo>
                <a:lnTo>
                  <a:pt x="665226" y="76199"/>
                </a:lnTo>
                <a:lnTo>
                  <a:pt x="665226" y="38099"/>
                </a:lnTo>
                <a:lnTo>
                  <a:pt x="773176" y="38099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46176" y="76199"/>
                </a:lnTo>
                <a:lnTo>
                  <a:pt x="646176" y="38099"/>
                </a:lnTo>
                <a:close/>
              </a:path>
              <a:path w="836930" h="114300">
                <a:moveTo>
                  <a:pt x="773176" y="38099"/>
                </a:moveTo>
                <a:lnTo>
                  <a:pt x="665226" y="38099"/>
                </a:lnTo>
                <a:lnTo>
                  <a:pt x="665226" y="76199"/>
                </a:lnTo>
                <a:lnTo>
                  <a:pt x="773176" y="76199"/>
                </a:lnTo>
                <a:lnTo>
                  <a:pt x="836676" y="57149"/>
                </a:lnTo>
                <a:lnTo>
                  <a:pt x="77317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0817" y="6027420"/>
            <a:ext cx="847725" cy="114300"/>
          </a:xfrm>
          <a:custGeom>
            <a:avLst/>
            <a:gdLst/>
            <a:ahLst/>
            <a:cxnLst/>
            <a:rect l="l" t="t" r="r" b="b"/>
            <a:pathLst>
              <a:path w="847725" h="114300">
                <a:moveTo>
                  <a:pt x="656844" y="0"/>
                </a:moveTo>
                <a:lnTo>
                  <a:pt x="656844" y="114299"/>
                </a:lnTo>
                <a:lnTo>
                  <a:pt x="783844" y="76199"/>
                </a:lnTo>
                <a:lnTo>
                  <a:pt x="675894" y="76199"/>
                </a:lnTo>
                <a:lnTo>
                  <a:pt x="675894" y="38099"/>
                </a:lnTo>
                <a:lnTo>
                  <a:pt x="783844" y="38099"/>
                </a:lnTo>
                <a:lnTo>
                  <a:pt x="656844" y="0"/>
                </a:lnTo>
                <a:close/>
              </a:path>
              <a:path w="847725" h="114300">
                <a:moveTo>
                  <a:pt x="6568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56844" y="76199"/>
                </a:lnTo>
                <a:lnTo>
                  <a:pt x="656844" y="38099"/>
                </a:lnTo>
                <a:close/>
              </a:path>
              <a:path w="847725" h="114300">
                <a:moveTo>
                  <a:pt x="783844" y="38099"/>
                </a:moveTo>
                <a:lnTo>
                  <a:pt x="675894" y="38099"/>
                </a:lnTo>
                <a:lnTo>
                  <a:pt x="675894" y="76199"/>
                </a:lnTo>
                <a:lnTo>
                  <a:pt x="783844" y="76199"/>
                </a:lnTo>
                <a:lnTo>
                  <a:pt x="847344" y="57149"/>
                </a:lnTo>
                <a:lnTo>
                  <a:pt x="783844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74394" y="5595924"/>
            <a:ext cx="520065" cy="78676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 marR="5080" indent="55244">
              <a:lnSpc>
                <a:spcPct val="78500"/>
              </a:lnSpc>
              <a:spcBef>
                <a:spcPts val="81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 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50685" y="1812798"/>
            <a:ext cx="599440" cy="4337685"/>
          </a:xfrm>
          <a:custGeom>
            <a:avLst/>
            <a:gdLst/>
            <a:ahLst/>
            <a:cxnLst/>
            <a:rect l="l" t="t" r="r" b="b"/>
            <a:pathLst>
              <a:path w="599440" h="4337685">
                <a:moveTo>
                  <a:pt x="598932" y="4337304"/>
                </a:moveTo>
                <a:lnTo>
                  <a:pt x="541242" y="4335411"/>
                </a:lnTo>
                <a:lnTo>
                  <a:pt x="485106" y="4329848"/>
                </a:lnTo>
                <a:lnTo>
                  <a:pt x="430773" y="4320789"/>
                </a:lnTo>
                <a:lnTo>
                  <a:pt x="378496" y="4308406"/>
                </a:lnTo>
                <a:lnTo>
                  <a:pt x="328525" y="4292873"/>
                </a:lnTo>
                <a:lnTo>
                  <a:pt x="281110" y="4274364"/>
                </a:lnTo>
                <a:lnTo>
                  <a:pt x="236502" y="4253051"/>
                </a:lnTo>
                <a:lnTo>
                  <a:pt x="194952" y="4229108"/>
                </a:lnTo>
                <a:lnTo>
                  <a:pt x="156711" y="4202708"/>
                </a:lnTo>
                <a:lnTo>
                  <a:pt x="122030" y="4174024"/>
                </a:lnTo>
                <a:lnTo>
                  <a:pt x="91159" y="4143230"/>
                </a:lnTo>
                <a:lnTo>
                  <a:pt x="64350" y="4110500"/>
                </a:lnTo>
                <a:lnTo>
                  <a:pt x="41853" y="4076005"/>
                </a:lnTo>
                <a:lnTo>
                  <a:pt x="23918" y="4039920"/>
                </a:lnTo>
                <a:lnTo>
                  <a:pt x="10797" y="4002418"/>
                </a:lnTo>
                <a:lnTo>
                  <a:pt x="2741" y="3963672"/>
                </a:lnTo>
                <a:lnTo>
                  <a:pt x="0" y="3923855"/>
                </a:lnTo>
                <a:lnTo>
                  <a:pt x="0" y="413512"/>
                </a:lnTo>
                <a:lnTo>
                  <a:pt x="2741" y="373692"/>
                </a:lnTo>
                <a:lnTo>
                  <a:pt x="10797" y="334943"/>
                </a:lnTo>
                <a:lnTo>
                  <a:pt x="23918" y="297437"/>
                </a:lnTo>
                <a:lnTo>
                  <a:pt x="41853" y="261347"/>
                </a:lnTo>
                <a:lnTo>
                  <a:pt x="64350" y="226848"/>
                </a:lnTo>
                <a:lnTo>
                  <a:pt x="91159" y="194112"/>
                </a:lnTo>
                <a:lnTo>
                  <a:pt x="122030" y="163313"/>
                </a:lnTo>
                <a:lnTo>
                  <a:pt x="156711" y="134625"/>
                </a:lnTo>
                <a:lnTo>
                  <a:pt x="194952" y="108220"/>
                </a:lnTo>
                <a:lnTo>
                  <a:pt x="236502" y="84272"/>
                </a:lnTo>
                <a:lnTo>
                  <a:pt x="281110" y="62954"/>
                </a:lnTo>
                <a:lnTo>
                  <a:pt x="328525" y="44440"/>
                </a:lnTo>
                <a:lnTo>
                  <a:pt x="378496" y="28904"/>
                </a:lnTo>
                <a:lnTo>
                  <a:pt x="430773" y="16518"/>
                </a:lnTo>
                <a:lnTo>
                  <a:pt x="485106" y="7457"/>
                </a:lnTo>
                <a:lnTo>
                  <a:pt x="541242" y="1893"/>
                </a:lnTo>
                <a:lnTo>
                  <a:pt x="59893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89826" y="2128266"/>
            <a:ext cx="283845" cy="693420"/>
          </a:xfrm>
          <a:custGeom>
            <a:avLst/>
            <a:gdLst/>
            <a:ahLst/>
            <a:cxnLst/>
            <a:rect l="l" t="t" r="r" b="b"/>
            <a:pathLst>
              <a:path w="283845" h="693419">
                <a:moveTo>
                  <a:pt x="283464" y="693420"/>
                </a:moveTo>
                <a:lnTo>
                  <a:pt x="208094" y="691058"/>
                </a:lnTo>
                <a:lnTo>
                  <a:pt x="140377" y="684393"/>
                </a:lnTo>
                <a:lnTo>
                  <a:pt x="83010" y="674052"/>
                </a:lnTo>
                <a:lnTo>
                  <a:pt x="38692" y="660663"/>
                </a:lnTo>
                <a:lnTo>
                  <a:pt x="0" y="627253"/>
                </a:lnTo>
                <a:lnTo>
                  <a:pt x="0" y="66167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89826" y="3356609"/>
            <a:ext cx="283845" cy="1275715"/>
          </a:xfrm>
          <a:custGeom>
            <a:avLst/>
            <a:gdLst/>
            <a:ahLst/>
            <a:cxnLst/>
            <a:rect l="l" t="t" r="r" b="b"/>
            <a:pathLst>
              <a:path w="283845" h="1275714">
                <a:moveTo>
                  <a:pt x="283464" y="1275588"/>
                </a:moveTo>
                <a:lnTo>
                  <a:pt x="218456" y="1272366"/>
                </a:lnTo>
                <a:lnTo>
                  <a:pt x="158787" y="1263191"/>
                </a:lnTo>
                <a:lnTo>
                  <a:pt x="106155" y="1248795"/>
                </a:lnTo>
                <a:lnTo>
                  <a:pt x="62261" y="1229912"/>
                </a:lnTo>
                <a:lnTo>
                  <a:pt x="28804" y="1207274"/>
                </a:lnTo>
                <a:lnTo>
                  <a:pt x="0" y="1153667"/>
                </a:lnTo>
                <a:lnTo>
                  <a:pt x="0" y="121919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03744" y="4984486"/>
            <a:ext cx="902335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9685">
              <a:lnSpc>
                <a:spcPct val="125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 P  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40573" y="3509009"/>
            <a:ext cx="281940" cy="693420"/>
          </a:xfrm>
          <a:custGeom>
            <a:avLst/>
            <a:gdLst/>
            <a:ahLst/>
            <a:cxnLst/>
            <a:rect l="l" t="t" r="r" b="b"/>
            <a:pathLst>
              <a:path w="281940" h="693420">
                <a:moveTo>
                  <a:pt x="281940" y="693419"/>
                </a:moveTo>
                <a:lnTo>
                  <a:pt x="206992" y="691068"/>
                </a:lnTo>
                <a:lnTo>
                  <a:pt x="139643" y="684431"/>
                </a:lnTo>
                <a:lnTo>
                  <a:pt x="82581" y="674131"/>
                </a:lnTo>
                <a:lnTo>
                  <a:pt x="38495" y="660795"/>
                </a:lnTo>
                <a:lnTo>
                  <a:pt x="0" y="627507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4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327775" y="3088893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7775" y="3515614"/>
            <a:ext cx="381000" cy="858519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52538" y="2280919"/>
            <a:ext cx="281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51623" y="3768978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77759" y="3483036"/>
            <a:ext cx="1566545" cy="1176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850">
              <a:lnSpc>
                <a:spcPct val="157300"/>
              </a:lnSpc>
              <a:spcBef>
                <a:spcPts val="95"/>
              </a:spcBef>
              <a:tabLst>
                <a:tab pos="801370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14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 call</a:t>
            </a:r>
            <a:r>
              <a:rPr dirty="0" sz="2400" spc="-3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04998" y="6139992"/>
            <a:ext cx="1808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活动记录栈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58161" y="1776222"/>
            <a:ext cx="0" cy="4307205"/>
          </a:xfrm>
          <a:custGeom>
            <a:avLst/>
            <a:gdLst/>
            <a:ahLst/>
            <a:cxnLst/>
            <a:rect l="l" t="t" r="r" b="b"/>
            <a:pathLst>
              <a:path w="0" h="4307205">
                <a:moveTo>
                  <a:pt x="0" y="0"/>
                </a:moveTo>
                <a:lnTo>
                  <a:pt x="0" y="43068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20005" y="1776222"/>
            <a:ext cx="0" cy="4307205"/>
          </a:xfrm>
          <a:custGeom>
            <a:avLst/>
            <a:gdLst/>
            <a:ahLst/>
            <a:cxnLst/>
            <a:rect l="l" t="t" r="r" b="b"/>
            <a:pathLst>
              <a:path w="0" h="4307205">
                <a:moveTo>
                  <a:pt x="0" y="0"/>
                </a:moveTo>
                <a:lnTo>
                  <a:pt x="0" y="43068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58161" y="6083046"/>
            <a:ext cx="2562225" cy="0"/>
          </a:xfrm>
          <a:custGeom>
            <a:avLst/>
            <a:gdLst/>
            <a:ahLst/>
            <a:cxnLst/>
            <a:rect l="l" t="t" r="r" b="b"/>
            <a:pathLst>
              <a:path w="2562225" h="0">
                <a:moveTo>
                  <a:pt x="0" y="0"/>
                </a:moveTo>
                <a:lnTo>
                  <a:pt x="256222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47494" y="3984497"/>
            <a:ext cx="2585085" cy="928369"/>
          </a:xfrm>
          <a:custGeom>
            <a:avLst/>
            <a:gdLst/>
            <a:ahLst/>
            <a:cxnLst/>
            <a:rect l="l" t="t" r="r" b="b"/>
            <a:pathLst>
              <a:path w="2585085" h="928370">
                <a:moveTo>
                  <a:pt x="0" y="928115"/>
                </a:moveTo>
                <a:lnTo>
                  <a:pt x="2584704" y="928115"/>
                </a:lnTo>
                <a:lnTo>
                  <a:pt x="2584704" y="0"/>
                </a:lnTo>
                <a:lnTo>
                  <a:pt x="0" y="0"/>
                </a:lnTo>
                <a:lnTo>
                  <a:pt x="0" y="9281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081022" y="4301997"/>
            <a:ext cx="2513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18438" y="3918203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300"/>
                </a:lnTo>
                <a:lnTo>
                  <a:pt x="773176" y="76200"/>
                </a:lnTo>
                <a:lnTo>
                  <a:pt x="665226" y="76200"/>
                </a:lnTo>
                <a:lnTo>
                  <a:pt x="665226" y="38100"/>
                </a:lnTo>
                <a:lnTo>
                  <a:pt x="773176" y="38100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6176" y="76200"/>
                </a:lnTo>
                <a:lnTo>
                  <a:pt x="646176" y="38100"/>
                </a:lnTo>
                <a:close/>
              </a:path>
              <a:path w="836930" h="114300">
                <a:moveTo>
                  <a:pt x="77317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73176" y="76200"/>
                </a:lnTo>
                <a:lnTo>
                  <a:pt x="836676" y="57150"/>
                </a:lnTo>
                <a:lnTo>
                  <a:pt x="7731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401317" y="3863162"/>
            <a:ext cx="5207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82394" y="4414520"/>
            <a:ext cx="520065" cy="77406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 indent="69215">
              <a:lnSpc>
                <a:spcPct val="75600"/>
              </a:lnSpc>
              <a:spcBef>
                <a:spcPts val="91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 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47394" y="4207002"/>
            <a:ext cx="802005" cy="7620"/>
          </a:xfrm>
          <a:custGeom>
            <a:avLst/>
            <a:gdLst/>
            <a:ahLst/>
            <a:cxnLst/>
            <a:rect l="l" t="t" r="r" b="b"/>
            <a:pathLst>
              <a:path w="802005" h="7620">
                <a:moveTo>
                  <a:pt x="801624" y="7620"/>
                </a:moveTo>
                <a:lnTo>
                  <a:pt x="0" y="0"/>
                </a:lnTo>
              </a:path>
            </a:pathLst>
          </a:custGeom>
          <a:ln w="380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24533" y="4216146"/>
            <a:ext cx="0" cy="1884045"/>
          </a:xfrm>
          <a:custGeom>
            <a:avLst/>
            <a:gdLst/>
            <a:ahLst/>
            <a:cxnLst/>
            <a:rect l="l" t="t" r="r" b="b"/>
            <a:pathLst>
              <a:path w="0" h="1884045">
                <a:moveTo>
                  <a:pt x="0" y="0"/>
                </a:moveTo>
                <a:lnTo>
                  <a:pt x="0" y="188366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40980" y="6040767"/>
            <a:ext cx="828040" cy="114300"/>
          </a:xfrm>
          <a:custGeom>
            <a:avLst/>
            <a:gdLst/>
            <a:ahLst/>
            <a:cxnLst/>
            <a:rect l="l" t="t" r="r" b="b"/>
            <a:pathLst>
              <a:path w="828039" h="114300">
                <a:moveTo>
                  <a:pt x="714565" y="0"/>
                </a:moveTo>
                <a:lnTo>
                  <a:pt x="713930" y="38101"/>
                </a:lnTo>
                <a:lnTo>
                  <a:pt x="732980" y="38417"/>
                </a:lnTo>
                <a:lnTo>
                  <a:pt x="732345" y="76504"/>
                </a:lnTo>
                <a:lnTo>
                  <a:pt x="713290" y="76504"/>
                </a:lnTo>
                <a:lnTo>
                  <a:pt x="712660" y="114287"/>
                </a:lnTo>
                <a:lnTo>
                  <a:pt x="791439" y="76504"/>
                </a:lnTo>
                <a:lnTo>
                  <a:pt x="732345" y="76504"/>
                </a:lnTo>
                <a:lnTo>
                  <a:pt x="713295" y="76189"/>
                </a:lnTo>
                <a:lnTo>
                  <a:pt x="792096" y="76189"/>
                </a:lnTo>
                <a:lnTo>
                  <a:pt x="827849" y="59042"/>
                </a:lnTo>
                <a:lnTo>
                  <a:pt x="714565" y="0"/>
                </a:lnTo>
                <a:close/>
              </a:path>
              <a:path w="828039" h="114300">
                <a:moveTo>
                  <a:pt x="713930" y="38101"/>
                </a:moveTo>
                <a:lnTo>
                  <a:pt x="713295" y="76189"/>
                </a:lnTo>
                <a:lnTo>
                  <a:pt x="732345" y="76504"/>
                </a:lnTo>
                <a:lnTo>
                  <a:pt x="732980" y="38417"/>
                </a:lnTo>
                <a:lnTo>
                  <a:pt x="713930" y="38101"/>
                </a:lnTo>
                <a:close/>
              </a:path>
              <a:path w="828039" h="114300">
                <a:moveTo>
                  <a:pt x="634" y="26276"/>
                </a:moveTo>
                <a:lnTo>
                  <a:pt x="0" y="64376"/>
                </a:lnTo>
                <a:lnTo>
                  <a:pt x="713295" y="76189"/>
                </a:lnTo>
                <a:lnTo>
                  <a:pt x="713930" y="38101"/>
                </a:lnTo>
                <a:lnTo>
                  <a:pt x="634" y="26276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59993" y="5149722"/>
            <a:ext cx="5181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DL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21529" y="4624578"/>
            <a:ext cx="585470" cy="27940"/>
          </a:xfrm>
          <a:custGeom>
            <a:avLst/>
            <a:gdLst/>
            <a:ahLst/>
            <a:cxnLst/>
            <a:rect l="l" t="t" r="r" b="b"/>
            <a:pathLst>
              <a:path w="585470" h="27939">
                <a:moveTo>
                  <a:pt x="-19050" y="13716"/>
                </a:moveTo>
                <a:lnTo>
                  <a:pt x="604266" y="13716"/>
                </a:lnTo>
              </a:path>
            </a:pathLst>
          </a:custGeom>
          <a:ln w="65532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06746" y="4624578"/>
            <a:ext cx="0" cy="1449705"/>
          </a:xfrm>
          <a:custGeom>
            <a:avLst/>
            <a:gdLst/>
            <a:ahLst/>
            <a:cxnLst/>
            <a:rect l="l" t="t" r="r" b="b"/>
            <a:pathLst>
              <a:path w="0" h="1449704">
                <a:moveTo>
                  <a:pt x="0" y="0"/>
                </a:moveTo>
                <a:lnTo>
                  <a:pt x="0" y="144932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21529" y="6016752"/>
            <a:ext cx="585470" cy="114300"/>
          </a:xfrm>
          <a:custGeom>
            <a:avLst/>
            <a:gdLst/>
            <a:ahLst/>
            <a:cxnLst/>
            <a:rect l="l" t="t" r="r" b="b"/>
            <a:pathLst>
              <a:path w="58547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8547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85470" h="114300">
                <a:moveTo>
                  <a:pt x="58521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85216" y="76200"/>
                </a:lnTo>
                <a:lnTo>
                  <a:pt x="585216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81473" y="4230370"/>
            <a:ext cx="4622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SL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055114" y="3041142"/>
            <a:ext cx="2577465" cy="943610"/>
          </a:xfrm>
          <a:custGeom>
            <a:avLst/>
            <a:gdLst/>
            <a:ahLst/>
            <a:cxnLst/>
            <a:rect l="l" t="t" r="r" b="b"/>
            <a:pathLst>
              <a:path w="2577465" h="943610">
                <a:moveTo>
                  <a:pt x="0" y="943355"/>
                </a:moveTo>
                <a:lnTo>
                  <a:pt x="2577084" y="943355"/>
                </a:lnTo>
                <a:lnTo>
                  <a:pt x="2577084" y="0"/>
                </a:lnTo>
                <a:lnTo>
                  <a:pt x="0" y="0"/>
                </a:lnTo>
                <a:lnTo>
                  <a:pt x="0" y="94335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077211" y="3305683"/>
            <a:ext cx="25177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65682" y="2994660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300"/>
                </a:lnTo>
                <a:lnTo>
                  <a:pt x="773176" y="76200"/>
                </a:lnTo>
                <a:lnTo>
                  <a:pt x="665226" y="76200"/>
                </a:lnTo>
                <a:lnTo>
                  <a:pt x="665226" y="38100"/>
                </a:lnTo>
                <a:lnTo>
                  <a:pt x="773176" y="38100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6176" y="76200"/>
                </a:lnTo>
                <a:lnTo>
                  <a:pt x="646176" y="38100"/>
                </a:lnTo>
                <a:close/>
              </a:path>
              <a:path w="836930" h="114300">
                <a:moveTo>
                  <a:pt x="77317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73176" y="76200"/>
                </a:lnTo>
                <a:lnTo>
                  <a:pt x="836676" y="57150"/>
                </a:lnTo>
                <a:lnTo>
                  <a:pt x="7731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401317" y="2878658"/>
            <a:ext cx="5207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66469" y="3551885"/>
            <a:ext cx="362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30986" y="3548634"/>
            <a:ext cx="989330" cy="0"/>
          </a:xfrm>
          <a:custGeom>
            <a:avLst/>
            <a:gdLst/>
            <a:ahLst/>
            <a:cxnLst/>
            <a:rect l="l" t="t" r="r" b="b"/>
            <a:pathLst>
              <a:path w="989330" h="0">
                <a:moveTo>
                  <a:pt x="98907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21841" y="3548634"/>
            <a:ext cx="0" cy="1356360"/>
          </a:xfrm>
          <a:custGeom>
            <a:avLst/>
            <a:gdLst/>
            <a:ahLst/>
            <a:cxnLst/>
            <a:rect l="l" t="t" r="r" b="b"/>
            <a:pathLst>
              <a:path w="0" h="1356360">
                <a:moveTo>
                  <a:pt x="0" y="0"/>
                </a:moveTo>
                <a:lnTo>
                  <a:pt x="0" y="1356359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21841" y="4847844"/>
            <a:ext cx="989330" cy="114300"/>
          </a:xfrm>
          <a:custGeom>
            <a:avLst/>
            <a:gdLst/>
            <a:ahLst/>
            <a:cxnLst/>
            <a:rect l="l" t="t" r="r" b="b"/>
            <a:pathLst>
              <a:path w="989330" h="114300">
                <a:moveTo>
                  <a:pt x="874776" y="0"/>
                </a:moveTo>
                <a:lnTo>
                  <a:pt x="874776" y="114299"/>
                </a:lnTo>
                <a:lnTo>
                  <a:pt x="950976" y="76199"/>
                </a:lnTo>
                <a:lnTo>
                  <a:pt x="893826" y="76199"/>
                </a:lnTo>
                <a:lnTo>
                  <a:pt x="893826" y="38099"/>
                </a:lnTo>
                <a:lnTo>
                  <a:pt x="950976" y="38099"/>
                </a:lnTo>
                <a:lnTo>
                  <a:pt x="874776" y="0"/>
                </a:lnTo>
                <a:close/>
              </a:path>
              <a:path w="989330" h="114300">
                <a:moveTo>
                  <a:pt x="87477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874776" y="76199"/>
                </a:lnTo>
                <a:lnTo>
                  <a:pt x="874776" y="38099"/>
                </a:lnTo>
                <a:close/>
              </a:path>
              <a:path w="989330" h="114300">
                <a:moveTo>
                  <a:pt x="950976" y="38099"/>
                </a:moveTo>
                <a:lnTo>
                  <a:pt x="893826" y="38099"/>
                </a:lnTo>
                <a:lnTo>
                  <a:pt x="893826" y="76199"/>
                </a:lnTo>
                <a:lnTo>
                  <a:pt x="950976" y="76199"/>
                </a:lnTo>
                <a:lnTo>
                  <a:pt x="989076" y="57149"/>
                </a:lnTo>
                <a:lnTo>
                  <a:pt x="950976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030325" y="3207765"/>
            <a:ext cx="44830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630673" y="3627882"/>
            <a:ext cx="845819" cy="0"/>
          </a:xfrm>
          <a:custGeom>
            <a:avLst/>
            <a:gdLst/>
            <a:ahLst/>
            <a:cxnLst/>
            <a:rect l="l" t="t" r="r" b="b"/>
            <a:pathLst>
              <a:path w="845820" h="0">
                <a:moveTo>
                  <a:pt x="0" y="0"/>
                </a:moveTo>
                <a:lnTo>
                  <a:pt x="84582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476494" y="3627882"/>
            <a:ext cx="0" cy="1277620"/>
          </a:xfrm>
          <a:custGeom>
            <a:avLst/>
            <a:gdLst/>
            <a:ahLst/>
            <a:cxnLst/>
            <a:rect l="l" t="t" r="r" b="b"/>
            <a:pathLst>
              <a:path w="0" h="1277620">
                <a:moveTo>
                  <a:pt x="0" y="0"/>
                </a:moveTo>
                <a:lnTo>
                  <a:pt x="0" y="127711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630673" y="4847844"/>
            <a:ext cx="845819" cy="114300"/>
          </a:xfrm>
          <a:custGeom>
            <a:avLst/>
            <a:gdLst/>
            <a:ahLst/>
            <a:cxnLst/>
            <a:rect l="l" t="t" r="r" b="b"/>
            <a:pathLst>
              <a:path w="84582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84582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845820" h="114300">
                <a:moveTo>
                  <a:pt x="845820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845820" y="76199"/>
                </a:lnTo>
                <a:lnTo>
                  <a:pt x="845820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4645152" y="3223641"/>
            <a:ext cx="8763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SL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088" y="14732"/>
            <a:ext cx="7957184" cy="165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97915">
              <a:lnSpc>
                <a:spcPct val="100000"/>
              </a:lnSpc>
              <a:spcBef>
                <a:spcPts val="100"/>
              </a:spcBef>
              <a:tabLst>
                <a:tab pos="1736725" algn="l"/>
                <a:tab pos="3373754" algn="l"/>
                <a:tab pos="3875404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 marL="375285" indent="-363220">
              <a:lnSpc>
                <a:spcPct val="100000"/>
              </a:lnSpc>
              <a:spcBef>
                <a:spcPts val="1320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37592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SL(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存取链）的方案</a:t>
            </a:r>
            <a:endParaRPr sz="3200">
              <a:latin typeface="宋体"/>
              <a:cs typeface="宋体"/>
            </a:endParaRPr>
          </a:p>
          <a:p>
            <a:pPr marL="1184275">
              <a:lnSpc>
                <a:spcPct val="100000"/>
              </a:lnSpc>
              <a:spcBef>
                <a:spcPts val="91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主程</a:t>
            </a:r>
            <a:r>
              <a:rPr dirty="0" sz="3200" spc="70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baseline="-3086" sz="5400" spc="-7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baseline="-3086" sz="5400" spc="-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3086" sz="5400" spc="232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1736" sz="4800" spc="232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736" sz="4800" spc="3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1736" sz="4800" spc="30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baseline="1736" sz="4800" spc="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baseline="1736" sz="4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055114" y="2247138"/>
            <a:ext cx="2566670" cy="779145"/>
          </a:xfrm>
          <a:custGeom>
            <a:avLst/>
            <a:gdLst/>
            <a:ahLst/>
            <a:cxnLst/>
            <a:rect l="l" t="t" r="r" b="b"/>
            <a:pathLst>
              <a:path w="2566670" h="779144">
                <a:moveTo>
                  <a:pt x="0" y="778763"/>
                </a:moveTo>
                <a:lnTo>
                  <a:pt x="2566416" y="778763"/>
                </a:lnTo>
                <a:lnTo>
                  <a:pt x="2566416" y="0"/>
                </a:lnTo>
                <a:lnTo>
                  <a:pt x="0" y="0"/>
                </a:lnTo>
                <a:lnTo>
                  <a:pt x="0" y="77876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077211" y="2384501"/>
            <a:ext cx="25234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265682" y="2203704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300"/>
                </a:lnTo>
                <a:lnTo>
                  <a:pt x="773176" y="76200"/>
                </a:lnTo>
                <a:lnTo>
                  <a:pt x="665226" y="76200"/>
                </a:lnTo>
                <a:lnTo>
                  <a:pt x="665226" y="38100"/>
                </a:lnTo>
                <a:lnTo>
                  <a:pt x="773176" y="38100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6176" y="76200"/>
                </a:lnTo>
                <a:lnTo>
                  <a:pt x="646176" y="38100"/>
                </a:lnTo>
                <a:close/>
              </a:path>
              <a:path w="836930" h="114300">
                <a:moveTo>
                  <a:pt x="77317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73176" y="76200"/>
                </a:lnTo>
                <a:lnTo>
                  <a:pt x="836676" y="57150"/>
                </a:lnTo>
                <a:lnTo>
                  <a:pt x="7731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401317" y="2088261"/>
            <a:ext cx="5200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66469" y="2580512"/>
            <a:ext cx="362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62762" y="2559557"/>
            <a:ext cx="1257300" cy="15240"/>
          </a:xfrm>
          <a:custGeom>
            <a:avLst/>
            <a:gdLst/>
            <a:ahLst/>
            <a:cxnLst/>
            <a:rect l="l" t="t" r="r" b="b"/>
            <a:pathLst>
              <a:path w="1257300" h="15239">
                <a:moveTo>
                  <a:pt x="1257300" y="0"/>
                </a:moveTo>
                <a:lnTo>
                  <a:pt x="0" y="15239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62762" y="2574798"/>
            <a:ext cx="0" cy="1408430"/>
          </a:xfrm>
          <a:custGeom>
            <a:avLst/>
            <a:gdLst/>
            <a:ahLst/>
            <a:cxnLst/>
            <a:rect l="l" t="t" r="r" b="b"/>
            <a:pathLst>
              <a:path w="0" h="1408429">
                <a:moveTo>
                  <a:pt x="0" y="0"/>
                </a:moveTo>
                <a:lnTo>
                  <a:pt x="0" y="1408176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62558" y="3913378"/>
            <a:ext cx="1286510" cy="114300"/>
          </a:xfrm>
          <a:custGeom>
            <a:avLst/>
            <a:gdLst/>
            <a:ahLst/>
            <a:cxnLst/>
            <a:rect l="l" t="t" r="r" b="b"/>
            <a:pathLst>
              <a:path w="1286510" h="114300">
                <a:moveTo>
                  <a:pt x="1249366" y="37846"/>
                </a:moveTo>
                <a:lnTo>
                  <a:pt x="1190955" y="37846"/>
                </a:lnTo>
                <a:lnTo>
                  <a:pt x="1191463" y="75946"/>
                </a:lnTo>
                <a:lnTo>
                  <a:pt x="1172370" y="76149"/>
                </a:lnTo>
                <a:lnTo>
                  <a:pt x="1172794" y="114300"/>
                </a:lnTo>
                <a:lnTo>
                  <a:pt x="1286459" y="55880"/>
                </a:lnTo>
                <a:lnTo>
                  <a:pt x="1249366" y="37846"/>
                </a:lnTo>
                <a:close/>
              </a:path>
              <a:path w="1286510" h="114300">
                <a:moveTo>
                  <a:pt x="1171946" y="38048"/>
                </a:moveTo>
                <a:lnTo>
                  <a:pt x="0" y="50546"/>
                </a:lnTo>
                <a:lnTo>
                  <a:pt x="406" y="88646"/>
                </a:lnTo>
                <a:lnTo>
                  <a:pt x="1172370" y="76149"/>
                </a:lnTo>
                <a:lnTo>
                  <a:pt x="1171946" y="38048"/>
                </a:lnTo>
                <a:close/>
              </a:path>
              <a:path w="1286510" h="114300">
                <a:moveTo>
                  <a:pt x="1190955" y="37846"/>
                </a:moveTo>
                <a:lnTo>
                  <a:pt x="1171946" y="38048"/>
                </a:lnTo>
                <a:lnTo>
                  <a:pt x="1172370" y="76149"/>
                </a:lnTo>
                <a:lnTo>
                  <a:pt x="1191463" y="75946"/>
                </a:lnTo>
                <a:lnTo>
                  <a:pt x="1190955" y="37846"/>
                </a:lnTo>
                <a:close/>
              </a:path>
              <a:path w="1286510" h="114300">
                <a:moveTo>
                  <a:pt x="1171524" y="0"/>
                </a:moveTo>
                <a:lnTo>
                  <a:pt x="1171946" y="38048"/>
                </a:lnTo>
                <a:lnTo>
                  <a:pt x="1190955" y="37846"/>
                </a:lnTo>
                <a:lnTo>
                  <a:pt x="1249366" y="37846"/>
                </a:lnTo>
                <a:lnTo>
                  <a:pt x="1171524" y="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01243" y="2735656"/>
            <a:ext cx="447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632197" y="2905505"/>
            <a:ext cx="908685" cy="0"/>
          </a:xfrm>
          <a:custGeom>
            <a:avLst/>
            <a:gdLst/>
            <a:ahLst/>
            <a:cxnLst/>
            <a:rect l="l" t="t" r="r" b="b"/>
            <a:pathLst>
              <a:path w="908685" h="0">
                <a:moveTo>
                  <a:pt x="0" y="0"/>
                </a:moveTo>
                <a:lnTo>
                  <a:pt x="908303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540502" y="2905505"/>
            <a:ext cx="0" cy="3180715"/>
          </a:xfrm>
          <a:custGeom>
            <a:avLst/>
            <a:gdLst/>
            <a:ahLst/>
            <a:cxnLst/>
            <a:rect l="l" t="t" r="r" b="b"/>
            <a:pathLst>
              <a:path w="0" h="3180715">
                <a:moveTo>
                  <a:pt x="0" y="0"/>
                </a:moveTo>
                <a:lnTo>
                  <a:pt x="0" y="3180588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632197" y="6028944"/>
            <a:ext cx="908685" cy="114300"/>
          </a:xfrm>
          <a:custGeom>
            <a:avLst/>
            <a:gdLst/>
            <a:ahLst/>
            <a:cxnLst/>
            <a:rect l="l" t="t" r="r" b="b"/>
            <a:pathLst>
              <a:path w="90868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0868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08685" h="114300">
                <a:moveTo>
                  <a:pt x="908303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08303" y="76199"/>
                </a:lnTo>
                <a:lnTo>
                  <a:pt x="908303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4864989" y="2567685"/>
            <a:ext cx="398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49017" y="4909565"/>
            <a:ext cx="2563495" cy="1175385"/>
          </a:xfrm>
          <a:custGeom>
            <a:avLst/>
            <a:gdLst/>
            <a:ahLst/>
            <a:cxnLst/>
            <a:rect l="l" t="t" r="r" b="b"/>
            <a:pathLst>
              <a:path w="2563495" h="1175385">
                <a:moveTo>
                  <a:pt x="0" y="1175003"/>
                </a:moveTo>
                <a:lnTo>
                  <a:pt x="2563368" y="1175003"/>
                </a:lnTo>
                <a:lnTo>
                  <a:pt x="2563368" y="0"/>
                </a:lnTo>
                <a:lnTo>
                  <a:pt x="0" y="0"/>
                </a:lnTo>
                <a:lnTo>
                  <a:pt x="0" y="11750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47394" y="4852415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299"/>
                </a:lnTo>
                <a:lnTo>
                  <a:pt x="773176" y="76199"/>
                </a:lnTo>
                <a:lnTo>
                  <a:pt x="665226" y="76199"/>
                </a:lnTo>
                <a:lnTo>
                  <a:pt x="665226" y="38099"/>
                </a:lnTo>
                <a:lnTo>
                  <a:pt x="773176" y="38099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46176" y="76199"/>
                </a:lnTo>
                <a:lnTo>
                  <a:pt x="646176" y="38099"/>
                </a:lnTo>
                <a:close/>
              </a:path>
              <a:path w="836930" h="114300">
                <a:moveTo>
                  <a:pt x="773176" y="38099"/>
                </a:moveTo>
                <a:lnTo>
                  <a:pt x="665226" y="38099"/>
                </a:lnTo>
                <a:lnTo>
                  <a:pt x="665226" y="76199"/>
                </a:lnTo>
                <a:lnTo>
                  <a:pt x="773176" y="76199"/>
                </a:lnTo>
                <a:lnTo>
                  <a:pt x="836676" y="57149"/>
                </a:lnTo>
                <a:lnTo>
                  <a:pt x="77317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10817" y="6027420"/>
            <a:ext cx="847725" cy="114300"/>
          </a:xfrm>
          <a:custGeom>
            <a:avLst/>
            <a:gdLst/>
            <a:ahLst/>
            <a:cxnLst/>
            <a:rect l="l" t="t" r="r" b="b"/>
            <a:pathLst>
              <a:path w="847725" h="114300">
                <a:moveTo>
                  <a:pt x="656844" y="0"/>
                </a:moveTo>
                <a:lnTo>
                  <a:pt x="656844" y="114299"/>
                </a:lnTo>
                <a:lnTo>
                  <a:pt x="783844" y="76199"/>
                </a:lnTo>
                <a:lnTo>
                  <a:pt x="675894" y="76199"/>
                </a:lnTo>
                <a:lnTo>
                  <a:pt x="675894" y="38099"/>
                </a:lnTo>
                <a:lnTo>
                  <a:pt x="783844" y="38099"/>
                </a:lnTo>
                <a:lnTo>
                  <a:pt x="656844" y="0"/>
                </a:lnTo>
                <a:close/>
              </a:path>
              <a:path w="847725" h="114300">
                <a:moveTo>
                  <a:pt x="6568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56844" y="76199"/>
                </a:lnTo>
                <a:lnTo>
                  <a:pt x="656844" y="38099"/>
                </a:lnTo>
                <a:close/>
              </a:path>
              <a:path w="847725" h="114300">
                <a:moveTo>
                  <a:pt x="783844" y="38099"/>
                </a:moveTo>
                <a:lnTo>
                  <a:pt x="675894" y="38099"/>
                </a:lnTo>
                <a:lnTo>
                  <a:pt x="675894" y="76199"/>
                </a:lnTo>
                <a:lnTo>
                  <a:pt x="783844" y="76199"/>
                </a:lnTo>
                <a:lnTo>
                  <a:pt x="847344" y="57149"/>
                </a:lnTo>
                <a:lnTo>
                  <a:pt x="783844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50685" y="1812798"/>
            <a:ext cx="599440" cy="4337685"/>
          </a:xfrm>
          <a:custGeom>
            <a:avLst/>
            <a:gdLst/>
            <a:ahLst/>
            <a:cxnLst/>
            <a:rect l="l" t="t" r="r" b="b"/>
            <a:pathLst>
              <a:path w="599440" h="4337685">
                <a:moveTo>
                  <a:pt x="598932" y="4337304"/>
                </a:moveTo>
                <a:lnTo>
                  <a:pt x="541242" y="4335411"/>
                </a:lnTo>
                <a:lnTo>
                  <a:pt x="485106" y="4329848"/>
                </a:lnTo>
                <a:lnTo>
                  <a:pt x="430773" y="4320789"/>
                </a:lnTo>
                <a:lnTo>
                  <a:pt x="378496" y="4308406"/>
                </a:lnTo>
                <a:lnTo>
                  <a:pt x="328525" y="4292873"/>
                </a:lnTo>
                <a:lnTo>
                  <a:pt x="281110" y="4274364"/>
                </a:lnTo>
                <a:lnTo>
                  <a:pt x="236502" y="4253051"/>
                </a:lnTo>
                <a:lnTo>
                  <a:pt x="194952" y="4229108"/>
                </a:lnTo>
                <a:lnTo>
                  <a:pt x="156711" y="4202708"/>
                </a:lnTo>
                <a:lnTo>
                  <a:pt x="122030" y="4174024"/>
                </a:lnTo>
                <a:lnTo>
                  <a:pt x="91159" y="4143230"/>
                </a:lnTo>
                <a:lnTo>
                  <a:pt x="64350" y="4110500"/>
                </a:lnTo>
                <a:lnTo>
                  <a:pt x="41853" y="4076005"/>
                </a:lnTo>
                <a:lnTo>
                  <a:pt x="23918" y="4039920"/>
                </a:lnTo>
                <a:lnTo>
                  <a:pt x="10797" y="4002418"/>
                </a:lnTo>
                <a:lnTo>
                  <a:pt x="2741" y="3963672"/>
                </a:lnTo>
                <a:lnTo>
                  <a:pt x="0" y="3923855"/>
                </a:lnTo>
                <a:lnTo>
                  <a:pt x="0" y="413512"/>
                </a:lnTo>
                <a:lnTo>
                  <a:pt x="2741" y="373692"/>
                </a:lnTo>
                <a:lnTo>
                  <a:pt x="10797" y="334943"/>
                </a:lnTo>
                <a:lnTo>
                  <a:pt x="23918" y="297437"/>
                </a:lnTo>
                <a:lnTo>
                  <a:pt x="41853" y="261347"/>
                </a:lnTo>
                <a:lnTo>
                  <a:pt x="64350" y="226848"/>
                </a:lnTo>
                <a:lnTo>
                  <a:pt x="91159" y="194112"/>
                </a:lnTo>
                <a:lnTo>
                  <a:pt x="122030" y="163313"/>
                </a:lnTo>
                <a:lnTo>
                  <a:pt x="156711" y="134625"/>
                </a:lnTo>
                <a:lnTo>
                  <a:pt x="194952" y="108220"/>
                </a:lnTo>
                <a:lnTo>
                  <a:pt x="236502" y="84272"/>
                </a:lnTo>
                <a:lnTo>
                  <a:pt x="281110" y="62954"/>
                </a:lnTo>
                <a:lnTo>
                  <a:pt x="328525" y="44440"/>
                </a:lnTo>
                <a:lnTo>
                  <a:pt x="378496" y="28904"/>
                </a:lnTo>
                <a:lnTo>
                  <a:pt x="430773" y="16518"/>
                </a:lnTo>
                <a:lnTo>
                  <a:pt x="485106" y="7457"/>
                </a:lnTo>
                <a:lnTo>
                  <a:pt x="541242" y="1893"/>
                </a:lnTo>
                <a:lnTo>
                  <a:pt x="59893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89826" y="2128266"/>
            <a:ext cx="283845" cy="693420"/>
          </a:xfrm>
          <a:custGeom>
            <a:avLst/>
            <a:gdLst/>
            <a:ahLst/>
            <a:cxnLst/>
            <a:rect l="l" t="t" r="r" b="b"/>
            <a:pathLst>
              <a:path w="283845" h="693419">
                <a:moveTo>
                  <a:pt x="283464" y="693420"/>
                </a:moveTo>
                <a:lnTo>
                  <a:pt x="208094" y="691058"/>
                </a:lnTo>
                <a:lnTo>
                  <a:pt x="140377" y="684393"/>
                </a:lnTo>
                <a:lnTo>
                  <a:pt x="83010" y="674052"/>
                </a:lnTo>
                <a:lnTo>
                  <a:pt x="38692" y="660663"/>
                </a:lnTo>
                <a:lnTo>
                  <a:pt x="0" y="627253"/>
                </a:lnTo>
                <a:lnTo>
                  <a:pt x="0" y="66167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89826" y="3356609"/>
            <a:ext cx="283845" cy="1275715"/>
          </a:xfrm>
          <a:custGeom>
            <a:avLst/>
            <a:gdLst/>
            <a:ahLst/>
            <a:cxnLst/>
            <a:rect l="l" t="t" r="r" b="b"/>
            <a:pathLst>
              <a:path w="283845" h="1275714">
                <a:moveTo>
                  <a:pt x="283464" y="1275588"/>
                </a:moveTo>
                <a:lnTo>
                  <a:pt x="218456" y="1272366"/>
                </a:lnTo>
                <a:lnTo>
                  <a:pt x="158787" y="1263191"/>
                </a:lnTo>
                <a:lnTo>
                  <a:pt x="106155" y="1248795"/>
                </a:lnTo>
                <a:lnTo>
                  <a:pt x="62261" y="1229912"/>
                </a:lnTo>
                <a:lnTo>
                  <a:pt x="28804" y="1207274"/>
                </a:lnTo>
                <a:lnTo>
                  <a:pt x="0" y="1153667"/>
                </a:lnTo>
                <a:lnTo>
                  <a:pt x="0" y="121919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40573" y="3509009"/>
            <a:ext cx="281940" cy="693420"/>
          </a:xfrm>
          <a:custGeom>
            <a:avLst/>
            <a:gdLst/>
            <a:ahLst/>
            <a:cxnLst/>
            <a:rect l="l" t="t" r="r" b="b"/>
            <a:pathLst>
              <a:path w="281940" h="693420">
                <a:moveTo>
                  <a:pt x="281940" y="693419"/>
                </a:moveTo>
                <a:lnTo>
                  <a:pt x="206992" y="691068"/>
                </a:lnTo>
                <a:lnTo>
                  <a:pt x="139643" y="684431"/>
                </a:lnTo>
                <a:lnTo>
                  <a:pt x="82581" y="674131"/>
                </a:lnTo>
                <a:lnTo>
                  <a:pt x="38495" y="660795"/>
                </a:lnTo>
                <a:lnTo>
                  <a:pt x="0" y="627507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4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27775" y="3088893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7775" y="3515614"/>
            <a:ext cx="381000" cy="858519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52538" y="2280919"/>
            <a:ext cx="281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1623" y="3768978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77759" y="3483036"/>
            <a:ext cx="1566545" cy="1176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850">
              <a:lnSpc>
                <a:spcPct val="157300"/>
              </a:lnSpc>
              <a:spcBef>
                <a:spcPts val="95"/>
              </a:spcBef>
              <a:tabLst>
                <a:tab pos="801370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14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 call</a:t>
            </a:r>
            <a:r>
              <a:rPr dirty="0" sz="2400" spc="-3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58161" y="1776222"/>
            <a:ext cx="0" cy="4307205"/>
          </a:xfrm>
          <a:custGeom>
            <a:avLst/>
            <a:gdLst/>
            <a:ahLst/>
            <a:cxnLst/>
            <a:rect l="l" t="t" r="r" b="b"/>
            <a:pathLst>
              <a:path w="0" h="4307205">
                <a:moveTo>
                  <a:pt x="0" y="0"/>
                </a:moveTo>
                <a:lnTo>
                  <a:pt x="0" y="43068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20005" y="1776222"/>
            <a:ext cx="0" cy="4307205"/>
          </a:xfrm>
          <a:custGeom>
            <a:avLst/>
            <a:gdLst/>
            <a:ahLst/>
            <a:cxnLst/>
            <a:rect l="l" t="t" r="r" b="b"/>
            <a:pathLst>
              <a:path w="0" h="4307205">
                <a:moveTo>
                  <a:pt x="0" y="0"/>
                </a:moveTo>
                <a:lnTo>
                  <a:pt x="0" y="43068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58161" y="6083046"/>
            <a:ext cx="2562225" cy="0"/>
          </a:xfrm>
          <a:custGeom>
            <a:avLst/>
            <a:gdLst/>
            <a:ahLst/>
            <a:cxnLst/>
            <a:rect l="l" t="t" r="r" b="b"/>
            <a:pathLst>
              <a:path w="2562225" h="0">
                <a:moveTo>
                  <a:pt x="0" y="0"/>
                </a:moveTo>
                <a:lnTo>
                  <a:pt x="256222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47494" y="3984497"/>
            <a:ext cx="2585085" cy="928369"/>
          </a:xfrm>
          <a:custGeom>
            <a:avLst/>
            <a:gdLst/>
            <a:ahLst/>
            <a:cxnLst/>
            <a:rect l="l" t="t" r="r" b="b"/>
            <a:pathLst>
              <a:path w="2585085" h="928370">
                <a:moveTo>
                  <a:pt x="0" y="928115"/>
                </a:moveTo>
                <a:lnTo>
                  <a:pt x="2584704" y="928115"/>
                </a:lnTo>
                <a:lnTo>
                  <a:pt x="2584704" y="0"/>
                </a:lnTo>
                <a:lnTo>
                  <a:pt x="0" y="0"/>
                </a:lnTo>
                <a:lnTo>
                  <a:pt x="0" y="9281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81022" y="4301997"/>
            <a:ext cx="25139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1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18438" y="3918203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300"/>
                </a:lnTo>
                <a:lnTo>
                  <a:pt x="773176" y="76200"/>
                </a:lnTo>
                <a:lnTo>
                  <a:pt x="665226" y="76200"/>
                </a:lnTo>
                <a:lnTo>
                  <a:pt x="665226" y="38100"/>
                </a:lnTo>
                <a:lnTo>
                  <a:pt x="773176" y="38100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6176" y="76200"/>
                </a:lnTo>
                <a:lnTo>
                  <a:pt x="646176" y="38100"/>
                </a:lnTo>
                <a:close/>
              </a:path>
              <a:path w="836930" h="114300">
                <a:moveTo>
                  <a:pt x="77317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73176" y="76200"/>
                </a:lnTo>
                <a:lnTo>
                  <a:pt x="836676" y="57150"/>
                </a:lnTo>
                <a:lnTo>
                  <a:pt x="7731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47394" y="4207002"/>
            <a:ext cx="802005" cy="7620"/>
          </a:xfrm>
          <a:custGeom>
            <a:avLst/>
            <a:gdLst/>
            <a:ahLst/>
            <a:cxnLst/>
            <a:rect l="l" t="t" r="r" b="b"/>
            <a:pathLst>
              <a:path w="802005" h="7620">
                <a:moveTo>
                  <a:pt x="801624" y="7620"/>
                </a:moveTo>
                <a:lnTo>
                  <a:pt x="0" y="0"/>
                </a:lnTo>
              </a:path>
            </a:pathLst>
          </a:custGeom>
          <a:ln w="380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24533" y="4216146"/>
            <a:ext cx="0" cy="1884045"/>
          </a:xfrm>
          <a:custGeom>
            <a:avLst/>
            <a:gdLst/>
            <a:ahLst/>
            <a:cxnLst/>
            <a:rect l="l" t="t" r="r" b="b"/>
            <a:pathLst>
              <a:path w="0" h="1884045">
                <a:moveTo>
                  <a:pt x="0" y="0"/>
                </a:moveTo>
                <a:lnTo>
                  <a:pt x="0" y="188366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46835" y="6046063"/>
            <a:ext cx="773430" cy="114300"/>
          </a:xfrm>
          <a:custGeom>
            <a:avLst/>
            <a:gdLst/>
            <a:ahLst/>
            <a:cxnLst/>
            <a:rect l="l" t="t" r="r" b="b"/>
            <a:pathLst>
              <a:path w="773430" h="114300">
                <a:moveTo>
                  <a:pt x="738211" y="37515"/>
                </a:moveTo>
                <a:lnTo>
                  <a:pt x="677468" y="37515"/>
                </a:lnTo>
                <a:lnTo>
                  <a:pt x="678611" y="75603"/>
                </a:lnTo>
                <a:lnTo>
                  <a:pt x="659561" y="76166"/>
                </a:lnTo>
                <a:lnTo>
                  <a:pt x="660704" y="114249"/>
                </a:lnTo>
                <a:lnTo>
                  <a:pt x="773226" y="53746"/>
                </a:lnTo>
                <a:lnTo>
                  <a:pt x="738211" y="37515"/>
                </a:lnTo>
                <a:close/>
              </a:path>
              <a:path w="773430" h="114300">
                <a:moveTo>
                  <a:pt x="658418" y="38079"/>
                </a:moveTo>
                <a:lnTo>
                  <a:pt x="0" y="57569"/>
                </a:lnTo>
                <a:lnTo>
                  <a:pt x="1117" y="95643"/>
                </a:lnTo>
                <a:lnTo>
                  <a:pt x="659561" y="76166"/>
                </a:lnTo>
                <a:lnTo>
                  <a:pt x="658418" y="38079"/>
                </a:lnTo>
                <a:close/>
              </a:path>
              <a:path w="773430" h="114300">
                <a:moveTo>
                  <a:pt x="677468" y="37515"/>
                </a:moveTo>
                <a:lnTo>
                  <a:pt x="658418" y="38079"/>
                </a:lnTo>
                <a:lnTo>
                  <a:pt x="659561" y="76166"/>
                </a:lnTo>
                <a:lnTo>
                  <a:pt x="678611" y="75603"/>
                </a:lnTo>
                <a:lnTo>
                  <a:pt x="677468" y="37515"/>
                </a:lnTo>
                <a:close/>
              </a:path>
              <a:path w="773430" h="114300">
                <a:moveTo>
                  <a:pt x="657275" y="0"/>
                </a:moveTo>
                <a:lnTo>
                  <a:pt x="658418" y="38079"/>
                </a:lnTo>
                <a:lnTo>
                  <a:pt x="677468" y="37515"/>
                </a:lnTo>
                <a:lnTo>
                  <a:pt x="738211" y="37515"/>
                </a:lnTo>
                <a:lnTo>
                  <a:pt x="657275" y="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21529" y="4624578"/>
            <a:ext cx="585470" cy="27940"/>
          </a:xfrm>
          <a:custGeom>
            <a:avLst/>
            <a:gdLst/>
            <a:ahLst/>
            <a:cxnLst/>
            <a:rect l="l" t="t" r="r" b="b"/>
            <a:pathLst>
              <a:path w="585470" h="27939">
                <a:moveTo>
                  <a:pt x="-19050" y="13716"/>
                </a:moveTo>
                <a:lnTo>
                  <a:pt x="604266" y="13716"/>
                </a:lnTo>
              </a:path>
            </a:pathLst>
          </a:custGeom>
          <a:ln w="65532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206746" y="4624578"/>
            <a:ext cx="0" cy="1449705"/>
          </a:xfrm>
          <a:custGeom>
            <a:avLst/>
            <a:gdLst/>
            <a:ahLst/>
            <a:cxnLst/>
            <a:rect l="l" t="t" r="r" b="b"/>
            <a:pathLst>
              <a:path w="0" h="1449704">
                <a:moveTo>
                  <a:pt x="0" y="0"/>
                </a:moveTo>
                <a:lnTo>
                  <a:pt x="0" y="144932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21529" y="6016752"/>
            <a:ext cx="585470" cy="114300"/>
          </a:xfrm>
          <a:custGeom>
            <a:avLst/>
            <a:gdLst/>
            <a:ahLst/>
            <a:cxnLst/>
            <a:rect l="l" t="t" r="r" b="b"/>
            <a:pathLst>
              <a:path w="58547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8547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85470" h="114300">
                <a:moveTo>
                  <a:pt x="58521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85216" y="76200"/>
                </a:lnTo>
                <a:lnTo>
                  <a:pt x="585216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681473" y="4230370"/>
            <a:ext cx="4622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SL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55114" y="3041142"/>
            <a:ext cx="2577465" cy="943610"/>
          </a:xfrm>
          <a:custGeom>
            <a:avLst/>
            <a:gdLst/>
            <a:ahLst/>
            <a:cxnLst/>
            <a:rect l="l" t="t" r="r" b="b"/>
            <a:pathLst>
              <a:path w="2577465" h="943610">
                <a:moveTo>
                  <a:pt x="0" y="943355"/>
                </a:moveTo>
                <a:lnTo>
                  <a:pt x="2577084" y="943355"/>
                </a:lnTo>
                <a:lnTo>
                  <a:pt x="2577084" y="0"/>
                </a:lnTo>
                <a:lnTo>
                  <a:pt x="0" y="0"/>
                </a:lnTo>
                <a:lnTo>
                  <a:pt x="0" y="94335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077211" y="3305683"/>
            <a:ext cx="25177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65682" y="2994660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300"/>
                </a:lnTo>
                <a:lnTo>
                  <a:pt x="773176" y="76200"/>
                </a:lnTo>
                <a:lnTo>
                  <a:pt x="665226" y="76200"/>
                </a:lnTo>
                <a:lnTo>
                  <a:pt x="665226" y="38100"/>
                </a:lnTo>
                <a:lnTo>
                  <a:pt x="773176" y="38100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6176" y="76200"/>
                </a:lnTo>
                <a:lnTo>
                  <a:pt x="646176" y="38100"/>
                </a:lnTo>
                <a:close/>
              </a:path>
              <a:path w="836930" h="114300">
                <a:moveTo>
                  <a:pt x="77317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73176" y="76200"/>
                </a:lnTo>
                <a:lnTo>
                  <a:pt x="836676" y="57150"/>
                </a:lnTo>
                <a:lnTo>
                  <a:pt x="7731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30986" y="3548634"/>
            <a:ext cx="989330" cy="0"/>
          </a:xfrm>
          <a:custGeom>
            <a:avLst/>
            <a:gdLst/>
            <a:ahLst/>
            <a:cxnLst/>
            <a:rect l="l" t="t" r="r" b="b"/>
            <a:pathLst>
              <a:path w="989330" h="0">
                <a:moveTo>
                  <a:pt x="98907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21841" y="3548634"/>
            <a:ext cx="0" cy="1356360"/>
          </a:xfrm>
          <a:custGeom>
            <a:avLst/>
            <a:gdLst/>
            <a:ahLst/>
            <a:cxnLst/>
            <a:rect l="l" t="t" r="r" b="b"/>
            <a:pathLst>
              <a:path w="0" h="1356360">
                <a:moveTo>
                  <a:pt x="0" y="0"/>
                </a:moveTo>
                <a:lnTo>
                  <a:pt x="0" y="1356359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21841" y="4847844"/>
            <a:ext cx="989330" cy="114300"/>
          </a:xfrm>
          <a:custGeom>
            <a:avLst/>
            <a:gdLst/>
            <a:ahLst/>
            <a:cxnLst/>
            <a:rect l="l" t="t" r="r" b="b"/>
            <a:pathLst>
              <a:path w="989330" h="114300">
                <a:moveTo>
                  <a:pt x="874776" y="0"/>
                </a:moveTo>
                <a:lnTo>
                  <a:pt x="874776" y="114299"/>
                </a:lnTo>
                <a:lnTo>
                  <a:pt x="950976" y="76199"/>
                </a:lnTo>
                <a:lnTo>
                  <a:pt x="893826" y="76199"/>
                </a:lnTo>
                <a:lnTo>
                  <a:pt x="893826" y="38099"/>
                </a:lnTo>
                <a:lnTo>
                  <a:pt x="950976" y="38099"/>
                </a:lnTo>
                <a:lnTo>
                  <a:pt x="874776" y="0"/>
                </a:lnTo>
                <a:close/>
              </a:path>
              <a:path w="989330" h="114300">
                <a:moveTo>
                  <a:pt x="87477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874776" y="76199"/>
                </a:lnTo>
                <a:lnTo>
                  <a:pt x="874776" y="38099"/>
                </a:lnTo>
                <a:close/>
              </a:path>
              <a:path w="989330" h="114300">
                <a:moveTo>
                  <a:pt x="950976" y="38099"/>
                </a:moveTo>
                <a:lnTo>
                  <a:pt x="893826" y="38099"/>
                </a:lnTo>
                <a:lnTo>
                  <a:pt x="893826" y="76199"/>
                </a:lnTo>
                <a:lnTo>
                  <a:pt x="950976" y="76199"/>
                </a:lnTo>
                <a:lnTo>
                  <a:pt x="989076" y="57149"/>
                </a:lnTo>
                <a:lnTo>
                  <a:pt x="950976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30673" y="3627882"/>
            <a:ext cx="845819" cy="0"/>
          </a:xfrm>
          <a:custGeom>
            <a:avLst/>
            <a:gdLst/>
            <a:ahLst/>
            <a:cxnLst/>
            <a:rect l="l" t="t" r="r" b="b"/>
            <a:pathLst>
              <a:path w="845820" h="0">
                <a:moveTo>
                  <a:pt x="0" y="0"/>
                </a:moveTo>
                <a:lnTo>
                  <a:pt x="84582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76494" y="3627882"/>
            <a:ext cx="0" cy="1277620"/>
          </a:xfrm>
          <a:custGeom>
            <a:avLst/>
            <a:gdLst/>
            <a:ahLst/>
            <a:cxnLst/>
            <a:rect l="l" t="t" r="r" b="b"/>
            <a:pathLst>
              <a:path w="0" h="1277620">
                <a:moveTo>
                  <a:pt x="0" y="0"/>
                </a:moveTo>
                <a:lnTo>
                  <a:pt x="0" y="127711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630673" y="4847844"/>
            <a:ext cx="845819" cy="114300"/>
          </a:xfrm>
          <a:custGeom>
            <a:avLst/>
            <a:gdLst/>
            <a:ahLst/>
            <a:cxnLst/>
            <a:rect l="l" t="t" r="r" b="b"/>
            <a:pathLst>
              <a:path w="845820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84582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845820" h="114300">
                <a:moveTo>
                  <a:pt x="845820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845820" y="76199"/>
                </a:lnTo>
                <a:lnTo>
                  <a:pt x="845820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645152" y="3223641"/>
            <a:ext cx="8763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SL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088" y="14732"/>
            <a:ext cx="7957184" cy="165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97915">
              <a:lnSpc>
                <a:spcPct val="100000"/>
              </a:lnSpc>
              <a:spcBef>
                <a:spcPts val="100"/>
              </a:spcBef>
              <a:tabLst>
                <a:tab pos="1736725" algn="l"/>
                <a:tab pos="3373754" algn="l"/>
                <a:tab pos="3875404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 marL="375285" indent="-363220">
              <a:lnSpc>
                <a:spcPct val="100000"/>
              </a:lnSpc>
              <a:spcBef>
                <a:spcPts val="1320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37592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SL(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存取链）的方案</a:t>
            </a:r>
            <a:endParaRPr sz="3200">
              <a:latin typeface="宋体"/>
              <a:cs typeface="宋体"/>
            </a:endParaRPr>
          </a:p>
          <a:p>
            <a:pPr marL="1184275">
              <a:lnSpc>
                <a:spcPct val="100000"/>
              </a:lnSpc>
              <a:spcBef>
                <a:spcPts val="91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主程</a:t>
            </a:r>
            <a:r>
              <a:rPr dirty="0" sz="3200" spc="70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baseline="-3086" sz="5400" spc="-7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baseline="-3086" sz="5400" spc="-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3086" sz="5400" spc="232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baseline="1736" sz="4800" spc="232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736" sz="4800" spc="3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1736" sz="4800" spc="30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baseline="1736" sz="4800" spc="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baseline="1736" sz="4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055114" y="2247138"/>
            <a:ext cx="2566670" cy="779145"/>
          </a:xfrm>
          <a:custGeom>
            <a:avLst/>
            <a:gdLst/>
            <a:ahLst/>
            <a:cxnLst/>
            <a:rect l="l" t="t" r="r" b="b"/>
            <a:pathLst>
              <a:path w="2566670" h="779144">
                <a:moveTo>
                  <a:pt x="0" y="778763"/>
                </a:moveTo>
                <a:lnTo>
                  <a:pt x="2566416" y="778763"/>
                </a:lnTo>
                <a:lnTo>
                  <a:pt x="2566416" y="0"/>
                </a:lnTo>
                <a:lnTo>
                  <a:pt x="0" y="0"/>
                </a:lnTo>
                <a:lnTo>
                  <a:pt x="0" y="77876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077211" y="2384501"/>
            <a:ext cx="25234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265682" y="2203704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300"/>
                </a:lnTo>
                <a:lnTo>
                  <a:pt x="773176" y="76200"/>
                </a:lnTo>
                <a:lnTo>
                  <a:pt x="665226" y="76200"/>
                </a:lnTo>
                <a:lnTo>
                  <a:pt x="665226" y="38100"/>
                </a:lnTo>
                <a:lnTo>
                  <a:pt x="773176" y="38100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6176" y="76200"/>
                </a:lnTo>
                <a:lnTo>
                  <a:pt x="646176" y="38100"/>
                </a:lnTo>
                <a:close/>
              </a:path>
              <a:path w="836930" h="114300">
                <a:moveTo>
                  <a:pt x="77317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73176" y="76200"/>
                </a:lnTo>
                <a:lnTo>
                  <a:pt x="836676" y="57150"/>
                </a:lnTo>
                <a:lnTo>
                  <a:pt x="7731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401317" y="2088261"/>
            <a:ext cx="5200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66469" y="2580512"/>
            <a:ext cx="362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62762" y="2559557"/>
            <a:ext cx="1257300" cy="15240"/>
          </a:xfrm>
          <a:custGeom>
            <a:avLst/>
            <a:gdLst/>
            <a:ahLst/>
            <a:cxnLst/>
            <a:rect l="l" t="t" r="r" b="b"/>
            <a:pathLst>
              <a:path w="1257300" h="15239">
                <a:moveTo>
                  <a:pt x="1257300" y="0"/>
                </a:moveTo>
                <a:lnTo>
                  <a:pt x="0" y="15239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62762" y="2574798"/>
            <a:ext cx="0" cy="1408430"/>
          </a:xfrm>
          <a:custGeom>
            <a:avLst/>
            <a:gdLst/>
            <a:ahLst/>
            <a:cxnLst/>
            <a:rect l="l" t="t" r="r" b="b"/>
            <a:pathLst>
              <a:path w="0" h="1408429">
                <a:moveTo>
                  <a:pt x="0" y="0"/>
                </a:moveTo>
                <a:lnTo>
                  <a:pt x="0" y="1408176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62558" y="3913378"/>
            <a:ext cx="1286510" cy="114300"/>
          </a:xfrm>
          <a:custGeom>
            <a:avLst/>
            <a:gdLst/>
            <a:ahLst/>
            <a:cxnLst/>
            <a:rect l="l" t="t" r="r" b="b"/>
            <a:pathLst>
              <a:path w="1286510" h="114300">
                <a:moveTo>
                  <a:pt x="1249366" y="37846"/>
                </a:moveTo>
                <a:lnTo>
                  <a:pt x="1190955" y="37846"/>
                </a:lnTo>
                <a:lnTo>
                  <a:pt x="1191463" y="75946"/>
                </a:lnTo>
                <a:lnTo>
                  <a:pt x="1172370" y="76149"/>
                </a:lnTo>
                <a:lnTo>
                  <a:pt x="1172794" y="114300"/>
                </a:lnTo>
                <a:lnTo>
                  <a:pt x="1286459" y="55880"/>
                </a:lnTo>
                <a:lnTo>
                  <a:pt x="1249366" y="37846"/>
                </a:lnTo>
                <a:close/>
              </a:path>
              <a:path w="1286510" h="114300">
                <a:moveTo>
                  <a:pt x="1171946" y="38048"/>
                </a:moveTo>
                <a:lnTo>
                  <a:pt x="0" y="50546"/>
                </a:lnTo>
                <a:lnTo>
                  <a:pt x="406" y="88646"/>
                </a:lnTo>
                <a:lnTo>
                  <a:pt x="1172370" y="76149"/>
                </a:lnTo>
                <a:lnTo>
                  <a:pt x="1171946" y="38048"/>
                </a:lnTo>
                <a:close/>
              </a:path>
              <a:path w="1286510" h="114300">
                <a:moveTo>
                  <a:pt x="1190955" y="37846"/>
                </a:moveTo>
                <a:lnTo>
                  <a:pt x="1171946" y="38048"/>
                </a:lnTo>
                <a:lnTo>
                  <a:pt x="1172370" y="76149"/>
                </a:lnTo>
                <a:lnTo>
                  <a:pt x="1191463" y="75946"/>
                </a:lnTo>
                <a:lnTo>
                  <a:pt x="1190955" y="37846"/>
                </a:lnTo>
                <a:close/>
              </a:path>
              <a:path w="1286510" h="114300">
                <a:moveTo>
                  <a:pt x="1171524" y="0"/>
                </a:moveTo>
                <a:lnTo>
                  <a:pt x="1171946" y="38048"/>
                </a:lnTo>
                <a:lnTo>
                  <a:pt x="1190955" y="37846"/>
                </a:lnTo>
                <a:lnTo>
                  <a:pt x="1249366" y="37846"/>
                </a:lnTo>
                <a:lnTo>
                  <a:pt x="1171524" y="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01243" y="2735656"/>
            <a:ext cx="447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632197" y="2905505"/>
            <a:ext cx="908685" cy="0"/>
          </a:xfrm>
          <a:custGeom>
            <a:avLst/>
            <a:gdLst/>
            <a:ahLst/>
            <a:cxnLst/>
            <a:rect l="l" t="t" r="r" b="b"/>
            <a:pathLst>
              <a:path w="908685" h="0">
                <a:moveTo>
                  <a:pt x="0" y="0"/>
                </a:moveTo>
                <a:lnTo>
                  <a:pt x="908303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540502" y="2905505"/>
            <a:ext cx="0" cy="3180715"/>
          </a:xfrm>
          <a:custGeom>
            <a:avLst/>
            <a:gdLst/>
            <a:ahLst/>
            <a:cxnLst/>
            <a:rect l="l" t="t" r="r" b="b"/>
            <a:pathLst>
              <a:path w="0" h="3180715">
                <a:moveTo>
                  <a:pt x="0" y="0"/>
                </a:moveTo>
                <a:lnTo>
                  <a:pt x="0" y="3180588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32197" y="6028944"/>
            <a:ext cx="908685" cy="114300"/>
          </a:xfrm>
          <a:custGeom>
            <a:avLst/>
            <a:gdLst/>
            <a:ahLst/>
            <a:cxnLst/>
            <a:rect l="l" t="t" r="r" b="b"/>
            <a:pathLst>
              <a:path w="908685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908685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908685" h="114300">
                <a:moveTo>
                  <a:pt x="908303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908303" y="76199"/>
                </a:lnTo>
                <a:lnTo>
                  <a:pt x="908303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864989" y="2567685"/>
            <a:ext cx="398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93266" y="4781462"/>
            <a:ext cx="52197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top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03119" y="5099700"/>
            <a:ext cx="1453515" cy="8083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6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主程序的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3295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103744" y="5130094"/>
            <a:ext cx="902335" cy="952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2384">
              <a:lnSpc>
                <a:spcPts val="31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9993" y="5188387"/>
            <a:ext cx="518159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DL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471422" y="5705641"/>
            <a:ext cx="362585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04998" y="6189970"/>
            <a:ext cx="1808480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00"/>
              </a:lnSpc>
            </a:pP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活动记录栈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33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30325" y="2878658"/>
            <a:ext cx="949325" cy="720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0690">
              <a:lnSpc>
                <a:spcPts val="2975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top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495"/>
              </a:lnSpc>
            </a:pP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07667" y="3533394"/>
            <a:ext cx="520065" cy="74739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 marR="5080" indent="86995">
              <a:lnSpc>
                <a:spcPct val="69200"/>
              </a:lnSpc>
              <a:spcBef>
                <a:spcPts val="1130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 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95119" y="4438269"/>
            <a:ext cx="362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49017" y="4909565"/>
            <a:ext cx="2563495" cy="1175385"/>
          </a:xfrm>
          <a:custGeom>
            <a:avLst/>
            <a:gdLst/>
            <a:ahLst/>
            <a:cxnLst/>
            <a:rect l="l" t="t" r="r" b="b"/>
            <a:pathLst>
              <a:path w="2563495" h="1175385">
                <a:moveTo>
                  <a:pt x="0" y="1175003"/>
                </a:moveTo>
                <a:lnTo>
                  <a:pt x="2563368" y="1175003"/>
                </a:lnTo>
                <a:lnTo>
                  <a:pt x="2563368" y="0"/>
                </a:lnTo>
                <a:lnTo>
                  <a:pt x="0" y="0"/>
                </a:lnTo>
                <a:lnTo>
                  <a:pt x="0" y="117500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81783" y="5049723"/>
            <a:ext cx="251587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3400" marR="545465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主程序的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47394" y="4852415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299"/>
                </a:lnTo>
                <a:lnTo>
                  <a:pt x="773176" y="76199"/>
                </a:lnTo>
                <a:lnTo>
                  <a:pt x="665226" y="76199"/>
                </a:lnTo>
                <a:lnTo>
                  <a:pt x="665226" y="38099"/>
                </a:lnTo>
                <a:lnTo>
                  <a:pt x="773176" y="38099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46176" y="76199"/>
                </a:lnTo>
                <a:lnTo>
                  <a:pt x="646176" y="38099"/>
                </a:lnTo>
                <a:close/>
              </a:path>
              <a:path w="836930" h="114300">
                <a:moveTo>
                  <a:pt x="773176" y="38099"/>
                </a:moveTo>
                <a:lnTo>
                  <a:pt x="665226" y="38099"/>
                </a:lnTo>
                <a:lnTo>
                  <a:pt x="665226" y="76199"/>
                </a:lnTo>
                <a:lnTo>
                  <a:pt x="773176" y="76199"/>
                </a:lnTo>
                <a:lnTo>
                  <a:pt x="836676" y="57149"/>
                </a:lnTo>
                <a:lnTo>
                  <a:pt x="773176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29892" y="5595924"/>
            <a:ext cx="362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0817" y="6027420"/>
            <a:ext cx="847725" cy="114300"/>
          </a:xfrm>
          <a:custGeom>
            <a:avLst/>
            <a:gdLst/>
            <a:ahLst/>
            <a:cxnLst/>
            <a:rect l="l" t="t" r="r" b="b"/>
            <a:pathLst>
              <a:path w="847725" h="114300">
                <a:moveTo>
                  <a:pt x="656844" y="0"/>
                </a:moveTo>
                <a:lnTo>
                  <a:pt x="656844" y="114299"/>
                </a:lnTo>
                <a:lnTo>
                  <a:pt x="783844" y="76199"/>
                </a:lnTo>
                <a:lnTo>
                  <a:pt x="675894" y="76199"/>
                </a:lnTo>
                <a:lnTo>
                  <a:pt x="675894" y="38099"/>
                </a:lnTo>
                <a:lnTo>
                  <a:pt x="783844" y="38099"/>
                </a:lnTo>
                <a:lnTo>
                  <a:pt x="656844" y="0"/>
                </a:lnTo>
                <a:close/>
              </a:path>
              <a:path w="847725" h="114300">
                <a:moveTo>
                  <a:pt x="6568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56844" y="76199"/>
                </a:lnTo>
                <a:lnTo>
                  <a:pt x="656844" y="38099"/>
                </a:lnTo>
                <a:close/>
              </a:path>
              <a:path w="847725" h="114300">
                <a:moveTo>
                  <a:pt x="783844" y="38099"/>
                </a:moveTo>
                <a:lnTo>
                  <a:pt x="675894" y="38099"/>
                </a:lnTo>
                <a:lnTo>
                  <a:pt x="675894" y="76199"/>
                </a:lnTo>
                <a:lnTo>
                  <a:pt x="783844" y="76199"/>
                </a:lnTo>
                <a:lnTo>
                  <a:pt x="847344" y="57149"/>
                </a:lnTo>
                <a:lnTo>
                  <a:pt x="783844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50685" y="1812798"/>
            <a:ext cx="599440" cy="4337685"/>
          </a:xfrm>
          <a:custGeom>
            <a:avLst/>
            <a:gdLst/>
            <a:ahLst/>
            <a:cxnLst/>
            <a:rect l="l" t="t" r="r" b="b"/>
            <a:pathLst>
              <a:path w="599440" h="4337685">
                <a:moveTo>
                  <a:pt x="598932" y="4337304"/>
                </a:moveTo>
                <a:lnTo>
                  <a:pt x="541242" y="4335411"/>
                </a:lnTo>
                <a:lnTo>
                  <a:pt x="485106" y="4329848"/>
                </a:lnTo>
                <a:lnTo>
                  <a:pt x="430773" y="4320789"/>
                </a:lnTo>
                <a:lnTo>
                  <a:pt x="378496" y="4308406"/>
                </a:lnTo>
                <a:lnTo>
                  <a:pt x="328525" y="4292873"/>
                </a:lnTo>
                <a:lnTo>
                  <a:pt x="281110" y="4274364"/>
                </a:lnTo>
                <a:lnTo>
                  <a:pt x="236502" y="4253051"/>
                </a:lnTo>
                <a:lnTo>
                  <a:pt x="194952" y="4229108"/>
                </a:lnTo>
                <a:lnTo>
                  <a:pt x="156711" y="4202708"/>
                </a:lnTo>
                <a:lnTo>
                  <a:pt x="122030" y="4174024"/>
                </a:lnTo>
                <a:lnTo>
                  <a:pt x="91159" y="4143230"/>
                </a:lnTo>
                <a:lnTo>
                  <a:pt x="64350" y="4110500"/>
                </a:lnTo>
                <a:lnTo>
                  <a:pt x="41853" y="4076005"/>
                </a:lnTo>
                <a:lnTo>
                  <a:pt x="23918" y="4039920"/>
                </a:lnTo>
                <a:lnTo>
                  <a:pt x="10797" y="4002418"/>
                </a:lnTo>
                <a:lnTo>
                  <a:pt x="2741" y="3963672"/>
                </a:lnTo>
                <a:lnTo>
                  <a:pt x="0" y="3923855"/>
                </a:lnTo>
                <a:lnTo>
                  <a:pt x="0" y="413512"/>
                </a:lnTo>
                <a:lnTo>
                  <a:pt x="2741" y="373692"/>
                </a:lnTo>
                <a:lnTo>
                  <a:pt x="10797" y="334943"/>
                </a:lnTo>
                <a:lnTo>
                  <a:pt x="23918" y="297437"/>
                </a:lnTo>
                <a:lnTo>
                  <a:pt x="41853" y="261347"/>
                </a:lnTo>
                <a:lnTo>
                  <a:pt x="64350" y="226848"/>
                </a:lnTo>
                <a:lnTo>
                  <a:pt x="91159" y="194112"/>
                </a:lnTo>
                <a:lnTo>
                  <a:pt x="122030" y="163313"/>
                </a:lnTo>
                <a:lnTo>
                  <a:pt x="156711" y="134625"/>
                </a:lnTo>
                <a:lnTo>
                  <a:pt x="194952" y="108220"/>
                </a:lnTo>
                <a:lnTo>
                  <a:pt x="236502" y="84272"/>
                </a:lnTo>
                <a:lnTo>
                  <a:pt x="281110" y="62954"/>
                </a:lnTo>
                <a:lnTo>
                  <a:pt x="328525" y="44440"/>
                </a:lnTo>
                <a:lnTo>
                  <a:pt x="378496" y="28904"/>
                </a:lnTo>
                <a:lnTo>
                  <a:pt x="430773" y="16518"/>
                </a:lnTo>
                <a:lnTo>
                  <a:pt x="485106" y="7457"/>
                </a:lnTo>
                <a:lnTo>
                  <a:pt x="541242" y="1893"/>
                </a:lnTo>
                <a:lnTo>
                  <a:pt x="59893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89826" y="2128266"/>
            <a:ext cx="283845" cy="693420"/>
          </a:xfrm>
          <a:custGeom>
            <a:avLst/>
            <a:gdLst/>
            <a:ahLst/>
            <a:cxnLst/>
            <a:rect l="l" t="t" r="r" b="b"/>
            <a:pathLst>
              <a:path w="283845" h="693419">
                <a:moveTo>
                  <a:pt x="283464" y="693420"/>
                </a:moveTo>
                <a:lnTo>
                  <a:pt x="208094" y="691058"/>
                </a:lnTo>
                <a:lnTo>
                  <a:pt x="140377" y="684393"/>
                </a:lnTo>
                <a:lnTo>
                  <a:pt x="83010" y="674052"/>
                </a:lnTo>
                <a:lnTo>
                  <a:pt x="38692" y="660663"/>
                </a:lnTo>
                <a:lnTo>
                  <a:pt x="0" y="627253"/>
                </a:lnTo>
                <a:lnTo>
                  <a:pt x="0" y="66167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89826" y="3356609"/>
            <a:ext cx="283845" cy="1275715"/>
          </a:xfrm>
          <a:custGeom>
            <a:avLst/>
            <a:gdLst/>
            <a:ahLst/>
            <a:cxnLst/>
            <a:rect l="l" t="t" r="r" b="b"/>
            <a:pathLst>
              <a:path w="283845" h="1275714">
                <a:moveTo>
                  <a:pt x="283464" y="1275588"/>
                </a:moveTo>
                <a:lnTo>
                  <a:pt x="218456" y="1272366"/>
                </a:lnTo>
                <a:lnTo>
                  <a:pt x="158787" y="1263191"/>
                </a:lnTo>
                <a:lnTo>
                  <a:pt x="106155" y="1248795"/>
                </a:lnTo>
                <a:lnTo>
                  <a:pt x="62261" y="1229912"/>
                </a:lnTo>
                <a:lnTo>
                  <a:pt x="28804" y="1207274"/>
                </a:lnTo>
                <a:lnTo>
                  <a:pt x="0" y="1153667"/>
                </a:lnTo>
                <a:lnTo>
                  <a:pt x="0" y="121919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03744" y="4984486"/>
            <a:ext cx="902335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9685">
              <a:lnSpc>
                <a:spcPct val="125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 P  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40573" y="3509009"/>
            <a:ext cx="281940" cy="693420"/>
          </a:xfrm>
          <a:custGeom>
            <a:avLst/>
            <a:gdLst/>
            <a:ahLst/>
            <a:cxnLst/>
            <a:rect l="l" t="t" r="r" b="b"/>
            <a:pathLst>
              <a:path w="281940" h="693420">
                <a:moveTo>
                  <a:pt x="281940" y="693419"/>
                </a:moveTo>
                <a:lnTo>
                  <a:pt x="206992" y="691068"/>
                </a:lnTo>
                <a:lnTo>
                  <a:pt x="139643" y="684431"/>
                </a:lnTo>
                <a:lnTo>
                  <a:pt x="82581" y="674131"/>
                </a:lnTo>
                <a:lnTo>
                  <a:pt x="38495" y="660795"/>
                </a:lnTo>
                <a:lnTo>
                  <a:pt x="0" y="627507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4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327775" y="3515614"/>
            <a:ext cx="381000" cy="858519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51623" y="3768978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77759" y="3483036"/>
            <a:ext cx="1566545" cy="1176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850">
              <a:lnSpc>
                <a:spcPct val="157300"/>
              </a:lnSpc>
              <a:spcBef>
                <a:spcPts val="95"/>
              </a:spcBef>
              <a:tabLst>
                <a:tab pos="801370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14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 call</a:t>
            </a:r>
            <a:r>
              <a:rPr dirty="0" sz="2400" spc="-3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58161" y="1776222"/>
            <a:ext cx="0" cy="4307205"/>
          </a:xfrm>
          <a:custGeom>
            <a:avLst/>
            <a:gdLst/>
            <a:ahLst/>
            <a:cxnLst/>
            <a:rect l="l" t="t" r="r" b="b"/>
            <a:pathLst>
              <a:path w="0" h="4307205">
                <a:moveTo>
                  <a:pt x="0" y="0"/>
                </a:moveTo>
                <a:lnTo>
                  <a:pt x="0" y="43068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20005" y="1776222"/>
            <a:ext cx="0" cy="4307205"/>
          </a:xfrm>
          <a:custGeom>
            <a:avLst/>
            <a:gdLst/>
            <a:ahLst/>
            <a:cxnLst/>
            <a:rect l="l" t="t" r="r" b="b"/>
            <a:pathLst>
              <a:path w="0" h="4307205">
                <a:moveTo>
                  <a:pt x="0" y="0"/>
                </a:moveTo>
                <a:lnTo>
                  <a:pt x="0" y="4306824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58161" y="6083046"/>
            <a:ext cx="2562225" cy="0"/>
          </a:xfrm>
          <a:custGeom>
            <a:avLst/>
            <a:gdLst/>
            <a:ahLst/>
            <a:cxnLst/>
            <a:rect l="l" t="t" r="r" b="b"/>
            <a:pathLst>
              <a:path w="2562225" h="0">
                <a:moveTo>
                  <a:pt x="0" y="0"/>
                </a:moveTo>
                <a:lnTo>
                  <a:pt x="2562225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47494" y="3841241"/>
            <a:ext cx="2585085" cy="1064260"/>
          </a:xfrm>
          <a:custGeom>
            <a:avLst/>
            <a:gdLst/>
            <a:ahLst/>
            <a:cxnLst/>
            <a:rect l="l" t="t" r="r" b="b"/>
            <a:pathLst>
              <a:path w="2585085" h="1064260">
                <a:moveTo>
                  <a:pt x="0" y="1063752"/>
                </a:moveTo>
                <a:lnTo>
                  <a:pt x="2584704" y="1063752"/>
                </a:lnTo>
                <a:lnTo>
                  <a:pt x="2584704" y="0"/>
                </a:lnTo>
                <a:lnTo>
                  <a:pt x="0" y="0"/>
                </a:lnTo>
                <a:lnTo>
                  <a:pt x="0" y="106375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082545" y="4158818"/>
            <a:ext cx="25126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987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18438" y="3776471"/>
            <a:ext cx="836930" cy="114300"/>
          </a:xfrm>
          <a:custGeom>
            <a:avLst/>
            <a:gdLst/>
            <a:ahLst/>
            <a:cxnLst/>
            <a:rect l="l" t="t" r="r" b="b"/>
            <a:pathLst>
              <a:path w="836930" h="114300">
                <a:moveTo>
                  <a:pt x="646176" y="0"/>
                </a:moveTo>
                <a:lnTo>
                  <a:pt x="646176" y="114300"/>
                </a:lnTo>
                <a:lnTo>
                  <a:pt x="773176" y="76200"/>
                </a:lnTo>
                <a:lnTo>
                  <a:pt x="665226" y="76200"/>
                </a:lnTo>
                <a:lnTo>
                  <a:pt x="665226" y="38100"/>
                </a:lnTo>
                <a:lnTo>
                  <a:pt x="773176" y="38100"/>
                </a:lnTo>
                <a:lnTo>
                  <a:pt x="646176" y="0"/>
                </a:lnTo>
                <a:close/>
              </a:path>
              <a:path w="836930" h="114300">
                <a:moveTo>
                  <a:pt x="6461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46176" y="76200"/>
                </a:lnTo>
                <a:lnTo>
                  <a:pt x="646176" y="38100"/>
                </a:lnTo>
                <a:close/>
              </a:path>
              <a:path w="836930" h="114300">
                <a:moveTo>
                  <a:pt x="773176" y="38100"/>
                </a:moveTo>
                <a:lnTo>
                  <a:pt x="665226" y="38100"/>
                </a:lnTo>
                <a:lnTo>
                  <a:pt x="665226" y="76200"/>
                </a:lnTo>
                <a:lnTo>
                  <a:pt x="773176" y="76200"/>
                </a:lnTo>
                <a:lnTo>
                  <a:pt x="836676" y="57150"/>
                </a:lnTo>
                <a:lnTo>
                  <a:pt x="7731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420494" y="3406266"/>
            <a:ext cx="5200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2394" y="4414520"/>
            <a:ext cx="520065" cy="77406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 indent="69215">
              <a:lnSpc>
                <a:spcPct val="75600"/>
              </a:lnSpc>
              <a:spcBef>
                <a:spcPts val="91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  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47394" y="4207002"/>
            <a:ext cx="802005" cy="7620"/>
          </a:xfrm>
          <a:custGeom>
            <a:avLst/>
            <a:gdLst/>
            <a:ahLst/>
            <a:cxnLst/>
            <a:rect l="l" t="t" r="r" b="b"/>
            <a:pathLst>
              <a:path w="802005" h="7620">
                <a:moveTo>
                  <a:pt x="801624" y="7620"/>
                </a:moveTo>
                <a:lnTo>
                  <a:pt x="0" y="0"/>
                </a:lnTo>
              </a:path>
            </a:pathLst>
          </a:custGeom>
          <a:ln w="380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224533" y="4216146"/>
            <a:ext cx="0" cy="1884045"/>
          </a:xfrm>
          <a:custGeom>
            <a:avLst/>
            <a:gdLst/>
            <a:ahLst/>
            <a:cxnLst/>
            <a:rect l="l" t="t" r="r" b="b"/>
            <a:pathLst>
              <a:path w="0" h="1884045">
                <a:moveTo>
                  <a:pt x="0" y="0"/>
                </a:moveTo>
                <a:lnTo>
                  <a:pt x="0" y="188366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240980" y="6040767"/>
            <a:ext cx="828040" cy="114300"/>
          </a:xfrm>
          <a:custGeom>
            <a:avLst/>
            <a:gdLst/>
            <a:ahLst/>
            <a:cxnLst/>
            <a:rect l="l" t="t" r="r" b="b"/>
            <a:pathLst>
              <a:path w="828039" h="114300">
                <a:moveTo>
                  <a:pt x="714565" y="0"/>
                </a:moveTo>
                <a:lnTo>
                  <a:pt x="713930" y="38101"/>
                </a:lnTo>
                <a:lnTo>
                  <a:pt x="732980" y="38417"/>
                </a:lnTo>
                <a:lnTo>
                  <a:pt x="732345" y="76504"/>
                </a:lnTo>
                <a:lnTo>
                  <a:pt x="713290" y="76504"/>
                </a:lnTo>
                <a:lnTo>
                  <a:pt x="712660" y="114287"/>
                </a:lnTo>
                <a:lnTo>
                  <a:pt x="791439" y="76504"/>
                </a:lnTo>
                <a:lnTo>
                  <a:pt x="732345" y="76504"/>
                </a:lnTo>
                <a:lnTo>
                  <a:pt x="713295" y="76189"/>
                </a:lnTo>
                <a:lnTo>
                  <a:pt x="792096" y="76189"/>
                </a:lnTo>
                <a:lnTo>
                  <a:pt x="827849" y="59042"/>
                </a:lnTo>
                <a:lnTo>
                  <a:pt x="714565" y="0"/>
                </a:lnTo>
                <a:close/>
              </a:path>
              <a:path w="828039" h="114300">
                <a:moveTo>
                  <a:pt x="713930" y="38101"/>
                </a:moveTo>
                <a:lnTo>
                  <a:pt x="713295" y="76189"/>
                </a:lnTo>
                <a:lnTo>
                  <a:pt x="732345" y="76504"/>
                </a:lnTo>
                <a:lnTo>
                  <a:pt x="732980" y="38417"/>
                </a:lnTo>
                <a:lnTo>
                  <a:pt x="713930" y="38101"/>
                </a:lnTo>
                <a:close/>
              </a:path>
              <a:path w="828039" h="114300">
                <a:moveTo>
                  <a:pt x="634" y="26276"/>
                </a:moveTo>
                <a:lnTo>
                  <a:pt x="0" y="64376"/>
                </a:lnTo>
                <a:lnTo>
                  <a:pt x="713295" y="76189"/>
                </a:lnTo>
                <a:lnTo>
                  <a:pt x="713930" y="38101"/>
                </a:lnTo>
                <a:lnTo>
                  <a:pt x="634" y="26276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59993" y="5149722"/>
            <a:ext cx="5181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66FFFF"/>
                </a:solidFill>
                <a:latin typeface="Times New Roman"/>
                <a:cs typeface="Times New Roman"/>
              </a:rPr>
              <a:t>DL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621529" y="4624578"/>
            <a:ext cx="585470" cy="27940"/>
          </a:xfrm>
          <a:custGeom>
            <a:avLst/>
            <a:gdLst/>
            <a:ahLst/>
            <a:cxnLst/>
            <a:rect l="l" t="t" r="r" b="b"/>
            <a:pathLst>
              <a:path w="585470" h="27939">
                <a:moveTo>
                  <a:pt x="-19050" y="13716"/>
                </a:moveTo>
                <a:lnTo>
                  <a:pt x="604266" y="13716"/>
                </a:lnTo>
              </a:path>
            </a:pathLst>
          </a:custGeom>
          <a:ln w="65532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206746" y="4624578"/>
            <a:ext cx="0" cy="1449705"/>
          </a:xfrm>
          <a:custGeom>
            <a:avLst/>
            <a:gdLst/>
            <a:ahLst/>
            <a:cxnLst/>
            <a:rect l="l" t="t" r="r" b="b"/>
            <a:pathLst>
              <a:path w="0" h="1449704">
                <a:moveTo>
                  <a:pt x="0" y="0"/>
                </a:moveTo>
                <a:lnTo>
                  <a:pt x="0" y="144932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21529" y="6016752"/>
            <a:ext cx="585470" cy="114300"/>
          </a:xfrm>
          <a:custGeom>
            <a:avLst/>
            <a:gdLst/>
            <a:ahLst/>
            <a:cxnLst/>
            <a:rect l="l" t="t" r="r" b="b"/>
            <a:pathLst>
              <a:path w="58547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8547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85470" h="114300">
                <a:moveTo>
                  <a:pt x="585216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85216" y="76200"/>
                </a:lnTo>
                <a:lnTo>
                  <a:pt x="585216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681473" y="4230370"/>
            <a:ext cx="4622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SL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04998" y="6189970"/>
            <a:ext cx="1808480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00"/>
              </a:lnSpc>
            </a:pPr>
            <a:r>
              <a:rPr dirty="0" sz="2800" spc="-10" b="1">
                <a:solidFill>
                  <a:srgbClr val="66FFFF"/>
                </a:solidFill>
                <a:latin typeface="宋体"/>
                <a:cs typeface="宋体"/>
              </a:rPr>
              <a:t>活动记录栈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088" y="14732"/>
            <a:ext cx="7957184" cy="3526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97915">
              <a:lnSpc>
                <a:spcPct val="100000"/>
              </a:lnSpc>
              <a:spcBef>
                <a:spcPts val="100"/>
              </a:spcBef>
              <a:tabLst>
                <a:tab pos="1736725" algn="l"/>
                <a:tab pos="3373754" algn="l"/>
                <a:tab pos="3875404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 marL="375920" marR="3672840" indent="-375920">
              <a:lnSpc>
                <a:spcPct val="134300"/>
              </a:lnSpc>
              <a:spcBef>
                <a:spcPts val="5"/>
              </a:spcBef>
              <a:buClr>
                <a:srgbClr val="66FFFF"/>
              </a:buClr>
              <a:buSzPct val="139062"/>
              <a:buFont typeface="Wingdings"/>
              <a:buChar char=""/>
              <a:tabLst>
                <a:tab pos="37592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SL</a:t>
            </a:r>
            <a:r>
              <a:rPr dirty="0" sz="3200" spc="-1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存取链）的方案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主程</a:t>
            </a:r>
            <a:r>
              <a:rPr dirty="0" sz="3200" spc="4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baseline="2604" sz="4800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baseline="2604" sz="4800" spc="-7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604" sz="48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baseline="2604" sz="4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50">
              <a:latin typeface="Times New Roman"/>
              <a:cs typeface="Times New Roman"/>
            </a:endParaRPr>
          </a:p>
          <a:p>
            <a:pPr algn="r" marR="377190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algn="r" marR="1303020">
              <a:lnSpc>
                <a:spcPct val="100000"/>
              </a:lnSpc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7828" y="569792"/>
            <a:ext cx="4049395" cy="2693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31265">
              <a:lnSpc>
                <a:spcPct val="1250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#include</a:t>
            </a:r>
            <a:r>
              <a:rPr dirty="0" sz="28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&lt;stdio.h&gt;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int x,y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int gcd(int u,int</a:t>
            </a:r>
            <a:r>
              <a:rPr dirty="0" sz="2800" spc="15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v)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3295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	if (v==0) 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return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u;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else 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return </a:t>
            </a:r>
            <a:r>
              <a:rPr dirty="0" sz="2800" spc="-30" b="1">
                <a:solidFill>
                  <a:srgbClr val="00FFFF"/>
                </a:solidFill>
                <a:latin typeface="Times New Roman"/>
                <a:cs typeface="Times New Roman"/>
              </a:rPr>
              <a:t>gcd(v,</a:t>
            </a:r>
            <a:r>
              <a:rPr dirty="0" sz="2800" spc="-2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u%v)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7828" y="3237427"/>
            <a:ext cx="4051300" cy="216217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 scanf(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%d%d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,&amp;x,&amp;y);</a:t>
            </a:r>
            <a:endParaRPr sz="28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printf(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%d\n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00FFFF"/>
                </a:solidFill>
                <a:latin typeface="Times New Roman"/>
                <a:cs typeface="Times New Roman"/>
              </a:rPr>
              <a:t>gcd(x,y)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4528" y="5479491"/>
            <a:ext cx="11233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eturn;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042" y="649605"/>
            <a:ext cx="3276600" cy="1537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132270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7.4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设有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程序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>
              <a:latin typeface="宋体"/>
              <a:cs typeface="宋体"/>
            </a:endParaRPr>
          </a:p>
          <a:p>
            <a:pPr algn="ctr" marL="71755">
              <a:lnSpc>
                <a:spcPct val="100000"/>
              </a:lnSpc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gcd(15,10)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3316" y="2860039"/>
            <a:ext cx="14185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gcd(10,5)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3316" y="4174312"/>
            <a:ext cx="12407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gcd(5,0)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62911" y="2272283"/>
            <a:ext cx="342900" cy="605155"/>
          </a:xfrm>
          <a:custGeom>
            <a:avLst/>
            <a:gdLst/>
            <a:ahLst/>
            <a:cxnLst/>
            <a:rect l="l" t="t" r="r" b="b"/>
            <a:pathLst>
              <a:path w="342900" h="605155">
                <a:moveTo>
                  <a:pt x="342900" y="453770"/>
                </a:moveTo>
                <a:lnTo>
                  <a:pt x="0" y="453770"/>
                </a:lnTo>
                <a:lnTo>
                  <a:pt x="171450" y="605027"/>
                </a:lnTo>
                <a:lnTo>
                  <a:pt x="342900" y="453770"/>
                </a:lnTo>
                <a:close/>
              </a:path>
              <a:path w="342900" h="605155">
                <a:moveTo>
                  <a:pt x="257175" y="0"/>
                </a:moveTo>
                <a:lnTo>
                  <a:pt x="85725" y="0"/>
                </a:lnTo>
                <a:lnTo>
                  <a:pt x="85725" y="453770"/>
                </a:lnTo>
                <a:lnTo>
                  <a:pt x="257175" y="453770"/>
                </a:lnTo>
                <a:lnTo>
                  <a:pt x="25717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43100" y="3547871"/>
            <a:ext cx="342900" cy="605155"/>
          </a:xfrm>
          <a:custGeom>
            <a:avLst/>
            <a:gdLst/>
            <a:ahLst/>
            <a:cxnLst/>
            <a:rect l="l" t="t" r="r" b="b"/>
            <a:pathLst>
              <a:path w="342900" h="605154">
                <a:moveTo>
                  <a:pt x="342900" y="453770"/>
                </a:moveTo>
                <a:lnTo>
                  <a:pt x="0" y="453770"/>
                </a:lnTo>
                <a:lnTo>
                  <a:pt x="171450" y="605027"/>
                </a:lnTo>
                <a:lnTo>
                  <a:pt x="342900" y="453770"/>
                </a:lnTo>
                <a:close/>
              </a:path>
              <a:path w="342900" h="605154">
                <a:moveTo>
                  <a:pt x="257175" y="0"/>
                </a:moveTo>
                <a:lnTo>
                  <a:pt x="85725" y="0"/>
                </a:lnTo>
                <a:lnTo>
                  <a:pt x="85725" y="453770"/>
                </a:lnTo>
                <a:lnTo>
                  <a:pt x="257175" y="453770"/>
                </a:lnTo>
                <a:lnTo>
                  <a:pt x="25717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35786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87183" y="5486400"/>
            <a:ext cx="1513840" cy="0"/>
          </a:xfrm>
          <a:custGeom>
            <a:avLst/>
            <a:gdLst/>
            <a:ahLst/>
            <a:cxnLst/>
            <a:rect l="l" t="t" r="r" b="b"/>
            <a:pathLst>
              <a:path w="1513840" h="0">
                <a:moveTo>
                  <a:pt x="0" y="0"/>
                </a:moveTo>
                <a:lnTo>
                  <a:pt x="1513332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411473" y="14732"/>
            <a:ext cx="45954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81800" y="3357371"/>
            <a:ext cx="1918970" cy="0"/>
          </a:xfrm>
          <a:custGeom>
            <a:avLst/>
            <a:gdLst/>
            <a:ahLst/>
            <a:cxnLst/>
            <a:rect l="l" t="t" r="r" b="b"/>
            <a:pathLst>
              <a:path w="1918970" h="0">
                <a:moveTo>
                  <a:pt x="0" y="0"/>
                </a:moveTo>
                <a:lnTo>
                  <a:pt x="1918716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727828" y="6051284"/>
            <a:ext cx="165735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35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42003" y="5867400"/>
            <a:ext cx="3084830" cy="0"/>
          </a:xfrm>
          <a:custGeom>
            <a:avLst/>
            <a:gdLst/>
            <a:ahLst/>
            <a:cxnLst/>
            <a:rect l="l" t="t" r="r" b="b"/>
            <a:pathLst>
              <a:path w="3084829" h="0">
                <a:moveTo>
                  <a:pt x="0" y="0"/>
                </a:moveTo>
                <a:lnTo>
                  <a:pt x="3084576" y="0"/>
                </a:lnTo>
              </a:path>
            </a:pathLst>
          </a:custGeom>
          <a:ln w="9525">
            <a:solidFill>
              <a:srgbClr val="FFFF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42003" y="5163311"/>
            <a:ext cx="3084830" cy="0"/>
          </a:xfrm>
          <a:custGeom>
            <a:avLst/>
            <a:gdLst/>
            <a:ahLst/>
            <a:cxnLst/>
            <a:rect l="l" t="t" r="r" b="b"/>
            <a:pathLst>
              <a:path w="3084829" h="0">
                <a:moveTo>
                  <a:pt x="0" y="0"/>
                </a:moveTo>
                <a:lnTo>
                  <a:pt x="3084576" y="0"/>
                </a:lnTo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30978" y="5303621"/>
            <a:ext cx="16656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mai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42003" y="4172711"/>
            <a:ext cx="3086100" cy="0"/>
          </a:xfrm>
          <a:custGeom>
            <a:avLst/>
            <a:gdLst/>
            <a:ahLst/>
            <a:cxnLst/>
            <a:rect l="l" t="t" r="r" b="b"/>
            <a:pathLst>
              <a:path w="3086100" h="0">
                <a:moveTo>
                  <a:pt x="0" y="0"/>
                </a:moveTo>
                <a:lnTo>
                  <a:pt x="3086100" y="0"/>
                </a:lnTo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87902" y="4442840"/>
            <a:ext cx="31807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调用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gcd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42003" y="3182111"/>
            <a:ext cx="3084830" cy="0"/>
          </a:xfrm>
          <a:custGeom>
            <a:avLst/>
            <a:gdLst/>
            <a:ahLst/>
            <a:cxnLst/>
            <a:rect l="l" t="t" r="r" b="b"/>
            <a:pathLst>
              <a:path w="3084829" h="0">
                <a:moveTo>
                  <a:pt x="0" y="0"/>
                </a:moveTo>
                <a:lnTo>
                  <a:pt x="3084576" y="0"/>
                </a:lnTo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42003" y="2153411"/>
            <a:ext cx="3084830" cy="0"/>
          </a:xfrm>
          <a:custGeom>
            <a:avLst/>
            <a:gdLst/>
            <a:ahLst/>
            <a:cxnLst/>
            <a:rect l="l" t="t" r="r" b="b"/>
            <a:pathLst>
              <a:path w="3084829" h="0">
                <a:moveTo>
                  <a:pt x="0" y="0"/>
                </a:moveTo>
                <a:lnTo>
                  <a:pt x="3084576" y="0"/>
                </a:lnTo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20997" y="2423286"/>
            <a:ext cx="2824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调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gcd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3945" y="2533014"/>
            <a:ext cx="4413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99FFCC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60954" y="3089910"/>
            <a:ext cx="704850" cy="0"/>
          </a:xfrm>
          <a:custGeom>
            <a:avLst/>
            <a:gdLst/>
            <a:ahLst/>
            <a:cxnLst/>
            <a:rect l="l" t="t" r="r" b="b"/>
            <a:pathLst>
              <a:path w="704850" h="0">
                <a:moveTo>
                  <a:pt x="0" y="0"/>
                </a:moveTo>
                <a:lnTo>
                  <a:pt x="70484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60954" y="3089910"/>
            <a:ext cx="0" cy="879475"/>
          </a:xfrm>
          <a:custGeom>
            <a:avLst/>
            <a:gdLst/>
            <a:ahLst/>
            <a:cxnLst/>
            <a:rect l="l" t="t" r="r" b="b"/>
            <a:pathLst>
              <a:path w="0" h="879475">
                <a:moveTo>
                  <a:pt x="0" y="0"/>
                </a:moveTo>
                <a:lnTo>
                  <a:pt x="0" y="87934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60954" y="3912108"/>
            <a:ext cx="744220" cy="114300"/>
          </a:xfrm>
          <a:custGeom>
            <a:avLst/>
            <a:gdLst/>
            <a:ahLst/>
            <a:cxnLst/>
            <a:rect l="l" t="t" r="r" b="b"/>
            <a:pathLst>
              <a:path w="744220" h="114300">
                <a:moveTo>
                  <a:pt x="629411" y="0"/>
                </a:moveTo>
                <a:lnTo>
                  <a:pt x="629411" y="114300"/>
                </a:lnTo>
                <a:lnTo>
                  <a:pt x="705611" y="76200"/>
                </a:lnTo>
                <a:lnTo>
                  <a:pt x="648461" y="76200"/>
                </a:lnTo>
                <a:lnTo>
                  <a:pt x="648461" y="38100"/>
                </a:lnTo>
                <a:lnTo>
                  <a:pt x="705611" y="38100"/>
                </a:lnTo>
                <a:lnTo>
                  <a:pt x="629411" y="0"/>
                </a:lnTo>
                <a:close/>
              </a:path>
              <a:path w="744220" h="114300">
                <a:moveTo>
                  <a:pt x="62941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9411" y="76200"/>
                </a:lnTo>
                <a:lnTo>
                  <a:pt x="629411" y="38100"/>
                </a:lnTo>
                <a:close/>
              </a:path>
              <a:path w="744220" h="114300">
                <a:moveTo>
                  <a:pt x="705611" y="38100"/>
                </a:moveTo>
                <a:lnTo>
                  <a:pt x="648461" y="38100"/>
                </a:lnTo>
                <a:lnTo>
                  <a:pt x="648461" y="76200"/>
                </a:lnTo>
                <a:lnTo>
                  <a:pt x="705611" y="76200"/>
                </a:lnTo>
                <a:lnTo>
                  <a:pt x="743711" y="57150"/>
                </a:lnTo>
                <a:lnTo>
                  <a:pt x="70561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60954" y="4121658"/>
            <a:ext cx="704850" cy="0"/>
          </a:xfrm>
          <a:custGeom>
            <a:avLst/>
            <a:gdLst/>
            <a:ahLst/>
            <a:cxnLst/>
            <a:rect l="l" t="t" r="r" b="b"/>
            <a:pathLst>
              <a:path w="704850" h="0">
                <a:moveTo>
                  <a:pt x="0" y="0"/>
                </a:moveTo>
                <a:lnTo>
                  <a:pt x="70484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60954" y="4121658"/>
            <a:ext cx="0" cy="879475"/>
          </a:xfrm>
          <a:custGeom>
            <a:avLst/>
            <a:gdLst/>
            <a:ahLst/>
            <a:cxnLst/>
            <a:rect l="l" t="t" r="r" b="b"/>
            <a:pathLst>
              <a:path w="0" h="879475">
                <a:moveTo>
                  <a:pt x="0" y="0"/>
                </a:moveTo>
                <a:lnTo>
                  <a:pt x="0" y="879348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60954" y="4943855"/>
            <a:ext cx="744220" cy="114300"/>
          </a:xfrm>
          <a:custGeom>
            <a:avLst/>
            <a:gdLst/>
            <a:ahLst/>
            <a:cxnLst/>
            <a:rect l="l" t="t" r="r" b="b"/>
            <a:pathLst>
              <a:path w="744220" h="114300">
                <a:moveTo>
                  <a:pt x="629411" y="0"/>
                </a:moveTo>
                <a:lnTo>
                  <a:pt x="629411" y="114300"/>
                </a:lnTo>
                <a:lnTo>
                  <a:pt x="705611" y="76200"/>
                </a:lnTo>
                <a:lnTo>
                  <a:pt x="648461" y="76200"/>
                </a:lnTo>
                <a:lnTo>
                  <a:pt x="648461" y="38100"/>
                </a:lnTo>
                <a:lnTo>
                  <a:pt x="705611" y="38100"/>
                </a:lnTo>
                <a:lnTo>
                  <a:pt x="629411" y="0"/>
                </a:lnTo>
                <a:close/>
              </a:path>
              <a:path w="744220" h="114300">
                <a:moveTo>
                  <a:pt x="62941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9411" y="76200"/>
                </a:lnTo>
                <a:lnTo>
                  <a:pt x="629411" y="38100"/>
                </a:lnTo>
                <a:close/>
              </a:path>
              <a:path w="744220" h="114300">
                <a:moveTo>
                  <a:pt x="705611" y="38100"/>
                </a:moveTo>
                <a:lnTo>
                  <a:pt x="648461" y="38100"/>
                </a:lnTo>
                <a:lnTo>
                  <a:pt x="648461" y="76200"/>
                </a:lnTo>
                <a:lnTo>
                  <a:pt x="705611" y="76200"/>
                </a:lnTo>
                <a:lnTo>
                  <a:pt x="743711" y="57150"/>
                </a:lnTo>
                <a:lnTo>
                  <a:pt x="70561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60954" y="5109209"/>
            <a:ext cx="704850" cy="0"/>
          </a:xfrm>
          <a:custGeom>
            <a:avLst/>
            <a:gdLst/>
            <a:ahLst/>
            <a:cxnLst/>
            <a:rect l="l" t="t" r="r" b="b"/>
            <a:pathLst>
              <a:path w="704850" h="0">
                <a:moveTo>
                  <a:pt x="0" y="0"/>
                </a:moveTo>
                <a:lnTo>
                  <a:pt x="704849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3145" y="5122926"/>
            <a:ext cx="0" cy="662940"/>
          </a:xfrm>
          <a:custGeom>
            <a:avLst/>
            <a:gdLst/>
            <a:ahLst/>
            <a:cxnLst/>
            <a:rect l="l" t="t" r="r" b="b"/>
            <a:pathLst>
              <a:path w="0" h="662939">
                <a:moveTo>
                  <a:pt x="0" y="0"/>
                </a:moveTo>
                <a:lnTo>
                  <a:pt x="0" y="66294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60954" y="5750052"/>
            <a:ext cx="744220" cy="114300"/>
          </a:xfrm>
          <a:custGeom>
            <a:avLst/>
            <a:gdLst/>
            <a:ahLst/>
            <a:cxnLst/>
            <a:rect l="l" t="t" r="r" b="b"/>
            <a:pathLst>
              <a:path w="744220" h="114300">
                <a:moveTo>
                  <a:pt x="629411" y="0"/>
                </a:moveTo>
                <a:lnTo>
                  <a:pt x="629411" y="114300"/>
                </a:lnTo>
                <a:lnTo>
                  <a:pt x="705611" y="76200"/>
                </a:lnTo>
                <a:lnTo>
                  <a:pt x="648461" y="76200"/>
                </a:lnTo>
                <a:lnTo>
                  <a:pt x="648461" y="38100"/>
                </a:lnTo>
                <a:lnTo>
                  <a:pt x="705611" y="38100"/>
                </a:lnTo>
                <a:lnTo>
                  <a:pt x="629411" y="0"/>
                </a:lnTo>
                <a:close/>
              </a:path>
              <a:path w="744220" h="114300">
                <a:moveTo>
                  <a:pt x="62941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9411" y="76200"/>
                </a:lnTo>
                <a:lnTo>
                  <a:pt x="629411" y="38100"/>
                </a:lnTo>
                <a:close/>
              </a:path>
              <a:path w="744220" h="114300">
                <a:moveTo>
                  <a:pt x="705611" y="38100"/>
                </a:moveTo>
                <a:lnTo>
                  <a:pt x="648461" y="38100"/>
                </a:lnTo>
                <a:lnTo>
                  <a:pt x="648461" y="76200"/>
                </a:lnTo>
                <a:lnTo>
                  <a:pt x="705611" y="76200"/>
                </a:lnTo>
                <a:lnTo>
                  <a:pt x="743711" y="57150"/>
                </a:lnTo>
                <a:lnTo>
                  <a:pt x="70561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66366" y="3426714"/>
            <a:ext cx="407034" cy="2854960"/>
          </a:xfrm>
          <a:custGeom>
            <a:avLst/>
            <a:gdLst/>
            <a:ahLst/>
            <a:cxnLst/>
            <a:rect l="l" t="t" r="r" b="b"/>
            <a:pathLst>
              <a:path w="407035" h="2854960">
                <a:moveTo>
                  <a:pt x="406907" y="2854452"/>
                </a:moveTo>
                <a:lnTo>
                  <a:pt x="365896" y="2849613"/>
                </a:lnTo>
                <a:lnTo>
                  <a:pt x="327701" y="2835735"/>
                </a:lnTo>
                <a:lnTo>
                  <a:pt x="293141" y="2813777"/>
                </a:lnTo>
                <a:lnTo>
                  <a:pt x="263032" y="2784695"/>
                </a:lnTo>
                <a:lnTo>
                  <a:pt x="238192" y="2749448"/>
                </a:lnTo>
                <a:lnTo>
                  <a:pt x="219438" y="2708992"/>
                </a:lnTo>
                <a:lnTo>
                  <a:pt x="207586" y="2664287"/>
                </a:lnTo>
                <a:lnTo>
                  <a:pt x="203453" y="2616288"/>
                </a:lnTo>
                <a:lnTo>
                  <a:pt x="203453" y="1665351"/>
                </a:lnTo>
                <a:lnTo>
                  <a:pt x="199321" y="1617379"/>
                </a:lnTo>
                <a:lnTo>
                  <a:pt x="187469" y="1572690"/>
                </a:lnTo>
                <a:lnTo>
                  <a:pt x="168715" y="1532242"/>
                </a:lnTo>
                <a:lnTo>
                  <a:pt x="143875" y="1496996"/>
                </a:lnTo>
                <a:lnTo>
                  <a:pt x="113766" y="1467911"/>
                </a:lnTo>
                <a:lnTo>
                  <a:pt x="79206" y="1445948"/>
                </a:lnTo>
                <a:lnTo>
                  <a:pt x="41011" y="1432066"/>
                </a:lnTo>
                <a:lnTo>
                  <a:pt x="0" y="1427226"/>
                </a:lnTo>
                <a:lnTo>
                  <a:pt x="41011" y="1422385"/>
                </a:lnTo>
                <a:lnTo>
                  <a:pt x="79206" y="1408503"/>
                </a:lnTo>
                <a:lnTo>
                  <a:pt x="113766" y="1386540"/>
                </a:lnTo>
                <a:lnTo>
                  <a:pt x="143875" y="1357455"/>
                </a:lnTo>
                <a:lnTo>
                  <a:pt x="168715" y="1322209"/>
                </a:lnTo>
                <a:lnTo>
                  <a:pt x="187469" y="1281761"/>
                </a:lnTo>
                <a:lnTo>
                  <a:pt x="199321" y="1237072"/>
                </a:lnTo>
                <a:lnTo>
                  <a:pt x="203453" y="1189101"/>
                </a:lnTo>
                <a:lnTo>
                  <a:pt x="203453" y="238125"/>
                </a:lnTo>
                <a:lnTo>
                  <a:pt x="207586" y="190153"/>
                </a:lnTo>
                <a:lnTo>
                  <a:pt x="219438" y="145464"/>
                </a:lnTo>
                <a:lnTo>
                  <a:pt x="238192" y="105016"/>
                </a:lnTo>
                <a:lnTo>
                  <a:pt x="263032" y="69770"/>
                </a:lnTo>
                <a:lnTo>
                  <a:pt x="293141" y="40685"/>
                </a:lnTo>
                <a:lnTo>
                  <a:pt x="327701" y="18722"/>
                </a:lnTo>
                <a:lnTo>
                  <a:pt x="365896" y="4840"/>
                </a:lnTo>
                <a:lnTo>
                  <a:pt x="406907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35786" y="14732"/>
            <a:ext cx="68713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287905" algn="l"/>
                <a:tab pos="2789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0079" y="4458938"/>
            <a:ext cx="1298575" cy="8407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2400" b="1">
                <a:solidFill>
                  <a:srgbClr val="66FFFF"/>
                </a:solidFill>
                <a:latin typeface="宋体"/>
                <a:cs typeface="宋体"/>
              </a:rPr>
              <a:t>（老</a:t>
            </a:r>
            <a:r>
              <a:rPr dirty="0" sz="2400" spc="-10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r>
              <a:rPr dirty="0" sz="2400" spc="-10" b="1">
                <a:solidFill>
                  <a:srgbClr val="66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9054" y="2938272"/>
            <a:ext cx="744220" cy="114300"/>
          </a:xfrm>
          <a:custGeom>
            <a:avLst/>
            <a:gdLst/>
            <a:ahLst/>
            <a:cxnLst/>
            <a:rect l="l" t="t" r="r" b="b"/>
            <a:pathLst>
              <a:path w="744220" h="114300">
                <a:moveTo>
                  <a:pt x="629411" y="0"/>
                </a:moveTo>
                <a:lnTo>
                  <a:pt x="629411" y="114300"/>
                </a:lnTo>
                <a:lnTo>
                  <a:pt x="705611" y="76200"/>
                </a:lnTo>
                <a:lnTo>
                  <a:pt x="648461" y="76200"/>
                </a:lnTo>
                <a:lnTo>
                  <a:pt x="648461" y="38100"/>
                </a:lnTo>
                <a:lnTo>
                  <a:pt x="705611" y="38100"/>
                </a:lnTo>
                <a:lnTo>
                  <a:pt x="629411" y="0"/>
                </a:lnTo>
                <a:close/>
              </a:path>
              <a:path w="744220" h="114300">
                <a:moveTo>
                  <a:pt x="62941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9411" y="76200"/>
                </a:lnTo>
                <a:lnTo>
                  <a:pt x="629411" y="38100"/>
                </a:lnTo>
                <a:close/>
              </a:path>
              <a:path w="744220" h="114300">
                <a:moveTo>
                  <a:pt x="705611" y="38100"/>
                </a:moveTo>
                <a:lnTo>
                  <a:pt x="648461" y="38100"/>
                </a:lnTo>
                <a:lnTo>
                  <a:pt x="648461" y="76200"/>
                </a:lnTo>
                <a:lnTo>
                  <a:pt x="705611" y="76200"/>
                </a:lnTo>
                <a:lnTo>
                  <a:pt x="743711" y="57150"/>
                </a:lnTo>
                <a:lnTo>
                  <a:pt x="705611" y="38100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04304" y="2690622"/>
            <a:ext cx="702310" cy="0"/>
          </a:xfrm>
          <a:custGeom>
            <a:avLst/>
            <a:gdLst/>
            <a:ahLst/>
            <a:cxnLst/>
            <a:rect l="l" t="t" r="r" b="b"/>
            <a:pathLst>
              <a:path w="702309" h="0">
                <a:moveTo>
                  <a:pt x="0" y="0"/>
                </a:moveTo>
                <a:lnTo>
                  <a:pt x="701801" y="0"/>
                </a:lnTo>
              </a:path>
            </a:pathLst>
          </a:custGeom>
          <a:ln w="38100">
            <a:solidFill>
              <a:srgbClr val="FF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706106" y="2690622"/>
            <a:ext cx="0" cy="3779520"/>
          </a:xfrm>
          <a:custGeom>
            <a:avLst/>
            <a:gdLst/>
            <a:ahLst/>
            <a:cxnLst/>
            <a:rect l="l" t="t" r="r" b="b"/>
            <a:pathLst>
              <a:path w="0" h="3779520">
                <a:moveTo>
                  <a:pt x="0" y="0"/>
                </a:moveTo>
                <a:lnTo>
                  <a:pt x="0" y="3779519"/>
                </a:lnTo>
              </a:path>
            </a:pathLst>
          </a:custGeom>
          <a:ln w="38100">
            <a:solidFill>
              <a:srgbClr val="FF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85254" y="6412991"/>
            <a:ext cx="721360" cy="114300"/>
          </a:xfrm>
          <a:custGeom>
            <a:avLst/>
            <a:gdLst/>
            <a:ahLst/>
            <a:cxnLst/>
            <a:rect l="l" t="t" r="r" b="b"/>
            <a:pathLst>
              <a:path w="72135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72135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721359" h="114300">
                <a:moveTo>
                  <a:pt x="72085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720851" y="76200"/>
                </a:lnTo>
                <a:lnTo>
                  <a:pt x="720851" y="3810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66966" y="4360164"/>
            <a:ext cx="739140" cy="114300"/>
          </a:xfrm>
          <a:custGeom>
            <a:avLst/>
            <a:gdLst/>
            <a:ahLst/>
            <a:cxnLst/>
            <a:rect l="l" t="t" r="r" b="b"/>
            <a:pathLst>
              <a:path w="739140" h="114300">
                <a:moveTo>
                  <a:pt x="624839" y="0"/>
                </a:moveTo>
                <a:lnTo>
                  <a:pt x="624839" y="114300"/>
                </a:lnTo>
                <a:lnTo>
                  <a:pt x="701039" y="76200"/>
                </a:lnTo>
                <a:lnTo>
                  <a:pt x="643889" y="76200"/>
                </a:lnTo>
                <a:lnTo>
                  <a:pt x="643889" y="38100"/>
                </a:lnTo>
                <a:lnTo>
                  <a:pt x="701039" y="38100"/>
                </a:lnTo>
                <a:lnTo>
                  <a:pt x="624839" y="0"/>
                </a:lnTo>
                <a:close/>
              </a:path>
              <a:path w="739140" h="114300">
                <a:moveTo>
                  <a:pt x="6248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4839" y="76200"/>
                </a:lnTo>
                <a:lnTo>
                  <a:pt x="624839" y="38100"/>
                </a:lnTo>
                <a:close/>
              </a:path>
              <a:path w="739140" h="114300">
                <a:moveTo>
                  <a:pt x="701039" y="38100"/>
                </a:moveTo>
                <a:lnTo>
                  <a:pt x="643889" y="38100"/>
                </a:lnTo>
                <a:lnTo>
                  <a:pt x="643889" y="76200"/>
                </a:lnTo>
                <a:lnTo>
                  <a:pt x="701039" y="76200"/>
                </a:lnTo>
                <a:lnTo>
                  <a:pt x="739139" y="57150"/>
                </a:lnTo>
                <a:lnTo>
                  <a:pt x="701039" y="3810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985254" y="3369564"/>
            <a:ext cx="741045" cy="114300"/>
          </a:xfrm>
          <a:custGeom>
            <a:avLst/>
            <a:gdLst/>
            <a:ahLst/>
            <a:cxnLst/>
            <a:rect l="l" t="t" r="r" b="b"/>
            <a:pathLst>
              <a:path w="741045" h="114300">
                <a:moveTo>
                  <a:pt x="626364" y="0"/>
                </a:moveTo>
                <a:lnTo>
                  <a:pt x="626364" y="114300"/>
                </a:lnTo>
                <a:lnTo>
                  <a:pt x="702564" y="76200"/>
                </a:lnTo>
                <a:lnTo>
                  <a:pt x="645414" y="76200"/>
                </a:lnTo>
                <a:lnTo>
                  <a:pt x="645414" y="38100"/>
                </a:lnTo>
                <a:lnTo>
                  <a:pt x="702564" y="38100"/>
                </a:lnTo>
                <a:lnTo>
                  <a:pt x="626364" y="0"/>
                </a:lnTo>
                <a:close/>
              </a:path>
              <a:path w="741045" h="114300">
                <a:moveTo>
                  <a:pt x="6263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6364" y="76200"/>
                </a:lnTo>
                <a:lnTo>
                  <a:pt x="626364" y="38100"/>
                </a:lnTo>
                <a:close/>
              </a:path>
              <a:path w="741045" h="114300">
                <a:moveTo>
                  <a:pt x="702564" y="38100"/>
                </a:moveTo>
                <a:lnTo>
                  <a:pt x="645414" y="38100"/>
                </a:lnTo>
                <a:lnTo>
                  <a:pt x="645414" y="76200"/>
                </a:lnTo>
                <a:lnTo>
                  <a:pt x="702564" y="76200"/>
                </a:lnTo>
                <a:lnTo>
                  <a:pt x="740664" y="57150"/>
                </a:lnTo>
                <a:lnTo>
                  <a:pt x="702564" y="38100"/>
                </a:lnTo>
                <a:close/>
              </a:path>
            </a:pathLst>
          </a:custGeom>
          <a:solidFill>
            <a:srgbClr val="FF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882897" y="3451682"/>
            <a:ext cx="4389755" cy="1038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调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gcd(10,5)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endParaRPr sz="28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1735"/>
              </a:spcBef>
            </a:pPr>
            <a:r>
              <a:rPr dirty="0" sz="2400" spc="-10" b="1">
                <a:solidFill>
                  <a:srgbClr val="FFD4D4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03903" y="6469379"/>
            <a:ext cx="3122930" cy="0"/>
          </a:xfrm>
          <a:custGeom>
            <a:avLst/>
            <a:gdLst/>
            <a:ahLst/>
            <a:cxnLst/>
            <a:rect l="l" t="t" r="r" b="b"/>
            <a:pathLst>
              <a:path w="3122929" h="0">
                <a:moveTo>
                  <a:pt x="0" y="0"/>
                </a:moveTo>
                <a:lnTo>
                  <a:pt x="3122676" y="0"/>
                </a:lnTo>
              </a:path>
            </a:pathLst>
          </a:custGeom>
          <a:ln w="762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03903" y="1673351"/>
            <a:ext cx="0" cy="4829810"/>
          </a:xfrm>
          <a:custGeom>
            <a:avLst/>
            <a:gdLst/>
            <a:ahLst/>
            <a:cxnLst/>
            <a:rect l="l" t="t" r="r" b="b"/>
            <a:pathLst>
              <a:path w="0" h="4829809">
                <a:moveTo>
                  <a:pt x="0" y="4829556"/>
                </a:moveTo>
                <a:lnTo>
                  <a:pt x="0" y="0"/>
                </a:lnTo>
              </a:path>
            </a:pathLst>
          </a:custGeom>
          <a:ln w="762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64680" y="1673351"/>
            <a:ext cx="1905" cy="4828540"/>
          </a:xfrm>
          <a:custGeom>
            <a:avLst/>
            <a:gdLst/>
            <a:ahLst/>
            <a:cxnLst/>
            <a:rect l="l" t="t" r="r" b="b"/>
            <a:pathLst>
              <a:path w="1904" h="4828540">
                <a:moveTo>
                  <a:pt x="0" y="4828032"/>
                </a:moveTo>
                <a:lnTo>
                  <a:pt x="1524" y="0"/>
                </a:lnTo>
              </a:path>
            </a:pathLst>
          </a:custGeom>
          <a:ln w="762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515518" y="630123"/>
            <a:ext cx="8074025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C</a:t>
            </a:r>
            <a:r>
              <a:rPr dirty="0" sz="3200" spc="-5">
                <a:latin typeface="宋体"/>
                <a:cs typeface="宋体"/>
              </a:rPr>
              <a:t>语言中无过程（函数）的</a:t>
            </a:r>
            <a:r>
              <a:rPr dirty="0" sz="3200" spc="-15">
                <a:latin typeface="宋体"/>
                <a:cs typeface="宋体"/>
              </a:rPr>
              <a:t>嵌</a:t>
            </a:r>
            <a:r>
              <a:rPr dirty="0" sz="3200" spc="-5">
                <a:latin typeface="宋体"/>
                <a:cs typeface="宋体"/>
              </a:rPr>
              <a:t>套定</a:t>
            </a:r>
            <a:r>
              <a:rPr dirty="0" sz="3200" spc="-15">
                <a:latin typeface="宋体"/>
                <a:cs typeface="宋体"/>
              </a:rPr>
              <a:t>义</a:t>
            </a:r>
            <a:r>
              <a:rPr dirty="0" sz="3200" spc="-5">
                <a:latin typeface="宋体"/>
                <a:cs typeface="宋体"/>
              </a:rPr>
              <a:t>，所</a:t>
            </a:r>
            <a:r>
              <a:rPr dirty="0" sz="3200" spc="-15">
                <a:latin typeface="宋体"/>
                <a:cs typeface="宋体"/>
              </a:rPr>
              <a:t>以</a:t>
            </a:r>
            <a:r>
              <a:rPr dirty="0" sz="3200" spc="-10">
                <a:latin typeface="宋体"/>
                <a:cs typeface="宋体"/>
              </a:rPr>
              <a:t>数 </a:t>
            </a:r>
            <a:r>
              <a:rPr dirty="0" sz="3200">
                <a:latin typeface="宋体"/>
                <a:cs typeface="宋体"/>
              </a:rPr>
              <a:t>据链简单，同指向全局数据。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16678" y="5985414"/>
            <a:ext cx="677545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90039" y="5985414"/>
            <a:ext cx="678180" cy="419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y: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36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1515" y="0"/>
            <a:ext cx="8870950" cy="619125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956944">
              <a:lnSpc>
                <a:spcPct val="100000"/>
              </a:lnSpc>
              <a:spcBef>
                <a:spcPts val="530"/>
              </a:spcBef>
              <a:tabLst>
                <a:tab pos="1595120" algn="l"/>
                <a:tab pos="3232150" algn="l"/>
                <a:tab pos="373380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华文新魏"/>
              <a:cs typeface="华文新魏"/>
            </a:endParaRPr>
          </a:p>
          <a:p>
            <a:pPr marL="384175" indent="-372110">
              <a:lnSpc>
                <a:spcPct val="100000"/>
              </a:lnSpc>
              <a:spcBef>
                <a:spcPts val="5"/>
              </a:spcBef>
              <a:buClr>
                <a:srgbClr val="66FFFF"/>
              </a:buClr>
              <a:buSzPct val="145312"/>
              <a:buFont typeface="Wingdings"/>
              <a:buChar char=""/>
              <a:tabLst>
                <a:tab pos="38481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解决对非局部量的引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Display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endParaRPr sz="3200">
              <a:latin typeface="宋体"/>
              <a:cs typeface="宋体"/>
            </a:endParaRPr>
          </a:p>
          <a:p>
            <a:pPr marL="295275">
              <a:lnSpc>
                <a:spcPct val="100000"/>
              </a:lnSpc>
              <a:spcBef>
                <a:spcPts val="2940"/>
              </a:spcBef>
            </a:pP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Display</a:t>
            </a:r>
            <a:r>
              <a:rPr dirty="0" sz="3200" spc="770" b="1">
                <a:solidFill>
                  <a:srgbClr val="99FFCC"/>
                </a:solidFill>
                <a:latin typeface="宋体"/>
                <a:cs typeface="宋体"/>
              </a:rPr>
              <a:t>表</a:t>
            </a:r>
            <a:r>
              <a:rPr dirty="0" sz="3200" b="1">
                <a:solidFill>
                  <a:srgbClr val="99FFCC"/>
                </a:solidFill>
                <a:latin typeface="Times New Roman"/>
                <a:cs typeface="Times New Roman"/>
              </a:rPr>
              <a:t>—</a:t>
            </a:r>
            <a:r>
              <a:rPr dirty="0" sz="3200" spc="-5" b="1">
                <a:solidFill>
                  <a:srgbClr val="99FF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99FFCC"/>
                </a:solidFill>
                <a:latin typeface="宋体"/>
                <a:cs typeface="宋体"/>
              </a:rPr>
              <a:t>嵌套层次显示表</a:t>
            </a:r>
            <a:endParaRPr sz="3200">
              <a:latin typeface="宋体"/>
              <a:cs typeface="宋体"/>
            </a:endParaRPr>
          </a:p>
          <a:p>
            <a:pPr marL="193675" marR="5080" indent="711200">
              <a:lnSpc>
                <a:spcPct val="17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主程序设为第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层，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程序中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的过程为第  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层，第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层过程中定义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3200" spc="2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层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。假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设当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前激活过程的层次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，它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Display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表含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K+1 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个单元，依次存放着现行层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直接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层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…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直至最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外层的每一过程的最新活动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录的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基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地址。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37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5786" y="14732"/>
            <a:ext cx="1684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7</a:t>
            </a: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11473" y="14732"/>
            <a:ext cx="45954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715" algn="l"/>
              </a:tabLst>
            </a:pP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416" y="1665858"/>
            <a:ext cx="8210550" cy="4126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假定从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层过程进入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层过程，则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469900" marR="104775" indent="-457200">
              <a:lnSpc>
                <a:spcPct val="120100"/>
              </a:lnSpc>
              <a:spcBef>
                <a:spcPts val="134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①</a:t>
            </a:r>
            <a:r>
              <a:rPr dirty="0" sz="2800" spc="-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j=i+1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即调用当前块局部说明的过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块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复制第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层的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display;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转③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69900" marR="5080" indent="-457200">
              <a:lnSpc>
                <a:spcPct val="120000"/>
              </a:lnSpc>
              <a:spcBef>
                <a:spcPts val="134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②</a:t>
            </a:r>
            <a:r>
              <a:rPr dirty="0" sz="2800" spc="-6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-70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j≤i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即调用对当前过程来说属于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全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程说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明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，则复制来自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层过程活动记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录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2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区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前面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个记录；转③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③</a:t>
            </a:r>
            <a:r>
              <a:rPr dirty="0" sz="2800" spc="-6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再增加一个指向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j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层过程活动记录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基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指针；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9992" y="796874"/>
            <a:ext cx="412877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宋体"/>
                <a:cs typeface="宋体"/>
              </a:rPr>
              <a:t>构造</a:t>
            </a:r>
            <a:r>
              <a:rPr dirty="0" sz="3200">
                <a:latin typeface="Times New Roman"/>
                <a:cs typeface="Times New Roman"/>
              </a:rPr>
              <a:t>display</a:t>
            </a:r>
            <a:r>
              <a:rPr dirty="0" sz="3200" spc="-5">
                <a:latin typeface="宋体"/>
                <a:cs typeface="宋体"/>
              </a:rPr>
              <a:t>区的规则：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4224" y="1405889"/>
            <a:ext cx="9429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99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99"/>
                </a:solidFill>
                <a:latin typeface="Times New Roman"/>
                <a:cs typeface="Times New Roman"/>
              </a:rPr>
              <a:t>7.3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0422" y="244600"/>
            <a:ext cx="3914140" cy="6535420"/>
          </a:xfrm>
          <a:custGeom>
            <a:avLst/>
            <a:gdLst/>
            <a:ahLst/>
            <a:cxnLst/>
            <a:rect l="l" t="t" r="r" b="b"/>
            <a:pathLst>
              <a:path w="3914140" h="6535420">
                <a:moveTo>
                  <a:pt x="0" y="6534911"/>
                </a:moveTo>
                <a:lnTo>
                  <a:pt x="3913632" y="6534911"/>
                </a:lnTo>
                <a:lnTo>
                  <a:pt x="3913632" y="0"/>
                </a:lnTo>
                <a:lnTo>
                  <a:pt x="0" y="0"/>
                </a:lnTo>
                <a:lnTo>
                  <a:pt x="0" y="6534911"/>
                </a:lnTo>
                <a:close/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5321" y="257302"/>
            <a:ext cx="273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97940" algn="l"/>
              </a:tabLst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program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main( i,0)</a:t>
            </a:r>
            <a:r>
              <a:rPr dirty="0" sz="2400" spc="-1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2547" y="437133"/>
            <a:ext cx="1734185" cy="154686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466090">
              <a:lnSpc>
                <a:spcPct val="100000"/>
              </a:lnSpc>
              <a:spcBef>
                <a:spcPts val="545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425"/>
              </a:lnSpc>
              <a:spcBef>
                <a:spcPts val="440"/>
              </a:spcBef>
              <a:tabLst>
                <a:tab pos="738505" algn="l"/>
              </a:tabLst>
            </a:pPr>
            <a:r>
              <a:rPr dirty="0" sz="2400" spc="-15" b="1">
                <a:solidFill>
                  <a:srgbClr val="FFFF00"/>
                </a:solidFill>
                <a:latin typeface="Times New Roman"/>
                <a:cs typeface="Times New Roman"/>
              </a:rPr>
              <a:t>proc	</a:t>
            </a: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R(c,d)</a:t>
            </a:r>
            <a:r>
              <a:rPr dirty="0" sz="2400" spc="-6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619760">
              <a:lnSpc>
                <a:spcPts val="2425"/>
              </a:lnSpc>
            </a:pPr>
            <a:r>
              <a:rPr dirty="0" sz="2400" spc="-5" b="1">
                <a:solidFill>
                  <a:srgbClr val="FFFF00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4"/>
              </a:spcBef>
              <a:tabLst>
                <a:tab pos="626110" algn="l"/>
              </a:tabLst>
            </a:pPr>
            <a:r>
              <a:rPr dirty="0" sz="2400" spc="-5" b="1">
                <a:solidFill>
                  <a:srgbClr val="FFFF00"/>
                </a:solidFill>
                <a:latin typeface="Times New Roman"/>
                <a:cs typeface="Times New Roman"/>
              </a:rPr>
              <a:t>end	</a:t>
            </a:r>
            <a:r>
              <a:rPr dirty="0" sz="2400" b="1">
                <a:solidFill>
                  <a:srgbClr val="FFFF00"/>
                </a:solidFill>
                <a:latin typeface="Times New Roman"/>
                <a:cs typeface="Times New Roman"/>
              </a:rPr>
              <a:t>/*R*/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5321" y="1958466"/>
            <a:ext cx="2453005" cy="4744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ts val="2480"/>
              </a:lnSpc>
              <a:spcBef>
                <a:spcPts val="100"/>
              </a:spcBef>
              <a:tabLst>
                <a:tab pos="1348105" algn="l"/>
              </a:tabLst>
            </a:pPr>
            <a:r>
              <a:rPr dirty="0" sz="2400" spc="-15" b="1">
                <a:solidFill>
                  <a:srgbClr val="66FFFF"/>
                </a:solidFill>
                <a:latin typeface="Times New Roman"/>
                <a:cs typeface="Times New Roman"/>
              </a:rPr>
              <a:t>proc	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r>
              <a:rPr dirty="0" sz="2400" spc="-15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(a);</a:t>
            </a:r>
            <a:endParaRPr sz="2400">
              <a:latin typeface="Times New Roman"/>
              <a:cs typeface="Times New Roman"/>
            </a:endParaRPr>
          </a:p>
          <a:p>
            <a:pPr marL="615315">
              <a:lnSpc>
                <a:spcPts val="2480"/>
              </a:lnSpc>
            </a:pPr>
            <a:r>
              <a:rPr dirty="0" sz="2400" b="1">
                <a:solidFill>
                  <a:srgbClr val="66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838200">
              <a:lnSpc>
                <a:spcPts val="2425"/>
              </a:lnSpc>
              <a:spcBef>
                <a:spcPts val="515"/>
              </a:spcBef>
              <a:tabLst>
                <a:tab pos="1653539" algn="l"/>
              </a:tabLst>
            </a:pPr>
            <a:r>
              <a:rPr dirty="0" sz="2400" spc="-15" b="1">
                <a:solidFill>
                  <a:srgbClr val="FFFF99"/>
                </a:solidFill>
                <a:latin typeface="Times New Roman"/>
                <a:cs typeface="Times New Roman"/>
              </a:rPr>
              <a:t>proc	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sz="2400" spc="-10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(b);</a:t>
            </a:r>
            <a:endParaRPr sz="2400">
              <a:latin typeface="Times New Roman"/>
              <a:cs typeface="Times New Roman"/>
            </a:endParaRPr>
          </a:p>
          <a:p>
            <a:pPr marL="1384935">
              <a:lnSpc>
                <a:spcPts val="2325"/>
              </a:lnSpc>
            </a:pPr>
            <a:r>
              <a:rPr dirty="0" sz="2400" b="1">
                <a:solidFill>
                  <a:srgbClr val="FFFF99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1066800">
              <a:lnSpc>
                <a:spcPts val="2690"/>
              </a:lnSpc>
            </a:pP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R(x,y);</a:t>
            </a:r>
            <a:endParaRPr sz="2400">
              <a:latin typeface="Times New Roman"/>
              <a:cs typeface="Times New Roman"/>
            </a:endParaRPr>
          </a:p>
          <a:p>
            <a:pPr marL="838200">
              <a:lnSpc>
                <a:spcPts val="2335"/>
              </a:lnSpc>
              <a:tabLst>
                <a:tab pos="1616710" algn="l"/>
              </a:tabLst>
            </a:pP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end	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/*</a:t>
            </a:r>
            <a:r>
              <a:rPr dirty="0" sz="2400" spc="-65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Q*/</a:t>
            </a:r>
            <a:endParaRPr sz="2400">
              <a:latin typeface="Times New Roman"/>
              <a:cs typeface="Times New Roman"/>
            </a:endParaRPr>
          </a:p>
          <a:p>
            <a:pPr marL="615315">
              <a:lnSpc>
                <a:spcPts val="2425"/>
              </a:lnSpc>
            </a:pPr>
            <a:r>
              <a:rPr dirty="0" sz="2400" spc="-5" b="1">
                <a:solidFill>
                  <a:srgbClr val="66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685800">
              <a:lnSpc>
                <a:spcPts val="2690"/>
              </a:lnSpc>
              <a:spcBef>
                <a:spcPts val="145"/>
              </a:spcBef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Q(z);</a:t>
            </a:r>
            <a:endParaRPr sz="2400">
              <a:latin typeface="Times New Roman"/>
              <a:cs typeface="Times New Roman"/>
            </a:endParaRPr>
          </a:p>
          <a:p>
            <a:pPr marL="457200">
              <a:lnSpc>
                <a:spcPts val="2425"/>
              </a:lnSpc>
              <a:tabLst>
                <a:tab pos="1159510" algn="l"/>
              </a:tabLst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end	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/*</a:t>
            </a:r>
            <a:r>
              <a:rPr dirty="0" sz="2400" spc="-1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P*/</a:t>
            </a:r>
            <a:endParaRPr sz="2400">
              <a:latin typeface="Times New Roman"/>
              <a:cs typeface="Times New Roman"/>
            </a:endParaRPr>
          </a:p>
          <a:p>
            <a:pPr marL="615315">
              <a:lnSpc>
                <a:spcPts val="2320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381000">
              <a:lnSpc>
                <a:spcPts val="2305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P(W)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15315">
              <a:lnSpc>
                <a:spcPts val="2305"/>
              </a:lnSpc>
            </a:pPr>
            <a:r>
              <a:rPr dirty="0" sz="2400" spc="-5" b="1">
                <a:solidFill>
                  <a:srgbClr val="FF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 marL="381000">
              <a:lnSpc>
                <a:spcPts val="2300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R(U,V)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15315">
              <a:lnSpc>
                <a:spcPts val="2360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……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645"/>
              </a:lnSpc>
              <a:tabLst>
                <a:tab pos="702310" algn="l"/>
              </a:tabLst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end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/*</a:t>
            </a:r>
            <a:r>
              <a:rPr dirty="0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main*/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0513" y="254635"/>
            <a:ext cx="18103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程序结构图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06261" y="1067561"/>
            <a:ext cx="599440" cy="4958080"/>
          </a:xfrm>
          <a:custGeom>
            <a:avLst/>
            <a:gdLst/>
            <a:ahLst/>
            <a:cxnLst/>
            <a:rect l="l" t="t" r="r" b="b"/>
            <a:pathLst>
              <a:path w="599440" h="4958080">
                <a:moveTo>
                  <a:pt x="598932" y="4957572"/>
                </a:moveTo>
                <a:lnTo>
                  <a:pt x="541242" y="4955679"/>
                </a:lnTo>
                <a:lnTo>
                  <a:pt x="485106" y="4950116"/>
                </a:lnTo>
                <a:lnTo>
                  <a:pt x="430773" y="4941057"/>
                </a:lnTo>
                <a:lnTo>
                  <a:pt x="378496" y="4928674"/>
                </a:lnTo>
                <a:lnTo>
                  <a:pt x="328525" y="4913141"/>
                </a:lnTo>
                <a:lnTo>
                  <a:pt x="281110" y="4894631"/>
                </a:lnTo>
                <a:lnTo>
                  <a:pt x="236502" y="4873318"/>
                </a:lnTo>
                <a:lnTo>
                  <a:pt x="194952" y="4849375"/>
                </a:lnTo>
                <a:lnTo>
                  <a:pt x="156711" y="4822974"/>
                </a:lnTo>
                <a:lnTo>
                  <a:pt x="122030" y="4794290"/>
                </a:lnTo>
                <a:lnTo>
                  <a:pt x="91159" y="4763495"/>
                </a:lnTo>
                <a:lnTo>
                  <a:pt x="64350" y="4730763"/>
                </a:lnTo>
                <a:lnTo>
                  <a:pt x="41853" y="4696267"/>
                </a:lnTo>
                <a:lnTo>
                  <a:pt x="23918" y="4660181"/>
                </a:lnTo>
                <a:lnTo>
                  <a:pt x="10797" y="4622677"/>
                </a:lnTo>
                <a:lnTo>
                  <a:pt x="2741" y="4583929"/>
                </a:lnTo>
                <a:lnTo>
                  <a:pt x="0" y="4544110"/>
                </a:lnTo>
                <a:lnTo>
                  <a:pt x="0" y="413512"/>
                </a:lnTo>
                <a:lnTo>
                  <a:pt x="2741" y="373692"/>
                </a:lnTo>
                <a:lnTo>
                  <a:pt x="10797" y="334943"/>
                </a:lnTo>
                <a:lnTo>
                  <a:pt x="23918" y="297437"/>
                </a:lnTo>
                <a:lnTo>
                  <a:pt x="41853" y="261347"/>
                </a:lnTo>
                <a:lnTo>
                  <a:pt x="64350" y="226848"/>
                </a:lnTo>
                <a:lnTo>
                  <a:pt x="91159" y="194112"/>
                </a:lnTo>
                <a:lnTo>
                  <a:pt x="122030" y="163313"/>
                </a:lnTo>
                <a:lnTo>
                  <a:pt x="156711" y="134625"/>
                </a:lnTo>
                <a:lnTo>
                  <a:pt x="194952" y="108220"/>
                </a:lnTo>
                <a:lnTo>
                  <a:pt x="236502" y="84272"/>
                </a:lnTo>
                <a:lnTo>
                  <a:pt x="281110" y="62954"/>
                </a:lnTo>
                <a:lnTo>
                  <a:pt x="328525" y="44440"/>
                </a:lnTo>
                <a:lnTo>
                  <a:pt x="378496" y="28904"/>
                </a:lnTo>
                <a:lnTo>
                  <a:pt x="430773" y="16518"/>
                </a:lnTo>
                <a:lnTo>
                  <a:pt x="485106" y="7457"/>
                </a:lnTo>
                <a:lnTo>
                  <a:pt x="541242" y="1893"/>
                </a:lnTo>
                <a:lnTo>
                  <a:pt x="59893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45402" y="1427225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5" h="792480">
                <a:moveTo>
                  <a:pt x="283464" y="792479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45402" y="2830829"/>
            <a:ext cx="283845" cy="1460500"/>
          </a:xfrm>
          <a:custGeom>
            <a:avLst/>
            <a:gdLst/>
            <a:ahLst/>
            <a:cxnLst/>
            <a:rect l="l" t="t" r="r" b="b"/>
            <a:pathLst>
              <a:path w="283845" h="1460500">
                <a:moveTo>
                  <a:pt x="283464" y="1459992"/>
                </a:moveTo>
                <a:lnTo>
                  <a:pt x="218456" y="1456770"/>
                </a:lnTo>
                <a:lnTo>
                  <a:pt x="158787" y="1447595"/>
                </a:lnTo>
                <a:lnTo>
                  <a:pt x="106155" y="1433199"/>
                </a:lnTo>
                <a:lnTo>
                  <a:pt x="62261" y="1414316"/>
                </a:lnTo>
                <a:lnTo>
                  <a:pt x="28804" y="1391678"/>
                </a:lnTo>
                <a:lnTo>
                  <a:pt x="0" y="1338072"/>
                </a:lnTo>
                <a:lnTo>
                  <a:pt x="0" y="121920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59320" y="4702302"/>
            <a:ext cx="902335" cy="1092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685">
              <a:lnSpc>
                <a:spcPct val="1250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 P  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94626" y="3006089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5" h="792479">
                <a:moveTo>
                  <a:pt x="283464" y="792480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7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983351" y="2519298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83351" y="2946018"/>
            <a:ext cx="381000" cy="858519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07732" y="1599437"/>
            <a:ext cx="2819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06945" y="3299840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3335" y="3869817"/>
            <a:ext cx="794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call</a:t>
            </a:r>
            <a:r>
              <a:rPr dirty="0" sz="2400" spc="-10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57058" y="3212338"/>
            <a:ext cx="1242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884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0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00911" y="1949195"/>
            <a:ext cx="1918970" cy="0"/>
          </a:xfrm>
          <a:custGeom>
            <a:avLst/>
            <a:gdLst/>
            <a:ahLst/>
            <a:cxnLst/>
            <a:rect l="l" t="t" r="r" b="b"/>
            <a:pathLst>
              <a:path w="1918970" h="0">
                <a:moveTo>
                  <a:pt x="0" y="0"/>
                </a:moveTo>
                <a:lnTo>
                  <a:pt x="1918715" y="0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5991" y="0"/>
            <a:ext cx="7936230" cy="18605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812165">
              <a:lnSpc>
                <a:spcPct val="100000"/>
              </a:lnSpc>
              <a:spcBef>
                <a:spcPts val="480"/>
              </a:spcBef>
              <a:tabLst>
                <a:tab pos="1450340" algn="l"/>
                <a:tab pos="3088005" algn="l"/>
                <a:tab pos="35890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华文新魏"/>
              <a:cs typeface="华文新魏"/>
            </a:endParaRPr>
          </a:p>
          <a:p>
            <a:pPr marL="375285" indent="-363220">
              <a:lnSpc>
                <a:spcPct val="100000"/>
              </a:lnSpc>
              <a:buClr>
                <a:srgbClr val="66FFFF"/>
              </a:buClr>
              <a:buSzPct val="139062"/>
              <a:buFont typeface="Wingdings"/>
              <a:buChar char=""/>
              <a:tabLst>
                <a:tab pos="37592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Display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表的方案</a:t>
            </a:r>
            <a:endParaRPr sz="3200">
              <a:latin typeface="宋体"/>
              <a:cs typeface="宋体"/>
            </a:endParaRPr>
          </a:p>
          <a:p>
            <a:pPr marL="955675">
              <a:lnSpc>
                <a:spcPct val="100000"/>
              </a:lnSpc>
              <a:spcBef>
                <a:spcPts val="1864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主程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(1)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(2)</a:t>
            </a:r>
            <a:r>
              <a:rPr dirty="0" sz="3200" spc="-2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(3)</a:t>
            </a:r>
            <a:r>
              <a:rPr dirty="0" sz="3200" spc="-3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(4)</a:t>
            </a:r>
            <a:r>
              <a:rPr dirty="0" sz="3200" spc="-2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0454" y="3114294"/>
            <a:ext cx="1864360" cy="1394460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218440" marR="209550">
              <a:lnSpc>
                <a:spcPts val="4870"/>
              </a:lnSpc>
              <a:spcBef>
                <a:spcPts val="21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主程序的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91946" y="4101846"/>
            <a:ext cx="830580" cy="495300"/>
          </a:xfrm>
          <a:custGeom>
            <a:avLst/>
            <a:gdLst/>
            <a:ahLst/>
            <a:cxnLst/>
            <a:rect l="l" t="t" r="r" b="b"/>
            <a:pathLst>
              <a:path w="830580" h="495300">
                <a:moveTo>
                  <a:pt x="0" y="495299"/>
                </a:moveTo>
                <a:lnTo>
                  <a:pt x="830579" y="495299"/>
                </a:lnTo>
                <a:lnTo>
                  <a:pt x="830579" y="0"/>
                </a:lnTo>
                <a:lnTo>
                  <a:pt x="0" y="0"/>
                </a:lnTo>
                <a:lnTo>
                  <a:pt x="0" y="49529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82674" y="4346447"/>
            <a:ext cx="1242060" cy="114300"/>
          </a:xfrm>
          <a:custGeom>
            <a:avLst/>
            <a:gdLst/>
            <a:ahLst/>
            <a:cxnLst/>
            <a:rect l="l" t="t" r="r" b="b"/>
            <a:pathLst>
              <a:path w="1242060" h="114300">
                <a:moveTo>
                  <a:pt x="1051559" y="0"/>
                </a:moveTo>
                <a:lnTo>
                  <a:pt x="1051559" y="114300"/>
                </a:lnTo>
                <a:lnTo>
                  <a:pt x="1178559" y="76200"/>
                </a:lnTo>
                <a:lnTo>
                  <a:pt x="1070609" y="76200"/>
                </a:lnTo>
                <a:lnTo>
                  <a:pt x="1070609" y="38100"/>
                </a:lnTo>
                <a:lnTo>
                  <a:pt x="1178559" y="38100"/>
                </a:lnTo>
                <a:lnTo>
                  <a:pt x="1051559" y="0"/>
                </a:lnTo>
                <a:close/>
              </a:path>
              <a:path w="1242060" h="114300">
                <a:moveTo>
                  <a:pt x="10515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51559" y="76200"/>
                </a:lnTo>
                <a:lnTo>
                  <a:pt x="1051559" y="38100"/>
                </a:lnTo>
                <a:close/>
              </a:path>
              <a:path w="1242060" h="114300">
                <a:moveTo>
                  <a:pt x="1178559" y="38100"/>
                </a:moveTo>
                <a:lnTo>
                  <a:pt x="1070609" y="38100"/>
                </a:lnTo>
                <a:lnTo>
                  <a:pt x="1070609" y="76200"/>
                </a:lnTo>
                <a:lnTo>
                  <a:pt x="1178559" y="76200"/>
                </a:lnTo>
                <a:lnTo>
                  <a:pt x="1242059" y="57150"/>
                </a:lnTo>
                <a:lnTo>
                  <a:pt x="117855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54123" y="3809491"/>
            <a:ext cx="362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314" y="3303737"/>
            <a:ext cx="1495425" cy="1270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0">
              <a:lnSpc>
                <a:spcPct val="145800"/>
              </a:lnSpc>
              <a:spcBef>
                <a:spcPts val="100"/>
              </a:spcBef>
            </a:pP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di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pl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y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04822" y="3147060"/>
            <a:ext cx="847725" cy="114300"/>
          </a:xfrm>
          <a:custGeom>
            <a:avLst/>
            <a:gdLst/>
            <a:ahLst/>
            <a:cxnLst/>
            <a:rect l="l" t="t" r="r" b="b"/>
            <a:pathLst>
              <a:path w="847725" h="114300">
                <a:moveTo>
                  <a:pt x="656844" y="0"/>
                </a:moveTo>
                <a:lnTo>
                  <a:pt x="656844" y="114300"/>
                </a:lnTo>
                <a:lnTo>
                  <a:pt x="783844" y="76200"/>
                </a:lnTo>
                <a:lnTo>
                  <a:pt x="675894" y="76200"/>
                </a:lnTo>
                <a:lnTo>
                  <a:pt x="675894" y="38100"/>
                </a:lnTo>
                <a:lnTo>
                  <a:pt x="783844" y="38100"/>
                </a:lnTo>
                <a:lnTo>
                  <a:pt x="656844" y="0"/>
                </a:lnTo>
                <a:close/>
              </a:path>
              <a:path w="847725" h="114300">
                <a:moveTo>
                  <a:pt x="6568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56844" y="76200"/>
                </a:lnTo>
                <a:lnTo>
                  <a:pt x="656844" y="38100"/>
                </a:lnTo>
                <a:close/>
              </a:path>
              <a:path w="847725" h="114300">
                <a:moveTo>
                  <a:pt x="783844" y="38100"/>
                </a:moveTo>
                <a:lnTo>
                  <a:pt x="675894" y="38100"/>
                </a:lnTo>
                <a:lnTo>
                  <a:pt x="675894" y="76200"/>
                </a:lnTo>
                <a:lnTo>
                  <a:pt x="783844" y="76200"/>
                </a:lnTo>
                <a:lnTo>
                  <a:pt x="847344" y="57150"/>
                </a:lnTo>
                <a:lnTo>
                  <a:pt x="78384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98345" y="2693288"/>
            <a:ext cx="5200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o</a:t>
            </a: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7267" y="5244794"/>
            <a:ext cx="91566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1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70454" y="2852166"/>
            <a:ext cx="0" cy="340360"/>
          </a:xfrm>
          <a:custGeom>
            <a:avLst/>
            <a:gdLst/>
            <a:ahLst/>
            <a:cxnLst/>
            <a:rect l="l" t="t" r="r" b="b"/>
            <a:pathLst>
              <a:path w="0" h="340360">
                <a:moveTo>
                  <a:pt x="0" y="0"/>
                </a:moveTo>
                <a:lnTo>
                  <a:pt x="0" y="33985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34305" y="2878073"/>
            <a:ext cx="0" cy="338455"/>
          </a:xfrm>
          <a:custGeom>
            <a:avLst/>
            <a:gdLst/>
            <a:ahLst/>
            <a:cxnLst/>
            <a:rect l="l" t="t" r="r" b="b"/>
            <a:pathLst>
              <a:path w="0" h="338455">
                <a:moveTo>
                  <a:pt x="0" y="0"/>
                </a:moveTo>
                <a:lnTo>
                  <a:pt x="0" y="338327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33338" y="2071877"/>
            <a:ext cx="599440" cy="4337685"/>
          </a:xfrm>
          <a:custGeom>
            <a:avLst/>
            <a:gdLst/>
            <a:ahLst/>
            <a:cxnLst/>
            <a:rect l="l" t="t" r="r" b="b"/>
            <a:pathLst>
              <a:path w="599440" h="4337685">
                <a:moveTo>
                  <a:pt x="598932" y="4337304"/>
                </a:moveTo>
                <a:lnTo>
                  <a:pt x="541242" y="4335411"/>
                </a:lnTo>
                <a:lnTo>
                  <a:pt x="485106" y="4329848"/>
                </a:lnTo>
                <a:lnTo>
                  <a:pt x="430773" y="4320789"/>
                </a:lnTo>
                <a:lnTo>
                  <a:pt x="378496" y="4308406"/>
                </a:lnTo>
                <a:lnTo>
                  <a:pt x="328525" y="4292873"/>
                </a:lnTo>
                <a:lnTo>
                  <a:pt x="281110" y="4274364"/>
                </a:lnTo>
                <a:lnTo>
                  <a:pt x="236502" y="4253051"/>
                </a:lnTo>
                <a:lnTo>
                  <a:pt x="194952" y="4229108"/>
                </a:lnTo>
                <a:lnTo>
                  <a:pt x="156711" y="4202708"/>
                </a:lnTo>
                <a:lnTo>
                  <a:pt x="122030" y="4174024"/>
                </a:lnTo>
                <a:lnTo>
                  <a:pt x="91159" y="4143230"/>
                </a:lnTo>
                <a:lnTo>
                  <a:pt x="64350" y="4110500"/>
                </a:lnTo>
                <a:lnTo>
                  <a:pt x="41853" y="4076005"/>
                </a:lnTo>
                <a:lnTo>
                  <a:pt x="23918" y="4039920"/>
                </a:lnTo>
                <a:lnTo>
                  <a:pt x="10797" y="4002418"/>
                </a:lnTo>
                <a:lnTo>
                  <a:pt x="2741" y="3963672"/>
                </a:lnTo>
                <a:lnTo>
                  <a:pt x="0" y="3923855"/>
                </a:lnTo>
                <a:lnTo>
                  <a:pt x="0" y="413512"/>
                </a:lnTo>
                <a:lnTo>
                  <a:pt x="2741" y="373692"/>
                </a:lnTo>
                <a:lnTo>
                  <a:pt x="10797" y="334943"/>
                </a:lnTo>
                <a:lnTo>
                  <a:pt x="23918" y="297437"/>
                </a:lnTo>
                <a:lnTo>
                  <a:pt x="41853" y="261347"/>
                </a:lnTo>
                <a:lnTo>
                  <a:pt x="64350" y="226848"/>
                </a:lnTo>
                <a:lnTo>
                  <a:pt x="91159" y="194112"/>
                </a:lnTo>
                <a:lnTo>
                  <a:pt x="122030" y="163313"/>
                </a:lnTo>
                <a:lnTo>
                  <a:pt x="156711" y="134625"/>
                </a:lnTo>
                <a:lnTo>
                  <a:pt x="194952" y="108220"/>
                </a:lnTo>
                <a:lnTo>
                  <a:pt x="236502" y="84272"/>
                </a:lnTo>
                <a:lnTo>
                  <a:pt x="281110" y="62954"/>
                </a:lnTo>
                <a:lnTo>
                  <a:pt x="328525" y="44440"/>
                </a:lnTo>
                <a:lnTo>
                  <a:pt x="378496" y="28904"/>
                </a:lnTo>
                <a:lnTo>
                  <a:pt x="430773" y="16518"/>
                </a:lnTo>
                <a:lnTo>
                  <a:pt x="485106" y="7457"/>
                </a:lnTo>
                <a:lnTo>
                  <a:pt x="541242" y="1893"/>
                </a:lnTo>
                <a:lnTo>
                  <a:pt x="59893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72478" y="2387345"/>
            <a:ext cx="283845" cy="693420"/>
          </a:xfrm>
          <a:custGeom>
            <a:avLst/>
            <a:gdLst/>
            <a:ahLst/>
            <a:cxnLst/>
            <a:rect l="l" t="t" r="r" b="b"/>
            <a:pathLst>
              <a:path w="283845" h="693419">
                <a:moveTo>
                  <a:pt x="283464" y="693419"/>
                </a:moveTo>
                <a:lnTo>
                  <a:pt x="208094" y="691058"/>
                </a:lnTo>
                <a:lnTo>
                  <a:pt x="140377" y="684393"/>
                </a:lnTo>
                <a:lnTo>
                  <a:pt x="83010" y="674052"/>
                </a:lnTo>
                <a:lnTo>
                  <a:pt x="38692" y="660663"/>
                </a:lnTo>
                <a:lnTo>
                  <a:pt x="0" y="627252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72478" y="3614165"/>
            <a:ext cx="283845" cy="1277620"/>
          </a:xfrm>
          <a:custGeom>
            <a:avLst/>
            <a:gdLst/>
            <a:ahLst/>
            <a:cxnLst/>
            <a:rect l="l" t="t" r="r" b="b"/>
            <a:pathLst>
              <a:path w="283845" h="1277620">
                <a:moveTo>
                  <a:pt x="283464" y="1277111"/>
                </a:moveTo>
                <a:lnTo>
                  <a:pt x="218456" y="1273890"/>
                </a:lnTo>
                <a:lnTo>
                  <a:pt x="158787" y="1264715"/>
                </a:lnTo>
                <a:lnTo>
                  <a:pt x="106155" y="1250319"/>
                </a:lnTo>
                <a:lnTo>
                  <a:pt x="62261" y="1231436"/>
                </a:lnTo>
                <a:lnTo>
                  <a:pt x="28804" y="1208798"/>
                </a:lnTo>
                <a:lnTo>
                  <a:pt x="0" y="1155191"/>
                </a:lnTo>
                <a:lnTo>
                  <a:pt x="0" y="121919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986396" y="5243362"/>
            <a:ext cx="902335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9685">
              <a:lnSpc>
                <a:spcPct val="125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 P  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21702" y="3768090"/>
            <a:ext cx="283845" cy="693420"/>
          </a:xfrm>
          <a:custGeom>
            <a:avLst/>
            <a:gdLst/>
            <a:ahLst/>
            <a:cxnLst/>
            <a:rect l="l" t="t" r="r" b="b"/>
            <a:pathLst>
              <a:path w="283845" h="693420">
                <a:moveTo>
                  <a:pt x="283464" y="693420"/>
                </a:moveTo>
                <a:lnTo>
                  <a:pt x="208094" y="691058"/>
                </a:lnTo>
                <a:lnTo>
                  <a:pt x="140377" y="684393"/>
                </a:lnTo>
                <a:lnTo>
                  <a:pt x="83010" y="674052"/>
                </a:lnTo>
                <a:lnTo>
                  <a:pt x="38692" y="660663"/>
                </a:lnTo>
                <a:lnTo>
                  <a:pt x="0" y="627253"/>
                </a:lnTo>
                <a:lnTo>
                  <a:pt x="0" y="66167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099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210427" y="3347720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210427" y="3774135"/>
            <a:ext cx="381000" cy="8591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ts val="3210"/>
              </a:lnSpc>
              <a:spcBef>
                <a:spcPts val="33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34808" y="2539441"/>
            <a:ext cx="2825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34021" y="4027678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60411" y="3742054"/>
            <a:ext cx="1565910" cy="1176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215">
              <a:lnSpc>
                <a:spcPct val="157300"/>
              </a:lnSpc>
              <a:spcBef>
                <a:spcPts val="95"/>
              </a:spcBef>
              <a:tabLst>
                <a:tab pos="800735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call</a:t>
            </a:r>
            <a:r>
              <a:rPr dirty="0" sz="2400" spc="-2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00911" y="1949195"/>
            <a:ext cx="2161540" cy="0"/>
          </a:xfrm>
          <a:custGeom>
            <a:avLst/>
            <a:gdLst/>
            <a:ahLst/>
            <a:cxnLst/>
            <a:rect l="l" t="t" r="r" b="b"/>
            <a:pathLst>
              <a:path w="2161540" h="0">
                <a:moveTo>
                  <a:pt x="0" y="0"/>
                </a:moveTo>
                <a:lnTo>
                  <a:pt x="2161032" y="0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61944" y="1949195"/>
            <a:ext cx="1156970" cy="0"/>
          </a:xfrm>
          <a:custGeom>
            <a:avLst/>
            <a:gdLst/>
            <a:ahLst/>
            <a:cxnLst/>
            <a:rect l="l" t="t" r="r" b="b"/>
            <a:pathLst>
              <a:path w="1156970" h="0">
                <a:moveTo>
                  <a:pt x="0" y="0"/>
                </a:moveTo>
                <a:lnTo>
                  <a:pt x="1156715" y="0"/>
                </a:lnTo>
              </a:path>
            </a:pathLst>
          </a:custGeom>
          <a:ln w="5715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50685" y="1873757"/>
            <a:ext cx="599440" cy="4337685"/>
          </a:xfrm>
          <a:custGeom>
            <a:avLst/>
            <a:gdLst/>
            <a:ahLst/>
            <a:cxnLst/>
            <a:rect l="l" t="t" r="r" b="b"/>
            <a:pathLst>
              <a:path w="599440" h="4337685">
                <a:moveTo>
                  <a:pt x="598932" y="4337304"/>
                </a:moveTo>
                <a:lnTo>
                  <a:pt x="541242" y="4335411"/>
                </a:lnTo>
                <a:lnTo>
                  <a:pt x="485106" y="4329848"/>
                </a:lnTo>
                <a:lnTo>
                  <a:pt x="430773" y="4320789"/>
                </a:lnTo>
                <a:lnTo>
                  <a:pt x="378496" y="4308406"/>
                </a:lnTo>
                <a:lnTo>
                  <a:pt x="328525" y="4292873"/>
                </a:lnTo>
                <a:lnTo>
                  <a:pt x="281110" y="4274364"/>
                </a:lnTo>
                <a:lnTo>
                  <a:pt x="236502" y="4253051"/>
                </a:lnTo>
                <a:lnTo>
                  <a:pt x="194952" y="4229108"/>
                </a:lnTo>
                <a:lnTo>
                  <a:pt x="156711" y="4202708"/>
                </a:lnTo>
                <a:lnTo>
                  <a:pt x="122030" y="4174024"/>
                </a:lnTo>
                <a:lnTo>
                  <a:pt x="91159" y="4143230"/>
                </a:lnTo>
                <a:lnTo>
                  <a:pt x="64350" y="4110500"/>
                </a:lnTo>
                <a:lnTo>
                  <a:pt x="41853" y="4076005"/>
                </a:lnTo>
                <a:lnTo>
                  <a:pt x="23918" y="4039920"/>
                </a:lnTo>
                <a:lnTo>
                  <a:pt x="10797" y="4002418"/>
                </a:lnTo>
                <a:lnTo>
                  <a:pt x="2741" y="3963672"/>
                </a:lnTo>
                <a:lnTo>
                  <a:pt x="0" y="3923855"/>
                </a:lnTo>
                <a:lnTo>
                  <a:pt x="0" y="413512"/>
                </a:lnTo>
                <a:lnTo>
                  <a:pt x="2741" y="373692"/>
                </a:lnTo>
                <a:lnTo>
                  <a:pt x="10797" y="334943"/>
                </a:lnTo>
                <a:lnTo>
                  <a:pt x="23918" y="297437"/>
                </a:lnTo>
                <a:lnTo>
                  <a:pt x="41853" y="261347"/>
                </a:lnTo>
                <a:lnTo>
                  <a:pt x="64350" y="226848"/>
                </a:lnTo>
                <a:lnTo>
                  <a:pt x="91159" y="194112"/>
                </a:lnTo>
                <a:lnTo>
                  <a:pt x="122030" y="163313"/>
                </a:lnTo>
                <a:lnTo>
                  <a:pt x="156711" y="134625"/>
                </a:lnTo>
                <a:lnTo>
                  <a:pt x="194952" y="108220"/>
                </a:lnTo>
                <a:lnTo>
                  <a:pt x="236502" y="84272"/>
                </a:lnTo>
                <a:lnTo>
                  <a:pt x="281110" y="62954"/>
                </a:lnTo>
                <a:lnTo>
                  <a:pt x="328525" y="44440"/>
                </a:lnTo>
                <a:lnTo>
                  <a:pt x="378496" y="28904"/>
                </a:lnTo>
                <a:lnTo>
                  <a:pt x="430773" y="16518"/>
                </a:lnTo>
                <a:lnTo>
                  <a:pt x="485106" y="7457"/>
                </a:lnTo>
                <a:lnTo>
                  <a:pt x="541242" y="1893"/>
                </a:lnTo>
                <a:lnTo>
                  <a:pt x="598932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89826" y="2189226"/>
            <a:ext cx="283845" cy="692150"/>
          </a:xfrm>
          <a:custGeom>
            <a:avLst/>
            <a:gdLst/>
            <a:ahLst/>
            <a:cxnLst/>
            <a:rect l="l" t="t" r="r" b="b"/>
            <a:pathLst>
              <a:path w="283845" h="692150">
                <a:moveTo>
                  <a:pt x="283464" y="691896"/>
                </a:moveTo>
                <a:lnTo>
                  <a:pt x="208094" y="689534"/>
                </a:lnTo>
                <a:lnTo>
                  <a:pt x="140377" y="682869"/>
                </a:lnTo>
                <a:lnTo>
                  <a:pt x="83010" y="672528"/>
                </a:lnTo>
                <a:lnTo>
                  <a:pt x="38692" y="659139"/>
                </a:lnTo>
                <a:lnTo>
                  <a:pt x="0" y="625728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89826" y="3416046"/>
            <a:ext cx="283845" cy="1277620"/>
          </a:xfrm>
          <a:custGeom>
            <a:avLst/>
            <a:gdLst/>
            <a:ahLst/>
            <a:cxnLst/>
            <a:rect l="l" t="t" r="r" b="b"/>
            <a:pathLst>
              <a:path w="283845" h="1277620">
                <a:moveTo>
                  <a:pt x="283464" y="1277111"/>
                </a:moveTo>
                <a:lnTo>
                  <a:pt x="218456" y="1273890"/>
                </a:lnTo>
                <a:lnTo>
                  <a:pt x="158787" y="1264715"/>
                </a:lnTo>
                <a:lnTo>
                  <a:pt x="106155" y="1250319"/>
                </a:lnTo>
                <a:lnTo>
                  <a:pt x="62261" y="1231436"/>
                </a:lnTo>
                <a:lnTo>
                  <a:pt x="28804" y="1208798"/>
                </a:lnTo>
                <a:lnTo>
                  <a:pt x="0" y="1155191"/>
                </a:lnTo>
                <a:lnTo>
                  <a:pt x="0" y="121919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103744" y="5044643"/>
            <a:ext cx="90233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685">
              <a:lnSpc>
                <a:spcPct val="125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 P  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40573" y="3569970"/>
            <a:ext cx="281940" cy="692150"/>
          </a:xfrm>
          <a:custGeom>
            <a:avLst/>
            <a:gdLst/>
            <a:ahLst/>
            <a:cxnLst/>
            <a:rect l="l" t="t" r="r" b="b"/>
            <a:pathLst>
              <a:path w="281940" h="692150">
                <a:moveTo>
                  <a:pt x="281940" y="691895"/>
                </a:moveTo>
                <a:lnTo>
                  <a:pt x="206992" y="689544"/>
                </a:lnTo>
                <a:lnTo>
                  <a:pt x="139643" y="682907"/>
                </a:lnTo>
                <a:lnTo>
                  <a:pt x="82581" y="672607"/>
                </a:lnTo>
                <a:lnTo>
                  <a:pt x="38495" y="659271"/>
                </a:lnTo>
                <a:lnTo>
                  <a:pt x="0" y="625982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4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27775" y="3149345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7775" y="3576065"/>
            <a:ext cx="381000" cy="858519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991" y="0"/>
            <a:ext cx="7936230" cy="28263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812165">
              <a:lnSpc>
                <a:spcPct val="100000"/>
              </a:lnSpc>
              <a:spcBef>
                <a:spcPts val="480"/>
              </a:spcBef>
              <a:tabLst>
                <a:tab pos="1450340" algn="l"/>
                <a:tab pos="3088005" algn="l"/>
                <a:tab pos="358902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华文新魏"/>
              <a:cs typeface="华文新魏"/>
            </a:endParaRPr>
          </a:p>
          <a:p>
            <a:pPr marL="375285" indent="-363220">
              <a:lnSpc>
                <a:spcPct val="100000"/>
              </a:lnSpc>
              <a:buClr>
                <a:srgbClr val="66FFFF"/>
              </a:buClr>
              <a:buSzPct val="139062"/>
              <a:buFont typeface="Wingdings"/>
              <a:buChar char=""/>
              <a:tabLst>
                <a:tab pos="37592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用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Display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表的方案</a:t>
            </a:r>
            <a:endParaRPr sz="3200">
              <a:latin typeface="宋体"/>
              <a:cs typeface="宋体"/>
            </a:endParaRPr>
          </a:p>
          <a:p>
            <a:pPr marL="955675">
              <a:lnSpc>
                <a:spcPct val="100000"/>
              </a:lnSpc>
              <a:spcBef>
                <a:spcPts val="1864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主程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(1)</a:t>
            </a:r>
            <a:r>
              <a:rPr dirty="0" sz="3200" spc="-2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(2)</a:t>
            </a:r>
            <a:r>
              <a:rPr dirty="0" sz="3200" spc="-2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(3)</a:t>
            </a:r>
            <a:r>
              <a:rPr dirty="0" sz="3200" spc="-3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(4)</a:t>
            </a:r>
            <a:r>
              <a:rPr dirty="0" sz="3200" spc="-20" b="1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</a:t>
            </a:r>
            <a:endParaRPr sz="32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50">
              <a:latin typeface="Symbol"/>
              <a:cs typeface="Symbol"/>
            </a:endParaRPr>
          </a:p>
          <a:p>
            <a:pPr algn="r" marR="642620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1623" y="3829303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77759" y="3543615"/>
            <a:ext cx="1566545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3850">
              <a:lnSpc>
                <a:spcPct val="157200"/>
              </a:lnSpc>
              <a:spcBef>
                <a:spcPts val="100"/>
              </a:spcBef>
              <a:tabLst>
                <a:tab pos="801370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14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R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 call</a:t>
            </a:r>
            <a:r>
              <a:rPr dirty="0" sz="2400" spc="-3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47722" y="4329684"/>
            <a:ext cx="609600" cy="114300"/>
          </a:xfrm>
          <a:custGeom>
            <a:avLst/>
            <a:gdLst/>
            <a:ahLst/>
            <a:cxnLst/>
            <a:rect l="l" t="t" r="r" b="b"/>
            <a:pathLst>
              <a:path w="609600" h="114300">
                <a:moveTo>
                  <a:pt x="419100" y="0"/>
                </a:moveTo>
                <a:lnTo>
                  <a:pt x="419100" y="114300"/>
                </a:lnTo>
                <a:lnTo>
                  <a:pt x="546100" y="76200"/>
                </a:lnTo>
                <a:lnTo>
                  <a:pt x="438150" y="76200"/>
                </a:lnTo>
                <a:lnTo>
                  <a:pt x="438150" y="38100"/>
                </a:lnTo>
                <a:lnTo>
                  <a:pt x="546100" y="38100"/>
                </a:lnTo>
                <a:lnTo>
                  <a:pt x="419100" y="0"/>
                </a:lnTo>
                <a:close/>
              </a:path>
              <a:path w="609600" h="114300">
                <a:moveTo>
                  <a:pt x="419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609600" h="114300">
                <a:moveTo>
                  <a:pt x="546100" y="38100"/>
                </a:moveTo>
                <a:lnTo>
                  <a:pt x="438150" y="38100"/>
                </a:lnTo>
                <a:lnTo>
                  <a:pt x="438150" y="76200"/>
                </a:lnTo>
                <a:lnTo>
                  <a:pt x="546100" y="76200"/>
                </a:lnTo>
                <a:lnTo>
                  <a:pt x="609600" y="57150"/>
                </a:lnTo>
                <a:lnTo>
                  <a:pt x="5461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66494" y="5380228"/>
            <a:ext cx="1290955" cy="85725"/>
          </a:xfrm>
          <a:custGeom>
            <a:avLst/>
            <a:gdLst/>
            <a:ahLst/>
            <a:cxnLst/>
            <a:rect l="l" t="t" r="r" b="b"/>
            <a:pathLst>
              <a:path w="1290955" h="85725">
                <a:moveTo>
                  <a:pt x="1147953" y="0"/>
                </a:moveTo>
                <a:lnTo>
                  <a:pt x="1147953" y="85725"/>
                </a:lnTo>
                <a:lnTo>
                  <a:pt x="1243344" y="57150"/>
                </a:lnTo>
                <a:lnTo>
                  <a:pt x="1162177" y="57150"/>
                </a:lnTo>
                <a:lnTo>
                  <a:pt x="1162177" y="28575"/>
                </a:lnTo>
                <a:lnTo>
                  <a:pt x="1243062" y="28575"/>
                </a:lnTo>
                <a:lnTo>
                  <a:pt x="1147953" y="0"/>
                </a:lnTo>
                <a:close/>
              </a:path>
              <a:path w="1290955" h="85725">
                <a:moveTo>
                  <a:pt x="1147953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147953" y="57150"/>
                </a:lnTo>
                <a:lnTo>
                  <a:pt x="1147953" y="28575"/>
                </a:lnTo>
                <a:close/>
              </a:path>
              <a:path w="1290955" h="85725">
                <a:moveTo>
                  <a:pt x="1243062" y="28575"/>
                </a:moveTo>
                <a:lnTo>
                  <a:pt x="1162177" y="28575"/>
                </a:lnTo>
                <a:lnTo>
                  <a:pt x="1162177" y="57150"/>
                </a:lnTo>
                <a:lnTo>
                  <a:pt x="1243344" y="57150"/>
                </a:lnTo>
                <a:lnTo>
                  <a:pt x="1290828" y="42926"/>
                </a:lnTo>
                <a:lnTo>
                  <a:pt x="1243062" y="285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485770" y="3949446"/>
            <a:ext cx="3625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71522" y="3366515"/>
            <a:ext cx="685800" cy="114300"/>
          </a:xfrm>
          <a:custGeom>
            <a:avLst/>
            <a:gdLst/>
            <a:ahLst/>
            <a:cxnLst/>
            <a:rect l="l" t="t" r="r" b="b"/>
            <a:pathLst>
              <a:path w="685800" h="114300">
                <a:moveTo>
                  <a:pt x="495300" y="0"/>
                </a:moveTo>
                <a:lnTo>
                  <a:pt x="495300" y="114300"/>
                </a:lnTo>
                <a:lnTo>
                  <a:pt x="622300" y="76200"/>
                </a:lnTo>
                <a:lnTo>
                  <a:pt x="514350" y="76200"/>
                </a:lnTo>
                <a:lnTo>
                  <a:pt x="514350" y="38100"/>
                </a:lnTo>
                <a:lnTo>
                  <a:pt x="622300" y="38100"/>
                </a:lnTo>
                <a:lnTo>
                  <a:pt x="495300" y="0"/>
                </a:lnTo>
                <a:close/>
              </a:path>
              <a:path w="685800" h="114300">
                <a:moveTo>
                  <a:pt x="4953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95300" y="76200"/>
                </a:lnTo>
                <a:lnTo>
                  <a:pt x="495300" y="38100"/>
                </a:lnTo>
                <a:close/>
              </a:path>
              <a:path w="685800" h="114300">
                <a:moveTo>
                  <a:pt x="622300" y="38100"/>
                </a:moveTo>
                <a:lnTo>
                  <a:pt x="514350" y="38100"/>
                </a:lnTo>
                <a:lnTo>
                  <a:pt x="514350" y="76200"/>
                </a:lnTo>
                <a:lnTo>
                  <a:pt x="622300" y="76200"/>
                </a:lnTo>
                <a:lnTo>
                  <a:pt x="685800" y="57150"/>
                </a:lnTo>
                <a:lnTo>
                  <a:pt x="6223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938272" y="3071622"/>
          <a:ext cx="1736725" cy="2364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</a:tblGrid>
              <a:tr h="355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964692">
                <a:tc>
                  <a:txBody>
                    <a:bodyPr/>
                    <a:lstStyle/>
                    <a:p>
                      <a:pPr marL="90170" marR="151130" indent="461645">
                        <a:lnSpc>
                          <a:spcPts val="2860"/>
                        </a:lnSpc>
                        <a:spcBef>
                          <a:spcPts val="805"/>
                        </a:spcBef>
                      </a:pPr>
                      <a:r>
                        <a:rPr dirty="0" sz="28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2800" spc="-1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 </a:t>
                      </a:r>
                      <a:r>
                        <a:rPr dirty="0" sz="28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活动记录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10223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025652">
                <a:tc>
                  <a:txBody>
                    <a:bodyPr/>
                    <a:lstStyle/>
                    <a:p>
                      <a:pPr marL="90170">
                        <a:lnSpc>
                          <a:spcPts val="31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主程序的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活动记录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2304669" y="2969209"/>
            <a:ext cx="5207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top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59100" y="5662371"/>
            <a:ext cx="91566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（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2</a:t>
            </a:r>
            <a:r>
              <a:rPr dirty="0" sz="2800" spc="-15" b="1">
                <a:solidFill>
                  <a:srgbClr val="66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93697" y="5150358"/>
            <a:ext cx="611505" cy="506095"/>
          </a:xfrm>
          <a:custGeom>
            <a:avLst/>
            <a:gdLst/>
            <a:ahLst/>
            <a:cxnLst/>
            <a:rect l="l" t="t" r="r" b="b"/>
            <a:pathLst>
              <a:path w="611505" h="506095">
                <a:moveTo>
                  <a:pt x="0" y="505968"/>
                </a:moveTo>
                <a:lnTo>
                  <a:pt x="611123" y="505968"/>
                </a:lnTo>
                <a:lnTo>
                  <a:pt x="611123" y="0"/>
                </a:lnTo>
                <a:lnTo>
                  <a:pt x="0" y="0"/>
                </a:lnTo>
                <a:lnTo>
                  <a:pt x="0" y="50596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75208" y="5149722"/>
            <a:ext cx="640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358646" y="4170426"/>
            <a:ext cx="762000" cy="789940"/>
          </a:xfrm>
          <a:custGeom>
            <a:avLst/>
            <a:gdLst/>
            <a:ahLst/>
            <a:cxnLst/>
            <a:rect l="l" t="t" r="r" b="b"/>
            <a:pathLst>
              <a:path w="762000" h="789939">
                <a:moveTo>
                  <a:pt x="0" y="789432"/>
                </a:moveTo>
                <a:lnTo>
                  <a:pt x="762000" y="789432"/>
                </a:lnTo>
                <a:lnTo>
                  <a:pt x="762000" y="0"/>
                </a:lnTo>
                <a:lnTo>
                  <a:pt x="0" y="0"/>
                </a:lnTo>
                <a:lnTo>
                  <a:pt x="0" y="78943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61517" y="3966108"/>
            <a:ext cx="640080" cy="117792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d[1]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358646" y="4565141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 h="0">
                <a:moveTo>
                  <a:pt x="0" y="0"/>
                </a:moveTo>
                <a:lnTo>
                  <a:pt x="761999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26693" y="3744595"/>
            <a:ext cx="11137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di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pl</a:t>
            </a:r>
            <a:r>
              <a:rPr dirty="0" u="heavy" sz="2800" spc="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82317" y="4334255"/>
            <a:ext cx="1175385" cy="114300"/>
          </a:xfrm>
          <a:custGeom>
            <a:avLst/>
            <a:gdLst/>
            <a:ahLst/>
            <a:cxnLst/>
            <a:rect l="l" t="t" r="r" b="b"/>
            <a:pathLst>
              <a:path w="1175385" h="114300">
                <a:moveTo>
                  <a:pt x="1060704" y="0"/>
                </a:moveTo>
                <a:lnTo>
                  <a:pt x="1060704" y="114300"/>
                </a:lnTo>
                <a:lnTo>
                  <a:pt x="1136904" y="76200"/>
                </a:lnTo>
                <a:lnTo>
                  <a:pt x="1079754" y="76200"/>
                </a:lnTo>
                <a:lnTo>
                  <a:pt x="1079754" y="38100"/>
                </a:lnTo>
                <a:lnTo>
                  <a:pt x="1136904" y="38100"/>
                </a:lnTo>
                <a:lnTo>
                  <a:pt x="1060704" y="0"/>
                </a:lnTo>
                <a:close/>
              </a:path>
              <a:path w="1175385" h="114300">
                <a:moveTo>
                  <a:pt x="106070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60704" y="76200"/>
                </a:lnTo>
                <a:lnTo>
                  <a:pt x="1060704" y="38100"/>
                </a:lnTo>
                <a:close/>
              </a:path>
              <a:path w="1175385" h="114300">
                <a:moveTo>
                  <a:pt x="1136904" y="38100"/>
                </a:moveTo>
                <a:lnTo>
                  <a:pt x="1079754" y="38100"/>
                </a:lnTo>
                <a:lnTo>
                  <a:pt x="1079754" y="76200"/>
                </a:lnTo>
                <a:lnTo>
                  <a:pt x="1136904" y="76200"/>
                </a:lnTo>
                <a:lnTo>
                  <a:pt x="1175004" y="57150"/>
                </a:lnTo>
                <a:lnTo>
                  <a:pt x="1136904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71522" y="4851653"/>
            <a:ext cx="0" cy="571500"/>
          </a:xfrm>
          <a:custGeom>
            <a:avLst/>
            <a:gdLst/>
            <a:ahLst/>
            <a:cxnLst/>
            <a:rect l="l" t="t" r="r" b="b"/>
            <a:pathLst>
              <a:path w="0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271522" y="5366003"/>
            <a:ext cx="685800" cy="114300"/>
          </a:xfrm>
          <a:custGeom>
            <a:avLst/>
            <a:gdLst/>
            <a:ahLst/>
            <a:cxnLst/>
            <a:rect l="l" t="t" r="r" b="b"/>
            <a:pathLst>
              <a:path w="685800" h="114300">
                <a:moveTo>
                  <a:pt x="571500" y="0"/>
                </a:moveTo>
                <a:lnTo>
                  <a:pt x="571500" y="114300"/>
                </a:lnTo>
                <a:lnTo>
                  <a:pt x="647700" y="76200"/>
                </a:lnTo>
                <a:lnTo>
                  <a:pt x="590550" y="76200"/>
                </a:lnTo>
                <a:lnTo>
                  <a:pt x="590550" y="38100"/>
                </a:lnTo>
                <a:lnTo>
                  <a:pt x="647700" y="38100"/>
                </a:lnTo>
                <a:lnTo>
                  <a:pt x="571500" y="0"/>
                </a:lnTo>
                <a:close/>
              </a:path>
              <a:path w="685800" h="114300">
                <a:moveTo>
                  <a:pt x="5715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71500" y="76200"/>
                </a:lnTo>
                <a:lnTo>
                  <a:pt x="571500" y="38100"/>
                </a:lnTo>
                <a:close/>
              </a:path>
              <a:path w="685800" h="114300">
                <a:moveTo>
                  <a:pt x="647700" y="38100"/>
                </a:moveTo>
                <a:lnTo>
                  <a:pt x="590550" y="38100"/>
                </a:lnTo>
                <a:lnTo>
                  <a:pt x="590550" y="76200"/>
                </a:lnTo>
                <a:lnTo>
                  <a:pt x="647700" y="76200"/>
                </a:lnTo>
                <a:lnTo>
                  <a:pt x="685800" y="57150"/>
                </a:lnTo>
                <a:lnTo>
                  <a:pt x="647700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738122" y="4851653"/>
            <a:ext cx="563880" cy="0"/>
          </a:xfrm>
          <a:custGeom>
            <a:avLst/>
            <a:gdLst/>
            <a:ahLst/>
            <a:cxnLst/>
            <a:rect l="l" t="t" r="r" b="b"/>
            <a:pathLst>
              <a:path w="563880" h="0">
                <a:moveTo>
                  <a:pt x="0" y="0"/>
                </a:moveTo>
                <a:lnTo>
                  <a:pt x="563879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5786" y="14732"/>
            <a:ext cx="68713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287905" algn="l"/>
                <a:tab pos="2789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7568" y="730757"/>
            <a:ext cx="606996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主程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spc="-819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(1)</a:t>
            </a:r>
            <a:r>
              <a:rPr dirty="0" sz="3200" spc="-3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(2)</a:t>
            </a:r>
            <a:r>
              <a:rPr dirty="0" sz="3200" spc="-20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(3)</a:t>
            </a:r>
            <a:r>
              <a:rPr dirty="0" sz="3200" spc="-35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(4)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0103" y="1411224"/>
            <a:ext cx="1384300" cy="0"/>
          </a:xfrm>
          <a:custGeom>
            <a:avLst/>
            <a:gdLst/>
            <a:ahLst/>
            <a:cxnLst/>
            <a:rect l="l" t="t" r="r" b="b"/>
            <a:pathLst>
              <a:path w="1384300" h="0">
                <a:moveTo>
                  <a:pt x="0" y="0"/>
                </a:moveTo>
                <a:lnTo>
                  <a:pt x="1383792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86321" y="1844801"/>
            <a:ext cx="597535" cy="4337685"/>
          </a:xfrm>
          <a:custGeom>
            <a:avLst/>
            <a:gdLst/>
            <a:ahLst/>
            <a:cxnLst/>
            <a:rect l="l" t="t" r="r" b="b"/>
            <a:pathLst>
              <a:path w="597534" h="4337685">
                <a:moveTo>
                  <a:pt x="597407" y="4337304"/>
                </a:moveTo>
                <a:lnTo>
                  <a:pt x="539872" y="4335416"/>
                </a:lnTo>
                <a:lnTo>
                  <a:pt x="483884" y="4329868"/>
                </a:lnTo>
                <a:lnTo>
                  <a:pt x="429694" y="4320832"/>
                </a:lnTo>
                <a:lnTo>
                  <a:pt x="377553" y="4308481"/>
                </a:lnTo>
                <a:lnTo>
                  <a:pt x="327709" y="4292989"/>
                </a:lnTo>
                <a:lnTo>
                  <a:pt x="280415" y="4274527"/>
                </a:lnTo>
                <a:lnTo>
                  <a:pt x="235920" y="4253269"/>
                </a:lnTo>
                <a:lnTo>
                  <a:pt x="194475" y="4229388"/>
                </a:lnTo>
                <a:lnTo>
                  <a:pt x="156329" y="4203055"/>
                </a:lnTo>
                <a:lnTo>
                  <a:pt x="121734" y="4174445"/>
                </a:lnTo>
                <a:lnTo>
                  <a:pt x="90939" y="4143730"/>
                </a:lnTo>
                <a:lnTo>
                  <a:pt x="64195" y="4111082"/>
                </a:lnTo>
                <a:lnTo>
                  <a:pt x="41752" y="4076675"/>
                </a:lnTo>
                <a:lnTo>
                  <a:pt x="23861" y="4040682"/>
                </a:lnTo>
                <a:lnTo>
                  <a:pt x="10771" y="4003274"/>
                </a:lnTo>
                <a:lnTo>
                  <a:pt x="2734" y="3964626"/>
                </a:lnTo>
                <a:lnTo>
                  <a:pt x="0" y="3924909"/>
                </a:lnTo>
                <a:lnTo>
                  <a:pt x="0" y="412369"/>
                </a:lnTo>
                <a:lnTo>
                  <a:pt x="2734" y="372660"/>
                </a:lnTo>
                <a:lnTo>
                  <a:pt x="10771" y="334018"/>
                </a:lnTo>
                <a:lnTo>
                  <a:pt x="23861" y="296616"/>
                </a:lnTo>
                <a:lnTo>
                  <a:pt x="41752" y="260627"/>
                </a:lnTo>
                <a:lnTo>
                  <a:pt x="64195" y="226223"/>
                </a:lnTo>
                <a:lnTo>
                  <a:pt x="90939" y="193577"/>
                </a:lnTo>
                <a:lnTo>
                  <a:pt x="121734" y="162863"/>
                </a:lnTo>
                <a:lnTo>
                  <a:pt x="156329" y="134254"/>
                </a:lnTo>
                <a:lnTo>
                  <a:pt x="194475" y="107922"/>
                </a:lnTo>
                <a:lnTo>
                  <a:pt x="235920" y="84040"/>
                </a:lnTo>
                <a:lnTo>
                  <a:pt x="280415" y="62781"/>
                </a:lnTo>
                <a:lnTo>
                  <a:pt x="327709" y="44318"/>
                </a:lnTo>
                <a:lnTo>
                  <a:pt x="377553" y="28825"/>
                </a:lnTo>
                <a:lnTo>
                  <a:pt x="429694" y="16473"/>
                </a:lnTo>
                <a:lnTo>
                  <a:pt x="483884" y="7436"/>
                </a:lnTo>
                <a:lnTo>
                  <a:pt x="539872" y="1888"/>
                </a:lnTo>
                <a:lnTo>
                  <a:pt x="597407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25461" y="2160270"/>
            <a:ext cx="281940" cy="693420"/>
          </a:xfrm>
          <a:custGeom>
            <a:avLst/>
            <a:gdLst/>
            <a:ahLst/>
            <a:cxnLst/>
            <a:rect l="l" t="t" r="r" b="b"/>
            <a:pathLst>
              <a:path w="281940" h="693419">
                <a:moveTo>
                  <a:pt x="281940" y="693419"/>
                </a:moveTo>
                <a:lnTo>
                  <a:pt x="206992" y="691068"/>
                </a:lnTo>
                <a:lnTo>
                  <a:pt x="139643" y="684431"/>
                </a:lnTo>
                <a:lnTo>
                  <a:pt x="82581" y="674131"/>
                </a:lnTo>
                <a:lnTo>
                  <a:pt x="38495" y="660795"/>
                </a:lnTo>
                <a:lnTo>
                  <a:pt x="0" y="627506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4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25461" y="3388614"/>
            <a:ext cx="281940" cy="1275715"/>
          </a:xfrm>
          <a:custGeom>
            <a:avLst/>
            <a:gdLst/>
            <a:ahLst/>
            <a:cxnLst/>
            <a:rect l="l" t="t" r="r" b="b"/>
            <a:pathLst>
              <a:path w="281940" h="1275714">
                <a:moveTo>
                  <a:pt x="281940" y="1275588"/>
                </a:moveTo>
                <a:lnTo>
                  <a:pt x="217296" y="1272381"/>
                </a:lnTo>
                <a:lnTo>
                  <a:pt x="157953" y="1263250"/>
                </a:lnTo>
                <a:lnTo>
                  <a:pt x="105604" y="1248925"/>
                </a:lnTo>
                <a:lnTo>
                  <a:pt x="61941" y="1230137"/>
                </a:lnTo>
                <a:lnTo>
                  <a:pt x="28658" y="1207617"/>
                </a:lnTo>
                <a:lnTo>
                  <a:pt x="0" y="1154303"/>
                </a:lnTo>
                <a:lnTo>
                  <a:pt x="0" y="121285"/>
                </a:lnTo>
                <a:lnTo>
                  <a:pt x="28658" y="67970"/>
                </a:lnTo>
                <a:lnTo>
                  <a:pt x="61941" y="45450"/>
                </a:lnTo>
                <a:lnTo>
                  <a:pt x="105604" y="26662"/>
                </a:lnTo>
                <a:lnTo>
                  <a:pt x="157953" y="12337"/>
                </a:lnTo>
                <a:lnTo>
                  <a:pt x="217296" y="3206"/>
                </a:lnTo>
                <a:lnTo>
                  <a:pt x="28194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238745" y="5016286"/>
            <a:ext cx="902335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9685">
              <a:lnSpc>
                <a:spcPct val="125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 P  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74685" y="3541014"/>
            <a:ext cx="281940" cy="693420"/>
          </a:xfrm>
          <a:custGeom>
            <a:avLst/>
            <a:gdLst/>
            <a:ahLst/>
            <a:cxnLst/>
            <a:rect l="l" t="t" r="r" b="b"/>
            <a:pathLst>
              <a:path w="281940" h="693420">
                <a:moveTo>
                  <a:pt x="281940" y="693419"/>
                </a:moveTo>
                <a:lnTo>
                  <a:pt x="206992" y="691068"/>
                </a:lnTo>
                <a:lnTo>
                  <a:pt x="139643" y="684431"/>
                </a:lnTo>
                <a:lnTo>
                  <a:pt x="82581" y="674131"/>
                </a:lnTo>
                <a:lnTo>
                  <a:pt x="38495" y="660795"/>
                </a:lnTo>
                <a:lnTo>
                  <a:pt x="0" y="627507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40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462776" y="3120643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2776" y="3547059"/>
            <a:ext cx="381000" cy="8591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ts val="3210"/>
              </a:lnSpc>
              <a:spcBef>
                <a:spcPts val="33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87539" y="2312365"/>
            <a:ext cx="2825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86370" y="3800602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12760" y="3514978"/>
            <a:ext cx="1565910" cy="1176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215">
              <a:lnSpc>
                <a:spcPct val="157300"/>
              </a:lnSpc>
              <a:spcBef>
                <a:spcPts val="95"/>
              </a:spcBef>
              <a:tabLst>
                <a:tab pos="800735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call</a:t>
            </a:r>
            <a:r>
              <a:rPr dirty="0" sz="2400" spc="-2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9724" y="1411224"/>
            <a:ext cx="3040380" cy="0"/>
          </a:xfrm>
          <a:custGeom>
            <a:avLst/>
            <a:gdLst/>
            <a:ahLst/>
            <a:cxnLst/>
            <a:rect l="l" t="t" r="r" b="b"/>
            <a:pathLst>
              <a:path w="3040379" h="0">
                <a:moveTo>
                  <a:pt x="0" y="0"/>
                </a:moveTo>
                <a:lnTo>
                  <a:pt x="3040379" y="0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93898" y="3918203"/>
            <a:ext cx="501650" cy="114300"/>
          </a:xfrm>
          <a:custGeom>
            <a:avLst/>
            <a:gdLst/>
            <a:ahLst/>
            <a:cxnLst/>
            <a:rect l="l" t="t" r="r" b="b"/>
            <a:pathLst>
              <a:path w="501650" h="114300">
                <a:moveTo>
                  <a:pt x="310896" y="0"/>
                </a:moveTo>
                <a:lnTo>
                  <a:pt x="310896" y="114300"/>
                </a:lnTo>
                <a:lnTo>
                  <a:pt x="437896" y="76200"/>
                </a:lnTo>
                <a:lnTo>
                  <a:pt x="329946" y="76200"/>
                </a:lnTo>
                <a:lnTo>
                  <a:pt x="329946" y="38100"/>
                </a:lnTo>
                <a:lnTo>
                  <a:pt x="437896" y="38100"/>
                </a:lnTo>
                <a:lnTo>
                  <a:pt x="310896" y="0"/>
                </a:lnTo>
                <a:close/>
              </a:path>
              <a:path w="501650" h="114300">
                <a:moveTo>
                  <a:pt x="3108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10896" y="76200"/>
                </a:lnTo>
                <a:lnTo>
                  <a:pt x="310896" y="38100"/>
                </a:lnTo>
                <a:close/>
              </a:path>
              <a:path w="501650" h="114300">
                <a:moveTo>
                  <a:pt x="437896" y="38100"/>
                </a:moveTo>
                <a:lnTo>
                  <a:pt x="329946" y="38100"/>
                </a:lnTo>
                <a:lnTo>
                  <a:pt x="329946" y="76200"/>
                </a:lnTo>
                <a:lnTo>
                  <a:pt x="437896" y="76200"/>
                </a:lnTo>
                <a:lnTo>
                  <a:pt x="501396" y="57150"/>
                </a:lnTo>
                <a:lnTo>
                  <a:pt x="4378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071622" y="3603117"/>
            <a:ext cx="314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85338" y="2657855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190500" y="0"/>
                </a:moveTo>
                <a:lnTo>
                  <a:pt x="190500" y="114300"/>
                </a:lnTo>
                <a:lnTo>
                  <a:pt x="317500" y="76200"/>
                </a:lnTo>
                <a:lnTo>
                  <a:pt x="209550" y="76200"/>
                </a:lnTo>
                <a:lnTo>
                  <a:pt x="209550" y="38100"/>
                </a:lnTo>
                <a:lnTo>
                  <a:pt x="317500" y="38100"/>
                </a:lnTo>
                <a:lnTo>
                  <a:pt x="190500" y="0"/>
                </a:lnTo>
                <a:close/>
              </a:path>
              <a:path w="381000" h="114300">
                <a:moveTo>
                  <a:pt x="1905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381000" h="114300">
                <a:moveTo>
                  <a:pt x="317500" y="38100"/>
                </a:moveTo>
                <a:lnTo>
                  <a:pt x="209550" y="38100"/>
                </a:lnTo>
                <a:lnTo>
                  <a:pt x="209550" y="76200"/>
                </a:lnTo>
                <a:lnTo>
                  <a:pt x="317500" y="76200"/>
                </a:lnTo>
                <a:lnTo>
                  <a:pt x="381000" y="57150"/>
                </a:lnTo>
                <a:lnTo>
                  <a:pt x="3175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447288" y="2600705"/>
          <a:ext cx="2517140" cy="3392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9990"/>
              </a:tblGrid>
              <a:tr h="114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254252"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230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29273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4127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127760">
                <a:tc>
                  <a:txBody>
                    <a:bodyPr/>
                    <a:lstStyle/>
                    <a:p>
                      <a:pPr marL="871855" marR="153035" indent="-713740">
                        <a:lnSpc>
                          <a:spcPts val="3200"/>
                        </a:lnSpc>
                        <a:spcBef>
                          <a:spcPts val="5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主程序的活动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6921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2954273" y="2299461"/>
            <a:ext cx="448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top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01570" y="6161328"/>
            <a:ext cx="5003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(3)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047494" y="5683758"/>
            <a:ext cx="551815" cy="457200"/>
          </a:xfrm>
          <a:custGeom>
            <a:avLst/>
            <a:gdLst/>
            <a:ahLst/>
            <a:cxnLst/>
            <a:rect l="l" t="t" r="r" b="b"/>
            <a:pathLst>
              <a:path w="551814" h="457200">
                <a:moveTo>
                  <a:pt x="0" y="457200"/>
                </a:moveTo>
                <a:lnTo>
                  <a:pt x="551688" y="457200"/>
                </a:lnTo>
                <a:lnTo>
                  <a:pt x="551688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23338" y="5916167"/>
            <a:ext cx="1160145" cy="114300"/>
          </a:xfrm>
          <a:custGeom>
            <a:avLst/>
            <a:gdLst/>
            <a:ahLst/>
            <a:cxnLst/>
            <a:rect l="l" t="t" r="r" b="b"/>
            <a:pathLst>
              <a:path w="1160145" h="114300">
                <a:moveTo>
                  <a:pt x="1045463" y="0"/>
                </a:moveTo>
                <a:lnTo>
                  <a:pt x="1045463" y="114299"/>
                </a:lnTo>
                <a:lnTo>
                  <a:pt x="1121664" y="76199"/>
                </a:lnTo>
                <a:lnTo>
                  <a:pt x="1064514" y="76199"/>
                </a:lnTo>
                <a:lnTo>
                  <a:pt x="1064514" y="38099"/>
                </a:lnTo>
                <a:lnTo>
                  <a:pt x="1121664" y="38099"/>
                </a:lnTo>
                <a:lnTo>
                  <a:pt x="1045463" y="0"/>
                </a:lnTo>
                <a:close/>
              </a:path>
              <a:path w="1160145" h="114300">
                <a:moveTo>
                  <a:pt x="104546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045463" y="76199"/>
                </a:lnTo>
                <a:lnTo>
                  <a:pt x="1045463" y="38099"/>
                </a:lnTo>
                <a:close/>
              </a:path>
              <a:path w="1160145" h="114300">
                <a:moveTo>
                  <a:pt x="1121664" y="38099"/>
                </a:moveTo>
                <a:lnTo>
                  <a:pt x="1064514" y="38099"/>
                </a:lnTo>
                <a:lnTo>
                  <a:pt x="1064514" y="76199"/>
                </a:lnTo>
                <a:lnTo>
                  <a:pt x="1121664" y="76199"/>
                </a:lnTo>
                <a:lnTo>
                  <a:pt x="1159764" y="57149"/>
                </a:lnTo>
                <a:lnTo>
                  <a:pt x="1121664" y="38099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980438" y="4716017"/>
            <a:ext cx="551815" cy="289560"/>
          </a:xfrm>
          <a:custGeom>
            <a:avLst/>
            <a:gdLst/>
            <a:ahLst/>
            <a:cxnLst/>
            <a:rect l="l" t="t" r="r" b="b"/>
            <a:pathLst>
              <a:path w="551814" h="289560">
                <a:moveTo>
                  <a:pt x="0" y="289560"/>
                </a:moveTo>
                <a:lnTo>
                  <a:pt x="551688" y="289560"/>
                </a:lnTo>
                <a:lnTo>
                  <a:pt x="551688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80438" y="5008626"/>
            <a:ext cx="551815" cy="291465"/>
          </a:xfrm>
          <a:custGeom>
            <a:avLst/>
            <a:gdLst/>
            <a:ahLst/>
            <a:cxnLst/>
            <a:rect l="l" t="t" r="r" b="b"/>
            <a:pathLst>
              <a:path w="551814" h="291464">
                <a:moveTo>
                  <a:pt x="0" y="291084"/>
                </a:moveTo>
                <a:lnTo>
                  <a:pt x="551688" y="291084"/>
                </a:lnTo>
                <a:lnTo>
                  <a:pt x="551688" y="0"/>
                </a:lnTo>
                <a:lnTo>
                  <a:pt x="0" y="0"/>
                </a:lnTo>
                <a:lnTo>
                  <a:pt x="0" y="29108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23338" y="4788408"/>
            <a:ext cx="1160145" cy="114300"/>
          </a:xfrm>
          <a:custGeom>
            <a:avLst/>
            <a:gdLst/>
            <a:ahLst/>
            <a:cxnLst/>
            <a:rect l="l" t="t" r="r" b="b"/>
            <a:pathLst>
              <a:path w="1160145" h="114300">
                <a:moveTo>
                  <a:pt x="1045463" y="0"/>
                </a:moveTo>
                <a:lnTo>
                  <a:pt x="1045463" y="114300"/>
                </a:lnTo>
                <a:lnTo>
                  <a:pt x="1121664" y="76200"/>
                </a:lnTo>
                <a:lnTo>
                  <a:pt x="1064514" y="76200"/>
                </a:lnTo>
                <a:lnTo>
                  <a:pt x="1064514" y="38100"/>
                </a:lnTo>
                <a:lnTo>
                  <a:pt x="1121664" y="38100"/>
                </a:lnTo>
                <a:lnTo>
                  <a:pt x="1045463" y="0"/>
                </a:lnTo>
                <a:close/>
              </a:path>
              <a:path w="1160145" h="114300">
                <a:moveTo>
                  <a:pt x="10454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5463" y="76200"/>
                </a:lnTo>
                <a:lnTo>
                  <a:pt x="1045463" y="38100"/>
                </a:lnTo>
                <a:close/>
              </a:path>
              <a:path w="1160145" h="114300">
                <a:moveTo>
                  <a:pt x="1121664" y="38100"/>
                </a:moveTo>
                <a:lnTo>
                  <a:pt x="1064514" y="38100"/>
                </a:lnTo>
                <a:lnTo>
                  <a:pt x="1064514" y="76200"/>
                </a:lnTo>
                <a:lnTo>
                  <a:pt x="1121664" y="76200"/>
                </a:lnTo>
                <a:lnTo>
                  <a:pt x="1159764" y="57150"/>
                </a:lnTo>
                <a:lnTo>
                  <a:pt x="112166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23338" y="5130546"/>
            <a:ext cx="670560" cy="0"/>
          </a:xfrm>
          <a:custGeom>
            <a:avLst/>
            <a:gdLst/>
            <a:ahLst/>
            <a:cxnLst/>
            <a:rect l="l" t="t" r="r" b="b"/>
            <a:pathLst>
              <a:path w="670560" h="0">
                <a:moveTo>
                  <a:pt x="0" y="0"/>
                </a:moveTo>
                <a:lnTo>
                  <a:pt x="67056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993898" y="5130546"/>
            <a:ext cx="0" cy="843280"/>
          </a:xfrm>
          <a:custGeom>
            <a:avLst/>
            <a:gdLst/>
            <a:ahLst/>
            <a:cxnLst/>
            <a:rect l="l" t="t" r="r" b="b"/>
            <a:pathLst>
              <a:path w="0" h="843279">
                <a:moveTo>
                  <a:pt x="0" y="0"/>
                </a:moveTo>
                <a:lnTo>
                  <a:pt x="0" y="84277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296416" y="4595622"/>
            <a:ext cx="728980" cy="1494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d[1]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000"/>
              </a:lnSpc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221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78685" y="2894838"/>
            <a:ext cx="879475" cy="1062355"/>
          </a:xfrm>
          <a:custGeom>
            <a:avLst/>
            <a:gdLst/>
            <a:ahLst/>
            <a:cxnLst/>
            <a:rect l="l" t="t" r="r" b="b"/>
            <a:pathLst>
              <a:path w="879475" h="1062354">
                <a:moveTo>
                  <a:pt x="0" y="1062228"/>
                </a:moveTo>
                <a:lnTo>
                  <a:pt x="879348" y="1062228"/>
                </a:lnTo>
                <a:lnTo>
                  <a:pt x="879348" y="0"/>
                </a:lnTo>
                <a:lnTo>
                  <a:pt x="0" y="0"/>
                </a:lnTo>
                <a:lnTo>
                  <a:pt x="0" y="1062228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566417" y="2447035"/>
            <a:ext cx="957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display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07465" y="2796666"/>
            <a:ext cx="551180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d[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d[1]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d[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78685" y="3263646"/>
            <a:ext cx="879475" cy="0"/>
          </a:xfrm>
          <a:custGeom>
            <a:avLst/>
            <a:gdLst/>
            <a:ahLst/>
            <a:cxnLst/>
            <a:rect l="l" t="t" r="r" b="b"/>
            <a:pathLst>
              <a:path w="879475" h="0">
                <a:moveTo>
                  <a:pt x="0" y="0"/>
                </a:moveTo>
                <a:lnTo>
                  <a:pt x="879347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74114" y="3633978"/>
            <a:ext cx="879475" cy="0"/>
          </a:xfrm>
          <a:custGeom>
            <a:avLst/>
            <a:gdLst/>
            <a:ahLst/>
            <a:cxnLst/>
            <a:rect l="l" t="t" r="r" b="b"/>
            <a:pathLst>
              <a:path w="879475" h="0">
                <a:moveTo>
                  <a:pt x="0" y="0"/>
                </a:moveTo>
                <a:lnTo>
                  <a:pt x="879348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25217" y="3054857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 h="0">
                <a:moveTo>
                  <a:pt x="0" y="0"/>
                </a:moveTo>
                <a:lnTo>
                  <a:pt x="960119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85338" y="3054857"/>
            <a:ext cx="0" cy="920750"/>
          </a:xfrm>
          <a:custGeom>
            <a:avLst/>
            <a:gdLst/>
            <a:ahLst/>
            <a:cxnLst/>
            <a:rect l="l" t="t" r="r" b="b"/>
            <a:pathLst>
              <a:path w="0" h="920750">
                <a:moveTo>
                  <a:pt x="0" y="0"/>
                </a:moveTo>
                <a:lnTo>
                  <a:pt x="0" y="920495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85338" y="3918203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266700" y="0"/>
                </a:moveTo>
                <a:lnTo>
                  <a:pt x="266700" y="114300"/>
                </a:lnTo>
                <a:lnTo>
                  <a:pt x="342900" y="76200"/>
                </a:lnTo>
                <a:lnTo>
                  <a:pt x="285750" y="76200"/>
                </a:lnTo>
                <a:lnTo>
                  <a:pt x="285750" y="38100"/>
                </a:lnTo>
                <a:lnTo>
                  <a:pt x="342900" y="38100"/>
                </a:lnTo>
                <a:lnTo>
                  <a:pt x="266700" y="0"/>
                </a:lnTo>
                <a:close/>
              </a:path>
              <a:path w="381000" h="114300">
                <a:moveTo>
                  <a:pt x="266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66700" y="76200"/>
                </a:lnTo>
                <a:lnTo>
                  <a:pt x="266700" y="38100"/>
                </a:lnTo>
                <a:close/>
              </a:path>
              <a:path w="381000" h="114300">
                <a:moveTo>
                  <a:pt x="342900" y="38100"/>
                </a:moveTo>
                <a:lnTo>
                  <a:pt x="285750" y="38100"/>
                </a:lnTo>
                <a:lnTo>
                  <a:pt x="285750" y="76200"/>
                </a:lnTo>
                <a:lnTo>
                  <a:pt x="342900" y="76200"/>
                </a:lnTo>
                <a:lnTo>
                  <a:pt x="381000" y="57150"/>
                </a:lnTo>
                <a:lnTo>
                  <a:pt x="342900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23338" y="3417570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4" h="0">
                <a:moveTo>
                  <a:pt x="0" y="0"/>
                </a:moveTo>
                <a:lnTo>
                  <a:pt x="551688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875026" y="3417570"/>
            <a:ext cx="0" cy="1428115"/>
          </a:xfrm>
          <a:custGeom>
            <a:avLst/>
            <a:gdLst/>
            <a:ahLst/>
            <a:cxnLst/>
            <a:rect l="l" t="t" r="r" b="b"/>
            <a:pathLst>
              <a:path w="0" h="1428114">
                <a:moveTo>
                  <a:pt x="0" y="0"/>
                </a:moveTo>
                <a:lnTo>
                  <a:pt x="0" y="1427987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875026" y="4788408"/>
            <a:ext cx="591820" cy="114300"/>
          </a:xfrm>
          <a:custGeom>
            <a:avLst/>
            <a:gdLst/>
            <a:ahLst/>
            <a:cxnLst/>
            <a:rect l="l" t="t" r="r" b="b"/>
            <a:pathLst>
              <a:path w="591820" h="114300">
                <a:moveTo>
                  <a:pt x="477012" y="0"/>
                </a:moveTo>
                <a:lnTo>
                  <a:pt x="477012" y="114300"/>
                </a:lnTo>
                <a:lnTo>
                  <a:pt x="553212" y="76200"/>
                </a:lnTo>
                <a:lnTo>
                  <a:pt x="496062" y="76200"/>
                </a:lnTo>
                <a:lnTo>
                  <a:pt x="496062" y="38100"/>
                </a:lnTo>
                <a:lnTo>
                  <a:pt x="553212" y="38100"/>
                </a:lnTo>
                <a:lnTo>
                  <a:pt x="477012" y="0"/>
                </a:lnTo>
                <a:close/>
              </a:path>
              <a:path w="591820" h="114300">
                <a:moveTo>
                  <a:pt x="4770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77012" y="76200"/>
                </a:lnTo>
                <a:lnTo>
                  <a:pt x="477012" y="38100"/>
                </a:lnTo>
                <a:close/>
              </a:path>
              <a:path w="591820" h="114300">
                <a:moveTo>
                  <a:pt x="553212" y="38100"/>
                </a:moveTo>
                <a:lnTo>
                  <a:pt x="496062" y="38100"/>
                </a:lnTo>
                <a:lnTo>
                  <a:pt x="496062" y="76200"/>
                </a:lnTo>
                <a:lnTo>
                  <a:pt x="553212" y="76200"/>
                </a:lnTo>
                <a:lnTo>
                  <a:pt x="591312" y="57150"/>
                </a:lnTo>
                <a:lnTo>
                  <a:pt x="553212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89226" y="3809238"/>
            <a:ext cx="553720" cy="0"/>
          </a:xfrm>
          <a:custGeom>
            <a:avLst/>
            <a:gdLst/>
            <a:ahLst/>
            <a:cxnLst/>
            <a:rect l="l" t="t" r="r" b="b"/>
            <a:pathLst>
              <a:path w="553719" h="0">
                <a:moveTo>
                  <a:pt x="0" y="0"/>
                </a:moveTo>
                <a:lnTo>
                  <a:pt x="553212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742438" y="3809238"/>
            <a:ext cx="0" cy="2164080"/>
          </a:xfrm>
          <a:custGeom>
            <a:avLst/>
            <a:gdLst/>
            <a:ahLst/>
            <a:cxnLst/>
            <a:rect l="l" t="t" r="r" b="b"/>
            <a:pathLst>
              <a:path w="0" h="2164079">
                <a:moveTo>
                  <a:pt x="0" y="0"/>
                </a:moveTo>
                <a:lnTo>
                  <a:pt x="0" y="216408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742438" y="5916167"/>
            <a:ext cx="723900" cy="114300"/>
          </a:xfrm>
          <a:custGeom>
            <a:avLst/>
            <a:gdLst/>
            <a:ahLst/>
            <a:cxnLst/>
            <a:rect l="l" t="t" r="r" b="b"/>
            <a:pathLst>
              <a:path w="723900" h="114300">
                <a:moveTo>
                  <a:pt x="609600" y="0"/>
                </a:moveTo>
                <a:lnTo>
                  <a:pt x="609600" y="114299"/>
                </a:lnTo>
                <a:lnTo>
                  <a:pt x="685800" y="76199"/>
                </a:lnTo>
                <a:lnTo>
                  <a:pt x="628650" y="76199"/>
                </a:lnTo>
                <a:lnTo>
                  <a:pt x="628650" y="38099"/>
                </a:lnTo>
                <a:lnTo>
                  <a:pt x="685800" y="38099"/>
                </a:lnTo>
                <a:lnTo>
                  <a:pt x="609600" y="0"/>
                </a:lnTo>
                <a:close/>
              </a:path>
              <a:path w="723900" h="114300">
                <a:moveTo>
                  <a:pt x="6096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09600" y="76199"/>
                </a:lnTo>
                <a:lnTo>
                  <a:pt x="609600" y="38099"/>
                </a:lnTo>
                <a:close/>
              </a:path>
              <a:path w="723900" h="114300">
                <a:moveTo>
                  <a:pt x="685800" y="38099"/>
                </a:moveTo>
                <a:lnTo>
                  <a:pt x="628650" y="38099"/>
                </a:lnTo>
                <a:lnTo>
                  <a:pt x="628650" y="76199"/>
                </a:lnTo>
                <a:lnTo>
                  <a:pt x="685800" y="76199"/>
                </a:lnTo>
                <a:lnTo>
                  <a:pt x="723900" y="57149"/>
                </a:lnTo>
                <a:lnTo>
                  <a:pt x="685800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5786" y="14732"/>
            <a:ext cx="687133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287905" algn="l"/>
                <a:tab pos="278955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Ch7	</a:t>
            </a:r>
            <a:r>
              <a:rPr dirty="0" sz="2000" spc="10" b="1">
                <a:solidFill>
                  <a:srgbClr val="A15100"/>
                </a:solidFill>
                <a:latin typeface="华文新魏"/>
                <a:cs typeface="华文新魏"/>
              </a:rPr>
              <a:t>运行</a:t>
            </a:r>
            <a:r>
              <a:rPr dirty="0" sz="2000" b="1">
                <a:solidFill>
                  <a:srgbClr val="A15100"/>
                </a:solidFill>
                <a:latin typeface="华文新魏"/>
                <a:cs typeface="华文新魏"/>
              </a:rPr>
              <a:t>环境	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Times New Roman"/>
                <a:cs typeface="Times New Roman"/>
              </a:rPr>
              <a:t>7.3	</a:t>
            </a:r>
            <a:r>
              <a:rPr dirty="0" u="sng" sz="2000" spc="1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基于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栈的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运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行时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环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境的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态存</a:t>
            </a:r>
            <a:r>
              <a:rPr dirty="0" u="sng" sz="2000" spc="-1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储</a:t>
            </a:r>
            <a:r>
              <a:rPr dirty="0" u="sng" sz="2000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分</a:t>
            </a:r>
            <a:r>
              <a:rPr dirty="0" u="sng" sz="2000" spc="-5" b="1">
                <a:solidFill>
                  <a:srgbClr val="A15100"/>
                </a:solidFill>
                <a:uFill>
                  <a:solidFill>
                    <a:srgbClr val="A15100"/>
                  </a:solidFill>
                </a:uFill>
                <a:latin typeface="华文新魏"/>
                <a:cs typeface="华文新魏"/>
              </a:rPr>
              <a:t>配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7568" y="730757"/>
            <a:ext cx="606996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主程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r>
              <a:rPr dirty="0" sz="3200" spc="-819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(1)</a:t>
            </a:r>
            <a:r>
              <a:rPr dirty="0" sz="3200" spc="-30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(2)</a:t>
            </a:r>
            <a:r>
              <a:rPr dirty="0" sz="3200" spc="-20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>
                <a:solidFill>
                  <a:srgbClr val="66FFFF"/>
                </a:solidFill>
                <a:latin typeface="Times New Roman"/>
                <a:cs typeface="Times New Roman"/>
              </a:rPr>
              <a:t>(3)</a:t>
            </a:r>
            <a:r>
              <a:rPr dirty="0" sz="3200" spc="-35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Wingdings 3"/>
                <a:cs typeface="Wingdings 3"/>
              </a:rPr>
              <a:t>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>
                <a:solidFill>
                  <a:srgbClr val="00FFFF"/>
                </a:solidFill>
                <a:latin typeface="Times New Roman"/>
                <a:cs typeface="Times New Roman"/>
              </a:rPr>
              <a:t>(4)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45608" y="1360932"/>
            <a:ext cx="1411605" cy="0"/>
          </a:xfrm>
          <a:custGeom>
            <a:avLst/>
            <a:gdLst/>
            <a:ahLst/>
            <a:cxnLst/>
            <a:rect l="l" t="t" r="r" b="b"/>
            <a:pathLst>
              <a:path w="1411604" h="0">
                <a:moveTo>
                  <a:pt x="0" y="0"/>
                </a:moveTo>
                <a:lnTo>
                  <a:pt x="1411223" y="0"/>
                </a:lnTo>
              </a:path>
            </a:pathLst>
          </a:custGeom>
          <a:ln w="5715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54317" y="1565910"/>
            <a:ext cx="597535" cy="4337685"/>
          </a:xfrm>
          <a:custGeom>
            <a:avLst/>
            <a:gdLst/>
            <a:ahLst/>
            <a:cxnLst/>
            <a:rect l="l" t="t" r="r" b="b"/>
            <a:pathLst>
              <a:path w="597534" h="4337685">
                <a:moveTo>
                  <a:pt x="597408" y="4337304"/>
                </a:moveTo>
                <a:lnTo>
                  <a:pt x="539872" y="4335416"/>
                </a:lnTo>
                <a:lnTo>
                  <a:pt x="483884" y="4329868"/>
                </a:lnTo>
                <a:lnTo>
                  <a:pt x="429694" y="4320832"/>
                </a:lnTo>
                <a:lnTo>
                  <a:pt x="377553" y="4308482"/>
                </a:lnTo>
                <a:lnTo>
                  <a:pt x="327709" y="4292989"/>
                </a:lnTo>
                <a:lnTo>
                  <a:pt x="280415" y="4274528"/>
                </a:lnTo>
                <a:lnTo>
                  <a:pt x="235920" y="4253271"/>
                </a:lnTo>
                <a:lnTo>
                  <a:pt x="194475" y="4229390"/>
                </a:lnTo>
                <a:lnTo>
                  <a:pt x="156329" y="4203059"/>
                </a:lnTo>
                <a:lnTo>
                  <a:pt x="121734" y="4174450"/>
                </a:lnTo>
                <a:lnTo>
                  <a:pt x="90939" y="4143737"/>
                </a:lnTo>
                <a:lnTo>
                  <a:pt x="64195" y="4111091"/>
                </a:lnTo>
                <a:lnTo>
                  <a:pt x="41752" y="4076687"/>
                </a:lnTo>
                <a:lnTo>
                  <a:pt x="23861" y="4040696"/>
                </a:lnTo>
                <a:lnTo>
                  <a:pt x="10771" y="4003292"/>
                </a:lnTo>
                <a:lnTo>
                  <a:pt x="2734" y="3964647"/>
                </a:lnTo>
                <a:lnTo>
                  <a:pt x="0" y="3924934"/>
                </a:lnTo>
                <a:lnTo>
                  <a:pt x="0" y="412368"/>
                </a:lnTo>
                <a:lnTo>
                  <a:pt x="2734" y="372660"/>
                </a:lnTo>
                <a:lnTo>
                  <a:pt x="10771" y="334018"/>
                </a:lnTo>
                <a:lnTo>
                  <a:pt x="23861" y="296616"/>
                </a:lnTo>
                <a:lnTo>
                  <a:pt x="41752" y="260627"/>
                </a:lnTo>
                <a:lnTo>
                  <a:pt x="64195" y="226223"/>
                </a:lnTo>
                <a:lnTo>
                  <a:pt x="90939" y="193577"/>
                </a:lnTo>
                <a:lnTo>
                  <a:pt x="121734" y="162863"/>
                </a:lnTo>
                <a:lnTo>
                  <a:pt x="156329" y="134254"/>
                </a:lnTo>
                <a:lnTo>
                  <a:pt x="194475" y="107922"/>
                </a:lnTo>
                <a:lnTo>
                  <a:pt x="235920" y="84040"/>
                </a:lnTo>
                <a:lnTo>
                  <a:pt x="280415" y="62781"/>
                </a:lnTo>
                <a:lnTo>
                  <a:pt x="327709" y="44318"/>
                </a:lnTo>
                <a:lnTo>
                  <a:pt x="377553" y="28825"/>
                </a:lnTo>
                <a:lnTo>
                  <a:pt x="429694" y="16473"/>
                </a:lnTo>
                <a:lnTo>
                  <a:pt x="483884" y="7436"/>
                </a:lnTo>
                <a:lnTo>
                  <a:pt x="539872" y="1888"/>
                </a:lnTo>
                <a:lnTo>
                  <a:pt x="597408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93457" y="1881377"/>
            <a:ext cx="283845" cy="692150"/>
          </a:xfrm>
          <a:custGeom>
            <a:avLst/>
            <a:gdLst/>
            <a:ahLst/>
            <a:cxnLst/>
            <a:rect l="l" t="t" r="r" b="b"/>
            <a:pathLst>
              <a:path w="283845" h="692150">
                <a:moveTo>
                  <a:pt x="283464" y="691896"/>
                </a:moveTo>
                <a:lnTo>
                  <a:pt x="208094" y="689534"/>
                </a:lnTo>
                <a:lnTo>
                  <a:pt x="140377" y="682869"/>
                </a:lnTo>
                <a:lnTo>
                  <a:pt x="83010" y="672528"/>
                </a:lnTo>
                <a:lnTo>
                  <a:pt x="38692" y="659139"/>
                </a:lnTo>
                <a:lnTo>
                  <a:pt x="0" y="625729"/>
                </a:lnTo>
                <a:lnTo>
                  <a:pt x="0" y="66167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93457" y="3108198"/>
            <a:ext cx="283845" cy="1277620"/>
          </a:xfrm>
          <a:custGeom>
            <a:avLst/>
            <a:gdLst/>
            <a:ahLst/>
            <a:cxnLst/>
            <a:rect l="l" t="t" r="r" b="b"/>
            <a:pathLst>
              <a:path w="283845" h="1277620">
                <a:moveTo>
                  <a:pt x="283464" y="1277112"/>
                </a:moveTo>
                <a:lnTo>
                  <a:pt x="218456" y="1273890"/>
                </a:lnTo>
                <a:lnTo>
                  <a:pt x="158787" y="1264715"/>
                </a:lnTo>
                <a:lnTo>
                  <a:pt x="106155" y="1250319"/>
                </a:lnTo>
                <a:lnTo>
                  <a:pt x="62261" y="1231436"/>
                </a:lnTo>
                <a:lnTo>
                  <a:pt x="28804" y="1208798"/>
                </a:lnTo>
                <a:lnTo>
                  <a:pt x="0" y="1155191"/>
                </a:lnTo>
                <a:lnTo>
                  <a:pt x="0" y="121919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207122" y="4736033"/>
            <a:ext cx="902335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685">
              <a:lnSpc>
                <a:spcPct val="125099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call P  call</a:t>
            </a:r>
            <a:r>
              <a:rPr dirty="0" sz="28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2681" y="3260597"/>
            <a:ext cx="283845" cy="693420"/>
          </a:xfrm>
          <a:custGeom>
            <a:avLst/>
            <a:gdLst/>
            <a:ahLst/>
            <a:cxnLst/>
            <a:rect l="l" t="t" r="r" b="b"/>
            <a:pathLst>
              <a:path w="283845" h="693420">
                <a:moveTo>
                  <a:pt x="283464" y="693419"/>
                </a:moveTo>
                <a:lnTo>
                  <a:pt x="208094" y="691058"/>
                </a:lnTo>
                <a:lnTo>
                  <a:pt x="140377" y="684393"/>
                </a:lnTo>
                <a:lnTo>
                  <a:pt x="83010" y="674052"/>
                </a:lnTo>
                <a:lnTo>
                  <a:pt x="38692" y="660663"/>
                </a:lnTo>
                <a:lnTo>
                  <a:pt x="0" y="627252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099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431026" y="2841117"/>
            <a:ext cx="381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31026" y="3267532"/>
            <a:ext cx="381000" cy="8591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ts val="3210"/>
              </a:lnSpc>
              <a:spcBef>
                <a:spcPts val="330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程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55534" y="2032838"/>
            <a:ext cx="2825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54620" y="3521202"/>
            <a:ext cx="242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81138" y="3235705"/>
            <a:ext cx="1565910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3215">
              <a:lnSpc>
                <a:spcPct val="157200"/>
              </a:lnSpc>
              <a:spcBef>
                <a:spcPts val="100"/>
              </a:spcBef>
              <a:tabLst>
                <a:tab pos="800735" algn="l"/>
              </a:tabLst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Q	call</a:t>
            </a:r>
            <a:r>
              <a:rPr dirty="0" sz="2400" spc="-11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R </a:t>
            </a: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call</a:t>
            </a:r>
            <a:r>
              <a:rPr dirty="0" sz="2400" spc="-2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5192" y="6289954"/>
            <a:ext cx="5003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(4)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16885" y="3346703"/>
            <a:ext cx="501650" cy="114300"/>
          </a:xfrm>
          <a:custGeom>
            <a:avLst/>
            <a:gdLst/>
            <a:ahLst/>
            <a:cxnLst/>
            <a:rect l="l" t="t" r="r" b="b"/>
            <a:pathLst>
              <a:path w="501650" h="114300">
                <a:moveTo>
                  <a:pt x="310895" y="0"/>
                </a:moveTo>
                <a:lnTo>
                  <a:pt x="310895" y="114300"/>
                </a:lnTo>
                <a:lnTo>
                  <a:pt x="437895" y="76200"/>
                </a:lnTo>
                <a:lnTo>
                  <a:pt x="329945" y="76200"/>
                </a:lnTo>
                <a:lnTo>
                  <a:pt x="329945" y="38100"/>
                </a:lnTo>
                <a:lnTo>
                  <a:pt x="437895" y="38100"/>
                </a:lnTo>
                <a:lnTo>
                  <a:pt x="310895" y="0"/>
                </a:lnTo>
                <a:close/>
              </a:path>
              <a:path w="501650" h="114300">
                <a:moveTo>
                  <a:pt x="3108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10895" y="76200"/>
                </a:lnTo>
                <a:lnTo>
                  <a:pt x="310895" y="38100"/>
                </a:lnTo>
                <a:close/>
              </a:path>
              <a:path w="501650" h="114300">
                <a:moveTo>
                  <a:pt x="437895" y="38100"/>
                </a:moveTo>
                <a:lnTo>
                  <a:pt x="329945" y="38100"/>
                </a:lnTo>
                <a:lnTo>
                  <a:pt x="329945" y="76200"/>
                </a:lnTo>
                <a:lnTo>
                  <a:pt x="437895" y="76200"/>
                </a:lnTo>
                <a:lnTo>
                  <a:pt x="501395" y="57150"/>
                </a:lnTo>
                <a:lnTo>
                  <a:pt x="4378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595498" y="3031058"/>
            <a:ext cx="3143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FFFF"/>
                </a:solidFill>
                <a:latin typeface="Times New Roman"/>
                <a:cs typeface="Times New Roman"/>
              </a:rPr>
              <a:t>sp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08326" y="2453639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190500" y="0"/>
                </a:moveTo>
                <a:lnTo>
                  <a:pt x="190500" y="114300"/>
                </a:lnTo>
                <a:lnTo>
                  <a:pt x="317500" y="76200"/>
                </a:lnTo>
                <a:lnTo>
                  <a:pt x="209550" y="76200"/>
                </a:lnTo>
                <a:lnTo>
                  <a:pt x="209550" y="38100"/>
                </a:lnTo>
                <a:lnTo>
                  <a:pt x="317500" y="38100"/>
                </a:lnTo>
                <a:lnTo>
                  <a:pt x="190500" y="0"/>
                </a:lnTo>
                <a:close/>
              </a:path>
              <a:path w="381000" h="114300">
                <a:moveTo>
                  <a:pt x="1905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381000" h="114300">
                <a:moveTo>
                  <a:pt x="317500" y="38100"/>
                </a:moveTo>
                <a:lnTo>
                  <a:pt x="209550" y="38100"/>
                </a:lnTo>
                <a:lnTo>
                  <a:pt x="209550" y="76200"/>
                </a:lnTo>
                <a:lnTo>
                  <a:pt x="317500" y="76200"/>
                </a:lnTo>
                <a:lnTo>
                  <a:pt x="381000" y="57150"/>
                </a:lnTo>
                <a:lnTo>
                  <a:pt x="3175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77770" y="2094738"/>
            <a:ext cx="448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66FFFF"/>
                </a:solidFill>
                <a:latin typeface="Times New Roman"/>
                <a:cs typeface="Times New Roman"/>
              </a:rPr>
              <a:t>top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70482" y="5912358"/>
            <a:ext cx="553720" cy="457200"/>
          </a:xfrm>
          <a:custGeom>
            <a:avLst/>
            <a:gdLst/>
            <a:ahLst/>
            <a:cxnLst/>
            <a:rect l="l" t="t" r="r" b="b"/>
            <a:pathLst>
              <a:path w="553719" h="457200">
                <a:moveTo>
                  <a:pt x="0" y="457200"/>
                </a:moveTo>
                <a:lnTo>
                  <a:pt x="553212" y="457200"/>
                </a:lnTo>
                <a:lnTo>
                  <a:pt x="553212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46326" y="6144767"/>
            <a:ext cx="1161415" cy="114300"/>
          </a:xfrm>
          <a:custGeom>
            <a:avLst/>
            <a:gdLst/>
            <a:ahLst/>
            <a:cxnLst/>
            <a:rect l="l" t="t" r="r" b="b"/>
            <a:pathLst>
              <a:path w="1161414" h="114300">
                <a:moveTo>
                  <a:pt x="1046988" y="0"/>
                </a:moveTo>
                <a:lnTo>
                  <a:pt x="1046988" y="114299"/>
                </a:lnTo>
                <a:lnTo>
                  <a:pt x="1123188" y="76199"/>
                </a:lnTo>
                <a:lnTo>
                  <a:pt x="1066038" y="76199"/>
                </a:lnTo>
                <a:lnTo>
                  <a:pt x="1066038" y="38099"/>
                </a:lnTo>
                <a:lnTo>
                  <a:pt x="1123188" y="38099"/>
                </a:lnTo>
                <a:lnTo>
                  <a:pt x="1046988" y="0"/>
                </a:lnTo>
                <a:close/>
              </a:path>
              <a:path w="1161414" h="114300">
                <a:moveTo>
                  <a:pt x="104698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046988" y="76199"/>
                </a:lnTo>
                <a:lnTo>
                  <a:pt x="1046988" y="38099"/>
                </a:lnTo>
                <a:close/>
              </a:path>
              <a:path w="1161414" h="114300">
                <a:moveTo>
                  <a:pt x="1123188" y="38099"/>
                </a:moveTo>
                <a:lnTo>
                  <a:pt x="1066038" y="38099"/>
                </a:lnTo>
                <a:lnTo>
                  <a:pt x="1066038" y="76199"/>
                </a:lnTo>
                <a:lnTo>
                  <a:pt x="1123188" y="76199"/>
                </a:lnTo>
                <a:lnTo>
                  <a:pt x="1161288" y="57149"/>
                </a:lnTo>
                <a:lnTo>
                  <a:pt x="1123188" y="38099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03425" y="4944617"/>
            <a:ext cx="553720" cy="289560"/>
          </a:xfrm>
          <a:custGeom>
            <a:avLst/>
            <a:gdLst/>
            <a:ahLst/>
            <a:cxnLst/>
            <a:rect l="l" t="t" r="r" b="b"/>
            <a:pathLst>
              <a:path w="553719" h="289560">
                <a:moveTo>
                  <a:pt x="0" y="289559"/>
                </a:moveTo>
                <a:lnTo>
                  <a:pt x="553212" y="289559"/>
                </a:lnTo>
                <a:lnTo>
                  <a:pt x="553212" y="0"/>
                </a:lnTo>
                <a:lnTo>
                  <a:pt x="0" y="0"/>
                </a:lnTo>
                <a:lnTo>
                  <a:pt x="0" y="289559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03425" y="5237226"/>
            <a:ext cx="553720" cy="291465"/>
          </a:xfrm>
          <a:custGeom>
            <a:avLst/>
            <a:gdLst/>
            <a:ahLst/>
            <a:cxnLst/>
            <a:rect l="l" t="t" r="r" b="b"/>
            <a:pathLst>
              <a:path w="553719" h="291464">
                <a:moveTo>
                  <a:pt x="0" y="291084"/>
                </a:moveTo>
                <a:lnTo>
                  <a:pt x="553212" y="291084"/>
                </a:lnTo>
                <a:lnTo>
                  <a:pt x="553212" y="0"/>
                </a:lnTo>
                <a:lnTo>
                  <a:pt x="0" y="0"/>
                </a:lnTo>
                <a:lnTo>
                  <a:pt x="0" y="29108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46326" y="5017008"/>
            <a:ext cx="1161415" cy="114300"/>
          </a:xfrm>
          <a:custGeom>
            <a:avLst/>
            <a:gdLst/>
            <a:ahLst/>
            <a:cxnLst/>
            <a:rect l="l" t="t" r="r" b="b"/>
            <a:pathLst>
              <a:path w="1161414" h="114300">
                <a:moveTo>
                  <a:pt x="1046988" y="0"/>
                </a:moveTo>
                <a:lnTo>
                  <a:pt x="1046988" y="114300"/>
                </a:lnTo>
                <a:lnTo>
                  <a:pt x="1123188" y="76200"/>
                </a:lnTo>
                <a:lnTo>
                  <a:pt x="1066038" y="76200"/>
                </a:lnTo>
                <a:lnTo>
                  <a:pt x="1066038" y="38100"/>
                </a:lnTo>
                <a:lnTo>
                  <a:pt x="1123188" y="38100"/>
                </a:lnTo>
                <a:lnTo>
                  <a:pt x="1046988" y="0"/>
                </a:lnTo>
                <a:close/>
              </a:path>
              <a:path w="1161414" h="114300">
                <a:moveTo>
                  <a:pt x="1046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6988" y="76200"/>
                </a:lnTo>
                <a:lnTo>
                  <a:pt x="1046988" y="38100"/>
                </a:lnTo>
                <a:close/>
              </a:path>
              <a:path w="1161414" h="114300">
                <a:moveTo>
                  <a:pt x="1123188" y="38100"/>
                </a:moveTo>
                <a:lnTo>
                  <a:pt x="1066038" y="38100"/>
                </a:lnTo>
                <a:lnTo>
                  <a:pt x="1066038" y="76200"/>
                </a:lnTo>
                <a:lnTo>
                  <a:pt x="1123188" y="76200"/>
                </a:lnTo>
                <a:lnTo>
                  <a:pt x="1161288" y="57150"/>
                </a:lnTo>
                <a:lnTo>
                  <a:pt x="11231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46326" y="5359146"/>
            <a:ext cx="670560" cy="0"/>
          </a:xfrm>
          <a:custGeom>
            <a:avLst/>
            <a:gdLst/>
            <a:ahLst/>
            <a:cxnLst/>
            <a:rect l="l" t="t" r="r" b="b"/>
            <a:pathLst>
              <a:path w="670560" h="0">
                <a:moveTo>
                  <a:pt x="0" y="0"/>
                </a:moveTo>
                <a:lnTo>
                  <a:pt x="670560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16885" y="5359146"/>
            <a:ext cx="0" cy="843280"/>
          </a:xfrm>
          <a:custGeom>
            <a:avLst/>
            <a:gdLst/>
            <a:ahLst/>
            <a:cxnLst/>
            <a:rect l="l" t="t" r="r" b="b"/>
            <a:pathLst>
              <a:path w="0" h="843279">
                <a:moveTo>
                  <a:pt x="0" y="0"/>
                </a:moveTo>
                <a:lnTo>
                  <a:pt x="0" y="842771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20013" y="4824222"/>
            <a:ext cx="728980" cy="1494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d[1]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00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8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  <a:spcBef>
                <a:spcPts val="221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03197" y="3434334"/>
            <a:ext cx="879475" cy="1062355"/>
          </a:xfrm>
          <a:custGeom>
            <a:avLst/>
            <a:gdLst/>
            <a:ahLst/>
            <a:cxnLst/>
            <a:rect l="l" t="t" r="r" b="b"/>
            <a:pathLst>
              <a:path w="879475" h="1062354">
                <a:moveTo>
                  <a:pt x="0" y="1062227"/>
                </a:moveTo>
                <a:lnTo>
                  <a:pt x="879347" y="1062227"/>
                </a:lnTo>
                <a:lnTo>
                  <a:pt x="879347" y="0"/>
                </a:lnTo>
                <a:lnTo>
                  <a:pt x="0" y="0"/>
                </a:lnTo>
                <a:lnTo>
                  <a:pt x="0" y="1062227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31368" y="3702557"/>
            <a:ext cx="550545" cy="79375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d[1]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03197" y="3803141"/>
            <a:ext cx="879475" cy="0"/>
          </a:xfrm>
          <a:custGeom>
            <a:avLst/>
            <a:gdLst/>
            <a:ahLst/>
            <a:cxnLst/>
            <a:rect l="l" t="t" r="r" b="b"/>
            <a:pathLst>
              <a:path w="879475" h="0">
                <a:moveTo>
                  <a:pt x="0" y="0"/>
                </a:moveTo>
                <a:lnTo>
                  <a:pt x="879347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97102" y="4174997"/>
            <a:ext cx="881380" cy="0"/>
          </a:xfrm>
          <a:custGeom>
            <a:avLst/>
            <a:gdLst/>
            <a:ahLst/>
            <a:cxnLst/>
            <a:rect l="l" t="t" r="r" b="b"/>
            <a:pathLst>
              <a:path w="881380" h="0">
                <a:moveTo>
                  <a:pt x="0" y="0"/>
                </a:moveTo>
                <a:lnTo>
                  <a:pt x="880872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648205" y="3594353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 h="0">
                <a:moveTo>
                  <a:pt x="0" y="0"/>
                </a:moveTo>
                <a:lnTo>
                  <a:pt x="960119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08326" y="3594353"/>
            <a:ext cx="0" cy="791210"/>
          </a:xfrm>
          <a:custGeom>
            <a:avLst/>
            <a:gdLst/>
            <a:ahLst/>
            <a:cxnLst/>
            <a:rect l="l" t="t" r="r" b="b"/>
            <a:pathLst>
              <a:path w="0" h="791210">
                <a:moveTo>
                  <a:pt x="0" y="0"/>
                </a:moveTo>
                <a:lnTo>
                  <a:pt x="0" y="790956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608326" y="4347971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266700" y="0"/>
                </a:moveTo>
                <a:lnTo>
                  <a:pt x="266700" y="114300"/>
                </a:lnTo>
                <a:lnTo>
                  <a:pt x="342900" y="76200"/>
                </a:lnTo>
                <a:lnTo>
                  <a:pt x="285750" y="76200"/>
                </a:lnTo>
                <a:lnTo>
                  <a:pt x="285750" y="38100"/>
                </a:lnTo>
                <a:lnTo>
                  <a:pt x="342900" y="38100"/>
                </a:lnTo>
                <a:lnTo>
                  <a:pt x="266700" y="0"/>
                </a:lnTo>
                <a:close/>
              </a:path>
              <a:path w="381000" h="114300">
                <a:moveTo>
                  <a:pt x="266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66700" y="76200"/>
                </a:lnTo>
                <a:lnTo>
                  <a:pt x="266700" y="38100"/>
                </a:lnTo>
                <a:close/>
              </a:path>
              <a:path w="381000" h="114300">
                <a:moveTo>
                  <a:pt x="342900" y="38100"/>
                </a:moveTo>
                <a:lnTo>
                  <a:pt x="285750" y="38100"/>
                </a:lnTo>
                <a:lnTo>
                  <a:pt x="285750" y="76200"/>
                </a:lnTo>
                <a:lnTo>
                  <a:pt x="342900" y="76200"/>
                </a:lnTo>
                <a:lnTo>
                  <a:pt x="381000" y="57150"/>
                </a:lnTo>
                <a:lnTo>
                  <a:pt x="342900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846326" y="3957065"/>
            <a:ext cx="553720" cy="0"/>
          </a:xfrm>
          <a:custGeom>
            <a:avLst/>
            <a:gdLst/>
            <a:ahLst/>
            <a:cxnLst/>
            <a:rect l="l" t="t" r="r" b="b"/>
            <a:pathLst>
              <a:path w="553719" h="0">
                <a:moveTo>
                  <a:pt x="0" y="0"/>
                </a:moveTo>
                <a:lnTo>
                  <a:pt x="553212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99538" y="3957065"/>
            <a:ext cx="0" cy="1117600"/>
          </a:xfrm>
          <a:custGeom>
            <a:avLst/>
            <a:gdLst/>
            <a:ahLst/>
            <a:cxnLst/>
            <a:rect l="l" t="t" r="r" b="b"/>
            <a:pathLst>
              <a:path w="0" h="1117600">
                <a:moveTo>
                  <a:pt x="0" y="0"/>
                </a:moveTo>
                <a:lnTo>
                  <a:pt x="0" y="1117091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99538" y="4995671"/>
            <a:ext cx="589915" cy="114300"/>
          </a:xfrm>
          <a:custGeom>
            <a:avLst/>
            <a:gdLst/>
            <a:ahLst/>
            <a:cxnLst/>
            <a:rect l="l" t="t" r="r" b="b"/>
            <a:pathLst>
              <a:path w="589914" h="114300">
                <a:moveTo>
                  <a:pt x="475488" y="0"/>
                </a:moveTo>
                <a:lnTo>
                  <a:pt x="475488" y="114300"/>
                </a:lnTo>
                <a:lnTo>
                  <a:pt x="551688" y="76200"/>
                </a:lnTo>
                <a:lnTo>
                  <a:pt x="494538" y="76200"/>
                </a:lnTo>
                <a:lnTo>
                  <a:pt x="494538" y="38100"/>
                </a:lnTo>
                <a:lnTo>
                  <a:pt x="551688" y="38100"/>
                </a:lnTo>
                <a:lnTo>
                  <a:pt x="475488" y="0"/>
                </a:lnTo>
                <a:close/>
              </a:path>
              <a:path w="589914" h="114300">
                <a:moveTo>
                  <a:pt x="4754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75488" y="76200"/>
                </a:lnTo>
                <a:lnTo>
                  <a:pt x="475488" y="38100"/>
                </a:lnTo>
                <a:close/>
              </a:path>
              <a:path w="589914" h="114300">
                <a:moveTo>
                  <a:pt x="551688" y="38100"/>
                </a:moveTo>
                <a:lnTo>
                  <a:pt x="494538" y="38100"/>
                </a:lnTo>
                <a:lnTo>
                  <a:pt x="494538" y="76200"/>
                </a:lnTo>
                <a:lnTo>
                  <a:pt x="551688" y="76200"/>
                </a:lnTo>
                <a:lnTo>
                  <a:pt x="589788" y="57150"/>
                </a:lnTo>
                <a:lnTo>
                  <a:pt x="551688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13738" y="4348734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4" h="0">
                <a:moveTo>
                  <a:pt x="0" y="0"/>
                </a:moveTo>
                <a:lnTo>
                  <a:pt x="551688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265426" y="4348734"/>
            <a:ext cx="0" cy="1861185"/>
          </a:xfrm>
          <a:custGeom>
            <a:avLst/>
            <a:gdLst/>
            <a:ahLst/>
            <a:cxnLst/>
            <a:rect l="l" t="t" r="r" b="b"/>
            <a:pathLst>
              <a:path w="0" h="1861185">
                <a:moveTo>
                  <a:pt x="0" y="0"/>
                </a:moveTo>
                <a:lnTo>
                  <a:pt x="0" y="186080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265426" y="6144767"/>
            <a:ext cx="723900" cy="114300"/>
          </a:xfrm>
          <a:custGeom>
            <a:avLst/>
            <a:gdLst/>
            <a:ahLst/>
            <a:cxnLst/>
            <a:rect l="l" t="t" r="r" b="b"/>
            <a:pathLst>
              <a:path w="723900" h="114300">
                <a:moveTo>
                  <a:pt x="609600" y="0"/>
                </a:moveTo>
                <a:lnTo>
                  <a:pt x="609600" y="114299"/>
                </a:lnTo>
                <a:lnTo>
                  <a:pt x="685800" y="76199"/>
                </a:lnTo>
                <a:lnTo>
                  <a:pt x="628650" y="76199"/>
                </a:lnTo>
                <a:lnTo>
                  <a:pt x="628650" y="38099"/>
                </a:lnTo>
                <a:lnTo>
                  <a:pt x="685800" y="38099"/>
                </a:lnTo>
                <a:lnTo>
                  <a:pt x="609600" y="0"/>
                </a:lnTo>
                <a:close/>
              </a:path>
              <a:path w="723900" h="114300">
                <a:moveTo>
                  <a:pt x="6096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609600" y="76199"/>
                </a:lnTo>
                <a:lnTo>
                  <a:pt x="609600" y="38099"/>
                </a:lnTo>
                <a:close/>
              </a:path>
              <a:path w="723900" h="114300">
                <a:moveTo>
                  <a:pt x="685800" y="38099"/>
                </a:moveTo>
                <a:lnTo>
                  <a:pt x="628650" y="38099"/>
                </a:lnTo>
                <a:lnTo>
                  <a:pt x="628650" y="76199"/>
                </a:lnTo>
                <a:lnTo>
                  <a:pt x="685800" y="76199"/>
                </a:lnTo>
                <a:lnTo>
                  <a:pt x="723900" y="57149"/>
                </a:lnTo>
                <a:lnTo>
                  <a:pt x="685800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2970276" y="1862327"/>
          <a:ext cx="2520315" cy="4366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9990"/>
              </a:tblGrid>
              <a:tr h="643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9997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4445">
                    <a:lnL w="38100">
                      <a:solidFill>
                        <a:srgbClr val="FFFF00"/>
                      </a:solidFill>
                      <a:prstDash val="solid"/>
                    </a:lnL>
                    <a:lnR w="53975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653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的活动记录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12509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  <a:tr h="1135380">
                <a:tc>
                  <a:txBody>
                    <a:bodyPr/>
                    <a:lstStyle/>
                    <a:p>
                      <a:pPr marL="873125" marR="152400" indent="-713740">
                        <a:lnSpc>
                          <a:spcPts val="3210"/>
                        </a:lnSpc>
                        <a:spcBef>
                          <a:spcPts val="595"/>
                        </a:spcBef>
                      </a:pPr>
                      <a:r>
                        <a:rPr dirty="0" sz="2800" spc="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主程序的活动 </a:t>
                      </a:r>
                      <a:r>
                        <a:rPr dirty="0" sz="28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记录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75565">
                    <a:lnL w="38100">
                      <a:solidFill>
                        <a:srgbClr val="FFFF00"/>
                      </a:solidFill>
                      <a:prstDash val="solid"/>
                    </a:lnL>
                    <a:lnR w="38100">
                      <a:solidFill>
                        <a:srgbClr val="FFFF00"/>
                      </a:solidFill>
                      <a:prstDash val="solid"/>
                    </a:lnR>
                    <a:lnT w="38100">
                      <a:solidFill>
                        <a:srgbClr val="FFFF00"/>
                      </a:solidFill>
                      <a:prstDash val="solid"/>
                    </a:lnT>
                    <a:lnB w="38100">
                      <a:solidFill>
                        <a:srgbClr val="FFFF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4" name="object 44"/>
          <p:cNvSpPr/>
          <p:nvPr/>
        </p:nvSpPr>
        <p:spPr>
          <a:xfrm>
            <a:off x="1648205" y="2600705"/>
            <a:ext cx="553720" cy="228600"/>
          </a:xfrm>
          <a:custGeom>
            <a:avLst/>
            <a:gdLst/>
            <a:ahLst/>
            <a:cxnLst/>
            <a:rect l="l" t="t" r="r" b="b"/>
            <a:pathLst>
              <a:path w="553719" h="228600">
                <a:moveTo>
                  <a:pt x="0" y="228600"/>
                </a:moveTo>
                <a:lnTo>
                  <a:pt x="553212" y="228600"/>
                </a:lnTo>
                <a:lnTo>
                  <a:pt x="553212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48205" y="2843022"/>
            <a:ext cx="553720" cy="228600"/>
          </a:xfrm>
          <a:custGeom>
            <a:avLst/>
            <a:gdLst/>
            <a:ahLst/>
            <a:cxnLst/>
            <a:rect l="l" t="t" r="r" b="b"/>
            <a:pathLst>
              <a:path w="553719" h="228600">
                <a:moveTo>
                  <a:pt x="0" y="228600"/>
                </a:moveTo>
                <a:lnTo>
                  <a:pt x="553212" y="228600"/>
                </a:lnTo>
                <a:lnTo>
                  <a:pt x="553212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31368" y="2421763"/>
            <a:ext cx="1126490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8010">
              <a:lnSpc>
                <a:spcPts val="2655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d[1]</a:t>
            </a:r>
            <a:endParaRPr sz="2400">
              <a:latin typeface="Times New Roman"/>
              <a:cs typeface="Times New Roman"/>
            </a:endParaRPr>
          </a:p>
          <a:p>
            <a:pPr marL="523240">
              <a:lnSpc>
                <a:spcPts val="2655"/>
              </a:lnSpc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d[0]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d[2]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056638" y="2707385"/>
            <a:ext cx="626745" cy="0"/>
          </a:xfrm>
          <a:custGeom>
            <a:avLst/>
            <a:gdLst/>
            <a:ahLst/>
            <a:cxnLst/>
            <a:rect l="l" t="t" r="r" b="b"/>
            <a:pathLst>
              <a:path w="626744" h="0">
                <a:moveTo>
                  <a:pt x="0" y="0"/>
                </a:moveTo>
                <a:lnTo>
                  <a:pt x="626363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683001" y="2707385"/>
            <a:ext cx="0" cy="713740"/>
          </a:xfrm>
          <a:custGeom>
            <a:avLst/>
            <a:gdLst/>
            <a:ahLst/>
            <a:cxnLst/>
            <a:rect l="l" t="t" r="r" b="b"/>
            <a:pathLst>
              <a:path w="0" h="713739">
                <a:moveTo>
                  <a:pt x="0" y="0"/>
                </a:moveTo>
                <a:lnTo>
                  <a:pt x="0" y="713231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683001" y="3332988"/>
            <a:ext cx="306705" cy="114300"/>
          </a:xfrm>
          <a:custGeom>
            <a:avLst/>
            <a:gdLst/>
            <a:ahLst/>
            <a:cxnLst/>
            <a:rect l="l" t="t" r="r" b="b"/>
            <a:pathLst>
              <a:path w="306705" h="114300">
                <a:moveTo>
                  <a:pt x="192024" y="0"/>
                </a:moveTo>
                <a:lnTo>
                  <a:pt x="192024" y="114300"/>
                </a:lnTo>
                <a:lnTo>
                  <a:pt x="268224" y="76200"/>
                </a:lnTo>
                <a:lnTo>
                  <a:pt x="211074" y="76200"/>
                </a:lnTo>
                <a:lnTo>
                  <a:pt x="211074" y="38100"/>
                </a:lnTo>
                <a:lnTo>
                  <a:pt x="268224" y="38100"/>
                </a:lnTo>
                <a:lnTo>
                  <a:pt x="192024" y="0"/>
                </a:lnTo>
                <a:close/>
              </a:path>
              <a:path w="306705" h="114300">
                <a:moveTo>
                  <a:pt x="19202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92024" y="76200"/>
                </a:lnTo>
                <a:lnTo>
                  <a:pt x="192024" y="38100"/>
                </a:lnTo>
                <a:close/>
              </a:path>
              <a:path w="306705" h="114300">
                <a:moveTo>
                  <a:pt x="268224" y="38100"/>
                </a:moveTo>
                <a:lnTo>
                  <a:pt x="211074" y="38100"/>
                </a:lnTo>
                <a:lnTo>
                  <a:pt x="211074" y="76200"/>
                </a:lnTo>
                <a:lnTo>
                  <a:pt x="268224" y="76200"/>
                </a:lnTo>
                <a:lnTo>
                  <a:pt x="306324" y="57150"/>
                </a:lnTo>
                <a:lnTo>
                  <a:pt x="268224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573273" y="2943605"/>
            <a:ext cx="0" cy="3266440"/>
          </a:xfrm>
          <a:custGeom>
            <a:avLst/>
            <a:gdLst/>
            <a:ahLst/>
            <a:cxnLst/>
            <a:rect l="l" t="t" r="r" b="b"/>
            <a:pathLst>
              <a:path w="0" h="3266440">
                <a:moveTo>
                  <a:pt x="0" y="0"/>
                </a:moveTo>
                <a:lnTo>
                  <a:pt x="0" y="326593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056638" y="2943605"/>
            <a:ext cx="516890" cy="0"/>
          </a:xfrm>
          <a:custGeom>
            <a:avLst/>
            <a:gdLst/>
            <a:ahLst/>
            <a:cxnLst/>
            <a:rect l="l" t="t" r="r" b="b"/>
            <a:pathLst>
              <a:path w="516889" h="0">
                <a:moveTo>
                  <a:pt x="0" y="0"/>
                </a:moveTo>
                <a:lnTo>
                  <a:pt x="516636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39724" y="1360932"/>
            <a:ext cx="4406265" cy="50800"/>
          </a:xfrm>
          <a:custGeom>
            <a:avLst/>
            <a:gdLst/>
            <a:ahLst/>
            <a:cxnLst/>
            <a:rect l="l" t="t" r="r" b="b"/>
            <a:pathLst>
              <a:path w="4406265" h="50800">
                <a:moveTo>
                  <a:pt x="0" y="50291"/>
                </a:moveTo>
                <a:lnTo>
                  <a:pt x="4405884" y="0"/>
                </a:lnTo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7349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6857996"/>
                </a:moveTo>
                <a:lnTo>
                  <a:pt x="0" y="0"/>
                </a:lnTo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0758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6"/>
                </a:lnTo>
              </a:path>
            </a:pathLst>
          </a:custGeom>
          <a:ln w="38100">
            <a:solidFill>
              <a:srgbClr val="99FF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98009" y="0"/>
            <a:ext cx="4348480" cy="68764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74320" marR="571500" indent="-262255">
              <a:lnSpc>
                <a:spcPct val="85000"/>
              </a:lnSpc>
              <a:spcBef>
                <a:spcPts val="480"/>
              </a:spcBef>
            </a:pPr>
            <a:r>
              <a:rPr dirty="0" sz="2100" spc="-5" b="1">
                <a:solidFill>
                  <a:srgbClr val="FFFFFF"/>
                </a:solidFill>
                <a:latin typeface="Times New Roman"/>
                <a:cs typeface="Times New Roman"/>
              </a:rPr>
              <a:t>PROGRAM closureEx</a:t>
            </a:r>
            <a:r>
              <a:rPr dirty="0" sz="21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100" spc="-5" b="1">
                <a:solidFill>
                  <a:srgbClr val="FFFFFF"/>
                </a:solidFill>
                <a:latin typeface="Times New Roman"/>
                <a:cs typeface="Times New Roman"/>
              </a:rPr>
              <a:t>(Output);  </a:t>
            </a:r>
            <a:r>
              <a:rPr dirty="0" sz="2100" spc="-95" b="1">
                <a:solidFill>
                  <a:srgbClr val="FFFFFF"/>
                </a:solidFill>
                <a:latin typeface="Times New Roman"/>
                <a:cs typeface="Times New Roman"/>
              </a:rPr>
              <a:t>VAR </a:t>
            </a:r>
            <a:r>
              <a:rPr dirty="0" sz="2100" spc="-5" b="1">
                <a:solidFill>
                  <a:srgbClr val="FFFFFF"/>
                </a:solidFill>
                <a:latin typeface="Times New Roman"/>
                <a:cs typeface="Times New Roman"/>
              </a:rPr>
              <a:t>x:Integer;  </a:t>
            </a:r>
            <a:r>
              <a:rPr dirty="0" sz="2100" spc="-5" b="1">
                <a:solidFill>
                  <a:srgbClr val="FFFF00"/>
                </a:solidFill>
                <a:latin typeface="Times New Roman"/>
                <a:cs typeface="Times New Roman"/>
              </a:rPr>
              <a:t>PROCEDURE </a:t>
            </a:r>
            <a:r>
              <a:rPr dirty="0" sz="2100" b="1">
                <a:solidFill>
                  <a:srgbClr val="FFFF00"/>
                </a:solidFill>
                <a:latin typeface="Times New Roman"/>
                <a:cs typeface="Times New Roman"/>
              </a:rPr>
              <a:t>one;</a:t>
            </a:r>
            <a:endParaRPr sz="2100">
              <a:latin typeface="Times New Roman"/>
              <a:cs typeface="Times New Roman"/>
            </a:endParaRPr>
          </a:p>
          <a:p>
            <a:pPr marL="279400">
              <a:lnSpc>
                <a:spcPts val="1950"/>
              </a:lnSpc>
            </a:pPr>
            <a:r>
              <a:rPr dirty="0" sz="2100" spc="-5" b="1">
                <a:solidFill>
                  <a:srgbClr val="FFFF00"/>
                </a:solidFill>
                <a:latin typeface="Times New Roman"/>
                <a:cs typeface="Times New Roman"/>
              </a:rPr>
              <a:t>BEGIN</a:t>
            </a:r>
            <a:endParaRPr sz="2100">
              <a:latin typeface="Times New Roman"/>
              <a:cs typeface="Times New Roman"/>
            </a:endParaRPr>
          </a:p>
          <a:p>
            <a:pPr marL="474345">
              <a:lnSpc>
                <a:spcPts val="2140"/>
              </a:lnSpc>
            </a:pPr>
            <a:r>
              <a:rPr dirty="0" sz="2100" spc="-5" b="1">
                <a:solidFill>
                  <a:srgbClr val="FFFF00"/>
                </a:solidFill>
                <a:latin typeface="Times New Roman"/>
                <a:cs typeface="Times New Roman"/>
              </a:rPr>
              <a:t>Writeln(x);</a:t>
            </a:r>
            <a:endParaRPr sz="2100">
              <a:latin typeface="Times New Roman"/>
              <a:cs typeface="Times New Roman"/>
            </a:endParaRPr>
          </a:p>
          <a:p>
            <a:pPr marL="279400">
              <a:lnSpc>
                <a:spcPts val="2145"/>
              </a:lnSpc>
            </a:pPr>
            <a:r>
              <a:rPr dirty="0" sz="2100" spc="-5" b="1">
                <a:solidFill>
                  <a:srgbClr val="FFFF00"/>
                </a:solidFill>
                <a:latin typeface="Times New Roman"/>
                <a:cs typeface="Times New Roman"/>
              </a:rPr>
              <a:t>END</a:t>
            </a:r>
            <a:r>
              <a:rPr dirty="0" sz="2100" spc="-5" b="1">
                <a:solidFill>
                  <a:srgbClr val="FFFFFF"/>
                </a:solidFill>
                <a:latin typeface="Times New Roman"/>
                <a:cs typeface="Times New Roman"/>
              </a:rPr>
              <a:t>;</a:t>
            </a:r>
            <a:endParaRPr sz="2100">
              <a:latin typeface="Times New Roman"/>
              <a:cs typeface="Times New Roman"/>
            </a:endParaRPr>
          </a:p>
          <a:p>
            <a:pPr marL="279400" marR="5080">
              <a:lnSpc>
                <a:spcPts val="2140"/>
              </a:lnSpc>
              <a:spcBef>
                <a:spcPts val="200"/>
              </a:spcBef>
            </a:pPr>
            <a:r>
              <a:rPr dirty="0" sz="2100" spc="-5" b="1">
                <a:solidFill>
                  <a:srgbClr val="66FFFF"/>
                </a:solidFill>
                <a:latin typeface="Times New Roman"/>
                <a:cs typeface="Times New Roman"/>
              </a:rPr>
              <a:t>PROCEDURE p(PROCEDURE</a:t>
            </a:r>
            <a:r>
              <a:rPr dirty="0" sz="2100" spc="-3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66FFFF"/>
                </a:solidFill>
                <a:latin typeface="Times New Roman"/>
                <a:cs typeface="Times New Roman"/>
              </a:rPr>
              <a:t>a);  </a:t>
            </a:r>
            <a:r>
              <a:rPr dirty="0" sz="2100" spc="-5" b="1">
                <a:solidFill>
                  <a:srgbClr val="66FFFF"/>
                </a:solidFill>
                <a:latin typeface="Times New Roman"/>
                <a:cs typeface="Times New Roman"/>
              </a:rPr>
              <a:t>BEGIN</a:t>
            </a:r>
            <a:endParaRPr sz="2100">
              <a:latin typeface="Times New Roman"/>
              <a:cs typeface="Times New Roman"/>
            </a:endParaRPr>
          </a:p>
          <a:p>
            <a:pPr marL="279400" marR="3409315" indent="132080">
              <a:lnSpc>
                <a:spcPts val="2140"/>
              </a:lnSpc>
              <a:spcBef>
                <a:spcPts val="5"/>
              </a:spcBef>
            </a:pPr>
            <a:r>
              <a:rPr dirty="0" sz="2100" spc="5" b="1">
                <a:solidFill>
                  <a:srgbClr val="66FFFF"/>
                </a:solidFill>
                <a:latin typeface="Times New Roman"/>
                <a:cs typeface="Times New Roman"/>
              </a:rPr>
              <a:t>a;  </a:t>
            </a:r>
            <a:r>
              <a:rPr dirty="0" sz="2100" spc="-5" b="1">
                <a:solidFill>
                  <a:srgbClr val="66FFFF"/>
                </a:solidFill>
                <a:latin typeface="Times New Roman"/>
                <a:cs typeface="Times New Roman"/>
              </a:rPr>
              <a:t>END;</a:t>
            </a:r>
            <a:endParaRPr sz="2100">
              <a:latin typeface="Times New Roman"/>
              <a:cs typeface="Times New Roman"/>
            </a:endParaRPr>
          </a:p>
          <a:p>
            <a:pPr marL="279400">
              <a:lnSpc>
                <a:spcPts val="1945"/>
              </a:lnSpc>
            </a:pPr>
            <a:r>
              <a:rPr dirty="0" sz="2100" spc="-5" b="1">
                <a:solidFill>
                  <a:srgbClr val="FFD4D4"/>
                </a:solidFill>
                <a:latin typeface="Times New Roman"/>
                <a:cs typeface="Times New Roman"/>
              </a:rPr>
              <a:t>PROCEDURE q;</a:t>
            </a:r>
            <a:endParaRPr sz="2100">
              <a:latin typeface="Times New Roman"/>
              <a:cs typeface="Times New Roman"/>
            </a:endParaRPr>
          </a:p>
          <a:p>
            <a:pPr marL="611505" marR="1470660" indent="-337185">
              <a:lnSpc>
                <a:spcPct val="85000"/>
              </a:lnSpc>
              <a:spcBef>
                <a:spcPts val="185"/>
              </a:spcBef>
            </a:pPr>
            <a:r>
              <a:rPr dirty="0" sz="2100" spc="-95" b="1">
                <a:solidFill>
                  <a:srgbClr val="FFD4D4"/>
                </a:solidFill>
                <a:latin typeface="Times New Roman"/>
                <a:cs typeface="Times New Roman"/>
              </a:rPr>
              <a:t>VAR </a:t>
            </a:r>
            <a:r>
              <a:rPr dirty="0" sz="2100" spc="-5" b="1">
                <a:solidFill>
                  <a:srgbClr val="FFD4D4"/>
                </a:solidFill>
                <a:latin typeface="Times New Roman"/>
                <a:cs typeface="Times New Roman"/>
              </a:rPr>
              <a:t>x:Integer;  </a:t>
            </a:r>
            <a:r>
              <a:rPr dirty="0" sz="2100" spc="-5" b="1">
                <a:solidFill>
                  <a:srgbClr val="FFFF99"/>
                </a:solidFill>
                <a:latin typeface="Times New Roman"/>
                <a:cs typeface="Times New Roman"/>
              </a:rPr>
              <a:t>PROCEDURE</a:t>
            </a:r>
            <a:r>
              <a:rPr dirty="0" sz="2100" spc="-50" b="1">
                <a:solidFill>
                  <a:srgbClr val="FFFF99"/>
                </a:solidFill>
                <a:latin typeface="Times New Roman"/>
                <a:cs typeface="Times New Roman"/>
              </a:rPr>
              <a:t> </a:t>
            </a:r>
            <a:r>
              <a:rPr dirty="0" sz="2100" spc="-5" b="1">
                <a:solidFill>
                  <a:srgbClr val="FFFF99"/>
                </a:solidFill>
                <a:latin typeface="Times New Roman"/>
                <a:cs typeface="Times New Roman"/>
              </a:rPr>
              <a:t>two;  BEGIN</a:t>
            </a:r>
            <a:endParaRPr sz="2100">
              <a:latin typeface="Times New Roman"/>
              <a:cs typeface="Times New Roman"/>
            </a:endParaRPr>
          </a:p>
          <a:p>
            <a:pPr marL="807720">
              <a:lnSpc>
                <a:spcPts val="1955"/>
              </a:lnSpc>
            </a:pPr>
            <a:r>
              <a:rPr dirty="0" sz="2100" spc="-5" b="1">
                <a:solidFill>
                  <a:srgbClr val="FFFF99"/>
                </a:solidFill>
                <a:latin typeface="Times New Roman"/>
                <a:cs typeface="Times New Roman"/>
              </a:rPr>
              <a:t>Writeln(x);</a:t>
            </a:r>
            <a:endParaRPr sz="2100">
              <a:latin typeface="Times New Roman"/>
              <a:cs typeface="Times New Roman"/>
            </a:endParaRPr>
          </a:p>
          <a:p>
            <a:pPr marL="279400" marR="3076575" indent="332105">
              <a:lnSpc>
                <a:spcPct val="85000"/>
              </a:lnSpc>
              <a:spcBef>
                <a:spcPts val="190"/>
              </a:spcBef>
            </a:pPr>
            <a:r>
              <a:rPr dirty="0" sz="2100" spc="-5" b="1">
                <a:solidFill>
                  <a:srgbClr val="FFFF99"/>
                </a:solidFill>
                <a:latin typeface="Times New Roman"/>
                <a:cs typeface="Times New Roman"/>
              </a:rPr>
              <a:t>END;  </a:t>
            </a:r>
            <a:r>
              <a:rPr dirty="0" sz="2100" spc="-5" b="1">
                <a:solidFill>
                  <a:srgbClr val="FFD4D4"/>
                </a:solidFill>
                <a:latin typeface="Times New Roman"/>
                <a:cs typeface="Times New Roman"/>
              </a:rPr>
              <a:t>BEGIN  </a:t>
            </a:r>
            <a:r>
              <a:rPr dirty="0" sz="2100" b="1">
                <a:solidFill>
                  <a:srgbClr val="FFD4D4"/>
                </a:solidFill>
                <a:latin typeface="Times New Roman"/>
                <a:cs typeface="Times New Roman"/>
              </a:rPr>
              <a:t>x : =</a:t>
            </a:r>
            <a:r>
              <a:rPr dirty="0" sz="2100" spc="-50" b="1">
                <a:solidFill>
                  <a:srgbClr val="FFD4D4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FFD4D4"/>
                </a:solidFill>
                <a:latin typeface="Times New Roman"/>
                <a:cs typeface="Times New Roman"/>
              </a:rPr>
              <a:t>2;</a:t>
            </a:r>
            <a:endParaRPr sz="2100">
              <a:latin typeface="Times New Roman"/>
              <a:cs typeface="Times New Roman"/>
            </a:endParaRPr>
          </a:p>
          <a:p>
            <a:pPr marL="411480">
              <a:lnSpc>
                <a:spcPts val="1955"/>
              </a:lnSpc>
            </a:pPr>
            <a:r>
              <a:rPr dirty="0" sz="2100" spc="-5" b="1">
                <a:solidFill>
                  <a:srgbClr val="FFD4D4"/>
                </a:solidFill>
                <a:latin typeface="Times New Roman"/>
                <a:cs typeface="Times New Roman"/>
              </a:rPr>
              <a:t>p</a:t>
            </a:r>
            <a:r>
              <a:rPr dirty="0" sz="2100" spc="-100" b="1">
                <a:solidFill>
                  <a:srgbClr val="FFD4D4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FFD4D4"/>
                </a:solidFill>
                <a:latin typeface="Times New Roman"/>
                <a:cs typeface="Times New Roman"/>
              </a:rPr>
              <a:t>(one);</a:t>
            </a:r>
            <a:endParaRPr sz="2100">
              <a:latin typeface="Times New Roman"/>
              <a:cs typeface="Times New Roman"/>
            </a:endParaRPr>
          </a:p>
          <a:p>
            <a:pPr marL="411480">
              <a:lnSpc>
                <a:spcPts val="2145"/>
              </a:lnSpc>
            </a:pPr>
            <a:r>
              <a:rPr dirty="0" sz="2100" b="1">
                <a:solidFill>
                  <a:srgbClr val="FFD4D4"/>
                </a:solidFill>
                <a:latin typeface="Times New Roman"/>
                <a:cs typeface="Times New Roman"/>
              </a:rPr>
              <a:t>p</a:t>
            </a:r>
            <a:r>
              <a:rPr dirty="0" sz="2100" spc="-90" b="1">
                <a:solidFill>
                  <a:srgbClr val="FFD4D4"/>
                </a:solidFill>
                <a:latin typeface="Times New Roman"/>
                <a:cs typeface="Times New Roman"/>
              </a:rPr>
              <a:t> </a:t>
            </a:r>
            <a:r>
              <a:rPr dirty="0" sz="2100" spc="-5" b="1">
                <a:solidFill>
                  <a:srgbClr val="FFD4D4"/>
                </a:solidFill>
                <a:latin typeface="Times New Roman"/>
                <a:cs typeface="Times New Roman"/>
              </a:rPr>
              <a:t>(two);</a:t>
            </a:r>
            <a:endParaRPr sz="2100">
              <a:latin typeface="Times New Roman"/>
              <a:cs typeface="Times New Roman"/>
            </a:endParaRPr>
          </a:p>
          <a:p>
            <a:pPr marL="279400" marR="1914525">
              <a:lnSpc>
                <a:spcPct val="85000"/>
              </a:lnSpc>
              <a:spcBef>
                <a:spcPts val="195"/>
              </a:spcBef>
              <a:tabLst>
                <a:tab pos="1062990" algn="l"/>
                <a:tab pos="1270635" algn="l"/>
              </a:tabLst>
            </a:pPr>
            <a:r>
              <a:rPr dirty="0" sz="2100" spc="-5" b="1">
                <a:solidFill>
                  <a:srgbClr val="FFD4D4"/>
                </a:solidFill>
                <a:latin typeface="Times New Roman"/>
                <a:cs typeface="Times New Roman"/>
              </a:rPr>
              <a:t>END;	(* q </a:t>
            </a:r>
            <a:r>
              <a:rPr dirty="0" sz="2100" b="1">
                <a:solidFill>
                  <a:srgbClr val="FFD4D4"/>
                </a:solidFill>
                <a:latin typeface="Times New Roman"/>
                <a:cs typeface="Times New Roman"/>
              </a:rPr>
              <a:t>*)  </a:t>
            </a:r>
            <a:r>
              <a:rPr dirty="0" sz="2100" spc="-5" b="1">
                <a:solidFill>
                  <a:srgbClr val="FFFFFF"/>
                </a:solidFill>
                <a:latin typeface="Times New Roman"/>
                <a:cs typeface="Times New Roman"/>
              </a:rPr>
              <a:t>BEGIN	</a:t>
            </a:r>
            <a:r>
              <a:rPr dirty="0" sz="2100" b="1">
                <a:solidFill>
                  <a:srgbClr val="FFFFFF"/>
                </a:solidFill>
                <a:latin typeface="Times New Roman"/>
                <a:cs typeface="Times New Roman"/>
              </a:rPr>
              <a:t>(* main</a:t>
            </a:r>
            <a:r>
              <a:rPr dirty="0" sz="2100" spc="-1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FFFFFF"/>
                </a:solidFill>
                <a:latin typeface="Times New Roman"/>
                <a:cs typeface="Times New Roman"/>
              </a:rPr>
              <a:t>*)  x : =</a:t>
            </a:r>
            <a:r>
              <a:rPr dirty="0" sz="21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FFFFFF"/>
                </a:solidFill>
                <a:latin typeface="Times New Roman"/>
                <a:cs typeface="Times New Roman"/>
              </a:rPr>
              <a:t>1;</a:t>
            </a:r>
            <a:endParaRPr sz="2100">
              <a:latin typeface="Times New Roman"/>
              <a:cs typeface="Times New Roman"/>
            </a:endParaRPr>
          </a:p>
          <a:p>
            <a:pPr marL="411480">
              <a:lnSpc>
                <a:spcPts val="1950"/>
              </a:lnSpc>
            </a:pPr>
            <a:r>
              <a:rPr dirty="0" sz="2100" spc="-10" b="1">
                <a:solidFill>
                  <a:srgbClr val="FFFFFF"/>
                </a:solidFill>
                <a:latin typeface="Times New Roman"/>
                <a:cs typeface="Times New Roman"/>
              </a:rPr>
              <a:t>q;</a:t>
            </a:r>
            <a:endParaRPr sz="2100">
              <a:latin typeface="Times New Roman"/>
              <a:cs typeface="Times New Roman"/>
            </a:endParaRPr>
          </a:p>
          <a:p>
            <a:pPr marL="279400">
              <a:lnSpc>
                <a:spcPts val="2335"/>
              </a:lnSpc>
            </a:pPr>
            <a:r>
              <a:rPr dirty="0" sz="2100" spc="-5" b="1">
                <a:solidFill>
                  <a:srgbClr val="FFFFFF"/>
                </a:solidFill>
                <a:latin typeface="Times New Roman"/>
                <a:cs typeface="Times New Roman"/>
              </a:rPr>
              <a:t>END.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037" y="3019805"/>
            <a:ext cx="746760" cy="3839210"/>
          </a:xfrm>
          <a:custGeom>
            <a:avLst/>
            <a:gdLst/>
            <a:ahLst/>
            <a:cxnLst/>
            <a:rect l="l" t="t" r="r" b="b"/>
            <a:pathLst>
              <a:path w="746760" h="3839209">
                <a:moveTo>
                  <a:pt x="746760" y="3838955"/>
                </a:moveTo>
                <a:lnTo>
                  <a:pt x="678790" y="3837722"/>
                </a:lnTo>
                <a:lnTo>
                  <a:pt x="612530" y="3834095"/>
                </a:lnTo>
                <a:lnTo>
                  <a:pt x="548243" y="3828180"/>
                </a:lnTo>
                <a:lnTo>
                  <a:pt x="486193" y="3820083"/>
                </a:lnTo>
                <a:lnTo>
                  <a:pt x="426643" y="3809911"/>
                </a:lnTo>
                <a:lnTo>
                  <a:pt x="369857" y="3797771"/>
                </a:lnTo>
                <a:lnTo>
                  <a:pt x="316100" y="3783769"/>
                </a:lnTo>
                <a:lnTo>
                  <a:pt x="265633" y="3768011"/>
                </a:lnTo>
                <a:lnTo>
                  <a:pt x="218722" y="3750604"/>
                </a:lnTo>
                <a:lnTo>
                  <a:pt x="175630" y="3731655"/>
                </a:lnTo>
                <a:lnTo>
                  <a:pt x="136619" y="3711269"/>
                </a:lnTo>
                <a:lnTo>
                  <a:pt x="101955" y="3689554"/>
                </a:lnTo>
                <a:lnTo>
                  <a:pt x="46719" y="3642561"/>
                </a:lnTo>
                <a:lnTo>
                  <a:pt x="12031" y="3591528"/>
                </a:lnTo>
                <a:lnTo>
                  <a:pt x="0" y="3537305"/>
                </a:lnTo>
                <a:lnTo>
                  <a:pt x="0" y="301625"/>
                </a:lnTo>
                <a:lnTo>
                  <a:pt x="12031" y="247396"/>
                </a:lnTo>
                <a:lnTo>
                  <a:pt x="46719" y="196361"/>
                </a:lnTo>
                <a:lnTo>
                  <a:pt x="101955" y="149370"/>
                </a:lnTo>
                <a:lnTo>
                  <a:pt x="136619" y="127657"/>
                </a:lnTo>
                <a:lnTo>
                  <a:pt x="175630" y="107274"/>
                </a:lnTo>
                <a:lnTo>
                  <a:pt x="218722" y="88328"/>
                </a:lnTo>
                <a:lnTo>
                  <a:pt x="265633" y="70924"/>
                </a:lnTo>
                <a:lnTo>
                  <a:pt x="316100" y="55170"/>
                </a:lnTo>
                <a:lnTo>
                  <a:pt x="369857" y="41171"/>
                </a:lnTo>
                <a:lnTo>
                  <a:pt x="426643" y="29034"/>
                </a:lnTo>
                <a:lnTo>
                  <a:pt x="486193" y="18865"/>
                </a:lnTo>
                <a:lnTo>
                  <a:pt x="548243" y="10771"/>
                </a:lnTo>
                <a:lnTo>
                  <a:pt x="612530" y="4858"/>
                </a:lnTo>
                <a:lnTo>
                  <a:pt x="678790" y="1232"/>
                </a:lnTo>
                <a:lnTo>
                  <a:pt x="74676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24177" y="3057905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4" h="792479">
                <a:moveTo>
                  <a:pt x="283464" y="792480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7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24177" y="5069585"/>
            <a:ext cx="283845" cy="1458595"/>
          </a:xfrm>
          <a:custGeom>
            <a:avLst/>
            <a:gdLst/>
            <a:ahLst/>
            <a:cxnLst/>
            <a:rect l="l" t="t" r="r" b="b"/>
            <a:pathLst>
              <a:path w="283844" h="1458595">
                <a:moveTo>
                  <a:pt x="283464" y="1458467"/>
                </a:moveTo>
                <a:lnTo>
                  <a:pt x="218456" y="1455247"/>
                </a:lnTo>
                <a:lnTo>
                  <a:pt x="158787" y="1446072"/>
                </a:lnTo>
                <a:lnTo>
                  <a:pt x="106155" y="1431676"/>
                </a:lnTo>
                <a:lnTo>
                  <a:pt x="62261" y="1412790"/>
                </a:lnTo>
                <a:lnTo>
                  <a:pt x="28804" y="1390146"/>
                </a:lnTo>
                <a:lnTo>
                  <a:pt x="0" y="1336509"/>
                </a:lnTo>
                <a:lnTo>
                  <a:pt x="0" y="121919"/>
                </a:lnTo>
                <a:lnTo>
                  <a:pt x="28804" y="68313"/>
                </a:lnTo>
                <a:lnTo>
                  <a:pt x="62261" y="45675"/>
                </a:lnTo>
                <a:lnTo>
                  <a:pt x="106155" y="26792"/>
                </a:lnTo>
                <a:lnTo>
                  <a:pt x="158787" y="12396"/>
                </a:lnTo>
                <a:lnTo>
                  <a:pt x="218456" y="322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96617" y="5125973"/>
            <a:ext cx="281940" cy="791210"/>
          </a:xfrm>
          <a:custGeom>
            <a:avLst/>
            <a:gdLst/>
            <a:ahLst/>
            <a:cxnLst/>
            <a:rect l="l" t="t" r="r" b="b"/>
            <a:pathLst>
              <a:path w="281939" h="791210">
                <a:moveTo>
                  <a:pt x="281939" y="790956"/>
                </a:moveTo>
                <a:lnTo>
                  <a:pt x="206992" y="788603"/>
                </a:lnTo>
                <a:lnTo>
                  <a:pt x="139643" y="781963"/>
                </a:lnTo>
                <a:lnTo>
                  <a:pt x="82581" y="771664"/>
                </a:lnTo>
                <a:lnTo>
                  <a:pt x="38495" y="758334"/>
                </a:lnTo>
                <a:lnTo>
                  <a:pt x="0" y="725093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39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61187" y="4471873"/>
            <a:ext cx="381000" cy="128587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ct val="97700"/>
              </a:lnSpc>
              <a:spcBef>
                <a:spcPts val="17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主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程 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51" y="0"/>
            <a:ext cx="4153535" cy="362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P219:7-7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为以下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Pasca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程序画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出活动记录的栈。</a:t>
            </a:r>
            <a:endParaRPr sz="2400">
              <a:latin typeface="宋体"/>
              <a:cs typeface="宋体"/>
            </a:endParaRPr>
          </a:p>
          <a:p>
            <a:pPr marL="368935" indent="-356870">
              <a:lnSpc>
                <a:spcPct val="100000"/>
              </a:lnSpc>
              <a:buSzPct val="95833"/>
              <a:buFont typeface="Times New Roman"/>
              <a:buAutoNum type="arabicParenBoth"/>
              <a:tabLst>
                <a:tab pos="369570" algn="l"/>
              </a:tabLst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的第一次调用中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的调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用之后。</a:t>
            </a:r>
            <a:endParaRPr sz="2400">
              <a:latin typeface="宋体"/>
              <a:cs typeface="宋体"/>
            </a:endParaRPr>
          </a:p>
          <a:p>
            <a:pPr marL="369570" marR="85725" indent="-369570">
              <a:lnSpc>
                <a:spcPct val="100000"/>
              </a:lnSpc>
              <a:buSzPct val="95833"/>
              <a:buFont typeface="Times New Roman"/>
              <a:buAutoNum type="arabicParenBoth" startAt="2"/>
              <a:tabLst>
                <a:tab pos="369570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在对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的第二次调用中</a:t>
            </a:r>
            <a:r>
              <a:rPr dirty="0" sz="2400" spc="-1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调用之后。</a:t>
            </a:r>
            <a:endParaRPr sz="2400">
              <a:latin typeface="宋体"/>
              <a:cs typeface="宋体"/>
            </a:endParaRPr>
          </a:p>
          <a:p>
            <a:pPr marL="368935" marR="86995" indent="-369570">
              <a:lnSpc>
                <a:spcPts val="2740"/>
              </a:lnSpc>
              <a:buSzPct val="95833"/>
              <a:buFont typeface="Times New Roman"/>
              <a:buAutoNum type="arabicParenBoth" startAt="2"/>
              <a:tabLst>
                <a:tab pos="369570" algn="l"/>
              </a:tabLst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程序打印出什么？为什么？</a:t>
            </a:r>
            <a:endParaRPr sz="2400">
              <a:latin typeface="宋体"/>
              <a:cs typeface="宋体"/>
            </a:endParaRPr>
          </a:p>
          <a:p>
            <a:pPr algn="ctr" marR="106045">
              <a:lnSpc>
                <a:spcPts val="3220"/>
              </a:lnSpc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程序结构图</a:t>
            </a:r>
            <a:endParaRPr sz="2800">
              <a:latin typeface="宋体"/>
              <a:cs typeface="宋体"/>
            </a:endParaRPr>
          </a:p>
          <a:p>
            <a:pPr marL="1566545">
              <a:lnSpc>
                <a:spcPct val="100000"/>
              </a:lnSpc>
              <a:spcBef>
                <a:spcPts val="171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one{write(x)}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2946" y="5357266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D4D4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4595" y="5257546"/>
            <a:ext cx="1770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two{write(x)}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31797" y="4115561"/>
            <a:ext cx="281940" cy="792480"/>
          </a:xfrm>
          <a:custGeom>
            <a:avLst/>
            <a:gdLst/>
            <a:ahLst/>
            <a:cxnLst/>
            <a:rect l="l" t="t" r="r" b="b"/>
            <a:pathLst>
              <a:path w="281939" h="792479">
                <a:moveTo>
                  <a:pt x="281940" y="792480"/>
                </a:moveTo>
                <a:lnTo>
                  <a:pt x="206992" y="790128"/>
                </a:lnTo>
                <a:lnTo>
                  <a:pt x="139643" y="783491"/>
                </a:lnTo>
                <a:lnTo>
                  <a:pt x="82581" y="773191"/>
                </a:lnTo>
                <a:lnTo>
                  <a:pt x="38495" y="759855"/>
                </a:lnTo>
                <a:lnTo>
                  <a:pt x="0" y="726567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40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99742" y="4287088"/>
            <a:ext cx="7004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P{a}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23924" y="5893104"/>
            <a:ext cx="2952750" cy="909319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461645">
              <a:lnSpc>
                <a:spcPct val="100000"/>
              </a:lnSpc>
              <a:spcBef>
                <a:spcPts val="695"/>
              </a:spcBef>
            </a:pPr>
            <a:r>
              <a:rPr dirty="0" sz="2400" spc="-5" b="1">
                <a:solidFill>
                  <a:srgbClr val="FFD4D4"/>
                </a:solidFill>
                <a:latin typeface="Times New Roman"/>
                <a:cs typeface="Times New Roman"/>
              </a:rPr>
              <a:t>{x=2;p(one);p(two)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{x=1;q}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51" y="0"/>
            <a:ext cx="415353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P219:7-7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为以下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Pasca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程序画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出活动记录的栈。</a:t>
            </a:r>
            <a:endParaRPr sz="2400">
              <a:latin typeface="宋体"/>
              <a:cs typeface="宋体"/>
            </a:endParaRPr>
          </a:p>
          <a:p>
            <a:pPr marL="368935" indent="-356870">
              <a:lnSpc>
                <a:spcPct val="100000"/>
              </a:lnSpc>
              <a:buSzPct val="95833"/>
              <a:buFont typeface="Times New Roman"/>
              <a:buAutoNum type="arabicParenBoth"/>
              <a:tabLst>
                <a:tab pos="369570" algn="l"/>
              </a:tabLst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的第一次调用中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的调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用之后。</a:t>
            </a:r>
            <a:endParaRPr sz="2400">
              <a:latin typeface="宋体"/>
              <a:cs typeface="宋体"/>
            </a:endParaRPr>
          </a:p>
          <a:p>
            <a:pPr marL="369570" marR="85725" indent="-369570">
              <a:lnSpc>
                <a:spcPct val="100000"/>
              </a:lnSpc>
              <a:buSzPct val="95833"/>
              <a:buFont typeface="Times New Roman"/>
              <a:buAutoNum type="arabicParenBoth" startAt="2"/>
              <a:tabLst>
                <a:tab pos="369570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在对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的第二次调用中</a:t>
            </a:r>
            <a:r>
              <a:rPr dirty="0" sz="2400" spc="-1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调用之后。</a:t>
            </a:r>
            <a:endParaRPr sz="2400">
              <a:latin typeface="宋体"/>
              <a:cs typeface="宋体"/>
            </a:endParaRPr>
          </a:p>
          <a:p>
            <a:pPr marL="368935" indent="-356870">
              <a:lnSpc>
                <a:spcPct val="100000"/>
              </a:lnSpc>
              <a:buSzPct val="95833"/>
              <a:buFont typeface="Times New Roman"/>
              <a:buAutoNum type="arabicParenBoth" startAt="2"/>
              <a:tabLst>
                <a:tab pos="369570" algn="l"/>
              </a:tabLst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程序打印出什么？为什么？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3722" y="5598414"/>
            <a:ext cx="2743200" cy="1106805"/>
          </a:xfrm>
          <a:custGeom>
            <a:avLst/>
            <a:gdLst/>
            <a:ahLst/>
            <a:cxnLst/>
            <a:rect l="l" t="t" r="r" b="b"/>
            <a:pathLst>
              <a:path w="2743200" h="1106804">
                <a:moveTo>
                  <a:pt x="0" y="1106424"/>
                </a:moveTo>
                <a:lnTo>
                  <a:pt x="2743200" y="1106424"/>
                </a:lnTo>
                <a:lnTo>
                  <a:pt x="2743200" y="0"/>
                </a:lnTo>
                <a:lnTo>
                  <a:pt x="0" y="0"/>
                </a:lnTo>
                <a:lnTo>
                  <a:pt x="0" y="1106424"/>
                </a:lnTo>
                <a:close/>
              </a:path>
            </a:pathLst>
          </a:custGeom>
          <a:ln w="380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2772" y="5580684"/>
            <a:ext cx="2705100" cy="104140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主过程活动记录</a:t>
            </a:r>
            <a:endParaRPr sz="2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x=1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3722" y="4499609"/>
            <a:ext cx="2743200" cy="1106805"/>
          </a:xfrm>
          <a:custGeom>
            <a:avLst/>
            <a:gdLst/>
            <a:ahLst/>
            <a:cxnLst/>
            <a:rect l="l" t="t" r="r" b="b"/>
            <a:pathLst>
              <a:path w="2743200" h="1106804">
                <a:moveTo>
                  <a:pt x="0" y="1106423"/>
                </a:moveTo>
                <a:lnTo>
                  <a:pt x="2743200" y="1106423"/>
                </a:lnTo>
                <a:lnTo>
                  <a:pt x="2743200" y="0"/>
                </a:lnTo>
                <a:lnTo>
                  <a:pt x="0" y="0"/>
                </a:lnTo>
                <a:lnTo>
                  <a:pt x="0" y="1106423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2772" y="4481982"/>
            <a:ext cx="2705100" cy="104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1245" marR="356235" indent="-711835">
              <a:lnSpc>
                <a:spcPct val="119000"/>
              </a:lnSpc>
              <a:spcBef>
                <a:spcPts val="10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的活动记录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x=2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6626" y="4772405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7095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6626" y="4772405"/>
            <a:ext cx="0" cy="1932939"/>
          </a:xfrm>
          <a:custGeom>
            <a:avLst/>
            <a:gdLst/>
            <a:ahLst/>
            <a:cxnLst/>
            <a:rect l="l" t="t" r="r" b="b"/>
            <a:pathLst>
              <a:path w="0" h="1932940">
                <a:moveTo>
                  <a:pt x="0" y="0"/>
                </a:moveTo>
                <a:lnTo>
                  <a:pt x="0" y="193243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6626" y="6647688"/>
            <a:ext cx="387350" cy="114300"/>
          </a:xfrm>
          <a:custGeom>
            <a:avLst/>
            <a:gdLst/>
            <a:ahLst/>
            <a:cxnLst/>
            <a:rect l="l" t="t" r="r" b="b"/>
            <a:pathLst>
              <a:path w="387350" h="114300">
                <a:moveTo>
                  <a:pt x="272795" y="0"/>
                </a:moveTo>
                <a:lnTo>
                  <a:pt x="272795" y="114297"/>
                </a:lnTo>
                <a:lnTo>
                  <a:pt x="348994" y="76199"/>
                </a:lnTo>
                <a:lnTo>
                  <a:pt x="291845" y="76199"/>
                </a:lnTo>
                <a:lnTo>
                  <a:pt x="291845" y="38099"/>
                </a:lnTo>
                <a:lnTo>
                  <a:pt x="348995" y="38099"/>
                </a:lnTo>
                <a:lnTo>
                  <a:pt x="272795" y="0"/>
                </a:lnTo>
                <a:close/>
              </a:path>
              <a:path w="387350" h="114300">
                <a:moveTo>
                  <a:pt x="27279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72795" y="76199"/>
                </a:lnTo>
                <a:lnTo>
                  <a:pt x="272795" y="38099"/>
                </a:lnTo>
                <a:close/>
              </a:path>
              <a:path w="387350" h="114300">
                <a:moveTo>
                  <a:pt x="348995" y="38099"/>
                </a:moveTo>
                <a:lnTo>
                  <a:pt x="291845" y="38099"/>
                </a:lnTo>
                <a:lnTo>
                  <a:pt x="291845" y="76199"/>
                </a:lnTo>
                <a:lnTo>
                  <a:pt x="348994" y="76199"/>
                </a:lnTo>
                <a:lnTo>
                  <a:pt x="387095" y="57149"/>
                </a:lnTo>
                <a:lnTo>
                  <a:pt x="348995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87502" y="4430395"/>
            <a:ext cx="447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66921" y="477240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71721" y="4772405"/>
            <a:ext cx="0" cy="1932939"/>
          </a:xfrm>
          <a:custGeom>
            <a:avLst/>
            <a:gdLst/>
            <a:ahLst/>
            <a:cxnLst/>
            <a:rect l="l" t="t" r="r" b="b"/>
            <a:pathLst>
              <a:path w="0" h="1932940">
                <a:moveTo>
                  <a:pt x="0" y="0"/>
                </a:moveTo>
                <a:lnTo>
                  <a:pt x="0" y="193243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66921" y="6647688"/>
            <a:ext cx="304800" cy="114300"/>
          </a:xfrm>
          <a:custGeom>
            <a:avLst/>
            <a:gdLst/>
            <a:ahLst/>
            <a:cxnLst/>
            <a:rect l="l" t="t" r="r" b="b"/>
            <a:pathLst>
              <a:path w="304800" h="114300">
                <a:moveTo>
                  <a:pt x="114300" y="0"/>
                </a:moveTo>
                <a:lnTo>
                  <a:pt x="0" y="57149"/>
                </a:lnTo>
                <a:lnTo>
                  <a:pt x="114300" y="114297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0480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04800" h="114300">
                <a:moveTo>
                  <a:pt x="304800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04800" y="76199"/>
                </a:lnTo>
                <a:lnTo>
                  <a:pt x="304800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76573" y="4430395"/>
            <a:ext cx="372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3722" y="3701034"/>
            <a:ext cx="2743200" cy="798830"/>
          </a:xfrm>
          <a:prstGeom prst="rect">
            <a:avLst/>
          </a:prstGeom>
          <a:ln w="38100">
            <a:solidFill>
              <a:srgbClr val="FF99CC"/>
            </a:solidFill>
          </a:ln>
        </p:spPr>
        <p:txBody>
          <a:bodyPr wrap="square" lIns="0" tIns="178435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140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5081" y="4050029"/>
            <a:ext cx="553720" cy="0"/>
          </a:xfrm>
          <a:custGeom>
            <a:avLst/>
            <a:gdLst/>
            <a:ahLst/>
            <a:cxnLst/>
            <a:rect l="l" t="t" r="r" b="b"/>
            <a:pathLst>
              <a:path w="553719" h="0">
                <a:moveTo>
                  <a:pt x="0" y="0"/>
                </a:moveTo>
                <a:lnTo>
                  <a:pt x="553212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5081" y="4050029"/>
            <a:ext cx="0" cy="1571625"/>
          </a:xfrm>
          <a:custGeom>
            <a:avLst/>
            <a:gdLst/>
            <a:ahLst/>
            <a:cxnLst/>
            <a:rect l="l" t="t" r="r" b="b"/>
            <a:pathLst>
              <a:path w="0" h="1571625">
                <a:moveTo>
                  <a:pt x="0" y="0"/>
                </a:moveTo>
                <a:lnTo>
                  <a:pt x="0" y="157124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5081" y="5541264"/>
            <a:ext cx="553720" cy="114300"/>
          </a:xfrm>
          <a:custGeom>
            <a:avLst/>
            <a:gdLst/>
            <a:ahLst/>
            <a:cxnLst/>
            <a:rect l="l" t="t" r="r" b="b"/>
            <a:pathLst>
              <a:path w="553719" h="114300">
                <a:moveTo>
                  <a:pt x="438912" y="0"/>
                </a:moveTo>
                <a:lnTo>
                  <a:pt x="438912" y="114300"/>
                </a:lnTo>
                <a:lnTo>
                  <a:pt x="515112" y="76200"/>
                </a:lnTo>
                <a:lnTo>
                  <a:pt x="457962" y="76200"/>
                </a:lnTo>
                <a:lnTo>
                  <a:pt x="457962" y="38100"/>
                </a:lnTo>
                <a:lnTo>
                  <a:pt x="515112" y="38100"/>
                </a:lnTo>
                <a:lnTo>
                  <a:pt x="438912" y="0"/>
                </a:lnTo>
                <a:close/>
              </a:path>
              <a:path w="553719" h="114300">
                <a:moveTo>
                  <a:pt x="4389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8912" y="76200"/>
                </a:lnTo>
                <a:lnTo>
                  <a:pt x="438912" y="38100"/>
                </a:lnTo>
                <a:close/>
              </a:path>
              <a:path w="553719" h="114300">
                <a:moveTo>
                  <a:pt x="515112" y="38100"/>
                </a:moveTo>
                <a:lnTo>
                  <a:pt x="457962" y="38100"/>
                </a:lnTo>
                <a:lnTo>
                  <a:pt x="457962" y="76200"/>
                </a:lnTo>
                <a:lnTo>
                  <a:pt x="515112" y="76200"/>
                </a:lnTo>
                <a:lnTo>
                  <a:pt x="553212" y="57150"/>
                </a:lnTo>
                <a:lnTo>
                  <a:pt x="515112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27152" y="3693667"/>
            <a:ext cx="496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73017" y="395706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77817" y="3957065"/>
            <a:ext cx="0" cy="1932939"/>
          </a:xfrm>
          <a:custGeom>
            <a:avLst/>
            <a:gdLst/>
            <a:ahLst/>
            <a:cxnLst/>
            <a:rect l="l" t="t" r="r" b="b"/>
            <a:pathLst>
              <a:path w="0" h="1932939">
                <a:moveTo>
                  <a:pt x="0" y="0"/>
                </a:moveTo>
                <a:lnTo>
                  <a:pt x="0" y="1932431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566921" y="3249929"/>
            <a:ext cx="406400" cy="707390"/>
          </a:xfrm>
          <a:prstGeom prst="rect">
            <a:avLst/>
          </a:prstGeom>
          <a:ln w="38100">
            <a:solidFill>
              <a:srgbClr val="FF99CC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R="85090">
              <a:lnSpc>
                <a:spcPct val="100000"/>
              </a:lnSpc>
              <a:spcBef>
                <a:spcPts val="35"/>
              </a:spcBef>
            </a:pPr>
            <a:endParaRPr sz="2550">
              <a:latin typeface="Times New Roman"/>
              <a:cs typeface="Times New Roman"/>
            </a:endParaRPr>
          </a:p>
          <a:p>
            <a:pPr marL="15875">
              <a:lnSpc>
                <a:spcPts val="2600"/>
              </a:lnSpc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3722" y="2902457"/>
            <a:ext cx="2743200" cy="798830"/>
          </a:xfrm>
          <a:custGeom>
            <a:avLst/>
            <a:gdLst/>
            <a:ahLst/>
            <a:cxnLst/>
            <a:rect l="l" t="t" r="r" b="b"/>
            <a:pathLst>
              <a:path w="2743200" h="798829">
                <a:moveTo>
                  <a:pt x="0" y="798576"/>
                </a:moveTo>
                <a:lnTo>
                  <a:pt x="2743200" y="798576"/>
                </a:lnTo>
                <a:lnTo>
                  <a:pt x="2743200" y="0"/>
                </a:lnTo>
                <a:lnTo>
                  <a:pt x="0" y="0"/>
                </a:lnTo>
                <a:lnTo>
                  <a:pt x="0" y="798576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35100" y="3067888"/>
            <a:ext cx="23291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7962" y="3070098"/>
            <a:ext cx="0" cy="1411605"/>
          </a:xfrm>
          <a:custGeom>
            <a:avLst/>
            <a:gdLst/>
            <a:ahLst/>
            <a:cxnLst/>
            <a:rect l="l" t="t" r="r" b="b"/>
            <a:pathLst>
              <a:path w="0" h="1411604">
                <a:moveTo>
                  <a:pt x="0" y="0"/>
                </a:moveTo>
                <a:lnTo>
                  <a:pt x="0" y="141122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7962" y="4424171"/>
            <a:ext cx="370840" cy="114300"/>
          </a:xfrm>
          <a:custGeom>
            <a:avLst/>
            <a:gdLst/>
            <a:ahLst/>
            <a:cxnLst/>
            <a:rect l="l" t="t" r="r" b="b"/>
            <a:pathLst>
              <a:path w="370840" h="114300">
                <a:moveTo>
                  <a:pt x="256031" y="0"/>
                </a:moveTo>
                <a:lnTo>
                  <a:pt x="256031" y="114300"/>
                </a:lnTo>
                <a:lnTo>
                  <a:pt x="332231" y="76200"/>
                </a:lnTo>
                <a:lnTo>
                  <a:pt x="275081" y="76200"/>
                </a:lnTo>
                <a:lnTo>
                  <a:pt x="275081" y="38100"/>
                </a:lnTo>
                <a:lnTo>
                  <a:pt x="332231" y="38100"/>
                </a:lnTo>
                <a:lnTo>
                  <a:pt x="256031" y="0"/>
                </a:lnTo>
                <a:close/>
              </a:path>
              <a:path w="370840" h="114300">
                <a:moveTo>
                  <a:pt x="2560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6031" y="76200"/>
                </a:lnTo>
                <a:lnTo>
                  <a:pt x="256031" y="38100"/>
                </a:lnTo>
                <a:close/>
              </a:path>
              <a:path w="370840" h="114300">
                <a:moveTo>
                  <a:pt x="332231" y="38100"/>
                </a:moveTo>
                <a:lnTo>
                  <a:pt x="275081" y="38100"/>
                </a:lnTo>
                <a:lnTo>
                  <a:pt x="275081" y="76200"/>
                </a:lnTo>
                <a:lnTo>
                  <a:pt x="332231" y="76200"/>
                </a:lnTo>
                <a:lnTo>
                  <a:pt x="370331" y="57150"/>
                </a:lnTo>
                <a:lnTo>
                  <a:pt x="332231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38404" y="2723515"/>
            <a:ext cx="447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871721" y="3249929"/>
            <a:ext cx="0" cy="1932939"/>
          </a:xfrm>
          <a:custGeom>
            <a:avLst/>
            <a:gdLst/>
            <a:ahLst/>
            <a:cxnLst/>
            <a:rect l="l" t="t" r="r" b="b"/>
            <a:pathLst>
              <a:path w="0" h="1932939">
                <a:moveTo>
                  <a:pt x="0" y="0"/>
                </a:moveTo>
                <a:lnTo>
                  <a:pt x="0" y="193243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563873" y="2907538"/>
            <a:ext cx="398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5842761" y="521335"/>
            <a:ext cx="18084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程序结构图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59146" y="1023366"/>
            <a:ext cx="745490" cy="3837940"/>
          </a:xfrm>
          <a:custGeom>
            <a:avLst/>
            <a:gdLst/>
            <a:ahLst/>
            <a:cxnLst/>
            <a:rect l="l" t="t" r="r" b="b"/>
            <a:pathLst>
              <a:path w="745489" h="3837940">
                <a:moveTo>
                  <a:pt x="745236" y="3837432"/>
                </a:moveTo>
                <a:lnTo>
                  <a:pt x="677400" y="3836202"/>
                </a:lnTo>
                <a:lnTo>
                  <a:pt x="611272" y="3832583"/>
                </a:lnTo>
                <a:lnTo>
                  <a:pt x="547114" y="3826681"/>
                </a:lnTo>
                <a:lnTo>
                  <a:pt x="485189" y="3818602"/>
                </a:lnTo>
                <a:lnTo>
                  <a:pt x="425760" y="3808453"/>
                </a:lnTo>
                <a:lnTo>
                  <a:pt x="369090" y="3796340"/>
                </a:lnTo>
                <a:lnTo>
                  <a:pt x="315442" y="3782369"/>
                </a:lnTo>
                <a:lnTo>
                  <a:pt x="265079" y="3766646"/>
                </a:lnTo>
                <a:lnTo>
                  <a:pt x="218265" y="3749278"/>
                </a:lnTo>
                <a:lnTo>
                  <a:pt x="175262" y="3730370"/>
                </a:lnTo>
                <a:lnTo>
                  <a:pt x="136332" y="3710029"/>
                </a:lnTo>
                <a:lnTo>
                  <a:pt x="101741" y="3688362"/>
                </a:lnTo>
                <a:lnTo>
                  <a:pt x="46621" y="3641471"/>
                </a:lnTo>
                <a:lnTo>
                  <a:pt x="12005" y="3590548"/>
                </a:lnTo>
                <a:lnTo>
                  <a:pt x="0" y="3536442"/>
                </a:lnTo>
                <a:lnTo>
                  <a:pt x="0" y="300989"/>
                </a:lnTo>
                <a:lnTo>
                  <a:pt x="12005" y="246883"/>
                </a:lnTo>
                <a:lnTo>
                  <a:pt x="46621" y="195960"/>
                </a:lnTo>
                <a:lnTo>
                  <a:pt x="101741" y="149069"/>
                </a:lnTo>
                <a:lnTo>
                  <a:pt x="136332" y="127402"/>
                </a:lnTo>
                <a:lnTo>
                  <a:pt x="175262" y="107061"/>
                </a:lnTo>
                <a:lnTo>
                  <a:pt x="218265" y="88153"/>
                </a:lnTo>
                <a:lnTo>
                  <a:pt x="265079" y="70785"/>
                </a:lnTo>
                <a:lnTo>
                  <a:pt x="315442" y="55062"/>
                </a:lnTo>
                <a:lnTo>
                  <a:pt x="369090" y="41091"/>
                </a:lnTo>
                <a:lnTo>
                  <a:pt x="425760" y="28978"/>
                </a:lnTo>
                <a:lnTo>
                  <a:pt x="485189" y="18829"/>
                </a:lnTo>
                <a:lnTo>
                  <a:pt x="547114" y="10750"/>
                </a:lnTo>
                <a:lnTo>
                  <a:pt x="611272" y="4848"/>
                </a:lnTo>
                <a:lnTo>
                  <a:pt x="677400" y="1229"/>
                </a:lnTo>
                <a:lnTo>
                  <a:pt x="745236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098285" y="1061466"/>
            <a:ext cx="281940" cy="791210"/>
          </a:xfrm>
          <a:custGeom>
            <a:avLst/>
            <a:gdLst/>
            <a:ahLst/>
            <a:cxnLst/>
            <a:rect l="l" t="t" r="r" b="b"/>
            <a:pathLst>
              <a:path w="281939" h="791210">
                <a:moveTo>
                  <a:pt x="281939" y="790956"/>
                </a:moveTo>
                <a:lnTo>
                  <a:pt x="206992" y="788604"/>
                </a:lnTo>
                <a:lnTo>
                  <a:pt x="139643" y="781967"/>
                </a:lnTo>
                <a:lnTo>
                  <a:pt x="82581" y="771667"/>
                </a:lnTo>
                <a:lnTo>
                  <a:pt x="38495" y="758331"/>
                </a:lnTo>
                <a:lnTo>
                  <a:pt x="0" y="725043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39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098285" y="3071622"/>
            <a:ext cx="281940" cy="1458595"/>
          </a:xfrm>
          <a:custGeom>
            <a:avLst/>
            <a:gdLst/>
            <a:ahLst/>
            <a:cxnLst/>
            <a:rect l="l" t="t" r="r" b="b"/>
            <a:pathLst>
              <a:path w="281939" h="1458595">
                <a:moveTo>
                  <a:pt x="281939" y="1458467"/>
                </a:moveTo>
                <a:lnTo>
                  <a:pt x="217296" y="1455261"/>
                </a:lnTo>
                <a:lnTo>
                  <a:pt x="157953" y="1446130"/>
                </a:lnTo>
                <a:lnTo>
                  <a:pt x="105604" y="1431805"/>
                </a:lnTo>
                <a:lnTo>
                  <a:pt x="61941" y="1413017"/>
                </a:lnTo>
                <a:lnTo>
                  <a:pt x="28658" y="1390497"/>
                </a:lnTo>
                <a:lnTo>
                  <a:pt x="0" y="1337183"/>
                </a:lnTo>
                <a:lnTo>
                  <a:pt x="0" y="121285"/>
                </a:lnTo>
                <a:lnTo>
                  <a:pt x="28658" y="67970"/>
                </a:lnTo>
                <a:lnTo>
                  <a:pt x="61941" y="45450"/>
                </a:lnTo>
                <a:lnTo>
                  <a:pt x="105604" y="26662"/>
                </a:lnTo>
                <a:lnTo>
                  <a:pt x="157953" y="12337"/>
                </a:lnTo>
                <a:lnTo>
                  <a:pt x="217296" y="3206"/>
                </a:lnTo>
                <a:lnTo>
                  <a:pt x="281939" y="0"/>
                </a:lnTo>
              </a:path>
            </a:pathLst>
          </a:custGeom>
          <a:ln w="38100">
            <a:solidFill>
              <a:srgbClr val="FF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569202" y="3126485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5" h="792479">
                <a:moveTo>
                  <a:pt x="283464" y="792480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435600" y="2474213"/>
            <a:ext cx="381000" cy="128524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just" marL="12700" marR="5080">
              <a:lnSpc>
                <a:spcPct val="97700"/>
              </a:lnSpc>
              <a:spcBef>
                <a:spcPts val="17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 程 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82309" y="1165605"/>
            <a:ext cx="20396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o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e{</a:t>
            </a:r>
            <a:r>
              <a:rPr dirty="0" sz="2800" spc="-40" b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rite(x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47308" y="3359277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D4D4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48957" y="3259073"/>
            <a:ext cx="1770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two{write(x)}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104382" y="2117598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5" h="792480">
                <a:moveTo>
                  <a:pt x="283463" y="792479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3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174104" y="2289429"/>
            <a:ext cx="7004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P{a}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44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698363" y="3894835"/>
            <a:ext cx="2952750" cy="90805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461645">
              <a:lnSpc>
                <a:spcPct val="100000"/>
              </a:lnSpc>
              <a:spcBef>
                <a:spcPts val="695"/>
              </a:spcBef>
            </a:pPr>
            <a:r>
              <a:rPr dirty="0" sz="2400" spc="-5" b="1">
                <a:solidFill>
                  <a:srgbClr val="FFD4D4"/>
                </a:solidFill>
                <a:latin typeface="Times New Roman"/>
                <a:cs typeface="Times New Roman"/>
              </a:rPr>
              <a:t>{x=2;p(one);p(two)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{x=1;q}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51" y="0"/>
            <a:ext cx="415353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99"/>
                </a:solidFill>
                <a:latin typeface="Times New Roman"/>
                <a:cs typeface="Times New Roman"/>
              </a:rPr>
              <a:t>P219:7-7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为以下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Pasca</a:t>
            </a: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程序画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出活动记录的栈。</a:t>
            </a:r>
            <a:endParaRPr sz="2400">
              <a:latin typeface="宋体"/>
              <a:cs typeface="宋体"/>
            </a:endParaRPr>
          </a:p>
          <a:p>
            <a:pPr marL="368935" indent="-356870">
              <a:lnSpc>
                <a:spcPct val="100000"/>
              </a:lnSpc>
              <a:buSzPct val="95833"/>
              <a:buFont typeface="Times New Roman"/>
              <a:buAutoNum type="arabicParenBoth"/>
              <a:tabLst>
                <a:tab pos="369570" algn="l"/>
              </a:tabLst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的第一次调用中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的调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用之后。</a:t>
            </a:r>
            <a:endParaRPr sz="2400">
              <a:latin typeface="宋体"/>
              <a:cs typeface="宋体"/>
            </a:endParaRPr>
          </a:p>
          <a:p>
            <a:pPr marL="369570" marR="85725" indent="-369570">
              <a:lnSpc>
                <a:spcPct val="100000"/>
              </a:lnSpc>
              <a:buSzPct val="95833"/>
              <a:buFont typeface="Times New Roman"/>
              <a:buAutoNum type="arabicParenBoth" startAt="2"/>
              <a:tabLst>
                <a:tab pos="369570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在对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的第二次调用中</a:t>
            </a:r>
            <a:r>
              <a:rPr dirty="0" sz="2400" spc="-15" b="1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调用之后。</a:t>
            </a:r>
            <a:endParaRPr sz="2400">
              <a:latin typeface="宋体"/>
              <a:cs typeface="宋体"/>
            </a:endParaRPr>
          </a:p>
          <a:p>
            <a:pPr marL="368935" indent="-356870">
              <a:lnSpc>
                <a:spcPct val="100000"/>
              </a:lnSpc>
              <a:buSzPct val="95833"/>
              <a:buFont typeface="Times New Roman"/>
              <a:buAutoNum type="arabicParenBoth" startAt="2"/>
              <a:tabLst>
                <a:tab pos="369570" algn="l"/>
              </a:tabLst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程序打印出什么？为什么？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3722" y="5598414"/>
            <a:ext cx="2743200" cy="1106805"/>
          </a:xfrm>
          <a:custGeom>
            <a:avLst/>
            <a:gdLst/>
            <a:ahLst/>
            <a:cxnLst/>
            <a:rect l="l" t="t" r="r" b="b"/>
            <a:pathLst>
              <a:path w="2743200" h="1106804">
                <a:moveTo>
                  <a:pt x="0" y="1106424"/>
                </a:moveTo>
                <a:lnTo>
                  <a:pt x="2743200" y="1106424"/>
                </a:lnTo>
                <a:lnTo>
                  <a:pt x="2743200" y="0"/>
                </a:lnTo>
                <a:lnTo>
                  <a:pt x="0" y="0"/>
                </a:lnTo>
                <a:lnTo>
                  <a:pt x="0" y="1106424"/>
                </a:lnTo>
                <a:close/>
              </a:path>
            </a:pathLst>
          </a:custGeom>
          <a:ln w="38099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5058" y="5580684"/>
            <a:ext cx="2705100" cy="104140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74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主过程活动记录</a:t>
            </a:r>
            <a:endParaRPr sz="2800">
              <a:latin typeface="宋体"/>
              <a:cs typeface="宋体"/>
            </a:endParaRPr>
          </a:p>
          <a:p>
            <a:pPr algn="ctr" marR="1270">
              <a:lnSpc>
                <a:spcPct val="100000"/>
              </a:lnSpc>
              <a:spcBef>
                <a:spcPts val="6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x=1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3722" y="4499609"/>
            <a:ext cx="2743200" cy="1106805"/>
          </a:xfrm>
          <a:custGeom>
            <a:avLst/>
            <a:gdLst/>
            <a:ahLst/>
            <a:cxnLst/>
            <a:rect l="l" t="t" r="r" b="b"/>
            <a:pathLst>
              <a:path w="2743200" h="1106804">
                <a:moveTo>
                  <a:pt x="0" y="1106423"/>
                </a:moveTo>
                <a:lnTo>
                  <a:pt x="2743200" y="1106423"/>
                </a:lnTo>
                <a:lnTo>
                  <a:pt x="2743200" y="0"/>
                </a:lnTo>
                <a:lnTo>
                  <a:pt x="0" y="0"/>
                </a:lnTo>
                <a:lnTo>
                  <a:pt x="0" y="1106423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5058" y="4481982"/>
            <a:ext cx="2705100" cy="104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9340" marR="358140" indent="-711835">
              <a:lnSpc>
                <a:spcPct val="119000"/>
              </a:lnSpc>
              <a:spcBef>
                <a:spcPts val="10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的活动记录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x=2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6626" y="4772405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7095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6626" y="4772405"/>
            <a:ext cx="0" cy="1932939"/>
          </a:xfrm>
          <a:custGeom>
            <a:avLst/>
            <a:gdLst/>
            <a:ahLst/>
            <a:cxnLst/>
            <a:rect l="l" t="t" r="r" b="b"/>
            <a:pathLst>
              <a:path w="0" h="1932940">
                <a:moveTo>
                  <a:pt x="0" y="0"/>
                </a:moveTo>
                <a:lnTo>
                  <a:pt x="0" y="193243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6626" y="6647688"/>
            <a:ext cx="387350" cy="114300"/>
          </a:xfrm>
          <a:custGeom>
            <a:avLst/>
            <a:gdLst/>
            <a:ahLst/>
            <a:cxnLst/>
            <a:rect l="l" t="t" r="r" b="b"/>
            <a:pathLst>
              <a:path w="387350" h="114300">
                <a:moveTo>
                  <a:pt x="272795" y="0"/>
                </a:moveTo>
                <a:lnTo>
                  <a:pt x="272795" y="114297"/>
                </a:lnTo>
                <a:lnTo>
                  <a:pt x="348994" y="76199"/>
                </a:lnTo>
                <a:lnTo>
                  <a:pt x="291845" y="76199"/>
                </a:lnTo>
                <a:lnTo>
                  <a:pt x="291845" y="38099"/>
                </a:lnTo>
                <a:lnTo>
                  <a:pt x="348995" y="38099"/>
                </a:lnTo>
                <a:lnTo>
                  <a:pt x="272795" y="0"/>
                </a:lnTo>
                <a:close/>
              </a:path>
              <a:path w="387350" h="114300">
                <a:moveTo>
                  <a:pt x="27279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72795" y="76199"/>
                </a:lnTo>
                <a:lnTo>
                  <a:pt x="272795" y="38099"/>
                </a:lnTo>
                <a:close/>
              </a:path>
              <a:path w="387350" h="114300">
                <a:moveTo>
                  <a:pt x="348995" y="38099"/>
                </a:moveTo>
                <a:lnTo>
                  <a:pt x="291845" y="38099"/>
                </a:lnTo>
                <a:lnTo>
                  <a:pt x="291845" y="76199"/>
                </a:lnTo>
                <a:lnTo>
                  <a:pt x="348994" y="76199"/>
                </a:lnTo>
                <a:lnTo>
                  <a:pt x="387095" y="57149"/>
                </a:lnTo>
                <a:lnTo>
                  <a:pt x="348995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66921" y="477240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71721" y="4772405"/>
            <a:ext cx="0" cy="1932939"/>
          </a:xfrm>
          <a:custGeom>
            <a:avLst/>
            <a:gdLst/>
            <a:ahLst/>
            <a:cxnLst/>
            <a:rect l="l" t="t" r="r" b="b"/>
            <a:pathLst>
              <a:path w="0" h="1932940">
                <a:moveTo>
                  <a:pt x="0" y="0"/>
                </a:moveTo>
                <a:lnTo>
                  <a:pt x="0" y="193243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66921" y="6647688"/>
            <a:ext cx="304800" cy="114300"/>
          </a:xfrm>
          <a:custGeom>
            <a:avLst/>
            <a:gdLst/>
            <a:ahLst/>
            <a:cxnLst/>
            <a:rect l="l" t="t" r="r" b="b"/>
            <a:pathLst>
              <a:path w="304800" h="114300">
                <a:moveTo>
                  <a:pt x="114300" y="0"/>
                </a:moveTo>
                <a:lnTo>
                  <a:pt x="0" y="57149"/>
                </a:lnTo>
                <a:lnTo>
                  <a:pt x="114300" y="114297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04800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04800" h="114300">
                <a:moveTo>
                  <a:pt x="304800" y="38099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04800" y="76199"/>
                </a:lnTo>
                <a:lnTo>
                  <a:pt x="304800" y="38099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576573" y="4430395"/>
            <a:ext cx="372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3722" y="3701034"/>
            <a:ext cx="2743200" cy="798830"/>
          </a:xfrm>
          <a:custGeom>
            <a:avLst/>
            <a:gdLst/>
            <a:ahLst/>
            <a:cxnLst/>
            <a:rect l="l" t="t" r="r" b="b"/>
            <a:pathLst>
              <a:path w="2743200" h="798829">
                <a:moveTo>
                  <a:pt x="0" y="798576"/>
                </a:moveTo>
                <a:lnTo>
                  <a:pt x="2743200" y="798576"/>
                </a:lnTo>
                <a:lnTo>
                  <a:pt x="2743200" y="0"/>
                </a:lnTo>
                <a:lnTo>
                  <a:pt x="0" y="0"/>
                </a:lnTo>
                <a:lnTo>
                  <a:pt x="0" y="798576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45058" y="3867150"/>
            <a:ext cx="27051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7505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的活动记录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5081" y="4050029"/>
            <a:ext cx="553720" cy="0"/>
          </a:xfrm>
          <a:custGeom>
            <a:avLst/>
            <a:gdLst/>
            <a:ahLst/>
            <a:cxnLst/>
            <a:rect l="l" t="t" r="r" b="b"/>
            <a:pathLst>
              <a:path w="553719" h="0">
                <a:moveTo>
                  <a:pt x="0" y="0"/>
                </a:moveTo>
                <a:lnTo>
                  <a:pt x="553212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5081" y="4050029"/>
            <a:ext cx="0" cy="1571625"/>
          </a:xfrm>
          <a:custGeom>
            <a:avLst/>
            <a:gdLst/>
            <a:ahLst/>
            <a:cxnLst/>
            <a:rect l="l" t="t" r="r" b="b"/>
            <a:pathLst>
              <a:path w="0" h="1571625">
                <a:moveTo>
                  <a:pt x="0" y="0"/>
                </a:moveTo>
                <a:lnTo>
                  <a:pt x="0" y="157124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5081" y="5541264"/>
            <a:ext cx="553720" cy="114300"/>
          </a:xfrm>
          <a:custGeom>
            <a:avLst/>
            <a:gdLst/>
            <a:ahLst/>
            <a:cxnLst/>
            <a:rect l="l" t="t" r="r" b="b"/>
            <a:pathLst>
              <a:path w="553719" h="114300">
                <a:moveTo>
                  <a:pt x="438912" y="0"/>
                </a:moveTo>
                <a:lnTo>
                  <a:pt x="438912" y="114300"/>
                </a:lnTo>
                <a:lnTo>
                  <a:pt x="515112" y="76200"/>
                </a:lnTo>
                <a:lnTo>
                  <a:pt x="457962" y="76200"/>
                </a:lnTo>
                <a:lnTo>
                  <a:pt x="457962" y="38100"/>
                </a:lnTo>
                <a:lnTo>
                  <a:pt x="515112" y="38100"/>
                </a:lnTo>
                <a:lnTo>
                  <a:pt x="438912" y="0"/>
                </a:lnTo>
                <a:close/>
              </a:path>
              <a:path w="553719" h="114300">
                <a:moveTo>
                  <a:pt x="4389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38912" y="76200"/>
                </a:lnTo>
                <a:lnTo>
                  <a:pt x="438912" y="38100"/>
                </a:lnTo>
                <a:close/>
              </a:path>
              <a:path w="553719" h="114300">
                <a:moveTo>
                  <a:pt x="515112" y="38100"/>
                </a:moveTo>
                <a:lnTo>
                  <a:pt x="457962" y="38100"/>
                </a:lnTo>
                <a:lnTo>
                  <a:pt x="457962" y="76200"/>
                </a:lnTo>
                <a:lnTo>
                  <a:pt x="515112" y="76200"/>
                </a:lnTo>
                <a:lnTo>
                  <a:pt x="553212" y="57150"/>
                </a:lnTo>
                <a:lnTo>
                  <a:pt x="515112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27152" y="3693667"/>
            <a:ext cx="508000" cy="1128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73017" y="395706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77817" y="3957065"/>
            <a:ext cx="0" cy="1932939"/>
          </a:xfrm>
          <a:custGeom>
            <a:avLst/>
            <a:gdLst/>
            <a:ahLst/>
            <a:cxnLst/>
            <a:rect l="l" t="t" r="r" b="b"/>
            <a:pathLst>
              <a:path w="0" h="1932939">
                <a:moveTo>
                  <a:pt x="0" y="0"/>
                </a:moveTo>
                <a:lnTo>
                  <a:pt x="0" y="1932431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582923" y="3614166"/>
            <a:ext cx="372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3722" y="2902457"/>
            <a:ext cx="2743200" cy="798830"/>
          </a:xfrm>
          <a:custGeom>
            <a:avLst/>
            <a:gdLst/>
            <a:ahLst/>
            <a:cxnLst/>
            <a:rect l="l" t="t" r="r" b="b"/>
            <a:pathLst>
              <a:path w="2743200" h="798829">
                <a:moveTo>
                  <a:pt x="0" y="798576"/>
                </a:moveTo>
                <a:lnTo>
                  <a:pt x="2743200" y="798576"/>
                </a:lnTo>
                <a:lnTo>
                  <a:pt x="2743200" y="0"/>
                </a:lnTo>
                <a:lnTo>
                  <a:pt x="0" y="0"/>
                </a:lnTo>
                <a:lnTo>
                  <a:pt x="0" y="798576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7962" y="3088385"/>
            <a:ext cx="365760" cy="0"/>
          </a:xfrm>
          <a:custGeom>
            <a:avLst/>
            <a:gdLst/>
            <a:ahLst/>
            <a:cxnLst/>
            <a:rect l="l" t="t" r="r" b="b"/>
            <a:pathLst>
              <a:path w="365759" h="0">
                <a:moveTo>
                  <a:pt x="0" y="0"/>
                </a:moveTo>
                <a:lnTo>
                  <a:pt x="365759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7962" y="3070098"/>
            <a:ext cx="0" cy="1411605"/>
          </a:xfrm>
          <a:custGeom>
            <a:avLst/>
            <a:gdLst/>
            <a:ahLst/>
            <a:cxnLst/>
            <a:rect l="l" t="t" r="r" b="b"/>
            <a:pathLst>
              <a:path w="0" h="1411604">
                <a:moveTo>
                  <a:pt x="0" y="0"/>
                </a:moveTo>
                <a:lnTo>
                  <a:pt x="0" y="141122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7962" y="4424171"/>
            <a:ext cx="370840" cy="114300"/>
          </a:xfrm>
          <a:custGeom>
            <a:avLst/>
            <a:gdLst/>
            <a:ahLst/>
            <a:cxnLst/>
            <a:rect l="l" t="t" r="r" b="b"/>
            <a:pathLst>
              <a:path w="370840" h="114300">
                <a:moveTo>
                  <a:pt x="256031" y="0"/>
                </a:moveTo>
                <a:lnTo>
                  <a:pt x="256031" y="114300"/>
                </a:lnTo>
                <a:lnTo>
                  <a:pt x="332231" y="76200"/>
                </a:lnTo>
                <a:lnTo>
                  <a:pt x="275081" y="76200"/>
                </a:lnTo>
                <a:lnTo>
                  <a:pt x="275081" y="38100"/>
                </a:lnTo>
                <a:lnTo>
                  <a:pt x="332231" y="38100"/>
                </a:lnTo>
                <a:lnTo>
                  <a:pt x="256031" y="0"/>
                </a:lnTo>
                <a:close/>
              </a:path>
              <a:path w="370840" h="114300">
                <a:moveTo>
                  <a:pt x="2560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6031" y="76200"/>
                </a:lnTo>
                <a:lnTo>
                  <a:pt x="256031" y="38100"/>
                </a:lnTo>
                <a:close/>
              </a:path>
              <a:path w="370840" h="114300">
                <a:moveTo>
                  <a:pt x="332231" y="38100"/>
                </a:moveTo>
                <a:lnTo>
                  <a:pt x="275081" y="38100"/>
                </a:lnTo>
                <a:lnTo>
                  <a:pt x="275081" y="76200"/>
                </a:lnTo>
                <a:lnTo>
                  <a:pt x="332231" y="76200"/>
                </a:lnTo>
                <a:lnTo>
                  <a:pt x="370331" y="57150"/>
                </a:lnTo>
                <a:lnTo>
                  <a:pt x="332231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38404" y="2723515"/>
            <a:ext cx="447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66921" y="3249929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71721" y="3249929"/>
            <a:ext cx="0" cy="1932939"/>
          </a:xfrm>
          <a:custGeom>
            <a:avLst/>
            <a:gdLst/>
            <a:ahLst/>
            <a:cxnLst/>
            <a:rect l="l" t="t" r="r" b="b"/>
            <a:pathLst>
              <a:path w="0" h="1932939">
                <a:moveTo>
                  <a:pt x="0" y="0"/>
                </a:moveTo>
                <a:lnTo>
                  <a:pt x="0" y="1932432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28294" y="2885694"/>
            <a:ext cx="2743200" cy="798830"/>
          </a:xfrm>
          <a:custGeom>
            <a:avLst/>
            <a:gdLst/>
            <a:ahLst/>
            <a:cxnLst/>
            <a:rect l="l" t="t" r="r" b="b"/>
            <a:pathLst>
              <a:path w="2743200" h="798829">
                <a:moveTo>
                  <a:pt x="0" y="798576"/>
                </a:moveTo>
                <a:lnTo>
                  <a:pt x="2743200" y="798576"/>
                </a:lnTo>
                <a:lnTo>
                  <a:pt x="2743200" y="0"/>
                </a:lnTo>
                <a:lnTo>
                  <a:pt x="0" y="0"/>
                </a:lnTo>
                <a:lnTo>
                  <a:pt x="0" y="798576"/>
                </a:lnTo>
                <a:close/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032052" y="3050489"/>
            <a:ext cx="23475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72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-2976" sz="4200" spc="-1087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2800" spc="-725" b="1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baseline="-2976" sz="4200" spc="-1087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725" b="1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baseline="-2976" sz="4200" spc="-1087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baseline="-2976" sz="4200" spc="-406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14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baseline="-2976" sz="4200" spc="-4057" b="1">
                <a:solidFill>
                  <a:srgbClr val="FFFFFF"/>
                </a:solidFill>
                <a:latin typeface="宋体"/>
                <a:cs typeface="宋体"/>
              </a:rPr>
              <a:t>活</a:t>
            </a:r>
            <a:r>
              <a:rPr dirty="0" sz="2800" spc="-114" b="1">
                <a:solidFill>
                  <a:srgbClr val="FFFFFF"/>
                </a:solidFill>
                <a:latin typeface="宋体"/>
                <a:cs typeface="宋体"/>
              </a:rPr>
              <a:t>活</a:t>
            </a:r>
            <a:r>
              <a:rPr dirty="0" baseline="-2976" sz="4200" spc="-4057" b="1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800" spc="-120" b="1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baseline="-2976" sz="4200" spc="-4050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sz="2800" spc="-120" b="1">
                <a:solidFill>
                  <a:srgbClr val="FFFFFF"/>
                </a:solidFill>
                <a:latin typeface="宋体"/>
                <a:cs typeface="宋体"/>
              </a:rPr>
              <a:t>记</a:t>
            </a:r>
            <a:r>
              <a:rPr dirty="0" baseline="-2976" sz="4200" spc="-4050" b="1">
                <a:solidFill>
                  <a:srgbClr val="FFFFFF"/>
                </a:solidFill>
                <a:latin typeface="宋体"/>
                <a:cs typeface="宋体"/>
              </a:rPr>
              <a:t>录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73017" y="3249929"/>
            <a:ext cx="492759" cy="0"/>
          </a:xfrm>
          <a:custGeom>
            <a:avLst/>
            <a:gdLst/>
            <a:ahLst/>
            <a:cxnLst/>
            <a:rect l="l" t="t" r="r" b="b"/>
            <a:pathLst>
              <a:path w="492760" h="0">
                <a:moveTo>
                  <a:pt x="0" y="0"/>
                </a:moveTo>
                <a:lnTo>
                  <a:pt x="492252" y="0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65270" y="3249929"/>
            <a:ext cx="0" cy="2348865"/>
          </a:xfrm>
          <a:custGeom>
            <a:avLst/>
            <a:gdLst/>
            <a:ahLst/>
            <a:cxnLst/>
            <a:rect l="l" t="t" r="r" b="b"/>
            <a:pathLst>
              <a:path w="0" h="2348865">
                <a:moveTo>
                  <a:pt x="0" y="0"/>
                </a:moveTo>
                <a:lnTo>
                  <a:pt x="0" y="2348484"/>
                </a:lnTo>
              </a:path>
            </a:pathLst>
          </a:custGeom>
          <a:ln w="38100">
            <a:solidFill>
              <a:srgbClr val="FF99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566921" y="5541264"/>
            <a:ext cx="498475" cy="114300"/>
          </a:xfrm>
          <a:custGeom>
            <a:avLst/>
            <a:gdLst/>
            <a:ahLst/>
            <a:cxnLst/>
            <a:rect l="l" t="t" r="r" b="b"/>
            <a:pathLst>
              <a:path w="4984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4984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498475" h="114300">
                <a:moveTo>
                  <a:pt x="49834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498348" y="76200"/>
                </a:lnTo>
                <a:lnTo>
                  <a:pt x="498348" y="38100"/>
                </a:lnTo>
                <a:close/>
              </a:path>
            </a:pathLst>
          </a:custGeom>
          <a:solidFill>
            <a:srgbClr val="FF99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567176" y="2907538"/>
            <a:ext cx="398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5842761" y="521335"/>
            <a:ext cx="18084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程序结构图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359146" y="1023366"/>
            <a:ext cx="745490" cy="3837940"/>
          </a:xfrm>
          <a:custGeom>
            <a:avLst/>
            <a:gdLst/>
            <a:ahLst/>
            <a:cxnLst/>
            <a:rect l="l" t="t" r="r" b="b"/>
            <a:pathLst>
              <a:path w="745489" h="3837940">
                <a:moveTo>
                  <a:pt x="745236" y="3837432"/>
                </a:moveTo>
                <a:lnTo>
                  <a:pt x="677400" y="3836202"/>
                </a:lnTo>
                <a:lnTo>
                  <a:pt x="611272" y="3832583"/>
                </a:lnTo>
                <a:lnTo>
                  <a:pt x="547114" y="3826681"/>
                </a:lnTo>
                <a:lnTo>
                  <a:pt x="485189" y="3818602"/>
                </a:lnTo>
                <a:lnTo>
                  <a:pt x="425760" y="3808453"/>
                </a:lnTo>
                <a:lnTo>
                  <a:pt x="369090" y="3796340"/>
                </a:lnTo>
                <a:lnTo>
                  <a:pt x="315442" y="3782369"/>
                </a:lnTo>
                <a:lnTo>
                  <a:pt x="265079" y="3766646"/>
                </a:lnTo>
                <a:lnTo>
                  <a:pt x="218265" y="3749278"/>
                </a:lnTo>
                <a:lnTo>
                  <a:pt x="175262" y="3730370"/>
                </a:lnTo>
                <a:lnTo>
                  <a:pt x="136332" y="3710029"/>
                </a:lnTo>
                <a:lnTo>
                  <a:pt x="101741" y="3688362"/>
                </a:lnTo>
                <a:lnTo>
                  <a:pt x="46621" y="3641471"/>
                </a:lnTo>
                <a:lnTo>
                  <a:pt x="12005" y="3590548"/>
                </a:lnTo>
                <a:lnTo>
                  <a:pt x="0" y="3536442"/>
                </a:lnTo>
                <a:lnTo>
                  <a:pt x="0" y="300989"/>
                </a:lnTo>
                <a:lnTo>
                  <a:pt x="12005" y="246883"/>
                </a:lnTo>
                <a:lnTo>
                  <a:pt x="46621" y="195960"/>
                </a:lnTo>
                <a:lnTo>
                  <a:pt x="101741" y="149069"/>
                </a:lnTo>
                <a:lnTo>
                  <a:pt x="136332" y="127402"/>
                </a:lnTo>
                <a:lnTo>
                  <a:pt x="175262" y="107061"/>
                </a:lnTo>
                <a:lnTo>
                  <a:pt x="218265" y="88153"/>
                </a:lnTo>
                <a:lnTo>
                  <a:pt x="265079" y="70785"/>
                </a:lnTo>
                <a:lnTo>
                  <a:pt x="315442" y="55062"/>
                </a:lnTo>
                <a:lnTo>
                  <a:pt x="369090" y="41091"/>
                </a:lnTo>
                <a:lnTo>
                  <a:pt x="425760" y="28978"/>
                </a:lnTo>
                <a:lnTo>
                  <a:pt x="485189" y="18829"/>
                </a:lnTo>
                <a:lnTo>
                  <a:pt x="547114" y="10750"/>
                </a:lnTo>
                <a:lnTo>
                  <a:pt x="611272" y="4848"/>
                </a:lnTo>
                <a:lnTo>
                  <a:pt x="677400" y="1229"/>
                </a:lnTo>
                <a:lnTo>
                  <a:pt x="745236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098285" y="1061466"/>
            <a:ext cx="281940" cy="791210"/>
          </a:xfrm>
          <a:custGeom>
            <a:avLst/>
            <a:gdLst/>
            <a:ahLst/>
            <a:cxnLst/>
            <a:rect l="l" t="t" r="r" b="b"/>
            <a:pathLst>
              <a:path w="281939" h="791210">
                <a:moveTo>
                  <a:pt x="281939" y="790956"/>
                </a:moveTo>
                <a:lnTo>
                  <a:pt x="206992" y="788604"/>
                </a:lnTo>
                <a:lnTo>
                  <a:pt x="139643" y="781967"/>
                </a:lnTo>
                <a:lnTo>
                  <a:pt x="82581" y="771667"/>
                </a:lnTo>
                <a:lnTo>
                  <a:pt x="38495" y="758331"/>
                </a:lnTo>
                <a:lnTo>
                  <a:pt x="0" y="725043"/>
                </a:lnTo>
                <a:lnTo>
                  <a:pt x="0" y="65912"/>
                </a:lnTo>
                <a:lnTo>
                  <a:pt x="38495" y="32624"/>
                </a:lnTo>
                <a:lnTo>
                  <a:pt x="82581" y="19288"/>
                </a:lnTo>
                <a:lnTo>
                  <a:pt x="139643" y="8988"/>
                </a:lnTo>
                <a:lnTo>
                  <a:pt x="206992" y="2351"/>
                </a:lnTo>
                <a:lnTo>
                  <a:pt x="281939" y="0"/>
                </a:lnTo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098285" y="3071622"/>
            <a:ext cx="281940" cy="1458595"/>
          </a:xfrm>
          <a:custGeom>
            <a:avLst/>
            <a:gdLst/>
            <a:ahLst/>
            <a:cxnLst/>
            <a:rect l="l" t="t" r="r" b="b"/>
            <a:pathLst>
              <a:path w="281939" h="1458595">
                <a:moveTo>
                  <a:pt x="281939" y="1458467"/>
                </a:moveTo>
                <a:lnTo>
                  <a:pt x="217296" y="1455261"/>
                </a:lnTo>
                <a:lnTo>
                  <a:pt x="157953" y="1446130"/>
                </a:lnTo>
                <a:lnTo>
                  <a:pt x="105604" y="1431805"/>
                </a:lnTo>
                <a:lnTo>
                  <a:pt x="61941" y="1413017"/>
                </a:lnTo>
                <a:lnTo>
                  <a:pt x="28658" y="1390497"/>
                </a:lnTo>
                <a:lnTo>
                  <a:pt x="0" y="1337183"/>
                </a:lnTo>
                <a:lnTo>
                  <a:pt x="0" y="121285"/>
                </a:lnTo>
                <a:lnTo>
                  <a:pt x="28658" y="67970"/>
                </a:lnTo>
                <a:lnTo>
                  <a:pt x="61941" y="45450"/>
                </a:lnTo>
                <a:lnTo>
                  <a:pt x="105604" y="26662"/>
                </a:lnTo>
                <a:lnTo>
                  <a:pt x="157953" y="12337"/>
                </a:lnTo>
                <a:lnTo>
                  <a:pt x="217296" y="3206"/>
                </a:lnTo>
                <a:lnTo>
                  <a:pt x="281939" y="0"/>
                </a:lnTo>
              </a:path>
            </a:pathLst>
          </a:custGeom>
          <a:ln w="38100">
            <a:solidFill>
              <a:srgbClr val="FF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569202" y="3126485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5" h="792479">
                <a:moveTo>
                  <a:pt x="283464" y="792480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4" y="0"/>
                </a:lnTo>
              </a:path>
            </a:pathLst>
          </a:custGeom>
          <a:ln w="38100">
            <a:solidFill>
              <a:srgbClr val="FF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435600" y="2474213"/>
            <a:ext cx="381000" cy="128524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just" marL="12700" marR="5080">
              <a:lnSpc>
                <a:spcPct val="97700"/>
              </a:lnSpc>
              <a:spcBef>
                <a:spcPts val="17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主 程 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82309" y="1165605"/>
            <a:ext cx="20396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o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e{</a:t>
            </a:r>
            <a:r>
              <a:rPr dirty="0" sz="2800" spc="-40" b="1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rite(x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47308" y="3359277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D4D4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48957" y="3259073"/>
            <a:ext cx="1770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FF99"/>
                </a:solidFill>
                <a:latin typeface="Times New Roman"/>
                <a:cs typeface="Times New Roman"/>
              </a:rPr>
              <a:t>two{write(x)}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04382" y="2117598"/>
            <a:ext cx="283845" cy="792480"/>
          </a:xfrm>
          <a:custGeom>
            <a:avLst/>
            <a:gdLst/>
            <a:ahLst/>
            <a:cxnLst/>
            <a:rect l="l" t="t" r="r" b="b"/>
            <a:pathLst>
              <a:path w="283845" h="792480">
                <a:moveTo>
                  <a:pt x="283463" y="792479"/>
                </a:moveTo>
                <a:lnTo>
                  <a:pt x="208094" y="790118"/>
                </a:lnTo>
                <a:lnTo>
                  <a:pt x="140377" y="783453"/>
                </a:lnTo>
                <a:lnTo>
                  <a:pt x="83010" y="773112"/>
                </a:lnTo>
                <a:lnTo>
                  <a:pt x="38692" y="759723"/>
                </a:lnTo>
                <a:lnTo>
                  <a:pt x="0" y="726313"/>
                </a:lnTo>
                <a:lnTo>
                  <a:pt x="0" y="66166"/>
                </a:lnTo>
                <a:lnTo>
                  <a:pt x="38692" y="32756"/>
                </a:lnTo>
                <a:lnTo>
                  <a:pt x="83010" y="19367"/>
                </a:lnTo>
                <a:lnTo>
                  <a:pt x="140377" y="9026"/>
                </a:lnTo>
                <a:lnTo>
                  <a:pt x="208094" y="2361"/>
                </a:lnTo>
                <a:lnTo>
                  <a:pt x="283463" y="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174104" y="2289429"/>
            <a:ext cx="7004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Times New Roman"/>
                <a:cs typeface="Times New Roman"/>
              </a:rPr>
              <a:t>P{a}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698363" y="3894835"/>
            <a:ext cx="2952750" cy="90805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461645">
              <a:lnSpc>
                <a:spcPct val="100000"/>
              </a:lnSpc>
              <a:spcBef>
                <a:spcPts val="695"/>
              </a:spcBef>
            </a:pPr>
            <a:r>
              <a:rPr dirty="0" sz="2400" spc="-5" b="1">
                <a:solidFill>
                  <a:srgbClr val="FFD4D4"/>
                </a:solidFill>
                <a:latin typeface="Times New Roman"/>
                <a:cs typeface="Times New Roman"/>
              </a:rPr>
              <a:t>{x=2;p(one);p(two)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{x=1;q}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51176" y="914400"/>
            <a:ext cx="4157979" cy="0"/>
          </a:xfrm>
          <a:custGeom>
            <a:avLst/>
            <a:gdLst/>
            <a:ahLst/>
            <a:cxnLst/>
            <a:rect l="l" t="t" r="r" b="b"/>
            <a:pathLst>
              <a:path w="4157979" h="0">
                <a:moveTo>
                  <a:pt x="0" y="0"/>
                </a:moveTo>
                <a:lnTo>
                  <a:pt x="4157472" y="0"/>
                </a:lnTo>
              </a:path>
            </a:pathLst>
          </a:custGeom>
          <a:ln w="762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7199" y="235458"/>
            <a:ext cx="5770245" cy="22250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810385">
              <a:lnSpc>
                <a:spcPct val="100000"/>
              </a:lnSpc>
              <a:spcBef>
                <a:spcPts val="95"/>
              </a:spcBef>
              <a:tabLst>
                <a:tab pos="4738370" algn="l"/>
              </a:tabLst>
            </a:pPr>
            <a:r>
              <a:rPr dirty="0" sz="4000" spc="-10">
                <a:latin typeface="宋体"/>
                <a:cs typeface="宋体"/>
              </a:rPr>
              <a:t>运行环</a:t>
            </a:r>
            <a:r>
              <a:rPr dirty="0" sz="4000" spc="-20">
                <a:latin typeface="宋体"/>
                <a:cs typeface="宋体"/>
              </a:rPr>
              <a:t>境</a:t>
            </a:r>
            <a:r>
              <a:rPr dirty="0" sz="4000">
                <a:latin typeface="宋体"/>
                <a:cs typeface="宋体"/>
              </a:rPr>
              <a:t>	</a:t>
            </a:r>
            <a:r>
              <a:rPr dirty="0" sz="4000" spc="-10">
                <a:latin typeface="宋体"/>
                <a:cs typeface="宋体"/>
              </a:rPr>
              <a:t>总结</a:t>
            </a:r>
            <a:endParaRPr sz="4000">
              <a:latin typeface="宋体"/>
              <a:cs typeface="宋体"/>
            </a:endParaRPr>
          </a:p>
          <a:p>
            <a:pPr marL="12700" marR="439420">
              <a:lnSpc>
                <a:spcPct val="150100"/>
              </a:lnSpc>
              <a:spcBef>
                <a:spcPts val="994"/>
              </a:spcBef>
            </a:pPr>
            <a:r>
              <a:rPr dirty="0" sz="3200" spc="-5">
                <a:solidFill>
                  <a:srgbClr val="FFFFFF"/>
                </a:solidFill>
                <a:latin typeface="宋体"/>
                <a:cs typeface="宋体"/>
              </a:rPr>
              <a:t>三种运行环境及三种分配方案 </a:t>
            </a:r>
            <a:r>
              <a:rPr dirty="0" sz="3200">
                <a:solidFill>
                  <a:srgbClr val="FFFFFF"/>
                </a:solidFill>
                <a:latin typeface="宋体"/>
                <a:cs typeface="宋体"/>
              </a:rPr>
              <a:t>概念：活动记录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56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dirty="0"/>
              <a:t>以过程为单位的栈式动态分</a:t>
            </a:r>
            <a:r>
              <a:rPr dirty="0" spc="-15"/>
              <a:t>配</a:t>
            </a:r>
            <a:r>
              <a:rPr dirty="0"/>
              <a:t>方案</a:t>
            </a:r>
          </a:p>
          <a:p>
            <a:pPr marL="12700" marR="5080">
              <a:lnSpc>
                <a:spcPts val="5760"/>
              </a:lnSpc>
              <a:spcBef>
                <a:spcPts val="509"/>
              </a:spcBef>
            </a:pPr>
            <a:r>
              <a:rPr dirty="0"/>
              <a:t>解决非局部变量的引用</a:t>
            </a:r>
            <a:r>
              <a:rPr dirty="0" spc="-15"/>
              <a:t>查</a:t>
            </a:r>
            <a:r>
              <a:rPr dirty="0"/>
              <a:t>找的两</a:t>
            </a:r>
            <a:r>
              <a:rPr dirty="0" spc="-15"/>
              <a:t>种</a:t>
            </a:r>
            <a:r>
              <a:rPr dirty="0"/>
              <a:t>方式： </a:t>
            </a:r>
            <a:r>
              <a:rPr dirty="0"/>
              <a:t>数据链</a:t>
            </a:r>
            <a:r>
              <a:rPr dirty="0" spc="-10">
                <a:latin typeface="Times New Roman"/>
                <a:cs typeface="Times New Roman"/>
              </a:rPr>
              <a:t>SL</a:t>
            </a:r>
            <a:r>
              <a:rPr dirty="0" spc="-10"/>
              <a:t>；</a:t>
            </a: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pc="-5"/>
              <a:t>嵌套层次显示</a:t>
            </a:r>
            <a:r>
              <a:rPr dirty="0"/>
              <a:t>表</a:t>
            </a:r>
            <a:r>
              <a:rPr dirty="0" spc="-5">
                <a:latin typeface="Times New Roman"/>
                <a:cs typeface="Times New Roman"/>
              </a:rPr>
              <a:t>Display</a:t>
            </a:r>
            <a:r>
              <a:rPr dirty="0" spc="-10"/>
              <a:t>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3350" y="2535758"/>
            <a:ext cx="6859270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12285" algn="l"/>
                <a:tab pos="5828665" algn="l"/>
              </a:tabLst>
            </a:pPr>
            <a:r>
              <a:rPr dirty="0" sz="8000" spc="1960">
                <a:solidFill>
                  <a:srgbClr val="FFFF66"/>
                </a:solidFill>
                <a:latin typeface="华文彩云"/>
                <a:cs typeface="华文彩云"/>
              </a:rPr>
              <a:t>第</a:t>
            </a:r>
            <a:r>
              <a:rPr dirty="0" sz="8000" spc="1970">
                <a:solidFill>
                  <a:srgbClr val="FFFF66"/>
                </a:solidFill>
                <a:latin typeface="华文彩云"/>
                <a:cs typeface="华文彩云"/>
              </a:rPr>
              <a:t>七</a:t>
            </a:r>
            <a:r>
              <a:rPr dirty="0" sz="8000" spc="-5">
                <a:solidFill>
                  <a:srgbClr val="FFFF66"/>
                </a:solidFill>
                <a:latin typeface="华文彩云"/>
                <a:cs typeface="华文彩云"/>
              </a:rPr>
              <a:t>章</a:t>
            </a:r>
            <a:r>
              <a:rPr dirty="0" sz="8000">
                <a:solidFill>
                  <a:srgbClr val="FFFF66"/>
                </a:solidFill>
                <a:latin typeface="华文彩云"/>
                <a:cs typeface="华文彩云"/>
              </a:rPr>
              <a:t>	</a:t>
            </a:r>
            <a:r>
              <a:rPr dirty="0" sz="8000" spc="-5">
                <a:solidFill>
                  <a:srgbClr val="FFFF66"/>
                </a:solidFill>
                <a:latin typeface="华文彩云"/>
                <a:cs typeface="华文彩云"/>
              </a:rPr>
              <a:t>结</a:t>
            </a:r>
            <a:r>
              <a:rPr dirty="0" sz="8000">
                <a:solidFill>
                  <a:srgbClr val="FFFF66"/>
                </a:solidFill>
                <a:latin typeface="华文彩云"/>
                <a:cs typeface="华文彩云"/>
              </a:rPr>
              <a:t>	</a:t>
            </a:r>
            <a:r>
              <a:rPr dirty="0" sz="8000" spc="-5">
                <a:solidFill>
                  <a:srgbClr val="FFFF66"/>
                </a:solidFill>
                <a:latin typeface="华文彩云"/>
                <a:cs typeface="华文彩云"/>
              </a:rPr>
              <a:t>束</a:t>
            </a:r>
            <a:endParaRPr sz="8000">
              <a:latin typeface="华文彩云"/>
              <a:cs typeface="华文彩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46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AEAE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wgz</dc:creator>
  <dc:title>ch6－运行环境</dc:title>
  <dcterms:created xsi:type="dcterms:W3CDTF">2025-05-20T06:50:19Z</dcterms:created>
  <dcterms:modified xsi:type="dcterms:W3CDTF">2025-05-20T06:50:19Z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2025-05-20T00:00:00Z</vt:filetime>
  </property>
</Properties>
</file>