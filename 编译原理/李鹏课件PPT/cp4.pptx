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FF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FF66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FF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FF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4297" y="792302"/>
            <a:ext cx="8855405" cy="1152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FFF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9143" y="2357074"/>
            <a:ext cx="8525713" cy="3319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FF66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11057" y="6697989"/>
            <a:ext cx="737870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3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png"/><Relationship Id="rId3" Type="http://schemas.openxmlformats.org/officeDocument/2006/relationships/slide" Target="slide39.xml"/><Relationship Id="rId4" Type="http://schemas.openxmlformats.org/officeDocument/2006/relationships/image" Target="../media/image30.png"/><Relationship Id="rId5" Type="http://schemas.openxmlformats.org/officeDocument/2006/relationships/slide" Target="slide25.xml"/><Relationship Id="rId6" Type="http://schemas.openxmlformats.org/officeDocument/2006/relationships/image" Target="../media/image23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png"/><Relationship Id="rId3" Type="http://schemas.openxmlformats.org/officeDocument/2006/relationships/image" Target="../media/image23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23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png"/><Relationship Id="rId3" Type="http://schemas.openxmlformats.org/officeDocument/2006/relationships/image" Target="../media/image23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3" Type="http://schemas.openxmlformats.org/officeDocument/2006/relationships/image" Target="../media/image41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.png"/><Relationship Id="rId3" Type="http://schemas.openxmlformats.org/officeDocument/2006/relationships/image" Target="../media/image23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43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3" Type="http://schemas.openxmlformats.org/officeDocument/2006/relationships/image" Target="../media/image44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3" Type="http://schemas.openxmlformats.org/officeDocument/2006/relationships/slide" Target="slide52.xml"/><Relationship Id="rId4" Type="http://schemas.openxmlformats.org/officeDocument/2006/relationships/slide" Target="slide54.xml"/><Relationship Id="rId5" Type="http://schemas.openxmlformats.org/officeDocument/2006/relationships/slide" Target="slide53.xml"/><Relationship Id="rId6" Type="http://schemas.openxmlformats.org/officeDocument/2006/relationships/slide" Target="slide55.xm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3" Type="http://schemas.openxmlformats.org/officeDocument/2006/relationships/slide" Target="slide51.xm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3" Type="http://schemas.openxmlformats.org/officeDocument/2006/relationships/slide" Target="slide51.xml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3" Type="http://schemas.openxmlformats.org/officeDocument/2006/relationships/slide" Target="slide51.xm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3" Type="http://schemas.openxmlformats.org/officeDocument/2006/relationships/slide" Target="slide51.xm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52.pn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48.png"/><Relationship Id="rId6" Type="http://schemas.openxmlformats.org/officeDocument/2006/relationships/image" Target="../media/image55.png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56.png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slide" Target="slide70.xml"/><Relationship Id="rId5" Type="http://schemas.openxmlformats.org/officeDocument/2006/relationships/slide" Target="slide71.xml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slide" Target="slide69.xml"/><Relationship Id="rId5" Type="http://schemas.openxmlformats.org/officeDocument/2006/relationships/slide" Target="slide71.xml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3" Type="http://schemas.openxmlformats.org/officeDocument/2006/relationships/slide" Target="slide69.xml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
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3" Type="http://schemas.openxmlformats.org/officeDocument/2006/relationships/image" Target="../media/image23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62.png"/><Relationship Id="rId9" Type="http://schemas.openxmlformats.org/officeDocument/2006/relationships/image" Target="../media/image63.png"/><Relationship Id="rId10" Type="http://schemas.openxmlformats.org/officeDocument/2006/relationships/image" Target="../media/image64.png"/></Relationships>
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
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3" Type="http://schemas.openxmlformats.org/officeDocument/2006/relationships/image" Target="../media/image65.png"/></Relationships>
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66.png"/></Relationships>
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
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
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67.png"/></Relationships>
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
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
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
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
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
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
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
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
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
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
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
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8.png"/></Relationships>
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
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png"/></Relationships>
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/Relationships>
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/Relationships>
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2.png"/></Relationships>
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746504" y="232790"/>
            <a:ext cx="525018" cy="5519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534411" y="19811"/>
            <a:ext cx="495300" cy="571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928104" y="5847791"/>
            <a:ext cx="577342" cy="5757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91628" y="5277611"/>
            <a:ext cx="495300" cy="495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297926" y="5203825"/>
            <a:ext cx="674624" cy="78814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91388" y="276606"/>
            <a:ext cx="866432" cy="9204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871727"/>
            <a:ext cx="9144000" cy="5986780"/>
          </a:xfrm>
          <a:custGeom>
            <a:avLst/>
            <a:gdLst/>
            <a:ahLst/>
            <a:cxnLst/>
            <a:rect l="l" t="t" r="r" b="b"/>
            <a:pathLst>
              <a:path w="9144000" h="5986780">
                <a:moveTo>
                  <a:pt x="9144000" y="5986268"/>
                </a:moveTo>
                <a:lnTo>
                  <a:pt x="9144000" y="0"/>
                </a:lnTo>
                <a:lnTo>
                  <a:pt x="0" y="0"/>
                </a:lnTo>
                <a:lnTo>
                  <a:pt x="0" y="5986268"/>
                </a:lnTo>
                <a:lnTo>
                  <a:pt x="9144000" y="5986268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938527" y="0"/>
            <a:ext cx="1750314" cy="136931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87623" y="0"/>
            <a:ext cx="1750314" cy="136931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236720" y="0"/>
            <a:ext cx="1750314" cy="136931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385815" y="0"/>
            <a:ext cx="1750314" cy="136931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394966" y="0"/>
            <a:ext cx="423545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25">
                <a:solidFill>
                  <a:srgbClr val="FF5D5D"/>
                </a:solidFill>
                <a:latin typeface="隶书"/>
                <a:cs typeface="隶书"/>
              </a:rPr>
              <a:t>课 程 内</a:t>
            </a:r>
            <a:r>
              <a:rPr dirty="0" sz="6000" spc="25">
                <a:solidFill>
                  <a:srgbClr val="FF5D5D"/>
                </a:solidFill>
                <a:latin typeface="隶书"/>
                <a:cs typeface="隶书"/>
              </a:rPr>
              <a:t> </a:t>
            </a:r>
            <a:r>
              <a:rPr dirty="0" sz="6000" spc="-25">
                <a:solidFill>
                  <a:srgbClr val="FF5D5D"/>
                </a:solidFill>
                <a:latin typeface="隶书"/>
                <a:cs typeface="隶书"/>
              </a:rPr>
              <a:t>容</a:t>
            </a:r>
            <a:endParaRPr sz="6000">
              <a:latin typeface="隶书"/>
              <a:cs typeface="隶书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778763"/>
            <a:ext cx="9144000" cy="13411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29564" y="1233954"/>
            <a:ext cx="5485765" cy="497649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第</a:t>
            </a:r>
            <a:r>
              <a:rPr dirty="0" sz="2800" spc="-69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1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章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编</a:t>
            </a:r>
            <a:r>
              <a:rPr dirty="0" sz="2800" spc="-70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译</a:t>
            </a:r>
            <a:r>
              <a:rPr dirty="0" sz="2800" spc="-70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引</a:t>
            </a:r>
            <a:r>
              <a:rPr dirty="0" sz="2800" spc="-69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论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第</a:t>
            </a:r>
            <a:r>
              <a:rPr dirty="0" sz="2800" spc="-70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2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章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 形式语言与自动机基础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第</a:t>
            </a:r>
            <a:r>
              <a:rPr dirty="0" sz="2800" spc="-70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3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章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词法分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析</a:t>
            </a:r>
            <a:r>
              <a:rPr dirty="0" sz="2800" spc="-68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(Lexical</a:t>
            </a:r>
            <a:r>
              <a:rPr dirty="0" sz="2800" spc="-17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Analysis)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  <a:tabLst>
                <a:tab pos="4014470" algn="l"/>
              </a:tabLst>
            </a:pP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第</a:t>
            </a:r>
            <a:r>
              <a:rPr dirty="0" sz="2800" spc="-68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4</a:t>
            </a:r>
            <a:r>
              <a:rPr dirty="0" sz="2800" spc="5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章</a:t>
            </a:r>
            <a:r>
              <a:rPr dirty="0" sz="2800" spc="1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语法分析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(Syntax	Analysis)</a:t>
            </a:r>
            <a:endParaRPr sz="2800">
              <a:latin typeface="Times New Roman"/>
              <a:cs typeface="Times New Roman"/>
            </a:endParaRPr>
          </a:p>
          <a:p>
            <a:pPr marL="1701164">
              <a:lnSpc>
                <a:spcPct val="100000"/>
              </a:lnSpc>
              <a:spcBef>
                <a:spcPts val="5"/>
              </a:spcBef>
            </a:pP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——</a:t>
            </a:r>
            <a:r>
              <a:rPr dirty="0" sz="2800" spc="-10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自上而下分析法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  <a:tabLst>
                <a:tab pos="4014470" algn="l"/>
              </a:tabLst>
            </a:pP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第</a:t>
            </a:r>
            <a:r>
              <a:rPr dirty="0" sz="2800" spc="-68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5</a:t>
            </a:r>
            <a:r>
              <a:rPr dirty="0" sz="2800" spc="5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章</a:t>
            </a:r>
            <a:r>
              <a:rPr dirty="0" sz="2800" spc="1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语法分析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(Syntax	Analysis)</a:t>
            </a:r>
            <a:endParaRPr sz="2800">
              <a:latin typeface="Times New Roman"/>
              <a:cs typeface="Times New Roman"/>
            </a:endParaRPr>
          </a:p>
          <a:p>
            <a:pPr marL="1701164">
              <a:lnSpc>
                <a:spcPct val="100000"/>
              </a:lnSpc>
            </a:pP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——</a:t>
            </a:r>
            <a:r>
              <a:rPr dirty="0" sz="2800" spc="-10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自下而上分析法</a:t>
            </a:r>
            <a:endParaRPr sz="2800">
              <a:latin typeface="宋体"/>
              <a:cs typeface="宋体"/>
            </a:endParaRPr>
          </a:p>
          <a:p>
            <a:pPr marL="12700" marR="293370">
              <a:lnSpc>
                <a:spcPct val="120000"/>
              </a:lnSpc>
              <a:spcBef>
                <a:spcPts val="5"/>
              </a:spcBef>
            </a:pP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第</a:t>
            </a:r>
            <a:r>
              <a:rPr dirty="0" sz="2800" spc="-71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6</a:t>
            </a:r>
            <a:r>
              <a:rPr dirty="0" sz="2800" spc="-25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章</a:t>
            </a:r>
            <a:r>
              <a:rPr dirty="0" sz="2800" spc="-40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语义分析与中间代码生成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第</a:t>
            </a:r>
            <a:r>
              <a:rPr dirty="0" sz="2800" spc="-69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7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章</a:t>
            </a:r>
            <a:r>
              <a:rPr dirty="0" sz="2800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运</a:t>
            </a:r>
            <a:r>
              <a:rPr dirty="0" sz="2800" spc="-710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行</a:t>
            </a:r>
            <a:r>
              <a:rPr dirty="0" sz="2800" spc="-69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环</a:t>
            </a:r>
            <a:r>
              <a:rPr dirty="0" sz="2800" spc="-69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境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第</a:t>
            </a:r>
            <a:r>
              <a:rPr dirty="0" sz="2800" spc="-70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8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章</a:t>
            </a:r>
            <a:r>
              <a:rPr dirty="0" sz="2800" spc="-10" b="1">
                <a:solidFill>
                  <a:srgbClr val="FFFF99"/>
                </a:solidFill>
                <a:latin typeface="宋体"/>
                <a:cs typeface="宋体"/>
              </a:rPr>
              <a:t> 代码优化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（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optimization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126479" y="2782823"/>
            <a:ext cx="2194560" cy="535305"/>
          </a:xfrm>
          <a:custGeom>
            <a:avLst/>
            <a:gdLst/>
            <a:ahLst/>
            <a:cxnLst/>
            <a:rect l="l" t="t" r="r" b="b"/>
            <a:pathLst>
              <a:path w="2194559" h="535304">
                <a:moveTo>
                  <a:pt x="548767" y="0"/>
                </a:moveTo>
                <a:lnTo>
                  <a:pt x="0" y="267462"/>
                </a:lnTo>
                <a:lnTo>
                  <a:pt x="548767" y="534924"/>
                </a:lnTo>
                <a:lnTo>
                  <a:pt x="548767" y="401192"/>
                </a:lnTo>
                <a:lnTo>
                  <a:pt x="2194560" y="401192"/>
                </a:lnTo>
                <a:lnTo>
                  <a:pt x="2194560" y="133730"/>
                </a:lnTo>
                <a:lnTo>
                  <a:pt x="548767" y="133730"/>
                </a:lnTo>
                <a:lnTo>
                  <a:pt x="548767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126479" y="2782823"/>
            <a:ext cx="2194560" cy="535305"/>
          </a:xfrm>
          <a:custGeom>
            <a:avLst/>
            <a:gdLst/>
            <a:ahLst/>
            <a:cxnLst/>
            <a:rect l="l" t="t" r="r" b="b"/>
            <a:pathLst>
              <a:path w="2194559" h="535304">
                <a:moveTo>
                  <a:pt x="0" y="267462"/>
                </a:moveTo>
                <a:lnTo>
                  <a:pt x="548767" y="0"/>
                </a:lnTo>
                <a:lnTo>
                  <a:pt x="548767" y="133730"/>
                </a:lnTo>
                <a:lnTo>
                  <a:pt x="2194560" y="133730"/>
                </a:lnTo>
                <a:lnTo>
                  <a:pt x="2194560" y="401192"/>
                </a:lnTo>
                <a:lnTo>
                  <a:pt x="548767" y="401192"/>
                </a:lnTo>
                <a:lnTo>
                  <a:pt x="548767" y="534924"/>
                </a:lnTo>
                <a:lnTo>
                  <a:pt x="0" y="267462"/>
                </a:lnTo>
                <a:close/>
              </a:path>
            </a:pathLst>
          </a:custGeom>
          <a:ln w="9524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87655" rIns="0" bIns="0" rtlCol="0" vert="horz">
            <a:spAutoFit/>
          </a:bodyPr>
          <a:lstStyle/>
          <a:p>
            <a:pPr lvl="1" marL="1626235" indent="-1031875">
              <a:lnSpc>
                <a:spcPct val="100000"/>
              </a:lnSpc>
              <a:spcBef>
                <a:spcPts val="2265"/>
              </a:spcBef>
              <a:buClr>
                <a:srgbClr val="FFFF00"/>
              </a:buClr>
              <a:buFont typeface="Times New Roman"/>
              <a:buAutoNum type="arabicPeriod"/>
              <a:tabLst>
                <a:tab pos="1626235" algn="l"/>
                <a:tab pos="1626870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语法分析综述</a:t>
            </a:r>
            <a:endParaRPr sz="3600">
              <a:latin typeface="宋体"/>
              <a:cs typeface="宋体"/>
            </a:endParaRPr>
          </a:p>
          <a:p>
            <a:pPr lvl="1" marL="1626235" indent="-1031875">
              <a:lnSpc>
                <a:spcPct val="100000"/>
              </a:lnSpc>
              <a:spcBef>
                <a:spcPts val="2160"/>
              </a:spcBef>
              <a:buClr>
                <a:srgbClr val="FFFF00"/>
              </a:buClr>
              <a:buFont typeface="Times New Roman"/>
              <a:buAutoNum type="arabicPeriod"/>
              <a:tabLst>
                <a:tab pos="1626235" algn="l"/>
                <a:tab pos="1626870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不确定的自上而下分析法</a:t>
            </a:r>
            <a:endParaRPr sz="3600">
              <a:latin typeface="宋体"/>
              <a:cs typeface="宋体"/>
            </a:endParaRPr>
          </a:p>
          <a:p>
            <a:pPr lvl="1" marL="1626235" indent="-1031875">
              <a:lnSpc>
                <a:spcPct val="100000"/>
              </a:lnSpc>
              <a:spcBef>
                <a:spcPts val="2165"/>
              </a:spcBef>
              <a:buClr>
                <a:srgbClr val="FFFF00"/>
              </a:buClr>
              <a:buFont typeface="Times New Roman"/>
              <a:buAutoNum type="arabicPeriod"/>
              <a:tabLst>
                <a:tab pos="1626235" algn="l"/>
                <a:tab pos="1626870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递归下降分析法与递归下降分析器</a:t>
            </a:r>
            <a:endParaRPr sz="3600">
              <a:latin typeface="宋体"/>
              <a:cs typeface="宋体"/>
            </a:endParaRPr>
          </a:p>
          <a:p>
            <a:pPr lvl="1" marL="1626235" indent="-1031875">
              <a:lnSpc>
                <a:spcPct val="100000"/>
              </a:lnSpc>
              <a:spcBef>
                <a:spcPts val="2160"/>
              </a:spcBef>
              <a:buClr>
                <a:srgbClr val="FFFF00"/>
              </a:buClr>
              <a:buAutoNum type="arabicPeriod"/>
              <a:tabLst>
                <a:tab pos="1626235" algn="l"/>
                <a:tab pos="1626870" algn="l"/>
              </a:tabLst>
            </a:pP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LL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(1)分析法</a:t>
            </a:r>
            <a:r>
              <a:rPr dirty="0" sz="3600" b="1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LL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(1)分析器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41910">
              <a:lnSpc>
                <a:spcPts val="5275"/>
              </a:lnSpc>
              <a:spcBef>
                <a:spcPts val="105"/>
              </a:spcBef>
              <a:tabLst>
                <a:tab pos="2281555" algn="l"/>
                <a:tab pos="6634480" algn="l"/>
              </a:tabLst>
            </a:pPr>
            <a:r>
              <a:rPr dirty="0" spc="-15">
                <a:latin typeface="黑体"/>
                <a:cs typeface="黑体"/>
              </a:rPr>
              <a:t>第</a:t>
            </a:r>
            <a:r>
              <a:rPr dirty="0" spc="-1115">
                <a:latin typeface="黑体"/>
                <a:cs typeface="黑体"/>
              </a:rPr>
              <a:t> </a:t>
            </a:r>
            <a:r>
              <a:rPr dirty="0"/>
              <a:t>4</a:t>
            </a:r>
            <a:r>
              <a:rPr dirty="0" spc="-5"/>
              <a:t> </a:t>
            </a:r>
            <a:r>
              <a:rPr dirty="0" spc="-15">
                <a:latin typeface="黑体"/>
                <a:cs typeface="黑体"/>
              </a:rPr>
              <a:t>章</a:t>
            </a:r>
            <a:r>
              <a:rPr dirty="0">
                <a:latin typeface="黑体"/>
                <a:cs typeface="黑体"/>
              </a:rPr>
              <a:t>	</a:t>
            </a:r>
            <a:r>
              <a:rPr dirty="0">
                <a:latin typeface="黑体"/>
                <a:cs typeface="黑体"/>
              </a:rPr>
              <a:t>语法</a:t>
            </a:r>
            <a:r>
              <a:rPr dirty="0" spc="-15">
                <a:latin typeface="黑体"/>
                <a:cs typeface="黑体"/>
              </a:rPr>
              <a:t>分</a:t>
            </a:r>
            <a:r>
              <a:rPr dirty="0" spc="10">
                <a:latin typeface="黑体"/>
                <a:cs typeface="黑体"/>
              </a:rPr>
              <a:t>析</a:t>
            </a:r>
            <a:r>
              <a:rPr dirty="0" spc="-20"/>
              <a:t>(</a:t>
            </a:r>
            <a:r>
              <a:rPr dirty="0"/>
              <a:t>Syntax</a:t>
            </a:r>
            <a:r>
              <a:rPr dirty="0"/>
              <a:t>	</a:t>
            </a:r>
            <a:r>
              <a:rPr dirty="0"/>
              <a:t>Analysis)</a:t>
            </a:r>
          </a:p>
          <a:p>
            <a:pPr marL="4221480">
              <a:lnSpc>
                <a:spcPts val="3595"/>
              </a:lnSpc>
            </a:pPr>
            <a:r>
              <a:rPr dirty="0" sz="3000">
                <a:latin typeface="Arial"/>
                <a:cs typeface="Arial"/>
              </a:rPr>
              <a:t>——</a:t>
            </a:r>
            <a:r>
              <a:rPr dirty="0" sz="3000" spc="40">
                <a:latin typeface="Arial"/>
                <a:cs typeface="Arial"/>
              </a:rPr>
              <a:t> </a:t>
            </a:r>
            <a:r>
              <a:rPr dirty="0" sz="2800" spc="-5">
                <a:latin typeface="宋体"/>
                <a:cs typeface="宋体"/>
              </a:rPr>
              <a:t>自上而下分析法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601973" y="11378"/>
            <a:ext cx="19443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4215" algn="l"/>
              </a:tabLst>
            </a:pPr>
            <a:r>
              <a:rPr dirty="0" sz="2400" spc="-1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h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10" b="1">
                <a:solidFill>
                  <a:srgbClr val="A15100"/>
                </a:solidFill>
                <a:latin typeface="华文新魏"/>
                <a:cs typeface="华文新魏"/>
              </a:rPr>
              <a:t>语法分析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97423" y="2782823"/>
            <a:ext cx="2196465" cy="535305"/>
          </a:xfrm>
          <a:custGeom>
            <a:avLst/>
            <a:gdLst/>
            <a:ahLst/>
            <a:cxnLst/>
            <a:rect l="l" t="t" r="r" b="b"/>
            <a:pathLst>
              <a:path w="2196465" h="535304">
                <a:moveTo>
                  <a:pt x="548766" y="0"/>
                </a:moveTo>
                <a:lnTo>
                  <a:pt x="0" y="267462"/>
                </a:lnTo>
                <a:lnTo>
                  <a:pt x="548766" y="534924"/>
                </a:lnTo>
                <a:lnTo>
                  <a:pt x="548766" y="401192"/>
                </a:lnTo>
                <a:lnTo>
                  <a:pt x="2196083" y="401192"/>
                </a:lnTo>
                <a:lnTo>
                  <a:pt x="2196083" y="133730"/>
                </a:lnTo>
                <a:lnTo>
                  <a:pt x="548766" y="133730"/>
                </a:lnTo>
                <a:lnTo>
                  <a:pt x="548766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297423" y="2782823"/>
            <a:ext cx="2196465" cy="535305"/>
          </a:xfrm>
          <a:custGeom>
            <a:avLst/>
            <a:gdLst/>
            <a:ahLst/>
            <a:cxnLst/>
            <a:rect l="l" t="t" r="r" b="b"/>
            <a:pathLst>
              <a:path w="2196465" h="535304">
                <a:moveTo>
                  <a:pt x="0" y="267462"/>
                </a:moveTo>
                <a:lnTo>
                  <a:pt x="548766" y="0"/>
                </a:lnTo>
                <a:lnTo>
                  <a:pt x="548766" y="133730"/>
                </a:lnTo>
                <a:lnTo>
                  <a:pt x="2196083" y="133730"/>
                </a:lnTo>
                <a:lnTo>
                  <a:pt x="2196083" y="401192"/>
                </a:lnTo>
                <a:lnTo>
                  <a:pt x="548766" y="401192"/>
                </a:lnTo>
                <a:lnTo>
                  <a:pt x="548766" y="534924"/>
                </a:lnTo>
                <a:lnTo>
                  <a:pt x="0" y="267462"/>
                </a:lnTo>
                <a:close/>
              </a:path>
            </a:pathLst>
          </a:custGeom>
          <a:ln w="9524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2842" y="2121869"/>
            <a:ext cx="5531485" cy="3319145"/>
          </a:xfrm>
          <a:prstGeom prst="rect">
            <a:avLst/>
          </a:prstGeom>
        </p:spPr>
        <p:txBody>
          <a:bodyPr wrap="square" lIns="0" tIns="287655" rIns="0" bIns="0" rtlCol="0" vert="horz">
            <a:spAutoFit/>
          </a:bodyPr>
          <a:lstStyle/>
          <a:p>
            <a:pPr lvl="2" marL="1386840" indent="-1374775">
              <a:lnSpc>
                <a:spcPct val="100000"/>
              </a:lnSpc>
              <a:spcBef>
                <a:spcPts val="2265"/>
              </a:spcBef>
              <a:buClr>
                <a:srgbClr val="FFFF00"/>
              </a:buClr>
              <a:buFont typeface="Times New Roman"/>
              <a:buAutoNum type="arabicPeriod"/>
              <a:tabLst>
                <a:tab pos="1386840" algn="l"/>
                <a:tab pos="1387475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语法分析程序的功能</a:t>
            </a:r>
            <a:endParaRPr sz="3600">
              <a:latin typeface="宋体"/>
              <a:cs typeface="宋体"/>
            </a:endParaRPr>
          </a:p>
          <a:p>
            <a:pPr lvl="2" marL="1386840" indent="-1374775">
              <a:lnSpc>
                <a:spcPct val="100000"/>
              </a:lnSpc>
              <a:spcBef>
                <a:spcPts val="2165"/>
              </a:spcBef>
              <a:buClr>
                <a:srgbClr val="FFFF00"/>
              </a:buClr>
              <a:buFont typeface="Times New Roman"/>
              <a:buAutoNum type="arabicPeriod"/>
              <a:tabLst>
                <a:tab pos="1386840" algn="l"/>
                <a:tab pos="1387475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语法分析方法</a:t>
            </a:r>
            <a:endParaRPr sz="3600">
              <a:latin typeface="宋体"/>
              <a:cs typeface="宋体"/>
            </a:endParaRPr>
          </a:p>
          <a:p>
            <a:pPr marL="1393190" marR="458470">
              <a:lnSpc>
                <a:spcPct val="150000"/>
              </a:lnSpc>
            </a:pPr>
            <a:r>
              <a:rPr dirty="0" sz="3600" b="1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3600" spc="-15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3600" spc="-9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自上而下分析 </a:t>
            </a:r>
            <a:r>
              <a:rPr dirty="0" sz="3600" b="1">
                <a:solidFill>
                  <a:srgbClr val="FFFFFF"/>
                </a:solidFill>
                <a:latin typeface="宋体"/>
                <a:cs typeface="宋体"/>
              </a:rPr>
              <a:t>二</a:t>
            </a:r>
            <a:r>
              <a:rPr dirty="0" sz="3600" spc="-15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3600" spc="-9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自下而上分析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6172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617220"/>
          </a:xfrm>
          <a:custGeom>
            <a:avLst/>
            <a:gdLst/>
            <a:ahLst/>
            <a:cxnLst/>
            <a:rect l="l" t="t" r="r" b="b"/>
            <a:pathLst>
              <a:path w="9144000" h="617220">
                <a:moveTo>
                  <a:pt x="0" y="617219"/>
                </a:moveTo>
                <a:lnTo>
                  <a:pt x="9144000" y="617219"/>
                </a:lnTo>
                <a:lnTo>
                  <a:pt x="9144000" y="0"/>
                </a:lnTo>
                <a:lnTo>
                  <a:pt x="0" y="0"/>
                </a:lnTo>
                <a:lnTo>
                  <a:pt x="0" y="617219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666113" y="121107"/>
            <a:ext cx="19443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4215" algn="l"/>
              </a:tabLst>
            </a:pPr>
            <a:r>
              <a:rPr dirty="0" sz="2400" spc="-1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h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10" b="1">
                <a:solidFill>
                  <a:srgbClr val="A15100"/>
                </a:solidFill>
                <a:latin typeface="华文新魏"/>
                <a:cs typeface="华文新魏"/>
              </a:rPr>
              <a:t>语法分析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99279" y="121107"/>
            <a:ext cx="307784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1665" algn="l"/>
              </a:tabLst>
            </a:pP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4.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1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语法分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析程序</a:t>
            </a:r>
            <a:r>
              <a:rPr dirty="0" sz="2400" spc="-10" b="1">
                <a:solidFill>
                  <a:srgbClr val="A15100"/>
                </a:solidFill>
                <a:latin typeface="华文新魏"/>
                <a:cs typeface="华文新魏"/>
              </a:rPr>
              <a:t>综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述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963156" y="2514600"/>
            <a:ext cx="1483360" cy="535305"/>
          </a:xfrm>
          <a:custGeom>
            <a:avLst/>
            <a:gdLst/>
            <a:ahLst/>
            <a:cxnLst/>
            <a:rect l="l" t="t" r="r" b="b"/>
            <a:pathLst>
              <a:path w="1483359" h="535305">
                <a:moveTo>
                  <a:pt x="370586" y="0"/>
                </a:moveTo>
                <a:lnTo>
                  <a:pt x="0" y="267462"/>
                </a:lnTo>
                <a:lnTo>
                  <a:pt x="370586" y="534924"/>
                </a:lnTo>
                <a:lnTo>
                  <a:pt x="370586" y="401192"/>
                </a:lnTo>
                <a:lnTo>
                  <a:pt x="1482852" y="401192"/>
                </a:lnTo>
                <a:lnTo>
                  <a:pt x="1482852" y="133730"/>
                </a:lnTo>
                <a:lnTo>
                  <a:pt x="370586" y="133730"/>
                </a:lnTo>
                <a:lnTo>
                  <a:pt x="370586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963156" y="2514600"/>
            <a:ext cx="1483360" cy="535305"/>
          </a:xfrm>
          <a:custGeom>
            <a:avLst/>
            <a:gdLst/>
            <a:ahLst/>
            <a:cxnLst/>
            <a:rect l="l" t="t" r="r" b="b"/>
            <a:pathLst>
              <a:path w="1483359" h="535305">
                <a:moveTo>
                  <a:pt x="0" y="267462"/>
                </a:moveTo>
                <a:lnTo>
                  <a:pt x="370586" y="0"/>
                </a:lnTo>
                <a:lnTo>
                  <a:pt x="370586" y="133730"/>
                </a:lnTo>
                <a:lnTo>
                  <a:pt x="1482852" y="133730"/>
                </a:lnTo>
                <a:lnTo>
                  <a:pt x="1482852" y="401192"/>
                </a:lnTo>
                <a:lnTo>
                  <a:pt x="370586" y="401192"/>
                </a:lnTo>
                <a:lnTo>
                  <a:pt x="370586" y="534924"/>
                </a:lnTo>
                <a:lnTo>
                  <a:pt x="0" y="267462"/>
                </a:lnTo>
                <a:close/>
              </a:path>
            </a:pathLst>
          </a:custGeom>
          <a:ln w="9525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679194" y="1160145"/>
            <a:ext cx="491490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35075" algn="l"/>
              </a:tabLst>
            </a:pPr>
            <a:r>
              <a:rPr dirty="0" sz="4800">
                <a:solidFill>
                  <a:srgbClr val="FF99CC"/>
                </a:solidFill>
              </a:rPr>
              <a:t>4.1	</a:t>
            </a:r>
            <a:r>
              <a:rPr dirty="0" sz="4800" spc="-20">
                <a:solidFill>
                  <a:srgbClr val="FF99CC"/>
                </a:solidFill>
                <a:latin typeface="黑体"/>
                <a:cs typeface="黑体"/>
              </a:rPr>
              <a:t>语</a:t>
            </a:r>
            <a:r>
              <a:rPr dirty="0" sz="4800" spc="-5">
                <a:solidFill>
                  <a:srgbClr val="FF99CC"/>
                </a:solidFill>
                <a:latin typeface="黑体"/>
                <a:cs typeface="黑体"/>
              </a:rPr>
              <a:t>法</a:t>
            </a:r>
            <a:r>
              <a:rPr dirty="0" sz="4800" spc="-20">
                <a:solidFill>
                  <a:srgbClr val="FF99CC"/>
                </a:solidFill>
                <a:latin typeface="黑体"/>
                <a:cs typeface="黑体"/>
              </a:rPr>
              <a:t>分</a:t>
            </a:r>
            <a:r>
              <a:rPr dirty="0" sz="4800" spc="10">
                <a:solidFill>
                  <a:srgbClr val="FF99CC"/>
                </a:solidFill>
                <a:latin typeface="黑体"/>
                <a:cs typeface="黑体"/>
              </a:rPr>
              <a:t>析</a:t>
            </a:r>
            <a:r>
              <a:rPr dirty="0" sz="4800" spc="-5">
                <a:solidFill>
                  <a:srgbClr val="FF99CC"/>
                </a:solidFill>
                <a:latin typeface="黑体"/>
                <a:cs typeface="黑体"/>
              </a:rPr>
              <a:t>综</a:t>
            </a:r>
            <a:r>
              <a:rPr dirty="0" sz="4800" spc="-20">
                <a:solidFill>
                  <a:srgbClr val="FF99CC"/>
                </a:solidFill>
                <a:latin typeface="黑体"/>
                <a:cs typeface="黑体"/>
              </a:rPr>
              <a:t>述</a:t>
            </a:r>
            <a:endParaRPr sz="4800">
              <a:latin typeface="黑体"/>
              <a:cs typeface="黑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531611" y="11378"/>
            <a:ext cx="351472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53745" algn="l"/>
              </a:tabLst>
            </a:pP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4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.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1</a:t>
            </a:r>
            <a:r>
              <a:rPr dirty="0" sz="2400" spc="-5" b="1">
                <a:solidFill>
                  <a:srgbClr val="A15100"/>
                </a:solidFill>
                <a:latin typeface="华文新魏"/>
                <a:cs typeface="华文新魏"/>
              </a:rPr>
              <a:t>.1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	</a:t>
            </a:r>
            <a:r>
              <a:rPr dirty="0" u="sng" sz="2400" spc="-59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4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语法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分析程</a:t>
            </a:r>
            <a:r>
              <a:rPr dirty="0" u="sng" sz="2400" spc="-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序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的功能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24961" y="3335273"/>
            <a:ext cx="2583180" cy="990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124961" y="3335273"/>
            <a:ext cx="2583180" cy="990600"/>
          </a:xfrm>
          <a:prstGeom prst="rect">
            <a:avLst/>
          </a:prstGeom>
          <a:ln w="38100">
            <a:solidFill>
              <a:srgbClr val="00FFFF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marL="398780">
              <a:lnSpc>
                <a:spcPts val="3140"/>
              </a:lnSpc>
              <a:spcBef>
                <a:spcPts val="385"/>
              </a:spcBef>
            </a:pPr>
            <a:r>
              <a:rPr dirty="0" sz="2800" spc="-5" b="1">
                <a:latin typeface="宋体"/>
                <a:cs typeface="宋体"/>
              </a:rPr>
              <a:t>语法分析器</a:t>
            </a:r>
            <a:endParaRPr sz="2800">
              <a:latin typeface="宋体"/>
              <a:cs typeface="宋体"/>
            </a:endParaRPr>
          </a:p>
          <a:p>
            <a:pPr marL="405130">
              <a:lnSpc>
                <a:spcPts val="3140"/>
              </a:lnSpc>
            </a:pPr>
            <a:r>
              <a:rPr dirty="0" sz="2800" spc="-5" b="1">
                <a:latin typeface="Times New Roman"/>
                <a:cs typeface="Times New Roman"/>
              </a:rPr>
              <a:t>( </a:t>
            </a:r>
            <a:r>
              <a:rPr dirty="0" sz="2800" spc="-10" b="1">
                <a:latin typeface="Times New Roman"/>
                <a:cs typeface="Times New Roman"/>
              </a:rPr>
              <a:t>Analyzer</a:t>
            </a:r>
            <a:r>
              <a:rPr dirty="0" sz="2800" spc="-23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44844" y="3334892"/>
            <a:ext cx="14535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源程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dirty="0" sz="2400" spc="-8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L2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08141" y="3849623"/>
            <a:ext cx="2508885" cy="114300"/>
          </a:xfrm>
          <a:custGeom>
            <a:avLst/>
            <a:gdLst/>
            <a:ahLst/>
            <a:cxnLst/>
            <a:rect l="l" t="t" r="r" b="b"/>
            <a:pathLst>
              <a:path w="2508884" h="114300">
                <a:moveTo>
                  <a:pt x="2318004" y="0"/>
                </a:moveTo>
                <a:lnTo>
                  <a:pt x="2318004" y="114300"/>
                </a:lnTo>
                <a:lnTo>
                  <a:pt x="2445004" y="76200"/>
                </a:lnTo>
                <a:lnTo>
                  <a:pt x="2337054" y="76200"/>
                </a:lnTo>
                <a:lnTo>
                  <a:pt x="2337054" y="38100"/>
                </a:lnTo>
                <a:lnTo>
                  <a:pt x="2445004" y="38100"/>
                </a:lnTo>
                <a:lnTo>
                  <a:pt x="2318004" y="0"/>
                </a:lnTo>
                <a:close/>
              </a:path>
              <a:path w="2508884" h="114300">
                <a:moveTo>
                  <a:pt x="231800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318004" y="76200"/>
                </a:lnTo>
                <a:lnTo>
                  <a:pt x="2318004" y="38100"/>
                </a:lnTo>
                <a:close/>
              </a:path>
              <a:path w="2508884" h="114300">
                <a:moveTo>
                  <a:pt x="2445004" y="38100"/>
                </a:moveTo>
                <a:lnTo>
                  <a:pt x="2337054" y="38100"/>
                </a:lnTo>
                <a:lnTo>
                  <a:pt x="2337054" y="76200"/>
                </a:lnTo>
                <a:lnTo>
                  <a:pt x="2445004" y="76200"/>
                </a:lnTo>
                <a:lnTo>
                  <a:pt x="2508504" y="57150"/>
                </a:lnTo>
                <a:lnTo>
                  <a:pt x="2445004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43761" y="3867911"/>
            <a:ext cx="1981200" cy="114300"/>
          </a:xfrm>
          <a:custGeom>
            <a:avLst/>
            <a:gdLst/>
            <a:ahLst/>
            <a:cxnLst/>
            <a:rect l="l" t="t" r="r" b="b"/>
            <a:pathLst>
              <a:path w="1981200" h="114300">
                <a:moveTo>
                  <a:pt x="1790700" y="0"/>
                </a:moveTo>
                <a:lnTo>
                  <a:pt x="1790700" y="114300"/>
                </a:lnTo>
                <a:lnTo>
                  <a:pt x="1917700" y="76200"/>
                </a:lnTo>
                <a:lnTo>
                  <a:pt x="1809750" y="76200"/>
                </a:lnTo>
                <a:lnTo>
                  <a:pt x="1809750" y="38100"/>
                </a:lnTo>
                <a:lnTo>
                  <a:pt x="1917700" y="38100"/>
                </a:lnTo>
                <a:lnTo>
                  <a:pt x="1790700" y="0"/>
                </a:lnTo>
                <a:close/>
              </a:path>
              <a:path w="1981200" h="114300">
                <a:moveTo>
                  <a:pt x="17907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790700" y="76200"/>
                </a:lnTo>
                <a:lnTo>
                  <a:pt x="1790700" y="38100"/>
                </a:lnTo>
                <a:close/>
              </a:path>
              <a:path w="1981200" h="114300">
                <a:moveTo>
                  <a:pt x="1917700" y="38100"/>
                </a:moveTo>
                <a:lnTo>
                  <a:pt x="1809750" y="38100"/>
                </a:lnTo>
                <a:lnTo>
                  <a:pt x="1809750" y="76200"/>
                </a:lnTo>
                <a:lnTo>
                  <a:pt x="1917700" y="76200"/>
                </a:lnTo>
                <a:lnTo>
                  <a:pt x="1981200" y="57150"/>
                </a:lnTo>
                <a:lnTo>
                  <a:pt x="19177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359788" y="3361131"/>
            <a:ext cx="129984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源程序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L1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637" y="0"/>
            <a:ext cx="5208905" cy="1495425"/>
          </a:xfrm>
          <a:prstGeom prst="rect">
            <a:avLst/>
          </a:prstGeom>
        </p:spPr>
        <p:txBody>
          <a:bodyPr wrap="square" lIns="0" tIns="2266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85"/>
              </a:spcBef>
              <a:tabLst>
                <a:tab pos="704215" algn="l"/>
                <a:tab pos="2147570" algn="l"/>
                <a:tab pos="2753360" algn="l"/>
              </a:tabLst>
            </a:pPr>
            <a:r>
              <a:rPr dirty="0" sz="2400" spc="-1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h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语法分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析	</a:t>
            </a: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4.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1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语法分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析程序</a:t>
            </a:r>
            <a:r>
              <a:rPr dirty="0" sz="2400" spc="-10" b="1">
                <a:solidFill>
                  <a:srgbClr val="A15100"/>
                </a:solidFill>
                <a:latin typeface="华文新魏"/>
                <a:cs typeface="华文新魏"/>
              </a:rPr>
              <a:t>综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述</a:t>
            </a:r>
            <a:endParaRPr sz="24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>
              <a:latin typeface="华文新魏"/>
              <a:cs typeface="华文新魏"/>
            </a:endParaRPr>
          </a:p>
          <a:p>
            <a:pPr marL="710565" indent="-317500">
              <a:lnSpc>
                <a:spcPct val="100000"/>
              </a:lnSpc>
              <a:buClr>
                <a:srgbClr val="99FF99"/>
              </a:buClr>
              <a:buSzPct val="114062"/>
              <a:buFont typeface="Wingdings"/>
              <a:buChar char=""/>
              <a:tabLst>
                <a:tab pos="711200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语法分析程序的功能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89710" y="5290565"/>
            <a:ext cx="1031747" cy="6202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489710" y="5290565"/>
            <a:ext cx="1031875" cy="62039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6350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500"/>
              </a:spcBef>
            </a:pPr>
            <a:r>
              <a:rPr dirty="0" sz="2000" b="1">
                <a:latin typeface="Times New Roman"/>
                <a:cs typeface="Times New Roman"/>
              </a:rPr>
              <a:t>scanner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923538" y="5295138"/>
            <a:ext cx="1289303" cy="6202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923538" y="5295138"/>
            <a:ext cx="1289685" cy="620395"/>
          </a:xfrm>
          <a:prstGeom prst="rect">
            <a:avLst/>
          </a:prstGeom>
          <a:ln w="38100">
            <a:solidFill>
              <a:srgbClr val="FFD4D4"/>
            </a:solidFill>
          </a:ln>
        </p:spPr>
        <p:txBody>
          <a:bodyPr wrap="square" lIns="0" tIns="84455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665"/>
              </a:spcBef>
            </a:pPr>
            <a:r>
              <a:rPr dirty="0" sz="2000" spc="5" b="1"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502146" y="5121402"/>
            <a:ext cx="1714500" cy="9753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502146" y="5121402"/>
            <a:ext cx="1714500" cy="975360"/>
          </a:xfrm>
          <a:prstGeom prst="rect">
            <a:avLst/>
          </a:prstGeom>
          <a:ln w="38100">
            <a:solidFill>
              <a:srgbClr val="FFFF99"/>
            </a:solidFill>
          </a:ln>
        </p:spPr>
        <p:txBody>
          <a:bodyPr wrap="square" lIns="0" tIns="55880" rIns="0" bIns="0" rtlCol="0" vert="horz">
            <a:spAutoFit/>
          </a:bodyPr>
          <a:lstStyle/>
          <a:p>
            <a:pPr marL="344170">
              <a:lnSpc>
                <a:spcPct val="100000"/>
              </a:lnSpc>
              <a:spcBef>
                <a:spcPts val="440"/>
              </a:spcBef>
            </a:pPr>
            <a:r>
              <a:rPr dirty="0" sz="2000" spc="5" b="1">
                <a:latin typeface="宋体"/>
                <a:cs typeface="宋体"/>
              </a:rPr>
              <a:t>语义分析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440"/>
              </a:spcBef>
            </a:pPr>
            <a:r>
              <a:rPr dirty="0" sz="2000" b="1">
                <a:latin typeface="宋体"/>
                <a:cs typeface="宋体"/>
              </a:rPr>
              <a:t>中间代码生成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648450" y="5609082"/>
            <a:ext cx="1430020" cy="0"/>
          </a:xfrm>
          <a:custGeom>
            <a:avLst/>
            <a:gdLst/>
            <a:ahLst/>
            <a:cxnLst/>
            <a:rect l="l" t="t" r="r" b="b"/>
            <a:pathLst>
              <a:path w="1430020" h="0">
                <a:moveTo>
                  <a:pt x="0" y="0"/>
                </a:moveTo>
                <a:lnTo>
                  <a:pt x="1429511" y="0"/>
                </a:lnTo>
              </a:path>
            </a:pathLst>
          </a:custGeom>
          <a:ln w="38100">
            <a:solidFill>
              <a:srgbClr val="FFFF99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01827" y="5122926"/>
            <a:ext cx="9448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源程序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57962" y="5551932"/>
            <a:ext cx="1031875" cy="114300"/>
          </a:xfrm>
          <a:custGeom>
            <a:avLst/>
            <a:gdLst/>
            <a:ahLst/>
            <a:cxnLst/>
            <a:rect l="l" t="t" r="r" b="b"/>
            <a:pathLst>
              <a:path w="1031875" h="114300">
                <a:moveTo>
                  <a:pt x="841247" y="0"/>
                </a:moveTo>
                <a:lnTo>
                  <a:pt x="841247" y="114300"/>
                </a:lnTo>
                <a:lnTo>
                  <a:pt x="968247" y="76200"/>
                </a:lnTo>
                <a:lnTo>
                  <a:pt x="860297" y="76200"/>
                </a:lnTo>
                <a:lnTo>
                  <a:pt x="860297" y="38100"/>
                </a:lnTo>
                <a:lnTo>
                  <a:pt x="968247" y="38100"/>
                </a:lnTo>
                <a:lnTo>
                  <a:pt x="841247" y="0"/>
                </a:lnTo>
                <a:close/>
              </a:path>
              <a:path w="1031875" h="114300">
                <a:moveTo>
                  <a:pt x="84124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41247" y="76200"/>
                </a:lnTo>
                <a:lnTo>
                  <a:pt x="841247" y="38100"/>
                </a:lnTo>
                <a:close/>
              </a:path>
              <a:path w="1031875" h="114300">
                <a:moveTo>
                  <a:pt x="968247" y="38100"/>
                </a:moveTo>
                <a:lnTo>
                  <a:pt x="860297" y="38100"/>
                </a:lnTo>
                <a:lnTo>
                  <a:pt x="860297" y="76200"/>
                </a:lnTo>
                <a:lnTo>
                  <a:pt x="968247" y="76200"/>
                </a:lnTo>
                <a:lnTo>
                  <a:pt x="1031747" y="57150"/>
                </a:lnTo>
                <a:lnTo>
                  <a:pt x="968247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686939" y="5071998"/>
            <a:ext cx="119253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5" b="1">
                <a:solidFill>
                  <a:srgbClr val="FFFFFF"/>
                </a:solidFill>
                <a:latin typeface="宋体"/>
                <a:cs typeface="宋体"/>
              </a:rPr>
              <a:t>源程序</a:t>
            </a:r>
            <a:r>
              <a:rPr dirty="0" sz="2200" spc="-10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521457" y="5436108"/>
            <a:ext cx="1417320" cy="114300"/>
          </a:xfrm>
          <a:custGeom>
            <a:avLst/>
            <a:gdLst/>
            <a:ahLst/>
            <a:cxnLst/>
            <a:rect l="l" t="t" r="r" b="b"/>
            <a:pathLst>
              <a:path w="1417320" h="114300">
                <a:moveTo>
                  <a:pt x="1226820" y="0"/>
                </a:moveTo>
                <a:lnTo>
                  <a:pt x="1226820" y="114299"/>
                </a:lnTo>
                <a:lnTo>
                  <a:pt x="1353820" y="76199"/>
                </a:lnTo>
                <a:lnTo>
                  <a:pt x="1245870" y="76199"/>
                </a:lnTo>
                <a:lnTo>
                  <a:pt x="1245870" y="38099"/>
                </a:lnTo>
                <a:lnTo>
                  <a:pt x="1353820" y="38099"/>
                </a:lnTo>
                <a:lnTo>
                  <a:pt x="1226820" y="0"/>
                </a:lnTo>
                <a:close/>
              </a:path>
              <a:path w="1417320" h="114300">
                <a:moveTo>
                  <a:pt x="1226820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1226820" y="76199"/>
                </a:lnTo>
                <a:lnTo>
                  <a:pt x="1226820" y="38099"/>
                </a:lnTo>
                <a:close/>
              </a:path>
              <a:path w="1417320" h="114300">
                <a:moveTo>
                  <a:pt x="1353820" y="38099"/>
                </a:moveTo>
                <a:lnTo>
                  <a:pt x="1245870" y="38099"/>
                </a:lnTo>
                <a:lnTo>
                  <a:pt x="1245870" y="76199"/>
                </a:lnTo>
                <a:lnTo>
                  <a:pt x="1353820" y="76199"/>
                </a:lnTo>
                <a:lnTo>
                  <a:pt x="1417320" y="57149"/>
                </a:lnTo>
                <a:lnTo>
                  <a:pt x="1353820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857880" y="5797702"/>
            <a:ext cx="866775" cy="65468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 marR="5080">
              <a:lnSpc>
                <a:spcPts val="2320"/>
              </a:lnSpc>
              <a:spcBef>
                <a:spcPts val="440"/>
              </a:spcBef>
            </a:pPr>
            <a:r>
              <a:rPr dirty="0" sz="2200" spc="-5" b="1">
                <a:solidFill>
                  <a:srgbClr val="FFFFFF"/>
                </a:solidFill>
                <a:latin typeface="宋体"/>
                <a:cs typeface="宋体"/>
              </a:rPr>
              <a:t>取下一 个单词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521457" y="5623559"/>
            <a:ext cx="1405255" cy="114300"/>
          </a:xfrm>
          <a:custGeom>
            <a:avLst/>
            <a:gdLst/>
            <a:ahLst/>
            <a:cxnLst/>
            <a:rect l="l" t="t" r="r" b="b"/>
            <a:pathLst>
              <a:path w="1405254" h="114300">
                <a:moveTo>
                  <a:pt x="190500" y="0"/>
                </a:moveTo>
                <a:lnTo>
                  <a:pt x="0" y="57149"/>
                </a:lnTo>
                <a:lnTo>
                  <a:pt x="190500" y="114299"/>
                </a:lnTo>
                <a:lnTo>
                  <a:pt x="190500" y="76199"/>
                </a:lnTo>
                <a:lnTo>
                  <a:pt x="171450" y="76199"/>
                </a:lnTo>
                <a:lnTo>
                  <a:pt x="171450" y="38099"/>
                </a:lnTo>
                <a:lnTo>
                  <a:pt x="190500" y="38099"/>
                </a:lnTo>
                <a:lnTo>
                  <a:pt x="190500" y="0"/>
                </a:lnTo>
                <a:close/>
              </a:path>
              <a:path w="1405254" h="114300">
                <a:moveTo>
                  <a:pt x="190500" y="38099"/>
                </a:moveTo>
                <a:lnTo>
                  <a:pt x="171450" y="38099"/>
                </a:lnTo>
                <a:lnTo>
                  <a:pt x="171450" y="76199"/>
                </a:lnTo>
                <a:lnTo>
                  <a:pt x="190500" y="76199"/>
                </a:lnTo>
                <a:lnTo>
                  <a:pt x="190500" y="38099"/>
                </a:lnTo>
                <a:close/>
              </a:path>
              <a:path w="1405254" h="114300">
                <a:moveTo>
                  <a:pt x="1405128" y="38099"/>
                </a:moveTo>
                <a:lnTo>
                  <a:pt x="190500" y="38099"/>
                </a:lnTo>
                <a:lnTo>
                  <a:pt x="190500" y="76199"/>
                </a:lnTo>
                <a:lnTo>
                  <a:pt x="1405128" y="76199"/>
                </a:lnTo>
                <a:lnTo>
                  <a:pt x="1405128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411470" y="5122926"/>
            <a:ext cx="9448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分析树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212841" y="5551932"/>
            <a:ext cx="1289685" cy="114300"/>
          </a:xfrm>
          <a:custGeom>
            <a:avLst/>
            <a:gdLst/>
            <a:ahLst/>
            <a:cxnLst/>
            <a:rect l="l" t="t" r="r" b="b"/>
            <a:pathLst>
              <a:path w="1289684" h="114300">
                <a:moveTo>
                  <a:pt x="1098804" y="0"/>
                </a:moveTo>
                <a:lnTo>
                  <a:pt x="1098804" y="114300"/>
                </a:lnTo>
                <a:lnTo>
                  <a:pt x="1225804" y="76200"/>
                </a:lnTo>
                <a:lnTo>
                  <a:pt x="1117854" y="76200"/>
                </a:lnTo>
                <a:lnTo>
                  <a:pt x="1117854" y="38100"/>
                </a:lnTo>
                <a:lnTo>
                  <a:pt x="1225804" y="38100"/>
                </a:lnTo>
                <a:lnTo>
                  <a:pt x="1098804" y="0"/>
                </a:lnTo>
                <a:close/>
              </a:path>
              <a:path w="1289684" h="114300">
                <a:moveTo>
                  <a:pt x="109880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98804" y="76200"/>
                </a:lnTo>
                <a:lnTo>
                  <a:pt x="1098804" y="38100"/>
                </a:lnTo>
                <a:close/>
              </a:path>
              <a:path w="1289684" h="114300">
                <a:moveTo>
                  <a:pt x="1225804" y="38100"/>
                </a:moveTo>
                <a:lnTo>
                  <a:pt x="1117854" y="38100"/>
                </a:lnTo>
                <a:lnTo>
                  <a:pt x="1117854" y="76200"/>
                </a:lnTo>
                <a:lnTo>
                  <a:pt x="1225804" y="76200"/>
                </a:lnTo>
                <a:lnTo>
                  <a:pt x="1289304" y="57150"/>
                </a:lnTo>
                <a:lnTo>
                  <a:pt x="1225804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8199881" y="5551932"/>
            <a:ext cx="774700" cy="114300"/>
          </a:xfrm>
          <a:custGeom>
            <a:avLst/>
            <a:gdLst/>
            <a:ahLst/>
            <a:cxnLst/>
            <a:rect l="l" t="t" r="r" b="b"/>
            <a:pathLst>
              <a:path w="774700" h="114300">
                <a:moveTo>
                  <a:pt x="1524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52400" y="76200"/>
                </a:lnTo>
                <a:lnTo>
                  <a:pt x="152400" y="38100"/>
                </a:lnTo>
                <a:close/>
              </a:path>
              <a:path w="774700" h="114300">
                <a:moveTo>
                  <a:pt x="419100" y="38100"/>
                </a:moveTo>
                <a:lnTo>
                  <a:pt x="266700" y="38100"/>
                </a:lnTo>
                <a:lnTo>
                  <a:pt x="266700" y="76200"/>
                </a:lnTo>
                <a:lnTo>
                  <a:pt x="419100" y="76200"/>
                </a:lnTo>
                <a:lnTo>
                  <a:pt x="419100" y="38100"/>
                </a:lnTo>
                <a:close/>
              </a:path>
              <a:path w="774700" h="114300">
                <a:moveTo>
                  <a:pt x="583692" y="0"/>
                </a:moveTo>
                <a:lnTo>
                  <a:pt x="583692" y="114300"/>
                </a:lnTo>
                <a:lnTo>
                  <a:pt x="710692" y="76200"/>
                </a:lnTo>
                <a:lnTo>
                  <a:pt x="602742" y="76200"/>
                </a:lnTo>
                <a:lnTo>
                  <a:pt x="602742" y="38100"/>
                </a:lnTo>
                <a:lnTo>
                  <a:pt x="710692" y="38100"/>
                </a:lnTo>
                <a:lnTo>
                  <a:pt x="583692" y="0"/>
                </a:lnTo>
                <a:close/>
              </a:path>
              <a:path w="774700" h="114300">
                <a:moveTo>
                  <a:pt x="583692" y="38100"/>
                </a:moveTo>
                <a:lnTo>
                  <a:pt x="533400" y="38100"/>
                </a:lnTo>
                <a:lnTo>
                  <a:pt x="533400" y="76200"/>
                </a:lnTo>
                <a:lnTo>
                  <a:pt x="583692" y="76200"/>
                </a:lnTo>
                <a:lnTo>
                  <a:pt x="583692" y="38100"/>
                </a:lnTo>
                <a:close/>
              </a:path>
              <a:path w="774700" h="114300">
                <a:moveTo>
                  <a:pt x="710692" y="38100"/>
                </a:moveTo>
                <a:lnTo>
                  <a:pt x="602742" y="38100"/>
                </a:lnTo>
                <a:lnTo>
                  <a:pt x="602742" y="76200"/>
                </a:lnTo>
                <a:lnTo>
                  <a:pt x="710692" y="76200"/>
                </a:lnTo>
                <a:lnTo>
                  <a:pt x="774192" y="57150"/>
                </a:lnTo>
                <a:lnTo>
                  <a:pt x="71069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15290" y="1482089"/>
            <a:ext cx="8229600" cy="13517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15290" y="1482089"/>
            <a:ext cx="8229600" cy="1351915"/>
          </a:xfrm>
          <a:prstGeom prst="rect">
            <a:avLst/>
          </a:prstGeom>
          <a:ln w="41275">
            <a:solidFill>
              <a:srgbClr val="FFFF00"/>
            </a:solidFill>
          </a:ln>
        </p:spPr>
        <p:txBody>
          <a:bodyPr wrap="square" lIns="0" tIns="36195" rIns="0" bIns="0" rtlCol="0" vert="horz">
            <a:spAutoFit/>
          </a:bodyPr>
          <a:lstStyle/>
          <a:p>
            <a:pPr marL="802005">
              <a:lnSpc>
                <a:spcPct val="100000"/>
              </a:lnSpc>
              <a:spcBef>
                <a:spcPts val="285"/>
              </a:spcBef>
            </a:pPr>
            <a:r>
              <a:rPr dirty="0" sz="3200" b="1">
                <a:solidFill>
                  <a:srgbClr val="1E2D52"/>
                </a:solidFill>
                <a:latin typeface="宋体"/>
                <a:cs typeface="宋体"/>
              </a:rPr>
              <a:t>完成语法分析任务的程</a:t>
            </a:r>
            <a:r>
              <a:rPr dirty="0" sz="3200" spc="-15" b="1">
                <a:solidFill>
                  <a:srgbClr val="1E2D52"/>
                </a:solidFill>
                <a:latin typeface="宋体"/>
                <a:cs typeface="宋体"/>
              </a:rPr>
              <a:t>序</a:t>
            </a:r>
            <a:r>
              <a:rPr dirty="0" sz="3200" b="1">
                <a:solidFill>
                  <a:srgbClr val="1E2D52"/>
                </a:solidFill>
                <a:latin typeface="宋体"/>
                <a:cs typeface="宋体"/>
              </a:rPr>
              <a:t>称为语</a:t>
            </a:r>
            <a:r>
              <a:rPr dirty="0" sz="3200" spc="-15" b="1">
                <a:solidFill>
                  <a:srgbClr val="1E2D52"/>
                </a:solidFill>
                <a:latin typeface="宋体"/>
                <a:cs typeface="宋体"/>
              </a:rPr>
              <a:t>法</a:t>
            </a:r>
            <a:r>
              <a:rPr dirty="0" sz="3200" b="1">
                <a:solidFill>
                  <a:srgbClr val="1E2D52"/>
                </a:solidFill>
                <a:latin typeface="宋体"/>
                <a:cs typeface="宋体"/>
              </a:rPr>
              <a:t>分析</a:t>
            </a:r>
            <a:endParaRPr sz="3200">
              <a:latin typeface="宋体"/>
              <a:cs typeface="宋体"/>
            </a:endParaRPr>
          </a:p>
          <a:p>
            <a:pPr marL="90170">
              <a:lnSpc>
                <a:spcPct val="100000"/>
              </a:lnSpc>
              <a:spcBef>
                <a:spcPts val="1920"/>
              </a:spcBef>
            </a:pPr>
            <a:r>
              <a:rPr dirty="0" sz="3200" spc="-5" b="1">
                <a:solidFill>
                  <a:srgbClr val="1E2D52"/>
                </a:solidFill>
                <a:latin typeface="宋体"/>
                <a:cs typeface="宋体"/>
              </a:rPr>
              <a:t>器，或语法分析程序。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8462" y="3015233"/>
            <a:ext cx="7776972" cy="19872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48462" y="3015233"/>
            <a:ext cx="7777480" cy="1987550"/>
          </a:xfrm>
          <a:custGeom>
            <a:avLst/>
            <a:gdLst/>
            <a:ahLst/>
            <a:cxnLst/>
            <a:rect l="l" t="t" r="r" b="b"/>
            <a:pathLst>
              <a:path w="7777480" h="1987550">
                <a:moveTo>
                  <a:pt x="0" y="1987295"/>
                </a:moveTo>
                <a:lnTo>
                  <a:pt x="7776972" y="1987295"/>
                </a:lnTo>
                <a:lnTo>
                  <a:pt x="7776972" y="0"/>
                </a:lnTo>
                <a:lnTo>
                  <a:pt x="0" y="0"/>
                </a:lnTo>
                <a:lnTo>
                  <a:pt x="0" y="1987295"/>
                </a:lnTo>
                <a:close/>
              </a:path>
            </a:pathLst>
          </a:custGeom>
          <a:ln w="41274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94536" y="3185617"/>
            <a:ext cx="16960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latin typeface="宋体"/>
                <a:cs typeface="宋体"/>
              </a:rPr>
              <a:t>给定文法</a:t>
            </a:r>
            <a:r>
              <a:rPr dirty="0" sz="2800" spc="-5" b="1" i="1">
                <a:latin typeface="Times New Roman"/>
                <a:cs typeface="Times New Roman"/>
              </a:rPr>
              <a:t>G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59857" y="3408121"/>
            <a:ext cx="158115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850" spc="10" b="1" i="1">
                <a:latin typeface="Times New Roman"/>
                <a:cs typeface="Times New Roman"/>
              </a:rPr>
              <a:t>T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04636" y="3196590"/>
            <a:ext cx="132080" cy="3111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850" spc="10" b="1">
                <a:latin typeface="Times New Roman"/>
                <a:cs typeface="Times New Roman"/>
              </a:rPr>
              <a:t>*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77363" y="3166396"/>
            <a:ext cx="4860290" cy="474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945765" algn="l"/>
              </a:tabLst>
            </a:pPr>
            <a:r>
              <a:rPr dirty="0" sz="2800" spc="-10" b="1">
                <a:latin typeface="宋体"/>
                <a:cs typeface="宋体"/>
              </a:rPr>
              <a:t>和字符串</a:t>
            </a:r>
            <a:r>
              <a:rPr dirty="0" sz="2950" spc="-90" b="1" i="1">
                <a:latin typeface="Symbol"/>
                <a:cs typeface="Symbol"/>
              </a:rPr>
              <a:t></a:t>
            </a:r>
            <a:r>
              <a:rPr dirty="0" sz="2800" spc="-5" b="1">
                <a:latin typeface="Times New Roman"/>
                <a:cs typeface="Times New Roman"/>
              </a:rPr>
              <a:t>(</a:t>
            </a:r>
            <a:r>
              <a:rPr dirty="0" sz="2800" spc="35" b="1">
                <a:latin typeface="Times New Roman"/>
                <a:cs typeface="Times New Roman"/>
              </a:rPr>
              <a:t> </a:t>
            </a:r>
            <a:r>
              <a:rPr dirty="0" sz="2950" spc="-90" b="1" i="1">
                <a:latin typeface="Symbol"/>
                <a:cs typeface="Symbol"/>
              </a:rPr>
              <a:t></a:t>
            </a:r>
            <a:r>
              <a:rPr dirty="0" sz="2800" spc="-10" b="1">
                <a:latin typeface="宋体"/>
                <a:cs typeface="宋体"/>
              </a:rPr>
              <a:t>∈</a:t>
            </a:r>
            <a:r>
              <a:rPr dirty="0" sz="2800" spc="-5" b="1" i="1">
                <a:latin typeface="Times New Roman"/>
                <a:cs typeface="Times New Roman"/>
              </a:rPr>
              <a:t>V</a:t>
            </a:r>
            <a:r>
              <a:rPr dirty="0" sz="2800" b="1" i="1">
                <a:latin typeface="Times New Roman"/>
                <a:cs typeface="Times New Roman"/>
              </a:rPr>
              <a:t>	</a:t>
            </a:r>
            <a:r>
              <a:rPr dirty="0" sz="2800" spc="-5" b="1">
                <a:latin typeface="Times New Roman"/>
                <a:cs typeface="Times New Roman"/>
              </a:rPr>
              <a:t>)</a:t>
            </a:r>
            <a:r>
              <a:rPr dirty="0" sz="2800" spc="-10" b="1">
                <a:latin typeface="宋体"/>
                <a:cs typeface="宋体"/>
              </a:rPr>
              <a:t>，</a:t>
            </a:r>
            <a:r>
              <a:rPr dirty="0" sz="2800" spc="-5" b="1">
                <a:latin typeface="宋体"/>
                <a:cs typeface="宋体"/>
              </a:rPr>
              <a:t>检查</a:t>
            </a:r>
            <a:r>
              <a:rPr dirty="0" sz="2800" spc="-10" b="1">
                <a:latin typeface="宋体"/>
                <a:cs typeface="宋体"/>
              </a:rPr>
              <a:t>、</a:t>
            </a:r>
            <a:r>
              <a:rPr dirty="0" sz="2800" spc="-15" b="1">
                <a:latin typeface="宋体"/>
                <a:cs typeface="宋体"/>
              </a:rPr>
              <a:t>判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9140" y="3585559"/>
            <a:ext cx="7506334" cy="133286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R="5080">
              <a:lnSpc>
                <a:spcPct val="146600"/>
              </a:lnSpc>
              <a:spcBef>
                <a:spcPts val="190"/>
              </a:spcBef>
            </a:pPr>
            <a:r>
              <a:rPr dirty="0" sz="2800" spc="-15" b="1">
                <a:latin typeface="宋体"/>
                <a:cs typeface="宋体"/>
              </a:rPr>
              <a:t>定</a:t>
            </a:r>
            <a:r>
              <a:rPr dirty="0" sz="2800" spc="-710" b="1">
                <a:latin typeface="宋体"/>
                <a:cs typeface="宋体"/>
              </a:rPr>
              <a:t> </a:t>
            </a:r>
            <a:r>
              <a:rPr dirty="0" sz="2950" spc="-20" b="1" i="1">
                <a:latin typeface="Symbol"/>
                <a:cs typeface="Symbol"/>
              </a:rPr>
              <a:t></a:t>
            </a:r>
            <a:r>
              <a:rPr dirty="0" sz="2800" spc="-20" b="1">
                <a:latin typeface="宋体"/>
                <a:cs typeface="宋体"/>
              </a:rPr>
              <a:t>∈</a:t>
            </a:r>
            <a:r>
              <a:rPr dirty="0" sz="2800" spc="-20" b="1" i="1">
                <a:latin typeface="Times New Roman"/>
                <a:cs typeface="Times New Roman"/>
              </a:rPr>
              <a:t>L</a:t>
            </a:r>
            <a:r>
              <a:rPr dirty="0" sz="2800" spc="-20" b="1">
                <a:latin typeface="Times New Roman"/>
                <a:cs typeface="Times New Roman"/>
              </a:rPr>
              <a:t>(</a:t>
            </a:r>
            <a:r>
              <a:rPr dirty="0" sz="2800" spc="-20" b="1" i="1">
                <a:latin typeface="Times New Roman"/>
                <a:cs typeface="Times New Roman"/>
              </a:rPr>
              <a:t>G</a:t>
            </a:r>
            <a:r>
              <a:rPr dirty="0" sz="2800" spc="-20" b="1">
                <a:latin typeface="Times New Roman"/>
                <a:cs typeface="Times New Roman"/>
              </a:rPr>
              <a:t>)</a:t>
            </a:r>
            <a:r>
              <a:rPr dirty="0" sz="2800" spc="-20" b="1">
                <a:latin typeface="宋体"/>
                <a:cs typeface="宋体"/>
              </a:rPr>
              <a:t>？</a:t>
            </a:r>
            <a:r>
              <a:rPr dirty="0" sz="2800" spc="-5" b="1">
                <a:latin typeface="宋体"/>
                <a:cs typeface="宋体"/>
              </a:rPr>
              <a:t>即检查、判定</a:t>
            </a:r>
            <a:r>
              <a:rPr dirty="0" sz="2950" spc="-90" b="1" i="1">
                <a:latin typeface="Symbol"/>
                <a:cs typeface="Symbol"/>
              </a:rPr>
              <a:t></a:t>
            </a:r>
            <a:r>
              <a:rPr dirty="0" sz="2800" spc="-5" b="1">
                <a:latin typeface="宋体"/>
                <a:cs typeface="宋体"/>
              </a:rPr>
              <a:t>是否是文</a:t>
            </a:r>
            <a:r>
              <a:rPr dirty="0" sz="2800" b="1">
                <a:latin typeface="宋体"/>
                <a:cs typeface="宋体"/>
              </a:rPr>
              <a:t>法</a:t>
            </a:r>
            <a:r>
              <a:rPr dirty="0" sz="2800" spc="-10" b="1" i="1">
                <a:latin typeface="Times New Roman"/>
                <a:cs typeface="Times New Roman"/>
              </a:rPr>
              <a:t>G</a:t>
            </a:r>
            <a:r>
              <a:rPr dirty="0" sz="2800" spc="5" b="1">
                <a:latin typeface="宋体"/>
                <a:cs typeface="宋体"/>
              </a:rPr>
              <a:t>所能 </a:t>
            </a:r>
            <a:r>
              <a:rPr dirty="0" sz="2800" spc="-5" b="1">
                <a:latin typeface="宋体"/>
                <a:cs typeface="宋体"/>
              </a:rPr>
              <a:t>产生的合法的句</a:t>
            </a:r>
            <a:r>
              <a:rPr dirty="0" sz="2800" spc="-15" b="1">
                <a:latin typeface="宋体"/>
                <a:cs typeface="宋体"/>
              </a:rPr>
              <a:t>子</a:t>
            </a:r>
            <a:r>
              <a:rPr dirty="0" sz="2800" spc="-5" b="1">
                <a:latin typeface="宋体"/>
                <a:cs typeface="宋体"/>
              </a:rPr>
              <a:t>，同时报告</a:t>
            </a:r>
            <a:r>
              <a:rPr dirty="0" sz="2800" spc="5" b="1">
                <a:latin typeface="宋体"/>
                <a:cs typeface="宋体"/>
              </a:rPr>
              <a:t>和</a:t>
            </a:r>
            <a:r>
              <a:rPr dirty="0" sz="2800" spc="-10" b="1">
                <a:latin typeface="宋体"/>
                <a:cs typeface="宋体"/>
              </a:rPr>
              <a:t>处理</a:t>
            </a:r>
            <a:r>
              <a:rPr dirty="0" sz="2800" spc="5" b="1">
                <a:latin typeface="宋体"/>
                <a:cs typeface="宋体"/>
              </a:rPr>
              <a:t>语</a:t>
            </a:r>
            <a:r>
              <a:rPr dirty="0" sz="2800" spc="-10" b="1">
                <a:latin typeface="宋体"/>
                <a:cs typeface="宋体"/>
              </a:rPr>
              <a:t>法</a:t>
            </a:r>
            <a:r>
              <a:rPr dirty="0" sz="2800" spc="5" b="1">
                <a:latin typeface="宋体"/>
                <a:cs typeface="宋体"/>
              </a:rPr>
              <a:t>错</a:t>
            </a:r>
            <a:r>
              <a:rPr dirty="0" sz="2800" spc="15" b="1">
                <a:latin typeface="宋体"/>
                <a:cs typeface="宋体"/>
              </a:rPr>
              <a:t>误</a:t>
            </a:r>
            <a:r>
              <a:rPr dirty="0" sz="2800" spc="-15" b="1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97637" y="0"/>
            <a:ext cx="8948420" cy="2701925"/>
          </a:xfrm>
          <a:prstGeom prst="rect">
            <a:avLst/>
          </a:prstGeom>
        </p:spPr>
        <p:txBody>
          <a:bodyPr wrap="square" lIns="0" tIns="212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75"/>
              </a:spcBef>
              <a:tabLst>
                <a:tab pos="704215" algn="l"/>
                <a:tab pos="2147570" algn="l"/>
                <a:tab pos="2753360" algn="l"/>
                <a:tab pos="5446395" algn="l"/>
                <a:tab pos="6187440" algn="l"/>
              </a:tabLst>
            </a:pPr>
            <a:r>
              <a:rPr dirty="0" sz="2400" spc="-1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h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语法分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析	</a:t>
            </a: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4.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1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语法分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析程序</a:t>
            </a:r>
            <a:r>
              <a:rPr dirty="0" sz="2400" spc="-10" b="1">
                <a:solidFill>
                  <a:srgbClr val="A15100"/>
                </a:solidFill>
                <a:latin typeface="华文新魏"/>
                <a:cs typeface="华文新魏"/>
              </a:rPr>
              <a:t>综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述	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4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.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1</a:t>
            </a:r>
            <a:r>
              <a:rPr dirty="0" sz="2400" spc="-5" b="1">
                <a:solidFill>
                  <a:srgbClr val="A15100"/>
                </a:solidFill>
                <a:latin typeface="华文新魏"/>
                <a:cs typeface="华文新魏"/>
              </a:rPr>
              <a:t>.1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	</a:t>
            </a:r>
            <a:r>
              <a:rPr dirty="0" u="sng" sz="2400" spc="-59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4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语法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分析程</a:t>
            </a:r>
            <a:r>
              <a:rPr dirty="0" u="sng" sz="2400" spc="-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序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的功能</a:t>
            </a:r>
            <a:endParaRPr sz="24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华文新魏"/>
              <a:cs typeface="华文新魏"/>
            </a:endParaRPr>
          </a:p>
          <a:p>
            <a:pPr marL="800735" indent="-407670">
              <a:lnSpc>
                <a:spcPct val="100000"/>
              </a:lnSpc>
              <a:buClr>
                <a:srgbClr val="99FF99"/>
              </a:buClr>
              <a:buSzPct val="109375"/>
              <a:buFont typeface="Wingdings"/>
              <a:buChar char=""/>
              <a:tabLst>
                <a:tab pos="800735" algn="l"/>
                <a:tab pos="80137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语法分析程序的功能</a:t>
            </a:r>
            <a:endParaRPr sz="3200">
              <a:latin typeface="宋体"/>
              <a:cs typeface="宋体"/>
            </a:endParaRPr>
          </a:p>
          <a:p>
            <a:pPr marL="422275" marR="403860" indent="621665">
              <a:lnSpc>
                <a:spcPct val="150100"/>
              </a:lnSpc>
              <a:spcBef>
                <a:spcPts val="70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按照源语言的语法规则，从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词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法分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的结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果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中识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别出相应的语法范畴，同时进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语法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检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查。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8942" y="998982"/>
            <a:ext cx="492506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19100" indent="-407034">
              <a:lnSpc>
                <a:spcPct val="100000"/>
              </a:lnSpc>
              <a:spcBef>
                <a:spcPts val="105"/>
              </a:spcBef>
              <a:buClr>
                <a:srgbClr val="99FF99"/>
              </a:buClr>
              <a:buSzPct val="109375"/>
              <a:buFont typeface="Wingdings"/>
              <a:buChar char=""/>
              <a:tabLst>
                <a:tab pos="419100" algn="l"/>
                <a:tab pos="419734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语法分析程序的构造要素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25905" y="2259279"/>
            <a:ext cx="3627754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源程序</a:t>
            </a:r>
            <a:r>
              <a:rPr dirty="0" sz="3000" spc="-10" b="1">
                <a:solidFill>
                  <a:srgbClr val="FFFFFF"/>
                </a:solidFill>
                <a:latin typeface="宋体"/>
                <a:cs typeface="宋体"/>
              </a:rPr>
              <a:t>串</a:t>
            </a:r>
            <a:r>
              <a:rPr dirty="0" sz="3000" spc="-83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L1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形式）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49274" y="2503170"/>
            <a:ext cx="361315" cy="1689100"/>
          </a:xfrm>
          <a:custGeom>
            <a:avLst/>
            <a:gdLst/>
            <a:ahLst/>
            <a:cxnLst/>
            <a:rect l="l" t="t" r="r" b="b"/>
            <a:pathLst>
              <a:path w="361315" h="1689100">
                <a:moveTo>
                  <a:pt x="361188" y="1688591"/>
                </a:moveTo>
                <a:lnTo>
                  <a:pt x="313194" y="1683576"/>
                </a:lnTo>
                <a:lnTo>
                  <a:pt x="270058" y="1669424"/>
                </a:lnTo>
                <a:lnTo>
                  <a:pt x="233505" y="1647475"/>
                </a:lnTo>
                <a:lnTo>
                  <a:pt x="205260" y="1619071"/>
                </a:lnTo>
                <a:lnTo>
                  <a:pt x="187048" y="1585551"/>
                </a:lnTo>
                <a:lnTo>
                  <a:pt x="180594" y="1548256"/>
                </a:lnTo>
                <a:lnTo>
                  <a:pt x="180594" y="984630"/>
                </a:lnTo>
                <a:lnTo>
                  <a:pt x="174143" y="947336"/>
                </a:lnTo>
                <a:lnTo>
                  <a:pt x="155939" y="913816"/>
                </a:lnTo>
                <a:lnTo>
                  <a:pt x="127701" y="885412"/>
                </a:lnTo>
                <a:lnTo>
                  <a:pt x="91152" y="863463"/>
                </a:lnTo>
                <a:lnTo>
                  <a:pt x="48011" y="849311"/>
                </a:lnTo>
                <a:lnTo>
                  <a:pt x="0" y="844295"/>
                </a:lnTo>
                <a:lnTo>
                  <a:pt x="48011" y="839280"/>
                </a:lnTo>
                <a:lnTo>
                  <a:pt x="91152" y="825128"/>
                </a:lnTo>
                <a:lnTo>
                  <a:pt x="127701" y="803179"/>
                </a:lnTo>
                <a:lnTo>
                  <a:pt x="155939" y="774775"/>
                </a:lnTo>
                <a:lnTo>
                  <a:pt x="174143" y="741255"/>
                </a:lnTo>
                <a:lnTo>
                  <a:pt x="180594" y="703960"/>
                </a:lnTo>
                <a:lnTo>
                  <a:pt x="180594" y="140334"/>
                </a:lnTo>
                <a:lnTo>
                  <a:pt x="187048" y="103040"/>
                </a:lnTo>
                <a:lnTo>
                  <a:pt x="205260" y="69520"/>
                </a:lnTo>
                <a:lnTo>
                  <a:pt x="233505" y="41116"/>
                </a:lnTo>
                <a:lnTo>
                  <a:pt x="270058" y="19167"/>
                </a:lnTo>
                <a:lnTo>
                  <a:pt x="313194" y="5015"/>
                </a:lnTo>
                <a:lnTo>
                  <a:pt x="361188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40273" y="2446020"/>
            <a:ext cx="952500" cy="114300"/>
          </a:xfrm>
          <a:custGeom>
            <a:avLst/>
            <a:gdLst/>
            <a:ahLst/>
            <a:cxnLst/>
            <a:rect l="l" t="t" r="r" b="b"/>
            <a:pathLst>
              <a:path w="952500" h="114300">
                <a:moveTo>
                  <a:pt x="762000" y="0"/>
                </a:moveTo>
                <a:lnTo>
                  <a:pt x="762000" y="114300"/>
                </a:lnTo>
                <a:lnTo>
                  <a:pt x="889000" y="76200"/>
                </a:lnTo>
                <a:lnTo>
                  <a:pt x="781050" y="76200"/>
                </a:lnTo>
                <a:lnTo>
                  <a:pt x="781050" y="38100"/>
                </a:lnTo>
                <a:lnTo>
                  <a:pt x="889000" y="38100"/>
                </a:lnTo>
                <a:lnTo>
                  <a:pt x="762000" y="0"/>
                </a:lnTo>
                <a:close/>
              </a:path>
              <a:path w="952500" h="114300">
                <a:moveTo>
                  <a:pt x="7620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62000" y="76200"/>
                </a:lnTo>
                <a:lnTo>
                  <a:pt x="762000" y="38100"/>
                </a:lnTo>
                <a:close/>
              </a:path>
              <a:path w="952500" h="114300">
                <a:moveTo>
                  <a:pt x="889000" y="38100"/>
                </a:moveTo>
                <a:lnTo>
                  <a:pt x="781050" y="38100"/>
                </a:lnTo>
                <a:lnTo>
                  <a:pt x="781050" y="76200"/>
                </a:lnTo>
                <a:lnTo>
                  <a:pt x="889000" y="76200"/>
                </a:lnTo>
                <a:lnTo>
                  <a:pt x="952500" y="57150"/>
                </a:lnTo>
                <a:lnTo>
                  <a:pt x="8890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309105" y="2221179"/>
            <a:ext cx="1555750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" b="1">
                <a:solidFill>
                  <a:srgbClr val="FFFF00"/>
                </a:solidFill>
                <a:latin typeface="宋体"/>
                <a:cs typeface="宋体"/>
              </a:rPr>
              <a:t>处理对象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839461" y="3246120"/>
            <a:ext cx="952500" cy="114300"/>
          </a:xfrm>
          <a:custGeom>
            <a:avLst/>
            <a:gdLst/>
            <a:ahLst/>
            <a:cxnLst/>
            <a:rect l="l" t="t" r="r" b="b"/>
            <a:pathLst>
              <a:path w="952500" h="114300">
                <a:moveTo>
                  <a:pt x="762000" y="0"/>
                </a:moveTo>
                <a:lnTo>
                  <a:pt x="762000" y="114300"/>
                </a:lnTo>
                <a:lnTo>
                  <a:pt x="889000" y="76200"/>
                </a:lnTo>
                <a:lnTo>
                  <a:pt x="781050" y="76200"/>
                </a:lnTo>
                <a:lnTo>
                  <a:pt x="781050" y="38100"/>
                </a:lnTo>
                <a:lnTo>
                  <a:pt x="889000" y="38100"/>
                </a:lnTo>
                <a:lnTo>
                  <a:pt x="762000" y="0"/>
                </a:lnTo>
                <a:close/>
              </a:path>
              <a:path w="952500" h="114300">
                <a:moveTo>
                  <a:pt x="7620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62000" y="76200"/>
                </a:lnTo>
                <a:lnTo>
                  <a:pt x="762000" y="38100"/>
                </a:lnTo>
                <a:close/>
              </a:path>
              <a:path w="952500" h="114300">
                <a:moveTo>
                  <a:pt x="889000" y="38100"/>
                </a:moveTo>
                <a:lnTo>
                  <a:pt x="781050" y="38100"/>
                </a:lnTo>
                <a:lnTo>
                  <a:pt x="781050" y="76200"/>
                </a:lnTo>
                <a:lnTo>
                  <a:pt x="889000" y="76200"/>
                </a:lnTo>
                <a:lnTo>
                  <a:pt x="952500" y="57150"/>
                </a:lnTo>
                <a:lnTo>
                  <a:pt x="8890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908928" y="3021838"/>
            <a:ext cx="155575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" b="1">
                <a:solidFill>
                  <a:srgbClr val="FFFF00"/>
                </a:solidFill>
                <a:latin typeface="宋体"/>
                <a:cs typeface="宋体"/>
              </a:rPr>
              <a:t>分析依据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88694" y="2796286"/>
            <a:ext cx="4233545" cy="1467485"/>
          </a:xfrm>
          <a:prstGeom prst="rect">
            <a:avLst/>
          </a:prstGeom>
        </p:spPr>
        <p:txBody>
          <a:bodyPr wrap="square" lIns="0" tIns="276225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2175"/>
              </a:spcBef>
            </a:pP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源语言的文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75"/>
              </a:spcBef>
            </a:pP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识别出的语法范畴的表示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11773" y="4005071"/>
            <a:ext cx="952500" cy="114300"/>
          </a:xfrm>
          <a:custGeom>
            <a:avLst/>
            <a:gdLst/>
            <a:ahLst/>
            <a:cxnLst/>
            <a:rect l="l" t="t" r="r" b="b"/>
            <a:pathLst>
              <a:path w="952500" h="114300">
                <a:moveTo>
                  <a:pt x="762000" y="0"/>
                </a:moveTo>
                <a:lnTo>
                  <a:pt x="762000" y="114300"/>
                </a:lnTo>
                <a:lnTo>
                  <a:pt x="889000" y="76200"/>
                </a:lnTo>
                <a:lnTo>
                  <a:pt x="781050" y="76200"/>
                </a:lnTo>
                <a:lnTo>
                  <a:pt x="781050" y="38100"/>
                </a:lnTo>
                <a:lnTo>
                  <a:pt x="889000" y="38100"/>
                </a:lnTo>
                <a:lnTo>
                  <a:pt x="762000" y="0"/>
                </a:lnTo>
                <a:close/>
              </a:path>
              <a:path w="952500" h="114300">
                <a:moveTo>
                  <a:pt x="7620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62000" y="76200"/>
                </a:lnTo>
                <a:lnTo>
                  <a:pt x="762000" y="38100"/>
                </a:lnTo>
                <a:close/>
              </a:path>
              <a:path w="952500" h="114300">
                <a:moveTo>
                  <a:pt x="889000" y="38100"/>
                </a:moveTo>
                <a:lnTo>
                  <a:pt x="781050" y="38100"/>
                </a:lnTo>
                <a:lnTo>
                  <a:pt x="781050" y="76200"/>
                </a:lnTo>
                <a:lnTo>
                  <a:pt x="889000" y="76200"/>
                </a:lnTo>
                <a:lnTo>
                  <a:pt x="952500" y="57150"/>
                </a:lnTo>
                <a:lnTo>
                  <a:pt x="8890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880606" y="3780790"/>
            <a:ext cx="155575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" b="1">
                <a:solidFill>
                  <a:srgbClr val="FFFF00"/>
                </a:solidFill>
                <a:latin typeface="宋体"/>
                <a:cs typeface="宋体"/>
              </a:rPr>
              <a:t>分析结果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97637" y="11378"/>
            <a:ext cx="194310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4215" algn="l"/>
              </a:tabLst>
            </a:pPr>
            <a:r>
              <a:rPr dirty="0" sz="2400" spc="-1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h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语法分析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233041" y="11378"/>
            <a:ext cx="681355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7855" algn="l"/>
                <a:tab pos="3310890" algn="l"/>
                <a:tab pos="4051935" algn="l"/>
              </a:tabLst>
            </a:pP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4.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1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语法分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析程序</a:t>
            </a:r>
            <a:r>
              <a:rPr dirty="0" sz="2400" spc="-10" b="1">
                <a:solidFill>
                  <a:srgbClr val="A15100"/>
                </a:solidFill>
                <a:latin typeface="华文新魏"/>
                <a:cs typeface="华文新魏"/>
              </a:rPr>
              <a:t>综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述	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4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.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1</a:t>
            </a:r>
            <a:r>
              <a:rPr dirty="0" sz="2400" spc="-5" b="1">
                <a:solidFill>
                  <a:srgbClr val="A15100"/>
                </a:solidFill>
                <a:latin typeface="华文新魏"/>
                <a:cs typeface="华文新魏"/>
              </a:rPr>
              <a:t>.1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	</a:t>
            </a:r>
            <a:r>
              <a:rPr dirty="0" u="sng" sz="2400" spc="-59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4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语法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分析程</a:t>
            </a:r>
            <a:r>
              <a:rPr dirty="0" u="sng" sz="2400" spc="-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序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的功能</a:t>
            </a:r>
            <a:endParaRPr sz="24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2842" y="2121869"/>
            <a:ext cx="5531485" cy="3319145"/>
          </a:xfrm>
          <a:prstGeom prst="rect">
            <a:avLst/>
          </a:prstGeom>
        </p:spPr>
        <p:txBody>
          <a:bodyPr wrap="square" lIns="0" tIns="287655" rIns="0" bIns="0" rtlCol="0" vert="horz">
            <a:spAutoFit/>
          </a:bodyPr>
          <a:lstStyle/>
          <a:p>
            <a:pPr lvl="2" marL="1386840" indent="-1374775">
              <a:lnSpc>
                <a:spcPct val="100000"/>
              </a:lnSpc>
              <a:spcBef>
                <a:spcPts val="2265"/>
              </a:spcBef>
              <a:buClr>
                <a:srgbClr val="FFFF00"/>
              </a:buClr>
              <a:buFont typeface="Times New Roman"/>
              <a:buAutoNum type="arabicPeriod"/>
              <a:tabLst>
                <a:tab pos="1386840" algn="l"/>
                <a:tab pos="1387475" algn="l"/>
              </a:tabLst>
            </a:pPr>
            <a:r>
              <a:rPr dirty="0" sz="3600" spc="-5" b="1">
                <a:solidFill>
                  <a:srgbClr val="FFFF66"/>
                </a:solidFill>
                <a:latin typeface="宋体"/>
                <a:cs typeface="宋体"/>
              </a:rPr>
              <a:t>语法分析程序的功能</a:t>
            </a:r>
            <a:endParaRPr sz="3600">
              <a:latin typeface="宋体"/>
              <a:cs typeface="宋体"/>
            </a:endParaRPr>
          </a:p>
          <a:p>
            <a:pPr lvl="2" marL="1386840" indent="-1374775">
              <a:lnSpc>
                <a:spcPct val="100000"/>
              </a:lnSpc>
              <a:spcBef>
                <a:spcPts val="2165"/>
              </a:spcBef>
              <a:buClr>
                <a:srgbClr val="FFFF00"/>
              </a:buClr>
              <a:buFont typeface="Times New Roman"/>
              <a:buAutoNum type="arabicPeriod"/>
              <a:tabLst>
                <a:tab pos="1386840" algn="l"/>
                <a:tab pos="1387475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语法分析方法</a:t>
            </a:r>
            <a:endParaRPr sz="3600">
              <a:latin typeface="宋体"/>
              <a:cs typeface="宋体"/>
            </a:endParaRPr>
          </a:p>
          <a:p>
            <a:pPr marL="1393190" marR="458470">
              <a:lnSpc>
                <a:spcPct val="150000"/>
              </a:lnSpc>
            </a:pPr>
            <a:r>
              <a:rPr dirty="0" sz="3600" b="1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3600" spc="-15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3600" spc="-9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自上而下分析 </a:t>
            </a:r>
            <a:r>
              <a:rPr dirty="0" sz="3600" b="1">
                <a:solidFill>
                  <a:srgbClr val="FFFFFF"/>
                </a:solidFill>
                <a:latin typeface="宋体"/>
                <a:cs typeface="宋体"/>
              </a:rPr>
              <a:t>二</a:t>
            </a:r>
            <a:r>
              <a:rPr dirty="0" sz="3600" spc="-15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3600" spc="-9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自下而上分析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6172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617220"/>
          </a:xfrm>
          <a:custGeom>
            <a:avLst/>
            <a:gdLst/>
            <a:ahLst/>
            <a:cxnLst/>
            <a:rect l="l" t="t" r="r" b="b"/>
            <a:pathLst>
              <a:path w="9144000" h="617220">
                <a:moveTo>
                  <a:pt x="0" y="617219"/>
                </a:moveTo>
                <a:lnTo>
                  <a:pt x="9144000" y="617219"/>
                </a:lnTo>
                <a:lnTo>
                  <a:pt x="9144000" y="0"/>
                </a:lnTo>
                <a:lnTo>
                  <a:pt x="0" y="0"/>
                </a:lnTo>
                <a:lnTo>
                  <a:pt x="0" y="617219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666113" y="121107"/>
            <a:ext cx="19443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4215" algn="l"/>
              </a:tabLst>
            </a:pPr>
            <a:r>
              <a:rPr dirty="0" sz="2400" spc="-1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h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10" b="1">
                <a:solidFill>
                  <a:srgbClr val="A15100"/>
                </a:solidFill>
                <a:latin typeface="华文新魏"/>
                <a:cs typeface="华文新魏"/>
              </a:rPr>
              <a:t>语法分析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99279" y="121107"/>
            <a:ext cx="307784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1665" algn="l"/>
              </a:tabLst>
            </a:pP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4.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1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语法分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析程序</a:t>
            </a:r>
            <a:r>
              <a:rPr dirty="0" sz="2400" spc="-10" b="1">
                <a:solidFill>
                  <a:srgbClr val="A15100"/>
                </a:solidFill>
                <a:latin typeface="华文新魏"/>
                <a:cs typeface="华文新魏"/>
              </a:rPr>
              <a:t>综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述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963156" y="4026408"/>
            <a:ext cx="1483360" cy="535305"/>
          </a:xfrm>
          <a:custGeom>
            <a:avLst/>
            <a:gdLst/>
            <a:ahLst/>
            <a:cxnLst/>
            <a:rect l="l" t="t" r="r" b="b"/>
            <a:pathLst>
              <a:path w="1483359" h="535304">
                <a:moveTo>
                  <a:pt x="370586" y="0"/>
                </a:moveTo>
                <a:lnTo>
                  <a:pt x="0" y="267462"/>
                </a:lnTo>
                <a:lnTo>
                  <a:pt x="370586" y="534924"/>
                </a:lnTo>
                <a:lnTo>
                  <a:pt x="370586" y="401193"/>
                </a:lnTo>
                <a:lnTo>
                  <a:pt x="1482852" y="401193"/>
                </a:lnTo>
                <a:lnTo>
                  <a:pt x="1482852" y="133731"/>
                </a:lnTo>
                <a:lnTo>
                  <a:pt x="370586" y="133731"/>
                </a:lnTo>
                <a:lnTo>
                  <a:pt x="370586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963156" y="4026408"/>
            <a:ext cx="1483360" cy="535305"/>
          </a:xfrm>
          <a:custGeom>
            <a:avLst/>
            <a:gdLst/>
            <a:ahLst/>
            <a:cxnLst/>
            <a:rect l="l" t="t" r="r" b="b"/>
            <a:pathLst>
              <a:path w="1483359" h="535304">
                <a:moveTo>
                  <a:pt x="0" y="267462"/>
                </a:moveTo>
                <a:lnTo>
                  <a:pt x="370586" y="0"/>
                </a:lnTo>
                <a:lnTo>
                  <a:pt x="370586" y="133731"/>
                </a:lnTo>
                <a:lnTo>
                  <a:pt x="1482852" y="133731"/>
                </a:lnTo>
                <a:lnTo>
                  <a:pt x="1482852" y="401193"/>
                </a:lnTo>
                <a:lnTo>
                  <a:pt x="370586" y="401193"/>
                </a:lnTo>
                <a:lnTo>
                  <a:pt x="370586" y="534924"/>
                </a:lnTo>
                <a:lnTo>
                  <a:pt x="0" y="267462"/>
                </a:lnTo>
                <a:close/>
              </a:path>
            </a:pathLst>
          </a:custGeom>
          <a:ln w="9525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842642" y="1163192"/>
            <a:ext cx="396875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01065" algn="l"/>
              </a:tabLst>
            </a:pPr>
            <a:r>
              <a:rPr dirty="0" sz="4000"/>
              <a:t>4</a:t>
            </a:r>
            <a:r>
              <a:rPr dirty="0" sz="4000" spc="-10"/>
              <a:t>.</a:t>
            </a:r>
            <a:r>
              <a:rPr dirty="0" sz="4000" spc="-5"/>
              <a:t>1</a:t>
            </a:r>
            <a:r>
              <a:rPr dirty="0" sz="4000"/>
              <a:t>	</a:t>
            </a:r>
            <a:r>
              <a:rPr dirty="0" sz="4000" spc="-10">
                <a:latin typeface="宋体"/>
                <a:cs typeface="宋体"/>
              </a:rPr>
              <a:t>语法分析综述</a:t>
            </a:r>
            <a:endParaRPr sz="40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050" y="709930"/>
            <a:ext cx="492379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26135" algn="l"/>
              </a:tabLst>
            </a:pPr>
            <a:r>
              <a:rPr dirty="0" sz="3200" spc="-10">
                <a:latin typeface="宋体"/>
                <a:cs typeface="宋体"/>
              </a:rPr>
              <a:t>—</a:t>
            </a:r>
            <a:r>
              <a:rPr dirty="0" sz="3200" spc="-810">
                <a:latin typeface="宋体"/>
                <a:cs typeface="宋体"/>
              </a:rPr>
              <a:t> </a:t>
            </a:r>
            <a:r>
              <a:rPr dirty="0" sz="3200"/>
              <a:t>.</a:t>
            </a:r>
            <a:r>
              <a:rPr dirty="0" sz="3200"/>
              <a:t>	</a:t>
            </a:r>
            <a:r>
              <a:rPr dirty="0" sz="3200">
                <a:latin typeface="宋体"/>
                <a:cs typeface="宋体"/>
              </a:rPr>
              <a:t>自上而下语法分析方法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30173" y="1524761"/>
            <a:ext cx="8229600" cy="23027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30173" y="1524761"/>
            <a:ext cx="8229600" cy="2303145"/>
          </a:xfrm>
          <a:custGeom>
            <a:avLst/>
            <a:gdLst/>
            <a:ahLst/>
            <a:cxnLst/>
            <a:rect l="l" t="t" r="r" b="b"/>
            <a:pathLst>
              <a:path w="8229600" h="2303145">
                <a:moveTo>
                  <a:pt x="0" y="2302764"/>
                </a:moveTo>
                <a:lnTo>
                  <a:pt x="8229600" y="2302764"/>
                </a:lnTo>
                <a:lnTo>
                  <a:pt x="8229600" y="0"/>
                </a:lnTo>
                <a:lnTo>
                  <a:pt x="0" y="0"/>
                </a:lnTo>
                <a:lnTo>
                  <a:pt x="0" y="2302764"/>
                </a:lnTo>
                <a:close/>
              </a:path>
            </a:pathLst>
          </a:custGeom>
          <a:ln w="41275">
            <a:solidFill>
              <a:srgbClr val="FF6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96341" y="11378"/>
            <a:ext cx="835152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4215" algn="l"/>
                <a:tab pos="2224405" algn="l"/>
                <a:tab pos="2903855" algn="l"/>
                <a:tab pos="5641340" algn="l"/>
                <a:tab pos="6505575" algn="l"/>
              </a:tabLst>
            </a:pPr>
            <a:r>
              <a:rPr dirty="0" sz="2400" spc="-1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h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语法分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析	</a:t>
            </a: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4.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1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语法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分析程</a:t>
            </a:r>
            <a:r>
              <a:rPr dirty="0" sz="2400" spc="-10" b="1">
                <a:solidFill>
                  <a:srgbClr val="A15100"/>
                </a:solidFill>
                <a:latin typeface="华文新魏"/>
                <a:cs typeface="华文新魏"/>
              </a:rPr>
              <a:t>序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综述	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4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.</a:t>
            </a:r>
            <a:r>
              <a:rPr dirty="0" u="sng" sz="24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1.</a:t>
            </a:r>
            <a:r>
              <a:rPr dirty="0" u="sng" sz="24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2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	</a:t>
            </a:r>
            <a:r>
              <a:rPr dirty="0" u="sng" sz="24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语法分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析方</a:t>
            </a:r>
            <a:r>
              <a:rPr dirty="0" u="sng" sz="2400" spc="-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法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7542" y="1522737"/>
            <a:ext cx="7691755" cy="47047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90170" indent="711200">
              <a:lnSpc>
                <a:spcPct val="130000"/>
              </a:lnSpc>
              <a:spcBef>
                <a:spcPts val="95"/>
              </a:spcBef>
            </a:pPr>
            <a:r>
              <a:rPr dirty="0" sz="3200" b="1">
                <a:latin typeface="宋体"/>
                <a:cs typeface="宋体"/>
              </a:rPr>
              <a:t>给定文</a:t>
            </a:r>
            <a:r>
              <a:rPr dirty="0" sz="3200" spc="5" b="1">
                <a:latin typeface="宋体"/>
                <a:cs typeface="宋体"/>
              </a:rPr>
              <a:t>法</a:t>
            </a:r>
            <a:r>
              <a:rPr dirty="0" sz="3200" b="1" i="1">
                <a:latin typeface="Times New Roman"/>
                <a:cs typeface="Times New Roman"/>
              </a:rPr>
              <a:t>G</a:t>
            </a:r>
            <a:r>
              <a:rPr dirty="0" sz="3200" b="1">
                <a:latin typeface="宋体"/>
                <a:cs typeface="宋体"/>
              </a:rPr>
              <a:t>和源程序</a:t>
            </a:r>
            <a:r>
              <a:rPr dirty="0" sz="3200" spc="-10" b="1">
                <a:latin typeface="宋体"/>
                <a:cs typeface="宋体"/>
              </a:rPr>
              <a:t>串</a:t>
            </a:r>
            <a:r>
              <a:rPr dirty="0" sz="3200" b="1" i="1">
                <a:latin typeface="Times New Roman"/>
                <a:cs typeface="Times New Roman"/>
              </a:rPr>
              <a:t>r</a:t>
            </a:r>
            <a:r>
              <a:rPr dirty="0" sz="3200" b="1">
                <a:latin typeface="宋体"/>
                <a:cs typeface="宋体"/>
              </a:rPr>
              <a:t>。</a:t>
            </a:r>
            <a:r>
              <a:rPr dirty="0" sz="3200" spc="-15" b="1">
                <a:latin typeface="宋体"/>
                <a:cs typeface="宋体"/>
              </a:rPr>
              <a:t>从</a:t>
            </a:r>
            <a:r>
              <a:rPr dirty="0" sz="3200" b="1" i="1">
                <a:latin typeface="Times New Roman"/>
                <a:cs typeface="Times New Roman"/>
              </a:rPr>
              <a:t>G</a:t>
            </a:r>
            <a:r>
              <a:rPr dirty="0" sz="3200" spc="-5" b="1">
                <a:latin typeface="宋体"/>
                <a:cs typeface="宋体"/>
              </a:rPr>
              <a:t>的</a:t>
            </a:r>
            <a:r>
              <a:rPr dirty="0" sz="3200" spc="-10" b="1">
                <a:latin typeface="宋体"/>
                <a:cs typeface="宋体"/>
              </a:rPr>
              <a:t>开</a:t>
            </a:r>
            <a:r>
              <a:rPr dirty="0" sz="3200" spc="-5" b="1">
                <a:latin typeface="宋体"/>
                <a:cs typeface="宋体"/>
              </a:rPr>
              <a:t>始</a:t>
            </a:r>
            <a:r>
              <a:rPr dirty="0" sz="3200" spc="-10" b="1">
                <a:latin typeface="宋体"/>
                <a:cs typeface="宋体"/>
              </a:rPr>
              <a:t>符 </a:t>
            </a:r>
            <a:r>
              <a:rPr dirty="0" sz="3200" spc="-5" b="1">
                <a:latin typeface="宋体"/>
                <a:cs typeface="宋体"/>
              </a:rPr>
              <a:t>号</a:t>
            </a:r>
            <a:r>
              <a:rPr dirty="0" sz="3200" spc="-10" b="1" i="1">
                <a:latin typeface="Times New Roman"/>
                <a:cs typeface="Times New Roman"/>
              </a:rPr>
              <a:t>S</a:t>
            </a:r>
            <a:r>
              <a:rPr dirty="0" sz="3200" spc="-5" b="1">
                <a:latin typeface="宋体"/>
                <a:cs typeface="宋体"/>
              </a:rPr>
              <a:t>出发，通过反复使用产</a:t>
            </a:r>
            <a:r>
              <a:rPr dirty="0" sz="3200" spc="-15" b="1">
                <a:latin typeface="宋体"/>
                <a:cs typeface="宋体"/>
              </a:rPr>
              <a:t>生</a:t>
            </a:r>
            <a:r>
              <a:rPr dirty="0" sz="3200" spc="-5" b="1">
                <a:latin typeface="宋体"/>
                <a:cs typeface="宋体"/>
              </a:rPr>
              <a:t>式对句</a:t>
            </a:r>
            <a:r>
              <a:rPr dirty="0" sz="3200" spc="-15" b="1">
                <a:latin typeface="宋体"/>
                <a:cs typeface="宋体"/>
              </a:rPr>
              <a:t>型</a:t>
            </a:r>
            <a:r>
              <a:rPr dirty="0" sz="3200" spc="-5" b="1">
                <a:latin typeface="宋体"/>
                <a:cs typeface="宋体"/>
              </a:rPr>
              <a:t>中的 </a:t>
            </a:r>
            <a:r>
              <a:rPr dirty="0" sz="3200" b="1">
                <a:latin typeface="宋体"/>
                <a:cs typeface="宋体"/>
              </a:rPr>
              <a:t>非终结符进行替</a:t>
            </a:r>
            <a:r>
              <a:rPr dirty="0" sz="3200" spc="5" b="1">
                <a:latin typeface="宋体"/>
                <a:cs typeface="宋体"/>
              </a:rPr>
              <a:t>换</a:t>
            </a:r>
            <a:r>
              <a:rPr dirty="0" sz="3200" b="1">
                <a:latin typeface="Times New Roman"/>
                <a:cs typeface="Times New Roman"/>
              </a:rPr>
              <a:t>(</a:t>
            </a:r>
            <a:r>
              <a:rPr dirty="0" sz="3200" b="1">
                <a:latin typeface="宋体"/>
                <a:cs typeface="宋体"/>
              </a:rPr>
              <a:t>推导</a:t>
            </a:r>
            <a:r>
              <a:rPr dirty="0" sz="3200" spc="-10" b="1">
                <a:latin typeface="Times New Roman"/>
                <a:cs typeface="Times New Roman"/>
              </a:rPr>
              <a:t>)</a:t>
            </a:r>
            <a:r>
              <a:rPr dirty="0" sz="3200" spc="-10" b="1">
                <a:latin typeface="宋体"/>
                <a:cs typeface="宋体"/>
              </a:rPr>
              <a:t>，</a:t>
            </a:r>
            <a:r>
              <a:rPr dirty="0" sz="3200" spc="-5" b="1">
                <a:latin typeface="宋体"/>
                <a:cs typeface="宋体"/>
              </a:rPr>
              <a:t>逐</a:t>
            </a:r>
            <a:r>
              <a:rPr dirty="0" sz="3200" spc="-10" b="1">
                <a:latin typeface="宋体"/>
                <a:cs typeface="宋体"/>
              </a:rPr>
              <a:t>步</a:t>
            </a:r>
            <a:r>
              <a:rPr dirty="0" sz="3200" b="1">
                <a:latin typeface="宋体"/>
                <a:cs typeface="宋体"/>
              </a:rPr>
              <a:t>推</a:t>
            </a:r>
            <a:r>
              <a:rPr dirty="0" sz="3200" spc="-5" b="1">
                <a:latin typeface="宋体"/>
                <a:cs typeface="宋体"/>
              </a:rPr>
              <a:t>导出</a:t>
            </a:r>
            <a:r>
              <a:rPr dirty="0" sz="3200" b="1" i="1">
                <a:latin typeface="Times New Roman"/>
                <a:cs typeface="Times New Roman"/>
              </a:rPr>
              <a:t>r</a:t>
            </a:r>
            <a:r>
              <a:rPr dirty="0" sz="3200" spc="-65" b="1" i="1">
                <a:latin typeface="Times New Roman"/>
                <a:cs typeface="Times New Roman"/>
              </a:rPr>
              <a:t> </a:t>
            </a:r>
            <a:r>
              <a:rPr dirty="0" sz="3200" spc="-10" b="1"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4850">
              <a:latin typeface="宋体"/>
              <a:cs typeface="宋体"/>
            </a:endParaRPr>
          </a:p>
          <a:p>
            <a:pPr marL="621665" indent="-508000">
              <a:lnSpc>
                <a:spcPct val="100000"/>
              </a:lnSpc>
              <a:buFont typeface="Times New Roman"/>
              <a:buChar char="*"/>
              <a:tabLst>
                <a:tab pos="621665" algn="l"/>
                <a:tab pos="62230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是一种产生的方法，面向目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标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的方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法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577215" marR="5080" indent="-508000">
              <a:lnSpc>
                <a:spcPct val="150100"/>
              </a:lnSpc>
              <a:spcBef>
                <a:spcPts val="229"/>
              </a:spcBef>
              <a:buFont typeface="Times New Roman"/>
              <a:buChar char="*"/>
              <a:tabLst>
                <a:tab pos="577215" algn="l"/>
                <a:tab pos="577850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分析的主旨是选择产生式的合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适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的侯选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式进行推导，逐步使推导结果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与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匹配。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220205" y="5554217"/>
            <a:ext cx="1991995" cy="0"/>
          </a:xfrm>
          <a:custGeom>
            <a:avLst/>
            <a:gdLst/>
            <a:ahLst/>
            <a:cxnLst/>
            <a:rect l="l" t="t" r="r" b="b"/>
            <a:pathLst>
              <a:path w="1991995" h="0">
                <a:moveTo>
                  <a:pt x="0" y="0"/>
                </a:moveTo>
                <a:lnTo>
                  <a:pt x="1991868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334261" y="6233921"/>
            <a:ext cx="372110" cy="0"/>
          </a:xfrm>
          <a:custGeom>
            <a:avLst/>
            <a:gdLst/>
            <a:ahLst/>
            <a:cxnLst/>
            <a:rect l="l" t="t" r="r" b="b"/>
            <a:pathLst>
              <a:path w="372110" h="0">
                <a:moveTo>
                  <a:pt x="0" y="0"/>
                </a:moveTo>
                <a:lnTo>
                  <a:pt x="371856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489454" y="4775453"/>
            <a:ext cx="826135" cy="0"/>
          </a:xfrm>
          <a:custGeom>
            <a:avLst/>
            <a:gdLst/>
            <a:ahLst/>
            <a:cxnLst/>
            <a:rect l="l" t="t" r="r" b="b"/>
            <a:pathLst>
              <a:path w="826135" h="0">
                <a:moveTo>
                  <a:pt x="0" y="0"/>
                </a:moveTo>
                <a:lnTo>
                  <a:pt x="826007" y="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965953" y="4775453"/>
            <a:ext cx="1562100" cy="0"/>
          </a:xfrm>
          <a:custGeom>
            <a:avLst/>
            <a:gdLst/>
            <a:ahLst/>
            <a:cxnLst/>
            <a:rect l="l" t="t" r="r" b="b"/>
            <a:pathLst>
              <a:path w="1562100" h="0">
                <a:moveTo>
                  <a:pt x="1562100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7542" y="539572"/>
            <a:ext cx="94424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4.1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28622" y="417850"/>
            <a:ext cx="3843654" cy="124587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13360" marR="5080" indent="-201295">
              <a:lnSpc>
                <a:spcPct val="125099"/>
              </a:lnSpc>
              <a:spcBef>
                <a:spcPts val="100"/>
              </a:spcBef>
            </a:pPr>
            <a:r>
              <a:rPr dirty="0" sz="3200" spc="-5">
                <a:latin typeface="宋体"/>
                <a:cs typeface="宋体"/>
              </a:rPr>
              <a:t>设有文法</a:t>
            </a:r>
            <a:r>
              <a:rPr dirty="0" sz="3200" i="1">
                <a:latin typeface="Times New Roman"/>
                <a:cs typeface="Times New Roman"/>
              </a:rPr>
              <a:t>G</a:t>
            </a:r>
            <a:r>
              <a:rPr dirty="0" sz="3200" spc="-5">
                <a:latin typeface="宋体"/>
                <a:cs typeface="宋体"/>
              </a:rPr>
              <a:t>和输入</a:t>
            </a:r>
            <a:r>
              <a:rPr dirty="0" sz="3200" spc="-10">
                <a:latin typeface="宋体"/>
                <a:cs typeface="宋体"/>
              </a:rPr>
              <a:t>串</a:t>
            </a:r>
            <a:r>
              <a:rPr dirty="0" sz="3200" spc="-894">
                <a:latin typeface="宋体"/>
                <a:cs typeface="宋体"/>
              </a:rPr>
              <a:t> </a:t>
            </a:r>
            <a:r>
              <a:rPr dirty="0" sz="3200" i="1">
                <a:latin typeface="Times New Roman"/>
                <a:cs typeface="Times New Roman"/>
              </a:rPr>
              <a:t>r  </a:t>
            </a:r>
            <a:r>
              <a:rPr dirty="0" sz="3200" spc="-5" i="1">
                <a:solidFill>
                  <a:srgbClr val="99FF99"/>
                </a:solidFill>
                <a:latin typeface="Times New Roman"/>
                <a:cs typeface="Times New Roman"/>
              </a:rPr>
              <a:t>G</a:t>
            </a:r>
            <a:r>
              <a:rPr dirty="0" sz="3200" spc="-5">
                <a:solidFill>
                  <a:srgbClr val="99FF99"/>
                </a:solidFill>
                <a:latin typeface="宋体"/>
                <a:cs typeface="宋体"/>
              </a:rPr>
              <a:t>：</a:t>
            </a:r>
            <a:r>
              <a:rPr dirty="0" sz="3200" spc="-840">
                <a:solidFill>
                  <a:srgbClr val="99FF99"/>
                </a:solidFill>
                <a:latin typeface="宋体"/>
                <a:cs typeface="宋体"/>
              </a:rPr>
              <a:t> 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S </a:t>
            </a:r>
            <a:r>
              <a:rPr dirty="0" sz="3200">
                <a:solidFill>
                  <a:srgbClr val="FFFFFF"/>
                </a:solidFill>
              </a:rPr>
              <a:t>→ </a:t>
            </a:r>
            <a:r>
              <a:rPr dirty="0" sz="3200" spc="5" i="1">
                <a:solidFill>
                  <a:srgbClr val="FFFFFF"/>
                </a:solidFill>
                <a:latin typeface="Times New Roman"/>
                <a:cs typeface="Times New Roman"/>
              </a:rPr>
              <a:t>aA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9442" y="1636034"/>
            <a:ext cx="7648575" cy="352679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2184400">
              <a:lnSpc>
                <a:spcPct val="100000"/>
              </a:lnSpc>
              <a:spcBef>
                <a:spcPts val="106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BaA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3200">
              <a:latin typeface="Times New Roman"/>
              <a:cs typeface="Times New Roman"/>
            </a:endParaRPr>
          </a:p>
          <a:p>
            <a:pPr marL="2184400">
              <a:lnSpc>
                <a:spcPct val="100000"/>
              </a:lnSpc>
              <a:spcBef>
                <a:spcPts val="96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 + | </a:t>
            </a:r>
            <a:r>
              <a:rPr dirty="0" sz="3200" b="1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 * |</a:t>
            </a:r>
            <a:r>
              <a:rPr dirty="0" sz="3200" spc="-1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endParaRPr sz="3200">
              <a:latin typeface="Times New Roman"/>
              <a:cs typeface="Times New Roman"/>
            </a:endParaRPr>
          </a:p>
          <a:p>
            <a:pPr algn="ctr" marR="2742565">
              <a:lnSpc>
                <a:spcPct val="100000"/>
              </a:lnSpc>
              <a:spcBef>
                <a:spcPts val="1895"/>
              </a:spcBef>
              <a:tabLst>
                <a:tab pos="699135" algn="l"/>
              </a:tabLst>
            </a:pPr>
            <a:r>
              <a:rPr dirty="0" sz="3200" b="1" i="1">
                <a:solidFill>
                  <a:srgbClr val="99FF99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99FF99"/>
                </a:solidFill>
                <a:latin typeface="Times New Roman"/>
                <a:cs typeface="Times New Roman"/>
              </a:rPr>
              <a:t>:	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91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分析方式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1(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推导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 marL="659765">
              <a:lnSpc>
                <a:spcPct val="100000"/>
              </a:lnSpc>
              <a:spcBef>
                <a:spcPts val="2630"/>
              </a:spcBef>
              <a:tabLst>
                <a:tab pos="2222500" algn="l"/>
                <a:tab pos="3975100" algn="l"/>
                <a:tab pos="5671185" algn="l"/>
              </a:tabLst>
            </a:pPr>
            <a:r>
              <a:rPr dirty="0" baseline="13020" sz="4800" b="1" i="1">
                <a:solidFill>
                  <a:srgbClr val="66FFFF"/>
                </a:solidFill>
                <a:latin typeface="Times New Roman"/>
                <a:cs typeface="Times New Roman"/>
              </a:rPr>
              <a:t>S</a:t>
            </a:r>
            <a:r>
              <a:rPr dirty="0" baseline="13020" sz="4800" spc="-7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baseline="13020" sz="4800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baseline="13020" sz="4800" spc="-7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u="heavy" baseline="13020" sz="480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heavy" baseline="13020" sz="4800" b="1" i="1">
                <a:solidFill>
                  <a:srgbClr val="66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baseline="13020" sz="4800" b="1" i="1">
                <a:solidFill>
                  <a:srgbClr val="66FFFF"/>
                </a:solidFill>
                <a:latin typeface="Times New Roman"/>
                <a:cs typeface="Times New Roman"/>
              </a:rPr>
              <a:t>	</a:t>
            </a:r>
            <a:r>
              <a:rPr dirty="0" baseline="7812" sz="4800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baseline="7812" sz="4800" spc="7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7812" sz="4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u="heavy" baseline="7812" sz="4800" b="1" i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B</a:t>
            </a:r>
            <a:r>
              <a:rPr dirty="0" u="heavy" baseline="7812" sz="4800" b="1" i="1">
                <a:solidFill>
                  <a:srgbClr val="FF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aA</a:t>
            </a:r>
            <a:r>
              <a:rPr dirty="0" baseline="7812" sz="4800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baseline="5208" sz="4800" spc="-7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baseline="5208" sz="4800" spc="7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5208" sz="4800" spc="7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u="heavy" baseline="5208" sz="4800" spc="7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*</a:t>
            </a:r>
            <a:r>
              <a:rPr dirty="0" baseline="5208" sz="4800" spc="7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5208" sz="4800" spc="7" b="1" i="1">
                <a:solidFill>
                  <a:srgbClr val="66FFFF"/>
                </a:solidFill>
                <a:latin typeface="Times New Roman"/>
                <a:cs typeface="Times New Roman"/>
              </a:rPr>
              <a:t>A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sz="32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u="heavy" sz="3200" spc="5" b="1" i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B</a:t>
            </a:r>
            <a:r>
              <a:rPr dirty="0" u="heavy" sz="3200" spc="5" b="1" i="1">
                <a:solidFill>
                  <a:srgbClr val="FF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aA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64894" y="5449011"/>
            <a:ext cx="191135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sz="3200" spc="-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u="heavy" sz="3200" spc="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+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56152" y="5408472"/>
            <a:ext cx="16389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sz="32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61405" y="5432247"/>
            <a:ext cx="18421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=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sz="3200" spc="-8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∈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96341" y="11378"/>
            <a:ext cx="835152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4215" algn="l"/>
                <a:tab pos="2224405" algn="l"/>
                <a:tab pos="2903855" algn="l"/>
                <a:tab pos="5641340" algn="l"/>
                <a:tab pos="6505575" algn="l"/>
              </a:tabLst>
            </a:pPr>
            <a:r>
              <a:rPr dirty="0" sz="2400" spc="-1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h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语法分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析	</a:t>
            </a: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4.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1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语法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分析程</a:t>
            </a:r>
            <a:r>
              <a:rPr dirty="0" sz="2400" spc="-10" b="1">
                <a:solidFill>
                  <a:srgbClr val="A15100"/>
                </a:solidFill>
                <a:latin typeface="华文新魏"/>
                <a:cs typeface="华文新魏"/>
              </a:rPr>
              <a:t>序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综述	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4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.</a:t>
            </a:r>
            <a:r>
              <a:rPr dirty="0" u="sng" sz="24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1.</a:t>
            </a:r>
            <a:r>
              <a:rPr dirty="0" u="sng" sz="24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2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	</a:t>
            </a:r>
            <a:r>
              <a:rPr dirty="0" u="sng" sz="24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语法分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析方</a:t>
            </a:r>
            <a:r>
              <a:rPr dirty="0" u="sng" sz="2400" spc="-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法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51757" y="1654810"/>
            <a:ext cx="2228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609594" y="2219705"/>
            <a:ext cx="326390" cy="460375"/>
          </a:xfrm>
          <a:custGeom>
            <a:avLst/>
            <a:gdLst/>
            <a:ahLst/>
            <a:cxnLst/>
            <a:rect l="l" t="t" r="r" b="b"/>
            <a:pathLst>
              <a:path w="326389" h="460375">
                <a:moveTo>
                  <a:pt x="326135" y="0"/>
                </a:moveTo>
                <a:lnTo>
                  <a:pt x="0" y="46024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543805" y="2219705"/>
            <a:ext cx="391795" cy="460375"/>
          </a:xfrm>
          <a:custGeom>
            <a:avLst/>
            <a:gdLst/>
            <a:ahLst/>
            <a:cxnLst/>
            <a:rect l="l" t="t" r="r" b="b"/>
            <a:pathLst>
              <a:path w="391795" h="460375">
                <a:moveTo>
                  <a:pt x="0" y="0"/>
                </a:moveTo>
                <a:lnTo>
                  <a:pt x="391668" y="46024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513201" y="2622042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99FF99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99684" y="2622042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92573" y="3059429"/>
            <a:ext cx="326390" cy="498475"/>
          </a:xfrm>
          <a:custGeom>
            <a:avLst/>
            <a:gdLst/>
            <a:ahLst/>
            <a:cxnLst/>
            <a:rect l="l" t="t" r="r" b="b"/>
            <a:pathLst>
              <a:path w="326389" h="498475">
                <a:moveTo>
                  <a:pt x="326136" y="0"/>
                </a:moveTo>
                <a:lnTo>
                  <a:pt x="0" y="49834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377434" y="3100577"/>
            <a:ext cx="0" cy="460375"/>
          </a:xfrm>
          <a:custGeom>
            <a:avLst/>
            <a:gdLst/>
            <a:ahLst/>
            <a:cxnLst/>
            <a:rect l="l" t="t" r="r" b="b"/>
            <a:pathLst>
              <a:path w="0" h="460375">
                <a:moveTo>
                  <a:pt x="0" y="0"/>
                </a:moveTo>
                <a:lnTo>
                  <a:pt x="0" y="46024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668517" y="3009138"/>
            <a:ext cx="981710" cy="577850"/>
          </a:xfrm>
          <a:custGeom>
            <a:avLst/>
            <a:gdLst/>
            <a:ahLst/>
            <a:cxnLst/>
            <a:rect l="l" t="t" r="r" b="b"/>
            <a:pathLst>
              <a:path w="981709" h="577850">
                <a:moveTo>
                  <a:pt x="0" y="0"/>
                </a:moveTo>
                <a:lnTo>
                  <a:pt x="981456" y="577596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368800" y="3469335"/>
            <a:ext cx="10629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71855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99FF99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59982" y="3469335"/>
            <a:ext cx="2628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697218" y="3972305"/>
            <a:ext cx="0" cy="437515"/>
          </a:xfrm>
          <a:custGeom>
            <a:avLst/>
            <a:gdLst/>
            <a:ahLst/>
            <a:cxnLst/>
            <a:rect l="l" t="t" r="r" b="b"/>
            <a:pathLst>
              <a:path w="0" h="437514">
                <a:moveTo>
                  <a:pt x="0" y="0"/>
                </a:moveTo>
                <a:lnTo>
                  <a:pt x="0" y="43738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807202" y="3952494"/>
            <a:ext cx="655320" cy="436245"/>
          </a:xfrm>
          <a:custGeom>
            <a:avLst/>
            <a:gdLst/>
            <a:ahLst/>
            <a:cxnLst/>
            <a:rect l="l" t="t" r="r" b="b"/>
            <a:pathLst>
              <a:path w="655320" h="436245">
                <a:moveTo>
                  <a:pt x="655320" y="0"/>
                </a:moveTo>
                <a:lnTo>
                  <a:pt x="0" y="435863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639180" y="4453838"/>
            <a:ext cx="2628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87108" y="4453838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99FF99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52181" y="4453838"/>
            <a:ext cx="2628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887718" y="3894582"/>
            <a:ext cx="702945" cy="711835"/>
          </a:xfrm>
          <a:custGeom>
            <a:avLst/>
            <a:gdLst/>
            <a:ahLst/>
            <a:cxnLst/>
            <a:rect l="l" t="t" r="r" b="b"/>
            <a:pathLst>
              <a:path w="702945" h="711835">
                <a:moveTo>
                  <a:pt x="0" y="0"/>
                </a:moveTo>
                <a:lnTo>
                  <a:pt x="702563" y="711708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499609" y="3952494"/>
            <a:ext cx="0" cy="436245"/>
          </a:xfrm>
          <a:custGeom>
            <a:avLst/>
            <a:gdLst/>
            <a:ahLst/>
            <a:cxnLst/>
            <a:rect l="l" t="t" r="r" b="b"/>
            <a:pathLst>
              <a:path w="0" h="436245">
                <a:moveTo>
                  <a:pt x="0" y="0"/>
                </a:moveTo>
                <a:lnTo>
                  <a:pt x="0" y="435863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399534" y="4452315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99FF99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754873" y="4918709"/>
            <a:ext cx="0" cy="437515"/>
          </a:xfrm>
          <a:custGeom>
            <a:avLst/>
            <a:gdLst/>
            <a:ahLst/>
            <a:cxnLst/>
            <a:rect l="l" t="t" r="r" b="b"/>
            <a:pathLst>
              <a:path w="0" h="437514">
                <a:moveTo>
                  <a:pt x="0" y="0"/>
                </a:moveTo>
                <a:lnTo>
                  <a:pt x="0" y="43738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7650860" y="5259043"/>
            <a:ext cx="204470" cy="541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350" spc="-6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3350">
              <a:latin typeface="Symbol"/>
              <a:cs typeface="Symbo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25611" y="2366772"/>
            <a:ext cx="228600" cy="2859405"/>
          </a:xfrm>
          <a:custGeom>
            <a:avLst/>
            <a:gdLst/>
            <a:ahLst/>
            <a:cxnLst/>
            <a:rect l="l" t="t" r="r" b="b"/>
            <a:pathLst>
              <a:path w="228600" h="2859404">
                <a:moveTo>
                  <a:pt x="76200" y="2478023"/>
                </a:moveTo>
                <a:lnTo>
                  <a:pt x="0" y="2478023"/>
                </a:lnTo>
                <a:lnTo>
                  <a:pt x="114300" y="2859023"/>
                </a:lnTo>
                <a:lnTo>
                  <a:pt x="217170" y="2516123"/>
                </a:lnTo>
                <a:lnTo>
                  <a:pt x="76200" y="2516123"/>
                </a:lnTo>
                <a:lnTo>
                  <a:pt x="76200" y="2478023"/>
                </a:lnTo>
                <a:close/>
              </a:path>
              <a:path w="228600" h="2859404">
                <a:moveTo>
                  <a:pt x="152400" y="0"/>
                </a:moveTo>
                <a:lnTo>
                  <a:pt x="76200" y="0"/>
                </a:lnTo>
                <a:lnTo>
                  <a:pt x="76200" y="2516123"/>
                </a:lnTo>
                <a:lnTo>
                  <a:pt x="152400" y="2516123"/>
                </a:lnTo>
                <a:lnTo>
                  <a:pt x="152400" y="0"/>
                </a:lnTo>
                <a:close/>
              </a:path>
              <a:path w="228600" h="2859404">
                <a:moveTo>
                  <a:pt x="228600" y="2478023"/>
                </a:moveTo>
                <a:lnTo>
                  <a:pt x="152400" y="2478023"/>
                </a:lnTo>
                <a:lnTo>
                  <a:pt x="152400" y="2516123"/>
                </a:lnTo>
                <a:lnTo>
                  <a:pt x="217170" y="2516123"/>
                </a:lnTo>
                <a:lnTo>
                  <a:pt x="228600" y="247802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8725661" y="2443429"/>
            <a:ext cx="381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上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725661" y="4364482"/>
            <a:ext cx="381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下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328786" y="1807210"/>
            <a:ext cx="25209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EAEAEA"/>
                </a:solidFill>
                <a:latin typeface="Times New Roman"/>
                <a:cs typeface="Times New Roman"/>
              </a:rPr>
              <a:t>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28786" y="5266740"/>
            <a:ext cx="18415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EAEAEA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0" y="3445509"/>
            <a:ext cx="2324100" cy="0"/>
          </a:xfrm>
          <a:custGeom>
            <a:avLst/>
            <a:gdLst/>
            <a:ahLst/>
            <a:cxnLst/>
            <a:rect l="l" t="t" r="r" b="b"/>
            <a:pathLst>
              <a:path w="2324100" h="0">
                <a:moveTo>
                  <a:pt x="0" y="0"/>
                </a:moveTo>
                <a:lnTo>
                  <a:pt x="2324100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396341" y="11378"/>
            <a:ext cx="8351520" cy="1298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4215" algn="l"/>
                <a:tab pos="2224405" algn="l"/>
                <a:tab pos="2903855" algn="l"/>
                <a:tab pos="5641340" algn="l"/>
                <a:tab pos="6505575" algn="l"/>
              </a:tabLst>
            </a:pPr>
            <a:r>
              <a:rPr dirty="0" sz="2400" spc="-1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h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语法分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析	</a:t>
            </a: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4.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1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语法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分析程</a:t>
            </a:r>
            <a:r>
              <a:rPr dirty="0" sz="2400" spc="-10" b="1">
                <a:solidFill>
                  <a:srgbClr val="A15100"/>
                </a:solidFill>
                <a:latin typeface="华文新魏"/>
                <a:cs typeface="华文新魏"/>
              </a:rPr>
              <a:t>序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综述	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4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.</a:t>
            </a:r>
            <a:r>
              <a:rPr dirty="0" u="sng" sz="24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1.</a:t>
            </a:r>
            <a:r>
              <a:rPr dirty="0" u="sng" sz="24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2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	</a:t>
            </a:r>
            <a:r>
              <a:rPr dirty="0" u="sng" sz="24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语法分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析方</a:t>
            </a:r>
            <a:r>
              <a:rPr dirty="0" u="sng" sz="2400" spc="-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法</a:t>
            </a:r>
            <a:endParaRPr sz="24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200">
              <a:latin typeface="华文新魏"/>
              <a:cs typeface="华文新魏"/>
            </a:endParaRPr>
          </a:p>
          <a:p>
            <a:pPr marL="497205">
              <a:lnSpc>
                <a:spcPct val="100000"/>
              </a:lnSpc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分析树的从左到右叶结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3200" spc="-86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317750" y="1421130"/>
            <a:ext cx="0" cy="2018030"/>
          </a:xfrm>
          <a:custGeom>
            <a:avLst/>
            <a:gdLst/>
            <a:ahLst/>
            <a:cxnLst/>
            <a:rect l="l" t="t" r="r" b="b"/>
            <a:pathLst>
              <a:path w="0" h="2018029">
                <a:moveTo>
                  <a:pt x="0" y="0"/>
                </a:moveTo>
                <a:lnTo>
                  <a:pt x="0" y="201803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0" y="1414780"/>
            <a:ext cx="2324100" cy="0"/>
          </a:xfrm>
          <a:custGeom>
            <a:avLst/>
            <a:gdLst/>
            <a:ahLst/>
            <a:cxnLst/>
            <a:rect l="l" t="t" r="r" b="b"/>
            <a:pathLst>
              <a:path w="2324100" h="0">
                <a:moveTo>
                  <a:pt x="0" y="0"/>
                </a:moveTo>
                <a:lnTo>
                  <a:pt x="2324100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0" y="3413759"/>
            <a:ext cx="2298700" cy="0"/>
          </a:xfrm>
          <a:custGeom>
            <a:avLst/>
            <a:gdLst/>
            <a:ahLst/>
            <a:cxnLst/>
            <a:rect l="l" t="t" r="r" b="b"/>
            <a:pathLst>
              <a:path w="2298700" h="0">
                <a:moveTo>
                  <a:pt x="0" y="0"/>
                </a:moveTo>
                <a:lnTo>
                  <a:pt x="2298700" y="0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350" y="1459230"/>
            <a:ext cx="0" cy="1941830"/>
          </a:xfrm>
          <a:custGeom>
            <a:avLst/>
            <a:gdLst/>
            <a:ahLst/>
            <a:cxnLst/>
            <a:rect l="l" t="t" r="r" b="b"/>
            <a:pathLst>
              <a:path w="0" h="1941829">
                <a:moveTo>
                  <a:pt x="0" y="0"/>
                </a:moveTo>
                <a:lnTo>
                  <a:pt x="0" y="1941830"/>
                </a:lnTo>
              </a:path>
            </a:pathLst>
          </a:custGeom>
          <a:ln w="12699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0" y="1446530"/>
            <a:ext cx="2298700" cy="0"/>
          </a:xfrm>
          <a:custGeom>
            <a:avLst/>
            <a:gdLst/>
            <a:ahLst/>
            <a:cxnLst/>
            <a:rect l="l" t="t" r="r" b="b"/>
            <a:pathLst>
              <a:path w="2298700" h="0">
                <a:moveTo>
                  <a:pt x="0" y="0"/>
                </a:moveTo>
                <a:lnTo>
                  <a:pt x="2298699" y="0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286000" y="1458975"/>
            <a:ext cx="0" cy="1942464"/>
          </a:xfrm>
          <a:custGeom>
            <a:avLst/>
            <a:gdLst/>
            <a:ahLst/>
            <a:cxnLst/>
            <a:rect l="l" t="t" r="r" b="b"/>
            <a:pathLst>
              <a:path w="0" h="1942464">
                <a:moveTo>
                  <a:pt x="0" y="0"/>
                </a:moveTo>
                <a:lnTo>
                  <a:pt x="0" y="1942084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5400" y="3382009"/>
            <a:ext cx="2235200" cy="0"/>
          </a:xfrm>
          <a:custGeom>
            <a:avLst/>
            <a:gdLst/>
            <a:ahLst/>
            <a:cxnLst/>
            <a:rect l="l" t="t" r="r" b="b"/>
            <a:pathLst>
              <a:path w="2235200" h="0">
                <a:moveTo>
                  <a:pt x="0" y="0"/>
                </a:moveTo>
                <a:lnTo>
                  <a:pt x="2235200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1750" y="1484630"/>
            <a:ext cx="0" cy="1891030"/>
          </a:xfrm>
          <a:custGeom>
            <a:avLst/>
            <a:gdLst/>
            <a:ahLst/>
            <a:cxnLst/>
            <a:rect l="l" t="t" r="r" b="b"/>
            <a:pathLst>
              <a:path w="0" h="1891029">
                <a:moveTo>
                  <a:pt x="0" y="0"/>
                </a:moveTo>
                <a:lnTo>
                  <a:pt x="0" y="189103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5400" y="1478280"/>
            <a:ext cx="2235200" cy="0"/>
          </a:xfrm>
          <a:custGeom>
            <a:avLst/>
            <a:gdLst/>
            <a:ahLst/>
            <a:cxnLst/>
            <a:rect l="l" t="t" r="r" b="b"/>
            <a:pathLst>
              <a:path w="2235200" h="0">
                <a:moveTo>
                  <a:pt x="0" y="0"/>
                </a:moveTo>
                <a:lnTo>
                  <a:pt x="2235200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254250" y="1484375"/>
            <a:ext cx="0" cy="1891664"/>
          </a:xfrm>
          <a:custGeom>
            <a:avLst/>
            <a:gdLst/>
            <a:ahLst/>
            <a:cxnLst/>
            <a:rect l="l" t="t" r="r" b="b"/>
            <a:pathLst>
              <a:path w="0" h="1891664">
                <a:moveTo>
                  <a:pt x="0" y="0"/>
                </a:moveTo>
                <a:lnTo>
                  <a:pt x="0" y="1891284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78739" y="1323212"/>
            <a:ext cx="1932305" cy="3589020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aA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BaA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4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→ + | – | * |</a:t>
            </a:r>
            <a:r>
              <a:rPr dirty="0" sz="2400" spc="-1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624840" algn="l"/>
              </a:tabLst>
            </a:pPr>
            <a:r>
              <a:rPr dirty="0" sz="2800" spc="-5" b="1" i="1">
                <a:solidFill>
                  <a:srgbClr val="99FF99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99FF99"/>
                </a:solidFill>
                <a:latin typeface="Times New Roman"/>
                <a:cs typeface="Times New Roman"/>
              </a:rPr>
              <a:t>:	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  <a:p>
            <a:pPr marL="15240" marR="5080">
              <a:lnSpc>
                <a:spcPct val="150100"/>
              </a:lnSpc>
              <a:spcBef>
                <a:spcPts val="944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分析方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式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 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分析树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752338" y="4900421"/>
            <a:ext cx="0" cy="436245"/>
          </a:xfrm>
          <a:custGeom>
            <a:avLst/>
            <a:gdLst/>
            <a:ahLst/>
            <a:cxnLst/>
            <a:rect l="l" t="t" r="r" b="b"/>
            <a:pathLst>
              <a:path w="0" h="436245">
                <a:moveTo>
                  <a:pt x="0" y="0"/>
                </a:moveTo>
                <a:lnTo>
                  <a:pt x="0" y="435863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5622797" y="5279542"/>
            <a:ext cx="25781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99FF99"/>
                </a:solidFill>
                <a:latin typeface="Times New Roman"/>
                <a:cs typeface="Times New Roman"/>
              </a:rPr>
              <a:t>+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243578" y="4373117"/>
            <a:ext cx="512445" cy="510540"/>
          </a:xfrm>
          <a:custGeom>
            <a:avLst/>
            <a:gdLst/>
            <a:ahLst/>
            <a:cxnLst/>
            <a:rect l="l" t="t" r="r" b="b"/>
            <a:pathLst>
              <a:path w="512445" h="510539">
                <a:moveTo>
                  <a:pt x="0" y="255269"/>
                </a:moveTo>
                <a:lnTo>
                  <a:pt x="4126" y="209387"/>
                </a:lnTo>
                <a:lnTo>
                  <a:pt x="16023" y="166202"/>
                </a:lnTo>
                <a:lnTo>
                  <a:pt x="34967" y="126435"/>
                </a:lnTo>
                <a:lnTo>
                  <a:pt x="60232" y="90807"/>
                </a:lnTo>
                <a:lnTo>
                  <a:pt x="91095" y="60040"/>
                </a:lnTo>
                <a:lnTo>
                  <a:pt x="126830" y="34854"/>
                </a:lnTo>
                <a:lnTo>
                  <a:pt x="166714" y="15971"/>
                </a:lnTo>
                <a:lnTo>
                  <a:pt x="210023" y="4113"/>
                </a:lnTo>
                <a:lnTo>
                  <a:pt x="256032" y="0"/>
                </a:lnTo>
                <a:lnTo>
                  <a:pt x="302040" y="4113"/>
                </a:lnTo>
                <a:lnTo>
                  <a:pt x="345349" y="15971"/>
                </a:lnTo>
                <a:lnTo>
                  <a:pt x="385233" y="34854"/>
                </a:lnTo>
                <a:lnTo>
                  <a:pt x="420968" y="60040"/>
                </a:lnTo>
                <a:lnTo>
                  <a:pt x="451831" y="90807"/>
                </a:lnTo>
                <a:lnTo>
                  <a:pt x="477096" y="126435"/>
                </a:lnTo>
                <a:lnTo>
                  <a:pt x="496040" y="166202"/>
                </a:lnTo>
                <a:lnTo>
                  <a:pt x="507937" y="209387"/>
                </a:lnTo>
                <a:lnTo>
                  <a:pt x="512063" y="255269"/>
                </a:lnTo>
                <a:lnTo>
                  <a:pt x="507937" y="301152"/>
                </a:lnTo>
                <a:lnTo>
                  <a:pt x="496040" y="344337"/>
                </a:lnTo>
                <a:lnTo>
                  <a:pt x="477096" y="384104"/>
                </a:lnTo>
                <a:lnTo>
                  <a:pt x="451831" y="419732"/>
                </a:lnTo>
                <a:lnTo>
                  <a:pt x="420968" y="450499"/>
                </a:lnTo>
                <a:lnTo>
                  <a:pt x="385233" y="475685"/>
                </a:lnTo>
                <a:lnTo>
                  <a:pt x="345349" y="494568"/>
                </a:lnTo>
                <a:lnTo>
                  <a:pt x="302040" y="506426"/>
                </a:lnTo>
                <a:lnTo>
                  <a:pt x="256032" y="510539"/>
                </a:lnTo>
                <a:lnTo>
                  <a:pt x="210023" y="506426"/>
                </a:lnTo>
                <a:lnTo>
                  <a:pt x="166714" y="494568"/>
                </a:lnTo>
                <a:lnTo>
                  <a:pt x="126830" y="475685"/>
                </a:lnTo>
                <a:lnTo>
                  <a:pt x="91095" y="450499"/>
                </a:lnTo>
                <a:lnTo>
                  <a:pt x="60232" y="419732"/>
                </a:lnTo>
                <a:lnTo>
                  <a:pt x="34967" y="384104"/>
                </a:lnTo>
                <a:lnTo>
                  <a:pt x="16023" y="344337"/>
                </a:lnTo>
                <a:lnTo>
                  <a:pt x="4126" y="301152"/>
                </a:lnTo>
                <a:lnTo>
                  <a:pt x="0" y="255269"/>
                </a:lnTo>
                <a:close/>
              </a:path>
            </a:pathLst>
          </a:custGeom>
          <a:ln w="38100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291589" y="4627626"/>
            <a:ext cx="2952115" cy="1164590"/>
          </a:xfrm>
          <a:custGeom>
            <a:avLst/>
            <a:gdLst/>
            <a:ahLst/>
            <a:cxnLst/>
            <a:rect l="l" t="t" r="r" b="b"/>
            <a:pathLst>
              <a:path w="2952115" h="1164589">
                <a:moveTo>
                  <a:pt x="2951988" y="0"/>
                </a:moveTo>
                <a:lnTo>
                  <a:pt x="0" y="1164336"/>
                </a:lnTo>
              </a:path>
            </a:pathLst>
          </a:custGeom>
          <a:ln w="38100">
            <a:solidFill>
              <a:srgbClr val="FFFF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339846" y="2661666"/>
            <a:ext cx="510540" cy="510540"/>
          </a:xfrm>
          <a:custGeom>
            <a:avLst/>
            <a:gdLst/>
            <a:ahLst/>
            <a:cxnLst/>
            <a:rect l="l" t="t" r="r" b="b"/>
            <a:pathLst>
              <a:path w="510539" h="510539">
                <a:moveTo>
                  <a:pt x="0" y="255270"/>
                </a:moveTo>
                <a:lnTo>
                  <a:pt x="4113" y="209387"/>
                </a:lnTo>
                <a:lnTo>
                  <a:pt x="15971" y="166202"/>
                </a:lnTo>
                <a:lnTo>
                  <a:pt x="34854" y="126435"/>
                </a:lnTo>
                <a:lnTo>
                  <a:pt x="60040" y="90807"/>
                </a:lnTo>
                <a:lnTo>
                  <a:pt x="90807" y="60040"/>
                </a:lnTo>
                <a:lnTo>
                  <a:pt x="126435" y="34854"/>
                </a:lnTo>
                <a:lnTo>
                  <a:pt x="166202" y="15971"/>
                </a:lnTo>
                <a:lnTo>
                  <a:pt x="209387" y="4113"/>
                </a:lnTo>
                <a:lnTo>
                  <a:pt x="255269" y="0"/>
                </a:lnTo>
                <a:lnTo>
                  <a:pt x="301152" y="4113"/>
                </a:lnTo>
                <a:lnTo>
                  <a:pt x="344337" y="15971"/>
                </a:lnTo>
                <a:lnTo>
                  <a:pt x="384104" y="34854"/>
                </a:lnTo>
                <a:lnTo>
                  <a:pt x="419732" y="60040"/>
                </a:lnTo>
                <a:lnTo>
                  <a:pt x="450499" y="90807"/>
                </a:lnTo>
                <a:lnTo>
                  <a:pt x="475685" y="126435"/>
                </a:lnTo>
                <a:lnTo>
                  <a:pt x="494568" y="166202"/>
                </a:lnTo>
                <a:lnTo>
                  <a:pt x="506426" y="209387"/>
                </a:lnTo>
                <a:lnTo>
                  <a:pt x="510539" y="255270"/>
                </a:lnTo>
                <a:lnTo>
                  <a:pt x="506426" y="301152"/>
                </a:lnTo>
                <a:lnTo>
                  <a:pt x="494568" y="344337"/>
                </a:lnTo>
                <a:lnTo>
                  <a:pt x="475685" y="384104"/>
                </a:lnTo>
                <a:lnTo>
                  <a:pt x="450499" y="419732"/>
                </a:lnTo>
                <a:lnTo>
                  <a:pt x="419732" y="450499"/>
                </a:lnTo>
                <a:lnTo>
                  <a:pt x="384104" y="475685"/>
                </a:lnTo>
                <a:lnTo>
                  <a:pt x="344337" y="494568"/>
                </a:lnTo>
                <a:lnTo>
                  <a:pt x="301152" y="506426"/>
                </a:lnTo>
                <a:lnTo>
                  <a:pt x="255269" y="510539"/>
                </a:lnTo>
                <a:lnTo>
                  <a:pt x="209387" y="506426"/>
                </a:lnTo>
                <a:lnTo>
                  <a:pt x="166202" y="494568"/>
                </a:lnTo>
                <a:lnTo>
                  <a:pt x="126435" y="475685"/>
                </a:lnTo>
                <a:lnTo>
                  <a:pt x="90807" y="450499"/>
                </a:lnTo>
                <a:lnTo>
                  <a:pt x="60040" y="419732"/>
                </a:lnTo>
                <a:lnTo>
                  <a:pt x="34854" y="384104"/>
                </a:lnTo>
                <a:lnTo>
                  <a:pt x="15971" y="344337"/>
                </a:lnTo>
                <a:lnTo>
                  <a:pt x="4113" y="301152"/>
                </a:lnTo>
                <a:lnTo>
                  <a:pt x="0" y="255270"/>
                </a:lnTo>
                <a:close/>
              </a:path>
            </a:pathLst>
          </a:custGeom>
          <a:ln w="38100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087873" y="3480053"/>
            <a:ext cx="510540" cy="512445"/>
          </a:xfrm>
          <a:custGeom>
            <a:avLst/>
            <a:gdLst/>
            <a:ahLst/>
            <a:cxnLst/>
            <a:rect l="l" t="t" r="r" b="b"/>
            <a:pathLst>
              <a:path w="510539" h="512445">
                <a:moveTo>
                  <a:pt x="0" y="256032"/>
                </a:moveTo>
                <a:lnTo>
                  <a:pt x="4113" y="210023"/>
                </a:lnTo>
                <a:lnTo>
                  <a:pt x="15971" y="166714"/>
                </a:lnTo>
                <a:lnTo>
                  <a:pt x="34854" y="126830"/>
                </a:lnTo>
                <a:lnTo>
                  <a:pt x="60040" y="91095"/>
                </a:lnTo>
                <a:lnTo>
                  <a:pt x="90807" y="60232"/>
                </a:lnTo>
                <a:lnTo>
                  <a:pt x="126435" y="34967"/>
                </a:lnTo>
                <a:lnTo>
                  <a:pt x="166202" y="16023"/>
                </a:lnTo>
                <a:lnTo>
                  <a:pt x="209387" y="4126"/>
                </a:lnTo>
                <a:lnTo>
                  <a:pt x="255270" y="0"/>
                </a:lnTo>
                <a:lnTo>
                  <a:pt x="301152" y="4126"/>
                </a:lnTo>
                <a:lnTo>
                  <a:pt x="344337" y="16023"/>
                </a:lnTo>
                <a:lnTo>
                  <a:pt x="384104" y="34967"/>
                </a:lnTo>
                <a:lnTo>
                  <a:pt x="419732" y="60232"/>
                </a:lnTo>
                <a:lnTo>
                  <a:pt x="450499" y="91095"/>
                </a:lnTo>
                <a:lnTo>
                  <a:pt x="475685" y="126830"/>
                </a:lnTo>
                <a:lnTo>
                  <a:pt x="494568" y="166714"/>
                </a:lnTo>
                <a:lnTo>
                  <a:pt x="506426" y="210023"/>
                </a:lnTo>
                <a:lnTo>
                  <a:pt x="510539" y="256032"/>
                </a:lnTo>
                <a:lnTo>
                  <a:pt x="506426" y="302040"/>
                </a:lnTo>
                <a:lnTo>
                  <a:pt x="494568" y="345349"/>
                </a:lnTo>
                <a:lnTo>
                  <a:pt x="475685" y="385233"/>
                </a:lnTo>
                <a:lnTo>
                  <a:pt x="450499" y="420968"/>
                </a:lnTo>
                <a:lnTo>
                  <a:pt x="419732" y="451831"/>
                </a:lnTo>
                <a:lnTo>
                  <a:pt x="384104" y="477096"/>
                </a:lnTo>
                <a:lnTo>
                  <a:pt x="344337" y="496040"/>
                </a:lnTo>
                <a:lnTo>
                  <a:pt x="301152" y="507937"/>
                </a:lnTo>
                <a:lnTo>
                  <a:pt x="255270" y="512064"/>
                </a:lnTo>
                <a:lnTo>
                  <a:pt x="209387" y="507937"/>
                </a:lnTo>
                <a:lnTo>
                  <a:pt x="166202" y="496040"/>
                </a:lnTo>
                <a:lnTo>
                  <a:pt x="126435" y="477096"/>
                </a:lnTo>
                <a:lnTo>
                  <a:pt x="90807" y="451831"/>
                </a:lnTo>
                <a:lnTo>
                  <a:pt x="60040" y="420968"/>
                </a:lnTo>
                <a:lnTo>
                  <a:pt x="34854" y="385233"/>
                </a:lnTo>
                <a:lnTo>
                  <a:pt x="15971" y="345349"/>
                </a:lnTo>
                <a:lnTo>
                  <a:pt x="4113" y="302040"/>
                </a:lnTo>
                <a:lnTo>
                  <a:pt x="0" y="256032"/>
                </a:lnTo>
                <a:close/>
              </a:path>
            </a:pathLst>
          </a:custGeom>
          <a:ln w="38099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494782" y="5308853"/>
            <a:ext cx="512445" cy="512445"/>
          </a:xfrm>
          <a:custGeom>
            <a:avLst/>
            <a:gdLst/>
            <a:ahLst/>
            <a:cxnLst/>
            <a:rect l="l" t="t" r="r" b="b"/>
            <a:pathLst>
              <a:path w="512445" h="512445">
                <a:moveTo>
                  <a:pt x="0" y="256032"/>
                </a:moveTo>
                <a:lnTo>
                  <a:pt x="4126" y="210023"/>
                </a:lnTo>
                <a:lnTo>
                  <a:pt x="16023" y="166714"/>
                </a:lnTo>
                <a:lnTo>
                  <a:pt x="34967" y="126830"/>
                </a:lnTo>
                <a:lnTo>
                  <a:pt x="60232" y="91095"/>
                </a:lnTo>
                <a:lnTo>
                  <a:pt x="91095" y="60232"/>
                </a:lnTo>
                <a:lnTo>
                  <a:pt x="126830" y="34967"/>
                </a:lnTo>
                <a:lnTo>
                  <a:pt x="166714" y="16023"/>
                </a:lnTo>
                <a:lnTo>
                  <a:pt x="210023" y="4126"/>
                </a:lnTo>
                <a:lnTo>
                  <a:pt x="256031" y="0"/>
                </a:lnTo>
                <a:lnTo>
                  <a:pt x="302040" y="4126"/>
                </a:lnTo>
                <a:lnTo>
                  <a:pt x="345349" y="16023"/>
                </a:lnTo>
                <a:lnTo>
                  <a:pt x="385233" y="34967"/>
                </a:lnTo>
                <a:lnTo>
                  <a:pt x="420968" y="60232"/>
                </a:lnTo>
                <a:lnTo>
                  <a:pt x="451831" y="91095"/>
                </a:lnTo>
                <a:lnTo>
                  <a:pt x="477096" y="126830"/>
                </a:lnTo>
                <a:lnTo>
                  <a:pt x="496040" y="166714"/>
                </a:lnTo>
                <a:lnTo>
                  <a:pt x="507937" y="210023"/>
                </a:lnTo>
                <a:lnTo>
                  <a:pt x="512063" y="256032"/>
                </a:lnTo>
                <a:lnTo>
                  <a:pt x="507937" y="302053"/>
                </a:lnTo>
                <a:lnTo>
                  <a:pt x="496040" y="345369"/>
                </a:lnTo>
                <a:lnTo>
                  <a:pt x="477096" y="385255"/>
                </a:lnTo>
                <a:lnTo>
                  <a:pt x="451831" y="420989"/>
                </a:lnTo>
                <a:lnTo>
                  <a:pt x="420968" y="451848"/>
                </a:lnTo>
                <a:lnTo>
                  <a:pt x="385233" y="477107"/>
                </a:lnTo>
                <a:lnTo>
                  <a:pt x="345349" y="496045"/>
                </a:lnTo>
                <a:lnTo>
                  <a:pt x="302040" y="507938"/>
                </a:lnTo>
                <a:lnTo>
                  <a:pt x="256031" y="512064"/>
                </a:lnTo>
                <a:lnTo>
                  <a:pt x="210023" y="507938"/>
                </a:lnTo>
                <a:lnTo>
                  <a:pt x="166714" y="496045"/>
                </a:lnTo>
                <a:lnTo>
                  <a:pt x="126830" y="477107"/>
                </a:lnTo>
                <a:lnTo>
                  <a:pt x="91095" y="451848"/>
                </a:lnTo>
                <a:lnTo>
                  <a:pt x="60232" y="420989"/>
                </a:lnTo>
                <a:lnTo>
                  <a:pt x="34967" y="385255"/>
                </a:lnTo>
                <a:lnTo>
                  <a:pt x="16023" y="345369"/>
                </a:lnTo>
                <a:lnTo>
                  <a:pt x="4126" y="302053"/>
                </a:lnTo>
                <a:lnTo>
                  <a:pt x="0" y="256032"/>
                </a:lnTo>
                <a:close/>
              </a:path>
            </a:pathLst>
          </a:custGeom>
          <a:ln w="38099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406134" y="4482846"/>
            <a:ext cx="512445" cy="510540"/>
          </a:xfrm>
          <a:custGeom>
            <a:avLst/>
            <a:gdLst/>
            <a:ahLst/>
            <a:cxnLst/>
            <a:rect l="l" t="t" r="r" b="b"/>
            <a:pathLst>
              <a:path w="512445" h="510539">
                <a:moveTo>
                  <a:pt x="0" y="255269"/>
                </a:moveTo>
                <a:lnTo>
                  <a:pt x="4126" y="209387"/>
                </a:lnTo>
                <a:lnTo>
                  <a:pt x="16023" y="166202"/>
                </a:lnTo>
                <a:lnTo>
                  <a:pt x="34967" y="126435"/>
                </a:lnTo>
                <a:lnTo>
                  <a:pt x="60232" y="90807"/>
                </a:lnTo>
                <a:lnTo>
                  <a:pt x="91095" y="60040"/>
                </a:lnTo>
                <a:lnTo>
                  <a:pt x="126830" y="34854"/>
                </a:lnTo>
                <a:lnTo>
                  <a:pt x="166714" y="15971"/>
                </a:lnTo>
                <a:lnTo>
                  <a:pt x="210023" y="4113"/>
                </a:lnTo>
                <a:lnTo>
                  <a:pt x="256032" y="0"/>
                </a:lnTo>
                <a:lnTo>
                  <a:pt x="302040" y="4113"/>
                </a:lnTo>
                <a:lnTo>
                  <a:pt x="345349" y="15971"/>
                </a:lnTo>
                <a:lnTo>
                  <a:pt x="385233" y="34854"/>
                </a:lnTo>
                <a:lnTo>
                  <a:pt x="420968" y="60040"/>
                </a:lnTo>
                <a:lnTo>
                  <a:pt x="451831" y="90807"/>
                </a:lnTo>
                <a:lnTo>
                  <a:pt x="477096" y="126435"/>
                </a:lnTo>
                <a:lnTo>
                  <a:pt x="496040" y="166202"/>
                </a:lnTo>
                <a:lnTo>
                  <a:pt x="507937" y="209387"/>
                </a:lnTo>
                <a:lnTo>
                  <a:pt x="512063" y="255269"/>
                </a:lnTo>
                <a:lnTo>
                  <a:pt x="507937" y="301152"/>
                </a:lnTo>
                <a:lnTo>
                  <a:pt x="496040" y="344337"/>
                </a:lnTo>
                <a:lnTo>
                  <a:pt x="477096" y="384104"/>
                </a:lnTo>
                <a:lnTo>
                  <a:pt x="451831" y="419732"/>
                </a:lnTo>
                <a:lnTo>
                  <a:pt x="420968" y="450499"/>
                </a:lnTo>
                <a:lnTo>
                  <a:pt x="385233" y="475685"/>
                </a:lnTo>
                <a:lnTo>
                  <a:pt x="345349" y="494568"/>
                </a:lnTo>
                <a:lnTo>
                  <a:pt x="302040" y="506426"/>
                </a:lnTo>
                <a:lnTo>
                  <a:pt x="256032" y="510539"/>
                </a:lnTo>
                <a:lnTo>
                  <a:pt x="210023" y="506426"/>
                </a:lnTo>
                <a:lnTo>
                  <a:pt x="166714" y="494568"/>
                </a:lnTo>
                <a:lnTo>
                  <a:pt x="126830" y="475685"/>
                </a:lnTo>
                <a:lnTo>
                  <a:pt x="91095" y="450499"/>
                </a:lnTo>
                <a:lnTo>
                  <a:pt x="60232" y="419732"/>
                </a:lnTo>
                <a:lnTo>
                  <a:pt x="34967" y="384104"/>
                </a:lnTo>
                <a:lnTo>
                  <a:pt x="16023" y="344337"/>
                </a:lnTo>
                <a:lnTo>
                  <a:pt x="4126" y="301152"/>
                </a:lnTo>
                <a:lnTo>
                  <a:pt x="0" y="255269"/>
                </a:lnTo>
                <a:close/>
              </a:path>
            </a:pathLst>
          </a:custGeom>
          <a:ln w="38100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101089" y="3172205"/>
            <a:ext cx="2333625" cy="2909570"/>
          </a:xfrm>
          <a:custGeom>
            <a:avLst/>
            <a:gdLst/>
            <a:ahLst/>
            <a:cxnLst/>
            <a:rect l="l" t="t" r="r" b="b"/>
            <a:pathLst>
              <a:path w="2333625" h="2909570">
                <a:moveTo>
                  <a:pt x="2333244" y="0"/>
                </a:moveTo>
                <a:lnTo>
                  <a:pt x="0" y="2909316"/>
                </a:lnTo>
              </a:path>
            </a:pathLst>
          </a:custGeom>
          <a:ln w="38100">
            <a:solidFill>
              <a:srgbClr val="FFFF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101089" y="3876294"/>
            <a:ext cx="3996054" cy="1990725"/>
          </a:xfrm>
          <a:custGeom>
            <a:avLst/>
            <a:gdLst/>
            <a:ahLst/>
            <a:cxnLst/>
            <a:rect l="l" t="t" r="r" b="b"/>
            <a:pathLst>
              <a:path w="3996054" h="1990725">
                <a:moveTo>
                  <a:pt x="3995928" y="0"/>
                </a:moveTo>
                <a:lnTo>
                  <a:pt x="0" y="1990343"/>
                </a:lnTo>
              </a:path>
            </a:pathLst>
          </a:custGeom>
          <a:ln w="38100">
            <a:solidFill>
              <a:srgbClr val="FFFF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291589" y="5558790"/>
            <a:ext cx="4203700" cy="233679"/>
          </a:xfrm>
          <a:custGeom>
            <a:avLst/>
            <a:gdLst/>
            <a:ahLst/>
            <a:cxnLst/>
            <a:rect l="l" t="t" r="r" b="b"/>
            <a:pathLst>
              <a:path w="4203700" h="233679">
                <a:moveTo>
                  <a:pt x="4203192" y="0"/>
                </a:moveTo>
                <a:lnTo>
                  <a:pt x="0" y="233172"/>
                </a:lnTo>
              </a:path>
            </a:pathLst>
          </a:custGeom>
          <a:ln w="38100">
            <a:solidFill>
              <a:srgbClr val="FFFF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1258316" y="5687974"/>
            <a:ext cx="18415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7498842" y="5356097"/>
            <a:ext cx="510540" cy="510540"/>
          </a:xfrm>
          <a:custGeom>
            <a:avLst/>
            <a:gdLst/>
            <a:ahLst/>
            <a:cxnLst/>
            <a:rect l="l" t="t" r="r" b="b"/>
            <a:pathLst>
              <a:path w="510540" h="510539">
                <a:moveTo>
                  <a:pt x="0" y="255269"/>
                </a:moveTo>
                <a:lnTo>
                  <a:pt x="4113" y="209387"/>
                </a:lnTo>
                <a:lnTo>
                  <a:pt x="15971" y="166202"/>
                </a:lnTo>
                <a:lnTo>
                  <a:pt x="34854" y="126435"/>
                </a:lnTo>
                <a:lnTo>
                  <a:pt x="60040" y="90807"/>
                </a:lnTo>
                <a:lnTo>
                  <a:pt x="90807" y="60040"/>
                </a:lnTo>
                <a:lnTo>
                  <a:pt x="126435" y="34854"/>
                </a:lnTo>
                <a:lnTo>
                  <a:pt x="166202" y="15971"/>
                </a:lnTo>
                <a:lnTo>
                  <a:pt x="209387" y="4113"/>
                </a:lnTo>
                <a:lnTo>
                  <a:pt x="255269" y="0"/>
                </a:lnTo>
                <a:lnTo>
                  <a:pt x="301152" y="4113"/>
                </a:lnTo>
                <a:lnTo>
                  <a:pt x="344337" y="15971"/>
                </a:lnTo>
                <a:lnTo>
                  <a:pt x="384104" y="34854"/>
                </a:lnTo>
                <a:lnTo>
                  <a:pt x="419732" y="60040"/>
                </a:lnTo>
                <a:lnTo>
                  <a:pt x="450499" y="90807"/>
                </a:lnTo>
                <a:lnTo>
                  <a:pt x="475685" y="126435"/>
                </a:lnTo>
                <a:lnTo>
                  <a:pt x="494568" y="166202"/>
                </a:lnTo>
                <a:lnTo>
                  <a:pt x="506426" y="209387"/>
                </a:lnTo>
                <a:lnTo>
                  <a:pt x="510539" y="255269"/>
                </a:lnTo>
                <a:lnTo>
                  <a:pt x="506426" y="301155"/>
                </a:lnTo>
                <a:lnTo>
                  <a:pt x="494568" y="344342"/>
                </a:lnTo>
                <a:lnTo>
                  <a:pt x="475685" y="384110"/>
                </a:lnTo>
                <a:lnTo>
                  <a:pt x="450499" y="419737"/>
                </a:lnTo>
                <a:lnTo>
                  <a:pt x="419732" y="450504"/>
                </a:lnTo>
                <a:lnTo>
                  <a:pt x="384104" y="475688"/>
                </a:lnTo>
                <a:lnTo>
                  <a:pt x="344337" y="494569"/>
                </a:lnTo>
                <a:lnTo>
                  <a:pt x="301152" y="506427"/>
                </a:lnTo>
                <a:lnTo>
                  <a:pt x="255269" y="510539"/>
                </a:lnTo>
                <a:lnTo>
                  <a:pt x="209387" y="506427"/>
                </a:lnTo>
                <a:lnTo>
                  <a:pt x="166202" y="494569"/>
                </a:lnTo>
                <a:lnTo>
                  <a:pt x="126435" y="475688"/>
                </a:lnTo>
                <a:lnTo>
                  <a:pt x="90807" y="450504"/>
                </a:lnTo>
                <a:lnTo>
                  <a:pt x="60040" y="419737"/>
                </a:lnTo>
                <a:lnTo>
                  <a:pt x="34854" y="384110"/>
                </a:lnTo>
                <a:lnTo>
                  <a:pt x="15971" y="344342"/>
                </a:lnTo>
                <a:lnTo>
                  <a:pt x="4113" y="301155"/>
                </a:lnTo>
                <a:lnTo>
                  <a:pt x="0" y="255269"/>
                </a:lnTo>
                <a:close/>
              </a:path>
            </a:pathLst>
          </a:custGeom>
          <a:ln w="38100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291589" y="5839205"/>
            <a:ext cx="6463665" cy="0"/>
          </a:xfrm>
          <a:custGeom>
            <a:avLst/>
            <a:gdLst/>
            <a:ahLst/>
            <a:cxnLst/>
            <a:rect l="l" t="t" r="r" b="b"/>
            <a:pathLst>
              <a:path w="6463665" h="0">
                <a:moveTo>
                  <a:pt x="6463284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66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291589" y="4880609"/>
            <a:ext cx="5114925" cy="911860"/>
          </a:xfrm>
          <a:custGeom>
            <a:avLst/>
            <a:gdLst/>
            <a:ahLst/>
            <a:cxnLst/>
            <a:rect l="l" t="t" r="r" b="b"/>
            <a:pathLst>
              <a:path w="5114925" h="911860">
                <a:moveTo>
                  <a:pt x="5114544" y="0"/>
                </a:moveTo>
                <a:lnTo>
                  <a:pt x="0" y="911351"/>
                </a:lnTo>
              </a:path>
            </a:pathLst>
          </a:custGeom>
          <a:ln w="38100">
            <a:solidFill>
              <a:srgbClr val="FFFF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2842" y="2121869"/>
            <a:ext cx="5531485" cy="3319145"/>
          </a:xfrm>
          <a:prstGeom prst="rect">
            <a:avLst/>
          </a:prstGeom>
        </p:spPr>
        <p:txBody>
          <a:bodyPr wrap="square" lIns="0" tIns="287655" rIns="0" bIns="0" rtlCol="0" vert="horz">
            <a:spAutoFit/>
          </a:bodyPr>
          <a:lstStyle/>
          <a:p>
            <a:pPr lvl="2" marL="1386840" indent="-1374775">
              <a:lnSpc>
                <a:spcPct val="100000"/>
              </a:lnSpc>
              <a:spcBef>
                <a:spcPts val="2265"/>
              </a:spcBef>
              <a:buClr>
                <a:srgbClr val="FFFF00"/>
              </a:buClr>
              <a:buFont typeface="Times New Roman"/>
              <a:buAutoNum type="arabicPeriod"/>
              <a:tabLst>
                <a:tab pos="1386840" algn="l"/>
                <a:tab pos="1387475" algn="l"/>
              </a:tabLst>
            </a:pPr>
            <a:r>
              <a:rPr dirty="0" sz="3600" spc="-5" b="1">
                <a:solidFill>
                  <a:srgbClr val="FFFF66"/>
                </a:solidFill>
                <a:latin typeface="宋体"/>
                <a:cs typeface="宋体"/>
              </a:rPr>
              <a:t>语法分析程序的功能</a:t>
            </a:r>
            <a:endParaRPr sz="3600">
              <a:latin typeface="宋体"/>
              <a:cs typeface="宋体"/>
            </a:endParaRPr>
          </a:p>
          <a:p>
            <a:pPr lvl="2" marL="1386840" indent="-1374775">
              <a:lnSpc>
                <a:spcPct val="100000"/>
              </a:lnSpc>
              <a:spcBef>
                <a:spcPts val="2165"/>
              </a:spcBef>
              <a:buClr>
                <a:srgbClr val="FFFF00"/>
              </a:buClr>
              <a:buFont typeface="Times New Roman"/>
              <a:buAutoNum type="arabicPeriod"/>
              <a:tabLst>
                <a:tab pos="1386840" algn="l"/>
                <a:tab pos="1387475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语法分析方法</a:t>
            </a:r>
            <a:endParaRPr sz="3600">
              <a:latin typeface="宋体"/>
              <a:cs typeface="宋体"/>
            </a:endParaRPr>
          </a:p>
          <a:p>
            <a:pPr marL="1393190" marR="458470">
              <a:lnSpc>
                <a:spcPct val="150000"/>
              </a:lnSpc>
            </a:pPr>
            <a:r>
              <a:rPr dirty="0" sz="3600" b="1">
                <a:solidFill>
                  <a:srgbClr val="FFFF66"/>
                </a:solidFill>
                <a:latin typeface="宋体"/>
                <a:cs typeface="宋体"/>
              </a:rPr>
              <a:t>一</a:t>
            </a:r>
            <a:r>
              <a:rPr dirty="0" sz="3600" spc="-15" b="1">
                <a:solidFill>
                  <a:srgbClr val="FFFF66"/>
                </a:solidFill>
                <a:latin typeface="宋体"/>
                <a:cs typeface="宋体"/>
              </a:rPr>
              <a:t>.</a:t>
            </a:r>
            <a:r>
              <a:rPr dirty="0" sz="3600" spc="-90" b="1">
                <a:solidFill>
                  <a:srgbClr val="FFFF66"/>
                </a:solidFill>
                <a:latin typeface="宋体"/>
                <a:cs typeface="宋体"/>
              </a:rPr>
              <a:t> </a:t>
            </a:r>
            <a:r>
              <a:rPr dirty="0" sz="3600" spc="-5" b="1">
                <a:solidFill>
                  <a:srgbClr val="FFFF66"/>
                </a:solidFill>
                <a:latin typeface="宋体"/>
                <a:cs typeface="宋体"/>
              </a:rPr>
              <a:t>自上而下分析 </a:t>
            </a:r>
            <a:r>
              <a:rPr dirty="0" sz="3600" b="1">
                <a:solidFill>
                  <a:srgbClr val="FFFFFF"/>
                </a:solidFill>
                <a:latin typeface="宋体"/>
                <a:cs typeface="宋体"/>
              </a:rPr>
              <a:t>二</a:t>
            </a:r>
            <a:r>
              <a:rPr dirty="0" sz="3600" spc="-15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3600" spc="-9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自下而上分析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6172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617220"/>
          </a:xfrm>
          <a:custGeom>
            <a:avLst/>
            <a:gdLst/>
            <a:ahLst/>
            <a:cxnLst/>
            <a:rect l="l" t="t" r="r" b="b"/>
            <a:pathLst>
              <a:path w="9144000" h="617220">
                <a:moveTo>
                  <a:pt x="0" y="617219"/>
                </a:moveTo>
                <a:lnTo>
                  <a:pt x="9144000" y="617219"/>
                </a:lnTo>
                <a:lnTo>
                  <a:pt x="9144000" y="0"/>
                </a:lnTo>
                <a:lnTo>
                  <a:pt x="0" y="0"/>
                </a:lnTo>
                <a:lnTo>
                  <a:pt x="0" y="617219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666113" y="121107"/>
            <a:ext cx="19443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4215" algn="l"/>
              </a:tabLst>
            </a:pPr>
            <a:r>
              <a:rPr dirty="0" sz="2400" spc="-1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h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10" b="1">
                <a:solidFill>
                  <a:srgbClr val="A15100"/>
                </a:solidFill>
                <a:latin typeface="华文新魏"/>
                <a:cs typeface="华文新魏"/>
              </a:rPr>
              <a:t>语法分析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99279" y="121107"/>
            <a:ext cx="307784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1665" algn="l"/>
              </a:tabLst>
            </a:pP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4.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1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语法分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析程序</a:t>
            </a:r>
            <a:r>
              <a:rPr dirty="0" sz="2400" spc="-10" b="1">
                <a:solidFill>
                  <a:srgbClr val="A15100"/>
                </a:solidFill>
                <a:latin typeface="华文新魏"/>
                <a:cs typeface="华文新魏"/>
              </a:rPr>
              <a:t>综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述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963156" y="4927091"/>
            <a:ext cx="1483360" cy="535305"/>
          </a:xfrm>
          <a:custGeom>
            <a:avLst/>
            <a:gdLst/>
            <a:ahLst/>
            <a:cxnLst/>
            <a:rect l="l" t="t" r="r" b="b"/>
            <a:pathLst>
              <a:path w="1483359" h="535304">
                <a:moveTo>
                  <a:pt x="370586" y="0"/>
                </a:moveTo>
                <a:lnTo>
                  <a:pt x="0" y="267461"/>
                </a:lnTo>
                <a:lnTo>
                  <a:pt x="370586" y="534923"/>
                </a:lnTo>
                <a:lnTo>
                  <a:pt x="370586" y="401192"/>
                </a:lnTo>
                <a:lnTo>
                  <a:pt x="1482852" y="401192"/>
                </a:lnTo>
                <a:lnTo>
                  <a:pt x="1482852" y="133730"/>
                </a:lnTo>
                <a:lnTo>
                  <a:pt x="370586" y="133730"/>
                </a:lnTo>
                <a:lnTo>
                  <a:pt x="370586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963156" y="4927091"/>
            <a:ext cx="1483360" cy="535305"/>
          </a:xfrm>
          <a:custGeom>
            <a:avLst/>
            <a:gdLst/>
            <a:ahLst/>
            <a:cxnLst/>
            <a:rect l="l" t="t" r="r" b="b"/>
            <a:pathLst>
              <a:path w="1483359" h="535304">
                <a:moveTo>
                  <a:pt x="0" y="267461"/>
                </a:moveTo>
                <a:lnTo>
                  <a:pt x="370586" y="0"/>
                </a:lnTo>
                <a:lnTo>
                  <a:pt x="370586" y="133730"/>
                </a:lnTo>
                <a:lnTo>
                  <a:pt x="1482852" y="133730"/>
                </a:lnTo>
                <a:lnTo>
                  <a:pt x="1482852" y="401192"/>
                </a:lnTo>
                <a:lnTo>
                  <a:pt x="370586" y="401192"/>
                </a:lnTo>
                <a:lnTo>
                  <a:pt x="370586" y="534923"/>
                </a:lnTo>
                <a:lnTo>
                  <a:pt x="0" y="267461"/>
                </a:lnTo>
                <a:close/>
              </a:path>
            </a:pathLst>
          </a:custGeom>
          <a:ln w="9524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842642" y="1163192"/>
            <a:ext cx="396875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01065" algn="l"/>
              </a:tabLst>
            </a:pPr>
            <a:r>
              <a:rPr dirty="0" sz="4000"/>
              <a:t>4</a:t>
            </a:r>
            <a:r>
              <a:rPr dirty="0" sz="4000" spc="-10"/>
              <a:t>.</a:t>
            </a:r>
            <a:r>
              <a:rPr dirty="0" sz="4000" spc="-5"/>
              <a:t>1</a:t>
            </a:r>
            <a:r>
              <a:rPr dirty="0" sz="4000"/>
              <a:t>	</a:t>
            </a:r>
            <a:r>
              <a:rPr dirty="0" sz="4000" spc="-10">
                <a:latin typeface="宋体"/>
                <a:cs typeface="宋体"/>
              </a:rPr>
              <a:t>语法分析综述</a:t>
            </a:r>
            <a:endParaRPr sz="40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050" y="709930"/>
            <a:ext cx="492379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26135" algn="l"/>
              </a:tabLst>
            </a:pPr>
            <a:r>
              <a:rPr dirty="0" sz="3200" spc="-10">
                <a:latin typeface="宋体"/>
                <a:cs typeface="宋体"/>
              </a:rPr>
              <a:t>二</a:t>
            </a:r>
            <a:r>
              <a:rPr dirty="0" sz="3200" spc="-810">
                <a:latin typeface="宋体"/>
                <a:cs typeface="宋体"/>
              </a:rPr>
              <a:t> </a:t>
            </a:r>
            <a:r>
              <a:rPr dirty="0" sz="3200"/>
              <a:t>.</a:t>
            </a:r>
            <a:r>
              <a:rPr dirty="0" sz="3200"/>
              <a:t>	</a:t>
            </a:r>
            <a:r>
              <a:rPr dirty="0" sz="3200">
                <a:latin typeface="宋体"/>
                <a:cs typeface="宋体"/>
              </a:rPr>
              <a:t>自下而上语法分析方法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30173" y="1265682"/>
            <a:ext cx="8229600" cy="26334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30173" y="1265682"/>
            <a:ext cx="8229600" cy="2633980"/>
          </a:xfrm>
          <a:custGeom>
            <a:avLst/>
            <a:gdLst/>
            <a:ahLst/>
            <a:cxnLst/>
            <a:rect l="l" t="t" r="r" b="b"/>
            <a:pathLst>
              <a:path w="8229600" h="2633979">
                <a:moveTo>
                  <a:pt x="0" y="2633472"/>
                </a:moveTo>
                <a:lnTo>
                  <a:pt x="8229600" y="2633472"/>
                </a:lnTo>
                <a:lnTo>
                  <a:pt x="8229600" y="0"/>
                </a:lnTo>
                <a:lnTo>
                  <a:pt x="0" y="0"/>
                </a:lnTo>
                <a:lnTo>
                  <a:pt x="0" y="2633472"/>
                </a:lnTo>
                <a:close/>
              </a:path>
            </a:pathLst>
          </a:custGeom>
          <a:ln w="41275">
            <a:solidFill>
              <a:srgbClr val="FF6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07542" y="1263497"/>
            <a:ext cx="8028305" cy="4911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819785">
              <a:lnSpc>
                <a:spcPct val="130000"/>
              </a:lnSpc>
              <a:spcBef>
                <a:spcPts val="100"/>
              </a:spcBef>
            </a:pPr>
            <a:r>
              <a:rPr dirty="0" sz="3200" b="1">
                <a:latin typeface="宋体"/>
                <a:cs typeface="宋体"/>
              </a:rPr>
              <a:t>从给定的输入</a:t>
            </a:r>
            <a:r>
              <a:rPr dirty="0" sz="3200" spc="-10" b="1">
                <a:latin typeface="宋体"/>
                <a:cs typeface="宋体"/>
              </a:rPr>
              <a:t>串</a:t>
            </a:r>
            <a:r>
              <a:rPr dirty="0" sz="3200" b="1" i="1">
                <a:latin typeface="Times New Roman"/>
                <a:cs typeface="Times New Roman"/>
              </a:rPr>
              <a:t>r</a:t>
            </a:r>
            <a:r>
              <a:rPr dirty="0" sz="3200" spc="-5" b="1">
                <a:latin typeface="宋体"/>
                <a:cs typeface="宋体"/>
              </a:rPr>
              <a:t>开始，</a:t>
            </a:r>
            <a:r>
              <a:rPr dirty="0" sz="3200" spc="-10" b="1">
                <a:latin typeface="宋体"/>
                <a:cs typeface="宋体"/>
              </a:rPr>
              <a:t>不</a:t>
            </a:r>
            <a:r>
              <a:rPr dirty="0" sz="3200" spc="-5" b="1">
                <a:latin typeface="宋体"/>
                <a:cs typeface="宋体"/>
              </a:rPr>
              <a:t>断寻找</a:t>
            </a:r>
            <a:r>
              <a:rPr dirty="0" sz="3200" spc="-10" b="1">
                <a:latin typeface="宋体"/>
                <a:cs typeface="宋体"/>
              </a:rPr>
              <a:t>子</a:t>
            </a:r>
            <a:r>
              <a:rPr dirty="0" sz="3200" spc="-5" b="1">
                <a:latin typeface="宋体"/>
                <a:cs typeface="宋体"/>
              </a:rPr>
              <a:t>串</a:t>
            </a:r>
            <a:r>
              <a:rPr dirty="0" sz="3200" spc="-10" b="1">
                <a:latin typeface="宋体"/>
                <a:cs typeface="宋体"/>
              </a:rPr>
              <a:t>与 </a:t>
            </a:r>
            <a:r>
              <a:rPr dirty="0" sz="3200" b="1">
                <a:latin typeface="宋体"/>
                <a:cs typeface="宋体"/>
              </a:rPr>
              <a:t>文法</a:t>
            </a:r>
            <a:r>
              <a:rPr dirty="0" sz="3200" spc="5" b="1" i="1">
                <a:latin typeface="Times New Roman"/>
                <a:cs typeface="Times New Roman"/>
              </a:rPr>
              <a:t>G</a:t>
            </a:r>
            <a:r>
              <a:rPr dirty="0" sz="3200" b="1">
                <a:latin typeface="宋体"/>
                <a:cs typeface="宋体"/>
              </a:rPr>
              <a:t>中某个产生式</a:t>
            </a:r>
            <a:r>
              <a:rPr dirty="0" sz="3200" spc="-5" b="1" i="1">
                <a:latin typeface="Times New Roman"/>
                <a:cs typeface="Times New Roman"/>
              </a:rPr>
              <a:t>P</a:t>
            </a:r>
            <a:r>
              <a:rPr dirty="0" sz="3200" spc="-5" b="1">
                <a:latin typeface="宋体"/>
                <a:cs typeface="宋体"/>
              </a:rPr>
              <a:t>的</a:t>
            </a:r>
            <a:r>
              <a:rPr dirty="0" sz="3200" spc="-10" b="1">
                <a:latin typeface="宋体"/>
                <a:cs typeface="宋体"/>
              </a:rPr>
              <a:t>候</a:t>
            </a:r>
            <a:r>
              <a:rPr dirty="0" sz="3200" spc="-5" b="1">
                <a:latin typeface="宋体"/>
                <a:cs typeface="宋体"/>
              </a:rPr>
              <a:t>选式</a:t>
            </a:r>
            <a:r>
              <a:rPr dirty="0" sz="3200" spc="-10" b="1">
                <a:latin typeface="宋体"/>
                <a:cs typeface="宋体"/>
              </a:rPr>
              <a:t>进</a:t>
            </a:r>
            <a:r>
              <a:rPr dirty="0" sz="3200" spc="-5" b="1">
                <a:latin typeface="宋体"/>
                <a:cs typeface="宋体"/>
              </a:rPr>
              <a:t>行匹配</a:t>
            </a:r>
            <a:r>
              <a:rPr dirty="0" sz="3200" spc="-10" b="1">
                <a:latin typeface="宋体"/>
                <a:cs typeface="宋体"/>
              </a:rPr>
              <a:t>，并 </a:t>
            </a:r>
            <a:r>
              <a:rPr dirty="0" sz="3200" b="1">
                <a:latin typeface="宋体"/>
                <a:cs typeface="宋体"/>
              </a:rPr>
              <a:t>用</a:t>
            </a:r>
            <a:r>
              <a:rPr dirty="0" sz="3200" spc="-5" b="1" i="1">
                <a:latin typeface="Times New Roman"/>
                <a:cs typeface="Times New Roman"/>
              </a:rPr>
              <a:t>P</a:t>
            </a:r>
            <a:r>
              <a:rPr dirty="0" sz="3200" b="1">
                <a:latin typeface="宋体"/>
                <a:cs typeface="宋体"/>
              </a:rPr>
              <a:t>的左部代</a:t>
            </a:r>
            <a:r>
              <a:rPr dirty="0" sz="3200" spc="5" b="1">
                <a:latin typeface="宋体"/>
                <a:cs typeface="宋体"/>
              </a:rPr>
              <a:t>替</a:t>
            </a:r>
            <a:r>
              <a:rPr dirty="0" sz="3200" b="1">
                <a:latin typeface="宋体"/>
                <a:cs typeface="宋体"/>
              </a:rPr>
              <a:t>(</a:t>
            </a:r>
            <a:r>
              <a:rPr dirty="0" sz="3200" b="1">
                <a:latin typeface="宋体"/>
                <a:cs typeface="宋体"/>
              </a:rPr>
              <a:t>归约</a:t>
            </a:r>
            <a:r>
              <a:rPr dirty="0" sz="3200" spc="-10" b="1">
                <a:latin typeface="宋体"/>
                <a:cs typeface="宋体"/>
              </a:rPr>
              <a:t>)</a:t>
            </a:r>
            <a:r>
              <a:rPr dirty="0" sz="3200" spc="-5" b="1">
                <a:latin typeface="宋体"/>
                <a:cs typeface="宋体"/>
              </a:rPr>
              <a:t>之</a:t>
            </a:r>
            <a:r>
              <a:rPr dirty="0" sz="3200" spc="-10" b="1">
                <a:latin typeface="宋体"/>
                <a:cs typeface="宋体"/>
              </a:rPr>
              <a:t>，</a:t>
            </a:r>
            <a:r>
              <a:rPr dirty="0" sz="3200" spc="-5" b="1">
                <a:latin typeface="宋体"/>
                <a:cs typeface="宋体"/>
              </a:rPr>
              <a:t>逐步</a:t>
            </a:r>
            <a:r>
              <a:rPr dirty="0" sz="3200" spc="-10" b="1">
                <a:latin typeface="宋体"/>
                <a:cs typeface="宋体"/>
              </a:rPr>
              <a:t>归</a:t>
            </a:r>
            <a:r>
              <a:rPr dirty="0" sz="3200" spc="-5" b="1">
                <a:latin typeface="宋体"/>
                <a:cs typeface="宋体"/>
              </a:rPr>
              <a:t>约到开</a:t>
            </a:r>
            <a:r>
              <a:rPr dirty="0" sz="3200" spc="-10" b="1">
                <a:latin typeface="宋体"/>
                <a:cs typeface="宋体"/>
              </a:rPr>
              <a:t>始符 </a:t>
            </a:r>
            <a:r>
              <a:rPr dirty="0" sz="3200" b="1">
                <a:latin typeface="宋体"/>
                <a:cs typeface="宋体"/>
              </a:rPr>
              <a:t>号</a:t>
            </a:r>
            <a:r>
              <a:rPr dirty="0" sz="3200" spc="-10" b="1" i="1">
                <a:latin typeface="Times New Roman"/>
                <a:cs typeface="Times New Roman"/>
              </a:rPr>
              <a:t>S</a:t>
            </a:r>
            <a:r>
              <a:rPr dirty="0" sz="3200" spc="-10" b="1"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850">
              <a:latin typeface="宋体"/>
              <a:cs typeface="宋体"/>
            </a:endParaRPr>
          </a:p>
          <a:p>
            <a:pPr marL="621665" indent="-508000">
              <a:lnSpc>
                <a:spcPct val="100000"/>
              </a:lnSpc>
              <a:buFont typeface="Times New Roman"/>
              <a:buChar char="*"/>
              <a:tabLst>
                <a:tab pos="621665" algn="l"/>
                <a:tab pos="62230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是一种辨认的方法，基于目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标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的方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法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577215" indent="-508634">
              <a:lnSpc>
                <a:spcPct val="100000"/>
              </a:lnSpc>
              <a:spcBef>
                <a:spcPts val="1400"/>
              </a:spcBef>
              <a:buFont typeface="Times New Roman"/>
              <a:buChar char="*"/>
              <a:tabLst>
                <a:tab pos="577215" algn="l"/>
                <a:tab pos="577850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分析的主旨是寻找合适的子串与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的侯选</a:t>
            </a:r>
            <a:endParaRPr sz="3200">
              <a:latin typeface="宋体"/>
              <a:cs typeface="宋体"/>
            </a:endParaRPr>
          </a:p>
          <a:p>
            <a:pPr marL="577215">
              <a:lnSpc>
                <a:spcPct val="100000"/>
              </a:lnSpc>
              <a:spcBef>
                <a:spcPts val="192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式进行匹配，直到归约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到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dirty="0" sz="3200" spc="-1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为</a:t>
            </a:r>
            <a:r>
              <a:rPr dirty="0" sz="3200" spc="770" b="1">
                <a:solidFill>
                  <a:srgbClr val="FFFF00"/>
                </a:solidFill>
                <a:latin typeface="宋体"/>
                <a:cs typeface="宋体"/>
              </a:rPr>
              <a:t>止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617470" y="4818126"/>
            <a:ext cx="698500" cy="0"/>
          </a:xfrm>
          <a:custGeom>
            <a:avLst/>
            <a:gdLst/>
            <a:ahLst/>
            <a:cxnLst/>
            <a:rect l="l" t="t" r="r" b="b"/>
            <a:pathLst>
              <a:path w="698500" h="0">
                <a:moveTo>
                  <a:pt x="0" y="0"/>
                </a:moveTo>
                <a:lnTo>
                  <a:pt x="697992" y="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96341" y="11378"/>
            <a:ext cx="835152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4215" algn="l"/>
                <a:tab pos="2224405" algn="l"/>
                <a:tab pos="2903855" algn="l"/>
                <a:tab pos="5641340" algn="l"/>
                <a:tab pos="6505575" algn="l"/>
              </a:tabLst>
            </a:pPr>
            <a:r>
              <a:rPr dirty="0" sz="2400" spc="-1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h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语法分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析	</a:t>
            </a: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4.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1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语法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分析程</a:t>
            </a:r>
            <a:r>
              <a:rPr dirty="0" sz="2400" spc="-10" b="1">
                <a:solidFill>
                  <a:srgbClr val="A15100"/>
                </a:solidFill>
                <a:latin typeface="华文新魏"/>
                <a:cs typeface="华文新魏"/>
              </a:rPr>
              <a:t>序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综述	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4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.</a:t>
            </a:r>
            <a:r>
              <a:rPr dirty="0" u="sng" sz="24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1.</a:t>
            </a:r>
            <a:r>
              <a:rPr dirty="0" u="sng" sz="24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2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	</a:t>
            </a:r>
            <a:r>
              <a:rPr dirty="0" u="sng" sz="24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语法分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析方</a:t>
            </a:r>
            <a:r>
              <a:rPr dirty="0" u="sng" sz="2400" spc="-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法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68161" y="4818126"/>
            <a:ext cx="788035" cy="0"/>
          </a:xfrm>
          <a:custGeom>
            <a:avLst/>
            <a:gdLst/>
            <a:ahLst/>
            <a:cxnLst/>
            <a:rect l="l" t="t" r="r" b="b"/>
            <a:pathLst>
              <a:path w="788034" h="0">
                <a:moveTo>
                  <a:pt x="0" y="0"/>
                </a:moveTo>
                <a:lnTo>
                  <a:pt x="787908" y="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623053" y="5474970"/>
            <a:ext cx="1842770" cy="0"/>
          </a:xfrm>
          <a:custGeom>
            <a:avLst/>
            <a:gdLst/>
            <a:ahLst/>
            <a:cxnLst/>
            <a:rect l="l" t="t" r="r" b="b"/>
            <a:pathLst>
              <a:path w="1842770" h="0">
                <a:moveTo>
                  <a:pt x="0" y="0"/>
                </a:moveTo>
                <a:lnTo>
                  <a:pt x="1842516" y="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050" y="709930"/>
            <a:ext cx="492379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26135" algn="l"/>
              </a:tabLst>
            </a:pPr>
            <a:r>
              <a:rPr dirty="0" sz="3200" spc="-10">
                <a:latin typeface="宋体"/>
                <a:cs typeface="宋体"/>
              </a:rPr>
              <a:t>—</a:t>
            </a:r>
            <a:r>
              <a:rPr dirty="0" sz="3200" spc="-810">
                <a:latin typeface="宋体"/>
                <a:cs typeface="宋体"/>
              </a:rPr>
              <a:t> </a:t>
            </a:r>
            <a:r>
              <a:rPr dirty="0" sz="3200"/>
              <a:t>.</a:t>
            </a:r>
            <a:r>
              <a:rPr dirty="0" sz="3200"/>
              <a:t>	</a:t>
            </a:r>
            <a:r>
              <a:rPr dirty="0" sz="3200">
                <a:latin typeface="宋体"/>
                <a:cs typeface="宋体"/>
              </a:rPr>
              <a:t>自上而下语法分析方法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30173" y="1524761"/>
            <a:ext cx="8229600" cy="23027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30173" y="1524761"/>
            <a:ext cx="8229600" cy="2303145"/>
          </a:xfrm>
          <a:custGeom>
            <a:avLst/>
            <a:gdLst/>
            <a:ahLst/>
            <a:cxnLst/>
            <a:rect l="l" t="t" r="r" b="b"/>
            <a:pathLst>
              <a:path w="8229600" h="2303145">
                <a:moveTo>
                  <a:pt x="0" y="2302764"/>
                </a:moveTo>
                <a:lnTo>
                  <a:pt x="8229600" y="2302764"/>
                </a:lnTo>
                <a:lnTo>
                  <a:pt x="8229600" y="0"/>
                </a:lnTo>
                <a:lnTo>
                  <a:pt x="0" y="0"/>
                </a:lnTo>
                <a:lnTo>
                  <a:pt x="0" y="2302764"/>
                </a:lnTo>
                <a:close/>
              </a:path>
            </a:pathLst>
          </a:custGeom>
          <a:ln w="41275">
            <a:solidFill>
              <a:srgbClr val="FF6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96341" y="11378"/>
            <a:ext cx="835152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4215" algn="l"/>
                <a:tab pos="2224405" algn="l"/>
                <a:tab pos="2903855" algn="l"/>
                <a:tab pos="5641340" algn="l"/>
                <a:tab pos="6505575" algn="l"/>
              </a:tabLst>
            </a:pPr>
            <a:r>
              <a:rPr dirty="0" sz="2400" spc="-1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h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语法分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析	</a:t>
            </a: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4.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1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语法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分析程</a:t>
            </a:r>
            <a:r>
              <a:rPr dirty="0" sz="2400" spc="-10" b="1">
                <a:solidFill>
                  <a:srgbClr val="A15100"/>
                </a:solidFill>
                <a:latin typeface="华文新魏"/>
                <a:cs typeface="华文新魏"/>
              </a:rPr>
              <a:t>序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综述	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4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.</a:t>
            </a:r>
            <a:r>
              <a:rPr dirty="0" u="sng" sz="24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1.</a:t>
            </a:r>
            <a:r>
              <a:rPr dirty="0" u="sng" sz="24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2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	</a:t>
            </a:r>
            <a:r>
              <a:rPr dirty="0" u="sng" sz="24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语法分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析方</a:t>
            </a:r>
            <a:r>
              <a:rPr dirty="0" u="sng" sz="2400" spc="-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法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7542" y="1522737"/>
            <a:ext cx="7606030" cy="39731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711200">
              <a:lnSpc>
                <a:spcPct val="130000"/>
              </a:lnSpc>
              <a:spcBef>
                <a:spcPts val="95"/>
              </a:spcBef>
            </a:pPr>
            <a:r>
              <a:rPr dirty="0" sz="3200" b="1">
                <a:latin typeface="宋体"/>
                <a:cs typeface="宋体"/>
              </a:rPr>
              <a:t>给定文</a:t>
            </a:r>
            <a:r>
              <a:rPr dirty="0" sz="3200" spc="5" b="1">
                <a:latin typeface="宋体"/>
                <a:cs typeface="宋体"/>
              </a:rPr>
              <a:t>法</a:t>
            </a:r>
            <a:r>
              <a:rPr dirty="0" sz="3200" b="1" i="1">
                <a:latin typeface="Times New Roman"/>
                <a:cs typeface="Times New Roman"/>
              </a:rPr>
              <a:t>G</a:t>
            </a:r>
            <a:r>
              <a:rPr dirty="0" sz="3200" b="1">
                <a:latin typeface="宋体"/>
                <a:cs typeface="宋体"/>
              </a:rPr>
              <a:t>和源程序</a:t>
            </a:r>
            <a:r>
              <a:rPr dirty="0" sz="3200" spc="-10" b="1">
                <a:latin typeface="宋体"/>
                <a:cs typeface="宋体"/>
              </a:rPr>
              <a:t>串</a:t>
            </a:r>
            <a:r>
              <a:rPr dirty="0" sz="3200" b="1" i="1">
                <a:latin typeface="Times New Roman"/>
                <a:cs typeface="Times New Roman"/>
              </a:rPr>
              <a:t>r</a:t>
            </a:r>
            <a:r>
              <a:rPr dirty="0" sz="3200" b="1">
                <a:latin typeface="宋体"/>
                <a:cs typeface="宋体"/>
              </a:rPr>
              <a:t>。</a:t>
            </a:r>
            <a:r>
              <a:rPr dirty="0" sz="3200" spc="-15" b="1">
                <a:latin typeface="宋体"/>
                <a:cs typeface="宋体"/>
              </a:rPr>
              <a:t>从</a:t>
            </a:r>
            <a:r>
              <a:rPr dirty="0" sz="3200" b="1" i="1">
                <a:latin typeface="Times New Roman"/>
                <a:cs typeface="Times New Roman"/>
              </a:rPr>
              <a:t>G</a:t>
            </a:r>
            <a:r>
              <a:rPr dirty="0" sz="3200" spc="-5" b="1">
                <a:latin typeface="宋体"/>
                <a:cs typeface="宋体"/>
              </a:rPr>
              <a:t>的</a:t>
            </a:r>
            <a:r>
              <a:rPr dirty="0" sz="3200" spc="-10" b="1">
                <a:latin typeface="宋体"/>
                <a:cs typeface="宋体"/>
              </a:rPr>
              <a:t>开</a:t>
            </a:r>
            <a:r>
              <a:rPr dirty="0" sz="3200" spc="-5" b="1">
                <a:latin typeface="宋体"/>
                <a:cs typeface="宋体"/>
              </a:rPr>
              <a:t>始</a:t>
            </a:r>
            <a:r>
              <a:rPr dirty="0" sz="3200" spc="-10" b="1">
                <a:latin typeface="宋体"/>
                <a:cs typeface="宋体"/>
              </a:rPr>
              <a:t>符 </a:t>
            </a:r>
            <a:r>
              <a:rPr dirty="0" sz="3200" spc="-5" b="1">
                <a:latin typeface="宋体"/>
                <a:cs typeface="宋体"/>
              </a:rPr>
              <a:t>号</a:t>
            </a:r>
            <a:r>
              <a:rPr dirty="0" sz="3200" spc="-10" b="1" i="1">
                <a:latin typeface="Times New Roman"/>
                <a:cs typeface="Times New Roman"/>
              </a:rPr>
              <a:t>S</a:t>
            </a:r>
            <a:r>
              <a:rPr dirty="0" sz="3200" spc="-5" b="1">
                <a:latin typeface="宋体"/>
                <a:cs typeface="宋体"/>
              </a:rPr>
              <a:t>出发，通过反复使用产</a:t>
            </a:r>
            <a:r>
              <a:rPr dirty="0" sz="3200" spc="-15" b="1">
                <a:latin typeface="宋体"/>
                <a:cs typeface="宋体"/>
              </a:rPr>
              <a:t>生</a:t>
            </a:r>
            <a:r>
              <a:rPr dirty="0" sz="3200" spc="-5" b="1">
                <a:latin typeface="宋体"/>
                <a:cs typeface="宋体"/>
              </a:rPr>
              <a:t>式对句</a:t>
            </a:r>
            <a:r>
              <a:rPr dirty="0" sz="3200" spc="-15" b="1">
                <a:latin typeface="宋体"/>
                <a:cs typeface="宋体"/>
              </a:rPr>
              <a:t>型</a:t>
            </a:r>
            <a:r>
              <a:rPr dirty="0" sz="3200" spc="-5" b="1">
                <a:latin typeface="宋体"/>
                <a:cs typeface="宋体"/>
              </a:rPr>
              <a:t>中的 </a:t>
            </a:r>
            <a:r>
              <a:rPr dirty="0" sz="3200" b="1">
                <a:latin typeface="宋体"/>
                <a:cs typeface="宋体"/>
              </a:rPr>
              <a:t>非终结符进行替</a:t>
            </a:r>
            <a:r>
              <a:rPr dirty="0" sz="3200" spc="5" b="1">
                <a:latin typeface="宋体"/>
                <a:cs typeface="宋体"/>
              </a:rPr>
              <a:t>换</a:t>
            </a:r>
            <a:r>
              <a:rPr dirty="0" sz="3200" b="1">
                <a:latin typeface="Times New Roman"/>
                <a:cs typeface="Times New Roman"/>
              </a:rPr>
              <a:t>(</a:t>
            </a:r>
            <a:r>
              <a:rPr dirty="0" sz="3200" b="1">
                <a:latin typeface="宋体"/>
                <a:cs typeface="宋体"/>
              </a:rPr>
              <a:t>推导</a:t>
            </a:r>
            <a:r>
              <a:rPr dirty="0" sz="3200" spc="-10" b="1">
                <a:latin typeface="Times New Roman"/>
                <a:cs typeface="Times New Roman"/>
              </a:rPr>
              <a:t>)</a:t>
            </a:r>
            <a:r>
              <a:rPr dirty="0" sz="3200" spc="-10" b="1">
                <a:latin typeface="宋体"/>
                <a:cs typeface="宋体"/>
              </a:rPr>
              <a:t>，</a:t>
            </a:r>
            <a:r>
              <a:rPr dirty="0" sz="3200" spc="-5" b="1">
                <a:latin typeface="宋体"/>
                <a:cs typeface="宋体"/>
              </a:rPr>
              <a:t>逐</a:t>
            </a:r>
            <a:r>
              <a:rPr dirty="0" sz="3200" spc="-10" b="1">
                <a:latin typeface="宋体"/>
                <a:cs typeface="宋体"/>
              </a:rPr>
              <a:t>步</a:t>
            </a:r>
            <a:r>
              <a:rPr dirty="0" sz="3200" b="1">
                <a:latin typeface="宋体"/>
                <a:cs typeface="宋体"/>
              </a:rPr>
              <a:t>推</a:t>
            </a:r>
            <a:r>
              <a:rPr dirty="0" sz="3200" spc="-5" b="1">
                <a:latin typeface="宋体"/>
                <a:cs typeface="宋体"/>
              </a:rPr>
              <a:t>导出</a:t>
            </a:r>
            <a:r>
              <a:rPr dirty="0" sz="3200" b="1" i="1">
                <a:latin typeface="Times New Roman"/>
                <a:cs typeface="Times New Roman"/>
              </a:rPr>
              <a:t>r</a:t>
            </a:r>
            <a:r>
              <a:rPr dirty="0" sz="3200" spc="-65" b="1" i="1">
                <a:latin typeface="Times New Roman"/>
                <a:cs typeface="Times New Roman"/>
              </a:rPr>
              <a:t> </a:t>
            </a:r>
            <a:r>
              <a:rPr dirty="0" sz="3200" spc="-10" b="1"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4850">
              <a:latin typeface="宋体"/>
              <a:cs typeface="宋体"/>
            </a:endParaRPr>
          </a:p>
          <a:p>
            <a:pPr marL="621665" indent="-508000">
              <a:lnSpc>
                <a:spcPct val="100000"/>
              </a:lnSpc>
              <a:buFont typeface="Times New Roman"/>
              <a:buChar char="*"/>
              <a:tabLst>
                <a:tab pos="621665" algn="l"/>
                <a:tab pos="62230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是一种产生的方法，面向目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标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的方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法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577215" indent="-508634">
              <a:lnSpc>
                <a:spcPct val="100000"/>
              </a:lnSpc>
              <a:spcBef>
                <a:spcPts val="2150"/>
              </a:spcBef>
              <a:buFont typeface="Times New Roman"/>
              <a:buChar char="*"/>
              <a:tabLst>
                <a:tab pos="577215" algn="l"/>
                <a:tab pos="577850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分析的主旨是选择产生式的合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适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的侯选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220205" y="5554217"/>
            <a:ext cx="1991995" cy="0"/>
          </a:xfrm>
          <a:custGeom>
            <a:avLst/>
            <a:gdLst/>
            <a:ahLst/>
            <a:cxnLst/>
            <a:rect l="l" t="t" r="r" b="b"/>
            <a:pathLst>
              <a:path w="1991995" h="0">
                <a:moveTo>
                  <a:pt x="0" y="0"/>
                </a:moveTo>
                <a:lnTo>
                  <a:pt x="1991868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334261" y="6233921"/>
            <a:ext cx="372110" cy="0"/>
          </a:xfrm>
          <a:custGeom>
            <a:avLst/>
            <a:gdLst/>
            <a:ahLst/>
            <a:cxnLst/>
            <a:rect l="l" t="t" r="r" b="b"/>
            <a:pathLst>
              <a:path w="372110" h="0">
                <a:moveTo>
                  <a:pt x="0" y="0"/>
                </a:moveTo>
                <a:lnTo>
                  <a:pt x="371856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551938" y="4775453"/>
            <a:ext cx="670560" cy="0"/>
          </a:xfrm>
          <a:custGeom>
            <a:avLst/>
            <a:gdLst/>
            <a:ahLst/>
            <a:cxnLst/>
            <a:rect l="l" t="t" r="r" b="b"/>
            <a:pathLst>
              <a:path w="670560" h="0">
                <a:moveTo>
                  <a:pt x="0" y="0"/>
                </a:moveTo>
                <a:lnTo>
                  <a:pt x="670560" y="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081778" y="4754117"/>
            <a:ext cx="681355" cy="0"/>
          </a:xfrm>
          <a:custGeom>
            <a:avLst/>
            <a:gdLst/>
            <a:ahLst/>
            <a:cxnLst/>
            <a:rect l="l" t="t" r="r" b="b"/>
            <a:pathLst>
              <a:path w="681354" h="0">
                <a:moveTo>
                  <a:pt x="0" y="0"/>
                </a:moveTo>
                <a:lnTo>
                  <a:pt x="681227" y="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272286" y="5757884"/>
            <a:ext cx="7146290" cy="4762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595"/>
              </a:lnSpc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式进行推导，逐步使推导结果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与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匹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配。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050" y="709930"/>
            <a:ext cx="492379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26135" algn="l"/>
              </a:tabLst>
            </a:pPr>
            <a:r>
              <a:rPr dirty="0" sz="3200" spc="-10">
                <a:latin typeface="宋体"/>
                <a:cs typeface="宋体"/>
              </a:rPr>
              <a:t>二</a:t>
            </a:r>
            <a:r>
              <a:rPr dirty="0" sz="3200" spc="-810">
                <a:latin typeface="宋体"/>
                <a:cs typeface="宋体"/>
              </a:rPr>
              <a:t> </a:t>
            </a:r>
            <a:r>
              <a:rPr dirty="0" sz="3200"/>
              <a:t>.</a:t>
            </a:r>
            <a:r>
              <a:rPr dirty="0" sz="3200"/>
              <a:t>	</a:t>
            </a:r>
            <a:r>
              <a:rPr dirty="0" sz="3200">
                <a:latin typeface="宋体"/>
                <a:cs typeface="宋体"/>
              </a:rPr>
              <a:t>自下而上语法分析方法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30173" y="1524761"/>
            <a:ext cx="8229600" cy="23027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30173" y="1524761"/>
            <a:ext cx="8229600" cy="2303145"/>
          </a:xfrm>
          <a:custGeom>
            <a:avLst/>
            <a:gdLst/>
            <a:ahLst/>
            <a:cxnLst/>
            <a:rect l="l" t="t" r="r" b="b"/>
            <a:pathLst>
              <a:path w="8229600" h="2303145">
                <a:moveTo>
                  <a:pt x="0" y="2302764"/>
                </a:moveTo>
                <a:lnTo>
                  <a:pt x="8229600" y="2302764"/>
                </a:lnTo>
                <a:lnTo>
                  <a:pt x="8229600" y="0"/>
                </a:lnTo>
                <a:lnTo>
                  <a:pt x="0" y="0"/>
                </a:lnTo>
                <a:lnTo>
                  <a:pt x="0" y="2302764"/>
                </a:lnTo>
                <a:close/>
              </a:path>
            </a:pathLst>
          </a:custGeom>
          <a:ln w="41275">
            <a:solidFill>
              <a:srgbClr val="FF6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07542" y="1522737"/>
            <a:ext cx="7941309" cy="19272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819785">
              <a:lnSpc>
                <a:spcPct val="130000"/>
              </a:lnSpc>
              <a:spcBef>
                <a:spcPts val="95"/>
              </a:spcBef>
            </a:pPr>
            <a:r>
              <a:rPr dirty="0" sz="3200" b="1">
                <a:latin typeface="宋体"/>
                <a:cs typeface="宋体"/>
              </a:rPr>
              <a:t>从给定的输入</a:t>
            </a:r>
            <a:r>
              <a:rPr dirty="0" sz="3200" spc="-10" b="1">
                <a:latin typeface="宋体"/>
                <a:cs typeface="宋体"/>
              </a:rPr>
              <a:t>串</a:t>
            </a:r>
            <a:r>
              <a:rPr dirty="0" sz="3200" b="1" i="1">
                <a:latin typeface="Times New Roman"/>
                <a:cs typeface="Times New Roman"/>
              </a:rPr>
              <a:t>r</a:t>
            </a:r>
            <a:r>
              <a:rPr dirty="0" sz="3200" spc="-5" b="1">
                <a:latin typeface="宋体"/>
                <a:cs typeface="宋体"/>
              </a:rPr>
              <a:t>开始，</a:t>
            </a:r>
            <a:r>
              <a:rPr dirty="0" sz="3200" spc="-10" b="1">
                <a:latin typeface="宋体"/>
                <a:cs typeface="宋体"/>
              </a:rPr>
              <a:t>不</a:t>
            </a:r>
            <a:r>
              <a:rPr dirty="0" sz="3200" spc="-5" b="1">
                <a:latin typeface="宋体"/>
                <a:cs typeface="宋体"/>
              </a:rPr>
              <a:t>断寻找</a:t>
            </a:r>
            <a:r>
              <a:rPr dirty="0" sz="3200" spc="-10" b="1">
                <a:latin typeface="宋体"/>
                <a:cs typeface="宋体"/>
              </a:rPr>
              <a:t>子</a:t>
            </a:r>
            <a:r>
              <a:rPr dirty="0" sz="3200" spc="-5" b="1">
                <a:latin typeface="宋体"/>
                <a:cs typeface="宋体"/>
              </a:rPr>
              <a:t>串</a:t>
            </a:r>
            <a:r>
              <a:rPr dirty="0" sz="3200" spc="-10" b="1">
                <a:latin typeface="宋体"/>
                <a:cs typeface="宋体"/>
              </a:rPr>
              <a:t>与 </a:t>
            </a:r>
            <a:r>
              <a:rPr dirty="0" sz="3200" spc="-5" b="1">
                <a:latin typeface="宋体"/>
                <a:cs typeface="宋体"/>
              </a:rPr>
              <a:t>文法</a:t>
            </a:r>
            <a:r>
              <a:rPr dirty="0" sz="3200" b="1" i="1">
                <a:latin typeface="Times New Roman"/>
                <a:cs typeface="Times New Roman"/>
              </a:rPr>
              <a:t>G</a:t>
            </a:r>
            <a:r>
              <a:rPr dirty="0" sz="3200" spc="-5" b="1">
                <a:latin typeface="宋体"/>
                <a:cs typeface="宋体"/>
              </a:rPr>
              <a:t>中某个产生</a:t>
            </a:r>
            <a:r>
              <a:rPr dirty="0" sz="3200" b="1">
                <a:latin typeface="宋体"/>
                <a:cs typeface="宋体"/>
              </a:rPr>
              <a:t>式</a:t>
            </a:r>
            <a:r>
              <a:rPr dirty="0" sz="3200" spc="-5" b="1" i="1">
                <a:latin typeface="Times New Roman"/>
                <a:cs typeface="Times New Roman"/>
              </a:rPr>
              <a:t>P</a:t>
            </a:r>
            <a:r>
              <a:rPr dirty="0" sz="3200" spc="-10" b="1">
                <a:latin typeface="宋体"/>
                <a:cs typeface="宋体"/>
              </a:rPr>
              <a:t>的候</a:t>
            </a:r>
            <a:r>
              <a:rPr dirty="0" sz="3200" b="1">
                <a:latin typeface="宋体"/>
                <a:cs typeface="宋体"/>
              </a:rPr>
              <a:t>选</a:t>
            </a:r>
            <a:r>
              <a:rPr dirty="0" sz="3200" spc="-10" b="1">
                <a:latin typeface="宋体"/>
                <a:cs typeface="宋体"/>
              </a:rPr>
              <a:t>式进</a:t>
            </a:r>
            <a:r>
              <a:rPr dirty="0" sz="3200" b="1">
                <a:latin typeface="宋体"/>
                <a:cs typeface="宋体"/>
              </a:rPr>
              <a:t>行</a:t>
            </a:r>
            <a:r>
              <a:rPr dirty="0" sz="3200" spc="-10" b="1">
                <a:latin typeface="宋体"/>
                <a:cs typeface="宋体"/>
              </a:rPr>
              <a:t>匹</a:t>
            </a:r>
            <a:r>
              <a:rPr dirty="0" sz="3200" spc="5" b="1">
                <a:latin typeface="宋体"/>
                <a:cs typeface="宋体"/>
              </a:rPr>
              <a:t>配</a:t>
            </a:r>
            <a:r>
              <a:rPr dirty="0" sz="3200" spc="-10" b="1">
                <a:latin typeface="宋体"/>
                <a:cs typeface="宋体"/>
              </a:rPr>
              <a:t>，并 </a:t>
            </a:r>
            <a:r>
              <a:rPr dirty="0" sz="3200" b="1">
                <a:latin typeface="宋体"/>
                <a:cs typeface="宋体"/>
              </a:rPr>
              <a:t>用</a:t>
            </a:r>
            <a:r>
              <a:rPr dirty="0" sz="3200" spc="-5" b="1" i="1">
                <a:latin typeface="Times New Roman"/>
                <a:cs typeface="Times New Roman"/>
              </a:rPr>
              <a:t>P</a:t>
            </a:r>
            <a:r>
              <a:rPr dirty="0" sz="3200" b="1">
                <a:latin typeface="宋体"/>
                <a:cs typeface="宋体"/>
              </a:rPr>
              <a:t>的左部代</a:t>
            </a:r>
            <a:r>
              <a:rPr dirty="0" sz="3200" spc="5" b="1">
                <a:latin typeface="宋体"/>
                <a:cs typeface="宋体"/>
              </a:rPr>
              <a:t>替</a:t>
            </a:r>
            <a:r>
              <a:rPr dirty="0" sz="3200" b="1">
                <a:latin typeface="宋体"/>
                <a:cs typeface="宋体"/>
              </a:rPr>
              <a:t>(归约</a:t>
            </a:r>
            <a:r>
              <a:rPr dirty="0" sz="3200" spc="-10" b="1">
                <a:latin typeface="宋体"/>
                <a:cs typeface="宋体"/>
              </a:rPr>
              <a:t>)</a:t>
            </a:r>
            <a:r>
              <a:rPr dirty="0" sz="3200" spc="-5" b="1">
                <a:latin typeface="宋体"/>
                <a:cs typeface="宋体"/>
              </a:rPr>
              <a:t>之</a:t>
            </a:r>
            <a:r>
              <a:rPr dirty="0" sz="3200" spc="-10" b="1">
                <a:latin typeface="宋体"/>
                <a:cs typeface="宋体"/>
              </a:rPr>
              <a:t>，</a:t>
            </a:r>
            <a:r>
              <a:rPr dirty="0" sz="3200" spc="-5" b="1">
                <a:latin typeface="宋体"/>
                <a:cs typeface="宋体"/>
              </a:rPr>
              <a:t>逐步</a:t>
            </a:r>
            <a:r>
              <a:rPr dirty="0" sz="3200" spc="-10" b="1">
                <a:latin typeface="宋体"/>
                <a:cs typeface="宋体"/>
              </a:rPr>
              <a:t>归</a:t>
            </a:r>
            <a:r>
              <a:rPr dirty="0" sz="3200" spc="-5" b="1">
                <a:latin typeface="宋体"/>
                <a:cs typeface="宋体"/>
              </a:rPr>
              <a:t>约</a:t>
            </a:r>
            <a:r>
              <a:rPr dirty="0" sz="3200" spc="15" b="1">
                <a:latin typeface="宋体"/>
                <a:cs typeface="宋体"/>
              </a:rPr>
              <a:t>到</a:t>
            </a:r>
            <a:r>
              <a:rPr dirty="0" sz="3200" spc="-10" b="1" i="1">
                <a:latin typeface="Times New Roman"/>
                <a:cs typeface="Times New Roman"/>
              </a:rPr>
              <a:t>S</a:t>
            </a:r>
            <a:r>
              <a:rPr dirty="0" sz="3200" spc="-10" b="1"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4086636"/>
            <a:ext cx="7720965" cy="1356995"/>
          </a:xfrm>
          <a:prstGeom prst="rect">
            <a:avLst/>
          </a:prstGeom>
        </p:spPr>
        <p:txBody>
          <a:bodyPr wrap="square" lIns="0" tIns="189865" rIns="0" bIns="0" rtlCol="0" vert="horz">
            <a:spAutoFit/>
          </a:bodyPr>
          <a:lstStyle/>
          <a:p>
            <a:pPr marL="565150" indent="-508000">
              <a:lnSpc>
                <a:spcPct val="100000"/>
              </a:lnSpc>
              <a:spcBef>
                <a:spcPts val="1495"/>
              </a:spcBef>
              <a:buFont typeface="Times New Roman"/>
              <a:buChar char="*"/>
              <a:tabLst>
                <a:tab pos="565150" algn="l"/>
                <a:tab pos="56578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是一种辨认的方法，基于目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标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的方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法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520065" indent="-508000">
              <a:lnSpc>
                <a:spcPct val="100000"/>
              </a:lnSpc>
              <a:spcBef>
                <a:spcPts val="1405"/>
              </a:spcBef>
              <a:buFont typeface="Times New Roman"/>
              <a:buChar char="*"/>
              <a:tabLst>
                <a:tab pos="520065" algn="l"/>
                <a:tab pos="520700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分析的主旨是寻找合适的子串与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的侯选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551938" y="4818126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0" y="0"/>
                </a:moveTo>
                <a:lnTo>
                  <a:pt x="766572" y="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96341" y="11378"/>
            <a:ext cx="835152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4215" algn="l"/>
                <a:tab pos="2224405" algn="l"/>
                <a:tab pos="2903855" algn="l"/>
                <a:tab pos="5641340" algn="l"/>
                <a:tab pos="6505575" algn="l"/>
              </a:tabLst>
            </a:pPr>
            <a:r>
              <a:rPr dirty="0" sz="2400" spc="-1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h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语法分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析	</a:t>
            </a: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4.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1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语法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分析程</a:t>
            </a:r>
            <a:r>
              <a:rPr dirty="0" sz="2400" spc="-10" b="1">
                <a:solidFill>
                  <a:srgbClr val="A15100"/>
                </a:solidFill>
                <a:latin typeface="华文新魏"/>
                <a:cs typeface="华文新魏"/>
              </a:rPr>
              <a:t>序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综述	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4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.</a:t>
            </a:r>
            <a:r>
              <a:rPr dirty="0" u="sng" sz="24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1.</a:t>
            </a:r>
            <a:r>
              <a:rPr dirty="0" u="sng" sz="24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2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	</a:t>
            </a:r>
            <a:r>
              <a:rPr dirty="0" u="sng" sz="24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语法分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析方</a:t>
            </a:r>
            <a:r>
              <a:rPr dirty="0" u="sng" sz="2400" spc="-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法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052821" y="4813553"/>
            <a:ext cx="680085" cy="0"/>
          </a:xfrm>
          <a:custGeom>
            <a:avLst/>
            <a:gdLst/>
            <a:ahLst/>
            <a:cxnLst/>
            <a:rect l="l" t="t" r="r" b="b"/>
            <a:pathLst>
              <a:path w="680085" h="0">
                <a:moveTo>
                  <a:pt x="0" y="0"/>
                </a:moveTo>
                <a:lnTo>
                  <a:pt x="679703" y="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636770" y="5497829"/>
            <a:ext cx="1923414" cy="10795"/>
          </a:xfrm>
          <a:custGeom>
            <a:avLst/>
            <a:gdLst/>
            <a:ahLst/>
            <a:cxnLst/>
            <a:rect l="l" t="t" r="r" b="b"/>
            <a:pathLst>
              <a:path w="1923415" h="10795">
                <a:moveTo>
                  <a:pt x="0" y="10668"/>
                </a:moveTo>
                <a:lnTo>
                  <a:pt x="1923287" y="0"/>
                </a:lnTo>
              </a:path>
            </a:pathLst>
          </a:custGeom>
          <a:ln w="38099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272286" y="5705458"/>
            <a:ext cx="6767195" cy="4762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595"/>
              </a:lnSpc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式进行匹配，直到归约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到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dirty="0" sz="3200" spc="-1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为</a:t>
            </a:r>
            <a:r>
              <a:rPr dirty="0" sz="3200" spc="770" b="1">
                <a:solidFill>
                  <a:srgbClr val="FFFF00"/>
                </a:solidFill>
                <a:latin typeface="宋体"/>
                <a:cs typeface="宋体"/>
              </a:rPr>
              <a:t>止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8683" y="657555"/>
            <a:ext cx="944244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宋体"/>
                <a:cs typeface="宋体"/>
              </a:rPr>
              <a:t>例</a:t>
            </a:r>
            <a:r>
              <a:rPr dirty="0" sz="3200"/>
              <a:t>4.2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21611" y="709371"/>
            <a:ext cx="33680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设有文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法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和输入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串</a:t>
            </a:r>
            <a:r>
              <a:rPr dirty="0" sz="2800" spc="-72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2388" y="1145184"/>
            <a:ext cx="2976880" cy="143383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2800" spc="-15" b="1" i="1">
                <a:solidFill>
                  <a:srgbClr val="99FF99"/>
                </a:solidFill>
                <a:latin typeface="Times New Roman"/>
                <a:cs typeface="Times New Roman"/>
              </a:rPr>
              <a:t>G</a:t>
            </a:r>
            <a:r>
              <a:rPr dirty="0" sz="2800" spc="-15" b="1">
                <a:solidFill>
                  <a:srgbClr val="99FF99"/>
                </a:solidFill>
                <a:latin typeface="宋体"/>
                <a:cs typeface="宋体"/>
              </a:rPr>
              <a:t>：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aA</a:t>
            </a:r>
            <a:endParaRPr sz="2800">
              <a:latin typeface="Times New Roman"/>
              <a:cs typeface="Times New Roman"/>
            </a:endParaRPr>
          </a:p>
          <a:p>
            <a:pPr marL="838200">
              <a:lnSpc>
                <a:spcPct val="100000"/>
              </a:lnSpc>
              <a:spcBef>
                <a:spcPts val="33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BaA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3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  <a:p>
            <a:pPr marL="838200">
              <a:lnSpc>
                <a:spcPct val="100000"/>
              </a:lnSpc>
              <a:spcBef>
                <a:spcPts val="33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 +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-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*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5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39661" y="5525261"/>
            <a:ext cx="0" cy="320040"/>
          </a:xfrm>
          <a:custGeom>
            <a:avLst/>
            <a:gdLst/>
            <a:ahLst/>
            <a:cxnLst/>
            <a:rect l="l" t="t" r="r" b="b"/>
            <a:pathLst>
              <a:path w="0" h="320039">
                <a:moveTo>
                  <a:pt x="0" y="32004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318884" y="4975097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163561" y="5525261"/>
            <a:ext cx="0" cy="320040"/>
          </a:xfrm>
          <a:custGeom>
            <a:avLst/>
            <a:gdLst/>
            <a:ahLst/>
            <a:cxnLst/>
            <a:rect l="l" t="t" r="r" b="b"/>
            <a:pathLst>
              <a:path w="0" h="320039">
                <a:moveTo>
                  <a:pt x="0" y="32004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033386" y="4955489"/>
            <a:ext cx="2628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782561" y="4382261"/>
            <a:ext cx="0" cy="1393190"/>
          </a:xfrm>
          <a:custGeom>
            <a:avLst/>
            <a:gdLst/>
            <a:ahLst/>
            <a:cxnLst/>
            <a:rect l="l" t="t" r="r" b="b"/>
            <a:pathLst>
              <a:path w="0" h="1393189">
                <a:moveTo>
                  <a:pt x="0" y="1392936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383273" y="4402073"/>
            <a:ext cx="342900" cy="551815"/>
          </a:xfrm>
          <a:custGeom>
            <a:avLst/>
            <a:gdLst/>
            <a:ahLst/>
            <a:cxnLst/>
            <a:rect l="l" t="t" r="r" b="b"/>
            <a:pathLst>
              <a:path w="342900" h="551814">
                <a:moveTo>
                  <a:pt x="0" y="551688"/>
                </a:moveTo>
                <a:lnTo>
                  <a:pt x="3429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829806" y="4420361"/>
            <a:ext cx="334010" cy="533400"/>
          </a:xfrm>
          <a:custGeom>
            <a:avLst/>
            <a:gdLst/>
            <a:ahLst/>
            <a:cxnLst/>
            <a:rect l="l" t="t" r="r" b="b"/>
            <a:pathLst>
              <a:path w="334009" h="533400">
                <a:moveTo>
                  <a:pt x="0" y="0"/>
                </a:moveTo>
                <a:lnTo>
                  <a:pt x="333755" y="53340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652386" y="3922267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735573" y="4472178"/>
            <a:ext cx="0" cy="1303020"/>
          </a:xfrm>
          <a:custGeom>
            <a:avLst/>
            <a:gdLst/>
            <a:ahLst/>
            <a:cxnLst/>
            <a:rect l="l" t="t" r="r" b="b"/>
            <a:pathLst>
              <a:path w="0" h="1303020">
                <a:moveTo>
                  <a:pt x="0" y="130302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652008" y="3922267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058661" y="3367278"/>
            <a:ext cx="0" cy="2426335"/>
          </a:xfrm>
          <a:custGeom>
            <a:avLst/>
            <a:gdLst/>
            <a:ahLst/>
            <a:cxnLst/>
            <a:rect l="l" t="t" r="r" b="b"/>
            <a:pathLst>
              <a:path w="0" h="2426335">
                <a:moveTo>
                  <a:pt x="0" y="2426208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735573" y="3367278"/>
            <a:ext cx="323215" cy="533400"/>
          </a:xfrm>
          <a:custGeom>
            <a:avLst/>
            <a:gdLst/>
            <a:ahLst/>
            <a:cxnLst/>
            <a:rect l="l" t="t" r="r" b="b"/>
            <a:pathLst>
              <a:path w="323214" h="533400">
                <a:moveTo>
                  <a:pt x="0" y="533400"/>
                </a:moveTo>
                <a:lnTo>
                  <a:pt x="323088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116573" y="3367278"/>
            <a:ext cx="609600" cy="533400"/>
          </a:xfrm>
          <a:custGeom>
            <a:avLst/>
            <a:gdLst/>
            <a:ahLst/>
            <a:cxnLst/>
            <a:rect l="l" t="t" r="r" b="b"/>
            <a:pathLst>
              <a:path w="609600" h="533400">
                <a:moveTo>
                  <a:pt x="609600" y="53340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966586" y="2888742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240273" y="3367278"/>
            <a:ext cx="0" cy="2426335"/>
          </a:xfrm>
          <a:custGeom>
            <a:avLst/>
            <a:gdLst/>
            <a:ahLst/>
            <a:cxnLst/>
            <a:rect l="l" t="t" r="r" b="b"/>
            <a:pathLst>
              <a:path w="0" h="2426335">
                <a:moveTo>
                  <a:pt x="0" y="2426208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240273" y="2286761"/>
            <a:ext cx="876300" cy="1080770"/>
          </a:xfrm>
          <a:custGeom>
            <a:avLst/>
            <a:gdLst/>
            <a:ahLst/>
            <a:cxnLst/>
            <a:rect l="l" t="t" r="r" b="b"/>
            <a:pathLst>
              <a:path w="876300" h="1080770">
                <a:moveTo>
                  <a:pt x="0" y="1080515"/>
                </a:moveTo>
                <a:lnTo>
                  <a:pt x="8763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116573" y="2286761"/>
            <a:ext cx="0" cy="581025"/>
          </a:xfrm>
          <a:custGeom>
            <a:avLst/>
            <a:gdLst/>
            <a:ahLst/>
            <a:cxnLst/>
            <a:rect l="l" t="t" r="r" b="b"/>
            <a:pathLst>
              <a:path w="0" h="581025">
                <a:moveTo>
                  <a:pt x="0" y="0"/>
                </a:moveTo>
                <a:lnTo>
                  <a:pt x="0" y="580643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6003797" y="1788413"/>
            <a:ext cx="2228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066531" y="2663951"/>
            <a:ext cx="228600" cy="2859405"/>
          </a:xfrm>
          <a:custGeom>
            <a:avLst/>
            <a:gdLst/>
            <a:ahLst/>
            <a:cxnLst/>
            <a:rect l="l" t="t" r="r" b="b"/>
            <a:pathLst>
              <a:path w="228600" h="2859404">
                <a:moveTo>
                  <a:pt x="152400" y="342900"/>
                </a:moveTo>
                <a:lnTo>
                  <a:pt x="76200" y="342900"/>
                </a:lnTo>
                <a:lnTo>
                  <a:pt x="76200" y="2859024"/>
                </a:lnTo>
                <a:lnTo>
                  <a:pt x="152400" y="2859024"/>
                </a:lnTo>
                <a:lnTo>
                  <a:pt x="152400" y="342900"/>
                </a:lnTo>
                <a:close/>
              </a:path>
              <a:path w="228600" h="2859404">
                <a:moveTo>
                  <a:pt x="114300" y="0"/>
                </a:moveTo>
                <a:lnTo>
                  <a:pt x="0" y="381000"/>
                </a:lnTo>
                <a:lnTo>
                  <a:pt x="76200" y="381000"/>
                </a:lnTo>
                <a:lnTo>
                  <a:pt x="76200" y="342900"/>
                </a:lnTo>
                <a:lnTo>
                  <a:pt x="217170" y="342900"/>
                </a:lnTo>
                <a:lnTo>
                  <a:pt x="114300" y="0"/>
                </a:lnTo>
                <a:close/>
              </a:path>
              <a:path w="228600" h="2859404">
                <a:moveTo>
                  <a:pt x="217170" y="342900"/>
                </a:moveTo>
                <a:lnTo>
                  <a:pt x="152400" y="342900"/>
                </a:lnTo>
                <a:lnTo>
                  <a:pt x="152400" y="381000"/>
                </a:lnTo>
                <a:lnTo>
                  <a:pt x="228600" y="381000"/>
                </a:lnTo>
                <a:lnTo>
                  <a:pt x="217170" y="34290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8392794" y="2915538"/>
            <a:ext cx="381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上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392794" y="4836033"/>
            <a:ext cx="381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下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42909" y="5489549"/>
            <a:ext cx="18415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033384" y="2140712"/>
            <a:ext cx="25209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396341" y="11378"/>
            <a:ext cx="835152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4215" algn="l"/>
                <a:tab pos="2224405" algn="l"/>
                <a:tab pos="2903855" algn="l"/>
                <a:tab pos="5641340" algn="l"/>
                <a:tab pos="6505575" algn="l"/>
              </a:tabLst>
            </a:pPr>
            <a:r>
              <a:rPr dirty="0" sz="2400" spc="-1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h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语法分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析	</a:t>
            </a: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4.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1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语法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分析程</a:t>
            </a:r>
            <a:r>
              <a:rPr dirty="0" sz="2400" spc="-10" b="1">
                <a:solidFill>
                  <a:srgbClr val="A15100"/>
                </a:solidFill>
                <a:latin typeface="华文新魏"/>
                <a:cs typeface="华文新魏"/>
              </a:rPr>
              <a:t>序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综述	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4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.</a:t>
            </a:r>
            <a:r>
              <a:rPr dirty="0" u="sng" sz="24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1.</a:t>
            </a:r>
            <a:r>
              <a:rPr dirty="0" u="sng" sz="24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2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	</a:t>
            </a:r>
            <a:r>
              <a:rPr dirty="0" u="sng" sz="24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语法分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析方</a:t>
            </a:r>
            <a:r>
              <a:rPr dirty="0" u="sng" sz="2400" spc="-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法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165852" y="5852216"/>
            <a:ext cx="203200" cy="419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50"/>
              </a:lnSpc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611114" y="5852216"/>
            <a:ext cx="203200" cy="419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50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966205" y="5852216"/>
            <a:ext cx="203200" cy="419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50"/>
              </a:lnSpc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321297" y="5852216"/>
            <a:ext cx="227965" cy="419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50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702297" y="5852216"/>
            <a:ext cx="203200" cy="419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50"/>
              </a:lnSpc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058914" y="5852216"/>
            <a:ext cx="171450" cy="419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50"/>
              </a:lnSpc>
            </a:pP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612140" y="2597023"/>
            <a:ext cx="2101850" cy="23152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61340">
              <a:lnSpc>
                <a:spcPct val="100000"/>
              </a:lnSpc>
              <a:spcBef>
                <a:spcPts val="95"/>
              </a:spcBef>
              <a:tabLst>
                <a:tab pos="1173480" algn="l"/>
              </a:tabLst>
            </a:pPr>
            <a:r>
              <a:rPr dirty="0" sz="2800" spc="-5" b="1" i="1">
                <a:solidFill>
                  <a:srgbClr val="99FF99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99FF99"/>
                </a:solidFill>
                <a:latin typeface="Times New Roman"/>
                <a:cs typeface="Times New Roman"/>
              </a:rPr>
              <a:t>:</a:t>
            </a:r>
            <a:r>
              <a:rPr dirty="0" sz="2800" spc="-5" b="1">
                <a:solidFill>
                  <a:srgbClr val="99FF99"/>
                </a:solidFill>
                <a:latin typeface="Times New Roman"/>
                <a:cs typeface="Times New Roman"/>
              </a:rPr>
              <a:t>	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700">
              <a:latin typeface="Times New Roman"/>
              <a:cs typeface="Times New Roman"/>
            </a:endParaRPr>
          </a:p>
          <a:p>
            <a:pPr marL="12700" marR="178435">
              <a:lnSpc>
                <a:spcPct val="150100"/>
              </a:lnSpc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分析方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式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1 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分析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树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8683" y="657555"/>
            <a:ext cx="944244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宋体"/>
                <a:cs typeface="宋体"/>
              </a:rPr>
              <a:t>例</a:t>
            </a:r>
            <a:r>
              <a:rPr dirty="0" sz="3200"/>
              <a:t>4.2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21611" y="709371"/>
            <a:ext cx="33680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设有文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法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和输入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串</a:t>
            </a:r>
            <a:r>
              <a:rPr dirty="0" sz="2800" spc="-72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2388" y="1145184"/>
            <a:ext cx="3056255" cy="143383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2800" spc="-15" b="1" i="1">
                <a:solidFill>
                  <a:srgbClr val="99FF99"/>
                </a:solidFill>
                <a:latin typeface="Times New Roman"/>
                <a:cs typeface="Times New Roman"/>
              </a:rPr>
              <a:t>G</a:t>
            </a:r>
            <a:r>
              <a:rPr dirty="0" sz="2800" spc="-15" b="1">
                <a:solidFill>
                  <a:srgbClr val="99FF99"/>
                </a:solidFill>
                <a:latin typeface="宋体"/>
                <a:cs typeface="宋体"/>
              </a:rPr>
              <a:t>：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aA</a:t>
            </a:r>
            <a:endParaRPr sz="2800">
              <a:latin typeface="Times New Roman"/>
              <a:cs typeface="Times New Roman"/>
            </a:endParaRPr>
          </a:p>
          <a:p>
            <a:pPr marL="824865">
              <a:lnSpc>
                <a:spcPct val="100000"/>
              </a:lnSpc>
              <a:spcBef>
                <a:spcPts val="33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BaA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  <a:p>
            <a:pPr marL="838200">
              <a:lnSpc>
                <a:spcPct val="100000"/>
              </a:lnSpc>
              <a:spcBef>
                <a:spcPts val="33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 + | </a:t>
            </a:r>
            <a:r>
              <a:rPr dirty="0" sz="2800" spc="-5" b="1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 * |</a:t>
            </a:r>
            <a:r>
              <a:rPr dirty="0" sz="2800" spc="-1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201661" y="5258561"/>
            <a:ext cx="0" cy="320040"/>
          </a:xfrm>
          <a:custGeom>
            <a:avLst/>
            <a:gdLst/>
            <a:ahLst/>
            <a:cxnLst/>
            <a:rect l="l" t="t" r="r" b="b"/>
            <a:pathLst>
              <a:path w="0" h="320039">
                <a:moveTo>
                  <a:pt x="0" y="32004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080884" y="4708397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25561" y="5258561"/>
            <a:ext cx="0" cy="320040"/>
          </a:xfrm>
          <a:custGeom>
            <a:avLst/>
            <a:gdLst/>
            <a:ahLst/>
            <a:cxnLst/>
            <a:rect l="l" t="t" r="r" b="b"/>
            <a:pathLst>
              <a:path w="0" h="320039">
                <a:moveTo>
                  <a:pt x="0" y="32004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795641" y="4688788"/>
            <a:ext cx="2628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544561" y="4115561"/>
            <a:ext cx="0" cy="1393190"/>
          </a:xfrm>
          <a:custGeom>
            <a:avLst/>
            <a:gdLst/>
            <a:ahLst/>
            <a:cxnLst/>
            <a:rect l="l" t="t" r="r" b="b"/>
            <a:pathLst>
              <a:path w="0" h="1393189">
                <a:moveTo>
                  <a:pt x="0" y="1392936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145273" y="4135373"/>
            <a:ext cx="342900" cy="551815"/>
          </a:xfrm>
          <a:custGeom>
            <a:avLst/>
            <a:gdLst/>
            <a:ahLst/>
            <a:cxnLst/>
            <a:rect l="l" t="t" r="r" b="b"/>
            <a:pathLst>
              <a:path w="342900" h="551814">
                <a:moveTo>
                  <a:pt x="0" y="551688"/>
                </a:moveTo>
                <a:lnTo>
                  <a:pt x="3429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591806" y="4153661"/>
            <a:ext cx="334010" cy="533400"/>
          </a:xfrm>
          <a:custGeom>
            <a:avLst/>
            <a:gdLst/>
            <a:ahLst/>
            <a:cxnLst/>
            <a:rect l="l" t="t" r="r" b="b"/>
            <a:pathLst>
              <a:path w="334009" h="533400">
                <a:moveTo>
                  <a:pt x="0" y="0"/>
                </a:moveTo>
                <a:lnTo>
                  <a:pt x="333755" y="53340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414386" y="3655567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97573" y="4205478"/>
            <a:ext cx="0" cy="1303020"/>
          </a:xfrm>
          <a:custGeom>
            <a:avLst/>
            <a:gdLst/>
            <a:ahLst/>
            <a:cxnLst/>
            <a:rect l="l" t="t" r="r" b="b"/>
            <a:pathLst>
              <a:path w="0" h="1303020">
                <a:moveTo>
                  <a:pt x="0" y="130302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414261" y="3655567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820661" y="3100577"/>
            <a:ext cx="0" cy="2426335"/>
          </a:xfrm>
          <a:custGeom>
            <a:avLst/>
            <a:gdLst/>
            <a:ahLst/>
            <a:cxnLst/>
            <a:rect l="l" t="t" r="r" b="b"/>
            <a:pathLst>
              <a:path w="0" h="2426335">
                <a:moveTo>
                  <a:pt x="0" y="2426208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497573" y="3100577"/>
            <a:ext cx="323215" cy="533400"/>
          </a:xfrm>
          <a:custGeom>
            <a:avLst/>
            <a:gdLst/>
            <a:ahLst/>
            <a:cxnLst/>
            <a:rect l="l" t="t" r="r" b="b"/>
            <a:pathLst>
              <a:path w="323215" h="533400">
                <a:moveTo>
                  <a:pt x="0" y="533400"/>
                </a:moveTo>
                <a:lnTo>
                  <a:pt x="323087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878573" y="3100577"/>
            <a:ext cx="609600" cy="533400"/>
          </a:xfrm>
          <a:custGeom>
            <a:avLst/>
            <a:gdLst/>
            <a:ahLst/>
            <a:cxnLst/>
            <a:rect l="l" t="t" r="r" b="b"/>
            <a:pathLst>
              <a:path w="609600" h="533400">
                <a:moveTo>
                  <a:pt x="609600" y="53340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728586" y="2622042"/>
            <a:ext cx="26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002273" y="3100577"/>
            <a:ext cx="0" cy="2426335"/>
          </a:xfrm>
          <a:custGeom>
            <a:avLst/>
            <a:gdLst/>
            <a:ahLst/>
            <a:cxnLst/>
            <a:rect l="l" t="t" r="r" b="b"/>
            <a:pathLst>
              <a:path w="0" h="2426335">
                <a:moveTo>
                  <a:pt x="0" y="2426208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002273" y="2020061"/>
            <a:ext cx="876300" cy="1080770"/>
          </a:xfrm>
          <a:custGeom>
            <a:avLst/>
            <a:gdLst/>
            <a:ahLst/>
            <a:cxnLst/>
            <a:rect l="l" t="t" r="r" b="b"/>
            <a:pathLst>
              <a:path w="876300" h="1080770">
                <a:moveTo>
                  <a:pt x="0" y="1080515"/>
                </a:moveTo>
                <a:lnTo>
                  <a:pt x="8763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878573" y="2020061"/>
            <a:ext cx="0" cy="581025"/>
          </a:xfrm>
          <a:custGeom>
            <a:avLst/>
            <a:gdLst/>
            <a:ahLst/>
            <a:cxnLst/>
            <a:rect l="l" t="t" r="r" b="b"/>
            <a:pathLst>
              <a:path w="0" h="581025">
                <a:moveTo>
                  <a:pt x="0" y="0"/>
                </a:moveTo>
                <a:lnTo>
                  <a:pt x="0" y="580643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6752081" y="1519504"/>
            <a:ext cx="25209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96341" y="11378"/>
            <a:ext cx="835152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4215" algn="l"/>
                <a:tab pos="2224405" algn="l"/>
                <a:tab pos="2903855" algn="l"/>
                <a:tab pos="5641340" algn="l"/>
                <a:tab pos="6505575" algn="l"/>
              </a:tabLst>
            </a:pPr>
            <a:r>
              <a:rPr dirty="0" sz="2400" spc="-1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h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语法分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析	</a:t>
            </a: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4.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1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语法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分析程</a:t>
            </a:r>
            <a:r>
              <a:rPr dirty="0" sz="2400" spc="-10" b="1">
                <a:solidFill>
                  <a:srgbClr val="A15100"/>
                </a:solidFill>
                <a:latin typeface="华文新魏"/>
                <a:cs typeface="华文新魏"/>
              </a:rPr>
              <a:t>序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综述	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4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.</a:t>
            </a:r>
            <a:r>
              <a:rPr dirty="0" u="sng" sz="24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1.</a:t>
            </a:r>
            <a:r>
              <a:rPr dirty="0" u="sng" sz="24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2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	</a:t>
            </a:r>
            <a:r>
              <a:rPr dirty="0" u="sng" sz="24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语法分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析方</a:t>
            </a:r>
            <a:r>
              <a:rPr dirty="0" u="sng" sz="2400" spc="-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法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155442" y="6244590"/>
            <a:ext cx="589915" cy="0"/>
          </a:xfrm>
          <a:custGeom>
            <a:avLst/>
            <a:gdLst/>
            <a:ahLst/>
            <a:cxnLst/>
            <a:rect l="l" t="t" r="r" b="b"/>
            <a:pathLst>
              <a:path w="589914" h="0">
                <a:moveTo>
                  <a:pt x="0" y="0"/>
                </a:moveTo>
                <a:lnTo>
                  <a:pt x="589787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300733" y="6261353"/>
            <a:ext cx="1065530" cy="0"/>
          </a:xfrm>
          <a:custGeom>
            <a:avLst/>
            <a:gdLst/>
            <a:ahLst/>
            <a:cxnLst/>
            <a:rect l="l" t="t" r="r" b="b"/>
            <a:pathLst>
              <a:path w="1065530" h="0">
                <a:moveTo>
                  <a:pt x="0" y="0"/>
                </a:moveTo>
                <a:lnTo>
                  <a:pt x="1065276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451097" y="5493258"/>
            <a:ext cx="1524000" cy="0"/>
          </a:xfrm>
          <a:custGeom>
            <a:avLst/>
            <a:gdLst/>
            <a:ahLst/>
            <a:cxnLst/>
            <a:rect l="l" t="t" r="r" b="b"/>
            <a:pathLst>
              <a:path w="1524000" h="0">
                <a:moveTo>
                  <a:pt x="0" y="0"/>
                </a:moveTo>
                <a:lnTo>
                  <a:pt x="1524000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645566" y="4913122"/>
            <a:ext cx="432308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857500" algn="l"/>
              </a:tabLst>
            </a:pPr>
            <a:r>
              <a:rPr dirty="0" baseline="-8680" sz="4800" spc="-7" b="1">
                <a:solidFill>
                  <a:srgbClr val="FFFFFF"/>
                </a:solidFill>
                <a:latin typeface="Times New Roman"/>
                <a:cs typeface="Times New Roman"/>
              </a:rPr>
              <a:t>&lt;=</a:t>
            </a:r>
            <a:r>
              <a:rPr dirty="0" baseline="-8680" sz="4800" spc="22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u="heavy" sz="3200" spc="60" b="1" i="1">
                <a:solidFill>
                  <a:srgbClr val="FF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aBaBa</a:t>
            </a:r>
            <a:r>
              <a:rPr dirty="0" u="heavy" baseline="2604" sz="4800" spc="89" b="1" i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ε</a:t>
            </a:r>
            <a:r>
              <a:rPr dirty="0" baseline="2604" sz="4800" spc="1139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baseline="-6944" sz="4800" spc="-7" b="1">
                <a:solidFill>
                  <a:srgbClr val="FFFFFF"/>
                </a:solidFill>
                <a:latin typeface="Times New Roman"/>
                <a:cs typeface="Times New Roman"/>
              </a:rPr>
              <a:t>&lt;=	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aBa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Ba</a:t>
            </a:r>
            <a:r>
              <a:rPr dirty="0" u="heavy" sz="3200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32866" y="4714494"/>
            <a:ext cx="1219200" cy="0"/>
          </a:xfrm>
          <a:custGeom>
            <a:avLst/>
            <a:gdLst/>
            <a:ahLst/>
            <a:cxnLst/>
            <a:rect l="l" t="t" r="r" b="b"/>
            <a:pathLst>
              <a:path w="1219200" h="0">
                <a:moveTo>
                  <a:pt x="0" y="0"/>
                </a:moveTo>
                <a:lnTo>
                  <a:pt x="1219200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283565" y="2597023"/>
            <a:ext cx="3625850" cy="206311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309880">
              <a:lnSpc>
                <a:spcPct val="100000"/>
              </a:lnSpc>
              <a:spcBef>
                <a:spcPts val="95"/>
              </a:spcBef>
              <a:tabLst>
                <a:tab pos="612140" algn="l"/>
              </a:tabLst>
            </a:pPr>
            <a:r>
              <a:rPr dirty="0" sz="2800" spc="-5" b="1" i="1">
                <a:solidFill>
                  <a:srgbClr val="99FF99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99FF99"/>
                </a:solidFill>
                <a:latin typeface="Times New Roman"/>
                <a:cs typeface="Times New Roman"/>
              </a:rPr>
              <a:t>:	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200">
              <a:latin typeface="Times New Roman"/>
              <a:cs typeface="Times New Roman"/>
            </a:endParaRPr>
          </a:p>
          <a:p>
            <a:pPr algn="ctr" marR="258445">
              <a:lnSpc>
                <a:spcPct val="100000"/>
              </a:lnSpc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分析方式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归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约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 marL="287020">
              <a:lnSpc>
                <a:spcPct val="100000"/>
              </a:lnSpc>
              <a:spcBef>
                <a:spcPts val="1300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baseline="-4340" sz="4800" spc="-7" b="1">
                <a:solidFill>
                  <a:srgbClr val="FFFFFF"/>
                </a:solidFill>
                <a:latin typeface="Times New Roman"/>
                <a:cs typeface="Times New Roman"/>
              </a:rPr>
              <a:t>&lt;=</a:t>
            </a:r>
            <a:r>
              <a:rPr dirty="0" u="heavy" baseline="-1736" sz="4800" spc="1147" b="1">
                <a:solidFill>
                  <a:srgbClr val="FF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baseline="-1736" sz="4800" b="1" i="1">
                <a:solidFill>
                  <a:srgbClr val="FF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aBa</a:t>
            </a:r>
            <a:r>
              <a:rPr dirty="0" u="heavy" baseline="-1736" sz="4800" b="1">
                <a:solidFill>
                  <a:srgbClr val="FFFF00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+</a:t>
            </a:r>
            <a:r>
              <a:rPr dirty="0" u="heavy" baseline="-1736" sz="4800" b="1" i="1">
                <a:solidFill>
                  <a:srgbClr val="FF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a</a:t>
            </a:r>
            <a:endParaRPr baseline="-1736" sz="4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928105" y="5584940"/>
            <a:ext cx="203200" cy="419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55"/>
              </a:lnSpc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373114" y="5584940"/>
            <a:ext cx="203200" cy="419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55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728206" y="5584940"/>
            <a:ext cx="203200" cy="419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55"/>
              </a:lnSpc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083297" y="5584940"/>
            <a:ext cx="227965" cy="419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55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464297" y="5584940"/>
            <a:ext cx="203200" cy="419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55"/>
              </a:lnSpc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821294" y="5584940"/>
            <a:ext cx="171450" cy="419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55"/>
              </a:lnSpc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37717" y="5706983"/>
            <a:ext cx="1586865" cy="5314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595"/>
              </a:lnSpc>
            </a:pPr>
            <a:r>
              <a:rPr dirty="0" baseline="-7812" sz="4800" spc="-7" b="1">
                <a:solidFill>
                  <a:srgbClr val="FFFFFF"/>
                </a:solidFill>
                <a:latin typeface="Times New Roman"/>
                <a:cs typeface="Times New Roman"/>
              </a:rPr>
              <a:t>&lt;=</a:t>
            </a:r>
            <a:r>
              <a:rPr dirty="0" baseline="-7812" sz="4800" spc="419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Ba</a:t>
            </a:r>
            <a:r>
              <a:rPr dirty="0" u="heavy" sz="3200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156330" y="5735057"/>
            <a:ext cx="501650" cy="47688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595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u="heavy" sz="3200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509520" y="5749383"/>
            <a:ext cx="488950" cy="47688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595"/>
              </a:lnSpc>
            </a:pP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&lt;=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875023" y="5770381"/>
            <a:ext cx="833119" cy="484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660"/>
              </a:lnSpc>
            </a:pP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&lt;=</a:t>
            </a:r>
            <a:r>
              <a:rPr dirty="0" sz="3200" spc="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440" y="608838"/>
            <a:ext cx="203581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8500" algn="l"/>
              </a:tabLst>
            </a:pPr>
            <a:r>
              <a:rPr dirty="0" sz="3600" spc="-5">
                <a:latin typeface="Webdings"/>
                <a:cs typeface="Webdings"/>
              </a:rPr>
              <a:t></a:t>
            </a:r>
            <a:r>
              <a:rPr dirty="0" sz="3600" spc="-5" b="0">
                <a:latin typeface="Times New Roman"/>
                <a:cs typeface="Times New Roman"/>
              </a:rPr>
              <a:t>	</a:t>
            </a:r>
            <a:r>
              <a:rPr dirty="0" sz="3200">
                <a:latin typeface="宋体"/>
                <a:cs typeface="宋体"/>
              </a:rPr>
              <a:t>说</a:t>
            </a:r>
            <a:r>
              <a:rPr dirty="0" sz="3200" spc="-10">
                <a:latin typeface="宋体"/>
                <a:cs typeface="宋体"/>
              </a:rPr>
              <a:t>明</a:t>
            </a:r>
            <a:r>
              <a:rPr dirty="0" sz="3200" spc="-894">
                <a:latin typeface="宋体"/>
                <a:cs typeface="宋体"/>
              </a:rPr>
              <a:t> </a:t>
            </a:r>
            <a:r>
              <a:rPr dirty="0" sz="3200" spc="-10"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743836" y="11378"/>
            <a:ext cx="19443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4215" algn="l"/>
              </a:tabLst>
            </a:pPr>
            <a:r>
              <a:rPr dirty="0" sz="2400" spc="-1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h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10" b="1">
                <a:solidFill>
                  <a:srgbClr val="A15100"/>
                </a:solidFill>
                <a:latin typeface="华文新魏"/>
                <a:cs typeface="华文新魏"/>
              </a:rPr>
              <a:t>语法分析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54246" y="11378"/>
            <a:ext cx="314642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2290" algn="l"/>
              </a:tabLst>
            </a:pP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4.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1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400" spc="-2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4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语法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分析程</a:t>
            </a:r>
            <a:r>
              <a:rPr dirty="0" u="sng" sz="2400" spc="-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序</a:t>
            </a:r>
            <a:r>
              <a:rPr dirty="0" u="sng" sz="24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综</a:t>
            </a:r>
            <a:r>
              <a:rPr dirty="0" u="sng" sz="2400" spc="-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述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97273" y="2115311"/>
            <a:ext cx="647700" cy="114300"/>
          </a:xfrm>
          <a:custGeom>
            <a:avLst/>
            <a:gdLst/>
            <a:ahLst/>
            <a:cxnLst/>
            <a:rect l="l" t="t" r="r" b="b"/>
            <a:pathLst>
              <a:path w="647700" h="114300">
                <a:moveTo>
                  <a:pt x="533400" y="0"/>
                </a:moveTo>
                <a:lnTo>
                  <a:pt x="533400" y="114300"/>
                </a:lnTo>
                <a:lnTo>
                  <a:pt x="609600" y="76200"/>
                </a:lnTo>
                <a:lnTo>
                  <a:pt x="552450" y="76200"/>
                </a:lnTo>
                <a:lnTo>
                  <a:pt x="552450" y="38100"/>
                </a:lnTo>
                <a:lnTo>
                  <a:pt x="609600" y="38100"/>
                </a:lnTo>
                <a:lnTo>
                  <a:pt x="533400" y="0"/>
                </a:lnTo>
                <a:close/>
              </a:path>
              <a:path w="647700" h="114300">
                <a:moveTo>
                  <a:pt x="5334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33400" y="76200"/>
                </a:lnTo>
                <a:lnTo>
                  <a:pt x="533400" y="38100"/>
                </a:lnTo>
                <a:close/>
              </a:path>
              <a:path w="647700" h="114300">
                <a:moveTo>
                  <a:pt x="609600" y="38100"/>
                </a:moveTo>
                <a:lnTo>
                  <a:pt x="552450" y="38100"/>
                </a:lnTo>
                <a:lnTo>
                  <a:pt x="552450" y="76200"/>
                </a:lnTo>
                <a:lnTo>
                  <a:pt x="609600" y="76200"/>
                </a:lnTo>
                <a:lnTo>
                  <a:pt x="647700" y="57150"/>
                </a:lnTo>
                <a:lnTo>
                  <a:pt x="609600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097273" y="2686811"/>
            <a:ext cx="647700" cy="114300"/>
          </a:xfrm>
          <a:custGeom>
            <a:avLst/>
            <a:gdLst/>
            <a:ahLst/>
            <a:cxnLst/>
            <a:rect l="l" t="t" r="r" b="b"/>
            <a:pathLst>
              <a:path w="647700" h="114300">
                <a:moveTo>
                  <a:pt x="533400" y="0"/>
                </a:moveTo>
                <a:lnTo>
                  <a:pt x="533400" y="114300"/>
                </a:lnTo>
                <a:lnTo>
                  <a:pt x="609600" y="76200"/>
                </a:lnTo>
                <a:lnTo>
                  <a:pt x="552450" y="76200"/>
                </a:lnTo>
                <a:lnTo>
                  <a:pt x="552450" y="38100"/>
                </a:lnTo>
                <a:lnTo>
                  <a:pt x="609600" y="38100"/>
                </a:lnTo>
                <a:lnTo>
                  <a:pt x="533400" y="0"/>
                </a:lnTo>
                <a:close/>
              </a:path>
              <a:path w="647700" h="114300">
                <a:moveTo>
                  <a:pt x="5334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33400" y="76200"/>
                </a:lnTo>
                <a:lnTo>
                  <a:pt x="533400" y="38100"/>
                </a:lnTo>
                <a:close/>
              </a:path>
              <a:path w="647700" h="114300">
                <a:moveTo>
                  <a:pt x="609600" y="38100"/>
                </a:moveTo>
                <a:lnTo>
                  <a:pt x="552450" y="38100"/>
                </a:lnTo>
                <a:lnTo>
                  <a:pt x="552450" y="76200"/>
                </a:lnTo>
                <a:lnTo>
                  <a:pt x="609600" y="76200"/>
                </a:lnTo>
                <a:lnTo>
                  <a:pt x="647700" y="57150"/>
                </a:lnTo>
                <a:lnTo>
                  <a:pt x="609600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85648" y="1160305"/>
            <a:ext cx="8608695" cy="4805045"/>
          </a:xfrm>
          <a:prstGeom prst="rect">
            <a:avLst/>
          </a:prstGeom>
        </p:spPr>
        <p:txBody>
          <a:bodyPr wrap="square" lIns="0" tIns="162560" rIns="0" bIns="0" rtlCol="0" vert="horz">
            <a:spAutoFit/>
          </a:bodyPr>
          <a:lstStyle/>
          <a:p>
            <a:pPr marL="584200" indent="-534035">
              <a:lnSpc>
                <a:spcPct val="100000"/>
              </a:lnSpc>
              <a:spcBef>
                <a:spcPts val="1280"/>
              </a:spcBef>
              <a:buFont typeface="Times New Roman"/>
              <a:buAutoNum type="arabicPeriod"/>
              <a:tabLst>
                <a:tab pos="584200" algn="l"/>
                <a:tab pos="584835" algn="l"/>
              </a:tabLst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语法分析两大类方法：</a:t>
            </a:r>
            <a:endParaRPr sz="2800">
              <a:latin typeface="宋体"/>
              <a:cs typeface="宋体"/>
            </a:endParaRPr>
          </a:p>
          <a:p>
            <a:pPr marL="317500">
              <a:lnSpc>
                <a:spcPct val="100000"/>
              </a:lnSpc>
              <a:spcBef>
                <a:spcPts val="1180"/>
              </a:spcBef>
              <a:tabLst>
                <a:tab pos="4352290" algn="l"/>
              </a:tabLst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自上而下分析法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；</a:t>
            </a:r>
            <a:r>
              <a:rPr dirty="0" sz="2800" spc="-68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99CC"/>
                </a:solidFill>
                <a:latin typeface="Times New Roman"/>
                <a:cs typeface="Times New Roman"/>
              </a:rPr>
              <a:t>S	r</a:t>
            </a:r>
            <a:r>
              <a:rPr dirty="0" sz="2800" spc="-55" b="1" i="1">
                <a:solidFill>
                  <a:srgbClr val="FF99CC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一般、递归下降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LL(1))</a:t>
            </a:r>
            <a:endParaRPr sz="28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  <a:spcBef>
                <a:spcPts val="1175"/>
              </a:spcBef>
              <a:tabLst>
                <a:tab pos="3541395" algn="l"/>
              </a:tabLst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自下而上分析法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；</a:t>
            </a:r>
            <a:r>
              <a:rPr dirty="0" sz="2800" spc="-68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99CC"/>
                </a:solidFill>
                <a:latin typeface="Times New Roman"/>
                <a:cs typeface="Times New Roman"/>
              </a:rPr>
              <a:t>r	</a:t>
            </a:r>
            <a:r>
              <a:rPr dirty="0" baseline="43209" sz="2700" spc="-7" b="1">
                <a:solidFill>
                  <a:srgbClr val="FFFFFF"/>
                </a:solidFill>
                <a:latin typeface="Times New Roman"/>
                <a:cs typeface="Times New Roman"/>
              </a:rPr>
              <a:t>Reduce</a:t>
            </a:r>
            <a:r>
              <a:rPr dirty="0" baseline="43209" sz="2700" spc="-367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99CC"/>
                </a:solidFill>
                <a:latin typeface="Times New Roman"/>
                <a:cs typeface="Times New Roman"/>
              </a:rPr>
              <a:t>S</a:t>
            </a:r>
            <a:r>
              <a:rPr dirty="0" sz="2800" spc="5" b="1" i="1">
                <a:solidFill>
                  <a:srgbClr val="FF99CC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一般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OPG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LR)</a:t>
            </a:r>
            <a:endParaRPr sz="2800">
              <a:latin typeface="Times New Roman"/>
              <a:cs typeface="Times New Roman"/>
            </a:endParaRPr>
          </a:p>
          <a:p>
            <a:pPr marL="494030" marR="612775" indent="-443865">
              <a:lnSpc>
                <a:spcPct val="150000"/>
              </a:lnSpc>
              <a:spcBef>
                <a:spcPts val="1745"/>
              </a:spcBef>
              <a:buClr>
                <a:srgbClr val="CCEBFF"/>
              </a:buClr>
              <a:buFont typeface="Times New Roman"/>
              <a:buAutoNum type="arabicPeriod" startAt="2"/>
              <a:tabLst>
                <a:tab pos="494030" algn="l"/>
                <a:tab pos="494665" algn="l"/>
              </a:tabLst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自上而下分析法</a:t>
            </a:r>
            <a:r>
              <a:rPr dirty="0" sz="2800" spc="-10" b="1">
                <a:solidFill>
                  <a:srgbClr val="CCEBFF"/>
                </a:solidFill>
                <a:latin typeface="宋体"/>
                <a:cs typeface="宋体"/>
              </a:rPr>
              <a:t>的核心是不</a:t>
            </a:r>
            <a:r>
              <a:rPr dirty="0" sz="2800" spc="5" b="1">
                <a:solidFill>
                  <a:srgbClr val="CCEBFF"/>
                </a:solidFill>
                <a:latin typeface="宋体"/>
                <a:cs typeface="宋体"/>
              </a:rPr>
              <a:t>断</a:t>
            </a:r>
            <a:r>
              <a:rPr dirty="0" sz="2800" spc="-10" b="1">
                <a:solidFill>
                  <a:srgbClr val="CCEBFF"/>
                </a:solidFill>
                <a:latin typeface="宋体"/>
                <a:cs typeface="宋体"/>
              </a:rPr>
              <a:t>寻</a:t>
            </a:r>
            <a:r>
              <a:rPr dirty="0" sz="2800" spc="20" b="1">
                <a:solidFill>
                  <a:srgbClr val="CCEBFF"/>
                </a:solidFill>
                <a:latin typeface="宋体"/>
                <a:cs typeface="宋体"/>
              </a:rPr>
              <a:t>找</a:t>
            </a:r>
            <a:r>
              <a:rPr dirty="0" u="heavy" sz="2800" spc="5" b="1">
                <a:solidFill>
                  <a:srgbClr val="FF99CC"/>
                </a:solidFill>
                <a:uFill>
                  <a:solidFill>
                    <a:srgbClr val="FF99CC"/>
                  </a:solidFill>
                </a:uFill>
                <a:latin typeface="宋体"/>
                <a:cs typeface="宋体"/>
              </a:rPr>
              <a:t>合</a:t>
            </a:r>
            <a:r>
              <a:rPr dirty="0" u="heavy" sz="2800" spc="-5" b="1">
                <a:solidFill>
                  <a:srgbClr val="FF99CC"/>
                </a:solidFill>
                <a:uFill>
                  <a:solidFill>
                    <a:srgbClr val="FF99CC"/>
                  </a:solidFill>
                </a:uFill>
                <a:latin typeface="宋体"/>
                <a:cs typeface="宋体"/>
              </a:rPr>
              <a:t>适候</a:t>
            </a:r>
            <a:r>
              <a:rPr dirty="0" u="heavy" sz="2800" spc="5" b="1">
                <a:solidFill>
                  <a:srgbClr val="FF99CC"/>
                </a:solidFill>
                <a:uFill>
                  <a:solidFill>
                    <a:srgbClr val="FF99CC"/>
                  </a:solidFill>
                </a:uFill>
                <a:latin typeface="宋体"/>
                <a:cs typeface="宋体"/>
              </a:rPr>
              <a:t>选</a:t>
            </a:r>
            <a:r>
              <a:rPr dirty="0" u="heavy" sz="2800" b="1">
                <a:solidFill>
                  <a:srgbClr val="FF99CC"/>
                </a:solidFill>
                <a:uFill>
                  <a:solidFill>
                    <a:srgbClr val="FF99CC"/>
                  </a:solidFill>
                </a:uFill>
                <a:latin typeface="宋体"/>
                <a:cs typeface="宋体"/>
              </a:rPr>
              <a:t>式</a:t>
            </a:r>
            <a:r>
              <a:rPr dirty="0" sz="2800" spc="-15" b="1">
                <a:solidFill>
                  <a:srgbClr val="CCEBFF"/>
                </a:solidFill>
                <a:latin typeface="宋体"/>
                <a:cs typeface="宋体"/>
              </a:rPr>
              <a:t>对 </a:t>
            </a:r>
            <a:r>
              <a:rPr dirty="0" sz="2800" spc="-5" b="1">
                <a:solidFill>
                  <a:srgbClr val="CCEBFF"/>
                </a:solidFill>
                <a:latin typeface="宋体"/>
                <a:cs typeface="宋体"/>
              </a:rPr>
              <a:t>句型中最左的非终结符进行</a:t>
            </a:r>
            <a:r>
              <a:rPr dirty="0" sz="2800" spc="5" b="1">
                <a:solidFill>
                  <a:srgbClr val="CCEBFF"/>
                </a:solidFill>
                <a:latin typeface="宋体"/>
                <a:cs typeface="宋体"/>
              </a:rPr>
              <a:t>替</a:t>
            </a:r>
            <a:r>
              <a:rPr dirty="0" sz="2800" spc="-5" b="1">
                <a:solidFill>
                  <a:srgbClr val="CCEBFF"/>
                </a:solidFill>
                <a:latin typeface="宋体"/>
                <a:cs typeface="宋体"/>
              </a:rPr>
              <a:t>换的</a:t>
            </a:r>
            <a:r>
              <a:rPr dirty="0" sz="2800" spc="5" b="1">
                <a:solidFill>
                  <a:srgbClr val="CCEBFF"/>
                </a:solidFill>
                <a:latin typeface="宋体"/>
                <a:cs typeface="宋体"/>
              </a:rPr>
              <a:t>过</a:t>
            </a:r>
            <a:r>
              <a:rPr dirty="0" sz="2800" spc="-5" b="1">
                <a:solidFill>
                  <a:srgbClr val="CCEBFF"/>
                </a:solidFill>
                <a:latin typeface="宋体"/>
                <a:cs typeface="宋体"/>
              </a:rPr>
              <a:t>程；</a:t>
            </a:r>
            <a:endParaRPr sz="2800">
              <a:latin typeface="宋体"/>
              <a:cs typeface="宋体"/>
            </a:endParaRPr>
          </a:p>
          <a:p>
            <a:pPr marL="494030" marR="395605" indent="-443865">
              <a:lnSpc>
                <a:spcPct val="150000"/>
              </a:lnSpc>
              <a:spcBef>
                <a:spcPts val="2110"/>
              </a:spcBef>
              <a:buClr>
                <a:srgbClr val="FFFFFF"/>
              </a:buClr>
              <a:buFont typeface="Times New Roman"/>
              <a:buAutoNum type="arabicPeriod" startAt="2"/>
              <a:tabLst>
                <a:tab pos="494030" algn="l"/>
                <a:tab pos="494665" algn="l"/>
              </a:tabLst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自下而上分析法</a:t>
            </a:r>
            <a:r>
              <a:rPr dirty="0" sz="2800" spc="-10" b="1">
                <a:solidFill>
                  <a:srgbClr val="CCEBFF"/>
                </a:solidFill>
                <a:latin typeface="宋体"/>
                <a:cs typeface="宋体"/>
              </a:rPr>
              <a:t>的核心是不</a:t>
            </a:r>
            <a:r>
              <a:rPr dirty="0" sz="2800" spc="5" b="1">
                <a:solidFill>
                  <a:srgbClr val="CCEBFF"/>
                </a:solidFill>
                <a:latin typeface="宋体"/>
                <a:cs typeface="宋体"/>
              </a:rPr>
              <a:t>断</a:t>
            </a:r>
            <a:r>
              <a:rPr dirty="0" sz="2800" spc="-10" b="1">
                <a:solidFill>
                  <a:srgbClr val="CCEBFF"/>
                </a:solidFill>
                <a:latin typeface="宋体"/>
                <a:cs typeface="宋体"/>
              </a:rPr>
              <a:t>寻</a:t>
            </a:r>
            <a:r>
              <a:rPr dirty="0" sz="2800" spc="20" b="1">
                <a:solidFill>
                  <a:srgbClr val="CCEBFF"/>
                </a:solidFill>
                <a:latin typeface="宋体"/>
                <a:cs typeface="宋体"/>
              </a:rPr>
              <a:t>找</a:t>
            </a:r>
            <a:r>
              <a:rPr dirty="0" u="heavy" sz="2800" spc="5" b="1">
                <a:solidFill>
                  <a:srgbClr val="FF99CC"/>
                </a:solidFill>
                <a:uFill>
                  <a:solidFill>
                    <a:srgbClr val="FF99CC"/>
                  </a:solidFill>
                </a:uFill>
                <a:latin typeface="宋体"/>
                <a:cs typeface="宋体"/>
              </a:rPr>
              <a:t>可</a:t>
            </a:r>
            <a:r>
              <a:rPr dirty="0" u="heavy" sz="2800" spc="-5" b="1">
                <a:solidFill>
                  <a:srgbClr val="FF99CC"/>
                </a:solidFill>
                <a:uFill>
                  <a:solidFill>
                    <a:srgbClr val="FF99CC"/>
                  </a:solidFill>
                </a:uFill>
                <a:latin typeface="宋体"/>
                <a:cs typeface="宋体"/>
              </a:rPr>
              <a:t>归约</a:t>
            </a:r>
            <a:r>
              <a:rPr dirty="0" u="heavy" sz="2800" spc="15" b="1">
                <a:solidFill>
                  <a:srgbClr val="FF99CC"/>
                </a:solidFill>
                <a:uFill>
                  <a:solidFill>
                    <a:srgbClr val="FF99CC"/>
                  </a:solidFill>
                </a:uFill>
                <a:latin typeface="宋体"/>
                <a:cs typeface="宋体"/>
              </a:rPr>
              <a:t>串</a:t>
            </a:r>
            <a:r>
              <a:rPr dirty="0" sz="2800" spc="5" b="1">
                <a:solidFill>
                  <a:srgbClr val="CCEBFF"/>
                </a:solidFill>
                <a:latin typeface="宋体"/>
                <a:cs typeface="宋体"/>
              </a:rPr>
              <a:t>与</a:t>
            </a:r>
            <a:r>
              <a:rPr dirty="0" sz="2800" spc="-5" b="1" i="1">
                <a:solidFill>
                  <a:srgbClr val="CCEBFF"/>
                </a:solidFill>
                <a:latin typeface="Times New Roman"/>
                <a:cs typeface="Times New Roman"/>
              </a:rPr>
              <a:t>P  </a:t>
            </a:r>
            <a:r>
              <a:rPr dirty="0" sz="2800" spc="-10" b="1">
                <a:solidFill>
                  <a:srgbClr val="CCEBFF"/>
                </a:solidFill>
                <a:latin typeface="宋体"/>
                <a:cs typeface="宋体"/>
              </a:rPr>
              <a:t>的侯选式匹配，并</a:t>
            </a:r>
            <a:r>
              <a:rPr dirty="0" sz="2800" spc="-5" b="1">
                <a:solidFill>
                  <a:srgbClr val="CCEBFF"/>
                </a:solidFill>
                <a:latin typeface="宋体"/>
                <a:cs typeface="宋体"/>
              </a:rPr>
              <a:t>用</a:t>
            </a:r>
            <a:r>
              <a:rPr dirty="0" sz="2800" spc="-15" b="1" i="1">
                <a:solidFill>
                  <a:srgbClr val="CCEBFF"/>
                </a:solidFill>
                <a:latin typeface="Times New Roman"/>
                <a:cs typeface="Times New Roman"/>
              </a:rPr>
              <a:t>P</a:t>
            </a:r>
            <a:r>
              <a:rPr dirty="0" sz="2800" spc="-10" b="1">
                <a:solidFill>
                  <a:srgbClr val="CCEBFF"/>
                </a:solidFill>
                <a:latin typeface="宋体"/>
                <a:cs typeface="宋体"/>
              </a:rPr>
              <a:t>的</a:t>
            </a:r>
            <a:r>
              <a:rPr dirty="0" sz="2800" spc="5" b="1">
                <a:solidFill>
                  <a:srgbClr val="CCEBFF"/>
                </a:solidFill>
                <a:latin typeface="宋体"/>
                <a:cs typeface="宋体"/>
              </a:rPr>
              <a:t>左</a:t>
            </a:r>
            <a:r>
              <a:rPr dirty="0" sz="2800" spc="-10" b="1">
                <a:solidFill>
                  <a:srgbClr val="CCEBFF"/>
                </a:solidFill>
                <a:latin typeface="宋体"/>
                <a:cs typeface="宋体"/>
              </a:rPr>
              <a:t>部的</a:t>
            </a:r>
            <a:r>
              <a:rPr dirty="0" sz="2800" spc="5" b="1">
                <a:solidFill>
                  <a:srgbClr val="CCEBFF"/>
                </a:solidFill>
                <a:latin typeface="宋体"/>
                <a:cs typeface="宋体"/>
              </a:rPr>
              <a:t>非</a:t>
            </a:r>
            <a:r>
              <a:rPr dirty="0" sz="2800" spc="-10" b="1">
                <a:solidFill>
                  <a:srgbClr val="CCEBFF"/>
                </a:solidFill>
                <a:latin typeface="宋体"/>
                <a:cs typeface="宋体"/>
              </a:rPr>
              <a:t>终结</a:t>
            </a:r>
            <a:r>
              <a:rPr dirty="0" sz="2800" spc="5" b="1">
                <a:solidFill>
                  <a:srgbClr val="CCEBFF"/>
                </a:solidFill>
                <a:latin typeface="宋体"/>
                <a:cs typeface="宋体"/>
              </a:rPr>
              <a:t>符</a:t>
            </a:r>
            <a:r>
              <a:rPr dirty="0" sz="2800" spc="-10" b="1">
                <a:solidFill>
                  <a:srgbClr val="CCEBFF"/>
                </a:solidFill>
                <a:latin typeface="宋体"/>
                <a:cs typeface="宋体"/>
              </a:rPr>
              <a:t>代</a:t>
            </a:r>
            <a:r>
              <a:rPr dirty="0" sz="2800" spc="5" b="1">
                <a:solidFill>
                  <a:srgbClr val="CCEBFF"/>
                </a:solidFill>
                <a:latin typeface="宋体"/>
                <a:cs typeface="宋体"/>
              </a:rPr>
              <a:t>替</a:t>
            </a:r>
            <a:r>
              <a:rPr dirty="0" sz="2800" spc="-10" b="1">
                <a:solidFill>
                  <a:srgbClr val="CCEBFF"/>
                </a:solidFill>
                <a:latin typeface="宋体"/>
                <a:cs typeface="宋体"/>
              </a:rPr>
              <a:t>之</a:t>
            </a:r>
            <a:r>
              <a:rPr dirty="0" sz="2800" spc="-15" b="1">
                <a:solidFill>
                  <a:srgbClr val="CCEB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212585" y="2402585"/>
            <a:ext cx="2656840" cy="0"/>
          </a:xfrm>
          <a:custGeom>
            <a:avLst/>
            <a:gdLst/>
            <a:ahLst/>
            <a:cxnLst/>
            <a:rect l="l" t="t" r="r" b="b"/>
            <a:pathLst>
              <a:path w="2656840" h="0">
                <a:moveTo>
                  <a:pt x="0" y="0"/>
                </a:moveTo>
                <a:lnTo>
                  <a:pt x="2656332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882890" y="2961894"/>
            <a:ext cx="652780" cy="0"/>
          </a:xfrm>
          <a:custGeom>
            <a:avLst/>
            <a:gdLst/>
            <a:ahLst/>
            <a:cxnLst/>
            <a:rect l="l" t="t" r="r" b="b"/>
            <a:pathLst>
              <a:path w="652779" h="0">
                <a:moveTo>
                  <a:pt x="0" y="0"/>
                </a:moveTo>
                <a:lnTo>
                  <a:pt x="652271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211057" y="6697989"/>
            <a:ext cx="737870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87655" rIns="0" bIns="0" rtlCol="0" vert="horz">
            <a:spAutoFit/>
          </a:bodyPr>
          <a:lstStyle/>
          <a:p>
            <a:pPr lvl="1" marL="1626235" indent="-1031875">
              <a:lnSpc>
                <a:spcPct val="100000"/>
              </a:lnSpc>
              <a:spcBef>
                <a:spcPts val="2265"/>
              </a:spcBef>
              <a:buFont typeface="Times New Roman"/>
              <a:buAutoNum type="arabicPeriod"/>
              <a:tabLst>
                <a:tab pos="1626235" algn="l"/>
                <a:tab pos="1626870" algn="l"/>
              </a:tabLst>
            </a:pPr>
            <a:r>
              <a:rPr dirty="0" sz="3600" spc="-5" b="1">
                <a:solidFill>
                  <a:srgbClr val="FFFF66"/>
                </a:solidFill>
                <a:latin typeface="宋体"/>
                <a:cs typeface="宋体"/>
              </a:rPr>
              <a:t>语法分析综述</a:t>
            </a:r>
            <a:endParaRPr sz="3600">
              <a:latin typeface="宋体"/>
              <a:cs typeface="宋体"/>
            </a:endParaRPr>
          </a:p>
          <a:p>
            <a:pPr lvl="1" marL="1626235" indent="-1031875">
              <a:lnSpc>
                <a:spcPct val="100000"/>
              </a:lnSpc>
              <a:spcBef>
                <a:spcPts val="2160"/>
              </a:spcBef>
              <a:buClr>
                <a:srgbClr val="FFFF00"/>
              </a:buClr>
              <a:buFont typeface="Times New Roman"/>
              <a:buAutoNum type="arabicPeriod"/>
              <a:tabLst>
                <a:tab pos="1626235" algn="l"/>
                <a:tab pos="1626870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不确定的自上而下分析法</a:t>
            </a:r>
            <a:endParaRPr sz="3600">
              <a:latin typeface="宋体"/>
              <a:cs typeface="宋体"/>
            </a:endParaRPr>
          </a:p>
          <a:p>
            <a:pPr lvl="1" marL="1626235" indent="-1031875">
              <a:lnSpc>
                <a:spcPct val="100000"/>
              </a:lnSpc>
              <a:spcBef>
                <a:spcPts val="2165"/>
              </a:spcBef>
              <a:buClr>
                <a:srgbClr val="FFFF00"/>
              </a:buClr>
              <a:buFont typeface="Times New Roman"/>
              <a:buAutoNum type="arabicPeriod"/>
              <a:tabLst>
                <a:tab pos="1626235" algn="l"/>
                <a:tab pos="1626870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递归下降分析法与递归下降分析器</a:t>
            </a:r>
            <a:endParaRPr sz="3600">
              <a:latin typeface="宋体"/>
              <a:cs typeface="宋体"/>
            </a:endParaRPr>
          </a:p>
          <a:p>
            <a:pPr lvl="1" marL="1626235" indent="-1031875">
              <a:lnSpc>
                <a:spcPct val="100000"/>
              </a:lnSpc>
              <a:spcBef>
                <a:spcPts val="2160"/>
              </a:spcBef>
              <a:buClr>
                <a:srgbClr val="FFFF00"/>
              </a:buClr>
              <a:buAutoNum type="arabicPeriod"/>
              <a:tabLst>
                <a:tab pos="1626235" algn="l"/>
                <a:tab pos="1626870" algn="l"/>
              </a:tabLst>
            </a:pP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LL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(1)分析法</a:t>
            </a:r>
            <a:r>
              <a:rPr dirty="0" sz="3600" b="1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LL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(1)分析器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41910">
              <a:lnSpc>
                <a:spcPts val="5275"/>
              </a:lnSpc>
              <a:spcBef>
                <a:spcPts val="105"/>
              </a:spcBef>
              <a:tabLst>
                <a:tab pos="2281555" algn="l"/>
                <a:tab pos="6634480" algn="l"/>
              </a:tabLst>
            </a:pPr>
            <a:r>
              <a:rPr dirty="0" spc="-15">
                <a:latin typeface="黑体"/>
                <a:cs typeface="黑体"/>
              </a:rPr>
              <a:t>第</a:t>
            </a:r>
            <a:r>
              <a:rPr dirty="0" spc="-1115">
                <a:latin typeface="黑体"/>
                <a:cs typeface="黑体"/>
              </a:rPr>
              <a:t> </a:t>
            </a:r>
            <a:r>
              <a:rPr dirty="0"/>
              <a:t>4</a:t>
            </a:r>
            <a:r>
              <a:rPr dirty="0" spc="-5"/>
              <a:t> </a:t>
            </a:r>
            <a:r>
              <a:rPr dirty="0" spc="-15">
                <a:latin typeface="黑体"/>
                <a:cs typeface="黑体"/>
              </a:rPr>
              <a:t>章</a:t>
            </a:r>
            <a:r>
              <a:rPr dirty="0">
                <a:latin typeface="黑体"/>
                <a:cs typeface="黑体"/>
              </a:rPr>
              <a:t>	</a:t>
            </a:r>
            <a:r>
              <a:rPr dirty="0">
                <a:latin typeface="黑体"/>
                <a:cs typeface="黑体"/>
              </a:rPr>
              <a:t>语法</a:t>
            </a:r>
            <a:r>
              <a:rPr dirty="0" spc="-15">
                <a:latin typeface="黑体"/>
                <a:cs typeface="黑体"/>
              </a:rPr>
              <a:t>分</a:t>
            </a:r>
            <a:r>
              <a:rPr dirty="0" spc="10">
                <a:latin typeface="黑体"/>
                <a:cs typeface="黑体"/>
              </a:rPr>
              <a:t>析</a:t>
            </a:r>
            <a:r>
              <a:rPr dirty="0" spc="-20"/>
              <a:t>(</a:t>
            </a:r>
            <a:r>
              <a:rPr dirty="0"/>
              <a:t>Syntax</a:t>
            </a:r>
            <a:r>
              <a:rPr dirty="0"/>
              <a:t>	</a:t>
            </a:r>
            <a:r>
              <a:rPr dirty="0"/>
              <a:t>Analysis)</a:t>
            </a:r>
          </a:p>
          <a:p>
            <a:pPr marL="4221480">
              <a:lnSpc>
                <a:spcPts val="3595"/>
              </a:lnSpc>
            </a:pPr>
            <a:r>
              <a:rPr dirty="0" sz="3000">
                <a:latin typeface="Arial"/>
                <a:cs typeface="Arial"/>
              </a:rPr>
              <a:t>——</a:t>
            </a:r>
            <a:r>
              <a:rPr dirty="0" sz="3000" spc="40">
                <a:latin typeface="Arial"/>
                <a:cs typeface="Arial"/>
              </a:rPr>
              <a:t> </a:t>
            </a:r>
            <a:r>
              <a:rPr dirty="0" sz="2800" spc="-5">
                <a:latin typeface="宋体"/>
                <a:cs typeface="宋体"/>
              </a:rPr>
              <a:t>自上而下分析法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601973" y="11378"/>
            <a:ext cx="19443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4215" algn="l"/>
              </a:tabLst>
            </a:pPr>
            <a:r>
              <a:rPr dirty="0" sz="2400" spc="-1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h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10" b="1">
                <a:solidFill>
                  <a:srgbClr val="A15100"/>
                </a:solidFill>
                <a:latin typeface="华文新魏"/>
                <a:cs typeface="华文新魏"/>
              </a:rPr>
              <a:t>语法分析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176516" y="3506723"/>
            <a:ext cx="1651000" cy="535305"/>
          </a:xfrm>
          <a:custGeom>
            <a:avLst/>
            <a:gdLst/>
            <a:ahLst/>
            <a:cxnLst/>
            <a:rect l="l" t="t" r="r" b="b"/>
            <a:pathLst>
              <a:path w="1651000" h="535304">
                <a:moveTo>
                  <a:pt x="412241" y="0"/>
                </a:moveTo>
                <a:lnTo>
                  <a:pt x="0" y="267462"/>
                </a:lnTo>
                <a:lnTo>
                  <a:pt x="412241" y="534924"/>
                </a:lnTo>
                <a:lnTo>
                  <a:pt x="412241" y="401193"/>
                </a:lnTo>
                <a:lnTo>
                  <a:pt x="1650491" y="401193"/>
                </a:lnTo>
                <a:lnTo>
                  <a:pt x="1650491" y="133731"/>
                </a:lnTo>
                <a:lnTo>
                  <a:pt x="412241" y="133731"/>
                </a:lnTo>
                <a:lnTo>
                  <a:pt x="412241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176516" y="3506723"/>
            <a:ext cx="1651000" cy="535305"/>
          </a:xfrm>
          <a:custGeom>
            <a:avLst/>
            <a:gdLst/>
            <a:ahLst/>
            <a:cxnLst/>
            <a:rect l="l" t="t" r="r" b="b"/>
            <a:pathLst>
              <a:path w="1651000" h="535304">
                <a:moveTo>
                  <a:pt x="0" y="267462"/>
                </a:moveTo>
                <a:lnTo>
                  <a:pt x="412241" y="0"/>
                </a:lnTo>
                <a:lnTo>
                  <a:pt x="412241" y="133731"/>
                </a:lnTo>
                <a:lnTo>
                  <a:pt x="1650491" y="133731"/>
                </a:lnTo>
                <a:lnTo>
                  <a:pt x="1650491" y="401193"/>
                </a:lnTo>
                <a:lnTo>
                  <a:pt x="412241" y="401193"/>
                </a:lnTo>
                <a:lnTo>
                  <a:pt x="412241" y="534924"/>
                </a:lnTo>
                <a:lnTo>
                  <a:pt x="0" y="267462"/>
                </a:lnTo>
                <a:close/>
              </a:path>
            </a:pathLst>
          </a:custGeom>
          <a:ln w="9525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40941" y="3344926"/>
            <a:ext cx="6904990" cy="1506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2" marL="1387475" indent="-1375410">
              <a:lnSpc>
                <a:spcPct val="100000"/>
              </a:lnSpc>
              <a:spcBef>
                <a:spcPts val="100"/>
              </a:spcBef>
              <a:buClr>
                <a:srgbClr val="FFFF00"/>
              </a:buClr>
              <a:buFont typeface="Times New Roman"/>
              <a:buAutoNum type="arabicPeriod"/>
              <a:tabLst>
                <a:tab pos="1387475" algn="l"/>
                <a:tab pos="1388110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一般自上而下分析</a:t>
            </a:r>
            <a:endParaRPr sz="3600">
              <a:latin typeface="宋体"/>
              <a:cs typeface="宋体"/>
            </a:endParaRPr>
          </a:p>
          <a:p>
            <a:pPr lvl="2" marL="1387475" indent="-1375410">
              <a:lnSpc>
                <a:spcPct val="100000"/>
              </a:lnSpc>
              <a:spcBef>
                <a:spcPts val="3025"/>
              </a:spcBef>
              <a:buClr>
                <a:srgbClr val="FFFF00"/>
              </a:buClr>
              <a:buFont typeface="Times New Roman"/>
              <a:buAutoNum type="arabicPeriod"/>
              <a:tabLst>
                <a:tab pos="1387475" algn="l"/>
                <a:tab pos="1388110" algn="l"/>
              </a:tabLst>
            </a:pPr>
            <a:r>
              <a:rPr dirty="0" sz="3600" spc="-10" b="1">
                <a:solidFill>
                  <a:srgbClr val="FFFFFF"/>
                </a:solidFill>
                <a:latin typeface="宋体"/>
                <a:cs typeface="宋体"/>
              </a:rPr>
              <a:t>不确定性的原因及解决方法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037831" y="3506723"/>
            <a:ext cx="1649095" cy="535305"/>
          </a:xfrm>
          <a:custGeom>
            <a:avLst/>
            <a:gdLst/>
            <a:ahLst/>
            <a:cxnLst/>
            <a:rect l="l" t="t" r="r" b="b"/>
            <a:pathLst>
              <a:path w="1649095" h="535304">
                <a:moveTo>
                  <a:pt x="412242" y="0"/>
                </a:moveTo>
                <a:lnTo>
                  <a:pt x="0" y="267462"/>
                </a:lnTo>
                <a:lnTo>
                  <a:pt x="412242" y="534924"/>
                </a:lnTo>
                <a:lnTo>
                  <a:pt x="412242" y="401193"/>
                </a:lnTo>
                <a:lnTo>
                  <a:pt x="1648968" y="401193"/>
                </a:lnTo>
                <a:lnTo>
                  <a:pt x="1648968" y="133731"/>
                </a:lnTo>
                <a:lnTo>
                  <a:pt x="412242" y="133731"/>
                </a:lnTo>
                <a:lnTo>
                  <a:pt x="412242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037831" y="3506723"/>
            <a:ext cx="1649095" cy="535305"/>
          </a:xfrm>
          <a:custGeom>
            <a:avLst/>
            <a:gdLst/>
            <a:ahLst/>
            <a:cxnLst/>
            <a:rect l="l" t="t" r="r" b="b"/>
            <a:pathLst>
              <a:path w="1649095" h="535304">
                <a:moveTo>
                  <a:pt x="0" y="267462"/>
                </a:moveTo>
                <a:lnTo>
                  <a:pt x="412242" y="0"/>
                </a:lnTo>
                <a:lnTo>
                  <a:pt x="412242" y="133731"/>
                </a:lnTo>
                <a:lnTo>
                  <a:pt x="1648968" y="133731"/>
                </a:lnTo>
                <a:lnTo>
                  <a:pt x="1648968" y="401193"/>
                </a:lnTo>
                <a:lnTo>
                  <a:pt x="412242" y="401193"/>
                </a:lnTo>
                <a:lnTo>
                  <a:pt x="412242" y="534924"/>
                </a:lnTo>
                <a:lnTo>
                  <a:pt x="0" y="267462"/>
                </a:lnTo>
                <a:close/>
              </a:path>
            </a:pathLst>
          </a:custGeom>
          <a:ln w="9525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031873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888485" y="26923"/>
            <a:ext cx="33528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不确定的自上而下分析法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221130" y="1331468"/>
            <a:ext cx="7036434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A54FA"/>
                </a:solidFill>
              </a:rPr>
              <a:t>4.2</a:t>
            </a:r>
            <a:r>
              <a:rPr dirty="0" spc="-80">
                <a:solidFill>
                  <a:srgbClr val="FA54FA"/>
                </a:solidFill>
              </a:rPr>
              <a:t> </a:t>
            </a:r>
            <a:r>
              <a:rPr dirty="0" spc="-5">
                <a:solidFill>
                  <a:srgbClr val="FA54FA"/>
                </a:solidFill>
                <a:latin typeface="宋体"/>
                <a:cs typeface="宋体"/>
              </a:rPr>
              <a:t>不确定的自上而下分析法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5231" y="26923"/>
            <a:ext cx="16319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43534" y="748030"/>
            <a:ext cx="94361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宋体"/>
                <a:cs typeface="宋体"/>
              </a:rPr>
              <a:t>例</a:t>
            </a:r>
            <a:r>
              <a:rPr dirty="0" sz="3200" spc="5"/>
              <a:t>4</a:t>
            </a:r>
            <a:r>
              <a:rPr dirty="0" sz="3200"/>
              <a:t>.4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66722" y="26923"/>
            <a:ext cx="6699884" cy="1235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7314">
              <a:lnSpc>
                <a:spcPct val="100000"/>
              </a:lnSpc>
              <a:spcBef>
                <a:spcPts val="100"/>
              </a:spcBef>
              <a:tabLst>
                <a:tab pos="614680" algn="l"/>
                <a:tab pos="3681729" algn="l"/>
                <a:tab pos="4379595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不确定的自上而下分析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4.2.1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一般自上而下分析法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设有如下文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法</a:t>
            </a:r>
            <a:r>
              <a:rPr dirty="0" sz="3200" spc="-83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和字符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串</a:t>
            </a:r>
            <a:r>
              <a:rPr dirty="0" sz="3200" spc="-82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cad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40942" y="3439109"/>
            <a:ext cx="9944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Step</a:t>
            </a:r>
            <a:r>
              <a:rPr dirty="0" u="heavy" sz="28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heavy" sz="28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77389" y="1240391"/>
            <a:ext cx="2954020" cy="2309495"/>
          </a:xfrm>
          <a:prstGeom prst="rect">
            <a:avLst/>
          </a:prstGeom>
        </p:spPr>
        <p:txBody>
          <a:bodyPr wrap="square" lIns="0" tIns="222250" rIns="0" bIns="0" rtlCol="0" vert="horz">
            <a:spAutoFit/>
          </a:bodyPr>
          <a:lstStyle/>
          <a:p>
            <a:pPr marL="698500" indent="-683260">
              <a:lnSpc>
                <a:spcPct val="100000"/>
              </a:lnSpc>
              <a:spcBef>
                <a:spcPts val="1750"/>
              </a:spcBef>
              <a:buFont typeface="Times New Roman"/>
              <a:buAutoNum type="arabicParenBoth"/>
              <a:tabLst>
                <a:tab pos="697865" algn="l"/>
                <a:tab pos="698500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cAd</a:t>
            </a:r>
            <a:endParaRPr sz="2800">
              <a:latin typeface="Times New Roman"/>
              <a:cs typeface="Times New Roman"/>
            </a:endParaRPr>
          </a:p>
          <a:p>
            <a:pPr marL="695325" indent="-683260">
              <a:lnSpc>
                <a:spcPct val="100000"/>
              </a:lnSpc>
              <a:spcBef>
                <a:spcPts val="1645"/>
              </a:spcBef>
              <a:buFont typeface="Times New Roman"/>
              <a:buAutoNum type="arabicParenBoth"/>
              <a:tabLst>
                <a:tab pos="695325" algn="l"/>
                <a:tab pos="695960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ab</a:t>
            </a:r>
            <a:r>
              <a:rPr dirty="0" sz="28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2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0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40403" y="3996944"/>
            <a:ext cx="10833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408940" algn="l"/>
                <a:tab pos="892175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93741" y="3615690"/>
            <a:ext cx="0" cy="467995"/>
          </a:xfrm>
          <a:custGeom>
            <a:avLst/>
            <a:gdLst/>
            <a:ahLst/>
            <a:cxnLst/>
            <a:rect l="l" t="t" r="r" b="b"/>
            <a:pathLst>
              <a:path w="0" h="467995">
                <a:moveTo>
                  <a:pt x="0" y="0"/>
                </a:moveTo>
                <a:lnTo>
                  <a:pt x="0" y="46786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281678" y="3595878"/>
            <a:ext cx="378460" cy="487680"/>
          </a:xfrm>
          <a:custGeom>
            <a:avLst/>
            <a:gdLst/>
            <a:ahLst/>
            <a:cxnLst/>
            <a:rect l="l" t="t" r="r" b="b"/>
            <a:pathLst>
              <a:path w="378460" h="487679">
                <a:moveTo>
                  <a:pt x="377951" y="0"/>
                </a:moveTo>
                <a:lnTo>
                  <a:pt x="0" y="48768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019294" y="3615690"/>
            <a:ext cx="259079" cy="431800"/>
          </a:xfrm>
          <a:custGeom>
            <a:avLst/>
            <a:gdLst/>
            <a:ahLst/>
            <a:cxnLst/>
            <a:rect l="l" t="t" r="r" b="b"/>
            <a:pathLst>
              <a:path w="259079" h="431800">
                <a:moveTo>
                  <a:pt x="0" y="0"/>
                </a:moveTo>
                <a:lnTo>
                  <a:pt x="259079" y="43129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240942" y="4477588"/>
            <a:ext cx="9944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Step</a:t>
            </a:r>
            <a:r>
              <a:rPr dirty="0" u="heavy" sz="2800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heavy" sz="28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526279" y="4532376"/>
            <a:ext cx="266700" cy="520065"/>
          </a:xfrm>
          <a:custGeom>
            <a:avLst/>
            <a:gdLst/>
            <a:ahLst/>
            <a:cxnLst/>
            <a:rect l="l" t="t" r="r" b="b"/>
            <a:pathLst>
              <a:path w="266700" h="520064">
                <a:moveTo>
                  <a:pt x="266700" y="0"/>
                </a:moveTo>
                <a:lnTo>
                  <a:pt x="0" y="519684"/>
                </a:lnTo>
              </a:path>
            </a:pathLst>
          </a:custGeom>
          <a:ln w="57149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869179" y="4532376"/>
            <a:ext cx="320040" cy="518159"/>
          </a:xfrm>
          <a:custGeom>
            <a:avLst/>
            <a:gdLst/>
            <a:ahLst/>
            <a:cxnLst/>
            <a:rect l="l" t="t" r="r" b="b"/>
            <a:pathLst>
              <a:path w="320039" h="518160">
                <a:moveTo>
                  <a:pt x="0" y="0"/>
                </a:moveTo>
                <a:lnTo>
                  <a:pt x="320040" y="518160"/>
                </a:lnTo>
              </a:path>
            </a:pathLst>
          </a:custGeom>
          <a:ln w="5715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229989" y="4326712"/>
            <a:ext cx="240029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00"/>
                </a:solidFill>
                <a:latin typeface="Wingdings"/>
                <a:cs typeface="Wingdings"/>
              </a:rPr>
              <a:t></a:t>
            </a:r>
            <a:endParaRPr sz="2400">
              <a:latin typeface="Wingdings"/>
              <a:cs typeface="Wingding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49008" y="3539744"/>
            <a:ext cx="121094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spc="-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cad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221473" y="3284982"/>
            <a:ext cx="76200" cy="387350"/>
          </a:xfrm>
          <a:custGeom>
            <a:avLst/>
            <a:gdLst/>
            <a:ahLst/>
            <a:cxnLst/>
            <a:rect l="l" t="t" r="r" b="b"/>
            <a:pathLst>
              <a:path w="76200" h="387350">
                <a:moveTo>
                  <a:pt x="19050" y="196595"/>
                </a:moveTo>
                <a:lnTo>
                  <a:pt x="0" y="196595"/>
                </a:lnTo>
                <a:lnTo>
                  <a:pt x="38100" y="387095"/>
                </a:lnTo>
                <a:lnTo>
                  <a:pt x="72390" y="215645"/>
                </a:lnTo>
                <a:lnTo>
                  <a:pt x="19050" y="215645"/>
                </a:lnTo>
                <a:lnTo>
                  <a:pt x="19050" y="196595"/>
                </a:lnTo>
                <a:close/>
              </a:path>
              <a:path w="76200" h="387350">
                <a:moveTo>
                  <a:pt x="57150" y="0"/>
                </a:moveTo>
                <a:lnTo>
                  <a:pt x="19050" y="0"/>
                </a:lnTo>
                <a:lnTo>
                  <a:pt x="19050" y="215645"/>
                </a:lnTo>
                <a:lnTo>
                  <a:pt x="57150" y="215645"/>
                </a:lnTo>
                <a:lnTo>
                  <a:pt x="57150" y="0"/>
                </a:lnTo>
                <a:close/>
              </a:path>
              <a:path w="76200" h="387350">
                <a:moveTo>
                  <a:pt x="76200" y="196595"/>
                </a:moveTo>
                <a:lnTo>
                  <a:pt x="57150" y="196595"/>
                </a:lnTo>
                <a:lnTo>
                  <a:pt x="57150" y="215645"/>
                </a:lnTo>
                <a:lnTo>
                  <a:pt x="72390" y="215645"/>
                </a:lnTo>
                <a:lnTo>
                  <a:pt x="76200" y="19659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674102" y="3284982"/>
            <a:ext cx="76200" cy="398145"/>
          </a:xfrm>
          <a:custGeom>
            <a:avLst/>
            <a:gdLst/>
            <a:ahLst/>
            <a:cxnLst/>
            <a:rect l="l" t="t" r="r" b="b"/>
            <a:pathLst>
              <a:path w="76200" h="398145">
                <a:moveTo>
                  <a:pt x="19050" y="207263"/>
                </a:moveTo>
                <a:lnTo>
                  <a:pt x="0" y="207263"/>
                </a:lnTo>
                <a:lnTo>
                  <a:pt x="38100" y="397763"/>
                </a:lnTo>
                <a:lnTo>
                  <a:pt x="72390" y="226313"/>
                </a:lnTo>
                <a:lnTo>
                  <a:pt x="19050" y="226313"/>
                </a:lnTo>
                <a:lnTo>
                  <a:pt x="19050" y="207263"/>
                </a:lnTo>
                <a:close/>
              </a:path>
              <a:path w="76200" h="398145">
                <a:moveTo>
                  <a:pt x="57150" y="0"/>
                </a:moveTo>
                <a:lnTo>
                  <a:pt x="19050" y="0"/>
                </a:lnTo>
                <a:lnTo>
                  <a:pt x="19050" y="226313"/>
                </a:lnTo>
                <a:lnTo>
                  <a:pt x="57150" y="226313"/>
                </a:lnTo>
                <a:lnTo>
                  <a:pt x="57150" y="0"/>
                </a:lnTo>
                <a:close/>
              </a:path>
              <a:path w="76200" h="398145">
                <a:moveTo>
                  <a:pt x="76200" y="207263"/>
                </a:moveTo>
                <a:lnTo>
                  <a:pt x="57150" y="207263"/>
                </a:lnTo>
                <a:lnTo>
                  <a:pt x="57150" y="226313"/>
                </a:lnTo>
                <a:lnTo>
                  <a:pt x="72390" y="226313"/>
                </a:lnTo>
                <a:lnTo>
                  <a:pt x="76200" y="20726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095743" y="3086100"/>
            <a:ext cx="163195" cy="596265"/>
          </a:xfrm>
          <a:custGeom>
            <a:avLst/>
            <a:gdLst/>
            <a:ahLst/>
            <a:cxnLst/>
            <a:rect l="l" t="t" r="r" b="b"/>
            <a:pathLst>
              <a:path w="163195" h="596264">
                <a:moveTo>
                  <a:pt x="0" y="595883"/>
                </a:moveTo>
                <a:lnTo>
                  <a:pt x="163067" y="595883"/>
                </a:lnTo>
                <a:lnTo>
                  <a:pt x="163067" y="0"/>
                </a:lnTo>
                <a:lnTo>
                  <a:pt x="0" y="0"/>
                </a:lnTo>
                <a:lnTo>
                  <a:pt x="0" y="595883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421118" y="3284982"/>
            <a:ext cx="76200" cy="387350"/>
          </a:xfrm>
          <a:custGeom>
            <a:avLst/>
            <a:gdLst/>
            <a:ahLst/>
            <a:cxnLst/>
            <a:rect l="l" t="t" r="r" b="b"/>
            <a:pathLst>
              <a:path w="76200" h="387350">
                <a:moveTo>
                  <a:pt x="19050" y="196595"/>
                </a:moveTo>
                <a:lnTo>
                  <a:pt x="0" y="196595"/>
                </a:lnTo>
                <a:lnTo>
                  <a:pt x="38100" y="387095"/>
                </a:lnTo>
                <a:lnTo>
                  <a:pt x="72390" y="215645"/>
                </a:lnTo>
                <a:lnTo>
                  <a:pt x="19050" y="215645"/>
                </a:lnTo>
                <a:lnTo>
                  <a:pt x="19050" y="196595"/>
                </a:lnTo>
                <a:close/>
              </a:path>
              <a:path w="76200" h="387350">
                <a:moveTo>
                  <a:pt x="57150" y="0"/>
                </a:moveTo>
                <a:lnTo>
                  <a:pt x="19050" y="0"/>
                </a:lnTo>
                <a:lnTo>
                  <a:pt x="19050" y="215645"/>
                </a:lnTo>
                <a:lnTo>
                  <a:pt x="57150" y="215645"/>
                </a:lnTo>
                <a:lnTo>
                  <a:pt x="57150" y="0"/>
                </a:lnTo>
                <a:close/>
              </a:path>
              <a:path w="76200" h="387350">
                <a:moveTo>
                  <a:pt x="76200" y="196595"/>
                </a:moveTo>
                <a:lnTo>
                  <a:pt x="57150" y="196595"/>
                </a:lnTo>
                <a:lnTo>
                  <a:pt x="57150" y="215645"/>
                </a:lnTo>
                <a:lnTo>
                  <a:pt x="72390" y="215645"/>
                </a:lnTo>
                <a:lnTo>
                  <a:pt x="76200" y="19659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441825" y="4977841"/>
            <a:ext cx="812800" cy="7950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ts val="3270"/>
              </a:lnSpc>
              <a:spcBef>
                <a:spcPts val="95"/>
              </a:spcBef>
              <a:tabLst>
                <a:tab pos="621665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 marL="5080">
              <a:lnSpc>
                <a:spcPts val="2790"/>
              </a:lnSpc>
            </a:pPr>
            <a:r>
              <a:rPr dirty="0" sz="2400">
                <a:solidFill>
                  <a:srgbClr val="FFFF00"/>
                </a:solidFill>
                <a:latin typeface="Wingdings"/>
                <a:cs typeface="Wingdings"/>
              </a:rPr>
              <a:t></a:t>
            </a:r>
            <a:endParaRPr sz="2400">
              <a:latin typeface="Wingdings"/>
              <a:cs typeface="Wingding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258811" y="3086100"/>
            <a:ext cx="304800" cy="596265"/>
          </a:xfrm>
          <a:custGeom>
            <a:avLst/>
            <a:gdLst/>
            <a:ahLst/>
            <a:cxnLst/>
            <a:rect l="l" t="t" r="r" b="b"/>
            <a:pathLst>
              <a:path w="304800" h="596264">
                <a:moveTo>
                  <a:pt x="0" y="595883"/>
                </a:moveTo>
                <a:lnTo>
                  <a:pt x="304800" y="595883"/>
                </a:lnTo>
                <a:lnTo>
                  <a:pt x="304800" y="0"/>
                </a:lnTo>
                <a:lnTo>
                  <a:pt x="0" y="0"/>
                </a:lnTo>
                <a:lnTo>
                  <a:pt x="0" y="595883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7145273" y="3873246"/>
            <a:ext cx="6654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2314" sz="3600" spc="-697">
                <a:solidFill>
                  <a:srgbClr val="FFFF00"/>
                </a:solidFill>
                <a:latin typeface="Wingdings"/>
                <a:cs typeface="Wingdings"/>
              </a:rPr>
              <a:t></a:t>
            </a:r>
            <a:r>
              <a:rPr dirty="0" baseline="2314" sz="3600" spc="-112">
                <a:solidFill>
                  <a:srgbClr val="FFFF00"/>
                </a:solidFill>
                <a:latin typeface="Wingdings"/>
                <a:cs typeface="Wingdings"/>
              </a:rPr>
              <a:t></a:t>
            </a:r>
            <a:r>
              <a:rPr dirty="0" sz="2800" spc="-5" b="1">
                <a:solidFill>
                  <a:srgbClr val="FFFF00"/>
                </a:solidFill>
                <a:latin typeface="Wingdings 2"/>
                <a:cs typeface="Wingdings 2"/>
              </a:rPr>
              <a:t></a:t>
            </a:r>
            <a:endParaRPr sz="2800">
              <a:latin typeface="Wingdings 2"/>
              <a:cs typeface="Wingdings 2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219700" y="4143755"/>
            <a:ext cx="2543810" cy="1431290"/>
          </a:xfrm>
          <a:custGeom>
            <a:avLst/>
            <a:gdLst/>
            <a:ahLst/>
            <a:cxnLst/>
            <a:rect l="l" t="t" r="r" b="b"/>
            <a:pathLst>
              <a:path w="2543809" h="1431289">
                <a:moveTo>
                  <a:pt x="0" y="1228217"/>
                </a:moveTo>
                <a:lnTo>
                  <a:pt x="51780" y="1243105"/>
                </a:lnTo>
                <a:lnTo>
                  <a:pt x="103548" y="1257932"/>
                </a:lnTo>
                <a:lnTo>
                  <a:pt x="155280" y="1272622"/>
                </a:lnTo>
                <a:lnTo>
                  <a:pt x="206953" y="1287105"/>
                </a:lnTo>
                <a:lnTo>
                  <a:pt x="258544" y="1301306"/>
                </a:lnTo>
                <a:lnTo>
                  <a:pt x="310030" y="1315153"/>
                </a:lnTo>
                <a:lnTo>
                  <a:pt x="361388" y="1328573"/>
                </a:lnTo>
                <a:lnTo>
                  <a:pt x="412596" y="1341493"/>
                </a:lnTo>
                <a:lnTo>
                  <a:pt x="463629" y="1353840"/>
                </a:lnTo>
                <a:lnTo>
                  <a:pt x="514465" y="1365541"/>
                </a:lnTo>
                <a:lnTo>
                  <a:pt x="565081" y="1376524"/>
                </a:lnTo>
                <a:lnTo>
                  <a:pt x="615454" y="1386715"/>
                </a:lnTo>
                <a:lnTo>
                  <a:pt x="665561" y="1396041"/>
                </a:lnTo>
                <a:lnTo>
                  <a:pt x="715378" y="1404430"/>
                </a:lnTo>
                <a:lnTo>
                  <a:pt x="764883" y="1411809"/>
                </a:lnTo>
                <a:lnTo>
                  <a:pt x="814052" y="1418105"/>
                </a:lnTo>
                <a:lnTo>
                  <a:pt x="862863" y="1423245"/>
                </a:lnTo>
                <a:lnTo>
                  <a:pt x="911293" y="1427155"/>
                </a:lnTo>
                <a:lnTo>
                  <a:pt x="959318" y="1429764"/>
                </a:lnTo>
                <a:lnTo>
                  <a:pt x="1006916" y="1430998"/>
                </a:lnTo>
                <a:lnTo>
                  <a:pt x="1054063" y="1430785"/>
                </a:lnTo>
                <a:lnTo>
                  <a:pt x="1100736" y="1429051"/>
                </a:lnTo>
                <a:lnTo>
                  <a:pt x="1146913" y="1425723"/>
                </a:lnTo>
                <a:lnTo>
                  <a:pt x="1192569" y="1420729"/>
                </a:lnTo>
                <a:lnTo>
                  <a:pt x="1237683" y="1413996"/>
                </a:lnTo>
                <a:lnTo>
                  <a:pt x="1282232" y="1405451"/>
                </a:lnTo>
                <a:lnTo>
                  <a:pt x="1326191" y="1395021"/>
                </a:lnTo>
                <a:lnTo>
                  <a:pt x="1369538" y="1382633"/>
                </a:lnTo>
                <a:lnTo>
                  <a:pt x="1412251" y="1368214"/>
                </a:lnTo>
                <a:lnTo>
                  <a:pt x="1454305" y="1351691"/>
                </a:lnTo>
                <a:lnTo>
                  <a:pt x="1495678" y="1332992"/>
                </a:lnTo>
                <a:lnTo>
                  <a:pt x="1531741" y="1314570"/>
                </a:lnTo>
                <a:lnTo>
                  <a:pt x="1567268" y="1294435"/>
                </a:lnTo>
                <a:lnTo>
                  <a:pt x="1602274" y="1272637"/>
                </a:lnTo>
                <a:lnTo>
                  <a:pt x="1636776" y="1249227"/>
                </a:lnTo>
                <a:lnTo>
                  <a:pt x="1670790" y="1224256"/>
                </a:lnTo>
                <a:lnTo>
                  <a:pt x="1704331" y="1197773"/>
                </a:lnTo>
                <a:lnTo>
                  <a:pt x="1737416" y="1169830"/>
                </a:lnTo>
                <a:lnTo>
                  <a:pt x="1770061" y="1140477"/>
                </a:lnTo>
                <a:lnTo>
                  <a:pt x="1802282" y="1109765"/>
                </a:lnTo>
                <a:lnTo>
                  <a:pt x="1834094" y="1077744"/>
                </a:lnTo>
                <a:lnTo>
                  <a:pt x="1865514" y="1044466"/>
                </a:lnTo>
                <a:lnTo>
                  <a:pt x="1896558" y="1009980"/>
                </a:lnTo>
                <a:lnTo>
                  <a:pt x="1927241" y="974337"/>
                </a:lnTo>
                <a:lnTo>
                  <a:pt x="1957581" y="937589"/>
                </a:lnTo>
                <a:lnTo>
                  <a:pt x="1987592" y="899785"/>
                </a:lnTo>
                <a:lnTo>
                  <a:pt x="2017291" y="860975"/>
                </a:lnTo>
                <a:lnTo>
                  <a:pt x="2046694" y="821212"/>
                </a:lnTo>
                <a:lnTo>
                  <a:pt x="2075816" y="780545"/>
                </a:lnTo>
                <a:lnTo>
                  <a:pt x="2104675" y="739025"/>
                </a:lnTo>
                <a:lnTo>
                  <a:pt x="2133285" y="696703"/>
                </a:lnTo>
                <a:lnTo>
                  <a:pt x="2161663" y="653629"/>
                </a:lnTo>
                <a:lnTo>
                  <a:pt x="2189826" y="609854"/>
                </a:lnTo>
                <a:lnTo>
                  <a:pt x="2217788" y="565428"/>
                </a:lnTo>
                <a:lnTo>
                  <a:pt x="2245566" y="520402"/>
                </a:lnTo>
                <a:lnTo>
                  <a:pt x="2273176" y="474827"/>
                </a:lnTo>
                <a:lnTo>
                  <a:pt x="2300634" y="428753"/>
                </a:lnTo>
                <a:lnTo>
                  <a:pt x="2327956" y="382231"/>
                </a:lnTo>
                <a:lnTo>
                  <a:pt x="2355158" y="335312"/>
                </a:lnTo>
                <a:lnTo>
                  <a:pt x="2382255" y="288046"/>
                </a:lnTo>
                <a:lnTo>
                  <a:pt x="2409265" y="240483"/>
                </a:lnTo>
                <a:lnTo>
                  <a:pt x="2436203" y="192675"/>
                </a:lnTo>
                <a:lnTo>
                  <a:pt x="2463085" y="144672"/>
                </a:lnTo>
                <a:lnTo>
                  <a:pt x="2489927" y="96525"/>
                </a:lnTo>
                <a:lnTo>
                  <a:pt x="2516745" y="48284"/>
                </a:lnTo>
                <a:lnTo>
                  <a:pt x="2543555" y="0"/>
                </a:lnTo>
              </a:path>
            </a:pathLst>
          </a:custGeom>
          <a:ln w="57150">
            <a:solidFill>
              <a:srgbClr val="FFCC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56881" y="2187701"/>
            <a:ext cx="76200" cy="411480"/>
          </a:xfrm>
          <a:custGeom>
            <a:avLst/>
            <a:gdLst/>
            <a:ahLst/>
            <a:cxnLst/>
            <a:rect l="l" t="t" r="r" b="b"/>
            <a:pathLst>
              <a:path w="76200" h="411480">
                <a:moveTo>
                  <a:pt x="19050" y="220980"/>
                </a:moveTo>
                <a:lnTo>
                  <a:pt x="0" y="220980"/>
                </a:lnTo>
                <a:lnTo>
                  <a:pt x="38100" y="411480"/>
                </a:lnTo>
                <a:lnTo>
                  <a:pt x="72390" y="240030"/>
                </a:lnTo>
                <a:lnTo>
                  <a:pt x="19050" y="240030"/>
                </a:lnTo>
                <a:lnTo>
                  <a:pt x="19050" y="220980"/>
                </a:lnTo>
                <a:close/>
              </a:path>
              <a:path w="76200" h="411480">
                <a:moveTo>
                  <a:pt x="57150" y="0"/>
                </a:moveTo>
                <a:lnTo>
                  <a:pt x="19050" y="0"/>
                </a:lnTo>
                <a:lnTo>
                  <a:pt x="19050" y="240030"/>
                </a:lnTo>
                <a:lnTo>
                  <a:pt x="57150" y="240030"/>
                </a:lnTo>
                <a:lnTo>
                  <a:pt x="57150" y="0"/>
                </a:lnTo>
                <a:close/>
              </a:path>
              <a:path w="76200" h="411480">
                <a:moveTo>
                  <a:pt x="76200" y="220980"/>
                </a:moveTo>
                <a:lnTo>
                  <a:pt x="57150" y="220980"/>
                </a:lnTo>
                <a:lnTo>
                  <a:pt x="57150" y="240030"/>
                </a:lnTo>
                <a:lnTo>
                  <a:pt x="72390" y="240030"/>
                </a:lnTo>
                <a:lnTo>
                  <a:pt x="76200" y="22098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035545" y="2980182"/>
            <a:ext cx="424180" cy="523240"/>
          </a:xfrm>
          <a:custGeom>
            <a:avLst/>
            <a:gdLst/>
            <a:ahLst/>
            <a:cxnLst/>
            <a:rect l="l" t="t" r="r" b="b"/>
            <a:pathLst>
              <a:path w="424179" h="523239">
                <a:moveTo>
                  <a:pt x="0" y="522732"/>
                </a:moveTo>
                <a:lnTo>
                  <a:pt x="423672" y="522732"/>
                </a:lnTo>
                <a:lnTo>
                  <a:pt x="423672" y="0"/>
                </a:lnTo>
                <a:lnTo>
                  <a:pt x="0" y="0"/>
                </a:lnTo>
                <a:lnTo>
                  <a:pt x="0" y="522732"/>
                </a:lnTo>
                <a:close/>
              </a:path>
            </a:pathLst>
          </a:custGeom>
          <a:solidFill>
            <a:srgbClr val="2144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035545" y="2980182"/>
            <a:ext cx="424180" cy="523240"/>
          </a:xfrm>
          <a:custGeom>
            <a:avLst/>
            <a:gdLst/>
            <a:ahLst/>
            <a:cxnLst/>
            <a:rect l="l" t="t" r="r" b="b"/>
            <a:pathLst>
              <a:path w="424179" h="523239">
                <a:moveTo>
                  <a:pt x="0" y="522732"/>
                </a:moveTo>
                <a:lnTo>
                  <a:pt x="423672" y="522732"/>
                </a:lnTo>
                <a:lnTo>
                  <a:pt x="423672" y="0"/>
                </a:lnTo>
                <a:lnTo>
                  <a:pt x="0" y="0"/>
                </a:lnTo>
                <a:lnTo>
                  <a:pt x="0" y="522732"/>
                </a:lnTo>
                <a:close/>
              </a:path>
            </a:pathLst>
          </a:custGeom>
          <a:ln w="38100">
            <a:solidFill>
              <a:srgbClr val="2144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244460" y="2159507"/>
            <a:ext cx="180975" cy="410209"/>
          </a:xfrm>
          <a:custGeom>
            <a:avLst/>
            <a:gdLst/>
            <a:ahLst/>
            <a:cxnLst/>
            <a:rect l="l" t="t" r="r" b="b"/>
            <a:pathLst>
              <a:path w="180975" h="410210">
                <a:moveTo>
                  <a:pt x="60325" y="108330"/>
                </a:moveTo>
                <a:lnTo>
                  <a:pt x="0" y="108330"/>
                </a:lnTo>
                <a:lnTo>
                  <a:pt x="90550" y="409955"/>
                </a:lnTo>
                <a:lnTo>
                  <a:pt x="171951" y="138429"/>
                </a:lnTo>
                <a:lnTo>
                  <a:pt x="60325" y="138429"/>
                </a:lnTo>
                <a:lnTo>
                  <a:pt x="60325" y="108330"/>
                </a:lnTo>
                <a:close/>
              </a:path>
              <a:path w="180975" h="410210">
                <a:moveTo>
                  <a:pt x="120650" y="0"/>
                </a:moveTo>
                <a:lnTo>
                  <a:pt x="60325" y="0"/>
                </a:lnTo>
                <a:lnTo>
                  <a:pt x="60325" y="138429"/>
                </a:lnTo>
                <a:lnTo>
                  <a:pt x="120650" y="138429"/>
                </a:lnTo>
                <a:lnTo>
                  <a:pt x="120650" y="0"/>
                </a:lnTo>
                <a:close/>
              </a:path>
              <a:path w="180975" h="410210">
                <a:moveTo>
                  <a:pt x="180975" y="108330"/>
                </a:moveTo>
                <a:lnTo>
                  <a:pt x="120650" y="108330"/>
                </a:lnTo>
                <a:lnTo>
                  <a:pt x="120650" y="138429"/>
                </a:lnTo>
                <a:lnTo>
                  <a:pt x="171951" y="138429"/>
                </a:lnTo>
                <a:lnTo>
                  <a:pt x="180975" y="108330"/>
                </a:lnTo>
                <a:close/>
              </a:path>
            </a:pathLst>
          </a:custGeom>
          <a:solidFill>
            <a:srgbClr val="2144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31342" y="2610738"/>
            <a:ext cx="9931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S</a:t>
            </a:r>
            <a:r>
              <a:rPr dirty="0" u="heavy" sz="2800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t</a:t>
            </a:r>
            <a:r>
              <a:rPr dirty="0" u="heavy" sz="28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ep3: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05231" y="26923"/>
            <a:ext cx="22009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186880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69210" y="26923"/>
            <a:ext cx="28454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不确定的自上而下分析法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36133" y="26923"/>
            <a:ext cx="30308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0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4.2.1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一般自上而下分析法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49174" y="706373"/>
            <a:ext cx="2933700" cy="1199515"/>
          </a:xfrm>
          <a:custGeom>
            <a:avLst/>
            <a:gdLst/>
            <a:ahLst/>
            <a:cxnLst/>
            <a:rect l="l" t="t" r="r" b="b"/>
            <a:pathLst>
              <a:path w="2933700" h="1199514">
                <a:moveTo>
                  <a:pt x="0" y="1199388"/>
                </a:moveTo>
                <a:lnTo>
                  <a:pt x="2933700" y="1199388"/>
                </a:lnTo>
                <a:lnTo>
                  <a:pt x="2933700" y="0"/>
                </a:lnTo>
                <a:lnTo>
                  <a:pt x="0" y="0"/>
                </a:lnTo>
                <a:lnTo>
                  <a:pt x="0" y="1199388"/>
                </a:lnTo>
                <a:close/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39242" y="548792"/>
            <a:ext cx="2162810" cy="1306195"/>
          </a:xfrm>
          <a:prstGeom prst="rect">
            <a:avLst/>
          </a:prstGeom>
        </p:spPr>
        <p:txBody>
          <a:bodyPr wrap="square" lIns="0" tIns="226060" rIns="0" bIns="0" rtlCol="0" vert="horz">
            <a:spAutoFit/>
          </a:bodyPr>
          <a:lstStyle/>
          <a:p>
            <a:pPr marL="682625" indent="-683260">
              <a:lnSpc>
                <a:spcPct val="100000"/>
              </a:lnSpc>
              <a:spcBef>
                <a:spcPts val="1780"/>
              </a:spcBef>
              <a:buFont typeface="Times New Roman"/>
              <a:buAutoNum type="arabicParenBoth"/>
              <a:tabLst>
                <a:tab pos="682625" algn="l"/>
                <a:tab pos="683260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cAd</a:t>
            </a:r>
            <a:endParaRPr sz="2800">
              <a:latin typeface="Times New Roman"/>
              <a:cs typeface="Times New Roman"/>
            </a:endParaRPr>
          </a:p>
          <a:p>
            <a:pPr marL="682625" indent="-683260">
              <a:lnSpc>
                <a:spcPct val="100000"/>
              </a:lnSpc>
              <a:spcBef>
                <a:spcPts val="1685"/>
              </a:spcBef>
              <a:buFont typeface="Times New Roman"/>
              <a:buAutoNum type="arabicParenBoth"/>
              <a:tabLst>
                <a:tab pos="682625" algn="l"/>
                <a:tab pos="683260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ab</a:t>
            </a:r>
            <a:r>
              <a:rPr dirty="0" sz="2800" spc="-8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2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12716" y="1216533"/>
            <a:ext cx="2228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13098" y="2115438"/>
            <a:ext cx="1581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09820" y="2115438"/>
            <a:ext cx="6737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95300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298441" y="1735073"/>
            <a:ext cx="0" cy="467995"/>
          </a:xfrm>
          <a:custGeom>
            <a:avLst/>
            <a:gdLst/>
            <a:ahLst/>
            <a:cxnLst/>
            <a:rect l="l" t="t" r="r" b="b"/>
            <a:pathLst>
              <a:path w="0" h="467994">
                <a:moveTo>
                  <a:pt x="0" y="0"/>
                </a:moveTo>
                <a:lnTo>
                  <a:pt x="0" y="46786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786378" y="1715261"/>
            <a:ext cx="378460" cy="487680"/>
          </a:xfrm>
          <a:custGeom>
            <a:avLst/>
            <a:gdLst/>
            <a:ahLst/>
            <a:cxnLst/>
            <a:rect l="l" t="t" r="r" b="b"/>
            <a:pathLst>
              <a:path w="378460" h="487680">
                <a:moveTo>
                  <a:pt x="377951" y="0"/>
                </a:moveTo>
                <a:lnTo>
                  <a:pt x="0" y="487679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523994" y="1735073"/>
            <a:ext cx="259079" cy="431800"/>
          </a:xfrm>
          <a:custGeom>
            <a:avLst/>
            <a:gdLst/>
            <a:ahLst/>
            <a:cxnLst/>
            <a:rect l="l" t="t" r="r" b="b"/>
            <a:pathLst>
              <a:path w="259079" h="431800">
                <a:moveTo>
                  <a:pt x="0" y="0"/>
                </a:moveTo>
                <a:lnTo>
                  <a:pt x="259079" y="431291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867150" y="3058413"/>
            <a:ext cx="8128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34365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925823" y="2660904"/>
            <a:ext cx="266700" cy="518159"/>
          </a:xfrm>
          <a:custGeom>
            <a:avLst/>
            <a:gdLst/>
            <a:ahLst/>
            <a:cxnLst/>
            <a:rect l="l" t="t" r="r" b="b"/>
            <a:pathLst>
              <a:path w="266700" h="518160">
                <a:moveTo>
                  <a:pt x="266700" y="0"/>
                </a:moveTo>
                <a:lnTo>
                  <a:pt x="0" y="518160"/>
                </a:lnTo>
              </a:path>
            </a:pathLst>
          </a:custGeom>
          <a:ln w="57149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297679" y="2651760"/>
            <a:ext cx="320040" cy="516890"/>
          </a:xfrm>
          <a:custGeom>
            <a:avLst/>
            <a:gdLst/>
            <a:ahLst/>
            <a:cxnLst/>
            <a:rect l="l" t="t" r="r" b="b"/>
            <a:pathLst>
              <a:path w="320039" h="516889">
                <a:moveTo>
                  <a:pt x="0" y="0"/>
                </a:moveTo>
                <a:lnTo>
                  <a:pt x="320040" y="516636"/>
                </a:lnTo>
              </a:path>
            </a:pathLst>
          </a:custGeom>
          <a:ln w="5715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713098" y="2522346"/>
            <a:ext cx="24002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00"/>
                </a:solidFill>
                <a:latin typeface="Wingdings"/>
                <a:cs typeface="Wingdings"/>
              </a:rPr>
              <a:t></a:t>
            </a:r>
            <a:endParaRPr sz="2400">
              <a:latin typeface="Wingdings"/>
              <a:cs typeface="Wingding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25032" y="2555239"/>
            <a:ext cx="121031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spc="-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cad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291578" y="2187701"/>
            <a:ext cx="76200" cy="411480"/>
          </a:xfrm>
          <a:custGeom>
            <a:avLst/>
            <a:gdLst/>
            <a:ahLst/>
            <a:cxnLst/>
            <a:rect l="l" t="t" r="r" b="b"/>
            <a:pathLst>
              <a:path w="76200" h="411480">
                <a:moveTo>
                  <a:pt x="19050" y="220980"/>
                </a:moveTo>
                <a:lnTo>
                  <a:pt x="0" y="220980"/>
                </a:lnTo>
                <a:lnTo>
                  <a:pt x="38100" y="411480"/>
                </a:lnTo>
                <a:lnTo>
                  <a:pt x="72390" y="240030"/>
                </a:lnTo>
                <a:lnTo>
                  <a:pt x="19050" y="240030"/>
                </a:lnTo>
                <a:lnTo>
                  <a:pt x="19050" y="220980"/>
                </a:lnTo>
                <a:close/>
              </a:path>
              <a:path w="76200" h="411480">
                <a:moveTo>
                  <a:pt x="57150" y="0"/>
                </a:moveTo>
                <a:lnTo>
                  <a:pt x="19050" y="0"/>
                </a:lnTo>
                <a:lnTo>
                  <a:pt x="19050" y="240030"/>
                </a:lnTo>
                <a:lnTo>
                  <a:pt x="57150" y="240030"/>
                </a:lnTo>
                <a:lnTo>
                  <a:pt x="57150" y="0"/>
                </a:lnTo>
                <a:close/>
              </a:path>
              <a:path w="76200" h="411480">
                <a:moveTo>
                  <a:pt x="76200" y="220980"/>
                </a:moveTo>
                <a:lnTo>
                  <a:pt x="57150" y="220980"/>
                </a:lnTo>
                <a:lnTo>
                  <a:pt x="57150" y="240030"/>
                </a:lnTo>
                <a:lnTo>
                  <a:pt x="72390" y="240030"/>
                </a:lnTo>
                <a:lnTo>
                  <a:pt x="76200" y="22098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31342" y="3374516"/>
            <a:ext cx="9931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S</a:t>
            </a:r>
            <a:r>
              <a:rPr dirty="0" u="heavy" sz="2800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t</a:t>
            </a:r>
            <a:r>
              <a:rPr dirty="0" u="heavy" sz="28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ep4: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30573" y="3259963"/>
            <a:ext cx="59499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65760" indent="-340995">
              <a:lnSpc>
                <a:spcPct val="100000"/>
              </a:lnSpc>
              <a:spcBef>
                <a:spcPts val="105"/>
              </a:spcBef>
              <a:buClr>
                <a:srgbClr val="FFFF00"/>
              </a:buClr>
              <a:buSzPct val="75000"/>
              <a:buFont typeface="Wingdings"/>
              <a:buChar char=""/>
              <a:tabLst>
                <a:tab pos="366395" algn="l"/>
              </a:tabLst>
            </a:pPr>
            <a:r>
              <a:rPr dirty="0" baseline="-17361" sz="4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baseline="-17361" sz="4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251959" y="2673095"/>
            <a:ext cx="0" cy="711835"/>
          </a:xfrm>
          <a:custGeom>
            <a:avLst/>
            <a:gdLst/>
            <a:ahLst/>
            <a:cxnLst/>
            <a:rect l="l" t="t" r="r" b="b"/>
            <a:pathLst>
              <a:path w="0" h="711835">
                <a:moveTo>
                  <a:pt x="0" y="0"/>
                </a:moveTo>
                <a:lnTo>
                  <a:pt x="0" y="711707"/>
                </a:lnTo>
              </a:path>
            </a:pathLst>
          </a:custGeom>
          <a:ln w="5715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661027" y="2528061"/>
            <a:ext cx="2794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FFFF00"/>
                </a:solidFill>
                <a:latin typeface="Wingdings"/>
                <a:cs typeface="Wingdings"/>
              </a:rPr>
              <a:t></a:t>
            </a:r>
            <a:endParaRPr sz="2800">
              <a:latin typeface="Wingdings"/>
              <a:cs typeface="Wingding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59079" y="4500371"/>
            <a:ext cx="8537448" cy="18592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259079" y="3683427"/>
            <a:ext cx="8537575" cy="2681605"/>
          </a:xfrm>
          <a:prstGeom prst="rect">
            <a:avLst/>
          </a:prstGeom>
        </p:spPr>
        <p:txBody>
          <a:bodyPr wrap="square" lIns="0" tIns="180975" rIns="0" bIns="0" rtlCol="0" vert="horz">
            <a:spAutoFit/>
          </a:bodyPr>
          <a:lstStyle/>
          <a:p>
            <a:pPr algn="ctr" marR="383540">
              <a:lnSpc>
                <a:spcPct val="100000"/>
              </a:lnSpc>
              <a:spcBef>
                <a:spcPts val="1425"/>
              </a:spcBef>
            </a:pPr>
            <a:r>
              <a:rPr dirty="0" sz="2800" spc="-5">
                <a:solidFill>
                  <a:srgbClr val="FFFF00"/>
                </a:solidFill>
                <a:latin typeface="Wingdings"/>
                <a:cs typeface="Wingdings"/>
              </a:rPr>
              <a:t></a:t>
            </a:r>
            <a:endParaRPr sz="2800">
              <a:latin typeface="Wingdings"/>
              <a:cs typeface="Wingdings"/>
            </a:endParaRPr>
          </a:p>
          <a:p>
            <a:pPr marL="570865" indent="-469900">
              <a:lnSpc>
                <a:spcPct val="100000"/>
              </a:lnSpc>
              <a:spcBef>
                <a:spcPts val="1530"/>
              </a:spcBef>
              <a:tabLst>
                <a:tab pos="774065" algn="l"/>
              </a:tabLst>
            </a:pPr>
            <a:r>
              <a:rPr dirty="0" sz="3200" b="1">
                <a:solidFill>
                  <a:srgbClr val="0033CC"/>
                </a:solidFill>
                <a:latin typeface="Webdings"/>
                <a:cs typeface="Webdings"/>
              </a:rPr>
              <a:t></a:t>
            </a:r>
            <a:r>
              <a:rPr dirty="0" sz="3200">
                <a:solidFill>
                  <a:srgbClr val="0033CC"/>
                </a:solidFill>
                <a:latin typeface="Times New Roman"/>
                <a:cs typeface="Times New Roman"/>
              </a:rPr>
              <a:t>		</a:t>
            </a:r>
            <a:r>
              <a:rPr dirty="0" sz="3000" spc="-5" b="1">
                <a:latin typeface="宋体"/>
                <a:cs typeface="宋体"/>
              </a:rPr>
              <a:t>分析的本质是一种带回溯的自上而下分</a:t>
            </a:r>
            <a:r>
              <a:rPr dirty="0" sz="3000" b="1">
                <a:latin typeface="宋体"/>
                <a:cs typeface="宋体"/>
              </a:rPr>
              <a:t>析</a:t>
            </a:r>
            <a:r>
              <a:rPr dirty="0" sz="3000" spc="5" b="1">
                <a:latin typeface="Times New Roman"/>
                <a:cs typeface="Times New Roman"/>
              </a:rPr>
              <a:t>,</a:t>
            </a:r>
            <a:r>
              <a:rPr dirty="0" sz="3000" spc="-15" b="1">
                <a:latin typeface="宋体"/>
                <a:cs typeface="宋体"/>
              </a:rPr>
              <a:t>是</a:t>
            </a:r>
            <a:endParaRPr sz="3000">
              <a:latin typeface="宋体"/>
              <a:cs typeface="宋体"/>
            </a:endParaRPr>
          </a:p>
          <a:p>
            <a:pPr marL="474980" marR="15875" indent="95885">
              <a:lnSpc>
                <a:spcPct val="150100"/>
              </a:lnSpc>
              <a:spcBef>
                <a:spcPts val="50"/>
              </a:spcBef>
            </a:pPr>
            <a:r>
              <a:rPr dirty="0" sz="3000" b="1">
                <a:latin typeface="宋体"/>
                <a:cs typeface="宋体"/>
              </a:rPr>
              <a:t>一试探推导的过程，即反复使用不同的产生式 </a:t>
            </a:r>
            <a:r>
              <a:rPr dirty="0" sz="3000" spc="-5" b="1">
                <a:latin typeface="宋体"/>
                <a:cs typeface="宋体"/>
              </a:rPr>
              <a:t>去谋求匹配输入串的过程。算法效率低开销大。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6821169" y="2880182"/>
            <a:ext cx="6661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-395">
                <a:solidFill>
                  <a:srgbClr val="FFFF00"/>
                </a:solidFill>
                <a:latin typeface="Wingdings"/>
                <a:cs typeface="Wingdings"/>
              </a:rPr>
              <a:t></a:t>
            </a:r>
            <a:r>
              <a:rPr dirty="0" baseline="-2976" sz="4200" spc="-3262">
                <a:solidFill>
                  <a:srgbClr val="FFFF00"/>
                </a:solidFill>
                <a:latin typeface="Wingdings"/>
                <a:cs typeface="Wingdings"/>
              </a:rPr>
              <a:t></a:t>
            </a:r>
            <a:r>
              <a:rPr dirty="0" sz="2400" spc="-565">
                <a:solidFill>
                  <a:srgbClr val="FFFF00"/>
                </a:solidFill>
                <a:latin typeface="Wingdings"/>
                <a:cs typeface="Wingdings"/>
              </a:rPr>
              <a:t></a:t>
            </a:r>
            <a:r>
              <a:rPr dirty="0" sz="2800" spc="-5">
                <a:solidFill>
                  <a:srgbClr val="FFFF00"/>
                </a:solidFill>
                <a:latin typeface="Wingdings"/>
                <a:cs typeface="Wingdings"/>
              </a:rPr>
              <a:t></a:t>
            </a:r>
            <a:endParaRPr sz="28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3242" y="804748"/>
            <a:ext cx="944244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宋体"/>
                <a:cs typeface="宋体"/>
              </a:rPr>
              <a:t>例</a:t>
            </a:r>
            <a:r>
              <a:rPr dirty="0" sz="3200"/>
              <a:t>4.5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64614" y="856564"/>
            <a:ext cx="41725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设有文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法</a:t>
            </a:r>
            <a:r>
              <a:rPr dirty="0" sz="2800" spc="-72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和输入字符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串</a:t>
            </a:r>
            <a:r>
              <a:rPr dirty="0" sz="2800" spc="-70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38705" y="1532382"/>
            <a:ext cx="362204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68680" algn="l"/>
                <a:tab pos="1187450" algn="l"/>
                <a:tab pos="2219325" algn="l"/>
                <a:tab pos="3072765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: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	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→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	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|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Ia	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|</a:t>
            </a:r>
            <a:r>
              <a:rPr dirty="0" sz="2800" spc="-1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66138" y="2019757"/>
            <a:ext cx="134366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r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800" spc="-17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73300" y="2916758"/>
            <a:ext cx="1638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66900" y="3418332"/>
            <a:ext cx="393700" cy="288290"/>
          </a:xfrm>
          <a:custGeom>
            <a:avLst/>
            <a:gdLst/>
            <a:ahLst/>
            <a:cxnLst/>
            <a:rect l="l" t="t" r="r" b="b"/>
            <a:pathLst>
              <a:path w="393700" h="288289">
                <a:moveTo>
                  <a:pt x="393192" y="0"/>
                </a:moveTo>
                <a:lnTo>
                  <a:pt x="0" y="288035"/>
                </a:lnTo>
              </a:path>
            </a:pathLst>
          </a:custGeom>
          <a:ln w="571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438400" y="3418332"/>
            <a:ext cx="393700" cy="288290"/>
          </a:xfrm>
          <a:custGeom>
            <a:avLst/>
            <a:gdLst/>
            <a:ahLst/>
            <a:cxnLst/>
            <a:rect l="l" t="t" r="r" b="b"/>
            <a:pathLst>
              <a:path w="393700" h="288289">
                <a:moveTo>
                  <a:pt x="0" y="0"/>
                </a:moveTo>
                <a:lnTo>
                  <a:pt x="393192" y="288035"/>
                </a:lnTo>
              </a:path>
            </a:pathLst>
          </a:custGeom>
          <a:ln w="571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768220" y="3728720"/>
            <a:ext cx="1638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95397" y="3728720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71600" y="4259579"/>
            <a:ext cx="393700" cy="288290"/>
          </a:xfrm>
          <a:custGeom>
            <a:avLst/>
            <a:gdLst/>
            <a:ahLst/>
            <a:cxnLst/>
            <a:rect l="l" t="t" r="r" b="b"/>
            <a:pathLst>
              <a:path w="393700" h="288289">
                <a:moveTo>
                  <a:pt x="393192" y="0"/>
                </a:moveTo>
                <a:lnTo>
                  <a:pt x="0" y="288036"/>
                </a:lnTo>
              </a:path>
            </a:pathLst>
          </a:custGeom>
          <a:ln w="5714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943100" y="4259579"/>
            <a:ext cx="393700" cy="288290"/>
          </a:xfrm>
          <a:custGeom>
            <a:avLst/>
            <a:gdLst/>
            <a:ahLst/>
            <a:cxnLst/>
            <a:rect l="l" t="t" r="r" b="b"/>
            <a:pathLst>
              <a:path w="393700" h="288289">
                <a:moveTo>
                  <a:pt x="0" y="0"/>
                </a:moveTo>
                <a:lnTo>
                  <a:pt x="393192" y="288036"/>
                </a:lnTo>
              </a:path>
            </a:pathLst>
          </a:custGeom>
          <a:ln w="5714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234541" y="4570222"/>
            <a:ext cx="1638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61997" y="4570222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01042" y="5156708"/>
            <a:ext cx="480059" cy="432434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3640"/>
              </a:lnSpc>
            </a:pPr>
            <a:r>
              <a:rPr dirty="0" sz="3200" b="1">
                <a:solidFill>
                  <a:srgbClr val="FFFF00"/>
                </a:solidFill>
                <a:latin typeface="Arial"/>
                <a:cs typeface="Arial"/>
              </a:rPr>
              <a:t>…</a:t>
            </a:r>
            <a:endParaRPr sz="3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143755" y="2795016"/>
            <a:ext cx="4742688" cy="30845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143755" y="2607035"/>
            <a:ext cx="4742815" cy="3227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91440" marR="273685" indent="800100">
              <a:lnSpc>
                <a:spcPct val="150000"/>
              </a:lnSpc>
              <a:spcBef>
                <a:spcPts val="105"/>
              </a:spcBef>
            </a:pPr>
            <a:r>
              <a:rPr dirty="0" sz="2800" spc="-5" b="1">
                <a:latin typeface="宋体"/>
                <a:cs typeface="宋体"/>
              </a:rPr>
              <a:t>按照自上而下分析法对 </a:t>
            </a:r>
            <a:r>
              <a:rPr dirty="0" sz="2800" spc="-5" b="1">
                <a:latin typeface="宋体"/>
                <a:cs typeface="宋体"/>
              </a:rPr>
              <a:t>输入</a:t>
            </a:r>
            <a:r>
              <a:rPr dirty="0" sz="2800" b="1">
                <a:latin typeface="宋体"/>
                <a:cs typeface="宋体"/>
              </a:rPr>
              <a:t>串</a:t>
            </a:r>
            <a:r>
              <a:rPr dirty="0" sz="2800" spc="-5" b="1" i="1">
                <a:latin typeface="Times New Roman"/>
                <a:cs typeface="Times New Roman"/>
              </a:rPr>
              <a:t>r</a:t>
            </a:r>
            <a:r>
              <a:rPr dirty="0" sz="2800" spc="-5" b="1">
                <a:latin typeface="宋体"/>
                <a:cs typeface="宋体"/>
              </a:rPr>
              <a:t>产生分析树，对非 终结符的替换使分析树无 休止的延</a:t>
            </a:r>
            <a:r>
              <a:rPr dirty="0" sz="2800" b="1">
                <a:latin typeface="宋体"/>
                <a:cs typeface="宋体"/>
              </a:rPr>
              <a:t>伸</a:t>
            </a:r>
            <a:r>
              <a:rPr dirty="0" sz="2800" spc="-5" b="1">
                <a:latin typeface="宋体"/>
                <a:cs typeface="宋体"/>
              </a:rPr>
              <a:t>，使自上而下分 析陷入死循</a:t>
            </a:r>
            <a:r>
              <a:rPr dirty="0" sz="2800" b="1">
                <a:latin typeface="宋体"/>
                <a:cs typeface="宋体"/>
              </a:rPr>
              <a:t>环</a:t>
            </a:r>
            <a:r>
              <a:rPr dirty="0" sz="2800" spc="-15" b="1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514725" y="3845052"/>
            <a:ext cx="561975" cy="841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452367" y="4055364"/>
            <a:ext cx="41624" cy="4206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410711" y="4055364"/>
            <a:ext cx="20812" cy="4206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05231" y="26923"/>
            <a:ext cx="84613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1868805" algn="l"/>
                <a:tab pos="2376170" algn="l"/>
                <a:tab pos="5443220" algn="l"/>
                <a:tab pos="614108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不确定的自上而下分析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4.2.1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一般自上而下分析法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230873" y="1735073"/>
            <a:ext cx="2590800" cy="521334"/>
          </a:xfrm>
          <a:prstGeom prst="rect">
            <a:avLst/>
          </a:prstGeom>
          <a:ln w="38100">
            <a:solidFill>
              <a:srgbClr val="FF99CC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0805">
              <a:lnSpc>
                <a:spcPts val="3610"/>
              </a:lnSpc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)=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|0)*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0292" y="3344926"/>
            <a:ext cx="6908800" cy="1506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2" marL="1386840" indent="-1374775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/>
              <a:tabLst>
                <a:tab pos="1386840" algn="l"/>
                <a:tab pos="1387475" algn="l"/>
              </a:tabLst>
            </a:pPr>
            <a:r>
              <a:rPr dirty="0" sz="3600" spc="-5" b="1">
                <a:solidFill>
                  <a:srgbClr val="FFFF66"/>
                </a:solidFill>
                <a:latin typeface="宋体"/>
                <a:cs typeface="宋体"/>
              </a:rPr>
              <a:t>一般自上而下分析</a:t>
            </a:r>
            <a:endParaRPr sz="3600">
              <a:latin typeface="宋体"/>
              <a:cs typeface="宋体"/>
            </a:endParaRPr>
          </a:p>
          <a:p>
            <a:pPr lvl="2" marL="1386840" indent="-1374775">
              <a:lnSpc>
                <a:spcPct val="100000"/>
              </a:lnSpc>
              <a:spcBef>
                <a:spcPts val="3025"/>
              </a:spcBef>
              <a:buClr>
                <a:srgbClr val="FFFF00"/>
              </a:buClr>
              <a:buFont typeface="Times New Roman"/>
              <a:buAutoNum type="arabicPeriod"/>
              <a:tabLst>
                <a:tab pos="1386840" algn="l"/>
                <a:tab pos="1387475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不确定性的原因及解决方法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950707" y="4370832"/>
            <a:ext cx="1193800" cy="535305"/>
          </a:xfrm>
          <a:custGeom>
            <a:avLst/>
            <a:gdLst/>
            <a:ahLst/>
            <a:cxnLst/>
            <a:rect l="l" t="t" r="r" b="b"/>
            <a:pathLst>
              <a:path w="1193800" h="535304">
                <a:moveTo>
                  <a:pt x="298323" y="0"/>
                </a:moveTo>
                <a:lnTo>
                  <a:pt x="0" y="267462"/>
                </a:lnTo>
                <a:lnTo>
                  <a:pt x="298323" y="534924"/>
                </a:lnTo>
                <a:lnTo>
                  <a:pt x="298323" y="401193"/>
                </a:lnTo>
                <a:lnTo>
                  <a:pt x="1193292" y="401193"/>
                </a:lnTo>
                <a:lnTo>
                  <a:pt x="1193292" y="133731"/>
                </a:lnTo>
                <a:lnTo>
                  <a:pt x="298323" y="133731"/>
                </a:lnTo>
                <a:lnTo>
                  <a:pt x="298323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950707" y="4370832"/>
            <a:ext cx="1193800" cy="535305"/>
          </a:xfrm>
          <a:custGeom>
            <a:avLst/>
            <a:gdLst/>
            <a:ahLst/>
            <a:cxnLst/>
            <a:rect l="l" t="t" r="r" b="b"/>
            <a:pathLst>
              <a:path w="1193800" h="535304">
                <a:moveTo>
                  <a:pt x="0" y="267462"/>
                </a:moveTo>
                <a:lnTo>
                  <a:pt x="298323" y="0"/>
                </a:lnTo>
                <a:lnTo>
                  <a:pt x="298323" y="133731"/>
                </a:lnTo>
                <a:lnTo>
                  <a:pt x="1193292" y="133731"/>
                </a:lnTo>
                <a:lnTo>
                  <a:pt x="1193292" y="401193"/>
                </a:lnTo>
                <a:lnTo>
                  <a:pt x="298323" y="401193"/>
                </a:lnTo>
                <a:lnTo>
                  <a:pt x="298323" y="534924"/>
                </a:lnTo>
                <a:lnTo>
                  <a:pt x="0" y="267462"/>
                </a:lnTo>
                <a:close/>
              </a:path>
            </a:pathLst>
          </a:custGeom>
          <a:ln w="9525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031873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888485" y="26923"/>
            <a:ext cx="33528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不确定的自上而下分析法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221130" y="1331468"/>
            <a:ext cx="7036434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A54FA"/>
                </a:solidFill>
              </a:rPr>
              <a:t>4.2</a:t>
            </a:r>
            <a:r>
              <a:rPr dirty="0" spc="-80">
                <a:solidFill>
                  <a:srgbClr val="FA54FA"/>
                </a:solidFill>
              </a:rPr>
              <a:t> </a:t>
            </a:r>
            <a:r>
              <a:rPr dirty="0" spc="-5">
                <a:solidFill>
                  <a:srgbClr val="FA54FA"/>
                </a:solidFill>
                <a:latin typeface="宋体"/>
                <a:cs typeface="宋体"/>
              </a:rPr>
              <a:t>不确定的自上而下分析法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7791" y="2615183"/>
            <a:ext cx="2159761" cy="21597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37791" y="2932176"/>
            <a:ext cx="1842770" cy="1842770"/>
          </a:xfrm>
          <a:custGeom>
            <a:avLst/>
            <a:gdLst/>
            <a:ahLst/>
            <a:cxnLst/>
            <a:rect l="l" t="t" r="r" b="b"/>
            <a:pathLst>
              <a:path w="1842770" h="1842770">
                <a:moveTo>
                  <a:pt x="769746" y="1598422"/>
                </a:moveTo>
                <a:lnTo>
                  <a:pt x="638428" y="1467104"/>
                </a:lnTo>
                <a:lnTo>
                  <a:pt x="1842770" y="262636"/>
                </a:lnTo>
                <a:lnTo>
                  <a:pt x="1580133" y="0"/>
                </a:lnTo>
                <a:lnTo>
                  <a:pt x="375792" y="1204341"/>
                </a:lnTo>
                <a:lnTo>
                  <a:pt x="244475" y="1073023"/>
                </a:lnTo>
                <a:lnTo>
                  <a:pt x="0" y="1842770"/>
                </a:lnTo>
                <a:lnTo>
                  <a:pt x="769746" y="1598422"/>
                </a:lnTo>
                <a:close/>
              </a:path>
            </a:pathLst>
          </a:custGeom>
          <a:ln w="9525">
            <a:solidFill>
              <a:srgbClr val="FFC1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781297" y="2742057"/>
            <a:ext cx="389890" cy="389890"/>
          </a:xfrm>
          <a:custGeom>
            <a:avLst/>
            <a:gdLst/>
            <a:ahLst/>
            <a:cxnLst/>
            <a:rect l="l" t="t" r="r" b="b"/>
            <a:pathLst>
              <a:path w="389889" h="389889">
                <a:moveTo>
                  <a:pt x="389509" y="262635"/>
                </a:moveTo>
                <a:lnTo>
                  <a:pt x="126746" y="0"/>
                </a:lnTo>
                <a:lnTo>
                  <a:pt x="0" y="126745"/>
                </a:lnTo>
                <a:lnTo>
                  <a:pt x="262636" y="389381"/>
                </a:lnTo>
                <a:lnTo>
                  <a:pt x="389509" y="262635"/>
                </a:lnTo>
                <a:close/>
              </a:path>
            </a:pathLst>
          </a:custGeom>
          <a:ln w="9525">
            <a:solidFill>
              <a:srgbClr val="FFC1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971416" y="2615183"/>
            <a:ext cx="326390" cy="326390"/>
          </a:xfrm>
          <a:custGeom>
            <a:avLst/>
            <a:gdLst/>
            <a:ahLst/>
            <a:cxnLst/>
            <a:rect l="l" t="t" r="r" b="b"/>
            <a:pathLst>
              <a:path w="326389" h="326389">
                <a:moveTo>
                  <a:pt x="326136" y="262763"/>
                </a:moveTo>
                <a:lnTo>
                  <a:pt x="63373" y="0"/>
                </a:lnTo>
                <a:lnTo>
                  <a:pt x="0" y="63500"/>
                </a:lnTo>
                <a:lnTo>
                  <a:pt x="262763" y="326136"/>
                </a:lnTo>
                <a:lnTo>
                  <a:pt x="326136" y="262763"/>
                </a:lnTo>
                <a:close/>
              </a:path>
            </a:pathLst>
          </a:custGeom>
          <a:ln w="9525">
            <a:solidFill>
              <a:srgbClr val="FFC1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38631" y="995933"/>
            <a:ext cx="288671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不确定性的原因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08098" y="2176729"/>
            <a:ext cx="125095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假匹配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67784" y="2397760"/>
            <a:ext cx="2024380" cy="171450"/>
          </a:xfrm>
          <a:custGeom>
            <a:avLst/>
            <a:gdLst/>
            <a:ahLst/>
            <a:cxnLst/>
            <a:rect l="l" t="t" r="r" b="b"/>
            <a:pathLst>
              <a:path w="2024379" h="171450">
                <a:moveTo>
                  <a:pt x="1852929" y="0"/>
                </a:moveTo>
                <a:lnTo>
                  <a:pt x="1852675" y="57168"/>
                </a:lnTo>
                <a:lnTo>
                  <a:pt x="1881251" y="57276"/>
                </a:lnTo>
                <a:lnTo>
                  <a:pt x="1880997" y="114426"/>
                </a:lnTo>
                <a:lnTo>
                  <a:pt x="1852421" y="114426"/>
                </a:lnTo>
                <a:lnTo>
                  <a:pt x="1852167" y="171450"/>
                </a:lnTo>
                <a:lnTo>
                  <a:pt x="1967320" y="114426"/>
                </a:lnTo>
                <a:lnTo>
                  <a:pt x="1880997" y="114426"/>
                </a:lnTo>
                <a:lnTo>
                  <a:pt x="1967538" y="114318"/>
                </a:lnTo>
                <a:lnTo>
                  <a:pt x="2023999" y="86360"/>
                </a:lnTo>
                <a:lnTo>
                  <a:pt x="1852929" y="0"/>
                </a:lnTo>
                <a:close/>
              </a:path>
              <a:path w="2024379" h="171450">
                <a:moveTo>
                  <a:pt x="1852675" y="57168"/>
                </a:moveTo>
                <a:lnTo>
                  <a:pt x="1852421" y="114318"/>
                </a:lnTo>
                <a:lnTo>
                  <a:pt x="1880997" y="114426"/>
                </a:lnTo>
                <a:lnTo>
                  <a:pt x="1881251" y="57276"/>
                </a:lnTo>
                <a:lnTo>
                  <a:pt x="1852675" y="57168"/>
                </a:lnTo>
                <a:close/>
              </a:path>
              <a:path w="2024379" h="171450">
                <a:moveTo>
                  <a:pt x="253" y="50164"/>
                </a:moveTo>
                <a:lnTo>
                  <a:pt x="0" y="107314"/>
                </a:lnTo>
                <a:lnTo>
                  <a:pt x="1852421" y="114318"/>
                </a:lnTo>
                <a:lnTo>
                  <a:pt x="1852675" y="57168"/>
                </a:lnTo>
                <a:lnTo>
                  <a:pt x="253" y="50164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970778" y="2210562"/>
            <a:ext cx="8432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回溯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08098" y="3243783"/>
            <a:ext cx="195326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的左递归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495800" y="3457575"/>
            <a:ext cx="1295400" cy="171450"/>
          </a:xfrm>
          <a:custGeom>
            <a:avLst/>
            <a:gdLst/>
            <a:ahLst/>
            <a:cxnLst/>
            <a:rect l="l" t="t" r="r" b="b"/>
            <a:pathLst>
              <a:path w="1295400" h="171450">
                <a:moveTo>
                  <a:pt x="1123950" y="0"/>
                </a:moveTo>
                <a:lnTo>
                  <a:pt x="1123950" y="171450"/>
                </a:lnTo>
                <a:lnTo>
                  <a:pt x="1238250" y="114300"/>
                </a:lnTo>
                <a:lnTo>
                  <a:pt x="1152525" y="114300"/>
                </a:lnTo>
                <a:lnTo>
                  <a:pt x="1152525" y="57150"/>
                </a:lnTo>
                <a:lnTo>
                  <a:pt x="1238250" y="57150"/>
                </a:lnTo>
                <a:lnTo>
                  <a:pt x="1123950" y="0"/>
                </a:lnTo>
                <a:close/>
              </a:path>
              <a:path w="1295400" h="171450">
                <a:moveTo>
                  <a:pt x="11239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123950" y="114300"/>
                </a:lnTo>
                <a:lnTo>
                  <a:pt x="1123950" y="57150"/>
                </a:lnTo>
                <a:close/>
              </a:path>
              <a:path w="1295400" h="171450">
                <a:moveTo>
                  <a:pt x="1238250" y="57150"/>
                </a:moveTo>
                <a:lnTo>
                  <a:pt x="1152525" y="57150"/>
                </a:lnTo>
                <a:lnTo>
                  <a:pt x="1152525" y="114300"/>
                </a:lnTo>
                <a:lnTo>
                  <a:pt x="1238250" y="114300"/>
                </a:lnTo>
                <a:lnTo>
                  <a:pt x="1295400" y="85725"/>
                </a:lnTo>
                <a:lnTo>
                  <a:pt x="1238250" y="5715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985128" y="3239516"/>
            <a:ext cx="247650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无止境的匹配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67661" y="2439161"/>
            <a:ext cx="187960" cy="1137285"/>
          </a:xfrm>
          <a:custGeom>
            <a:avLst/>
            <a:gdLst/>
            <a:ahLst/>
            <a:cxnLst/>
            <a:rect l="l" t="t" r="r" b="b"/>
            <a:pathLst>
              <a:path w="187960" h="1137285">
                <a:moveTo>
                  <a:pt x="187451" y="1136903"/>
                </a:moveTo>
                <a:lnTo>
                  <a:pt x="150947" y="1129458"/>
                </a:lnTo>
                <a:lnTo>
                  <a:pt x="121157" y="1109154"/>
                </a:lnTo>
                <a:lnTo>
                  <a:pt x="101084" y="1079039"/>
                </a:lnTo>
                <a:lnTo>
                  <a:pt x="93725" y="1042162"/>
                </a:lnTo>
                <a:lnTo>
                  <a:pt x="93725" y="663193"/>
                </a:lnTo>
                <a:lnTo>
                  <a:pt x="86367" y="626316"/>
                </a:lnTo>
                <a:lnTo>
                  <a:pt x="66293" y="596201"/>
                </a:lnTo>
                <a:lnTo>
                  <a:pt x="36504" y="575897"/>
                </a:lnTo>
                <a:lnTo>
                  <a:pt x="0" y="568451"/>
                </a:lnTo>
                <a:lnTo>
                  <a:pt x="36504" y="561006"/>
                </a:lnTo>
                <a:lnTo>
                  <a:pt x="66293" y="540702"/>
                </a:lnTo>
                <a:lnTo>
                  <a:pt x="86367" y="510587"/>
                </a:lnTo>
                <a:lnTo>
                  <a:pt x="93725" y="473710"/>
                </a:lnTo>
                <a:lnTo>
                  <a:pt x="93725" y="94741"/>
                </a:lnTo>
                <a:lnTo>
                  <a:pt x="101084" y="57864"/>
                </a:lnTo>
                <a:lnTo>
                  <a:pt x="121157" y="27749"/>
                </a:lnTo>
                <a:lnTo>
                  <a:pt x="150947" y="7445"/>
                </a:lnTo>
                <a:lnTo>
                  <a:pt x="187451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221739" y="4941570"/>
            <a:ext cx="21653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5" b="1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宋体"/>
                <a:cs typeface="宋体"/>
                <a:hlinkClick r:id="rId3" action="ppaction://hlinksldjump"/>
              </a:rPr>
              <a:t>提取左公因子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916042" y="3658742"/>
            <a:ext cx="942975" cy="9429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030470" y="3773170"/>
            <a:ext cx="828675" cy="828675"/>
          </a:xfrm>
          <a:custGeom>
            <a:avLst/>
            <a:gdLst/>
            <a:ahLst/>
            <a:cxnLst/>
            <a:rect l="l" t="t" r="r" b="b"/>
            <a:pathLst>
              <a:path w="828675" h="828675">
                <a:moveTo>
                  <a:pt x="828547" y="303148"/>
                </a:moveTo>
                <a:lnTo>
                  <a:pt x="697229" y="434593"/>
                </a:lnTo>
                <a:lnTo>
                  <a:pt x="262635" y="0"/>
                </a:lnTo>
                <a:lnTo>
                  <a:pt x="0" y="262635"/>
                </a:lnTo>
                <a:lnTo>
                  <a:pt x="434593" y="697229"/>
                </a:lnTo>
                <a:lnTo>
                  <a:pt x="303149" y="828547"/>
                </a:lnTo>
                <a:lnTo>
                  <a:pt x="748791" y="748791"/>
                </a:lnTo>
                <a:lnTo>
                  <a:pt x="828547" y="303148"/>
                </a:lnTo>
                <a:close/>
              </a:path>
            </a:pathLst>
          </a:custGeom>
          <a:ln w="9525">
            <a:solidFill>
              <a:srgbClr val="FFC1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961890" y="3704590"/>
            <a:ext cx="308610" cy="308610"/>
          </a:xfrm>
          <a:custGeom>
            <a:avLst/>
            <a:gdLst/>
            <a:ahLst/>
            <a:cxnLst/>
            <a:rect l="l" t="t" r="r" b="b"/>
            <a:pathLst>
              <a:path w="308610" h="308610">
                <a:moveTo>
                  <a:pt x="262636" y="0"/>
                </a:moveTo>
                <a:lnTo>
                  <a:pt x="0" y="262636"/>
                </a:lnTo>
                <a:lnTo>
                  <a:pt x="45720" y="308356"/>
                </a:lnTo>
                <a:lnTo>
                  <a:pt x="308356" y="45720"/>
                </a:lnTo>
                <a:lnTo>
                  <a:pt x="262636" y="0"/>
                </a:lnTo>
                <a:close/>
              </a:path>
            </a:pathLst>
          </a:custGeom>
          <a:ln w="9525">
            <a:solidFill>
              <a:srgbClr val="FFC1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916042" y="365874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62763" y="0"/>
                </a:moveTo>
                <a:lnTo>
                  <a:pt x="0" y="262762"/>
                </a:lnTo>
                <a:lnTo>
                  <a:pt x="22860" y="285622"/>
                </a:lnTo>
                <a:lnTo>
                  <a:pt x="285623" y="22859"/>
                </a:lnTo>
                <a:lnTo>
                  <a:pt x="262763" y="0"/>
                </a:lnTo>
                <a:close/>
              </a:path>
            </a:pathLst>
          </a:custGeom>
          <a:ln w="9525">
            <a:solidFill>
              <a:srgbClr val="FFC1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937886" y="4941570"/>
            <a:ext cx="2421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5" b="1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宋体"/>
                <a:cs typeface="宋体"/>
                <a:hlinkClick r:id="rId5" action="ppaction://hlinksldjump"/>
              </a:rPr>
              <a:t>消除</a:t>
            </a:r>
            <a:r>
              <a:rPr dirty="0" u="heavy" sz="2800" spc="-10" b="1" i="1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Times New Roman"/>
                <a:cs typeface="Times New Roman"/>
                <a:hlinkClick r:id="rId5" action="ppaction://hlinksldjump"/>
              </a:rPr>
              <a:t>G</a:t>
            </a:r>
            <a:r>
              <a:rPr dirty="0" u="heavy" sz="2800" spc="-5" b="1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宋体"/>
                <a:cs typeface="宋体"/>
                <a:hlinkClick r:id="rId5" action="ppaction://hlinksldjump"/>
              </a:rPr>
              <a:t>的左递归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05231" y="26923"/>
            <a:ext cx="15601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990089" y="26923"/>
            <a:ext cx="328676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4.2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不确定的自上而下分析法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38013" y="26923"/>
            <a:ext cx="34747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4.2.2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不确定性原因与解决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方法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1642" y="1648352"/>
            <a:ext cx="8512175" cy="2948940"/>
          </a:xfrm>
          <a:prstGeom prst="rect">
            <a:avLst/>
          </a:prstGeom>
        </p:spPr>
        <p:txBody>
          <a:bodyPr wrap="square" lIns="0" tIns="233679" rIns="0" bIns="0" rtlCol="0" vert="horz">
            <a:spAutoFit/>
          </a:bodyPr>
          <a:lstStyle/>
          <a:p>
            <a:pPr marL="926465">
              <a:lnSpc>
                <a:spcPct val="100000"/>
              </a:lnSpc>
              <a:spcBef>
                <a:spcPts val="1839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文法的直接左递归表现在其含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3200" spc="-2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spc="-2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2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350" spc="-2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endParaRPr sz="3350">
              <a:latin typeface="Symbol"/>
              <a:cs typeface="Symbol"/>
            </a:endParaRPr>
          </a:p>
          <a:p>
            <a:pPr marL="38100" marR="30480" indent="101600">
              <a:lnSpc>
                <a:spcPts val="5760"/>
              </a:lnSpc>
              <a:spcBef>
                <a:spcPts val="484"/>
              </a:spcBef>
            </a:pPr>
            <a:r>
              <a:rPr dirty="0" sz="3200" spc="-45" b="1">
                <a:solidFill>
                  <a:srgbClr val="FFFFFF"/>
                </a:solidFill>
                <a:latin typeface="宋体"/>
                <a:cs typeface="宋体"/>
              </a:rPr>
              <a:t>(</a:t>
            </a:r>
            <a:r>
              <a:rPr dirty="0" sz="3350" spc="-4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3350" spc="-7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∈(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132" sz="3150" spc="7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3200" spc="5" b="1">
                <a:solidFill>
                  <a:srgbClr val="FFFFFF"/>
                </a:solidFill>
                <a:latin typeface="Microsoft JhengHei"/>
                <a:cs typeface="Microsoft JhengHei"/>
              </a:rPr>
              <a:t>∪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132" sz="3150" spc="7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baseline="25157" sz="3975" spc="7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形式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生式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规</a:t>
            </a:r>
            <a:r>
              <a:rPr dirty="0" sz="3200" spc="10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语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法分析的最左推导中会呈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3200" spc="-97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sz="3200" spc="-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……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的形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endParaRPr sz="32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141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间接左递归文法会呈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3200" spc="-45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=&gt; 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……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的形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87239" y="3885387"/>
            <a:ext cx="2279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05231" y="26923"/>
            <a:ext cx="5071745" cy="1235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508634" algn="l"/>
                <a:tab pos="17843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4.2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不确定的自上而下分析法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50">
              <a:latin typeface="宋体"/>
              <a:cs typeface="宋体"/>
            </a:endParaRPr>
          </a:p>
          <a:p>
            <a:pPr algn="ctr" marR="52705">
              <a:lnSpc>
                <a:spcPct val="100000"/>
              </a:lnSpc>
              <a:spcBef>
                <a:spcPts val="5"/>
              </a:spcBef>
              <a:tabLst>
                <a:tab pos="71310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一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消除文法的左递归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438013" y="26923"/>
            <a:ext cx="34747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4.2.2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不确定性原因与解决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方法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56816" y="1944623"/>
            <a:ext cx="5614415" cy="7056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56816" y="1944623"/>
            <a:ext cx="5614670" cy="706120"/>
          </a:xfrm>
          <a:prstGeom prst="rect">
            <a:avLst/>
          </a:prstGeom>
          <a:ln w="9525">
            <a:solidFill>
              <a:srgbClr val="66FFFF"/>
            </a:solidFill>
          </a:ln>
        </p:spPr>
        <p:txBody>
          <a:bodyPr wrap="square" lIns="0" tIns="105410" rIns="0" bIns="0" rtlCol="0" vert="horz">
            <a:spAutoFit/>
          </a:bodyPr>
          <a:lstStyle/>
          <a:p>
            <a:pPr marL="256540">
              <a:lnSpc>
                <a:spcPct val="100000"/>
              </a:lnSpc>
              <a:spcBef>
                <a:spcPts val="830"/>
              </a:spcBef>
              <a:tabLst>
                <a:tab pos="2166620" algn="l"/>
              </a:tabLst>
            </a:pPr>
            <a:r>
              <a:rPr dirty="0" sz="2800" spc="-30" b="1" i="1">
                <a:solidFill>
                  <a:srgbClr val="1E2D52"/>
                </a:solidFill>
                <a:latin typeface="Times New Roman"/>
                <a:cs typeface="Times New Roman"/>
              </a:rPr>
              <a:t>P</a:t>
            </a:r>
            <a:r>
              <a:rPr dirty="0" sz="2800" spc="-30" b="1">
                <a:solidFill>
                  <a:srgbClr val="1E2D52"/>
                </a:solidFill>
                <a:latin typeface="Times New Roman"/>
                <a:cs typeface="Times New Roman"/>
              </a:rPr>
              <a:t>→</a:t>
            </a:r>
            <a:r>
              <a:rPr dirty="0" sz="2800" spc="-30" b="1" i="1">
                <a:solidFill>
                  <a:srgbClr val="1E2D52"/>
                </a:solidFill>
                <a:latin typeface="Times New Roman"/>
                <a:cs typeface="Times New Roman"/>
              </a:rPr>
              <a:t>P</a:t>
            </a:r>
            <a:r>
              <a:rPr dirty="0" sz="2950" spc="-30" b="1" i="1">
                <a:latin typeface="Symbol"/>
                <a:cs typeface="Symbol"/>
              </a:rPr>
              <a:t></a:t>
            </a:r>
            <a:r>
              <a:rPr dirty="0" sz="2950" spc="-20" b="1" i="1"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1E2D52"/>
                </a:solidFill>
                <a:latin typeface="Times New Roman"/>
                <a:cs typeface="Times New Roman"/>
              </a:rPr>
              <a:t>|</a:t>
            </a:r>
            <a:r>
              <a:rPr dirty="0" sz="2800" b="1">
                <a:solidFill>
                  <a:srgbClr val="1E2D52"/>
                </a:solidFill>
                <a:latin typeface="Times New Roman"/>
                <a:cs typeface="Times New Roman"/>
              </a:rPr>
              <a:t> </a:t>
            </a:r>
            <a:r>
              <a:rPr dirty="0" sz="2950" spc="-90" b="1" i="1">
                <a:solidFill>
                  <a:srgbClr val="1E2D52"/>
                </a:solidFill>
                <a:latin typeface="Symbol"/>
                <a:cs typeface="Symbol"/>
              </a:rPr>
              <a:t></a:t>
            </a:r>
            <a:r>
              <a:rPr dirty="0" sz="2950" spc="-90">
                <a:solidFill>
                  <a:srgbClr val="1E2D52"/>
                </a:solidFill>
                <a:latin typeface="Times New Roman"/>
                <a:cs typeface="Times New Roman"/>
              </a:rPr>
              <a:t>	</a:t>
            </a:r>
            <a:r>
              <a:rPr dirty="0" sz="3350" spc="-90" b="1" i="1">
                <a:latin typeface="Symbol"/>
                <a:cs typeface="Symbol"/>
              </a:rPr>
              <a:t></a:t>
            </a:r>
            <a:r>
              <a:rPr dirty="0" sz="2800" spc="-5" b="1">
                <a:solidFill>
                  <a:srgbClr val="1E2D52"/>
                </a:solidFill>
                <a:latin typeface="宋体"/>
                <a:cs typeface="宋体"/>
              </a:rPr>
              <a:t>、</a:t>
            </a:r>
            <a:r>
              <a:rPr dirty="0" sz="2950" spc="-10" b="1" i="1">
                <a:solidFill>
                  <a:srgbClr val="1E2D52"/>
                </a:solidFill>
                <a:latin typeface="Symbol"/>
                <a:cs typeface="Symbol"/>
              </a:rPr>
              <a:t></a:t>
            </a:r>
            <a:r>
              <a:rPr dirty="0" sz="2800" spc="-10" b="1">
                <a:solidFill>
                  <a:srgbClr val="1E2D52"/>
                </a:solidFill>
                <a:latin typeface="宋体"/>
                <a:cs typeface="宋体"/>
              </a:rPr>
              <a:t>∈</a:t>
            </a:r>
            <a:r>
              <a:rPr dirty="0" sz="2800" spc="-10" b="1" i="1">
                <a:solidFill>
                  <a:srgbClr val="1E2D52"/>
                </a:solidFill>
                <a:latin typeface="Times New Roman"/>
                <a:cs typeface="Times New Roman"/>
              </a:rPr>
              <a:t>(V</a:t>
            </a:r>
            <a:r>
              <a:rPr dirty="0" baseline="-25525" sz="2775" spc="-15" b="1" i="1">
                <a:solidFill>
                  <a:srgbClr val="1E2D52"/>
                </a:solidFill>
                <a:latin typeface="Times New Roman"/>
                <a:cs typeface="Times New Roman"/>
              </a:rPr>
              <a:t>T</a:t>
            </a:r>
            <a:r>
              <a:rPr dirty="0" sz="2800" spc="-10" b="1">
                <a:solidFill>
                  <a:srgbClr val="1E2D52"/>
                </a:solidFill>
                <a:latin typeface="宋体"/>
                <a:cs typeface="宋体"/>
              </a:rPr>
              <a:t>∪</a:t>
            </a:r>
            <a:r>
              <a:rPr dirty="0" sz="2800" spc="-10" b="1" i="1">
                <a:solidFill>
                  <a:srgbClr val="1E2D52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spc="-15" b="1" i="1">
                <a:solidFill>
                  <a:srgbClr val="1E2D52"/>
                </a:solidFill>
                <a:latin typeface="Times New Roman"/>
                <a:cs typeface="Times New Roman"/>
              </a:rPr>
              <a:t>N</a:t>
            </a:r>
            <a:r>
              <a:rPr dirty="0" sz="2800" spc="-10" b="1">
                <a:solidFill>
                  <a:srgbClr val="1E2D52"/>
                </a:solidFill>
                <a:latin typeface="Times New Roman"/>
                <a:cs typeface="Times New Roman"/>
              </a:rPr>
              <a:t>)</a:t>
            </a:r>
            <a:r>
              <a:rPr dirty="0" baseline="25525" sz="2775" spc="-15" b="1">
                <a:solidFill>
                  <a:srgbClr val="1E2D52"/>
                </a:solidFill>
                <a:latin typeface="Times New Roman"/>
                <a:cs typeface="Times New Roman"/>
              </a:rPr>
              <a:t>*</a:t>
            </a:r>
            <a:endParaRPr baseline="25525" sz="2775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3773" y="2811244"/>
            <a:ext cx="329057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其中，</a:t>
            </a:r>
            <a:r>
              <a:rPr dirty="0" sz="2950" spc="-80" b="1" i="1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不以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开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头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05231" y="0"/>
            <a:ext cx="8707120" cy="1911350"/>
          </a:xfrm>
          <a:prstGeom prst="rect">
            <a:avLst/>
          </a:prstGeom>
        </p:spPr>
        <p:txBody>
          <a:bodyPr wrap="square" lIns="0" tIns="1784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5"/>
              </a:spcBef>
              <a:tabLst>
                <a:tab pos="521334" algn="l"/>
                <a:tab pos="17970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4.2</a:t>
            </a:r>
            <a:r>
              <a:rPr dirty="0" sz="2000" spc="47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不确定的自上而下分析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sz="2000" spc="450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4.2.2</a:t>
            </a:r>
            <a:r>
              <a:rPr dirty="0" u="sng" sz="2000" spc="4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不确定性原因与解决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方法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>
              <a:latin typeface="宋体"/>
              <a:cs typeface="宋体"/>
            </a:endParaRPr>
          </a:p>
          <a:p>
            <a:pPr marL="52705">
              <a:lnSpc>
                <a:spcPct val="100000"/>
              </a:lnSpc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3200" spc="-82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直接左递归的消除：</a:t>
            </a:r>
            <a:endParaRPr sz="3200">
              <a:latin typeface="宋体"/>
              <a:cs typeface="宋体"/>
            </a:endParaRPr>
          </a:p>
          <a:p>
            <a:pPr marL="967105">
              <a:lnSpc>
                <a:spcPct val="100000"/>
              </a:lnSpc>
              <a:spcBef>
                <a:spcPts val="1855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假定关于非终结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的规则为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0588" y="3382136"/>
            <a:ext cx="11842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分</a:t>
            </a:r>
            <a:r>
              <a:rPr dirty="0" u="heavy" sz="2800" spc="-1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析</a:t>
            </a:r>
            <a:r>
              <a:rPr dirty="0" u="heavy" sz="2800" spc="-78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 </a:t>
            </a:r>
            <a:r>
              <a:rPr dirty="0" u="heavy" sz="2800" spc="-1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48460" y="3377208"/>
            <a:ext cx="1524000" cy="541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00" spc="-3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3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3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350" spc="-3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335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1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85" b="1" i="1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509771" y="3579876"/>
            <a:ext cx="1163320" cy="259079"/>
          </a:xfrm>
          <a:custGeom>
            <a:avLst/>
            <a:gdLst/>
            <a:ahLst/>
            <a:cxnLst/>
            <a:rect l="l" t="t" r="r" b="b"/>
            <a:pathLst>
              <a:path w="1163320" h="259079">
                <a:moveTo>
                  <a:pt x="871981" y="0"/>
                </a:moveTo>
                <a:lnTo>
                  <a:pt x="871981" y="64769"/>
                </a:lnTo>
                <a:lnTo>
                  <a:pt x="0" y="64769"/>
                </a:lnTo>
                <a:lnTo>
                  <a:pt x="0" y="194310"/>
                </a:lnTo>
                <a:lnTo>
                  <a:pt x="871981" y="194310"/>
                </a:lnTo>
                <a:lnTo>
                  <a:pt x="871981" y="259080"/>
                </a:lnTo>
                <a:lnTo>
                  <a:pt x="1162812" y="129540"/>
                </a:lnTo>
                <a:lnTo>
                  <a:pt x="871981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509771" y="3579876"/>
            <a:ext cx="1163320" cy="259079"/>
          </a:xfrm>
          <a:custGeom>
            <a:avLst/>
            <a:gdLst/>
            <a:ahLst/>
            <a:cxnLst/>
            <a:rect l="l" t="t" r="r" b="b"/>
            <a:pathLst>
              <a:path w="1163320" h="259079">
                <a:moveTo>
                  <a:pt x="0" y="64769"/>
                </a:moveTo>
                <a:lnTo>
                  <a:pt x="871981" y="64769"/>
                </a:lnTo>
                <a:lnTo>
                  <a:pt x="871981" y="0"/>
                </a:lnTo>
                <a:lnTo>
                  <a:pt x="1162812" y="129540"/>
                </a:lnTo>
                <a:lnTo>
                  <a:pt x="871981" y="259080"/>
                </a:lnTo>
                <a:lnTo>
                  <a:pt x="871981" y="194310"/>
                </a:lnTo>
                <a:lnTo>
                  <a:pt x="0" y="194310"/>
                </a:lnTo>
                <a:lnTo>
                  <a:pt x="0" y="64769"/>
                </a:lnTo>
                <a:close/>
              </a:path>
            </a:pathLst>
          </a:custGeom>
          <a:ln w="9525">
            <a:solidFill>
              <a:srgbClr val="CC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744207" y="3893820"/>
            <a:ext cx="821690" cy="0"/>
          </a:xfrm>
          <a:custGeom>
            <a:avLst/>
            <a:gdLst/>
            <a:ahLst/>
            <a:cxnLst/>
            <a:rect l="l" t="t" r="r" b="b"/>
            <a:pathLst>
              <a:path w="821690" h="0">
                <a:moveTo>
                  <a:pt x="0" y="0"/>
                </a:moveTo>
                <a:lnTo>
                  <a:pt x="821436" y="0"/>
                </a:lnTo>
              </a:path>
            </a:pathLst>
          </a:custGeom>
          <a:ln w="19812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981702" y="3407688"/>
            <a:ext cx="2623820" cy="541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))={</a:t>
            </a:r>
            <a:r>
              <a:rPr dirty="0" sz="3350" spc="-10" b="1" i="1">
                <a:solidFill>
                  <a:srgbClr val="FFFF00"/>
                </a:solidFill>
                <a:latin typeface="Symbol"/>
                <a:cs typeface="Symbol"/>
              </a:rPr>
              <a:t></a:t>
            </a:r>
            <a:r>
              <a:rPr dirty="0" sz="3350" spc="-12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350" spc="-20" b="1" i="1">
                <a:solidFill>
                  <a:srgbClr val="FFFF00"/>
                </a:solidFill>
                <a:latin typeface="Symbol"/>
                <a:cs typeface="Symbol"/>
              </a:rPr>
              <a:t></a:t>
            </a:r>
            <a:r>
              <a:rPr dirty="0" baseline="22486" sz="3150" spc="-30" b="1">
                <a:solidFill>
                  <a:srgbClr val="FFFF00"/>
                </a:solidFill>
                <a:latin typeface="Times New Roman"/>
                <a:cs typeface="Times New Roman"/>
              </a:rPr>
              <a:t>*}</a:t>
            </a:r>
            <a:endParaRPr baseline="22486" sz="31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655307" y="3931920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5" h="0">
                <a:moveTo>
                  <a:pt x="0" y="0"/>
                </a:moveTo>
                <a:lnTo>
                  <a:pt x="361188" y="0"/>
                </a:lnTo>
              </a:path>
            </a:pathLst>
          </a:custGeom>
          <a:ln w="57150">
            <a:solidFill>
              <a:srgbClr val="FF7B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359146" y="3925189"/>
            <a:ext cx="1534795" cy="525780"/>
          </a:xfrm>
          <a:custGeom>
            <a:avLst/>
            <a:gdLst/>
            <a:ahLst/>
            <a:cxnLst/>
            <a:rect l="l" t="t" r="r" b="b"/>
            <a:pathLst>
              <a:path w="1534795" h="525779">
                <a:moveTo>
                  <a:pt x="91566" y="416687"/>
                </a:moveTo>
                <a:lnTo>
                  <a:pt x="0" y="505841"/>
                </a:lnTo>
                <a:lnTo>
                  <a:pt x="126237" y="525526"/>
                </a:lnTo>
                <a:lnTo>
                  <a:pt x="116528" y="495046"/>
                </a:lnTo>
                <a:lnTo>
                  <a:pt x="96519" y="495046"/>
                </a:lnTo>
                <a:lnTo>
                  <a:pt x="84962" y="458724"/>
                </a:lnTo>
                <a:lnTo>
                  <a:pt x="103113" y="452933"/>
                </a:lnTo>
                <a:lnTo>
                  <a:pt x="91566" y="416687"/>
                </a:lnTo>
                <a:close/>
              </a:path>
              <a:path w="1534795" h="525779">
                <a:moveTo>
                  <a:pt x="103113" y="452933"/>
                </a:moveTo>
                <a:lnTo>
                  <a:pt x="84962" y="458724"/>
                </a:lnTo>
                <a:lnTo>
                  <a:pt x="96519" y="495046"/>
                </a:lnTo>
                <a:lnTo>
                  <a:pt x="114682" y="489251"/>
                </a:lnTo>
                <a:lnTo>
                  <a:pt x="103113" y="452933"/>
                </a:lnTo>
                <a:close/>
              </a:path>
              <a:path w="1534795" h="525779">
                <a:moveTo>
                  <a:pt x="114682" y="489251"/>
                </a:moveTo>
                <a:lnTo>
                  <a:pt x="96519" y="495046"/>
                </a:lnTo>
                <a:lnTo>
                  <a:pt x="116528" y="495046"/>
                </a:lnTo>
                <a:lnTo>
                  <a:pt x="114682" y="489251"/>
                </a:lnTo>
                <a:close/>
              </a:path>
              <a:path w="1534795" h="525779">
                <a:moveTo>
                  <a:pt x="1522729" y="0"/>
                </a:moveTo>
                <a:lnTo>
                  <a:pt x="103113" y="452933"/>
                </a:lnTo>
                <a:lnTo>
                  <a:pt x="114682" y="489251"/>
                </a:lnTo>
                <a:lnTo>
                  <a:pt x="1534413" y="36322"/>
                </a:lnTo>
                <a:lnTo>
                  <a:pt x="1522729" y="0"/>
                </a:lnTo>
                <a:close/>
              </a:path>
            </a:pathLst>
          </a:custGeom>
          <a:solidFill>
            <a:srgbClr val="FF7B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673346" y="4429505"/>
            <a:ext cx="1371600" cy="55816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327660">
              <a:lnSpc>
                <a:spcPct val="100000"/>
              </a:lnSpc>
              <a:spcBef>
                <a:spcPts val="30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不变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062216" y="3933444"/>
            <a:ext cx="363220" cy="0"/>
          </a:xfrm>
          <a:custGeom>
            <a:avLst/>
            <a:gdLst/>
            <a:ahLst/>
            <a:cxnLst/>
            <a:rect l="l" t="t" r="r" b="b"/>
            <a:pathLst>
              <a:path w="363220" h="0">
                <a:moveTo>
                  <a:pt x="0" y="0"/>
                </a:moveTo>
                <a:lnTo>
                  <a:pt x="362711" y="0"/>
                </a:lnTo>
              </a:path>
            </a:pathLst>
          </a:custGeom>
          <a:ln w="57150">
            <a:solidFill>
              <a:srgbClr val="FF7B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178040" y="3934205"/>
            <a:ext cx="114300" cy="495300"/>
          </a:xfrm>
          <a:custGeom>
            <a:avLst/>
            <a:gdLst/>
            <a:ahLst/>
            <a:cxnLst/>
            <a:rect l="l" t="t" r="r" b="b"/>
            <a:pathLst>
              <a:path w="114300" h="495300">
                <a:moveTo>
                  <a:pt x="38100" y="381000"/>
                </a:moveTo>
                <a:lnTo>
                  <a:pt x="0" y="381000"/>
                </a:lnTo>
                <a:lnTo>
                  <a:pt x="57150" y="495300"/>
                </a:lnTo>
                <a:lnTo>
                  <a:pt x="104775" y="400050"/>
                </a:lnTo>
                <a:lnTo>
                  <a:pt x="38100" y="400050"/>
                </a:lnTo>
                <a:lnTo>
                  <a:pt x="38100" y="381000"/>
                </a:lnTo>
                <a:close/>
              </a:path>
              <a:path w="114300" h="495300">
                <a:moveTo>
                  <a:pt x="76200" y="0"/>
                </a:moveTo>
                <a:lnTo>
                  <a:pt x="38100" y="0"/>
                </a:lnTo>
                <a:lnTo>
                  <a:pt x="38100" y="400050"/>
                </a:lnTo>
                <a:lnTo>
                  <a:pt x="76200" y="400050"/>
                </a:lnTo>
                <a:lnTo>
                  <a:pt x="76200" y="0"/>
                </a:lnTo>
                <a:close/>
              </a:path>
              <a:path w="114300" h="495300">
                <a:moveTo>
                  <a:pt x="114300" y="381000"/>
                </a:moveTo>
                <a:lnTo>
                  <a:pt x="76200" y="381000"/>
                </a:lnTo>
                <a:lnTo>
                  <a:pt x="76200" y="400050"/>
                </a:lnTo>
                <a:lnTo>
                  <a:pt x="104775" y="400050"/>
                </a:lnTo>
                <a:lnTo>
                  <a:pt x="114300" y="381000"/>
                </a:lnTo>
                <a:close/>
              </a:path>
            </a:pathLst>
          </a:custGeom>
          <a:solidFill>
            <a:srgbClr val="FF7B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291834" y="4429505"/>
            <a:ext cx="2767965" cy="103505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algn="just" marL="91440" marR="141605">
              <a:lnSpc>
                <a:spcPts val="2450"/>
              </a:lnSpc>
              <a:spcBef>
                <a:spcPts val="325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个数可以无穷多个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只能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400" spc="-69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递归表示且 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不</a:t>
            </a:r>
            <a:r>
              <a:rPr dirty="0" sz="2400" spc="-62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能用左递归。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000244" y="4986528"/>
            <a:ext cx="533400" cy="4191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000244" y="4986528"/>
            <a:ext cx="533400" cy="419100"/>
          </a:xfrm>
          <a:custGeom>
            <a:avLst/>
            <a:gdLst/>
            <a:ahLst/>
            <a:cxnLst/>
            <a:rect l="l" t="t" r="r" b="b"/>
            <a:pathLst>
              <a:path w="533400" h="419100">
                <a:moveTo>
                  <a:pt x="0" y="314325"/>
                </a:moveTo>
                <a:lnTo>
                  <a:pt x="133350" y="314325"/>
                </a:lnTo>
                <a:lnTo>
                  <a:pt x="133350" y="0"/>
                </a:lnTo>
                <a:lnTo>
                  <a:pt x="400050" y="0"/>
                </a:lnTo>
                <a:lnTo>
                  <a:pt x="400050" y="314325"/>
                </a:lnTo>
                <a:lnTo>
                  <a:pt x="533400" y="314325"/>
                </a:lnTo>
                <a:lnTo>
                  <a:pt x="266700" y="419100"/>
                </a:lnTo>
                <a:lnTo>
                  <a:pt x="0" y="314325"/>
                </a:lnTo>
                <a:close/>
              </a:path>
            </a:pathLst>
          </a:custGeom>
          <a:ln w="9525">
            <a:solidFill>
              <a:srgbClr val="CC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058283" y="5245350"/>
            <a:ext cx="276860" cy="604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800" spc="-114" b="1" i="1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endParaRPr sz="3800">
              <a:latin typeface="Symbol"/>
              <a:cs typeface="Symbo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441692" y="5483352"/>
            <a:ext cx="533400" cy="40843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441692" y="5483352"/>
            <a:ext cx="533400" cy="408940"/>
          </a:xfrm>
          <a:custGeom>
            <a:avLst/>
            <a:gdLst/>
            <a:ahLst/>
            <a:cxnLst/>
            <a:rect l="l" t="t" r="r" b="b"/>
            <a:pathLst>
              <a:path w="533400" h="408939">
                <a:moveTo>
                  <a:pt x="0" y="296316"/>
                </a:moveTo>
                <a:lnTo>
                  <a:pt x="133350" y="296316"/>
                </a:lnTo>
                <a:lnTo>
                  <a:pt x="133350" y="0"/>
                </a:lnTo>
                <a:lnTo>
                  <a:pt x="400050" y="0"/>
                </a:lnTo>
                <a:lnTo>
                  <a:pt x="400050" y="296316"/>
                </a:lnTo>
                <a:lnTo>
                  <a:pt x="533400" y="296316"/>
                </a:lnTo>
                <a:lnTo>
                  <a:pt x="266700" y="408432"/>
                </a:lnTo>
                <a:lnTo>
                  <a:pt x="0" y="296316"/>
                </a:lnTo>
                <a:close/>
              </a:path>
            </a:pathLst>
          </a:custGeom>
          <a:ln w="9525">
            <a:solidFill>
              <a:srgbClr val="CC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791461" y="5799582"/>
            <a:ext cx="2367280" cy="58547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1587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125"/>
              </a:spcBef>
            </a:pP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′→</a:t>
            </a:r>
            <a:r>
              <a:rPr dirty="0" sz="32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50" spc="-2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3200" spc="-2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200" spc="-20" b="1">
                <a:solidFill>
                  <a:srgbClr val="FFFFFF"/>
                </a:solidFill>
                <a:latin typeface="Times New Roman"/>
                <a:cs typeface="Times New Roman"/>
              </a:rPr>
              <a:t>′|</a:t>
            </a:r>
            <a:r>
              <a:rPr dirty="0" sz="3200" spc="-20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23938" y="5918453"/>
            <a:ext cx="883919" cy="56578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360045">
              <a:lnSpc>
                <a:spcPts val="4245"/>
              </a:lnSpc>
            </a:pPr>
            <a:r>
              <a:rPr dirty="0" sz="36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′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572000" y="6094095"/>
            <a:ext cx="2577465" cy="171450"/>
          </a:xfrm>
          <a:custGeom>
            <a:avLst/>
            <a:gdLst/>
            <a:ahLst/>
            <a:cxnLst/>
            <a:rect l="l" t="t" r="r" b="b"/>
            <a:pathLst>
              <a:path w="2577465" h="171450">
                <a:moveTo>
                  <a:pt x="171450" y="0"/>
                </a:moveTo>
                <a:lnTo>
                  <a:pt x="0" y="85724"/>
                </a:lnTo>
                <a:lnTo>
                  <a:pt x="171450" y="171449"/>
                </a:lnTo>
                <a:lnTo>
                  <a:pt x="171450" y="114299"/>
                </a:lnTo>
                <a:lnTo>
                  <a:pt x="142875" y="114299"/>
                </a:lnTo>
                <a:lnTo>
                  <a:pt x="142875" y="57149"/>
                </a:lnTo>
                <a:lnTo>
                  <a:pt x="171450" y="57149"/>
                </a:lnTo>
                <a:lnTo>
                  <a:pt x="171450" y="0"/>
                </a:lnTo>
                <a:close/>
              </a:path>
              <a:path w="2577465" h="171450">
                <a:moveTo>
                  <a:pt x="171450" y="57149"/>
                </a:moveTo>
                <a:lnTo>
                  <a:pt x="142875" y="57149"/>
                </a:lnTo>
                <a:lnTo>
                  <a:pt x="142875" y="114299"/>
                </a:lnTo>
                <a:lnTo>
                  <a:pt x="171450" y="114299"/>
                </a:lnTo>
                <a:lnTo>
                  <a:pt x="171450" y="57149"/>
                </a:lnTo>
                <a:close/>
              </a:path>
              <a:path w="2577465" h="171450">
                <a:moveTo>
                  <a:pt x="2577083" y="57149"/>
                </a:moveTo>
                <a:lnTo>
                  <a:pt x="171450" y="57149"/>
                </a:lnTo>
                <a:lnTo>
                  <a:pt x="171450" y="114299"/>
                </a:lnTo>
                <a:lnTo>
                  <a:pt x="2577083" y="114299"/>
                </a:lnTo>
                <a:lnTo>
                  <a:pt x="2577083" y="57149"/>
                </a:lnTo>
                <a:close/>
              </a:path>
            </a:pathLst>
          </a:custGeom>
          <a:solidFill>
            <a:srgbClr val="FFC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770126" y="5037582"/>
            <a:ext cx="2324100" cy="611505"/>
          </a:xfrm>
          <a:custGeom>
            <a:avLst/>
            <a:gdLst/>
            <a:ahLst/>
            <a:cxnLst/>
            <a:rect l="l" t="t" r="r" b="b"/>
            <a:pathLst>
              <a:path w="2324100" h="611504">
                <a:moveTo>
                  <a:pt x="0" y="611124"/>
                </a:moveTo>
                <a:lnTo>
                  <a:pt x="2324100" y="611124"/>
                </a:lnTo>
                <a:lnTo>
                  <a:pt x="2324100" y="0"/>
                </a:lnTo>
                <a:lnTo>
                  <a:pt x="0" y="0"/>
                </a:lnTo>
                <a:lnTo>
                  <a:pt x="0" y="611124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280160" y="4776215"/>
            <a:ext cx="3173095" cy="1746885"/>
          </a:xfrm>
          <a:prstGeom prst="rect">
            <a:avLst/>
          </a:prstGeom>
          <a:ln w="57150">
            <a:solidFill>
              <a:srgbClr val="FF99CC"/>
            </a:solidFill>
          </a:ln>
        </p:spPr>
        <p:txBody>
          <a:bodyPr wrap="square" lIns="0" tIns="201930" rIns="0" bIns="0" rtlCol="0" vert="horz">
            <a:spAutoFit/>
          </a:bodyPr>
          <a:lstStyle/>
          <a:p>
            <a:pPr marL="581025">
              <a:lnSpc>
                <a:spcPct val="100000"/>
              </a:lnSpc>
              <a:spcBef>
                <a:spcPts val="159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P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800" spc="-35" b="1" i="1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dirty="0" sz="3200" spc="-3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200" spc="-35" b="1">
                <a:solidFill>
                  <a:srgbClr val="FFFFFF"/>
                </a:solidFill>
                <a:latin typeface="Times New Roman"/>
                <a:cs typeface="Times New Roman"/>
              </a:rPr>
              <a:t>′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95500" y="2209800"/>
            <a:ext cx="5612892" cy="7056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095500" y="2209800"/>
            <a:ext cx="5613400" cy="706120"/>
          </a:xfrm>
          <a:prstGeom prst="rect">
            <a:avLst/>
          </a:prstGeom>
          <a:ln w="9525">
            <a:solidFill>
              <a:srgbClr val="66FFFF"/>
            </a:solidFill>
          </a:ln>
        </p:spPr>
        <p:txBody>
          <a:bodyPr wrap="square" lIns="0" tIns="105410" rIns="0" bIns="0" rtlCol="0" vert="horz">
            <a:spAutoFit/>
          </a:bodyPr>
          <a:lstStyle/>
          <a:p>
            <a:pPr marL="255904">
              <a:lnSpc>
                <a:spcPct val="100000"/>
              </a:lnSpc>
              <a:spcBef>
                <a:spcPts val="830"/>
              </a:spcBef>
              <a:tabLst>
                <a:tab pos="2165985" algn="l"/>
              </a:tabLst>
            </a:pPr>
            <a:r>
              <a:rPr dirty="0" sz="2800" spc="-30" b="1" i="1">
                <a:solidFill>
                  <a:srgbClr val="1E2D52"/>
                </a:solidFill>
                <a:latin typeface="Times New Roman"/>
                <a:cs typeface="Times New Roman"/>
              </a:rPr>
              <a:t>P</a:t>
            </a:r>
            <a:r>
              <a:rPr dirty="0" sz="2800" spc="-30" b="1">
                <a:solidFill>
                  <a:srgbClr val="1E2D52"/>
                </a:solidFill>
                <a:latin typeface="Times New Roman"/>
                <a:cs typeface="Times New Roman"/>
              </a:rPr>
              <a:t>→</a:t>
            </a:r>
            <a:r>
              <a:rPr dirty="0" sz="2800" spc="-30" b="1" i="1">
                <a:solidFill>
                  <a:srgbClr val="1E2D52"/>
                </a:solidFill>
                <a:latin typeface="Times New Roman"/>
                <a:cs typeface="Times New Roman"/>
              </a:rPr>
              <a:t>P</a:t>
            </a:r>
            <a:r>
              <a:rPr dirty="0" sz="2950" spc="-30" b="1" i="1">
                <a:latin typeface="Symbol"/>
                <a:cs typeface="Symbol"/>
              </a:rPr>
              <a:t></a:t>
            </a:r>
            <a:r>
              <a:rPr dirty="0" sz="2950" spc="-20" b="1" i="1"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1E2D52"/>
                </a:solidFill>
                <a:latin typeface="Times New Roman"/>
                <a:cs typeface="Times New Roman"/>
              </a:rPr>
              <a:t>|</a:t>
            </a:r>
            <a:r>
              <a:rPr dirty="0" sz="2800" b="1">
                <a:solidFill>
                  <a:srgbClr val="1E2D52"/>
                </a:solidFill>
                <a:latin typeface="Times New Roman"/>
                <a:cs typeface="Times New Roman"/>
              </a:rPr>
              <a:t> </a:t>
            </a:r>
            <a:r>
              <a:rPr dirty="0" sz="2950" spc="-90" b="1" i="1">
                <a:solidFill>
                  <a:srgbClr val="1E2D52"/>
                </a:solidFill>
                <a:latin typeface="Symbol"/>
                <a:cs typeface="Symbol"/>
              </a:rPr>
              <a:t></a:t>
            </a:r>
            <a:r>
              <a:rPr dirty="0" sz="2950" spc="-90">
                <a:solidFill>
                  <a:srgbClr val="1E2D52"/>
                </a:solidFill>
                <a:latin typeface="Times New Roman"/>
                <a:cs typeface="Times New Roman"/>
              </a:rPr>
              <a:t>	</a:t>
            </a:r>
            <a:r>
              <a:rPr dirty="0" sz="3350" spc="-90" b="1" i="1">
                <a:latin typeface="Symbol"/>
                <a:cs typeface="Symbol"/>
              </a:rPr>
              <a:t></a:t>
            </a:r>
            <a:r>
              <a:rPr dirty="0" sz="2800" spc="-5" b="1">
                <a:solidFill>
                  <a:srgbClr val="1E2D52"/>
                </a:solidFill>
                <a:latin typeface="宋体"/>
                <a:cs typeface="宋体"/>
              </a:rPr>
              <a:t>、</a:t>
            </a:r>
            <a:r>
              <a:rPr dirty="0" sz="2950" spc="-10" b="1" i="1">
                <a:solidFill>
                  <a:srgbClr val="1E2D52"/>
                </a:solidFill>
                <a:latin typeface="Symbol"/>
                <a:cs typeface="Symbol"/>
              </a:rPr>
              <a:t></a:t>
            </a:r>
            <a:r>
              <a:rPr dirty="0" sz="2800" spc="-10" b="1">
                <a:solidFill>
                  <a:srgbClr val="1E2D52"/>
                </a:solidFill>
                <a:latin typeface="宋体"/>
                <a:cs typeface="宋体"/>
              </a:rPr>
              <a:t>∈</a:t>
            </a:r>
            <a:r>
              <a:rPr dirty="0" sz="2800" spc="-10" b="1" i="1">
                <a:solidFill>
                  <a:srgbClr val="1E2D52"/>
                </a:solidFill>
                <a:latin typeface="Times New Roman"/>
                <a:cs typeface="Times New Roman"/>
              </a:rPr>
              <a:t>(V</a:t>
            </a:r>
            <a:r>
              <a:rPr dirty="0" baseline="-25525" sz="2775" spc="-15" b="1" i="1">
                <a:solidFill>
                  <a:srgbClr val="1E2D52"/>
                </a:solidFill>
                <a:latin typeface="Times New Roman"/>
                <a:cs typeface="Times New Roman"/>
              </a:rPr>
              <a:t>T</a:t>
            </a:r>
            <a:r>
              <a:rPr dirty="0" sz="2800" spc="-10" b="1">
                <a:solidFill>
                  <a:srgbClr val="1E2D52"/>
                </a:solidFill>
                <a:latin typeface="宋体"/>
                <a:cs typeface="宋体"/>
              </a:rPr>
              <a:t>∪</a:t>
            </a:r>
            <a:r>
              <a:rPr dirty="0" sz="2800" spc="-10" b="1" i="1">
                <a:solidFill>
                  <a:srgbClr val="1E2D52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spc="-15" b="1" i="1">
                <a:solidFill>
                  <a:srgbClr val="1E2D52"/>
                </a:solidFill>
                <a:latin typeface="Times New Roman"/>
                <a:cs typeface="Times New Roman"/>
              </a:rPr>
              <a:t>N</a:t>
            </a:r>
            <a:r>
              <a:rPr dirty="0" sz="2800" spc="-10" b="1">
                <a:solidFill>
                  <a:srgbClr val="1E2D52"/>
                </a:solidFill>
                <a:latin typeface="Times New Roman"/>
                <a:cs typeface="Times New Roman"/>
              </a:rPr>
              <a:t>)</a:t>
            </a:r>
            <a:r>
              <a:rPr dirty="0" baseline="25525" sz="2775" spc="-15" b="1">
                <a:solidFill>
                  <a:srgbClr val="1E2D52"/>
                </a:solidFill>
                <a:latin typeface="Times New Roman"/>
                <a:cs typeface="Times New Roman"/>
              </a:rPr>
              <a:t>*</a:t>
            </a:r>
            <a:endParaRPr baseline="25525" sz="2775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20873" y="4821173"/>
            <a:ext cx="3752088" cy="11551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420873" y="4821173"/>
            <a:ext cx="3752215" cy="1155700"/>
          </a:xfrm>
          <a:custGeom>
            <a:avLst/>
            <a:gdLst/>
            <a:ahLst/>
            <a:cxnLst/>
            <a:rect l="l" t="t" r="r" b="b"/>
            <a:pathLst>
              <a:path w="3752215" h="1155700">
                <a:moveTo>
                  <a:pt x="0" y="1155192"/>
                </a:moveTo>
                <a:lnTo>
                  <a:pt x="3752088" y="1155192"/>
                </a:lnTo>
                <a:lnTo>
                  <a:pt x="3752088" y="0"/>
                </a:lnTo>
                <a:lnTo>
                  <a:pt x="0" y="0"/>
                </a:lnTo>
                <a:lnTo>
                  <a:pt x="0" y="115519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83540" y="3076420"/>
            <a:ext cx="7469505" cy="28200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905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其中</a:t>
            </a:r>
            <a:r>
              <a:rPr dirty="0" sz="2800" spc="-4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950" spc="-45" b="1" i="1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不以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开头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15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把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的规则改写成如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下</a:t>
            </a:r>
            <a:r>
              <a:rPr dirty="0" sz="2800" spc="-74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等价的非直接左递归形式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050">
              <a:latin typeface="宋体"/>
              <a:cs typeface="宋体"/>
            </a:endParaRPr>
          </a:p>
          <a:p>
            <a:pPr marL="2749550">
              <a:lnSpc>
                <a:spcPct val="100000"/>
              </a:lnSpc>
            </a:pPr>
            <a:r>
              <a:rPr dirty="0" sz="3200" b="1" i="1">
                <a:latin typeface="Times New Roman"/>
                <a:cs typeface="Times New Roman"/>
              </a:rPr>
              <a:t>P</a:t>
            </a:r>
            <a:r>
              <a:rPr dirty="0" sz="3200" spc="-125" b="1" i="1">
                <a:latin typeface="Times New Roman"/>
                <a:cs typeface="Times New Roman"/>
              </a:rPr>
              <a:t> </a:t>
            </a:r>
            <a:r>
              <a:rPr dirty="0" sz="3200" spc="-20" b="1">
                <a:latin typeface="Times New Roman"/>
                <a:cs typeface="Times New Roman"/>
              </a:rPr>
              <a:t>→</a:t>
            </a:r>
            <a:r>
              <a:rPr dirty="0" sz="3350" spc="-20" b="1" i="1">
                <a:latin typeface="Symbol"/>
                <a:cs typeface="Symbol"/>
              </a:rPr>
              <a:t></a:t>
            </a:r>
            <a:r>
              <a:rPr dirty="0" sz="3200" spc="-20" b="1" i="1">
                <a:latin typeface="Times New Roman"/>
                <a:cs typeface="Times New Roman"/>
              </a:rPr>
              <a:t>P</a:t>
            </a:r>
            <a:r>
              <a:rPr dirty="0" sz="3200" spc="-20" b="1">
                <a:latin typeface="Times New Roman"/>
                <a:cs typeface="Times New Roman"/>
              </a:rPr>
              <a:t>′</a:t>
            </a:r>
            <a:endParaRPr sz="3200">
              <a:latin typeface="Times New Roman"/>
              <a:cs typeface="Times New Roman"/>
            </a:endParaRPr>
          </a:p>
          <a:p>
            <a:pPr marL="2736850">
              <a:lnSpc>
                <a:spcPct val="100000"/>
              </a:lnSpc>
              <a:spcBef>
                <a:spcPts val="975"/>
              </a:spcBef>
            </a:pPr>
            <a:r>
              <a:rPr dirty="0" sz="3200" spc="-5" b="1" i="1">
                <a:latin typeface="Times New Roman"/>
                <a:cs typeface="Times New Roman"/>
              </a:rPr>
              <a:t>P</a:t>
            </a:r>
            <a:r>
              <a:rPr dirty="0" sz="3200" spc="-5" b="1">
                <a:latin typeface="Times New Roman"/>
                <a:cs typeface="Times New Roman"/>
              </a:rPr>
              <a:t>′→ </a:t>
            </a:r>
            <a:r>
              <a:rPr dirty="0" sz="3350" spc="-95" b="1" i="1">
                <a:latin typeface="Symbol"/>
                <a:cs typeface="Symbol"/>
              </a:rPr>
              <a:t></a:t>
            </a:r>
            <a:r>
              <a:rPr dirty="0" sz="3350" spc="-50" b="1" i="1">
                <a:latin typeface="Times New Roman"/>
                <a:cs typeface="Times New Roman"/>
              </a:rPr>
              <a:t> </a:t>
            </a:r>
            <a:r>
              <a:rPr dirty="0" sz="3200" spc="-5" b="1" i="1">
                <a:latin typeface="Times New Roman"/>
                <a:cs typeface="Times New Roman"/>
              </a:rPr>
              <a:t>P</a:t>
            </a:r>
            <a:r>
              <a:rPr dirty="0" sz="3200" spc="-5" b="1">
                <a:latin typeface="Times New Roman"/>
                <a:cs typeface="Times New Roman"/>
              </a:rPr>
              <a:t>′|</a:t>
            </a:r>
            <a:r>
              <a:rPr dirty="0" sz="3200" spc="-5" b="1" i="1">
                <a:latin typeface="Times New Roman"/>
                <a:cs typeface="Times New Roman"/>
              </a:rPr>
              <a:t>ε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05231" y="26923"/>
            <a:ext cx="8707120" cy="20110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  <a:tab pos="17970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4.2</a:t>
            </a:r>
            <a:r>
              <a:rPr dirty="0" sz="2000" spc="47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不确定的自上而下分析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sz="2000" spc="450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4.2.2</a:t>
            </a:r>
            <a:r>
              <a:rPr dirty="0" u="sng" sz="2000" spc="4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不确定性原因与解决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方法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250">
              <a:latin typeface="宋体"/>
              <a:cs typeface="宋体"/>
            </a:endParaRPr>
          </a:p>
          <a:p>
            <a:pPr marL="190500">
              <a:lnSpc>
                <a:spcPct val="100000"/>
              </a:lnSpc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3200" spc="-83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直接左递归的消除：</a:t>
            </a:r>
            <a:endParaRPr sz="3200">
              <a:latin typeface="宋体"/>
              <a:cs typeface="宋体"/>
            </a:endParaRPr>
          </a:p>
          <a:p>
            <a:pPr marL="1105535">
              <a:lnSpc>
                <a:spcPct val="100000"/>
              </a:lnSpc>
              <a:spcBef>
                <a:spcPts val="1855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假定关于非终结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的规则为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561212"/>
            <a:ext cx="826769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4.6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95957" y="474878"/>
            <a:ext cx="4488180" cy="105029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设有简单表达式文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: </a:t>
            </a:r>
            <a:endParaRPr sz="2800">
              <a:latin typeface="宋体"/>
              <a:cs typeface="宋体"/>
            </a:endParaRPr>
          </a:p>
          <a:p>
            <a:pPr marL="914400">
              <a:lnSpc>
                <a:spcPct val="100000"/>
              </a:lnSpc>
              <a:spcBef>
                <a:spcPts val="67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→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E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E </a:t>
            </a: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800" spc="-1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4242" y="1631645"/>
            <a:ext cx="63195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消除二义性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后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，得到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文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'(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800" spc="2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74798" y="2058441"/>
            <a:ext cx="1748789" cy="1626235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T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7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  <a:p>
            <a:pPr marL="12700" marR="30480">
              <a:lnSpc>
                <a:spcPts val="4200"/>
              </a:lnSpc>
              <a:spcBef>
                <a:spcPts val="280"/>
              </a:spcBef>
            </a:pP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*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F 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|</a:t>
            </a:r>
            <a:r>
              <a:rPr dirty="0" sz="2800" spc="-8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F  </a:t>
            </a:r>
            <a:r>
              <a:rPr dirty="0" sz="2800" spc="-5" b="1" i="1">
                <a:solidFill>
                  <a:srgbClr val="FF99CC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FF99CC"/>
                </a:solidFill>
                <a:latin typeface="Times New Roman"/>
                <a:cs typeface="Times New Roman"/>
              </a:rPr>
              <a:t>→(</a:t>
            </a:r>
            <a:r>
              <a:rPr dirty="0" sz="2800" spc="-5" b="1" i="1">
                <a:solidFill>
                  <a:srgbClr val="FF99CC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99CC"/>
                </a:solidFill>
                <a:latin typeface="Times New Roman"/>
                <a:cs typeface="Times New Roman"/>
              </a:rPr>
              <a:t>) |</a:t>
            </a:r>
            <a:r>
              <a:rPr dirty="0" sz="2800" spc="-20" b="1">
                <a:solidFill>
                  <a:srgbClr val="FF99CC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99CC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20061" y="2172461"/>
            <a:ext cx="3048000" cy="1559560"/>
          </a:xfrm>
          <a:custGeom>
            <a:avLst/>
            <a:gdLst/>
            <a:ahLst/>
            <a:cxnLst/>
            <a:rect l="l" t="t" r="r" b="b"/>
            <a:pathLst>
              <a:path w="3048000" h="1559560">
                <a:moveTo>
                  <a:pt x="0" y="1559052"/>
                </a:moveTo>
                <a:lnTo>
                  <a:pt x="3048000" y="1559052"/>
                </a:lnTo>
                <a:lnTo>
                  <a:pt x="3048000" y="0"/>
                </a:lnTo>
                <a:lnTo>
                  <a:pt x="0" y="0"/>
                </a:lnTo>
                <a:lnTo>
                  <a:pt x="0" y="155905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12140" y="3815029"/>
            <a:ext cx="765238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继续消除文</a:t>
            </a:r>
            <a:r>
              <a:rPr dirty="0" sz="2800" spc="-2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'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的左递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归</a:t>
            </a:r>
            <a:r>
              <a:rPr dirty="0" sz="2800" spc="-69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，得到文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2800" spc="1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〞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81961" y="4335016"/>
            <a:ext cx="3190240" cy="2486025"/>
          </a:xfrm>
          <a:prstGeom prst="rect">
            <a:avLst/>
          </a:prstGeom>
          <a:ln w="38100">
            <a:solidFill>
              <a:srgbClr val="FF99CC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573405" marR="850900">
              <a:lnSpc>
                <a:spcPts val="3860"/>
              </a:lnSpc>
              <a:spcBef>
                <a:spcPts val="7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E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TE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′ 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′→</a:t>
            </a:r>
            <a:r>
              <a:rPr dirty="0" sz="2800" spc="-8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TE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′|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  <a:p>
            <a:pPr marL="573405" marR="893444">
              <a:lnSpc>
                <a:spcPts val="3860"/>
              </a:lnSpc>
              <a:spcBef>
                <a:spcPts val="10"/>
              </a:spcBef>
            </a:pP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T 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→ </a:t>
            </a:r>
            <a:r>
              <a:rPr dirty="0" sz="2800" spc="-10" b="1" i="1">
                <a:solidFill>
                  <a:srgbClr val="66FFFF"/>
                </a:solidFill>
                <a:latin typeface="Times New Roman"/>
                <a:cs typeface="Times New Roman"/>
              </a:rPr>
              <a:t>FT</a:t>
            </a:r>
            <a:r>
              <a:rPr dirty="0" sz="2800" spc="-10" b="1">
                <a:solidFill>
                  <a:srgbClr val="66FFFF"/>
                </a:solidFill>
                <a:latin typeface="Times New Roman"/>
                <a:cs typeface="Times New Roman"/>
              </a:rPr>
              <a:t>′  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′→</a:t>
            </a:r>
            <a:r>
              <a:rPr dirty="0" sz="2800" spc="-7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66FFFF"/>
                </a:solidFill>
                <a:latin typeface="Times New Roman"/>
                <a:cs typeface="Times New Roman"/>
              </a:rPr>
              <a:t>*</a:t>
            </a:r>
            <a:r>
              <a:rPr dirty="0" sz="2800" spc="-10" b="1" i="1">
                <a:solidFill>
                  <a:srgbClr val="66FFFF"/>
                </a:solidFill>
                <a:latin typeface="Times New Roman"/>
                <a:cs typeface="Times New Roman"/>
              </a:rPr>
              <a:t>FT</a:t>
            </a:r>
            <a:r>
              <a:rPr dirty="0" sz="2800" spc="-10" b="1">
                <a:solidFill>
                  <a:srgbClr val="66FFFF"/>
                </a:solidFill>
                <a:latin typeface="Times New Roman"/>
                <a:cs typeface="Times New Roman"/>
              </a:rPr>
              <a:t>′|</a:t>
            </a:r>
            <a:r>
              <a:rPr dirty="0" sz="2800" spc="-10" b="1" i="1">
                <a:solidFill>
                  <a:srgbClr val="66FFFF"/>
                </a:solidFill>
                <a:latin typeface="Times New Roman"/>
                <a:cs typeface="Times New Roman"/>
              </a:rPr>
              <a:t>ε  </a:t>
            </a:r>
            <a:r>
              <a:rPr dirty="0" sz="2800" spc="-5" b="1" i="1">
                <a:solidFill>
                  <a:srgbClr val="FF99CC"/>
                </a:solidFill>
                <a:latin typeface="Times New Roman"/>
                <a:cs typeface="Times New Roman"/>
              </a:rPr>
              <a:t>F </a:t>
            </a:r>
            <a:r>
              <a:rPr dirty="0" sz="2800" spc="-5" b="1">
                <a:solidFill>
                  <a:srgbClr val="FF99CC"/>
                </a:solidFill>
                <a:latin typeface="Times New Roman"/>
                <a:cs typeface="Times New Roman"/>
              </a:rPr>
              <a:t>→( </a:t>
            </a:r>
            <a:r>
              <a:rPr dirty="0" sz="2800" spc="-5" b="1" i="1">
                <a:solidFill>
                  <a:srgbClr val="FF99CC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99CC"/>
                </a:solidFill>
                <a:latin typeface="Times New Roman"/>
                <a:cs typeface="Times New Roman"/>
              </a:rPr>
              <a:t>) |</a:t>
            </a:r>
            <a:r>
              <a:rPr dirty="0" sz="2800" spc="-50" b="1">
                <a:solidFill>
                  <a:srgbClr val="FF99CC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99CC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1" y="20574"/>
            <a:ext cx="9144000" cy="4343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61" y="20574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39"/>
                </a:moveTo>
                <a:lnTo>
                  <a:pt x="9144000" y="434339"/>
                </a:lnTo>
                <a:lnTo>
                  <a:pt x="9144000" y="0"/>
                </a:lnTo>
                <a:lnTo>
                  <a:pt x="0" y="0"/>
                </a:lnTo>
                <a:lnTo>
                  <a:pt x="0" y="434339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05231" y="46100"/>
            <a:ext cx="87071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  <a:tab pos="17970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4.2</a:t>
            </a:r>
            <a:r>
              <a:rPr dirty="0" sz="2000" spc="47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不确定的自上而下分析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sz="2000" spc="450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4.2.2</a:t>
            </a:r>
            <a:r>
              <a:rPr dirty="0" u="sng" sz="2000" spc="4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不确定性原因与解决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方法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007358" y="2172461"/>
            <a:ext cx="480059" cy="1094740"/>
          </a:xfrm>
          <a:custGeom>
            <a:avLst/>
            <a:gdLst/>
            <a:ahLst/>
            <a:cxnLst/>
            <a:rect l="l" t="t" r="r" b="b"/>
            <a:pathLst>
              <a:path w="480060" h="1094739">
                <a:moveTo>
                  <a:pt x="0" y="547115"/>
                </a:moveTo>
                <a:lnTo>
                  <a:pt x="1614" y="483316"/>
                </a:lnTo>
                <a:lnTo>
                  <a:pt x="6338" y="421677"/>
                </a:lnTo>
                <a:lnTo>
                  <a:pt x="13990" y="362608"/>
                </a:lnTo>
                <a:lnTo>
                  <a:pt x="24392" y="306521"/>
                </a:lnTo>
                <a:lnTo>
                  <a:pt x="37364" y="253827"/>
                </a:lnTo>
                <a:lnTo>
                  <a:pt x="52724" y="204935"/>
                </a:lnTo>
                <a:lnTo>
                  <a:pt x="70294" y="160258"/>
                </a:lnTo>
                <a:lnTo>
                  <a:pt x="89893" y="120204"/>
                </a:lnTo>
                <a:lnTo>
                  <a:pt x="111342" y="85186"/>
                </a:lnTo>
                <a:lnTo>
                  <a:pt x="159068" y="31899"/>
                </a:lnTo>
                <a:lnTo>
                  <a:pt x="212033" y="3681"/>
                </a:lnTo>
                <a:lnTo>
                  <a:pt x="240029" y="0"/>
                </a:lnTo>
                <a:lnTo>
                  <a:pt x="268026" y="3681"/>
                </a:lnTo>
                <a:lnTo>
                  <a:pt x="320991" y="31899"/>
                </a:lnTo>
                <a:lnTo>
                  <a:pt x="368717" y="85186"/>
                </a:lnTo>
                <a:lnTo>
                  <a:pt x="390166" y="120204"/>
                </a:lnTo>
                <a:lnTo>
                  <a:pt x="409765" y="160258"/>
                </a:lnTo>
                <a:lnTo>
                  <a:pt x="427335" y="204935"/>
                </a:lnTo>
                <a:lnTo>
                  <a:pt x="442695" y="253827"/>
                </a:lnTo>
                <a:lnTo>
                  <a:pt x="455667" y="306521"/>
                </a:lnTo>
                <a:lnTo>
                  <a:pt x="466069" y="362608"/>
                </a:lnTo>
                <a:lnTo>
                  <a:pt x="473721" y="421677"/>
                </a:lnTo>
                <a:lnTo>
                  <a:pt x="478445" y="483316"/>
                </a:lnTo>
                <a:lnTo>
                  <a:pt x="480059" y="547115"/>
                </a:lnTo>
                <a:lnTo>
                  <a:pt x="478445" y="610915"/>
                </a:lnTo>
                <a:lnTo>
                  <a:pt x="473721" y="672554"/>
                </a:lnTo>
                <a:lnTo>
                  <a:pt x="466069" y="731623"/>
                </a:lnTo>
                <a:lnTo>
                  <a:pt x="455667" y="787710"/>
                </a:lnTo>
                <a:lnTo>
                  <a:pt x="442695" y="840404"/>
                </a:lnTo>
                <a:lnTo>
                  <a:pt x="427335" y="889296"/>
                </a:lnTo>
                <a:lnTo>
                  <a:pt x="409765" y="933973"/>
                </a:lnTo>
                <a:lnTo>
                  <a:pt x="390166" y="974027"/>
                </a:lnTo>
                <a:lnTo>
                  <a:pt x="368717" y="1009045"/>
                </a:lnTo>
                <a:lnTo>
                  <a:pt x="320991" y="1062332"/>
                </a:lnTo>
                <a:lnTo>
                  <a:pt x="268026" y="1090550"/>
                </a:lnTo>
                <a:lnTo>
                  <a:pt x="240029" y="1094232"/>
                </a:lnTo>
                <a:lnTo>
                  <a:pt x="212033" y="1090550"/>
                </a:lnTo>
                <a:lnTo>
                  <a:pt x="159068" y="1062332"/>
                </a:lnTo>
                <a:lnTo>
                  <a:pt x="111342" y="1009045"/>
                </a:lnTo>
                <a:lnTo>
                  <a:pt x="89893" y="974027"/>
                </a:lnTo>
                <a:lnTo>
                  <a:pt x="70294" y="933973"/>
                </a:lnTo>
                <a:lnTo>
                  <a:pt x="52724" y="889296"/>
                </a:lnTo>
                <a:lnTo>
                  <a:pt x="37364" y="840404"/>
                </a:lnTo>
                <a:lnTo>
                  <a:pt x="24392" y="787710"/>
                </a:lnTo>
                <a:lnTo>
                  <a:pt x="13990" y="731623"/>
                </a:lnTo>
                <a:lnTo>
                  <a:pt x="6338" y="672554"/>
                </a:lnTo>
                <a:lnTo>
                  <a:pt x="1614" y="610915"/>
                </a:lnTo>
                <a:lnTo>
                  <a:pt x="0" y="547115"/>
                </a:lnTo>
                <a:close/>
              </a:path>
            </a:pathLst>
          </a:custGeom>
          <a:ln w="38099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718684" y="2628138"/>
            <a:ext cx="1248537" cy="3474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579873" y="2715005"/>
            <a:ext cx="92487" cy="1737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487417" y="2715005"/>
            <a:ext cx="46243" cy="17373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18684" y="2628138"/>
            <a:ext cx="1249045" cy="347980"/>
          </a:xfrm>
          <a:custGeom>
            <a:avLst/>
            <a:gdLst/>
            <a:ahLst/>
            <a:cxnLst/>
            <a:rect l="l" t="t" r="r" b="b"/>
            <a:pathLst>
              <a:path w="1249045" h="347980">
                <a:moveTo>
                  <a:pt x="878586" y="0"/>
                </a:moveTo>
                <a:lnTo>
                  <a:pt x="878586" y="86867"/>
                </a:lnTo>
                <a:lnTo>
                  <a:pt x="0" y="86867"/>
                </a:lnTo>
                <a:lnTo>
                  <a:pt x="0" y="260603"/>
                </a:lnTo>
                <a:lnTo>
                  <a:pt x="878586" y="260603"/>
                </a:lnTo>
                <a:lnTo>
                  <a:pt x="878586" y="347472"/>
                </a:lnTo>
                <a:lnTo>
                  <a:pt x="1248537" y="173736"/>
                </a:lnTo>
                <a:lnTo>
                  <a:pt x="878586" y="0"/>
                </a:lnTo>
                <a:close/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579873" y="2715005"/>
            <a:ext cx="92710" cy="173990"/>
          </a:xfrm>
          <a:custGeom>
            <a:avLst/>
            <a:gdLst/>
            <a:ahLst/>
            <a:cxnLst/>
            <a:rect l="l" t="t" r="r" b="b"/>
            <a:pathLst>
              <a:path w="92710" h="173989">
                <a:moveTo>
                  <a:pt x="0" y="173736"/>
                </a:moveTo>
                <a:lnTo>
                  <a:pt x="92487" y="173736"/>
                </a:lnTo>
                <a:lnTo>
                  <a:pt x="92487" y="0"/>
                </a:lnTo>
                <a:lnTo>
                  <a:pt x="0" y="0"/>
                </a:lnTo>
                <a:lnTo>
                  <a:pt x="0" y="173736"/>
                </a:lnTo>
                <a:close/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510539" y="2695955"/>
            <a:ext cx="0" cy="212090"/>
          </a:xfrm>
          <a:custGeom>
            <a:avLst/>
            <a:gdLst/>
            <a:ahLst/>
            <a:cxnLst/>
            <a:rect l="l" t="t" r="r" b="b"/>
            <a:pathLst>
              <a:path w="0" h="212089">
                <a:moveTo>
                  <a:pt x="0" y="0"/>
                </a:moveTo>
                <a:lnTo>
                  <a:pt x="0" y="211836"/>
                </a:lnTo>
              </a:path>
            </a:pathLst>
          </a:custGeom>
          <a:ln w="84343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994653" y="2513838"/>
            <a:ext cx="551815" cy="571500"/>
          </a:xfrm>
          <a:custGeom>
            <a:avLst/>
            <a:gdLst/>
            <a:ahLst/>
            <a:cxnLst/>
            <a:rect l="l" t="t" r="r" b="b"/>
            <a:pathLst>
              <a:path w="551815" h="571500">
                <a:moveTo>
                  <a:pt x="0" y="571500"/>
                </a:moveTo>
                <a:lnTo>
                  <a:pt x="551688" y="571500"/>
                </a:lnTo>
                <a:lnTo>
                  <a:pt x="551688" y="0"/>
                </a:lnTo>
                <a:lnTo>
                  <a:pt x="0" y="0"/>
                </a:lnTo>
                <a:lnTo>
                  <a:pt x="0" y="571500"/>
                </a:lnTo>
                <a:close/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074155" y="2435771"/>
            <a:ext cx="276860" cy="603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800" spc="-114" b="1" i="1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endParaRPr sz="3800">
              <a:latin typeface="Symbol"/>
              <a:cs typeface="Symbo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341370" y="2158745"/>
            <a:ext cx="594360" cy="1092835"/>
          </a:xfrm>
          <a:custGeom>
            <a:avLst/>
            <a:gdLst/>
            <a:ahLst/>
            <a:cxnLst/>
            <a:rect l="l" t="t" r="r" b="b"/>
            <a:pathLst>
              <a:path w="594360" h="1092835">
                <a:moveTo>
                  <a:pt x="0" y="546353"/>
                </a:moveTo>
                <a:lnTo>
                  <a:pt x="1744" y="486821"/>
                </a:lnTo>
                <a:lnTo>
                  <a:pt x="6856" y="429145"/>
                </a:lnTo>
                <a:lnTo>
                  <a:pt x="15154" y="373660"/>
                </a:lnTo>
                <a:lnTo>
                  <a:pt x="26457" y="320699"/>
                </a:lnTo>
                <a:lnTo>
                  <a:pt x="40583" y="270594"/>
                </a:lnTo>
                <a:lnTo>
                  <a:pt x="57351" y="223680"/>
                </a:lnTo>
                <a:lnTo>
                  <a:pt x="76578" y="180289"/>
                </a:lnTo>
                <a:lnTo>
                  <a:pt x="98085" y="140755"/>
                </a:lnTo>
                <a:lnTo>
                  <a:pt x="121688" y="105412"/>
                </a:lnTo>
                <a:lnTo>
                  <a:pt x="147207" y="74591"/>
                </a:lnTo>
                <a:lnTo>
                  <a:pt x="203265" y="27852"/>
                </a:lnTo>
                <a:lnTo>
                  <a:pt x="264806" y="3205"/>
                </a:lnTo>
                <a:lnTo>
                  <a:pt x="297179" y="0"/>
                </a:lnTo>
                <a:lnTo>
                  <a:pt x="329553" y="3205"/>
                </a:lnTo>
                <a:lnTo>
                  <a:pt x="391094" y="27852"/>
                </a:lnTo>
                <a:lnTo>
                  <a:pt x="447152" y="74591"/>
                </a:lnTo>
                <a:lnTo>
                  <a:pt x="472671" y="105412"/>
                </a:lnTo>
                <a:lnTo>
                  <a:pt x="496274" y="140755"/>
                </a:lnTo>
                <a:lnTo>
                  <a:pt x="517781" y="180289"/>
                </a:lnTo>
                <a:lnTo>
                  <a:pt x="537008" y="223680"/>
                </a:lnTo>
                <a:lnTo>
                  <a:pt x="553776" y="270594"/>
                </a:lnTo>
                <a:lnTo>
                  <a:pt x="567902" y="320699"/>
                </a:lnTo>
                <a:lnTo>
                  <a:pt x="579205" y="373660"/>
                </a:lnTo>
                <a:lnTo>
                  <a:pt x="587503" y="429145"/>
                </a:lnTo>
                <a:lnTo>
                  <a:pt x="592615" y="486821"/>
                </a:lnTo>
                <a:lnTo>
                  <a:pt x="594359" y="546353"/>
                </a:lnTo>
                <a:lnTo>
                  <a:pt x="592615" y="605886"/>
                </a:lnTo>
                <a:lnTo>
                  <a:pt x="587503" y="663562"/>
                </a:lnTo>
                <a:lnTo>
                  <a:pt x="579205" y="719047"/>
                </a:lnTo>
                <a:lnTo>
                  <a:pt x="567902" y="772008"/>
                </a:lnTo>
                <a:lnTo>
                  <a:pt x="553776" y="822113"/>
                </a:lnTo>
                <a:lnTo>
                  <a:pt x="537008" y="869027"/>
                </a:lnTo>
                <a:lnTo>
                  <a:pt x="517781" y="912418"/>
                </a:lnTo>
                <a:lnTo>
                  <a:pt x="496274" y="951952"/>
                </a:lnTo>
                <a:lnTo>
                  <a:pt x="472671" y="987295"/>
                </a:lnTo>
                <a:lnTo>
                  <a:pt x="447152" y="1018116"/>
                </a:lnTo>
                <a:lnTo>
                  <a:pt x="391094" y="1064855"/>
                </a:lnTo>
                <a:lnTo>
                  <a:pt x="329553" y="1089502"/>
                </a:lnTo>
                <a:lnTo>
                  <a:pt x="297179" y="1092707"/>
                </a:lnTo>
                <a:lnTo>
                  <a:pt x="264806" y="1089502"/>
                </a:lnTo>
                <a:lnTo>
                  <a:pt x="203265" y="1064855"/>
                </a:lnTo>
                <a:lnTo>
                  <a:pt x="147207" y="1018116"/>
                </a:lnTo>
                <a:lnTo>
                  <a:pt x="121688" y="987295"/>
                </a:lnTo>
                <a:lnTo>
                  <a:pt x="98085" y="951952"/>
                </a:lnTo>
                <a:lnTo>
                  <a:pt x="76578" y="912418"/>
                </a:lnTo>
                <a:lnTo>
                  <a:pt x="57351" y="869027"/>
                </a:lnTo>
                <a:lnTo>
                  <a:pt x="40583" y="822113"/>
                </a:lnTo>
                <a:lnTo>
                  <a:pt x="26457" y="772008"/>
                </a:lnTo>
                <a:lnTo>
                  <a:pt x="15154" y="719047"/>
                </a:lnTo>
                <a:lnTo>
                  <a:pt x="6856" y="663562"/>
                </a:lnTo>
                <a:lnTo>
                  <a:pt x="1744" y="605886"/>
                </a:lnTo>
                <a:lnTo>
                  <a:pt x="0" y="546353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861566" y="2513838"/>
            <a:ext cx="1249045" cy="347980"/>
          </a:xfrm>
          <a:custGeom>
            <a:avLst/>
            <a:gdLst/>
            <a:ahLst/>
            <a:cxnLst/>
            <a:rect l="l" t="t" r="r" b="b"/>
            <a:pathLst>
              <a:path w="1249045" h="347980">
                <a:moveTo>
                  <a:pt x="369950" y="0"/>
                </a:moveTo>
                <a:lnTo>
                  <a:pt x="0" y="173736"/>
                </a:lnTo>
                <a:lnTo>
                  <a:pt x="369950" y="347472"/>
                </a:lnTo>
                <a:lnTo>
                  <a:pt x="369950" y="260603"/>
                </a:lnTo>
                <a:lnTo>
                  <a:pt x="1248536" y="260603"/>
                </a:lnTo>
                <a:lnTo>
                  <a:pt x="1248536" y="86867"/>
                </a:lnTo>
                <a:lnTo>
                  <a:pt x="369950" y="86867"/>
                </a:lnTo>
                <a:lnTo>
                  <a:pt x="369950" y="0"/>
                </a:lnTo>
                <a:close/>
              </a:path>
            </a:pathLst>
          </a:custGeom>
          <a:solidFill>
            <a:srgbClr val="D1FB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156330" y="2600705"/>
            <a:ext cx="92710" cy="173990"/>
          </a:xfrm>
          <a:custGeom>
            <a:avLst/>
            <a:gdLst/>
            <a:ahLst/>
            <a:cxnLst/>
            <a:rect l="l" t="t" r="r" b="b"/>
            <a:pathLst>
              <a:path w="92710" h="173989">
                <a:moveTo>
                  <a:pt x="0" y="173736"/>
                </a:moveTo>
                <a:lnTo>
                  <a:pt x="92487" y="173736"/>
                </a:lnTo>
                <a:lnTo>
                  <a:pt x="92487" y="0"/>
                </a:lnTo>
                <a:lnTo>
                  <a:pt x="0" y="0"/>
                </a:lnTo>
                <a:lnTo>
                  <a:pt x="0" y="173736"/>
                </a:lnTo>
                <a:close/>
              </a:path>
            </a:pathLst>
          </a:custGeom>
          <a:solidFill>
            <a:srgbClr val="D1FB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861566" y="2513838"/>
            <a:ext cx="1249045" cy="347980"/>
          </a:xfrm>
          <a:custGeom>
            <a:avLst/>
            <a:gdLst/>
            <a:ahLst/>
            <a:cxnLst/>
            <a:rect l="l" t="t" r="r" b="b"/>
            <a:pathLst>
              <a:path w="1249045" h="347980">
                <a:moveTo>
                  <a:pt x="369950" y="347472"/>
                </a:moveTo>
                <a:lnTo>
                  <a:pt x="369950" y="260603"/>
                </a:lnTo>
                <a:lnTo>
                  <a:pt x="1248536" y="260603"/>
                </a:lnTo>
                <a:lnTo>
                  <a:pt x="1248536" y="86867"/>
                </a:lnTo>
                <a:lnTo>
                  <a:pt x="369950" y="86867"/>
                </a:lnTo>
                <a:lnTo>
                  <a:pt x="369950" y="0"/>
                </a:lnTo>
                <a:lnTo>
                  <a:pt x="0" y="173736"/>
                </a:lnTo>
                <a:lnTo>
                  <a:pt x="369950" y="347472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156330" y="2600705"/>
            <a:ext cx="92710" cy="173990"/>
          </a:xfrm>
          <a:custGeom>
            <a:avLst/>
            <a:gdLst/>
            <a:ahLst/>
            <a:cxnLst/>
            <a:rect l="l" t="t" r="r" b="b"/>
            <a:pathLst>
              <a:path w="92710" h="173989">
                <a:moveTo>
                  <a:pt x="0" y="173736"/>
                </a:moveTo>
                <a:lnTo>
                  <a:pt x="92487" y="173736"/>
                </a:lnTo>
                <a:lnTo>
                  <a:pt x="92487" y="0"/>
                </a:lnTo>
                <a:lnTo>
                  <a:pt x="0" y="0"/>
                </a:lnTo>
                <a:lnTo>
                  <a:pt x="0" y="173736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318263" y="2581655"/>
            <a:ext cx="0" cy="212090"/>
          </a:xfrm>
          <a:custGeom>
            <a:avLst/>
            <a:gdLst/>
            <a:ahLst/>
            <a:cxnLst/>
            <a:rect l="l" t="t" r="r" b="b"/>
            <a:pathLst>
              <a:path w="0" h="212089">
                <a:moveTo>
                  <a:pt x="0" y="0"/>
                </a:moveTo>
                <a:lnTo>
                  <a:pt x="0" y="211836"/>
                </a:lnTo>
              </a:path>
            </a:pathLst>
          </a:custGeom>
          <a:ln w="84343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024889" y="2385822"/>
            <a:ext cx="807720" cy="571500"/>
          </a:xfrm>
          <a:custGeom>
            <a:avLst/>
            <a:gdLst/>
            <a:ahLst/>
            <a:cxnLst/>
            <a:rect l="l" t="t" r="r" b="b"/>
            <a:pathLst>
              <a:path w="807719" h="571500">
                <a:moveTo>
                  <a:pt x="0" y="571500"/>
                </a:moveTo>
                <a:lnTo>
                  <a:pt x="807720" y="571500"/>
                </a:lnTo>
                <a:lnTo>
                  <a:pt x="807720" y="0"/>
                </a:lnTo>
                <a:lnTo>
                  <a:pt x="0" y="0"/>
                </a:lnTo>
                <a:lnTo>
                  <a:pt x="0" y="571500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102867" y="2307120"/>
            <a:ext cx="314325" cy="603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800" spc="-13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endParaRPr sz="3800">
              <a:latin typeface="Symbol"/>
              <a:cs typeface="Symbo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240" y="2134334"/>
            <a:ext cx="4114165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其中，每个</a:t>
            </a:r>
            <a:r>
              <a:rPr dirty="0" sz="2950" spc="-10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950" spc="-8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1021" sz="277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不等于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β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baseline="-25525" sz="2775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01083" y="2153538"/>
            <a:ext cx="29768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675640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β</a:t>
            </a:r>
            <a:r>
              <a:rPr dirty="0" baseline="-25525" sz="2775" spc="-7" b="1">
                <a:solidFill>
                  <a:srgbClr val="FFFFFF"/>
                </a:solidFill>
                <a:latin typeface="Times New Roman"/>
                <a:cs typeface="Times New Roman"/>
              </a:rPr>
              <a:t>2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,…,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β</a:t>
            </a:r>
            <a:r>
              <a:rPr dirty="0" baseline="-25525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-25525" sz="2775" spc="622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不以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开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1640" y="2617140"/>
            <a:ext cx="8086725" cy="1136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100"/>
              </a:lnSpc>
              <a:spcBef>
                <a:spcPts val="100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头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则可以把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的规则改写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如下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等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价的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非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直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接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左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递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归形式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81861" y="4458461"/>
            <a:ext cx="6954011" cy="1331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81861" y="4458461"/>
            <a:ext cx="6954520" cy="133223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395605">
              <a:lnSpc>
                <a:spcPct val="100000"/>
              </a:lnSpc>
              <a:spcBef>
                <a:spcPts val="350"/>
              </a:spcBef>
            </a:pPr>
            <a:r>
              <a:rPr dirty="0" sz="3200" b="1" i="1">
                <a:latin typeface="Times New Roman"/>
                <a:cs typeface="Times New Roman"/>
              </a:rPr>
              <a:t>P</a:t>
            </a:r>
            <a:r>
              <a:rPr dirty="0" sz="3200" spc="-135" b="1" i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→</a:t>
            </a:r>
            <a:r>
              <a:rPr dirty="0" sz="3200" b="1" i="1">
                <a:latin typeface="Times New Roman"/>
                <a:cs typeface="Times New Roman"/>
              </a:rPr>
              <a:t>β</a:t>
            </a:r>
            <a:r>
              <a:rPr dirty="0" baseline="-25132" sz="3150" b="1">
                <a:latin typeface="Times New Roman"/>
                <a:cs typeface="Times New Roman"/>
              </a:rPr>
              <a:t>1</a:t>
            </a:r>
            <a:r>
              <a:rPr dirty="0" sz="3200" b="1" i="1">
                <a:latin typeface="Times New Roman"/>
                <a:cs typeface="Times New Roman"/>
              </a:rPr>
              <a:t>P</a:t>
            </a:r>
            <a:r>
              <a:rPr dirty="0" sz="3200" b="1">
                <a:latin typeface="Times New Roman"/>
                <a:cs typeface="Times New Roman"/>
              </a:rPr>
              <a:t>′|</a:t>
            </a:r>
            <a:r>
              <a:rPr dirty="0" sz="3200" b="1" i="1">
                <a:latin typeface="Times New Roman"/>
                <a:cs typeface="Times New Roman"/>
              </a:rPr>
              <a:t>β</a:t>
            </a:r>
            <a:r>
              <a:rPr dirty="0" baseline="-25132" sz="3150" b="1">
                <a:latin typeface="Times New Roman"/>
                <a:cs typeface="Times New Roman"/>
              </a:rPr>
              <a:t>2</a:t>
            </a:r>
            <a:r>
              <a:rPr dirty="0" sz="3200" b="1" i="1">
                <a:latin typeface="Times New Roman"/>
                <a:cs typeface="Times New Roman"/>
              </a:rPr>
              <a:t>P</a:t>
            </a:r>
            <a:r>
              <a:rPr dirty="0" sz="3200" b="1">
                <a:latin typeface="Times New Roman"/>
                <a:cs typeface="Times New Roman"/>
              </a:rPr>
              <a:t>′|…|</a:t>
            </a:r>
            <a:r>
              <a:rPr dirty="0" sz="3200" b="1" i="1">
                <a:latin typeface="Times New Roman"/>
                <a:cs typeface="Times New Roman"/>
              </a:rPr>
              <a:t>β</a:t>
            </a:r>
            <a:r>
              <a:rPr dirty="0" baseline="-25132" sz="3150" b="1" i="1">
                <a:latin typeface="Times New Roman"/>
                <a:cs typeface="Times New Roman"/>
              </a:rPr>
              <a:t>n</a:t>
            </a:r>
            <a:r>
              <a:rPr dirty="0" sz="3200" b="1" i="1">
                <a:latin typeface="Times New Roman"/>
                <a:cs typeface="Times New Roman"/>
              </a:rPr>
              <a:t>P</a:t>
            </a:r>
            <a:r>
              <a:rPr dirty="0" sz="3200" b="1">
                <a:latin typeface="Times New Roman"/>
                <a:cs typeface="Times New Roman"/>
              </a:rPr>
              <a:t>′</a:t>
            </a:r>
            <a:endParaRPr sz="3200">
              <a:latin typeface="Times New Roman"/>
              <a:cs typeface="Times New Roman"/>
            </a:endParaRPr>
          </a:p>
          <a:p>
            <a:pPr marL="395605">
              <a:lnSpc>
                <a:spcPct val="100000"/>
              </a:lnSpc>
              <a:spcBef>
                <a:spcPts val="1035"/>
              </a:spcBef>
            </a:pPr>
            <a:r>
              <a:rPr dirty="0" sz="3200" spc="-10" b="1" i="1">
                <a:latin typeface="Times New Roman"/>
                <a:cs typeface="Times New Roman"/>
              </a:rPr>
              <a:t>P</a:t>
            </a:r>
            <a:r>
              <a:rPr dirty="0" sz="3200" spc="-10" b="1">
                <a:latin typeface="Times New Roman"/>
                <a:cs typeface="Times New Roman"/>
              </a:rPr>
              <a:t>′</a:t>
            </a:r>
            <a:r>
              <a:rPr dirty="0" sz="3200" spc="-10" b="1">
                <a:latin typeface="宋体"/>
                <a:cs typeface="宋体"/>
              </a:rPr>
              <a:t>→</a:t>
            </a:r>
            <a:r>
              <a:rPr dirty="0" sz="2950" spc="-10" b="1" i="1">
                <a:latin typeface="Symbol"/>
                <a:cs typeface="Symbol"/>
              </a:rPr>
              <a:t></a:t>
            </a:r>
            <a:r>
              <a:rPr dirty="0" baseline="-21164" sz="3150" spc="-15" b="1">
                <a:latin typeface="Times New Roman"/>
                <a:cs typeface="Times New Roman"/>
              </a:rPr>
              <a:t>1</a:t>
            </a:r>
            <a:r>
              <a:rPr dirty="0" sz="3200" spc="-10" b="1" i="1">
                <a:latin typeface="Times New Roman"/>
                <a:cs typeface="Times New Roman"/>
              </a:rPr>
              <a:t>P</a:t>
            </a:r>
            <a:r>
              <a:rPr dirty="0" sz="3200" spc="-10" b="1">
                <a:latin typeface="Times New Roman"/>
                <a:cs typeface="Times New Roman"/>
              </a:rPr>
              <a:t>′| </a:t>
            </a:r>
            <a:r>
              <a:rPr dirty="0" sz="2950" spc="-15" b="1" i="1">
                <a:latin typeface="Symbol"/>
                <a:cs typeface="Symbol"/>
              </a:rPr>
              <a:t></a:t>
            </a:r>
            <a:r>
              <a:rPr dirty="0" baseline="-25132" sz="3150" spc="-22" b="1">
                <a:latin typeface="Times New Roman"/>
                <a:cs typeface="Times New Roman"/>
              </a:rPr>
              <a:t>2</a:t>
            </a:r>
            <a:r>
              <a:rPr dirty="0" sz="3200" spc="-15" b="1" i="1">
                <a:latin typeface="Times New Roman"/>
                <a:cs typeface="Times New Roman"/>
              </a:rPr>
              <a:t>P</a:t>
            </a:r>
            <a:r>
              <a:rPr dirty="0" sz="3200" spc="-15" b="1">
                <a:latin typeface="Times New Roman"/>
                <a:cs typeface="Times New Roman"/>
              </a:rPr>
              <a:t>′|…|</a:t>
            </a:r>
            <a:r>
              <a:rPr dirty="0" sz="3200" spc="-80" b="1">
                <a:latin typeface="Times New Roman"/>
                <a:cs typeface="Times New Roman"/>
              </a:rPr>
              <a:t> </a:t>
            </a:r>
            <a:r>
              <a:rPr dirty="0" sz="2950" spc="-40" b="1" i="1">
                <a:latin typeface="Symbol"/>
                <a:cs typeface="Symbol"/>
              </a:rPr>
              <a:t></a:t>
            </a:r>
            <a:r>
              <a:rPr dirty="0" baseline="-25132" sz="3150" spc="-60" b="1" i="1">
                <a:latin typeface="Times New Roman"/>
                <a:cs typeface="Times New Roman"/>
              </a:rPr>
              <a:t>n</a:t>
            </a:r>
            <a:r>
              <a:rPr dirty="0" sz="3200" spc="-40" b="1" i="1">
                <a:latin typeface="Times New Roman"/>
                <a:cs typeface="Times New Roman"/>
              </a:rPr>
              <a:t>P</a:t>
            </a:r>
            <a:r>
              <a:rPr dirty="0" sz="3200" spc="-40" b="1">
                <a:latin typeface="Times New Roman"/>
                <a:cs typeface="Times New Roman"/>
              </a:rPr>
              <a:t>′|</a:t>
            </a:r>
            <a:r>
              <a:rPr dirty="0" sz="3350" spc="-40" b="1" i="1">
                <a:latin typeface="宋体"/>
                <a:cs typeface="宋体"/>
              </a:rPr>
              <a:t>ε</a:t>
            </a:r>
            <a:endParaRPr sz="335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79831" y="26923"/>
            <a:ext cx="8757920" cy="1899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46735" algn="l"/>
                <a:tab pos="18224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4.2</a:t>
            </a:r>
            <a:r>
              <a:rPr dirty="0" sz="2000" spc="47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不确定的自上而下分析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sz="2000" spc="455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4.2.2</a:t>
            </a:r>
            <a:r>
              <a:rPr dirty="0" u="sng" sz="2000" spc="46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不确定性原因与解决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方法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000">
              <a:latin typeface="宋体"/>
              <a:cs typeface="宋体"/>
            </a:endParaRPr>
          </a:p>
          <a:p>
            <a:pPr marL="254000">
              <a:lnSpc>
                <a:spcPct val="100000"/>
              </a:lnSpc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假定关于非终结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的规则为</a:t>
            </a:r>
            <a:endParaRPr sz="2800">
              <a:latin typeface="宋体"/>
              <a:cs typeface="宋体"/>
            </a:endParaRPr>
          </a:p>
          <a:p>
            <a:pPr marL="1054735">
              <a:lnSpc>
                <a:spcPct val="100000"/>
              </a:lnSpc>
              <a:spcBef>
                <a:spcPts val="156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P </a:t>
            </a:r>
            <a:r>
              <a:rPr dirty="0" sz="2800" spc="-2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800" spc="-20" b="1" i="1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dirty="0" sz="2950" spc="-20" b="1" i="1">
                <a:solidFill>
                  <a:srgbClr val="FFFF00"/>
                </a:solidFill>
                <a:latin typeface="Symbol"/>
                <a:cs typeface="Symbol"/>
              </a:rPr>
              <a:t></a:t>
            </a:r>
            <a:r>
              <a:rPr dirty="0" baseline="-25525" sz="2775" spc="-3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2800" spc="-20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2800" spc="-30" b="1" i="1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dirty="0" sz="2950" spc="-30" b="1" i="1">
                <a:solidFill>
                  <a:srgbClr val="FFFF00"/>
                </a:solidFill>
                <a:latin typeface="Symbol"/>
                <a:cs typeface="Symbol"/>
              </a:rPr>
              <a:t></a:t>
            </a:r>
            <a:r>
              <a:rPr dirty="0" baseline="-25525" sz="2775" spc="-44" b="1">
                <a:solidFill>
                  <a:srgbClr val="FFFF00"/>
                </a:solidFill>
                <a:latin typeface="Times New Roman"/>
                <a:cs typeface="Times New Roman"/>
              </a:rPr>
              <a:t>2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 … | </a:t>
            </a:r>
            <a:r>
              <a:rPr dirty="0" sz="2800" spc="-30" b="1" i="1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dirty="0" sz="2950" spc="-30" b="1" i="1">
                <a:solidFill>
                  <a:srgbClr val="FFFF00"/>
                </a:solidFill>
                <a:latin typeface="Symbol"/>
                <a:cs typeface="Symbol"/>
              </a:rPr>
              <a:t></a:t>
            </a:r>
            <a:r>
              <a:rPr dirty="0" baseline="-25525" sz="2775" spc="-44" b="1" i="1">
                <a:solidFill>
                  <a:srgbClr val="FFFF00"/>
                </a:solidFill>
                <a:latin typeface="Times New Roman"/>
                <a:cs typeface="Times New Roman"/>
              </a:rPr>
              <a:t>n 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β</a:t>
            </a:r>
            <a:r>
              <a:rPr dirty="0" baseline="-25525" sz="2775" spc="-15" b="1">
                <a:solidFill>
                  <a:srgbClr val="FFFF00"/>
                </a:solidFill>
                <a:latin typeface="Times New Roman"/>
                <a:cs typeface="Times New Roman"/>
              </a:rPr>
              <a:t>1 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β</a:t>
            </a:r>
            <a:r>
              <a:rPr dirty="0" baseline="-25525" sz="2775" spc="-1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…</a:t>
            </a:r>
            <a:r>
              <a:rPr dirty="0" sz="2800" spc="-46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β</a:t>
            </a:r>
            <a:r>
              <a:rPr dirty="0" baseline="-25525" sz="2775" spc="-15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endParaRPr baseline="-25525" sz="2775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9442" y="668527"/>
            <a:ext cx="94361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.7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92629" y="527815"/>
            <a:ext cx="3453129" cy="1283970"/>
          </a:xfrm>
          <a:prstGeom prst="rect">
            <a:avLst/>
          </a:prstGeom>
        </p:spPr>
        <p:txBody>
          <a:bodyPr wrap="square" lIns="0" tIns="1536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设有文法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 marL="213360">
              <a:lnSpc>
                <a:spcPct val="100000"/>
              </a:lnSpc>
              <a:spcBef>
                <a:spcPts val="111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0 |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Ia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Ib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13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05231" y="26923"/>
            <a:ext cx="15601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90089" y="26923"/>
            <a:ext cx="328676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4.2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不确定的自上而下分析法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38013" y="26923"/>
            <a:ext cx="34747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4.2.2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不确定性原因与解决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方法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25573" y="3544061"/>
            <a:ext cx="5029200" cy="1409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925573" y="3544061"/>
            <a:ext cx="5029200" cy="140970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81280" rIns="0" bIns="0" rtlCol="0" vert="horz">
            <a:spAutoFit/>
          </a:bodyPr>
          <a:lstStyle/>
          <a:p>
            <a:pPr marL="502284">
              <a:lnSpc>
                <a:spcPct val="100000"/>
              </a:lnSpc>
              <a:spcBef>
                <a:spcPts val="640"/>
              </a:spcBef>
            </a:pPr>
            <a:r>
              <a:rPr dirty="0" sz="3200" b="1" i="1">
                <a:latin typeface="Times New Roman"/>
                <a:cs typeface="Times New Roman"/>
              </a:rPr>
              <a:t>I </a:t>
            </a:r>
            <a:r>
              <a:rPr dirty="0" sz="3200" b="1">
                <a:latin typeface="Times New Roman"/>
                <a:cs typeface="Times New Roman"/>
              </a:rPr>
              <a:t>→ </a:t>
            </a:r>
            <a:r>
              <a:rPr dirty="0" sz="3200" b="1" i="1">
                <a:latin typeface="Times New Roman"/>
                <a:cs typeface="Times New Roman"/>
              </a:rPr>
              <a:t>aI </a:t>
            </a:r>
            <a:r>
              <a:rPr dirty="0" sz="3200" b="1">
                <a:latin typeface="Times New Roman"/>
                <a:cs typeface="Times New Roman"/>
              </a:rPr>
              <a:t>' | </a:t>
            </a:r>
            <a:r>
              <a:rPr dirty="0" sz="3200" b="1" i="1">
                <a:latin typeface="Times New Roman"/>
                <a:cs typeface="Times New Roman"/>
              </a:rPr>
              <a:t>bI</a:t>
            </a:r>
            <a:r>
              <a:rPr dirty="0" sz="3200" spc="-50" b="1" i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'</a:t>
            </a:r>
            <a:endParaRPr sz="3200">
              <a:latin typeface="Times New Roman"/>
              <a:cs typeface="Times New Roman"/>
            </a:endParaRPr>
          </a:p>
          <a:p>
            <a:pPr marL="502284">
              <a:lnSpc>
                <a:spcPct val="100000"/>
              </a:lnSpc>
              <a:spcBef>
                <a:spcPts val="1155"/>
              </a:spcBef>
            </a:pPr>
            <a:r>
              <a:rPr dirty="0" sz="3200" b="1" i="1">
                <a:latin typeface="Times New Roman"/>
                <a:cs typeface="Times New Roman"/>
              </a:rPr>
              <a:t>I </a:t>
            </a:r>
            <a:r>
              <a:rPr dirty="0" sz="3200" b="1">
                <a:latin typeface="Times New Roman"/>
                <a:cs typeface="Times New Roman"/>
              </a:rPr>
              <a:t>' → 0</a:t>
            </a:r>
            <a:r>
              <a:rPr dirty="0" sz="3200" b="1" i="1">
                <a:latin typeface="Times New Roman"/>
                <a:cs typeface="Times New Roman"/>
              </a:rPr>
              <a:t>I </a:t>
            </a:r>
            <a:r>
              <a:rPr dirty="0" sz="3200" b="1">
                <a:latin typeface="Times New Roman"/>
                <a:cs typeface="Times New Roman"/>
              </a:rPr>
              <a:t>' | </a:t>
            </a:r>
            <a:r>
              <a:rPr dirty="0" sz="3200" b="1" i="1">
                <a:latin typeface="Times New Roman"/>
                <a:cs typeface="Times New Roman"/>
              </a:rPr>
              <a:t>aI </a:t>
            </a:r>
            <a:r>
              <a:rPr dirty="0" sz="3200" b="1">
                <a:latin typeface="Times New Roman"/>
                <a:cs typeface="Times New Roman"/>
              </a:rPr>
              <a:t>' | </a:t>
            </a:r>
            <a:r>
              <a:rPr dirty="0" sz="3200" b="1" i="1">
                <a:latin typeface="Times New Roman"/>
                <a:cs typeface="Times New Roman"/>
              </a:rPr>
              <a:t>bI </a:t>
            </a:r>
            <a:r>
              <a:rPr dirty="0" sz="3200" b="1">
                <a:latin typeface="Times New Roman"/>
                <a:cs typeface="Times New Roman"/>
              </a:rPr>
              <a:t>'</a:t>
            </a:r>
            <a:r>
              <a:rPr dirty="0" sz="3200" spc="-8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|</a:t>
            </a:r>
            <a:r>
              <a:rPr dirty="0" sz="3200" b="1" i="1">
                <a:latin typeface="Times New Roman"/>
                <a:cs typeface="Times New Roman"/>
              </a:rPr>
              <a:t>ε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76350" y="2515362"/>
            <a:ext cx="603567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对左递归文法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改写后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文</a:t>
            </a:r>
            <a:r>
              <a:rPr dirty="0" sz="3200" spc="1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′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4040" y="1190098"/>
            <a:ext cx="7341870" cy="541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812165">
              <a:lnSpc>
                <a:spcPct val="115999"/>
              </a:lnSpc>
              <a:spcBef>
                <a:spcPts val="95"/>
              </a:spcBef>
            </a:pP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有些文法表面上不具有左递归</a:t>
            </a:r>
            <a:r>
              <a:rPr dirty="0" sz="3000" spc="5" b="1">
                <a:solidFill>
                  <a:srgbClr val="FFFFFF"/>
                </a:solidFill>
                <a:latin typeface="宋体"/>
                <a:cs typeface="宋体"/>
              </a:rPr>
              <a:t>性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，却隐 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含着左递</a:t>
            </a:r>
            <a:r>
              <a:rPr dirty="0" sz="3000" spc="-10" b="1">
                <a:solidFill>
                  <a:srgbClr val="FFFFFF"/>
                </a:solidFill>
                <a:latin typeface="宋体"/>
                <a:cs typeface="宋体"/>
              </a:rPr>
              <a:t>归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例如设有文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3000">
              <a:latin typeface="宋体"/>
              <a:cs typeface="宋体"/>
            </a:endParaRPr>
          </a:p>
          <a:p>
            <a:pPr algn="just" marL="1841500" marR="3640454">
              <a:lnSpc>
                <a:spcPct val="114999"/>
              </a:lnSpc>
              <a:spcBef>
                <a:spcPts val="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Ba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9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 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 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Cb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12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 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C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Ac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7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45"/>
              </a:spcBef>
            </a:pP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经若干步推</a:t>
            </a:r>
            <a:r>
              <a:rPr dirty="0" sz="3000" spc="-10" b="1">
                <a:solidFill>
                  <a:srgbClr val="FFFFFF"/>
                </a:solidFill>
                <a:latin typeface="宋体"/>
                <a:cs typeface="宋体"/>
              </a:rPr>
              <a:t>导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替换，有：</a:t>
            </a:r>
            <a:endParaRPr sz="3000">
              <a:latin typeface="宋体"/>
              <a:cs typeface="宋体"/>
            </a:endParaRPr>
          </a:p>
          <a:p>
            <a:pPr algn="ctr" marR="379095">
              <a:lnSpc>
                <a:spcPct val="100000"/>
              </a:lnSpc>
              <a:spcBef>
                <a:spcPts val="1120"/>
              </a:spcBef>
            </a:pP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A 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=&gt; 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Ba 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=&gt;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Cba 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=&gt;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cba</a:t>
            </a:r>
            <a:endParaRPr sz="3200">
              <a:latin typeface="Times New Roman"/>
              <a:cs typeface="Times New Roman"/>
            </a:endParaRPr>
          </a:p>
          <a:p>
            <a:pPr algn="ctr" marL="1334135" marR="1736089">
              <a:lnSpc>
                <a:spcPct val="130000"/>
              </a:lnSpc>
            </a:pP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B 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=&gt; 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Cb 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=&gt;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Acb 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=&gt;</a:t>
            </a:r>
            <a:r>
              <a:rPr dirty="0" sz="3200" spc="-3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acb  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C 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=&gt; 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Ac 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=&gt;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Bac 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=&gt;</a:t>
            </a:r>
            <a:r>
              <a:rPr dirty="0" sz="3200" spc="-3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C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bac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05231" y="26923"/>
            <a:ext cx="15601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74040" y="26923"/>
            <a:ext cx="8338184" cy="1152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115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4.2</a:t>
            </a:r>
            <a:r>
              <a:rPr dirty="0" sz="2000" spc="47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不确定的自上而下分析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sz="2000" spc="450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4.2.2</a:t>
            </a:r>
            <a:r>
              <a:rPr dirty="0" u="sng" sz="2000" spc="4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不确定性原因与解决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方法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3200" spc="77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间接左递归的消除：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7284" y="3584447"/>
            <a:ext cx="8496300" cy="1871980"/>
          </a:xfrm>
          <a:prstGeom prst="rect">
            <a:avLst/>
          </a:prstGeom>
          <a:solidFill>
            <a:srgbClr val="FFC8FF"/>
          </a:solidFill>
        </p:spPr>
        <p:txBody>
          <a:bodyPr wrap="square" lIns="0" tIns="22860" rIns="0" bIns="0" rtlCol="0" vert="horz">
            <a:spAutoFit/>
          </a:bodyPr>
          <a:lstStyle/>
          <a:p>
            <a:pPr marL="221615">
              <a:lnSpc>
                <a:spcPct val="100000"/>
              </a:lnSpc>
              <a:spcBef>
                <a:spcPts val="180"/>
              </a:spcBef>
            </a:pPr>
            <a:r>
              <a:rPr dirty="0" sz="3200" b="1">
                <a:latin typeface="宋体"/>
                <a:cs typeface="宋体"/>
              </a:rPr>
              <a:t>后面给出一个消除文法所有左</a:t>
            </a:r>
            <a:r>
              <a:rPr dirty="0" sz="3200" spc="-15" b="1">
                <a:latin typeface="宋体"/>
                <a:cs typeface="宋体"/>
              </a:rPr>
              <a:t>递</a:t>
            </a:r>
            <a:r>
              <a:rPr dirty="0" sz="3200" b="1">
                <a:latin typeface="宋体"/>
                <a:cs typeface="宋体"/>
              </a:rPr>
              <a:t>归性</a:t>
            </a:r>
            <a:r>
              <a:rPr dirty="0" sz="3200" spc="-15" b="1">
                <a:latin typeface="宋体"/>
                <a:cs typeface="宋体"/>
              </a:rPr>
              <a:t>的</a:t>
            </a:r>
            <a:r>
              <a:rPr dirty="0" sz="3200" b="1">
                <a:latin typeface="宋体"/>
                <a:cs typeface="宋体"/>
              </a:rPr>
              <a:t>算法，</a:t>
            </a:r>
            <a:endParaRPr sz="3200">
              <a:latin typeface="宋体"/>
              <a:cs typeface="宋体"/>
            </a:endParaRPr>
          </a:p>
          <a:p>
            <a:pPr marL="17145">
              <a:lnSpc>
                <a:spcPct val="100000"/>
              </a:lnSpc>
              <a:spcBef>
                <a:spcPts val="1370"/>
              </a:spcBef>
            </a:pPr>
            <a:r>
              <a:rPr dirty="0" sz="3200" b="1">
                <a:latin typeface="宋体"/>
                <a:cs typeface="宋体"/>
              </a:rPr>
              <a:t>该算法对文法的要求是，文</a:t>
            </a:r>
            <a:r>
              <a:rPr dirty="0" sz="3200" spc="-15" b="1">
                <a:latin typeface="宋体"/>
                <a:cs typeface="宋体"/>
              </a:rPr>
              <a:t>法</a:t>
            </a:r>
            <a:r>
              <a:rPr dirty="0" sz="3200" b="1">
                <a:latin typeface="宋体"/>
                <a:cs typeface="宋体"/>
              </a:rPr>
              <a:t>不含</a:t>
            </a:r>
            <a:r>
              <a:rPr dirty="0" sz="3200" spc="-15" b="1">
                <a:latin typeface="宋体"/>
                <a:cs typeface="宋体"/>
              </a:rPr>
              <a:t>回</a:t>
            </a:r>
            <a:r>
              <a:rPr dirty="0" sz="3200" b="1">
                <a:latin typeface="宋体"/>
                <a:cs typeface="宋体"/>
              </a:rPr>
              <a:t>路（</a:t>
            </a:r>
            <a:r>
              <a:rPr dirty="0" sz="3200" spc="-15" b="1">
                <a:latin typeface="宋体"/>
                <a:cs typeface="宋体"/>
              </a:rPr>
              <a:t>形</a:t>
            </a:r>
            <a:r>
              <a:rPr dirty="0" sz="3200" spc="-10" b="1">
                <a:latin typeface="宋体"/>
                <a:cs typeface="宋体"/>
              </a:rPr>
              <a:t>如</a:t>
            </a:r>
            <a:endParaRPr sz="3200">
              <a:latin typeface="宋体"/>
              <a:cs typeface="宋体"/>
            </a:endParaRPr>
          </a:p>
          <a:p>
            <a:pPr marL="17145">
              <a:lnSpc>
                <a:spcPct val="100000"/>
              </a:lnSpc>
              <a:spcBef>
                <a:spcPts val="1535"/>
              </a:spcBef>
            </a:pPr>
            <a:r>
              <a:rPr dirty="0" sz="3200" b="1" i="1">
                <a:latin typeface="Times New Roman"/>
                <a:cs typeface="Times New Roman"/>
              </a:rPr>
              <a:t>P</a:t>
            </a:r>
            <a:r>
              <a:rPr dirty="0" sz="3200" spc="-140" b="1" i="1">
                <a:latin typeface="Times New Roman"/>
                <a:cs typeface="Times New Roman"/>
              </a:rPr>
              <a:t> </a:t>
            </a:r>
            <a:r>
              <a:rPr dirty="0" sz="3200" spc="-900" b="1">
                <a:latin typeface="Times New Roman"/>
                <a:cs typeface="Times New Roman"/>
              </a:rPr>
              <a:t>=</a:t>
            </a:r>
            <a:r>
              <a:rPr dirty="0" baseline="38194" sz="3600" spc="-1350" b="1">
                <a:latin typeface="Times New Roman"/>
                <a:cs typeface="Times New Roman"/>
              </a:rPr>
              <a:t>+</a:t>
            </a:r>
            <a:r>
              <a:rPr dirty="0" baseline="38194" sz="3600" spc="-270" b="1">
                <a:latin typeface="Times New Roman"/>
                <a:cs typeface="Times New Roman"/>
              </a:rPr>
              <a:t> </a:t>
            </a:r>
            <a:r>
              <a:rPr dirty="0" sz="3200" spc="-5" b="1">
                <a:latin typeface="Times New Roman"/>
                <a:cs typeface="Times New Roman"/>
              </a:rPr>
              <a:t>&gt;</a:t>
            </a:r>
            <a:r>
              <a:rPr dirty="0" sz="3200" spc="-5" b="1" i="1">
                <a:latin typeface="Times New Roman"/>
                <a:cs typeface="Times New Roman"/>
              </a:rPr>
              <a:t>P</a:t>
            </a:r>
            <a:r>
              <a:rPr dirty="0" sz="3200" b="1">
                <a:latin typeface="宋体"/>
                <a:cs typeface="宋体"/>
              </a:rPr>
              <a:t>的推导）且不含</a:t>
            </a:r>
            <a:r>
              <a:rPr dirty="0" sz="3200" spc="5" b="1">
                <a:latin typeface="宋体"/>
                <a:cs typeface="宋体"/>
              </a:rPr>
              <a:t>以</a:t>
            </a:r>
            <a:r>
              <a:rPr dirty="0" sz="3200" spc="5" b="1" i="1">
                <a:latin typeface="Times New Roman"/>
                <a:cs typeface="Times New Roman"/>
              </a:rPr>
              <a:t>ε</a:t>
            </a:r>
            <a:r>
              <a:rPr dirty="0" sz="3200" spc="-5" b="1">
                <a:latin typeface="宋体"/>
                <a:cs typeface="宋体"/>
              </a:rPr>
              <a:t>为</a:t>
            </a:r>
            <a:r>
              <a:rPr dirty="0" sz="3200" spc="-10" b="1">
                <a:latin typeface="宋体"/>
                <a:cs typeface="宋体"/>
              </a:rPr>
              <a:t>右</a:t>
            </a:r>
            <a:r>
              <a:rPr dirty="0" sz="3200" spc="-5" b="1">
                <a:latin typeface="宋体"/>
                <a:cs typeface="宋体"/>
              </a:rPr>
              <a:t>部的产</a:t>
            </a:r>
            <a:r>
              <a:rPr dirty="0" sz="3200" spc="-10" b="1">
                <a:latin typeface="宋体"/>
                <a:cs typeface="宋体"/>
              </a:rPr>
              <a:t>生</a:t>
            </a:r>
            <a:r>
              <a:rPr dirty="0" sz="3200" spc="-5" b="1">
                <a:latin typeface="宋体"/>
                <a:cs typeface="宋体"/>
              </a:rPr>
              <a:t>式</a:t>
            </a:r>
            <a:r>
              <a:rPr dirty="0" sz="3200" spc="-10" b="1"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05231" y="26923"/>
            <a:ext cx="8707120" cy="3029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  <a:tab pos="17970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4.2</a:t>
            </a:r>
            <a:r>
              <a:rPr dirty="0" sz="2000" spc="47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不确定的自上而下分析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sz="2000" spc="450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4.2.2</a:t>
            </a:r>
            <a:r>
              <a:rPr dirty="0" u="sng" sz="2000" spc="4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不确定性原因与解决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方法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50">
              <a:latin typeface="宋体"/>
              <a:cs typeface="宋体"/>
            </a:endParaRPr>
          </a:p>
          <a:p>
            <a:pPr marL="631825" indent="-389255">
              <a:lnSpc>
                <a:spcPct val="100000"/>
              </a:lnSpc>
              <a:spcBef>
                <a:spcPts val="5"/>
              </a:spcBef>
              <a:buClr>
                <a:srgbClr val="99FF99"/>
              </a:buClr>
              <a:buFont typeface="Wingdings"/>
              <a:buChar char=""/>
              <a:tabLst>
                <a:tab pos="631825" algn="l"/>
                <a:tab pos="63246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消除间接左递归的方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法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 lvl="1" marL="1564640" marR="638810" indent="-712470">
              <a:lnSpc>
                <a:spcPct val="130000"/>
              </a:lnSpc>
              <a:buFont typeface="Times New Roman"/>
              <a:buAutoNum type="arabicParenBoth"/>
              <a:tabLst>
                <a:tab pos="1529715" algn="l"/>
                <a:tab pos="153035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把间接左递归文法改写为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直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接左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递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归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  <a:p>
            <a:pPr lvl="1" marL="1529715" indent="-677545">
              <a:lnSpc>
                <a:spcPct val="100000"/>
              </a:lnSpc>
              <a:spcBef>
                <a:spcPts val="1155"/>
              </a:spcBef>
              <a:buFont typeface="Times New Roman"/>
              <a:buAutoNum type="arabicParenBoth"/>
              <a:tabLst>
                <a:tab pos="1529715" algn="l"/>
                <a:tab pos="153035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用消除直接左递归的方法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改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写文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0258" y="1084325"/>
            <a:ext cx="8101584" cy="36469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40258" y="1084325"/>
            <a:ext cx="8101965" cy="3647440"/>
          </a:xfrm>
          <a:custGeom>
            <a:avLst/>
            <a:gdLst/>
            <a:ahLst/>
            <a:cxnLst/>
            <a:rect l="l" t="t" r="r" b="b"/>
            <a:pathLst>
              <a:path w="8101965" h="3647440">
                <a:moveTo>
                  <a:pt x="0" y="683768"/>
                </a:moveTo>
                <a:lnTo>
                  <a:pt x="4630" y="637837"/>
                </a:lnTo>
                <a:lnTo>
                  <a:pt x="17911" y="595052"/>
                </a:lnTo>
                <a:lnTo>
                  <a:pt x="38925" y="556330"/>
                </a:lnTo>
                <a:lnTo>
                  <a:pt x="66757" y="522589"/>
                </a:lnTo>
                <a:lnTo>
                  <a:pt x="100489" y="494747"/>
                </a:lnTo>
                <a:lnTo>
                  <a:pt x="139206" y="473723"/>
                </a:lnTo>
                <a:lnTo>
                  <a:pt x="181991" y="460436"/>
                </a:lnTo>
                <a:lnTo>
                  <a:pt x="227926" y="455802"/>
                </a:lnTo>
                <a:lnTo>
                  <a:pt x="7645781" y="455802"/>
                </a:lnTo>
                <a:lnTo>
                  <a:pt x="7645781" y="227964"/>
                </a:lnTo>
                <a:lnTo>
                  <a:pt x="7650408" y="182034"/>
                </a:lnTo>
                <a:lnTo>
                  <a:pt x="7663682" y="139249"/>
                </a:lnTo>
                <a:lnTo>
                  <a:pt x="7684685" y="100527"/>
                </a:lnTo>
                <a:lnTo>
                  <a:pt x="7712503" y="66786"/>
                </a:lnTo>
                <a:lnTo>
                  <a:pt x="7746221" y="38944"/>
                </a:lnTo>
                <a:lnTo>
                  <a:pt x="7784923" y="17920"/>
                </a:lnTo>
                <a:lnTo>
                  <a:pt x="7827694" y="4633"/>
                </a:lnTo>
                <a:lnTo>
                  <a:pt x="7873619" y="0"/>
                </a:lnTo>
                <a:lnTo>
                  <a:pt x="7919549" y="4633"/>
                </a:lnTo>
                <a:lnTo>
                  <a:pt x="7962334" y="17920"/>
                </a:lnTo>
                <a:lnTo>
                  <a:pt x="8001056" y="38944"/>
                </a:lnTo>
                <a:lnTo>
                  <a:pt x="8034797" y="66786"/>
                </a:lnTo>
                <a:lnTo>
                  <a:pt x="8062639" y="100527"/>
                </a:lnTo>
                <a:lnTo>
                  <a:pt x="8083663" y="139249"/>
                </a:lnTo>
                <a:lnTo>
                  <a:pt x="8096950" y="182034"/>
                </a:lnTo>
                <a:lnTo>
                  <a:pt x="8101584" y="227964"/>
                </a:lnTo>
                <a:lnTo>
                  <a:pt x="8101584" y="2963164"/>
                </a:lnTo>
                <a:lnTo>
                  <a:pt x="8096950" y="3009094"/>
                </a:lnTo>
                <a:lnTo>
                  <a:pt x="8083663" y="3051879"/>
                </a:lnTo>
                <a:lnTo>
                  <a:pt x="8062639" y="3090601"/>
                </a:lnTo>
                <a:lnTo>
                  <a:pt x="8034797" y="3124342"/>
                </a:lnTo>
                <a:lnTo>
                  <a:pt x="8001056" y="3152184"/>
                </a:lnTo>
                <a:lnTo>
                  <a:pt x="7962334" y="3173208"/>
                </a:lnTo>
                <a:lnTo>
                  <a:pt x="7919549" y="3186495"/>
                </a:lnTo>
                <a:lnTo>
                  <a:pt x="7873619" y="3191129"/>
                </a:lnTo>
                <a:lnTo>
                  <a:pt x="455866" y="3191129"/>
                </a:lnTo>
                <a:lnTo>
                  <a:pt x="455866" y="3418967"/>
                </a:lnTo>
                <a:lnTo>
                  <a:pt x="451235" y="3464897"/>
                </a:lnTo>
                <a:lnTo>
                  <a:pt x="437954" y="3507682"/>
                </a:lnTo>
                <a:lnTo>
                  <a:pt x="416939" y="3546404"/>
                </a:lnTo>
                <a:lnTo>
                  <a:pt x="389107" y="3580145"/>
                </a:lnTo>
                <a:lnTo>
                  <a:pt x="355373" y="3607987"/>
                </a:lnTo>
                <a:lnTo>
                  <a:pt x="316654" y="3629011"/>
                </a:lnTo>
                <a:lnTo>
                  <a:pt x="273866" y="3642298"/>
                </a:lnTo>
                <a:lnTo>
                  <a:pt x="227926" y="3646931"/>
                </a:lnTo>
                <a:lnTo>
                  <a:pt x="181991" y="3642298"/>
                </a:lnTo>
                <a:lnTo>
                  <a:pt x="139206" y="3629011"/>
                </a:lnTo>
                <a:lnTo>
                  <a:pt x="100489" y="3607987"/>
                </a:lnTo>
                <a:lnTo>
                  <a:pt x="66757" y="3580145"/>
                </a:lnTo>
                <a:lnTo>
                  <a:pt x="38925" y="3546404"/>
                </a:lnTo>
                <a:lnTo>
                  <a:pt x="17911" y="3507682"/>
                </a:lnTo>
                <a:lnTo>
                  <a:pt x="4630" y="3464897"/>
                </a:lnTo>
                <a:lnTo>
                  <a:pt x="0" y="3418967"/>
                </a:lnTo>
                <a:lnTo>
                  <a:pt x="0" y="683768"/>
                </a:lnTo>
                <a:close/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186039" y="1312291"/>
            <a:ext cx="455930" cy="227965"/>
          </a:xfrm>
          <a:custGeom>
            <a:avLst/>
            <a:gdLst/>
            <a:ahLst/>
            <a:cxnLst/>
            <a:rect l="l" t="t" r="r" b="b"/>
            <a:pathLst>
              <a:path w="455929" h="227965">
                <a:moveTo>
                  <a:pt x="0" y="227837"/>
                </a:moveTo>
                <a:lnTo>
                  <a:pt x="227837" y="227837"/>
                </a:lnTo>
                <a:lnTo>
                  <a:pt x="273768" y="223210"/>
                </a:lnTo>
                <a:lnTo>
                  <a:pt x="316553" y="209936"/>
                </a:lnTo>
                <a:lnTo>
                  <a:pt x="355275" y="188933"/>
                </a:lnTo>
                <a:lnTo>
                  <a:pt x="389016" y="161115"/>
                </a:lnTo>
                <a:lnTo>
                  <a:pt x="416858" y="127397"/>
                </a:lnTo>
                <a:lnTo>
                  <a:pt x="437882" y="88695"/>
                </a:lnTo>
                <a:lnTo>
                  <a:pt x="451169" y="45924"/>
                </a:lnTo>
                <a:lnTo>
                  <a:pt x="455802" y="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186039" y="1312291"/>
            <a:ext cx="227965" cy="227965"/>
          </a:xfrm>
          <a:custGeom>
            <a:avLst/>
            <a:gdLst/>
            <a:ahLst/>
            <a:cxnLst/>
            <a:rect l="l" t="t" r="r" b="b"/>
            <a:pathLst>
              <a:path w="227965" h="227965">
                <a:moveTo>
                  <a:pt x="227837" y="227837"/>
                </a:moveTo>
                <a:lnTo>
                  <a:pt x="227837" y="0"/>
                </a:lnTo>
                <a:lnTo>
                  <a:pt x="218878" y="44321"/>
                </a:lnTo>
                <a:lnTo>
                  <a:pt x="194452" y="80533"/>
                </a:lnTo>
                <a:lnTo>
                  <a:pt x="158240" y="104959"/>
                </a:lnTo>
                <a:lnTo>
                  <a:pt x="113918" y="113919"/>
                </a:lnTo>
                <a:lnTo>
                  <a:pt x="69544" y="104959"/>
                </a:lnTo>
                <a:lnTo>
                  <a:pt x="33337" y="80533"/>
                </a:lnTo>
                <a:lnTo>
                  <a:pt x="8941" y="44321"/>
                </a:lnTo>
                <a:lnTo>
                  <a:pt x="0" y="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40258" y="1654175"/>
            <a:ext cx="455930" cy="342265"/>
          </a:xfrm>
          <a:custGeom>
            <a:avLst/>
            <a:gdLst/>
            <a:ahLst/>
            <a:cxnLst/>
            <a:rect l="l" t="t" r="r" b="b"/>
            <a:pathLst>
              <a:path w="455930" h="342264">
                <a:moveTo>
                  <a:pt x="227926" y="341884"/>
                </a:moveTo>
                <a:lnTo>
                  <a:pt x="227926" y="113919"/>
                </a:lnTo>
                <a:lnTo>
                  <a:pt x="236883" y="69597"/>
                </a:lnTo>
                <a:lnTo>
                  <a:pt x="261308" y="33385"/>
                </a:lnTo>
                <a:lnTo>
                  <a:pt x="297535" y="8959"/>
                </a:lnTo>
                <a:lnTo>
                  <a:pt x="341896" y="0"/>
                </a:lnTo>
                <a:lnTo>
                  <a:pt x="386257" y="8959"/>
                </a:lnTo>
                <a:lnTo>
                  <a:pt x="422484" y="33385"/>
                </a:lnTo>
                <a:lnTo>
                  <a:pt x="446909" y="69597"/>
                </a:lnTo>
                <a:lnTo>
                  <a:pt x="455866" y="113919"/>
                </a:lnTo>
                <a:lnTo>
                  <a:pt x="451235" y="159849"/>
                </a:lnTo>
                <a:lnTo>
                  <a:pt x="437954" y="202634"/>
                </a:lnTo>
                <a:lnTo>
                  <a:pt x="416939" y="241356"/>
                </a:lnTo>
                <a:lnTo>
                  <a:pt x="389107" y="275097"/>
                </a:lnTo>
                <a:lnTo>
                  <a:pt x="355373" y="302939"/>
                </a:lnTo>
                <a:lnTo>
                  <a:pt x="316654" y="323963"/>
                </a:lnTo>
                <a:lnTo>
                  <a:pt x="273866" y="337250"/>
                </a:lnTo>
                <a:lnTo>
                  <a:pt x="227926" y="341884"/>
                </a:lnTo>
                <a:lnTo>
                  <a:pt x="181991" y="337250"/>
                </a:lnTo>
                <a:lnTo>
                  <a:pt x="139206" y="323963"/>
                </a:lnTo>
                <a:lnTo>
                  <a:pt x="100489" y="302939"/>
                </a:lnTo>
                <a:lnTo>
                  <a:pt x="66757" y="275097"/>
                </a:lnTo>
                <a:lnTo>
                  <a:pt x="38925" y="241356"/>
                </a:lnTo>
                <a:lnTo>
                  <a:pt x="17911" y="202634"/>
                </a:lnTo>
                <a:lnTo>
                  <a:pt x="4630" y="159849"/>
                </a:lnTo>
                <a:lnTo>
                  <a:pt x="0" y="113919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96124" y="1768094"/>
            <a:ext cx="0" cy="2507615"/>
          </a:xfrm>
          <a:custGeom>
            <a:avLst/>
            <a:gdLst/>
            <a:ahLst/>
            <a:cxnLst/>
            <a:rect l="l" t="t" r="r" b="b"/>
            <a:pathLst>
              <a:path w="0" h="2507615">
                <a:moveTo>
                  <a:pt x="0" y="0"/>
                </a:moveTo>
                <a:lnTo>
                  <a:pt x="0" y="250736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74521" y="1219140"/>
            <a:ext cx="6964680" cy="2315210"/>
          </a:xfrm>
          <a:prstGeom prst="rect">
            <a:avLst/>
          </a:prstGeom>
        </p:spPr>
        <p:txBody>
          <a:bodyPr wrap="square" lIns="0" tIns="287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65"/>
              </a:spcBef>
            </a:pP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思考题：</a:t>
            </a:r>
            <a:endParaRPr sz="3600">
              <a:latin typeface="宋体"/>
              <a:cs typeface="宋体"/>
            </a:endParaRPr>
          </a:p>
          <a:p>
            <a:pPr marL="12700" marR="5080">
              <a:lnSpc>
                <a:spcPct val="150100"/>
              </a:lnSpc>
              <a:spcBef>
                <a:spcPts val="10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任何一文法都等价于一个不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含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回路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且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不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含以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为右部的产生式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文法。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05231" y="26923"/>
            <a:ext cx="15601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990089" y="26923"/>
            <a:ext cx="328676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4.2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不确定的自上而下分析法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38013" y="26923"/>
            <a:ext cx="34747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4.2.2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不确定性原因与解决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方法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67131" y="0"/>
            <a:ext cx="8783320" cy="6651625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85"/>
              </a:spcBef>
              <a:tabLst>
                <a:tab pos="559435" algn="l"/>
                <a:tab pos="18351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4.2</a:t>
            </a:r>
            <a:r>
              <a:rPr dirty="0" sz="2000" spc="47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不确定的自上而下分析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sz="2000" spc="455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4.2.2</a:t>
            </a:r>
            <a:r>
              <a:rPr dirty="0" u="sng" sz="2000" spc="46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不确定性原因与解决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方法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50">
              <a:latin typeface="宋体"/>
              <a:cs typeface="宋体"/>
            </a:endParaRPr>
          </a:p>
          <a:p>
            <a:pPr marL="537845" indent="-366395">
              <a:lnSpc>
                <a:spcPct val="100000"/>
              </a:lnSpc>
              <a:spcBef>
                <a:spcPts val="5"/>
              </a:spcBef>
              <a:buClr>
                <a:srgbClr val="99FF99"/>
              </a:buClr>
              <a:buSzPct val="114285"/>
              <a:buFont typeface="Wingdings"/>
              <a:buChar char=""/>
              <a:tabLst>
                <a:tab pos="537210" algn="l"/>
                <a:tab pos="538480" algn="l"/>
                <a:tab pos="1875789" algn="l"/>
              </a:tabLst>
            </a:pP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算法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4.1	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(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消除文法左递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归</a:t>
            </a:r>
            <a:r>
              <a:rPr dirty="0" sz="2800" spc="4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)</a:t>
            </a:r>
            <a:endParaRPr sz="2800">
              <a:latin typeface="宋体"/>
              <a:cs typeface="宋体"/>
            </a:endParaRPr>
          </a:p>
          <a:p>
            <a:pPr marL="883285">
              <a:lnSpc>
                <a:spcPct val="100000"/>
              </a:lnSpc>
              <a:spcBef>
                <a:spcPts val="790"/>
              </a:spcBef>
            </a:pP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给定文法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endParaRPr sz="2600">
              <a:latin typeface="Times New Roman"/>
              <a:cs typeface="Times New Roman"/>
            </a:endParaRPr>
          </a:p>
          <a:p>
            <a:pPr marL="997585" marR="800100" indent="-411480">
              <a:lnSpc>
                <a:spcPts val="3590"/>
              </a:lnSpc>
              <a:spcBef>
                <a:spcPts val="229"/>
              </a:spcBef>
            </a:pPr>
            <a:r>
              <a:rPr dirty="0" sz="2600" spc="-10" b="1">
                <a:solidFill>
                  <a:srgbClr val="FFFFFF"/>
                </a:solidFill>
                <a:latin typeface="宋体"/>
                <a:cs typeface="宋体"/>
              </a:rPr>
              <a:t>①</a:t>
            </a:r>
            <a:r>
              <a:rPr dirty="0" sz="2600" spc="-1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对文法</a:t>
            </a:r>
            <a:r>
              <a:rPr dirty="0" sz="2750" spc="-150" b="1" i="1">
                <a:solidFill>
                  <a:srgbClr val="FFFFFF"/>
                </a:solidFill>
                <a:latin typeface="宋体"/>
                <a:cs typeface="宋体"/>
              </a:rPr>
              <a:t>Ｇ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的所有非终结符</a:t>
            </a:r>
            <a:r>
              <a:rPr dirty="0" sz="2600" spc="-15" b="1">
                <a:solidFill>
                  <a:srgbClr val="FFFFFF"/>
                </a:solidFill>
                <a:latin typeface="宋体"/>
                <a:cs typeface="宋体"/>
              </a:rPr>
              <a:t>按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任一种</a:t>
            </a:r>
            <a:r>
              <a:rPr dirty="0" sz="2600" spc="-15" b="1">
                <a:solidFill>
                  <a:srgbClr val="FFFFFF"/>
                </a:solidFill>
                <a:latin typeface="宋体"/>
                <a:cs typeface="宋体"/>
              </a:rPr>
              <a:t>顺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序排</a:t>
            </a:r>
            <a:r>
              <a:rPr dirty="0" sz="2600" spc="-5" b="1">
                <a:solidFill>
                  <a:srgbClr val="FFFFFF"/>
                </a:solidFill>
                <a:latin typeface="宋体"/>
                <a:cs typeface="宋体"/>
              </a:rPr>
              <a:t>列</a:t>
            </a:r>
            <a:r>
              <a:rPr dirty="0" sz="2600" spc="-10" b="1">
                <a:solidFill>
                  <a:srgbClr val="FFFFFF"/>
                </a:solidFill>
                <a:latin typeface="宋体"/>
                <a:cs typeface="宋体"/>
              </a:rPr>
              <a:t>，  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例</a:t>
            </a:r>
            <a:r>
              <a:rPr dirty="0" sz="2600" spc="5" b="1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4509" sz="2550" spc="1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4509" sz="2550" spc="1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dirty="0" sz="2600" spc="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4509" sz="2550" spc="1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。消</a:t>
            </a:r>
            <a:r>
              <a:rPr dirty="0" sz="2600" spc="-10" b="1">
                <a:solidFill>
                  <a:srgbClr val="FFFFFF"/>
                </a:solidFill>
                <a:latin typeface="宋体"/>
                <a:cs typeface="宋体"/>
              </a:rPr>
              <a:t>除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4509" sz="2550" spc="1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600" spc="5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26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600" spc="5" b="1">
                <a:solidFill>
                  <a:srgbClr val="FFFFFF"/>
                </a:solidFill>
                <a:latin typeface="宋体"/>
                <a:cs typeface="宋体"/>
              </a:rPr>
              <a:t>直接左</a:t>
            </a:r>
            <a:r>
              <a:rPr dirty="0" sz="2600" spc="-5" b="1">
                <a:solidFill>
                  <a:srgbClr val="FFFFFF"/>
                </a:solidFill>
                <a:latin typeface="宋体"/>
                <a:cs typeface="宋体"/>
              </a:rPr>
              <a:t>递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归</a:t>
            </a:r>
            <a:r>
              <a:rPr dirty="0" sz="2600" spc="-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600">
              <a:latin typeface="宋体"/>
              <a:cs typeface="宋体"/>
            </a:endParaRPr>
          </a:p>
          <a:p>
            <a:pPr marL="586105">
              <a:lnSpc>
                <a:spcPct val="100000"/>
              </a:lnSpc>
              <a:spcBef>
                <a:spcPts val="270"/>
              </a:spcBef>
            </a:pPr>
            <a:r>
              <a:rPr dirty="0" sz="2600" spc="-10" b="1">
                <a:solidFill>
                  <a:srgbClr val="FFFFFF"/>
                </a:solidFill>
                <a:latin typeface="宋体"/>
                <a:cs typeface="宋体"/>
              </a:rPr>
              <a:t>②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for ( i=1;i=n;i++</a:t>
            </a:r>
            <a:r>
              <a:rPr dirty="0" sz="2600" spc="5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marL="1327150">
              <a:lnSpc>
                <a:spcPct val="100000"/>
              </a:lnSpc>
              <a:spcBef>
                <a:spcPts val="470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{for ( j=1; j = i-1;j++</a:t>
            </a:r>
            <a:r>
              <a:rPr dirty="0" sz="2600" spc="-1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marL="1162685">
              <a:lnSpc>
                <a:spcPct val="100000"/>
              </a:lnSpc>
              <a:spcBef>
                <a:spcPts val="465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  <a:p>
            <a:pPr marL="997585">
              <a:lnSpc>
                <a:spcPct val="100000"/>
              </a:lnSpc>
              <a:spcBef>
                <a:spcPts val="470"/>
              </a:spcBef>
            </a:pP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把形如</a:t>
            </a:r>
            <a:r>
              <a:rPr dirty="0" sz="2600" spc="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4509" sz="2550" spc="7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4509" sz="2550" spc="307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4509" sz="2550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γ</a:t>
            </a:r>
            <a:r>
              <a:rPr dirty="0" sz="2600" spc="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的产生式改写成</a:t>
            </a:r>
            <a:endParaRPr sz="2600">
              <a:latin typeface="宋体"/>
              <a:cs typeface="宋体"/>
            </a:endParaRPr>
          </a:p>
          <a:p>
            <a:pPr marL="1244600">
              <a:lnSpc>
                <a:spcPct val="100000"/>
              </a:lnSpc>
              <a:spcBef>
                <a:spcPts val="470"/>
              </a:spcBef>
            </a:pPr>
            <a:r>
              <a:rPr dirty="0" sz="2600" spc="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4509" sz="2550" spc="7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4509" sz="2550" spc="337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δ</a:t>
            </a:r>
            <a:r>
              <a:rPr dirty="0" baseline="-24509" sz="255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γ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│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δ</a:t>
            </a:r>
            <a:r>
              <a:rPr dirty="0" baseline="-24509" sz="255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γ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│……│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δ</a:t>
            </a:r>
            <a:r>
              <a:rPr dirty="0" baseline="-24509" sz="2550" b="1" i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γ</a:t>
            </a:r>
            <a:endParaRPr sz="2600">
              <a:latin typeface="Times New Roman"/>
              <a:cs typeface="Times New Roman"/>
            </a:endParaRPr>
          </a:p>
          <a:p>
            <a:pPr marL="749300">
              <a:lnSpc>
                <a:spcPct val="100000"/>
              </a:lnSpc>
              <a:spcBef>
                <a:spcPts val="470"/>
              </a:spcBef>
            </a:pP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其中</a:t>
            </a:r>
            <a:r>
              <a:rPr dirty="0" sz="2600" spc="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4509" sz="2550" spc="7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baseline="-24509" sz="2550" spc="3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δ</a:t>
            </a:r>
            <a:r>
              <a:rPr dirty="0" baseline="-24509" sz="255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│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δ</a:t>
            </a:r>
            <a:r>
              <a:rPr dirty="0" baseline="-24509" sz="255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│……│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δ</a:t>
            </a:r>
            <a:r>
              <a:rPr dirty="0" baseline="-24509" sz="2550" b="1" i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baseline="-24509" sz="2550" spc="292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是关于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4509" sz="2550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的全部规则；</a:t>
            </a:r>
            <a:endParaRPr sz="2600">
              <a:latin typeface="宋体"/>
              <a:cs typeface="宋体"/>
            </a:endParaRPr>
          </a:p>
          <a:p>
            <a:pPr marL="1080135">
              <a:lnSpc>
                <a:spcPct val="100000"/>
              </a:lnSpc>
              <a:spcBef>
                <a:spcPts val="470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  <a:p>
            <a:pPr marL="1081405">
              <a:lnSpc>
                <a:spcPct val="100000"/>
              </a:lnSpc>
              <a:spcBef>
                <a:spcPts val="465"/>
              </a:spcBef>
            </a:pP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消除</a:t>
            </a: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4509" sz="255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规则中的直接左递归；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  <a:p>
            <a:pPr marL="667385">
              <a:lnSpc>
                <a:spcPct val="100000"/>
              </a:lnSpc>
              <a:spcBef>
                <a:spcPts val="470"/>
              </a:spcBef>
            </a:pPr>
            <a:r>
              <a:rPr dirty="0" sz="2600" spc="-5" b="1">
                <a:solidFill>
                  <a:srgbClr val="FFFFFF"/>
                </a:solidFill>
                <a:latin typeface="宋体"/>
                <a:cs typeface="宋体"/>
              </a:rPr>
              <a:t>③</a:t>
            </a:r>
            <a:r>
              <a:rPr dirty="0" sz="2600" spc="62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简化</a:t>
            </a:r>
            <a:r>
              <a:rPr dirty="0" sz="2600" spc="5" b="1">
                <a:solidFill>
                  <a:srgbClr val="FFFFFF"/>
                </a:solidFill>
                <a:latin typeface="宋体"/>
                <a:cs typeface="宋体"/>
              </a:rPr>
              <a:t>由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②所得的文</a:t>
            </a:r>
            <a:r>
              <a:rPr dirty="0" sz="2600" spc="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，即去</a:t>
            </a:r>
            <a:r>
              <a:rPr dirty="0" sz="2600" spc="-5" b="1">
                <a:solidFill>
                  <a:srgbClr val="FFFFFF"/>
                </a:solidFill>
                <a:latin typeface="宋体"/>
                <a:cs typeface="宋体"/>
              </a:rPr>
              <a:t>掉多</a:t>
            </a:r>
            <a:r>
              <a:rPr dirty="0" sz="2600" spc="5" b="1">
                <a:solidFill>
                  <a:srgbClr val="FFFFFF"/>
                </a:solidFill>
                <a:latin typeface="宋体"/>
                <a:cs typeface="宋体"/>
              </a:rPr>
              <a:t>余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600" spc="-5" b="1">
                <a:solidFill>
                  <a:srgbClr val="FFFFFF"/>
                </a:solidFill>
                <a:latin typeface="宋体"/>
                <a:cs typeface="宋体"/>
              </a:rPr>
              <a:t>规</a:t>
            </a:r>
            <a:r>
              <a:rPr dirty="0" sz="2600" spc="10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600" spc="-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463" y="361394"/>
            <a:ext cx="8098155" cy="114681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 indent="609600">
              <a:lnSpc>
                <a:spcPct val="114999"/>
              </a:lnSpc>
              <a:spcBef>
                <a:spcPts val="95"/>
              </a:spcBef>
            </a:pP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令文法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>
                <a:solidFill>
                  <a:srgbClr val="FFFFFF"/>
                </a:solidFill>
              </a:rPr>
              <a:t>(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>
                <a:solidFill>
                  <a:srgbClr val="FFFFFF"/>
                </a:solidFill>
              </a:rPr>
              <a:t>)</a:t>
            </a: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的非终结符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排</a:t>
            </a: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dirty="0" sz="3200" spc="15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spc="-5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90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5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。 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于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200" spc="-20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，不存在直接左递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归</a:t>
            </a: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，把</a:t>
            </a:r>
            <a:r>
              <a:rPr dirty="0" sz="3200" spc="-5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代入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spc="-55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463" y="1555495"/>
            <a:ext cx="234061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的规则变为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03702" y="2116327"/>
            <a:ext cx="279717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Acb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│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dAb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│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689" y="2797911"/>
            <a:ext cx="7781290" cy="3496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代换后的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不含直接左递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归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将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其代入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的规则变为：</a:t>
            </a:r>
            <a:endParaRPr sz="3200">
              <a:latin typeface="宋体"/>
              <a:cs typeface="宋体"/>
            </a:endParaRPr>
          </a:p>
          <a:p>
            <a:pPr marL="2559685">
              <a:lnSpc>
                <a:spcPct val="100000"/>
              </a:lnSpc>
              <a:spcBef>
                <a:spcPts val="575"/>
              </a:spcBef>
            </a:pP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A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-2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cba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│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dAba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│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ca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│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bB</a:t>
            </a:r>
            <a:endParaRPr sz="3200">
              <a:latin typeface="Times New Roman"/>
              <a:cs typeface="Times New Roman"/>
            </a:endParaRPr>
          </a:p>
          <a:p>
            <a:pPr marL="140970">
              <a:lnSpc>
                <a:spcPct val="100000"/>
              </a:lnSpc>
              <a:spcBef>
                <a:spcPts val="1405"/>
              </a:spcBef>
            </a:pP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存在直接左递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归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，消除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的直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接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左递归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endParaRPr sz="3200">
              <a:latin typeface="宋体"/>
              <a:cs typeface="宋体"/>
            </a:endParaRPr>
          </a:p>
          <a:p>
            <a:pPr marL="2681605" marR="1026794" indent="2540">
              <a:lnSpc>
                <a:spcPct val="114999"/>
              </a:lnSpc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dAbaA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′|</a:t>
            </a:r>
            <a:r>
              <a:rPr dirty="0" sz="3200" spc="-8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caA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′|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bBA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′ 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′→</a:t>
            </a:r>
            <a:r>
              <a:rPr dirty="0" sz="3200" spc="-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cbaA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′|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ε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05231" y="26923"/>
            <a:ext cx="87071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  <a:tab pos="17970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4.2</a:t>
            </a:r>
            <a:r>
              <a:rPr dirty="0" sz="2000" spc="47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不确定的自上而下分析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sz="2000" spc="450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4.2.2</a:t>
            </a:r>
            <a:r>
              <a:rPr dirty="0" u="sng" sz="2000" spc="4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不确定性原因与解决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方法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70676" y="2879089"/>
            <a:ext cx="2973705" cy="0"/>
          </a:xfrm>
          <a:custGeom>
            <a:avLst/>
            <a:gdLst/>
            <a:ahLst/>
            <a:cxnLst/>
            <a:rect l="l" t="t" r="r" b="b"/>
            <a:pathLst>
              <a:path w="2973704" h="0">
                <a:moveTo>
                  <a:pt x="0" y="0"/>
                </a:moveTo>
                <a:lnTo>
                  <a:pt x="2973324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177026" y="1470660"/>
            <a:ext cx="0" cy="1402080"/>
          </a:xfrm>
          <a:custGeom>
            <a:avLst/>
            <a:gdLst/>
            <a:ahLst/>
            <a:cxnLst/>
            <a:rect l="l" t="t" r="r" b="b"/>
            <a:pathLst>
              <a:path w="0" h="1402080">
                <a:moveTo>
                  <a:pt x="0" y="0"/>
                </a:moveTo>
                <a:lnTo>
                  <a:pt x="0" y="140208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170676" y="1464310"/>
            <a:ext cx="2973705" cy="0"/>
          </a:xfrm>
          <a:custGeom>
            <a:avLst/>
            <a:gdLst/>
            <a:ahLst/>
            <a:cxnLst/>
            <a:rect l="l" t="t" r="r" b="b"/>
            <a:pathLst>
              <a:path w="2973704" h="0">
                <a:moveTo>
                  <a:pt x="0" y="0"/>
                </a:moveTo>
                <a:lnTo>
                  <a:pt x="2973324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196076" y="2847339"/>
            <a:ext cx="2948305" cy="0"/>
          </a:xfrm>
          <a:custGeom>
            <a:avLst/>
            <a:gdLst/>
            <a:ahLst/>
            <a:cxnLst/>
            <a:rect l="l" t="t" r="r" b="b"/>
            <a:pathLst>
              <a:path w="2948304" h="0">
                <a:moveTo>
                  <a:pt x="0" y="0"/>
                </a:moveTo>
                <a:lnTo>
                  <a:pt x="2947924" y="0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208776" y="1508760"/>
            <a:ext cx="0" cy="1325880"/>
          </a:xfrm>
          <a:custGeom>
            <a:avLst/>
            <a:gdLst/>
            <a:ahLst/>
            <a:cxnLst/>
            <a:rect l="l" t="t" r="r" b="b"/>
            <a:pathLst>
              <a:path w="0" h="1325880">
                <a:moveTo>
                  <a:pt x="0" y="0"/>
                </a:moveTo>
                <a:lnTo>
                  <a:pt x="0" y="1325880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196076" y="1496060"/>
            <a:ext cx="2948305" cy="0"/>
          </a:xfrm>
          <a:custGeom>
            <a:avLst/>
            <a:gdLst/>
            <a:ahLst/>
            <a:cxnLst/>
            <a:rect l="l" t="t" r="r" b="b"/>
            <a:pathLst>
              <a:path w="2948304" h="0">
                <a:moveTo>
                  <a:pt x="0" y="0"/>
                </a:moveTo>
                <a:lnTo>
                  <a:pt x="2947924" y="0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137650" y="1509267"/>
            <a:ext cx="0" cy="1325245"/>
          </a:xfrm>
          <a:custGeom>
            <a:avLst/>
            <a:gdLst/>
            <a:ahLst/>
            <a:cxnLst/>
            <a:rect l="l" t="t" r="r" b="b"/>
            <a:pathLst>
              <a:path w="0" h="1325245">
                <a:moveTo>
                  <a:pt x="0" y="0"/>
                </a:moveTo>
                <a:lnTo>
                  <a:pt x="0" y="1324864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234176" y="2815589"/>
            <a:ext cx="2884805" cy="0"/>
          </a:xfrm>
          <a:custGeom>
            <a:avLst/>
            <a:gdLst/>
            <a:ahLst/>
            <a:cxnLst/>
            <a:rect l="l" t="t" r="r" b="b"/>
            <a:pathLst>
              <a:path w="2884804" h="0">
                <a:moveTo>
                  <a:pt x="0" y="0"/>
                </a:moveTo>
                <a:lnTo>
                  <a:pt x="2884424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240526" y="1534160"/>
            <a:ext cx="0" cy="1275080"/>
          </a:xfrm>
          <a:custGeom>
            <a:avLst/>
            <a:gdLst/>
            <a:ahLst/>
            <a:cxnLst/>
            <a:rect l="l" t="t" r="r" b="b"/>
            <a:pathLst>
              <a:path w="0" h="1275080">
                <a:moveTo>
                  <a:pt x="0" y="0"/>
                </a:moveTo>
                <a:lnTo>
                  <a:pt x="0" y="127508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234176" y="1527810"/>
            <a:ext cx="2884805" cy="0"/>
          </a:xfrm>
          <a:custGeom>
            <a:avLst/>
            <a:gdLst/>
            <a:ahLst/>
            <a:cxnLst/>
            <a:rect l="l" t="t" r="r" b="b"/>
            <a:pathLst>
              <a:path w="2884804" h="0">
                <a:moveTo>
                  <a:pt x="0" y="0"/>
                </a:moveTo>
                <a:lnTo>
                  <a:pt x="2884424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112250" y="1534667"/>
            <a:ext cx="0" cy="1274445"/>
          </a:xfrm>
          <a:custGeom>
            <a:avLst/>
            <a:gdLst/>
            <a:ahLst/>
            <a:cxnLst/>
            <a:rect l="l" t="t" r="r" b="b"/>
            <a:pathLst>
              <a:path w="0" h="1274445">
                <a:moveTo>
                  <a:pt x="0" y="0"/>
                </a:moveTo>
                <a:lnTo>
                  <a:pt x="0" y="1274064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221476" y="1508760"/>
            <a:ext cx="2897505" cy="13258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79375">
              <a:lnSpc>
                <a:spcPts val="2780"/>
              </a:lnSpc>
            </a:pPr>
            <a:r>
              <a:rPr dirty="0" sz="2400" spc="-5" b="1" i="1">
                <a:latin typeface="Times New Roman"/>
                <a:cs typeface="Times New Roman"/>
              </a:rPr>
              <a:t>G</a:t>
            </a:r>
            <a:r>
              <a:rPr dirty="0" sz="2400" spc="-5" b="1">
                <a:latin typeface="Times New Roman"/>
                <a:cs typeface="Times New Roman"/>
              </a:rPr>
              <a:t>(</a:t>
            </a:r>
            <a:r>
              <a:rPr dirty="0" sz="2400" spc="-5" b="1" i="1">
                <a:latin typeface="Times New Roman"/>
                <a:cs typeface="Times New Roman"/>
              </a:rPr>
              <a:t>A</a:t>
            </a:r>
            <a:r>
              <a:rPr dirty="0" sz="2400" spc="-5" b="1">
                <a:latin typeface="Times New Roman"/>
                <a:cs typeface="Times New Roman"/>
              </a:rPr>
              <a:t>):</a:t>
            </a:r>
            <a:r>
              <a:rPr dirty="0" sz="2400" spc="-5" b="1" i="1">
                <a:latin typeface="Times New Roman"/>
                <a:cs typeface="Times New Roman"/>
              </a:rPr>
              <a:t>A </a:t>
            </a:r>
            <a:r>
              <a:rPr dirty="0" sz="2400" b="1">
                <a:latin typeface="Times New Roman"/>
                <a:cs typeface="Times New Roman"/>
              </a:rPr>
              <a:t>→ </a:t>
            </a:r>
            <a:r>
              <a:rPr dirty="0" sz="2400" spc="-5" b="1" i="1">
                <a:latin typeface="Times New Roman"/>
                <a:cs typeface="Times New Roman"/>
              </a:rPr>
              <a:t>Ba </a:t>
            </a:r>
            <a:r>
              <a:rPr dirty="0" sz="2400" b="1">
                <a:latin typeface="Times New Roman"/>
                <a:cs typeface="Times New Roman"/>
              </a:rPr>
              <a:t>|</a:t>
            </a:r>
            <a:r>
              <a:rPr dirty="0" sz="2400" spc="-75" b="1">
                <a:latin typeface="Times New Roman"/>
                <a:cs typeface="Times New Roman"/>
              </a:rPr>
              <a:t> </a:t>
            </a:r>
            <a:r>
              <a:rPr dirty="0" sz="2400" spc="-5" b="1" i="1">
                <a:latin typeface="Times New Roman"/>
                <a:cs typeface="Times New Roman"/>
              </a:rPr>
              <a:t>bB</a:t>
            </a:r>
            <a:endParaRPr sz="2400">
              <a:latin typeface="Times New Roman"/>
              <a:cs typeface="Times New Roman"/>
            </a:endParaRPr>
          </a:p>
          <a:p>
            <a:pPr marL="841375" marR="473709">
              <a:lnSpc>
                <a:spcPct val="130000"/>
              </a:lnSpc>
            </a:pPr>
            <a:r>
              <a:rPr dirty="0" sz="2400" b="1" i="1">
                <a:latin typeface="Times New Roman"/>
                <a:cs typeface="Times New Roman"/>
              </a:rPr>
              <a:t>B </a:t>
            </a:r>
            <a:r>
              <a:rPr dirty="0" sz="2400" b="1">
                <a:latin typeface="Times New Roman"/>
                <a:cs typeface="Times New Roman"/>
              </a:rPr>
              <a:t>→ </a:t>
            </a:r>
            <a:r>
              <a:rPr dirty="0" sz="2400" spc="-5" b="1" i="1">
                <a:latin typeface="Times New Roman"/>
                <a:cs typeface="Times New Roman"/>
              </a:rPr>
              <a:t>Cb </a:t>
            </a:r>
            <a:r>
              <a:rPr dirty="0" sz="2400" spc="-5" b="1">
                <a:latin typeface="Times New Roman"/>
                <a:cs typeface="Times New Roman"/>
              </a:rPr>
              <a:t>| </a:t>
            </a:r>
            <a:r>
              <a:rPr dirty="0" sz="2400" b="1" i="1">
                <a:latin typeface="Times New Roman"/>
                <a:cs typeface="Times New Roman"/>
              </a:rPr>
              <a:t>c  </a:t>
            </a:r>
            <a:r>
              <a:rPr dirty="0" sz="2400" b="1" i="1">
                <a:latin typeface="Times New Roman"/>
                <a:cs typeface="Times New Roman"/>
              </a:rPr>
              <a:t>C </a:t>
            </a:r>
            <a:r>
              <a:rPr dirty="0" sz="2400" b="1">
                <a:latin typeface="Times New Roman"/>
                <a:cs typeface="Times New Roman"/>
              </a:rPr>
              <a:t>→ </a:t>
            </a:r>
            <a:r>
              <a:rPr dirty="0" sz="2400" spc="-5" b="1" i="1">
                <a:latin typeface="Times New Roman"/>
                <a:cs typeface="Times New Roman"/>
              </a:rPr>
              <a:t>Ac </a:t>
            </a:r>
            <a:r>
              <a:rPr dirty="0" sz="2400" spc="-5" b="1">
                <a:latin typeface="Times New Roman"/>
                <a:cs typeface="Times New Roman"/>
              </a:rPr>
              <a:t>|</a:t>
            </a:r>
            <a:r>
              <a:rPr dirty="0" sz="2400" spc="-95" b="1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dA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1022" y="913187"/>
            <a:ext cx="4173220" cy="17094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86360">
              <a:lnSpc>
                <a:spcPct val="115100"/>
              </a:lnSpc>
              <a:spcBef>
                <a:spcPts val="100"/>
              </a:spcBef>
            </a:pPr>
            <a:r>
              <a:rPr dirty="0" sz="3200" i="1">
                <a:latin typeface="Times New Roman"/>
                <a:cs typeface="Times New Roman"/>
              </a:rPr>
              <a:t>A </a:t>
            </a:r>
            <a:r>
              <a:rPr dirty="0" sz="3200" spc="5"/>
              <a:t>→ </a:t>
            </a:r>
            <a:r>
              <a:rPr dirty="0" sz="3200" i="1">
                <a:latin typeface="Times New Roman"/>
                <a:cs typeface="Times New Roman"/>
              </a:rPr>
              <a:t>dAbaA</a:t>
            </a:r>
            <a:r>
              <a:rPr dirty="0" sz="3200"/>
              <a:t>′|</a:t>
            </a:r>
            <a:r>
              <a:rPr dirty="0" sz="3200" spc="-110"/>
              <a:t> </a:t>
            </a:r>
            <a:r>
              <a:rPr dirty="0" sz="3200" i="1">
                <a:latin typeface="Times New Roman"/>
                <a:cs typeface="Times New Roman"/>
              </a:rPr>
              <a:t>caA</a:t>
            </a:r>
            <a:r>
              <a:rPr dirty="0" sz="3200"/>
              <a:t>′|</a:t>
            </a:r>
            <a:r>
              <a:rPr dirty="0" sz="3200" i="1">
                <a:latin typeface="Times New Roman"/>
                <a:cs typeface="Times New Roman"/>
              </a:rPr>
              <a:t>bBA</a:t>
            </a:r>
            <a:r>
              <a:rPr dirty="0" sz="3200"/>
              <a:t>′  </a:t>
            </a:r>
            <a:r>
              <a:rPr dirty="0" sz="3200" spc="-5" i="1">
                <a:latin typeface="Times New Roman"/>
                <a:cs typeface="Times New Roman"/>
              </a:rPr>
              <a:t>A</a:t>
            </a:r>
            <a:r>
              <a:rPr dirty="0" sz="3200" spc="-5"/>
              <a:t>′→</a:t>
            </a:r>
            <a:r>
              <a:rPr dirty="0" sz="3200" spc="-15"/>
              <a:t> </a:t>
            </a:r>
            <a:r>
              <a:rPr dirty="0" sz="3200" i="1">
                <a:latin typeface="Times New Roman"/>
                <a:cs typeface="Times New Roman"/>
              </a:rPr>
              <a:t>cbaA</a:t>
            </a:r>
            <a:r>
              <a:rPr dirty="0" sz="3200"/>
              <a:t>′|</a:t>
            </a:r>
            <a:r>
              <a:rPr dirty="0" sz="3200" i="1">
                <a:latin typeface="Times New Roman"/>
                <a:cs typeface="Times New Roman"/>
              </a:rPr>
              <a:t>ε</a:t>
            </a:r>
            <a:endParaRPr sz="3200">
              <a:latin typeface="Times New Roman"/>
              <a:cs typeface="Times New Roman"/>
            </a:endParaRPr>
          </a:p>
          <a:p>
            <a:pPr marL="17145">
              <a:lnSpc>
                <a:spcPct val="100000"/>
              </a:lnSpc>
              <a:spcBef>
                <a:spcPts val="575"/>
              </a:spcBef>
            </a:pPr>
            <a:r>
              <a:rPr dirty="0" sz="3200" i="1">
                <a:latin typeface="Times New Roman"/>
                <a:cs typeface="Times New Roman"/>
              </a:rPr>
              <a:t>B</a:t>
            </a:r>
            <a:r>
              <a:rPr dirty="0" sz="3200" spc="-5" i="1">
                <a:latin typeface="Times New Roman"/>
                <a:cs typeface="Times New Roman"/>
              </a:rPr>
              <a:t> </a:t>
            </a:r>
            <a:r>
              <a:rPr dirty="0" sz="3200"/>
              <a:t>→</a:t>
            </a:r>
            <a:r>
              <a:rPr dirty="0" sz="3200" i="1">
                <a:latin typeface="Times New Roman"/>
                <a:cs typeface="Times New Roman"/>
              </a:rPr>
              <a:t>Acb</a:t>
            </a:r>
            <a:r>
              <a:rPr dirty="0" sz="3200"/>
              <a:t>│</a:t>
            </a:r>
            <a:r>
              <a:rPr dirty="0" sz="3200" i="1">
                <a:latin typeface="Times New Roman"/>
                <a:cs typeface="Times New Roman"/>
              </a:rPr>
              <a:t>dAb</a:t>
            </a:r>
            <a:r>
              <a:rPr dirty="0" sz="3200"/>
              <a:t>│</a:t>
            </a:r>
            <a:r>
              <a:rPr dirty="0" sz="3200" i="1"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20774" y="2727198"/>
            <a:ext cx="4152900" cy="647700"/>
          </a:xfrm>
          <a:prstGeom prst="rect">
            <a:avLst/>
          </a:prstGeom>
          <a:ln w="38100">
            <a:solidFill>
              <a:srgbClr val="FF99CC"/>
            </a:solidFill>
          </a:ln>
        </p:spPr>
        <p:txBody>
          <a:bodyPr wrap="square" lIns="0" tIns="13335" rIns="0" bIns="0" rtlCol="0" vert="horz">
            <a:spAutoFit/>
          </a:bodyPr>
          <a:lstStyle/>
          <a:p>
            <a:pPr marL="47244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C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Ac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05231" y="0"/>
            <a:ext cx="8707120" cy="1006475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19"/>
              </a:spcBef>
              <a:tabLst>
                <a:tab pos="521334" algn="l"/>
                <a:tab pos="17970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4.2</a:t>
            </a:r>
            <a:r>
              <a:rPr dirty="0" sz="2000" spc="47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不确定的自上而下分析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sz="2000" spc="450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4.2.2</a:t>
            </a:r>
            <a:r>
              <a:rPr dirty="0" u="sng" sz="2000" spc="4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不确定性原因与解决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方法</a:t>
            </a:r>
            <a:endParaRPr sz="2000">
              <a:latin typeface="宋体"/>
              <a:cs typeface="宋体"/>
            </a:endParaRPr>
          </a:p>
          <a:p>
            <a:pPr marL="59055">
              <a:lnSpc>
                <a:spcPct val="100000"/>
              </a:lnSpc>
              <a:spcBef>
                <a:spcPts val="114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改写为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11057" y="6697989"/>
            <a:ext cx="737870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36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6542" y="3501237"/>
            <a:ext cx="7900034" cy="29876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914400">
              <a:lnSpc>
                <a:spcPct val="130100"/>
              </a:lnSpc>
              <a:spcBef>
                <a:spcPts val="9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删除多余的规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最后得到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文</a:t>
            </a:r>
            <a:r>
              <a:rPr dirty="0" sz="3200" spc="1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无左递归的等价文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′(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endParaRPr sz="3200">
              <a:latin typeface="宋体"/>
              <a:cs typeface="宋体"/>
            </a:endParaRPr>
          </a:p>
          <a:p>
            <a:pPr marL="1841500" marR="1989455">
              <a:lnSpc>
                <a:spcPct val="114999"/>
              </a:lnSpc>
              <a:spcBef>
                <a:spcPts val="8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dAbaA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′|</a:t>
            </a:r>
            <a:r>
              <a:rPr dirty="0" sz="3200" spc="-9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caA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′|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bBA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′ 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′→</a:t>
            </a:r>
            <a:r>
              <a:rPr dirty="0" sz="3200" spc="-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cbaA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′|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ε</a:t>
            </a:r>
            <a:endParaRPr sz="3200">
              <a:latin typeface="Times New Roman"/>
              <a:cs typeface="Times New Roman"/>
            </a:endParaRPr>
          </a:p>
          <a:p>
            <a:pPr marL="1845945">
              <a:lnSpc>
                <a:spcPct val="100000"/>
              </a:lnSpc>
              <a:spcBef>
                <a:spcPts val="580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Acb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│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dAb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│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646302"/>
            <a:ext cx="739076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令文</a:t>
            </a: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>
                <a:solidFill>
                  <a:srgbClr val="FFFFFF"/>
                </a:solidFill>
              </a:rPr>
              <a:t>(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>
                <a:solidFill>
                  <a:srgbClr val="FFFFFF"/>
                </a:solidFill>
              </a:rPr>
              <a:t>)</a:t>
            </a: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的非终结符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排</a:t>
            </a: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dirty="0" sz="3200" spc="15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spc="-5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1134040"/>
            <a:ext cx="5468620" cy="1708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于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，不存在直接左递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归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， 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对于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，候选式中不包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含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且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不存在直接左递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归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5440" y="3105206"/>
            <a:ext cx="7679055" cy="3519170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将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带入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代换后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变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为：</a:t>
            </a:r>
            <a:endParaRPr sz="3200">
              <a:latin typeface="宋体"/>
              <a:cs typeface="宋体"/>
            </a:endParaRPr>
          </a:p>
          <a:p>
            <a:pPr marL="2559685">
              <a:lnSpc>
                <a:spcPct val="100000"/>
              </a:lnSpc>
              <a:spcBef>
                <a:spcPts val="575"/>
              </a:spcBef>
            </a:pP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C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Bac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│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bBc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│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dA</a:t>
            </a:r>
            <a:endParaRPr sz="3200">
              <a:latin typeface="Times New Roman"/>
              <a:cs typeface="Times New Roman"/>
            </a:endParaRPr>
          </a:p>
          <a:p>
            <a:pPr marL="2553335">
              <a:lnSpc>
                <a:spcPct val="100000"/>
              </a:lnSpc>
              <a:spcBef>
                <a:spcPts val="575"/>
              </a:spcBef>
            </a:pP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C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-2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Cbac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│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cac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│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bBc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│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dA</a:t>
            </a:r>
            <a:endParaRPr sz="3200">
              <a:latin typeface="Times New Roman"/>
              <a:cs typeface="Times New Roman"/>
            </a:endParaRPr>
          </a:p>
          <a:p>
            <a:pPr marL="184150">
              <a:lnSpc>
                <a:spcPct val="100000"/>
              </a:lnSpc>
              <a:spcBef>
                <a:spcPts val="1580"/>
              </a:spcBef>
            </a:pP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存在直接左递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归，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消除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直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接左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递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归有</a:t>
            </a:r>
            <a:endParaRPr sz="3200">
              <a:latin typeface="宋体"/>
              <a:cs typeface="宋体"/>
            </a:endParaRPr>
          </a:p>
          <a:p>
            <a:pPr marL="2724785" marR="826769" indent="2540">
              <a:lnSpc>
                <a:spcPct val="114999"/>
              </a:lnSpc>
              <a:spcBef>
                <a:spcPts val="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C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cacC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′|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bBcC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′|</a:t>
            </a:r>
            <a:r>
              <a:rPr dirty="0" sz="3200" spc="-10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dAC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′  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′→</a:t>
            </a:r>
            <a:r>
              <a:rPr dirty="0" sz="32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bacC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′|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ε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05231" y="26923"/>
            <a:ext cx="87071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  <a:tab pos="17970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4.2</a:t>
            </a:r>
            <a:r>
              <a:rPr dirty="0" sz="2000" spc="47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不确定的自上而下分析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sz="2000" spc="450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4.2.2</a:t>
            </a:r>
            <a:r>
              <a:rPr dirty="0" u="sng" sz="2000" spc="4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不确定性原因与解决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方法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536435" y="3105150"/>
            <a:ext cx="2607945" cy="0"/>
          </a:xfrm>
          <a:custGeom>
            <a:avLst/>
            <a:gdLst/>
            <a:ahLst/>
            <a:cxnLst/>
            <a:rect l="l" t="t" r="r" b="b"/>
            <a:pathLst>
              <a:path w="2607945" h="0">
                <a:moveTo>
                  <a:pt x="0" y="0"/>
                </a:moveTo>
                <a:lnTo>
                  <a:pt x="2607563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542785" y="1696720"/>
            <a:ext cx="0" cy="1402080"/>
          </a:xfrm>
          <a:custGeom>
            <a:avLst/>
            <a:gdLst/>
            <a:ahLst/>
            <a:cxnLst/>
            <a:rect l="l" t="t" r="r" b="b"/>
            <a:pathLst>
              <a:path w="0" h="1402080">
                <a:moveTo>
                  <a:pt x="0" y="0"/>
                </a:moveTo>
                <a:lnTo>
                  <a:pt x="0" y="140208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536435" y="1690370"/>
            <a:ext cx="2607945" cy="0"/>
          </a:xfrm>
          <a:custGeom>
            <a:avLst/>
            <a:gdLst/>
            <a:ahLst/>
            <a:cxnLst/>
            <a:rect l="l" t="t" r="r" b="b"/>
            <a:pathLst>
              <a:path w="2607945" h="0">
                <a:moveTo>
                  <a:pt x="0" y="0"/>
                </a:moveTo>
                <a:lnTo>
                  <a:pt x="2607563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561835" y="3073400"/>
            <a:ext cx="2582545" cy="0"/>
          </a:xfrm>
          <a:custGeom>
            <a:avLst/>
            <a:gdLst/>
            <a:ahLst/>
            <a:cxnLst/>
            <a:rect l="l" t="t" r="r" b="b"/>
            <a:pathLst>
              <a:path w="2582545" h="0">
                <a:moveTo>
                  <a:pt x="0" y="0"/>
                </a:moveTo>
                <a:lnTo>
                  <a:pt x="2582163" y="0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574535" y="1734820"/>
            <a:ext cx="0" cy="1325880"/>
          </a:xfrm>
          <a:custGeom>
            <a:avLst/>
            <a:gdLst/>
            <a:ahLst/>
            <a:cxnLst/>
            <a:rect l="l" t="t" r="r" b="b"/>
            <a:pathLst>
              <a:path w="0" h="1325880">
                <a:moveTo>
                  <a:pt x="0" y="0"/>
                </a:moveTo>
                <a:lnTo>
                  <a:pt x="0" y="1325880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561835" y="1722120"/>
            <a:ext cx="2582545" cy="0"/>
          </a:xfrm>
          <a:custGeom>
            <a:avLst/>
            <a:gdLst/>
            <a:ahLst/>
            <a:cxnLst/>
            <a:rect l="l" t="t" r="r" b="b"/>
            <a:pathLst>
              <a:path w="2582545" h="0">
                <a:moveTo>
                  <a:pt x="0" y="0"/>
                </a:moveTo>
                <a:lnTo>
                  <a:pt x="2582163" y="0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599935" y="3041650"/>
            <a:ext cx="2544445" cy="0"/>
          </a:xfrm>
          <a:custGeom>
            <a:avLst/>
            <a:gdLst/>
            <a:ahLst/>
            <a:cxnLst/>
            <a:rect l="l" t="t" r="r" b="b"/>
            <a:pathLst>
              <a:path w="2544445" h="0">
                <a:moveTo>
                  <a:pt x="0" y="0"/>
                </a:moveTo>
                <a:lnTo>
                  <a:pt x="2544063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606285" y="1760220"/>
            <a:ext cx="0" cy="1275080"/>
          </a:xfrm>
          <a:custGeom>
            <a:avLst/>
            <a:gdLst/>
            <a:ahLst/>
            <a:cxnLst/>
            <a:rect l="l" t="t" r="r" b="b"/>
            <a:pathLst>
              <a:path w="0" h="1275080">
                <a:moveTo>
                  <a:pt x="0" y="0"/>
                </a:moveTo>
                <a:lnTo>
                  <a:pt x="0" y="127508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599935" y="1753870"/>
            <a:ext cx="2544445" cy="0"/>
          </a:xfrm>
          <a:custGeom>
            <a:avLst/>
            <a:gdLst/>
            <a:ahLst/>
            <a:cxnLst/>
            <a:rect l="l" t="t" r="r" b="b"/>
            <a:pathLst>
              <a:path w="2544445" h="0">
                <a:moveTo>
                  <a:pt x="0" y="0"/>
                </a:moveTo>
                <a:lnTo>
                  <a:pt x="2544063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587235" y="1734820"/>
            <a:ext cx="2557145" cy="13258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78740">
              <a:lnSpc>
                <a:spcPts val="2780"/>
              </a:lnSpc>
            </a:pPr>
            <a:r>
              <a:rPr dirty="0" sz="2400" spc="-5" b="1" i="1">
                <a:latin typeface="Times New Roman"/>
                <a:cs typeface="Times New Roman"/>
              </a:rPr>
              <a:t>G</a:t>
            </a:r>
            <a:r>
              <a:rPr dirty="0" sz="2400" spc="-5" b="1">
                <a:latin typeface="Times New Roman"/>
                <a:cs typeface="Times New Roman"/>
              </a:rPr>
              <a:t>(</a:t>
            </a:r>
            <a:r>
              <a:rPr dirty="0" sz="2400" spc="-5" b="1" i="1">
                <a:latin typeface="Times New Roman"/>
                <a:cs typeface="Times New Roman"/>
              </a:rPr>
              <a:t>A</a:t>
            </a:r>
            <a:r>
              <a:rPr dirty="0" sz="2400" spc="-5" b="1">
                <a:latin typeface="Times New Roman"/>
                <a:cs typeface="Times New Roman"/>
              </a:rPr>
              <a:t>):</a:t>
            </a:r>
            <a:r>
              <a:rPr dirty="0" sz="2400" spc="-5" b="1" i="1">
                <a:latin typeface="Times New Roman"/>
                <a:cs typeface="Times New Roman"/>
              </a:rPr>
              <a:t>A </a:t>
            </a:r>
            <a:r>
              <a:rPr dirty="0" sz="2400" b="1">
                <a:latin typeface="Times New Roman"/>
                <a:cs typeface="Times New Roman"/>
              </a:rPr>
              <a:t>→ </a:t>
            </a:r>
            <a:r>
              <a:rPr dirty="0" sz="2400" spc="-5" b="1" i="1">
                <a:latin typeface="Times New Roman"/>
                <a:cs typeface="Times New Roman"/>
              </a:rPr>
              <a:t>Ba </a:t>
            </a:r>
            <a:r>
              <a:rPr dirty="0" sz="2400" spc="-5" b="1">
                <a:latin typeface="Times New Roman"/>
                <a:cs typeface="Times New Roman"/>
              </a:rPr>
              <a:t>|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bB</a:t>
            </a:r>
            <a:endParaRPr sz="2400">
              <a:latin typeface="Times New Roman"/>
              <a:cs typeface="Times New Roman"/>
            </a:endParaRPr>
          </a:p>
          <a:p>
            <a:pPr marL="841375" marR="133985">
              <a:lnSpc>
                <a:spcPct val="130000"/>
              </a:lnSpc>
            </a:pPr>
            <a:r>
              <a:rPr dirty="0" sz="2400" b="1" i="1">
                <a:latin typeface="Times New Roman"/>
                <a:cs typeface="Times New Roman"/>
              </a:rPr>
              <a:t>B </a:t>
            </a:r>
            <a:r>
              <a:rPr dirty="0" sz="2400" b="1">
                <a:latin typeface="Times New Roman"/>
                <a:cs typeface="Times New Roman"/>
              </a:rPr>
              <a:t>→ </a:t>
            </a:r>
            <a:r>
              <a:rPr dirty="0" sz="2400" spc="-5" b="1" i="1">
                <a:latin typeface="Times New Roman"/>
                <a:cs typeface="Times New Roman"/>
              </a:rPr>
              <a:t>Cb </a:t>
            </a:r>
            <a:r>
              <a:rPr dirty="0" sz="2400" spc="-5" b="1">
                <a:latin typeface="Times New Roman"/>
                <a:cs typeface="Times New Roman"/>
              </a:rPr>
              <a:t>| </a:t>
            </a:r>
            <a:r>
              <a:rPr dirty="0" sz="2400" b="1" i="1">
                <a:latin typeface="Times New Roman"/>
                <a:cs typeface="Times New Roman"/>
              </a:rPr>
              <a:t>c  </a:t>
            </a:r>
            <a:r>
              <a:rPr dirty="0" sz="2400" b="1" i="1">
                <a:latin typeface="Times New Roman"/>
                <a:cs typeface="Times New Roman"/>
              </a:rPr>
              <a:t>C </a:t>
            </a:r>
            <a:r>
              <a:rPr dirty="0" sz="2400" b="1">
                <a:latin typeface="Times New Roman"/>
                <a:cs typeface="Times New Roman"/>
              </a:rPr>
              <a:t>→ </a:t>
            </a:r>
            <a:r>
              <a:rPr dirty="0" sz="2400" spc="-5" b="1" i="1">
                <a:latin typeface="Times New Roman"/>
                <a:cs typeface="Times New Roman"/>
              </a:rPr>
              <a:t>Ac </a:t>
            </a:r>
            <a:r>
              <a:rPr dirty="0" sz="2400" spc="-5" b="1">
                <a:latin typeface="Times New Roman"/>
                <a:cs typeface="Times New Roman"/>
              </a:rPr>
              <a:t>|</a:t>
            </a:r>
            <a:r>
              <a:rPr dirty="0" sz="2400" spc="-95" b="1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dA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53589" y="1138253"/>
            <a:ext cx="4142740" cy="2400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4300" marR="1691639">
              <a:lnSpc>
                <a:spcPct val="114999"/>
              </a:lnSpc>
              <a:spcBef>
                <a:spcPts val="95"/>
              </a:spcBef>
              <a:tabLst>
                <a:tab pos="690245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	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Ba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8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bB 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	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Cb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7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4990"/>
              </a:lnSpc>
              <a:spcBef>
                <a:spcPts val="244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C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cacC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′|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bBcC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′|</a:t>
            </a:r>
            <a:r>
              <a:rPr dirty="0" sz="3200" spc="-9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dAC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′ 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′→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bacC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′|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ε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05231" y="26923"/>
            <a:ext cx="5071745" cy="1125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  <a:tab pos="17970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4.2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不确定的自上而下分析法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250">
              <a:latin typeface="宋体"/>
              <a:cs typeface="宋体"/>
            </a:endParaRPr>
          </a:p>
          <a:p>
            <a:pPr marL="133985">
              <a:lnSpc>
                <a:spcPct val="100000"/>
              </a:lnSpc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改写为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38013" y="26923"/>
            <a:ext cx="34747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4.2.2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不确定性原因与解决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方法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8378" y="1603375"/>
            <a:ext cx="25533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当前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5132" sz="315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9419" y="2589428"/>
            <a:ext cx="7566025" cy="3354704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38100" marR="30480" indent="621665">
              <a:lnSpc>
                <a:spcPct val="127299"/>
              </a:lnSpc>
              <a:spcBef>
                <a:spcPts val="190"/>
              </a:spcBef>
            </a:pP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在一般自上而下分析中，</a:t>
            </a:r>
            <a:r>
              <a:rPr dirty="0" sz="2800" spc="-10" b="1">
                <a:solidFill>
                  <a:srgbClr val="FFFF66"/>
                </a:solidFill>
                <a:latin typeface="宋体"/>
                <a:cs typeface="宋体"/>
              </a:rPr>
              <a:t>对</a:t>
            </a:r>
            <a:r>
              <a:rPr dirty="0" sz="2800" spc="5" b="1">
                <a:solidFill>
                  <a:srgbClr val="FFFF66"/>
                </a:solidFill>
                <a:latin typeface="宋体"/>
                <a:cs typeface="宋体"/>
              </a:rPr>
              <a:t>于</a:t>
            </a:r>
            <a:r>
              <a:rPr dirty="0" sz="2800" spc="-10" b="1">
                <a:solidFill>
                  <a:srgbClr val="FFFF66"/>
                </a:solidFill>
                <a:latin typeface="宋体"/>
                <a:cs typeface="宋体"/>
              </a:rPr>
              <a:t>一</a:t>
            </a:r>
            <a:r>
              <a:rPr dirty="0" sz="2800" spc="5" b="1">
                <a:solidFill>
                  <a:srgbClr val="FFFF66"/>
                </a:solidFill>
                <a:latin typeface="宋体"/>
                <a:cs typeface="宋体"/>
              </a:rPr>
              <a:t>个</a:t>
            </a:r>
            <a:r>
              <a:rPr dirty="0" sz="2800" b="1" i="1">
                <a:solidFill>
                  <a:srgbClr val="FFFF66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b="1" i="1">
                <a:solidFill>
                  <a:srgbClr val="FFFF66"/>
                </a:solidFill>
                <a:latin typeface="Times New Roman"/>
                <a:cs typeface="Times New Roman"/>
              </a:rPr>
              <a:t>N</a:t>
            </a:r>
            <a:r>
              <a:rPr dirty="0" sz="2800" spc="-10" b="1">
                <a:solidFill>
                  <a:srgbClr val="FFFF66"/>
                </a:solidFill>
                <a:latin typeface="宋体"/>
                <a:cs typeface="宋体"/>
              </a:rPr>
              <a:t>进</a:t>
            </a:r>
            <a:r>
              <a:rPr dirty="0" sz="2800" spc="5" b="1">
                <a:solidFill>
                  <a:srgbClr val="FFFF66"/>
                </a:solidFill>
                <a:latin typeface="宋体"/>
                <a:cs typeface="宋体"/>
              </a:rPr>
              <a:t>行</a:t>
            </a:r>
            <a:r>
              <a:rPr dirty="0" sz="2800" spc="-15" b="1">
                <a:solidFill>
                  <a:srgbClr val="FFFF66"/>
                </a:solidFill>
                <a:latin typeface="宋体"/>
                <a:cs typeface="宋体"/>
              </a:rPr>
              <a:t>推 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导并试图去匹配句子剩余符号</a:t>
            </a:r>
            <a:r>
              <a:rPr dirty="0" sz="2800" spc="10" b="1">
                <a:solidFill>
                  <a:srgbClr val="FFFF66"/>
                </a:solidFill>
                <a:latin typeface="宋体"/>
                <a:cs typeface="宋体"/>
              </a:rPr>
              <a:t>时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FF66"/>
                </a:solidFill>
                <a:latin typeface="宋体"/>
                <a:cs typeface="宋体"/>
              </a:rPr>
              <a:t>若</a:t>
            </a:r>
            <a:r>
              <a:rPr dirty="0" sz="2800" b="1" i="1">
                <a:solidFill>
                  <a:srgbClr val="FFFF66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b="1" i="1">
                <a:solidFill>
                  <a:srgbClr val="FFFF66"/>
                </a:solidFill>
                <a:latin typeface="Times New Roman"/>
                <a:cs typeface="Times New Roman"/>
              </a:rPr>
              <a:t>N</a:t>
            </a:r>
            <a:r>
              <a:rPr dirty="0" sz="2800" spc="-10" b="1">
                <a:solidFill>
                  <a:srgbClr val="FFFF66"/>
                </a:solidFill>
                <a:latin typeface="宋体"/>
                <a:cs typeface="宋体"/>
              </a:rPr>
              <a:t>含</a:t>
            </a:r>
            <a:r>
              <a:rPr dirty="0" sz="2800" spc="5" b="1">
                <a:solidFill>
                  <a:srgbClr val="FFFF66"/>
                </a:solidFill>
                <a:latin typeface="宋体"/>
                <a:cs typeface="宋体"/>
              </a:rPr>
              <a:t>有</a:t>
            </a:r>
            <a:r>
              <a:rPr dirty="0" sz="2800" spc="-15" b="1">
                <a:solidFill>
                  <a:srgbClr val="FFFF66"/>
                </a:solidFill>
                <a:latin typeface="宋体"/>
                <a:cs typeface="宋体"/>
              </a:rPr>
              <a:t>两 </a:t>
            </a:r>
            <a:r>
              <a:rPr dirty="0" sz="2800" spc="-10" b="1">
                <a:solidFill>
                  <a:srgbClr val="FFFF66"/>
                </a:solidFill>
                <a:latin typeface="宋体"/>
                <a:cs typeface="宋体"/>
              </a:rPr>
              <a:t>个或两个以上的候选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式</a:t>
            </a:r>
            <a:r>
              <a:rPr dirty="0" sz="2800" spc="-10" b="1">
                <a:solidFill>
                  <a:srgbClr val="FFFF66"/>
                </a:solidFill>
                <a:latin typeface="宋体"/>
                <a:cs typeface="宋体"/>
              </a:rPr>
              <a:t>，是依</a:t>
            </a:r>
            <a:r>
              <a:rPr dirty="0" sz="2800" b="1">
                <a:solidFill>
                  <a:srgbClr val="FFFF66"/>
                </a:solidFill>
                <a:latin typeface="宋体"/>
                <a:cs typeface="宋体"/>
              </a:rPr>
              <a:t>次</a:t>
            </a:r>
            <a:r>
              <a:rPr dirty="0" sz="2800" spc="-10" b="1">
                <a:solidFill>
                  <a:srgbClr val="FFFF66"/>
                </a:solidFill>
                <a:latin typeface="宋体"/>
                <a:cs typeface="宋体"/>
              </a:rPr>
              <a:t>一个</a:t>
            </a:r>
            <a:r>
              <a:rPr dirty="0" sz="2800" b="1">
                <a:solidFill>
                  <a:srgbClr val="FFFF66"/>
                </a:solidFill>
                <a:latin typeface="宋体"/>
                <a:cs typeface="宋体"/>
              </a:rPr>
              <a:t>一</a:t>
            </a:r>
            <a:r>
              <a:rPr dirty="0" sz="2800" spc="-10" b="1">
                <a:solidFill>
                  <a:srgbClr val="FFFF66"/>
                </a:solidFill>
                <a:latin typeface="宋体"/>
                <a:cs typeface="宋体"/>
              </a:rPr>
              <a:t>个</a:t>
            </a:r>
            <a:r>
              <a:rPr dirty="0" sz="2800" b="1">
                <a:solidFill>
                  <a:srgbClr val="FFFF66"/>
                </a:solidFill>
                <a:latin typeface="宋体"/>
                <a:cs typeface="宋体"/>
              </a:rPr>
              <a:t>地</a:t>
            </a:r>
            <a:r>
              <a:rPr dirty="0" sz="2800" spc="-10" b="1">
                <a:solidFill>
                  <a:srgbClr val="FFFF66"/>
                </a:solidFill>
                <a:latin typeface="宋体"/>
                <a:cs typeface="宋体"/>
              </a:rPr>
              <a:t>去</a:t>
            </a:r>
            <a:r>
              <a:rPr dirty="0" sz="2800" spc="-15" b="1">
                <a:solidFill>
                  <a:srgbClr val="FFFF66"/>
                </a:solidFill>
                <a:latin typeface="宋体"/>
                <a:cs typeface="宋体"/>
              </a:rPr>
              <a:t>试 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探，试图找出一个合乎要求</a:t>
            </a:r>
            <a:r>
              <a:rPr dirty="0" sz="2800" b="1">
                <a:solidFill>
                  <a:srgbClr val="FFFF66"/>
                </a:solidFill>
                <a:latin typeface="宋体"/>
                <a:cs typeface="宋体"/>
              </a:rPr>
              <a:t>的</a:t>
            </a:r>
            <a:r>
              <a:rPr dirty="0" sz="2950" spc="-100" b="1" i="1">
                <a:solidFill>
                  <a:srgbClr val="FFFF66"/>
                </a:solidFill>
                <a:latin typeface="Symbol"/>
                <a:cs typeface="Symbol"/>
              </a:rPr>
              <a:t></a:t>
            </a:r>
            <a:r>
              <a:rPr dirty="0" sz="2950" spc="-10" b="1" i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baseline="-25525" sz="2775" spc="7" b="1" i="1">
                <a:solidFill>
                  <a:srgbClr val="FFFF66"/>
                </a:solidFill>
                <a:latin typeface="Times New Roman"/>
                <a:cs typeface="Times New Roman"/>
              </a:rPr>
              <a:t>i</a:t>
            </a:r>
            <a:r>
              <a:rPr dirty="0" baseline="-25525" sz="2775" spc="644" b="1" i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66"/>
                </a:solidFill>
                <a:latin typeface="宋体"/>
                <a:cs typeface="宋体"/>
              </a:rPr>
              <a:t>。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先选</a:t>
            </a:r>
            <a:r>
              <a:rPr dirty="0" sz="2950" spc="-40" b="1" i="1">
                <a:solidFill>
                  <a:srgbClr val="FFFF66"/>
                </a:solidFill>
                <a:latin typeface="Symbol"/>
                <a:cs typeface="Symbol"/>
              </a:rPr>
              <a:t></a:t>
            </a:r>
            <a:r>
              <a:rPr dirty="0" baseline="-25525" sz="2775" spc="-60" b="1">
                <a:solidFill>
                  <a:srgbClr val="FFFF66"/>
                </a:solidFill>
                <a:latin typeface="Times New Roman"/>
                <a:cs typeface="Times New Roman"/>
              </a:rPr>
              <a:t>1</a:t>
            </a:r>
            <a:r>
              <a:rPr dirty="0" baseline="-25525" sz="2775" spc="322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，</a:t>
            </a:r>
            <a:r>
              <a:rPr dirty="0" sz="2800" spc="-15" b="1">
                <a:solidFill>
                  <a:srgbClr val="FFFF66"/>
                </a:solidFill>
                <a:latin typeface="宋体"/>
                <a:cs typeface="宋体"/>
              </a:rPr>
              <a:t>与 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当前输入</a:t>
            </a:r>
            <a:r>
              <a:rPr dirty="0" sz="2800" b="1" i="1">
                <a:solidFill>
                  <a:srgbClr val="FFFF66"/>
                </a:solidFill>
                <a:latin typeface="Times New Roman"/>
                <a:cs typeface="Times New Roman"/>
              </a:rPr>
              <a:t>a</a:t>
            </a:r>
            <a:r>
              <a:rPr dirty="0" baseline="-25525" sz="2775" b="1" i="1">
                <a:solidFill>
                  <a:srgbClr val="FFFF66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匹配成功则替换，否则</a:t>
            </a:r>
            <a:r>
              <a:rPr dirty="0" sz="2800" b="1">
                <a:solidFill>
                  <a:srgbClr val="FFFF66"/>
                </a:solidFill>
                <a:latin typeface="宋体"/>
                <a:cs typeface="宋体"/>
              </a:rPr>
              <a:t>选</a:t>
            </a:r>
            <a:r>
              <a:rPr dirty="0" sz="2950" spc="-30" b="1" i="1">
                <a:solidFill>
                  <a:srgbClr val="FFFF66"/>
                </a:solidFill>
                <a:latin typeface="Symbol"/>
                <a:cs typeface="Symbol"/>
              </a:rPr>
              <a:t></a:t>
            </a:r>
            <a:r>
              <a:rPr dirty="0" baseline="-25525" sz="2775" spc="-44" b="1">
                <a:solidFill>
                  <a:srgbClr val="FFFF66"/>
                </a:solidFill>
                <a:latin typeface="Times New Roman"/>
                <a:cs typeface="Times New Roman"/>
              </a:rPr>
              <a:t>2</a:t>
            </a:r>
            <a:r>
              <a:rPr dirty="0" sz="2800" spc="-30" b="1">
                <a:solidFill>
                  <a:srgbClr val="FFFF66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依此 类推</a:t>
            </a:r>
            <a:r>
              <a:rPr dirty="0" sz="2800" spc="-15" b="1">
                <a:solidFill>
                  <a:srgbClr val="FFFF66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79831" y="26923"/>
            <a:ext cx="5122545" cy="20948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46735" algn="l"/>
                <a:tab pos="18224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4.2</a:t>
            </a:r>
            <a:r>
              <a:rPr dirty="0" sz="2000" spc="4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不确定的自上而下分析法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50">
              <a:latin typeface="宋体"/>
              <a:cs typeface="宋体"/>
            </a:endParaRPr>
          </a:p>
          <a:p>
            <a:pPr marL="540385">
              <a:lnSpc>
                <a:spcPct val="100000"/>
              </a:lnSpc>
              <a:spcBef>
                <a:spcPts val="5"/>
              </a:spcBef>
              <a:tabLst>
                <a:tab pos="125349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二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消除回溯</a:t>
            </a:r>
            <a:endParaRPr sz="3200">
              <a:latin typeface="宋体"/>
              <a:cs typeface="宋体"/>
            </a:endParaRPr>
          </a:p>
          <a:p>
            <a:pPr algn="ctr" marL="290195">
              <a:lnSpc>
                <a:spcPct val="100000"/>
              </a:lnSpc>
              <a:spcBef>
                <a:spcPts val="2745"/>
              </a:spcBef>
              <a:tabLst>
                <a:tab pos="742950" algn="l"/>
                <a:tab pos="1747520" algn="l"/>
                <a:tab pos="2754630" algn="l"/>
              </a:tabLst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P	</a:t>
            </a:r>
            <a:r>
              <a:rPr dirty="0" sz="3200" spc="-25" b="1">
                <a:solidFill>
                  <a:srgbClr val="FFFFFF"/>
                </a:solidFill>
                <a:latin typeface="宋体"/>
                <a:cs typeface="宋体"/>
              </a:rPr>
              <a:t>→</a:t>
            </a:r>
            <a:r>
              <a:rPr dirty="0" sz="3350" spc="-2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baseline="-25132" sz="3150" spc="-37" b="1">
                <a:solidFill>
                  <a:srgbClr val="FFFFFF"/>
                </a:solidFill>
                <a:latin typeface="Times New Roman"/>
                <a:cs typeface="Times New Roman"/>
              </a:rPr>
              <a:t>1	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| </a:t>
            </a:r>
            <a:r>
              <a:rPr dirty="0" sz="3350" spc="-4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baseline="-25132" sz="3150" spc="-60" b="1">
                <a:solidFill>
                  <a:srgbClr val="FFFFFF"/>
                </a:solidFill>
                <a:latin typeface="Times New Roman"/>
                <a:cs typeface="Times New Roman"/>
              </a:rPr>
              <a:t>2	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|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|</a:t>
            </a:r>
            <a:r>
              <a:rPr dirty="0" sz="3200" spc="-5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350" spc="-3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baseline="-25132" sz="3150" spc="-52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baseline="-25132" sz="31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438013" y="26923"/>
            <a:ext cx="34747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4.2.2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不确定性原因与解决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方法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5231" y="26923"/>
            <a:ext cx="87071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  <a:tab pos="17970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4.2</a:t>
            </a:r>
            <a:r>
              <a:rPr dirty="0" sz="2000" spc="47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不确定的自上而下分析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sz="2000" spc="450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4.2.2</a:t>
            </a:r>
            <a:r>
              <a:rPr dirty="0" u="sng" sz="2000" spc="4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不确定性原因与解决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方法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9740" y="549986"/>
            <a:ext cx="1770380" cy="587375"/>
          </a:xfrm>
          <a:prstGeom prst="rect"/>
        </p:spPr>
        <p:txBody>
          <a:bodyPr wrap="square" lIns="0" tIns="74295" rIns="0" bIns="0" rtlCol="0" vert="horz">
            <a:spAutoFit/>
          </a:bodyPr>
          <a:lstStyle/>
          <a:p>
            <a:pPr marL="430530" indent="-418465">
              <a:lnSpc>
                <a:spcPct val="100000"/>
              </a:lnSpc>
              <a:spcBef>
                <a:spcPts val="585"/>
              </a:spcBef>
              <a:buClr>
                <a:srgbClr val="99FF99"/>
              </a:buClr>
              <a:buSzPct val="114062"/>
              <a:buFont typeface="Wingdings"/>
              <a:buChar char=""/>
              <a:tabLst>
                <a:tab pos="429895" algn="l"/>
                <a:tab pos="431165" algn="l"/>
              </a:tabLst>
            </a:pPr>
            <a:r>
              <a:rPr dirty="0" sz="3200" spc="-5">
                <a:latin typeface="宋体"/>
                <a:cs typeface="宋体"/>
              </a:rPr>
              <a:t>定义</a:t>
            </a:r>
            <a:r>
              <a:rPr dirty="0" sz="3200"/>
              <a:t>4.4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3400" y="3723132"/>
            <a:ext cx="8276844" cy="28788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34340" y="1126653"/>
            <a:ext cx="7771130" cy="358076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38100" marR="570230" indent="711835">
              <a:lnSpc>
                <a:spcPct val="122400"/>
              </a:lnSpc>
              <a:spcBef>
                <a:spcPts val="180"/>
              </a:spcBef>
              <a:tabLst>
                <a:tab pos="5953125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是二型文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，则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中的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任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意</a:t>
            </a:r>
            <a:r>
              <a:rPr dirty="0" sz="2950" spc="-10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95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的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终结首符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950" spc="-1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endParaRPr sz="2800">
              <a:latin typeface="宋体"/>
              <a:cs typeface="宋体"/>
            </a:endParaRPr>
          </a:p>
          <a:p>
            <a:pPr marL="926465">
              <a:lnSpc>
                <a:spcPct val="100000"/>
              </a:lnSpc>
              <a:spcBef>
                <a:spcPts val="112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FIRST </a:t>
            </a:r>
            <a:r>
              <a:rPr dirty="0" sz="3200" spc="-5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950" spc="-5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950" spc="-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 = {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sz="2950" spc="-10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950" spc="-1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8680" sz="4800" spc="-772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3200" spc="-515" b="1">
                <a:solidFill>
                  <a:srgbClr val="FFFFFF"/>
                </a:solidFill>
                <a:latin typeface="Times New Roman"/>
                <a:cs typeface="Times New Roman"/>
              </a:rPr>
              <a:t>=&gt;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……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132" sz="3150" spc="7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baseline="-25132" sz="3150" spc="3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610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800" spc="-69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950" spc="-10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950" spc="-1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8680" sz="4800" spc="-46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2800" spc="-310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sz="2800" spc="-310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2800" spc="-31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950" spc="-1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90500">
              <a:lnSpc>
                <a:spcPct val="100000"/>
              </a:lnSpc>
              <a:spcBef>
                <a:spcPts val="1670"/>
              </a:spcBef>
            </a:pPr>
            <a:r>
              <a:rPr dirty="0" u="heavy" sz="2800" spc="-5" b="1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不带回溯的条件</a:t>
            </a:r>
            <a:r>
              <a:rPr dirty="0" u="heavy" sz="2800" spc="-10" b="1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：</a:t>
            </a:r>
            <a:r>
              <a:rPr dirty="0" u="heavy" sz="28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heavy" sz="2800" spc="-10" b="1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充分非必</a:t>
            </a:r>
            <a:r>
              <a:rPr dirty="0" u="heavy" sz="2800" spc="-5" b="1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要</a:t>
            </a:r>
            <a:r>
              <a:rPr dirty="0" u="heavy" sz="28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635635">
              <a:lnSpc>
                <a:spcPct val="100000"/>
              </a:lnSpc>
              <a:spcBef>
                <a:spcPts val="1010"/>
              </a:spcBef>
            </a:pPr>
            <a:r>
              <a:rPr dirty="0" sz="2800" spc="-5" b="1">
                <a:latin typeface="宋体"/>
                <a:cs typeface="宋体"/>
              </a:rPr>
              <a:t>如果对文法</a:t>
            </a:r>
            <a:r>
              <a:rPr dirty="0" sz="2800" spc="-10" b="1" i="1">
                <a:latin typeface="Times New Roman"/>
                <a:cs typeface="Times New Roman"/>
              </a:rPr>
              <a:t>G</a:t>
            </a:r>
            <a:r>
              <a:rPr dirty="0" sz="2800" spc="-5" b="1">
                <a:latin typeface="宋体"/>
                <a:cs typeface="宋体"/>
              </a:rPr>
              <a:t>的关于每一个</a:t>
            </a:r>
            <a:r>
              <a:rPr dirty="0" sz="2800" spc="-10" b="1">
                <a:latin typeface="宋体"/>
                <a:cs typeface="宋体"/>
              </a:rPr>
              <a:t>非</a:t>
            </a:r>
            <a:r>
              <a:rPr dirty="0" sz="2800" spc="5" b="1">
                <a:latin typeface="宋体"/>
                <a:cs typeface="宋体"/>
              </a:rPr>
              <a:t>终</a:t>
            </a:r>
            <a:r>
              <a:rPr dirty="0" sz="2800" spc="-10" b="1">
                <a:latin typeface="宋体"/>
                <a:cs typeface="宋体"/>
              </a:rPr>
              <a:t>结</a:t>
            </a:r>
            <a:r>
              <a:rPr dirty="0" sz="2800" spc="5" b="1">
                <a:latin typeface="宋体"/>
                <a:cs typeface="宋体"/>
              </a:rPr>
              <a:t>符</a:t>
            </a:r>
            <a:r>
              <a:rPr dirty="0" sz="2800" b="1" i="1">
                <a:latin typeface="Times New Roman"/>
                <a:cs typeface="Times New Roman"/>
              </a:rPr>
              <a:t>A</a:t>
            </a:r>
            <a:r>
              <a:rPr dirty="0" sz="2800" spc="-5" b="1">
                <a:latin typeface="宋体"/>
                <a:cs typeface="宋体"/>
              </a:rPr>
              <a:t>的产生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12140" y="4810505"/>
            <a:ext cx="18973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latin typeface="宋体"/>
                <a:cs typeface="宋体"/>
              </a:rPr>
              <a:t>式</a:t>
            </a:r>
            <a:r>
              <a:rPr dirty="0" sz="2800" spc="-780" b="1">
                <a:latin typeface="宋体"/>
                <a:cs typeface="宋体"/>
              </a:rPr>
              <a:t> </a:t>
            </a:r>
            <a:r>
              <a:rPr dirty="0" sz="2800" spc="-5" b="1">
                <a:latin typeface="宋体"/>
                <a:cs typeface="宋体"/>
              </a:rPr>
              <a:t>，设为</a:t>
            </a:r>
            <a:r>
              <a:rPr dirty="0" sz="2800" spc="-15" b="1"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07003" y="4791302"/>
            <a:ext cx="2814955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latin typeface="Times New Roman"/>
                <a:cs typeface="Times New Roman"/>
              </a:rPr>
              <a:t>A </a:t>
            </a:r>
            <a:r>
              <a:rPr dirty="0" sz="2800" spc="-5" b="1">
                <a:latin typeface="Times New Roman"/>
                <a:cs typeface="Times New Roman"/>
              </a:rPr>
              <a:t>→ </a:t>
            </a:r>
            <a:r>
              <a:rPr dirty="0" sz="2950" spc="-40" b="1" i="1">
                <a:latin typeface="Symbol"/>
                <a:cs typeface="Symbol"/>
              </a:rPr>
              <a:t></a:t>
            </a:r>
            <a:r>
              <a:rPr dirty="0" baseline="-25525" sz="2775" spc="-60" b="1">
                <a:latin typeface="Times New Roman"/>
                <a:cs typeface="Times New Roman"/>
              </a:rPr>
              <a:t>1 </a:t>
            </a:r>
            <a:r>
              <a:rPr dirty="0" sz="2800" spc="-5" b="1">
                <a:latin typeface="Times New Roman"/>
                <a:cs typeface="Times New Roman"/>
              </a:rPr>
              <a:t>| </a:t>
            </a:r>
            <a:r>
              <a:rPr dirty="0" sz="2950" spc="-40" b="1" i="1">
                <a:latin typeface="Symbol"/>
                <a:cs typeface="Symbol"/>
              </a:rPr>
              <a:t></a:t>
            </a:r>
            <a:r>
              <a:rPr dirty="0" baseline="-25525" sz="2775" spc="-60" b="1">
                <a:latin typeface="Times New Roman"/>
                <a:cs typeface="Times New Roman"/>
              </a:rPr>
              <a:t>2 </a:t>
            </a:r>
            <a:r>
              <a:rPr dirty="0" sz="2800" spc="-15" b="1">
                <a:latin typeface="Times New Roman"/>
                <a:cs typeface="Times New Roman"/>
              </a:rPr>
              <a:t>|…|</a:t>
            </a:r>
            <a:r>
              <a:rPr dirty="0" sz="2800" spc="330" b="1">
                <a:latin typeface="Times New Roman"/>
                <a:cs typeface="Times New Roman"/>
              </a:rPr>
              <a:t> </a:t>
            </a:r>
            <a:r>
              <a:rPr dirty="0" sz="2950" spc="-40" b="1" i="1">
                <a:latin typeface="Symbol"/>
                <a:cs typeface="Symbol"/>
              </a:rPr>
              <a:t></a:t>
            </a:r>
            <a:r>
              <a:rPr dirty="0" baseline="-25525" sz="2775" spc="-60" b="1" i="1">
                <a:latin typeface="Times New Roman"/>
                <a:cs typeface="Times New Roman"/>
              </a:rPr>
              <a:t>n</a:t>
            </a:r>
            <a:endParaRPr baseline="-25525" sz="2775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6740" y="5205354"/>
            <a:ext cx="7335520" cy="117030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38100" marR="30480">
              <a:lnSpc>
                <a:spcPct val="120300"/>
              </a:lnSpc>
              <a:spcBef>
                <a:spcPts val="175"/>
              </a:spcBef>
            </a:pPr>
            <a:r>
              <a:rPr dirty="0" sz="2800" spc="-5" b="1">
                <a:latin typeface="宋体"/>
                <a:cs typeface="宋体"/>
              </a:rPr>
              <a:t>如果它的每个候选</a:t>
            </a:r>
            <a:r>
              <a:rPr dirty="0" sz="2800" spc="-20" b="1">
                <a:latin typeface="宋体"/>
                <a:cs typeface="宋体"/>
              </a:rPr>
              <a:t>式</a:t>
            </a:r>
            <a:r>
              <a:rPr dirty="0" sz="2950" spc="-45" b="1" i="1">
                <a:latin typeface="Symbol"/>
                <a:cs typeface="Symbol"/>
              </a:rPr>
              <a:t></a:t>
            </a:r>
            <a:r>
              <a:rPr dirty="0" baseline="-25525" sz="2775" spc="-67" b="1" i="1">
                <a:latin typeface="Times New Roman"/>
                <a:cs typeface="Times New Roman"/>
              </a:rPr>
              <a:t>i</a:t>
            </a:r>
            <a:r>
              <a:rPr dirty="0" sz="2800" spc="-10" b="1">
                <a:latin typeface="宋体"/>
                <a:cs typeface="宋体"/>
              </a:rPr>
              <a:t>均不存</a:t>
            </a:r>
            <a:r>
              <a:rPr dirty="0" sz="2800" spc="-5" b="1">
                <a:latin typeface="宋体"/>
                <a:cs typeface="宋体"/>
              </a:rPr>
              <a:t>在</a:t>
            </a:r>
            <a:r>
              <a:rPr dirty="0" sz="2950" spc="-45" b="1" i="1">
                <a:latin typeface="Symbol"/>
                <a:cs typeface="Symbol"/>
              </a:rPr>
              <a:t></a:t>
            </a:r>
            <a:r>
              <a:rPr dirty="0" baseline="-25525" sz="2775" spc="-67" b="1" i="1">
                <a:latin typeface="Times New Roman"/>
                <a:cs typeface="Times New Roman"/>
              </a:rPr>
              <a:t>i</a:t>
            </a:r>
            <a:r>
              <a:rPr dirty="0" baseline="-25525" sz="2775" spc="-7" b="1" i="1">
                <a:latin typeface="Times New Roman"/>
                <a:cs typeface="Times New Roman"/>
              </a:rPr>
              <a:t> </a:t>
            </a:r>
            <a:r>
              <a:rPr dirty="0" sz="2800" spc="-405" b="1">
                <a:latin typeface="Times New Roman"/>
                <a:cs typeface="Times New Roman"/>
              </a:rPr>
              <a:t>=</a:t>
            </a:r>
            <a:r>
              <a:rPr dirty="0" baseline="4340" sz="4800" spc="-607" b="1">
                <a:latin typeface="Times New Roman"/>
                <a:cs typeface="Times New Roman"/>
              </a:rPr>
              <a:t>*</a:t>
            </a:r>
            <a:r>
              <a:rPr dirty="0" sz="2800" spc="-405" b="1">
                <a:latin typeface="Times New Roman"/>
                <a:cs typeface="Times New Roman"/>
              </a:rPr>
              <a:t>&gt;</a:t>
            </a:r>
            <a:r>
              <a:rPr dirty="0" sz="2800" spc="-405" b="1" i="1">
                <a:latin typeface="Times New Roman"/>
                <a:cs typeface="Times New Roman"/>
              </a:rPr>
              <a:t>ε</a:t>
            </a:r>
            <a:r>
              <a:rPr dirty="0" sz="2800" spc="-5" b="1">
                <a:latin typeface="宋体"/>
                <a:cs typeface="宋体"/>
              </a:rPr>
              <a:t>的情</a:t>
            </a:r>
            <a:r>
              <a:rPr dirty="0" sz="2800" spc="-10" b="1">
                <a:latin typeface="宋体"/>
                <a:cs typeface="宋体"/>
              </a:rPr>
              <a:t>况</a:t>
            </a:r>
            <a:r>
              <a:rPr dirty="0" sz="2800" spc="-15" b="1">
                <a:latin typeface="宋体"/>
                <a:cs typeface="宋体"/>
              </a:rPr>
              <a:t>，  </a:t>
            </a:r>
            <a:r>
              <a:rPr dirty="0" sz="2800" spc="-5" b="1">
                <a:latin typeface="宋体"/>
                <a:cs typeface="宋体"/>
              </a:rPr>
              <a:t>而且</a:t>
            </a:r>
            <a:r>
              <a:rPr dirty="0" sz="2800" spc="-15" b="1">
                <a:latin typeface="Times New Roman"/>
                <a:cs typeface="Times New Roman"/>
              </a:rPr>
              <a:t>FIRST(</a:t>
            </a:r>
            <a:r>
              <a:rPr dirty="0" sz="2950" spc="-15" b="1" i="1">
                <a:latin typeface="Symbol"/>
                <a:cs typeface="Symbol"/>
              </a:rPr>
              <a:t></a:t>
            </a:r>
            <a:r>
              <a:rPr dirty="0" baseline="-25525" sz="2775" spc="-22" b="1" i="1">
                <a:latin typeface="Times New Roman"/>
                <a:cs typeface="Times New Roman"/>
              </a:rPr>
              <a:t>i</a:t>
            </a:r>
            <a:r>
              <a:rPr dirty="0" sz="2800" spc="-15" b="1">
                <a:latin typeface="Times New Roman"/>
                <a:cs typeface="Times New Roman"/>
              </a:rPr>
              <a:t>)</a:t>
            </a:r>
            <a:r>
              <a:rPr dirty="0" sz="2800" spc="-5" b="1">
                <a:latin typeface="宋体"/>
                <a:cs typeface="宋体"/>
              </a:rPr>
              <a:t>两两彼此互不相交</a:t>
            </a:r>
            <a:r>
              <a:rPr dirty="0" sz="2800" spc="-15" b="1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79831" y="26923"/>
            <a:ext cx="8757920" cy="5245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46735" algn="l"/>
                <a:tab pos="18224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4.2</a:t>
            </a:r>
            <a:r>
              <a:rPr dirty="0" sz="2000" spc="47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不确定的自上而下分析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sz="2000" spc="455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4.2.2</a:t>
            </a:r>
            <a:r>
              <a:rPr dirty="0" u="sng" sz="2000" spc="46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不确定性原因与解决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方法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150">
              <a:latin typeface="宋体"/>
              <a:cs typeface="宋体"/>
            </a:endParaRPr>
          </a:p>
          <a:p>
            <a:pPr marL="487680" marR="346710">
              <a:lnSpc>
                <a:spcPct val="130000"/>
              </a:lnSpc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如果对文法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的关于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每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非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终结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的产生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3200" spc="-81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，设为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 algn="ctr" marL="311785">
              <a:lnSpc>
                <a:spcPct val="100000"/>
              </a:lnSpc>
              <a:spcBef>
                <a:spcPts val="98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3350" spc="-9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3350" spc="-9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5132" sz="3150" spc="22" b="1">
                <a:solidFill>
                  <a:srgbClr val="FFFFFF"/>
                </a:solidFill>
                <a:latin typeface="Times New Roman"/>
                <a:cs typeface="Times New Roman"/>
              </a:rPr>
              <a:t>1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sz="3350" spc="-9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3350" spc="-9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5132" sz="3150" spc="22" b="1">
                <a:solidFill>
                  <a:srgbClr val="FFFFFF"/>
                </a:solidFill>
                <a:latin typeface="Times New Roman"/>
                <a:cs typeface="Times New Roman"/>
              </a:rPr>
              <a:t>2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|…| </a:t>
            </a:r>
            <a:r>
              <a:rPr dirty="0" sz="3350" spc="-9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3350" spc="35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5132" sz="3150" spc="22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baseline="-25132" sz="3150">
              <a:latin typeface="Times New Roman"/>
              <a:cs typeface="Times New Roman"/>
            </a:endParaRPr>
          </a:p>
          <a:p>
            <a:pPr marL="932815">
              <a:lnSpc>
                <a:spcPct val="100000"/>
              </a:lnSpc>
              <a:spcBef>
                <a:spcPts val="2110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满足不带回溯条件</a:t>
            </a:r>
            <a:endParaRPr sz="3200">
              <a:latin typeface="宋体"/>
              <a:cs typeface="宋体"/>
            </a:endParaRPr>
          </a:p>
          <a:p>
            <a:pPr marL="894715" marR="550545">
              <a:lnSpc>
                <a:spcPct val="124200"/>
              </a:lnSpc>
              <a:spcBef>
                <a:spcPts val="3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则据当前扫描单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词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7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3350" spc="-1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baseline="-25132" sz="3150" spc="-1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， 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其中</a:t>
            </a:r>
            <a:r>
              <a:rPr dirty="0" sz="3350" spc="-4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baseline="-25132" sz="3150" spc="-67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3350" spc="-4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baseline="-25132" sz="3150" spc="-6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baseline="-25132" sz="3150" spc="3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… </a:t>
            </a:r>
            <a:r>
              <a:rPr dirty="0" sz="3350" spc="-3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baseline="-25132" sz="3150" spc="-52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-25132" sz="3150" spc="247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中之一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选取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50" spc="-4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baseline="-25132" sz="3150" spc="-6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baseline="-25132" sz="3150">
              <a:latin typeface="Times New Roman"/>
              <a:cs typeface="Times New Roman"/>
            </a:endParaRPr>
          </a:p>
          <a:p>
            <a:pPr marL="897890">
              <a:lnSpc>
                <a:spcPct val="100000"/>
              </a:lnSpc>
              <a:spcBef>
                <a:spcPts val="1120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进行推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导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5231" y="26923"/>
            <a:ext cx="87071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  <a:tab pos="17970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4.2</a:t>
            </a:r>
            <a:r>
              <a:rPr dirty="0" sz="2000" spc="47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不确定的自上而下分析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sz="2000" spc="450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4.2.2</a:t>
            </a:r>
            <a:r>
              <a:rPr dirty="0" u="sng" sz="2000" spc="4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不确定性原因与解决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方法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94843" y="674877"/>
            <a:ext cx="613473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宋体"/>
                <a:cs typeface="宋体"/>
              </a:rPr>
              <a:t>计算</a:t>
            </a:r>
            <a:r>
              <a:rPr dirty="0" sz="3200"/>
              <a:t>FIRST(</a:t>
            </a:r>
            <a:r>
              <a:rPr dirty="0" sz="3200" i="1">
                <a:latin typeface="Times New Roman"/>
                <a:cs typeface="Times New Roman"/>
              </a:rPr>
              <a:t>X</a:t>
            </a:r>
            <a:r>
              <a:rPr dirty="0" sz="3200"/>
              <a:t>)(</a:t>
            </a:r>
            <a:r>
              <a:rPr dirty="0" sz="3200" i="1">
                <a:latin typeface="Times New Roman"/>
                <a:cs typeface="Times New Roman"/>
              </a:rPr>
              <a:t>X</a:t>
            </a:r>
            <a:r>
              <a:rPr dirty="0" sz="3200">
                <a:latin typeface="Symbol"/>
                <a:cs typeface="Symbol"/>
              </a:rPr>
              <a:t></a:t>
            </a:r>
            <a:r>
              <a:rPr dirty="0" sz="3200" i="1">
                <a:latin typeface="Times New Roman"/>
                <a:cs typeface="Times New Roman"/>
              </a:rPr>
              <a:t>V</a:t>
            </a:r>
            <a:r>
              <a:rPr dirty="0" sz="3200"/>
              <a:t>)</a:t>
            </a:r>
            <a:r>
              <a:rPr dirty="0" sz="3200" spc="-5">
                <a:latin typeface="宋体"/>
                <a:cs typeface="宋体"/>
              </a:rPr>
              <a:t>的</a:t>
            </a:r>
            <a:r>
              <a:rPr dirty="0" sz="3200" spc="-10">
                <a:latin typeface="宋体"/>
                <a:cs typeface="宋体"/>
              </a:rPr>
              <a:t>算</a:t>
            </a:r>
            <a:r>
              <a:rPr dirty="0" sz="3200">
                <a:latin typeface="宋体"/>
                <a:cs typeface="宋体"/>
              </a:rPr>
              <a:t>法</a:t>
            </a:r>
            <a:r>
              <a:rPr dirty="0" sz="3200" spc="-5">
                <a:latin typeface="宋体"/>
                <a:cs typeface="宋体"/>
              </a:rPr>
              <a:t>描述</a:t>
            </a:r>
            <a:r>
              <a:rPr dirty="0" sz="3200" spc="-10"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739" y="1385722"/>
            <a:ext cx="7785734" cy="2244725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为构造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66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可反复应用如下规则：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、若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是终结符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};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ct val="130000"/>
              </a:lnSpc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、若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是非终结符，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FIRS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其所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候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选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的 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FIRST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集合的并集。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5231" y="26923"/>
            <a:ext cx="87071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  <a:tab pos="17970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4.2</a:t>
            </a:r>
            <a:r>
              <a:rPr dirty="0" sz="2000" spc="47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不确定的自上而下分析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sz="2000" spc="450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4.2.2</a:t>
            </a:r>
            <a:r>
              <a:rPr dirty="0" u="sng" sz="2000" spc="4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不确定性原因与解决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方法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94843" y="652871"/>
            <a:ext cx="6413500" cy="54038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200">
                <a:latin typeface="宋体"/>
                <a:cs typeface="宋体"/>
              </a:rPr>
              <a:t>计算</a:t>
            </a:r>
            <a:r>
              <a:rPr dirty="0" sz="3200" spc="-20"/>
              <a:t>FIRST(</a:t>
            </a:r>
            <a:r>
              <a:rPr dirty="0" sz="3350" spc="-20" i="1">
                <a:latin typeface="Symbol"/>
                <a:cs typeface="Symbol"/>
              </a:rPr>
              <a:t></a:t>
            </a:r>
            <a:r>
              <a:rPr dirty="0" sz="3200" spc="-20"/>
              <a:t>)(</a:t>
            </a:r>
            <a:r>
              <a:rPr dirty="0" sz="3350" spc="-20" i="1">
                <a:latin typeface="Symbol"/>
                <a:cs typeface="Symbol"/>
              </a:rPr>
              <a:t></a:t>
            </a:r>
            <a:r>
              <a:rPr dirty="0" sz="3350" spc="-110" i="1">
                <a:latin typeface="Times New Roman"/>
                <a:cs typeface="Times New Roman"/>
              </a:rPr>
              <a:t> </a:t>
            </a:r>
            <a:r>
              <a:rPr dirty="0" sz="3200">
                <a:latin typeface="Symbol"/>
                <a:cs typeface="Symbol"/>
              </a:rPr>
              <a:t></a:t>
            </a:r>
            <a:r>
              <a:rPr dirty="0" sz="3200" i="1">
                <a:latin typeface="Times New Roman"/>
                <a:cs typeface="Times New Roman"/>
              </a:rPr>
              <a:t>V</a:t>
            </a:r>
            <a:r>
              <a:rPr dirty="0" sz="3200"/>
              <a:t>*)</a:t>
            </a:r>
            <a:r>
              <a:rPr dirty="0" sz="3200">
                <a:latin typeface="宋体"/>
                <a:cs typeface="宋体"/>
              </a:rPr>
              <a:t>的算法描述：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2143" y="1438020"/>
            <a:ext cx="8120380" cy="3990975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44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2950" spc="-1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baseline="-21021" sz="2775" spc="-22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baseline="-21021" sz="2775" spc="-22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-15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baseline="-21021" sz="2775" b="1" i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baseline="-21021" sz="2775" spc="359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baseline="-21021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994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为构造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3350" spc="-1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68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可反复应用如下规则：</a:t>
            </a:r>
            <a:endParaRPr sz="2800">
              <a:latin typeface="宋体"/>
              <a:cs typeface="宋体"/>
            </a:endParaRPr>
          </a:p>
          <a:p>
            <a:pPr marL="25400">
              <a:lnSpc>
                <a:spcPct val="100000"/>
              </a:lnSpc>
              <a:spcBef>
                <a:spcPts val="80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spc="-71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baseline="-21021" sz="2775" spc="-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中的所有终结符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号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加</a:t>
            </a:r>
            <a:r>
              <a:rPr dirty="0" sz="2800" spc="15" b="1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950" spc="-1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中；</a:t>
            </a:r>
            <a:endParaRPr sz="2800">
              <a:latin typeface="宋体"/>
              <a:cs typeface="宋体"/>
            </a:endParaRPr>
          </a:p>
          <a:p>
            <a:pPr marL="558165" marR="76835" indent="-533400">
              <a:lnSpc>
                <a:spcPct val="123400"/>
              </a:lnSpc>
              <a:spcBef>
                <a:spcPts val="5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、若对于某个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2800" spc="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baseline="-21021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且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baseline="-21021" sz="277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baseline="-21021" sz="277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r>
              <a:rPr dirty="0" sz="2800" spc="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baseline="-21021" sz="277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1021" sz="2775" b="1">
                <a:solidFill>
                  <a:srgbClr val="FFFFFF"/>
                </a:solidFill>
                <a:latin typeface="宋体"/>
                <a:cs typeface="宋体"/>
              </a:rPr>
              <a:t>－</a:t>
            </a:r>
            <a:r>
              <a:rPr dirty="0" baseline="-21021" sz="277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FFFFFF"/>
                </a:solidFill>
                <a:latin typeface="Symbol"/>
                <a:cs typeface="Symbol"/>
              </a:rPr>
              <a:t>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4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800" spc="-40" b="1">
                <a:solidFill>
                  <a:srgbClr val="FFFFFF"/>
                </a:solidFill>
                <a:latin typeface="宋体"/>
                <a:cs typeface="宋体"/>
              </a:rPr>
              <a:t>， 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则将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加到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950" spc="-1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中；</a:t>
            </a:r>
            <a:endParaRPr sz="2800">
              <a:latin typeface="宋体"/>
              <a:cs typeface="宋体"/>
            </a:endParaRPr>
          </a:p>
          <a:p>
            <a:pPr marL="647065" marR="17780" indent="-622300">
              <a:lnSpc>
                <a:spcPct val="123400"/>
              </a:lnSpc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、若对于所有的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7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950" spc="-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baseline="-21021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  则将</a:t>
            </a:r>
            <a:r>
              <a:rPr dirty="0" sz="2950" spc="-6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加到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950" spc="-1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5231" y="26923"/>
            <a:ext cx="50717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  <a:tab pos="17970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4.2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不确定的自上而下分析法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38013" y="26923"/>
            <a:ext cx="34747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4.2.2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不确定性原因与解决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方法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93851" y="672464"/>
            <a:ext cx="944244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宋体"/>
                <a:cs typeface="宋体"/>
              </a:rPr>
              <a:t>例</a:t>
            </a:r>
            <a:r>
              <a:rPr dirty="0" sz="3200" spc="5"/>
              <a:t>4</a:t>
            </a:r>
            <a:r>
              <a:rPr dirty="0" sz="3200"/>
              <a:t>.8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6166" y="610895"/>
            <a:ext cx="4138929" cy="2844165"/>
          </a:xfrm>
          <a:prstGeom prst="rect">
            <a:avLst/>
          </a:prstGeom>
        </p:spPr>
        <p:txBody>
          <a:bodyPr wrap="square" lIns="0" tIns="125095" rIns="0" bIns="0" rtlCol="0" vert="horz">
            <a:spAutoFit/>
          </a:bodyPr>
          <a:lstStyle/>
          <a:p>
            <a:pPr algn="ctr" marL="745490">
              <a:lnSpc>
                <a:spcPct val="100000"/>
              </a:lnSpc>
              <a:spcBef>
                <a:spcPts val="98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设有文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10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1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2310130" marR="5080">
              <a:lnSpc>
                <a:spcPct val="125000"/>
              </a:lnSpc>
              <a:spcBef>
                <a:spcPts val="50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Ap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6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Bq 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2800" spc="-15" b="1" i="1">
                <a:solidFill>
                  <a:srgbClr val="FFFF00"/>
                </a:solidFill>
                <a:latin typeface="Times New Roman"/>
                <a:cs typeface="Times New Roman"/>
              </a:rPr>
              <a:t>cA 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4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dB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35"/>
              </a:spcBef>
              <a:tabLst>
                <a:tab pos="1280795" algn="l"/>
              </a:tabLst>
            </a:pPr>
            <a:r>
              <a:rPr dirty="0" u="heavy" sz="28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对</a:t>
            </a:r>
            <a:r>
              <a:rPr dirty="0" u="heavy" sz="2800" spc="-10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</a:t>
            </a:r>
            <a:r>
              <a:rPr dirty="0" u="heavy" sz="2800" spc="-1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: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Ap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)={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a,c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85791" y="3003295"/>
            <a:ext cx="26517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Bq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)={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b,d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6166" y="3409856"/>
            <a:ext cx="6443980" cy="260985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448435">
              <a:lnSpc>
                <a:spcPct val="100000"/>
              </a:lnSpc>
              <a:spcBef>
                <a:spcPts val="775"/>
              </a:spcBef>
            </a:pPr>
            <a:r>
              <a:rPr dirty="0" sz="2800" spc="-5" b="1">
                <a:solidFill>
                  <a:srgbClr val="FF99CC"/>
                </a:solidFill>
                <a:latin typeface="Times New Roman"/>
                <a:cs typeface="Times New Roman"/>
              </a:rPr>
              <a:t>FIRST(</a:t>
            </a:r>
            <a:r>
              <a:rPr dirty="0" sz="2800" spc="-5" b="1" i="1">
                <a:solidFill>
                  <a:srgbClr val="FF99CC"/>
                </a:solidFill>
                <a:latin typeface="Times New Roman"/>
                <a:cs typeface="Times New Roman"/>
              </a:rPr>
              <a:t>Ap</a:t>
            </a:r>
            <a:r>
              <a:rPr dirty="0" sz="2800" spc="-5" b="1">
                <a:solidFill>
                  <a:srgbClr val="FF99CC"/>
                </a:solidFill>
                <a:latin typeface="Times New Roman"/>
                <a:cs typeface="Times New Roman"/>
              </a:rPr>
              <a:t>) </a:t>
            </a:r>
            <a:r>
              <a:rPr dirty="0" sz="2400" b="1">
                <a:solidFill>
                  <a:srgbClr val="FFFF66"/>
                </a:solidFill>
                <a:latin typeface="Times New Roman"/>
                <a:cs typeface="Times New Roman"/>
              </a:rPr>
              <a:t>∩</a:t>
            </a:r>
            <a:r>
              <a:rPr dirty="0" sz="2400" spc="105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99CC"/>
                </a:solidFill>
                <a:latin typeface="Times New Roman"/>
                <a:cs typeface="Times New Roman"/>
              </a:rPr>
              <a:t>FIRST(</a:t>
            </a:r>
            <a:r>
              <a:rPr dirty="0" sz="2800" spc="-15" b="1" i="1">
                <a:solidFill>
                  <a:srgbClr val="FF99CC"/>
                </a:solidFill>
                <a:latin typeface="Times New Roman"/>
                <a:cs typeface="Times New Roman"/>
              </a:rPr>
              <a:t>Bq</a:t>
            </a:r>
            <a:r>
              <a:rPr dirty="0" sz="2800" spc="-15" b="1">
                <a:solidFill>
                  <a:srgbClr val="FF99CC"/>
                </a:solidFill>
                <a:latin typeface="Times New Roman"/>
                <a:cs typeface="Times New Roman"/>
              </a:rPr>
              <a:t>)=</a:t>
            </a:r>
            <a:r>
              <a:rPr dirty="0" sz="2950" spc="-15" b="1" i="1">
                <a:solidFill>
                  <a:srgbClr val="FF99CC"/>
                </a:solidFill>
                <a:latin typeface="Symbol"/>
                <a:cs typeface="Symbol"/>
              </a:rPr>
              <a:t></a:t>
            </a:r>
            <a:endParaRPr sz="295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  <a:tabLst>
                <a:tab pos="1323340" algn="l"/>
                <a:tab pos="4071620" algn="l"/>
              </a:tabLst>
            </a:pPr>
            <a:r>
              <a:rPr dirty="0" u="heavy" sz="28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对</a:t>
            </a:r>
            <a:r>
              <a:rPr dirty="0" u="heavy" sz="2800" spc="-15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heavy" sz="2800" spc="-1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: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)={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	FIRST(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cA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)={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1448435">
              <a:lnSpc>
                <a:spcPct val="100000"/>
              </a:lnSpc>
              <a:spcBef>
                <a:spcPts val="520"/>
              </a:spcBef>
            </a:pPr>
            <a:r>
              <a:rPr dirty="0" sz="2800" spc="-5" b="1">
                <a:solidFill>
                  <a:srgbClr val="FF99CC"/>
                </a:solidFill>
                <a:latin typeface="Times New Roman"/>
                <a:cs typeface="Times New Roman"/>
              </a:rPr>
              <a:t>FIRST(</a:t>
            </a:r>
            <a:r>
              <a:rPr dirty="0" sz="2800" spc="-5" b="1" i="1">
                <a:solidFill>
                  <a:srgbClr val="FF99CC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99CC"/>
                </a:solidFill>
                <a:latin typeface="Times New Roman"/>
                <a:cs typeface="Times New Roman"/>
              </a:rPr>
              <a:t>) </a:t>
            </a:r>
            <a:r>
              <a:rPr dirty="0" sz="2400" b="1">
                <a:solidFill>
                  <a:srgbClr val="FFFF66"/>
                </a:solidFill>
                <a:latin typeface="Times New Roman"/>
                <a:cs typeface="Times New Roman"/>
              </a:rPr>
              <a:t>∩</a:t>
            </a:r>
            <a:r>
              <a:rPr dirty="0" sz="2400" spc="55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99CC"/>
                </a:solidFill>
                <a:latin typeface="Times New Roman"/>
                <a:cs typeface="Times New Roman"/>
              </a:rPr>
              <a:t>FIRST(</a:t>
            </a:r>
            <a:r>
              <a:rPr dirty="0" sz="2800" spc="-15" b="1" i="1">
                <a:solidFill>
                  <a:srgbClr val="FF99CC"/>
                </a:solidFill>
                <a:latin typeface="Times New Roman"/>
                <a:cs typeface="Times New Roman"/>
              </a:rPr>
              <a:t>cA</a:t>
            </a:r>
            <a:r>
              <a:rPr dirty="0" sz="2800" spc="-15" b="1">
                <a:solidFill>
                  <a:srgbClr val="FF99CC"/>
                </a:solidFill>
                <a:latin typeface="Times New Roman"/>
                <a:cs typeface="Times New Roman"/>
              </a:rPr>
              <a:t>)=</a:t>
            </a:r>
            <a:r>
              <a:rPr dirty="0" sz="2950" spc="-15" b="1" i="1">
                <a:solidFill>
                  <a:srgbClr val="FF99CC"/>
                </a:solidFill>
                <a:latin typeface="Symbol"/>
                <a:cs typeface="Symbol"/>
              </a:rPr>
              <a:t></a:t>
            </a:r>
            <a:endParaRPr sz="2950">
              <a:latin typeface="Symbol"/>
              <a:cs typeface="Symbol"/>
            </a:endParaRPr>
          </a:p>
          <a:p>
            <a:pPr marL="1448435" marR="5080" indent="-1436370">
              <a:lnSpc>
                <a:spcPct val="115500"/>
              </a:lnSpc>
              <a:spcBef>
                <a:spcPts val="125"/>
              </a:spcBef>
              <a:tabLst>
                <a:tab pos="1323340" algn="l"/>
                <a:tab pos="4070350" algn="l"/>
              </a:tabLst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对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: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)=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FIR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)=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  </a:t>
            </a:r>
            <a:r>
              <a:rPr dirty="0" sz="2800" spc="-5" b="1">
                <a:solidFill>
                  <a:srgbClr val="FF99CC"/>
                </a:solidFill>
                <a:latin typeface="Times New Roman"/>
                <a:cs typeface="Times New Roman"/>
              </a:rPr>
              <a:t>FIRST(</a:t>
            </a:r>
            <a:r>
              <a:rPr dirty="0" sz="2800" spc="-5" b="1" i="1">
                <a:solidFill>
                  <a:srgbClr val="FF99CC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99CC"/>
                </a:solidFill>
                <a:latin typeface="Times New Roman"/>
                <a:cs typeface="Times New Roman"/>
              </a:rPr>
              <a:t>) </a:t>
            </a:r>
            <a:r>
              <a:rPr dirty="0" sz="2400" b="1">
                <a:solidFill>
                  <a:srgbClr val="FFFF66"/>
                </a:solidFill>
                <a:latin typeface="Times New Roman"/>
                <a:cs typeface="Times New Roman"/>
              </a:rPr>
              <a:t>∩</a:t>
            </a:r>
            <a:r>
              <a:rPr dirty="0" sz="2400" spc="114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99CC"/>
                </a:solidFill>
                <a:latin typeface="Times New Roman"/>
                <a:cs typeface="Times New Roman"/>
              </a:rPr>
              <a:t>FIRST(</a:t>
            </a:r>
            <a:r>
              <a:rPr dirty="0" sz="2800" spc="-15" b="1" i="1">
                <a:solidFill>
                  <a:srgbClr val="FF99CC"/>
                </a:solidFill>
                <a:latin typeface="Times New Roman"/>
                <a:cs typeface="Times New Roman"/>
              </a:rPr>
              <a:t>dB</a:t>
            </a:r>
            <a:r>
              <a:rPr dirty="0" sz="2800" spc="-15" b="1">
                <a:solidFill>
                  <a:srgbClr val="FF99CC"/>
                </a:solidFill>
                <a:latin typeface="Times New Roman"/>
                <a:cs typeface="Times New Roman"/>
              </a:rPr>
              <a:t>)=</a:t>
            </a:r>
            <a:r>
              <a:rPr dirty="0" sz="2950" spc="-15" b="1" i="1">
                <a:solidFill>
                  <a:srgbClr val="FF99CC"/>
                </a:solidFill>
                <a:latin typeface="Symbol"/>
                <a:cs typeface="Symbol"/>
              </a:rPr>
              <a:t></a:t>
            </a:r>
            <a:endParaRPr sz="29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9811" y="26923"/>
            <a:ext cx="90862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8120">
              <a:lnSpc>
                <a:spcPct val="100000"/>
              </a:lnSpc>
              <a:spcBef>
                <a:spcPts val="100"/>
              </a:spcBef>
              <a:tabLst>
                <a:tab pos="706755" algn="l"/>
                <a:tab pos="198247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4.2</a:t>
            </a:r>
            <a:r>
              <a:rPr dirty="0" sz="2000" spc="48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不确定的自上而下分析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sz="2000" spc="455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4.2.2</a:t>
            </a:r>
            <a:r>
              <a:rPr dirty="0" u="sng" sz="2000" spc="4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不确定性原因与解决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方法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7042" y="763905"/>
            <a:ext cx="375856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41744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若给出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ca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则有：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99438" y="2230373"/>
            <a:ext cx="749935" cy="612775"/>
          </a:xfrm>
          <a:custGeom>
            <a:avLst/>
            <a:gdLst/>
            <a:ahLst/>
            <a:cxnLst/>
            <a:rect l="l" t="t" r="r" b="b"/>
            <a:pathLst>
              <a:path w="749935" h="612775">
                <a:moveTo>
                  <a:pt x="749807" y="0"/>
                </a:moveTo>
                <a:lnTo>
                  <a:pt x="0" y="612648"/>
                </a:lnTo>
              </a:path>
            </a:pathLst>
          </a:custGeom>
          <a:ln w="38100">
            <a:solidFill>
              <a:srgbClr val="CC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597657" y="2230373"/>
            <a:ext cx="749935" cy="612775"/>
          </a:xfrm>
          <a:custGeom>
            <a:avLst/>
            <a:gdLst/>
            <a:ahLst/>
            <a:cxnLst/>
            <a:rect l="l" t="t" r="r" b="b"/>
            <a:pathLst>
              <a:path w="749935" h="612775">
                <a:moveTo>
                  <a:pt x="0" y="0"/>
                </a:moveTo>
                <a:lnTo>
                  <a:pt x="749807" y="612648"/>
                </a:lnTo>
              </a:path>
            </a:pathLst>
          </a:custGeom>
          <a:ln w="38100">
            <a:solidFill>
              <a:srgbClr val="CC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382649" y="2801238"/>
            <a:ext cx="2971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61341" y="2801238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13053" y="3457194"/>
            <a:ext cx="500380" cy="612775"/>
          </a:xfrm>
          <a:custGeom>
            <a:avLst/>
            <a:gdLst/>
            <a:ahLst/>
            <a:cxnLst/>
            <a:rect l="l" t="t" r="r" b="b"/>
            <a:pathLst>
              <a:path w="500380" h="612775">
                <a:moveTo>
                  <a:pt x="499872" y="0"/>
                </a:moveTo>
                <a:lnTo>
                  <a:pt x="0" y="612647"/>
                </a:lnTo>
              </a:path>
            </a:pathLst>
          </a:custGeom>
          <a:ln w="38100">
            <a:solidFill>
              <a:srgbClr val="CC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62861" y="3457194"/>
            <a:ext cx="500380" cy="612775"/>
          </a:xfrm>
          <a:custGeom>
            <a:avLst/>
            <a:gdLst/>
            <a:ahLst/>
            <a:cxnLst/>
            <a:rect l="l" t="t" r="r" b="b"/>
            <a:pathLst>
              <a:path w="500380" h="612775">
                <a:moveTo>
                  <a:pt x="0" y="0"/>
                </a:moveTo>
                <a:lnTo>
                  <a:pt x="499871" y="612647"/>
                </a:lnTo>
              </a:path>
            </a:pathLst>
          </a:custGeom>
          <a:ln w="38100">
            <a:solidFill>
              <a:srgbClr val="CC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14248" y="4028694"/>
            <a:ext cx="20637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95908" y="4028694"/>
            <a:ext cx="29718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053589" y="4684014"/>
            <a:ext cx="0" cy="612775"/>
          </a:xfrm>
          <a:custGeom>
            <a:avLst/>
            <a:gdLst/>
            <a:ahLst/>
            <a:cxnLst/>
            <a:rect l="l" t="t" r="r" b="b"/>
            <a:pathLst>
              <a:path w="0" h="612775">
                <a:moveTo>
                  <a:pt x="0" y="0"/>
                </a:moveTo>
                <a:lnTo>
                  <a:pt x="0" y="612648"/>
                </a:lnTo>
              </a:path>
            </a:pathLst>
          </a:custGeom>
          <a:ln w="38100">
            <a:solidFill>
              <a:srgbClr val="CC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948052" y="5198465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92802" y="5046040"/>
            <a:ext cx="111188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09270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: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c</a:t>
            </a:r>
            <a:r>
              <a:rPr dirty="0" sz="3200" spc="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3200" b="1" i="1">
                <a:solidFill>
                  <a:srgbClr val="FF99CC"/>
                </a:solidFill>
                <a:latin typeface="Times New Roman"/>
                <a:cs typeface="Times New Roman"/>
              </a:rPr>
              <a:t>p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136892" y="1976120"/>
            <a:ext cx="2007235" cy="0"/>
          </a:xfrm>
          <a:custGeom>
            <a:avLst/>
            <a:gdLst/>
            <a:ahLst/>
            <a:cxnLst/>
            <a:rect l="l" t="t" r="r" b="b"/>
            <a:pathLst>
              <a:path w="2007234" h="0">
                <a:moveTo>
                  <a:pt x="0" y="0"/>
                </a:moveTo>
                <a:lnTo>
                  <a:pt x="2007107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143242" y="434340"/>
            <a:ext cx="0" cy="1535430"/>
          </a:xfrm>
          <a:custGeom>
            <a:avLst/>
            <a:gdLst/>
            <a:ahLst/>
            <a:cxnLst/>
            <a:rect l="l" t="t" r="r" b="b"/>
            <a:pathLst>
              <a:path w="0" h="1535430">
                <a:moveTo>
                  <a:pt x="0" y="0"/>
                </a:moveTo>
                <a:lnTo>
                  <a:pt x="0" y="1535429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136892" y="427990"/>
            <a:ext cx="2007235" cy="0"/>
          </a:xfrm>
          <a:custGeom>
            <a:avLst/>
            <a:gdLst/>
            <a:ahLst/>
            <a:cxnLst/>
            <a:rect l="l" t="t" r="r" b="b"/>
            <a:pathLst>
              <a:path w="2007234" h="0">
                <a:moveTo>
                  <a:pt x="0" y="0"/>
                </a:moveTo>
                <a:lnTo>
                  <a:pt x="2007107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137650" y="434848"/>
            <a:ext cx="0" cy="1535430"/>
          </a:xfrm>
          <a:custGeom>
            <a:avLst/>
            <a:gdLst/>
            <a:ahLst/>
            <a:cxnLst/>
            <a:rect l="l" t="t" r="r" b="b"/>
            <a:pathLst>
              <a:path w="0" h="1535430">
                <a:moveTo>
                  <a:pt x="0" y="0"/>
                </a:moveTo>
                <a:lnTo>
                  <a:pt x="0" y="1535176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162292" y="1944370"/>
            <a:ext cx="1956435" cy="0"/>
          </a:xfrm>
          <a:custGeom>
            <a:avLst/>
            <a:gdLst/>
            <a:ahLst/>
            <a:cxnLst/>
            <a:rect l="l" t="t" r="r" b="b"/>
            <a:pathLst>
              <a:path w="1956434" h="0">
                <a:moveTo>
                  <a:pt x="0" y="0"/>
                </a:moveTo>
                <a:lnTo>
                  <a:pt x="1956307" y="0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174992" y="472440"/>
            <a:ext cx="0" cy="1459230"/>
          </a:xfrm>
          <a:custGeom>
            <a:avLst/>
            <a:gdLst/>
            <a:ahLst/>
            <a:cxnLst/>
            <a:rect l="l" t="t" r="r" b="b"/>
            <a:pathLst>
              <a:path w="0" h="1459230">
                <a:moveTo>
                  <a:pt x="0" y="0"/>
                </a:moveTo>
                <a:lnTo>
                  <a:pt x="0" y="1459229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162292" y="459740"/>
            <a:ext cx="1956435" cy="0"/>
          </a:xfrm>
          <a:custGeom>
            <a:avLst/>
            <a:gdLst/>
            <a:ahLst/>
            <a:cxnLst/>
            <a:rect l="l" t="t" r="r" b="b"/>
            <a:pathLst>
              <a:path w="1956434" h="0">
                <a:moveTo>
                  <a:pt x="0" y="0"/>
                </a:moveTo>
                <a:lnTo>
                  <a:pt x="1956307" y="0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105900" y="472948"/>
            <a:ext cx="0" cy="1459230"/>
          </a:xfrm>
          <a:custGeom>
            <a:avLst/>
            <a:gdLst/>
            <a:ahLst/>
            <a:cxnLst/>
            <a:rect l="l" t="t" r="r" b="b"/>
            <a:pathLst>
              <a:path w="0" h="1459230">
                <a:moveTo>
                  <a:pt x="0" y="0"/>
                </a:moveTo>
                <a:lnTo>
                  <a:pt x="0" y="1458976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200392" y="1912620"/>
            <a:ext cx="1880235" cy="0"/>
          </a:xfrm>
          <a:custGeom>
            <a:avLst/>
            <a:gdLst/>
            <a:ahLst/>
            <a:cxnLst/>
            <a:rect l="l" t="t" r="r" b="b"/>
            <a:pathLst>
              <a:path w="1880234" h="0">
                <a:moveTo>
                  <a:pt x="0" y="0"/>
                </a:moveTo>
                <a:lnTo>
                  <a:pt x="1880107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206742" y="497840"/>
            <a:ext cx="0" cy="1408430"/>
          </a:xfrm>
          <a:custGeom>
            <a:avLst/>
            <a:gdLst/>
            <a:ahLst/>
            <a:cxnLst/>
            <a:rect l="l" t="t" r="r" b="b"/>
            <a:pathLst>
              <a:path w="0" h="1408430">
                <a:moveTo>
                  <a:pt x="0" y="0"/>
                </a:moveTo>
                <a:lnTo>
                  <a:pt x="0" y="1408429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200392" y="491490"/>
            <a:ext cx="1880235" cy="0"/>
          </a:xfrm>
          <a:custGeom>
            <a:avLst/>
            <a:gdLst/>
            <a:ahLst/>
            <a:cxnLst/>
            <a:rect l="l" t="t" r="r" b="b"/>
            <a:pathLst>
              <a:path w="1880234" h="0">
                <a:moveTo>
                  <a:pt x="0" y="0"/>
                </a:moveTo>
                <a:lnTo>
                  <a:pt x="1880107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9074150" y="498348"/>
            <a:ext cx="0" cy="1408430"/>
          </a:xfrm>
          <a:custGeom>
            <a:avLst/>
            <a:gdLst/>
            <a:ahLst/>
            <a:cxnLst/>
            <a:rect l="l" t="t" r="r" b="b"/>
            <a:pathLst>
              <a:path w="0" h="1408430">
                <a:moveTo>
                  <a:pt x="0" y="0"/>
                </a:moveTo>
                <a:lnTo>
                  <a:pt x="0" y="1408176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7187692" y="481964"/>
            <a:ext cx="1905635" cy="1342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0010" marR="271145">
              <a:lnSpc>
                <a:spcPct val="12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CC00"/>
                </a:solidFill>
                <a:latin typeface="Times New Roman"/>
                <a:cs typeface="Times New Roman"/>
              </a:rPr>
              <a:t>S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Ap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400" spc="-1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Bq  </a:t>
            </a:r>
            <a:r>
              <a:rPr dirty="0" sz="2400" b="1" i="1">
                <a:solidFill>
                  <a:srgbClr val="FF99CC"/>
                </a:solidFill>
                <a:latin typeface="Times New Roman"/>
                <a:cs typeface="Times New Roman"/>
              </a:rPr>
              <a:t>A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cA 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4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dB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629400" y="4730750"/>
            <a:ext cx="2476500" cy="0"/>
          </a:xfrm>
          <a:custGeom>
            <a:avLst/>
            <a:gdLst/>
            <a:ahLst/>
            <a:cxnLst/>
            <a:rect l="l" t="t" r="r" b="b"/>
            <a:pathLst>
              <a:path w="2476500" h="0">
                <a:moveTo>
                  <a:pt x="0" y="0"/>
                </a:moveTo>
                <a:lnTo>
                  <a:pt x="2476500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635750" y="2026920"/>
            <a:ext cx="0" cy="2697480"/>
          </a:xfrm>
          <a:custGeom>
            <a:avLst/>
            <a:gdLst/>
            <a:ahLst/>
            <a:cxnLst/>
            <a:rect l="l" t="t" r="r" b="b"/>
            <a:pathLst>
              <a:path w="0" h="2697479">
                <a:moveTo>
                  <a:pt x="0" y="0"/>
                </a:moveTo>
                <a:lnTo>
                  <a:pt x="0" y="269748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629400" y="2020570"/>
            <a:ext cx="2476500" cy="0"/>
          </a:xfrm>
          <a:custGeom>
            <a:avLst/>
            <a:gdLst/>
            <a:ahLst/>
            <a:cxnLst/>
            <a:rect l="l" t="t" r="r" b="b"/>
            <a:pathLst>
              <a:path w="2476500" h="0">
                <a:moveTo>
                  <a:pt x="0" y="0"/>
                </a:moveTo>
                <a:lnTo>
                  <a:pt x="2476500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9099550" y="2027427"/>
            <a:ext cx="0" cy="2696845"/>
          </a:xfrm>
          <a:custGeom>
            <a:avLst/>
            <a:gdLst/>
            <a:ahLst/>
            <a:cxnLst/>
            <a:rect l="l" t="t" r="r" b="b"/>
            <a:pathLst>
              <a:path w="0" h="2696845">
                <a:moveTo>
                  <a:pt x="0" y="0"/>
                </a:moveTo>
                <a:lnTo>
                  <a:pt x="0" y="2696464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654800" y="4699000"/>
            <a:ext cx="2425700" cy="0"/>
          </a:xfrm>
          <a:custGeom>
            <a:avLst/>
            <a:gdLst/>
            <a:ahLst/>
            <a:cxnLst/>
            <a:rect l="l" t="t" r="r" b="b"/>
            <a:pathLst>
              <a:path w="2425700" h="0">
                <a:moveTo>
                  <a:pt x="0" y="0"/>
                </a:moveTo>
                <a:lnTo>
                  <a:pt x="2425700" y="0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667500" y="2065020"/>
            <a:ext cx="0" cy="2621280"/>
          </a:xfrm>
          <a:custGeom>
            <a:avLst/>
            <a:gdLst/>
            <a:ahLst/>
            <a:cxnLst/>
            <a:rect l="l" t="t" r="r" b="b"/>
            <a:pathLst>
              <a:path w="0" h="2621279">
                <a:moveTo>
                  <a:pt x="0" y="0"/>
                </a:moveTo>
                <a:lnTo>
                  <a:pt x="0" y="2621280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654800" y="2052320"/>
            <a:ext cx="2425700" cy="0"/>
          </a:xfrm>
          <a:custGeom>
            <a:avLst/>
            <a:gdLst/>
            <a:ahLst/>
            <a:cxnLst/>
            <a:rect l="l" t="t" r="r" b="b"/>
            <a:pathLst>
              <a:path w="2425700" h="0">
                <a:moveTo>
                  <a:pt x="0" y="0"/>
                </a:moveTo>
                <a:lnTo>
                  <a:pt x="2425700" y="0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9067800" y="2065527"/>
            <a:ext cx="0" cy="2620645"/>
          </a:xfrm>
          <a:custGeom>
            <a:avLst/>
            <a:gdLst/>
            <a:ahLst/>
            <a:cxnLst/>
            <a:rect l="l" t="t" r="r" b="b"/>
            <a:pathLst>
              <a:path w="0" h="2620645">
                <a:moveTo>
                  <a:pt x="0" y="0"/>
                </a:moveTo>
                <a:lnTo>
                  <a:pt x="0" y="2620264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692900" y="4667250"/>
            <a:ext cx="2349500" cy="0"/>
          </a:xfrm>
          <a:custGeom>
            <a:avLst/>
            <a:gdLst/>
            <a:ahLst/>
            <a:cxnLst/>
            <a:rect l="l" t="t" r="r" b="b"/>
            <a:pathLst>
              <a:path w="2349500" h="0">
                <a:moveTo>
                  <a:pt x="0" y="0"/>
                </a:moveTo>
                <a:lnTo>
                  <a:pt x="2349500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699250" y="2090420"/>
            <a:ext cx="0" cy="2570480"/>
          </a:xfrm>
          <a:custGeom>
            <a:avLst/>
            <a:gdLst/>
            <a:ahLst/>
            <a:cxnLst/>
            <a:rect l="l" t="t" r="r" b="b"/>
            <a:pathLst>
              <a:path w="0" h="2570479">
                <a:moveTo>
                  <a:pt x="0" y="0"/>
                </a:moveTo>
                <a:lnTo>
                  <a:pt x="0" y="257048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692900" y="2084070"/>
            <a:ext cx="2349500" cy="0"/>
          </a:xfrm>
          <a:custGeom>
            <a:avLst/>
            <a:gdLst/>
            <a:ahLst/>
            <a:cxnLst/>
            <a:rect l="l" t="t" r="r" b="b"/>
            <a:pathLst>
              <a:path w="2349500" h="0">
                <a:moveTo>
                  <a:pt x="0" y="0"/>
                </a:moveTo>
                <a:lnTo>
                  <a:pt x="2349500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9036050" y="2090927"/>
            <a:ext cx="0" cy="2569845"/>
          </a:xfrm>
          <a:custGeom>
            <a:avLst/>
            <a:gdLst/>
            <a:ahLst/>
            <a:cxnLst/>
            <a:rect l="l" t="t" r="r" b="b"/>
            <a:pathLst>
              <a:path w="0" h="2569845">
                <a:moveTo>
                  <a:pt x="0" y="0"/>
                </a:moveTo>
                <a:lnTo>
                  <a:pt x="0" y="2569464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6680200" y="2078507"/>
            <a:ext cx="2374900" cy="250698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625"/>
              </a:spcBef>
            </a:pPr>
            <a:r>
              <a:rPr dirty="0" sz="2200" spc="-5" b="1">
                <a:solidFill>
                  <a:srgbClr val="FFCC00"/>
                </a:solidFill>
                <a:latin typeface="Times New Roman"/>
                <a:cs typeface="Times New Roman"/>
              </a:rPr>
              <a:t>FIRST(</a:t>
            </a:r>
            <a:r>
              <a:rPr dirty="0" sz="2200" spc="-5" b="1" i="1">
                <a:solidFill>
                  <a:srgbClr val="FFCC00"/>
                </a:solidFill>
                <a:latin typeface="Times New Roman"/>
                <a:cs typeface="Times New Roman"/>
              </a:rPr>
              <a:t>Ap</a:t>
            </a:r>
            <a:r>
              <a:rPr dirty="0" sz="2200" spc="-5" b="1">
                <a:solidFill>
                  <a:srgbClr val="FFCC00"/>
                </a:solidFill>
                <a:latin typeface="Times New Roman"/>
                <a:cs typeface="Times New Roman"/>
              </a:rPr>
              <a:t>)={</a:t>
            </a:r>
            <a:r>
              <a:rPr dirty="0" sz="2200" spc="-5" b="1" i="1">
                <a:solidFill>
                  <a:srgbClr val="FFCC00"/>
                </a:solidFill>
                <a:latin typeface="Times New Roman"/>
                <a:cs typeface="Times New Roman"/>
              </a:rPr>
              <a:t>a</a:t>
            </a:r>
            <a:r>
              <a:rPr dirty="0" sz="2200" spc="-5" b="1">
                <a:solidFill>
                  <a:srgbClr val="FFCC00"/>
                </a:solidFill>
                <a:latin typeface="Times New Roman"/>
                <a:cs typeface="Times New Roman"/>
              </a:rPr>
              <a:t>,</a:t>
            </a:r>
            <a:r>
              <a:rPr dirty="0" sz="2200" spc="-5" b="1" i="1">
                <a:solidFill>
                  <a:srgbClr val="FFCC00"/>
                </a:solidFill>
                <a:latin typeface="Times New Roman"/>
                <a:cs typeface="Times New Roman"/>
              </a:rPr>
              <a:t>c</a:t>
            </a:r>
            <a:r>
              <a:rPr dirty="0" sz="2200" spc="-5" b="1">
                <a:solidFill>
                  <a:srgbClr val="FFCC00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algn="ctr" marL="635">
              <a:lnSpc>
                <a:spcPct val="100000"/>
              </a:lnSpc>
              <a:spcBef>
                <a:spcPts val="530"/>
              </a:spcBef>
            </a:pPr>
            <a:r>
              <a:rPr dirty="0" sz="2200" spc="-5" b="1">
                <a:solidFill>
                  <a:srgbClr val="FFCC00"/>
                </a:solidFill>
                <a:latin typeface="Times New Roman"/>
                <a:cs typeface="Times New Roman"/>
              </a:rPr>
              <a:t>FIRST(</a:t>
            </a:r>
            <a:r>
              <a:rPr dirty="0" sz="2200" spc="-5" b="1" i="1">
                <a:solidFill>
                  <a:srgbClr val="FFCC00"/>
                </a:solidFill>
                <a:latin typeface="Times New Roman"/>
                <a:cs typeface="Times New Roman"/>
              </a:rPr>
              <a:t>Bq</a:t>
            </a:r>
            <a:r>
              <a:rPr dirty="0" sz="2200" spc="-5" b="1">
                <a:solidFill>
                  <a:srgbClr val="FFCC00"/>
                </a:solidFill>
                <a:latin typeface="Times New Roman"/>
                <a:cs typeface="Times New Roman"/>
              </a:rPr>
              <a:t>)={</a:t>
            </a:r>
            <a:r>
              <a:rPr dirty="0" sz="2200" spc="-5" b="1" i="1">
                <a:solidFill>
                  <a:srgbClr val="FFCC00"/>
                </a:solidFill>
                <a:latin typeface="Times New Roman"/>
                <a:cs typeface="Times New Roman"/>
              </a:rPr>
              <a:t>b</a:t>
            </a:r>
            <a:r>
              <a:rPr dirty="0" sz="2200" spc="-5" b="1">
                <a:solidFill>
                  <a:srgbClr val="FFCC00"/>
                </a:solidFill>
                <a:latin typeface="Times New Roman"/>
                <a:cs typeface="Times New Roman"/>
              </a:rPr>
              <a:t>,</a:t>
            </a:r>
            <a:r>
              <a:rPr dirty="0" sz="2200" spc="-5" b="1" i="1">
                <a:solidFill>
                  <a:srgbClr val="FFCC00"/>
                </a:solidFill>
                <a:latin typeface="Times New Roman"/>
                <a:cs typeface="Times New Roman"/>
              </a:rPr>
              <a:t>d</a:t>
            </a:r>
            <a:r>
              <a:rPr dirty="0" sz="2200" spc="-5" b="1">
                <a:solidFill>
                  <a:srgbClr val="FFCC00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algn="ctr" marL="635">
              <a:lnSpc>
                <a:spcPct val="100000"/>
              </a:lnSpc>
              <a:spcBef>
                <a:spcPts val="530"/>
              </a:spcBef>
            </a:pPr>
            <a:r>
              <a:rPr dirty="0" sz="2200" spc="-5" b="1">
                <a:solidFill>
                  <a:srgbClr val="FF99CC"/>
                </a:solidFill>
                <a:latin typeface="Times New Roman"/>
                <a:cs typeface="Times New Roman"/>
              </a:rPr>
              <a:t>FIRST(</a:t>
            </a:r>
            <a:r>
              <a:rPr dirty="0" sz="2200" spc="-5" b="1" i="1">
                <a:solidFill>
                  <a:srgbClr val="FF99CC"/>
                </a:solidFill>
                <a:latin typeface="Times New Roman"/>
                <a:cs typeface="Times New Roman"/>
              </a:rPr>
              <a:t>a</a:t>
            </a:r>
            <a:r>
              <a:rPr dirty="0" sz="2200" spc="-5" b="1">
                <a:solidFill>
                  <a:srgbClr val="FF99CC"/>
                </a:solidFill>
                <a:latin typeface="Times New Roman"/>
                <a:cs typeface="Times New Roman"/>
              </a:rPr>
              <a:t>)={</a:t>
            </a:r>
            <a:r>
              <a:rPr dirty="0" sz="2200" spc="-5" b="1" i="1">
                <a:solidFill>
                  <a:srgbClr val="FF99CC"/>
                </a:solidFill>
                <a:latin typeface="Times New Roman"/>
                <a:cs typeface="Times New Roman"/>
              </a:rPr>
              <a:t>a</a:t>
            </a:r>
            <a:r>
              <a:rPr dirty="0" sz="2200" spc="-5" b="1">
                <a:solidFill>
                  <a:srgbClr val="FF99CC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algn="ctr" marL="635">
              <a:lnSpc>
                <a:spcPct val="100000"/>
              </a:lnSpc>
              <a:spcBef>
                <a:spcPts val="530"/>
              </a:spcBef>
            </a:pPr>
            <a:r>
              <a:rPr dirty="0" sz="2200" spc="-5" b="1">
                <a:solidFill>
                  <a:srgbClr val="FF99CC"/>
                </a:solidFill>
                <a:latin typeface="Times New Roman"/>
                <a:cs typeface="Times New Roman"/>
              </a:rPr>
              <a:t>FIRST(</a:t>
            </a:r>
            <a:r>
              <a:rPr dirty="0" sz="2200" spc="-5" b="1" i="1">
                <a:solidFill>
                  <a:srgbClr val="FF99CC"/>
                </a:solidFill>
                <a:latin typeface="Times New Roman"/>
                <a:cs typeface="Times New Roman"/>
              </a:rPr>
              <a:t>cA</a:t>
            </a:r>
            <a:r>
              <a:rPr dirty="0" sz="2200" spc="-5" b="1">
                <a:solidFill>
                  <a:srgbClr val="FF99CC"/>
                </a:solidFill>
                <a:latin typeface="Times New Roman"/>
                <a:cs typeface="Times New Roman"/>
              </a:rPr>
              <a:t>)={</a:t>
            </a:r>
            <a:r>
              <a:rPr dirty="0" sz="2200" spc="-5" b="1" i="1">
                <a:solidFill>
                  <a:srgbClr val="FF99CC"/>
                </a:solidFill>
                <a:latin typeface="Times New Roman"/>
                <a:cs typeface="Times New Roman"/>
              </a:rPr>
              <a:t>c</a:t>
            </a:r>
            <a:r>
              <a:rPr dirty="0" sz="2200" spc="-5" b="1">
                <a:solidFill>
                  <a:srgbClr val="FF99CC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algn="ctr" marL="635">
              <a:lnSpc>
                <a:spcPct val="100000"/>
              </a:lnSpc>
              <a:spcBef>
                <a:spcPts val="1055"/>
              </a:spcBef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)={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algn="ctr" marL="635">
              <a:lnSpc>
                <a:spcPct val="100000"/>
              </a:lnSpc>
              <a:spcBef>
                <a:spcPts val="530"/>
              </a:spcBef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dB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)={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417445" y="1654810"/>
            <a:ext cx="25209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930902" y="2705557"/>
            <a:ext cx="111252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09270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: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 i="1">
                <a:solidFill>
                  <a:srgbClr val="FF99CC"/>
                </a:solidFill>
                <a:latin typeface="Times New Roman"/>
                <a:cs typeface="Times New Roman"/>
              </a:rPr>
              <a:t>c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ap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5515355" y="2484882"/>
            <a:ext cx="114300" cy="451484"/>
          </a:xfrm>
          <a:custGeom>
            <a:avLst/>
            <a:gdLst/>
            <a:ahLst/>
            <a:cxnLst/>
            <a:rect l="l" t="t" r="r" b="b"/>
            <a:pathLst>
              <a:path w="114300" h="451485">
                <a:moveTo>
                  <a:pt x="38100" y="336803"/>
                </a:moveTo>
                <a:lnTo>
                  <a:pt x="0" y="336803"/>
                </a:lnTo>
                <a:lnTo>
                  <a:pt x="57150" y="451103"/>
                </a:lnTo>
                <a:lnTo>
                  <a:pt x="104775" y="355853"/>
                </a:lnTo>
                <a:lnTo>
                  <a:pt x="38100" y="355853"/>
                </a:lnTo>
                <a:lnTo>
                  <a:pt x="38100" y="336803"/>
                </a:lnTo>
                <a:close/>
              </a:path>
              <a:path w="114300" h="451485">
                <a:moveTo>
                  <a:pt x="76200" y="0"/>
                </a:moveTo>
                <a:lnTo>
                  <a:pt x="38100" y="0"/>
                </a:lnTo>
                <a:lnTo>
                  <a:pt x="38100" y="355853"/>
                </a:lnTo>
                <a:lnTo>
                  <a:pt x="76200" y="355853"/>
                </a:lnTo>
                <a:lnTo>
                  <a:pt x="76200" y="0"/>
                </a:lnTo>
                <a:close/>
              </a:path>
              <a:path w="114300" h="451485">
                <a:moveTo>
                  <a:pt x="114300" y="336803"/>
                </a:moveTo>
                <a:lnTo>
                  <a:pt x="76200" y="336803"/>
                </a:lnTo>
                <a:lnTo>
                  <a:pt x="76200" y="355853"/>
                </a:lnTo>
                <a:lnTo>
                  <a:pt x="104775" y="355853"/>
                </a:lnTo>
                <a:lnTo>
                  <a:pt x="114300" y="336803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4930902" y="3900042"/>
            <a:ext cx="111188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9270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: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spc="5" b="1" i="1">
                <a:solidFill>
                  <a:srgbClr val="66FFFF"/>
                </a:solidFill>
                <a:latin typeface="Times New Roman"/>
                <a:cs typeface="Times New Roman"/>
              </a:rPr>
              <a:t>c</a:t>
            </a:r>
            <a:r>
              <a:rPr dirty="0" sz="3200" spc="5" b="1" i="1">
                <a:solidFill>
                  <a:srgbClr val="FF99CC"/>
                </a:solidFill>
                <a:latin typeface="Times New Roman"/>
                <a:cs typeface="Times New Roman"/>
              </a:rPr>
              <a:t>a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5705855" y="3637026"/>
            <a:ext cx="114300" cy="433070"/>
          </a:xfrm>
          <a:custGeom>
            <a:avLst/>
            <a:gdLst/>
            <a:ahLst/>
            <a:cxnLst/>
            <a:rect l="l" t="t" r="r" b="b"/>
            <a:pathLst>
              <a:path w="114300" h="433070">
                <a:moveTo>
                  <a:pt x="38100" y="318516"/>
                </a:moveTo>
                <a:lnTo>
                  <a:pt x="0" y="318516"/>
                </a:lnTo>
                <a:lnTo>
                  <a:pt x="57150" y="432816"/>
                </a:lnTo>
                <a:lnTo>
                  <a:pt x="104775" y="337566"/>
                </a:lnTo>
                <a:lnTo>
                  <a:pt x="38100" y="337566"/>
                </a:lnTo>
                <a:lnTo>
                  <a:pt x="38100" y="318516"/>
                </a:lnTo>
                <a:close/>
              </a:path>
              <a:path w="114300" h="433070">
                <a:moveTo>
                  <a:pt x="76200" y="0"/>
                </a:moveTo>
                <a:lnTo>
                  <a:pt x="38100" y="0"/>
                </a:lnTo>
                <a:lnTo>
                  <a:pt x="38100" y="337566"/>
                </a:lnTo>
                <a:lnTo>
                  <a:pt x="76200" y="337566"/>
                </a:lnTo>
                <a:lnTo>
                  <a:pt x="76200" y="0"/>
                </a:lnTo>
                <a:close/>
              </a:path>
              <a:path w="114300" h="433070">
                <a:moveTo>
                  <a:pt x="114300" y="318516"/>
                </a:moveTo>
                <a:lnTo>
                  <a:pt x="76200" y="318516"/>
                </a:lnTo>
                <a:lnTo>
                  <a:pt x="76200" y="337566"/>
                </a:lnTo>
                <a:lnTo>
                  <a:pt x="104775" y="337566"/>
                </a:lnTo>
                <a:lnTo>
                  <a:pt x="114300" y="318516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865876" y="4684014"/>
            <a:ext cx="114300" cy="556260"/>
          </a:xfrm>
          <a:custGeom>
            <a:avLst/>
            <a:gdLst/>
            <a:ahLst/>
            <a:cxnLst/>
            <a:rect l="l" t="t" r="r" b="b"/>
            <a:pathLst>
              <a:path w="114300" h="556260">
                <a:moveTo>
                  <a:pt x="38100" y="441960"/>
                </a:moveTo>
                <a:lnTo>
                  <a:pt x="0" y="441960"/>
                </a:lnTo>
                <a:lnTo>
                  <a:pt x="57150" y="556260"/>
                </a:lnTo>
                <a:lnTo>
                  <a:pt x="104775" y="461010"/>
                </a:lnTo>
                <a:lnTo>
                  <a:pt x="38100" y="461010"/>
                </a:lnTo>
                <a:lnTo>
                  <a:pt x="38100" y="441960"/>
                </a:lnTo>
                <a:close/>
              </a:path>
              <a:path w="114300" h="556260">
                <a:moveTo>
                  <a:pt x="76200" y="0"/>
                </a:moveTo>
                <a:lnTo>
                  <a:pt x="38100" y="0"/>
                </a:lnTo>
                <a:lnTo>
                  <a:pt x="38100" y="461010"/>
                </a:lnTo>
                <a:lnTo>
                  <a:pt x="76200" y="461010"/>
                </a:lnTo>
                <a:lnTo>
                  <a:pt x="76200" y="0"/>
                </a:lnTo>
                <a:close/>
              </a:path>
              <a:path w="114300" h="556260">
                <a:moveTo>
                  <a:pt x="114300" y="441960"/>
                </a:moveTo>
                <a:lnTo>
                  <a:pt x="76200" y="441960"/>
                </a:lnTo>
                <a:lnTo>
                  <a:pt x="76200" y="461010"/>
                </a:lnTo>
                <a:lnTo>
                  <a:pt x="104775" y="461010"/>
                </a:lnTo>
                <a:lnTo>
                  <a:pt x="114300" y="44196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05612" y="4841747"/>
            <a:ext cx="7886700" cy="1800225"/>
          </a:xfrm>
          <a:custGeom>
            <a:avLst/>
            <a:gdLst/>
            <a:ahLst/>
            <a:cxnLst/>
            <a:rect l="l" t="t" r="r" b="b"/>
            <a:pathLst>
              <a:path w="7886700" h="1800225">
                <a:moveTo>
                  <a:pt x="0" y="1799844"/>
                </a:moveTo>
                <a:lnTo>
                  <a:pt x="7886700" y="1799844"/>
                </a:lnTo>
                <a:lnTo>
                  <a:pt x="7886700" y="0"/>
                </a:lnTo>
                <a:lnTo>
                  <a:pt x="0" y="0"/>
                </a:lnTo>
                <a:lnTo>
                  <a:pt x="0" y="17998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2000" y="2747772"/>
            <a:ext cx="7886700" cy="1143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4431" y="0"/>
            <a:ext cx="8808720" cy="6678930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155"/>
              </a:spcBef>
              <a:tabLst>
                <a:tab pos="572135" algn="l"/>
                <a:tab pos="18478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4.2</a:t>
            </a:r>
            <a:r>
              <a:rPr dirty="0" sz="2000" spc="47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不确定的自上而下分析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sz="2000" spc="455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4.2.2</a:t>
            </a:r>
            <a:r>
              <a:rPr dirty="0" u="sng" sz="2000" spc="4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不确定性原因与解决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方法</a:t>
            </a:r>
            <a:endParaRPr sz="2000">
              <a:latin typeface="宋体"/>
              <a:cs typeface="宋体"/>
            </a:endParaRPr>
          </a:p>
          <a:p>
            <a:pPr marL="337185" marR="492125">
              <a:lnSpc>
                <a:spcPct val="127099"/>
              </a:lnSpc>
              <a:spcBef>
                <a:spcPts val="595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对非终结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的多个候选式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950" spc="-1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95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的相互两个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彼此交集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≠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Φ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，一般是因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950" spc="-10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950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中有公共左因子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可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以通过提取左公因子来改造文</a:t>
            </a:r>
            <a:r>
              <a:rPr dirty="0" sz="2800" spc="1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由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BNF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范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改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EBNF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范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698500">
              <a:lnSpc>
                <a:spcPct val="100000"/>
              </a:lnSpc>
              <a:spcBef>
                <a:spcPts val="290"/>
              </a:spcBef>
            </a:pPr>
            <a:r>
              <a:rPr dirty="0" sz="3200" b="1">
                <a:latin typeface="宋体"/>
                <a:cs typeface="宋体"/>
              </a:rPr>
              <a:t>若有文</a:t>
            </a:r>
            <a:r>
              <a:rPr dirty="0" sz="3200" spc="-5" b="1">
                <a:latin typeface="宋体"/>
                <a:cs typeface="宋体"/>
              </a:rPr>
              <a:t>法</a:t>
            </a:r>
            <a:r>
              <a:rPr dirty="0" sz="3200" spc="-5" b="1" i="1">
                <a:latin typeface="Times New Roman"/>
                <a:cs typeface="Times New Roman"/>
              </a:rPr>
              <a:t>G</a:t>
            </a:r>
            <a:r>
              <a:rPr dirty="0" sz="3200" spc="-5" b="1"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 algn="r" marR="3114040">
              <a:lnSpc>
                <a:spcPct val="100000"/>
              </a:lnSpc>
              <a:spcBef>
                <a:spcPts val="1115"/>
              </a:spcBef>
            </a:pPr>
            <a:r>
              <a:rPr dirty="0" sz="3200" b="1" i="1">
                <a:latin typeface="Times New Roman"/>
                <a:cs typeface="Times New Roman"/>
              </a:rPr>
              <a:t>A </a:t>
            </a:r>
            <a:r>
              <a:rPr dirty="0" sz="3200" b="1">
                <a:latin typeface="Times New Roman"/>
                <a:cs typeface="Times New Roman"/>
              </a:rPr>
              <a:t>→ </a:t>
            </a:r>
            <a:r>
              <a:rPr dirty="0" sz="3200" spc="5" b="1" i="1">
                <a:solidFill>
                  <a:srgbClr val="FF0000"/>
                </a:solidFill>
                <a:latin typeface="Times New Roman"/>
                <a:cs typeface="Times New Roman"/>
              </a:rPr>
              <a:t>δ</a:t>
            </a:r>
            <a:r>
              <a:rPr dirty="0" sz="3200" spc="5" b="1" i="1">
                <a:latin typeface="Times New Roman"/>
                <a:cs typeface="Times New Roman"/>
              </a:rPr>
              <a:t>β</a:t>
            </a:r>
            <a:r>
              <a:rPr dirty="0" baseline="-25132" sz="3150" spc="7" b="1">
                <a:latin typeface="Times New Roman"/>
                <a:cs typeface="Times New Roman"/>
              </a:rPr>
              <a:t>1 </a:t>
            </a:r>
            <a:r>
              <a:rPr dirty="0" sz="3200" b="1">
                <a:latin typeface="Times New Roman"/>
                <a:cs typeface="Times New Roman"/>
              </a:rPr>
              <a:t>| </a:t>
            </a:r>
            <a:r>
              <a:rPr dirty="0" sz="3200" spc="5" b="1" i="1">
                <a:solidFill>
                  <a:srgbClr val="FF0000"/>
                </a:solidFill>
                <a:latin typeface="Times New Roman"/>
                <a:cs typeface="Times New Roman"/>
              </a:rPr>
              <a:t>δ</a:t>
            </a:r>
            <a:r>
              <a:rPr dirty="0" sz="3200" spc="5" b="1" i="1">
                <a:latin typeface="Times New Roman"/>
                <a:cs typeface="Times New Roman"/>
              </a:rPr>
              <a:t>β</a:t>
            </a:r>
            <a:r>
              <a:rPr dirty="0" baseline="-25132" sz="3150" spc="7" b="1">
                <a:latin typeface="Times New Roman"/>
                <a:cs typeface="Times New Roman"/>
              </a:rPr>
              <a:t>2 </a:t>
            </a:r>
            <a:r>
              <a:rPr dirty="0" sz="3200" b="1">
                <a:latin typeface="Times New Roman"/>
                <a:cs typeface="Times New Roman"/>
              </a:rPr>
              <a:t>|…|</a:t>
            </a:r>
            <a:r>
              <a:rPr dirty="0" sz="3200" spc="-114" b="1">
                <a:latin typeface="Times New Roman"/>
                <a:cs typeface="Times New Roman"/>
              </a:rPr>
              <a:t> </a:t>
            </a:r>
            <a:r>
              <a:rPr dirty="0" sz="3200" spc="5" b="1" i="1">
                <a:solidFill>
                  <a:srgbClr val="FF0000"/>
                </a:solidFill>
                <a:latin typeface="Times New Roman"/>
                <a:cs typeface="Times New Roman"/>
              </a:rPr>
              <a:t>δ</a:t>
            </a:r>
            <a:r>
              <a:rPr dirty="0" sz="3200" spc="5" b="1" i="1">
                <a:latin typeface="Times New Roman"/>
                <a:cs typeface="Times New Roman"/>
              </a:rPr>
              <a:t>β</a:t>
            </a:r>
            <a:r>
              <a:rPr dirty="0" baseline="-25132" sz="3150" spc="7" b="1" i="1">
                <a:latin typeface="Times New Roman"/>
                <a:cs typeface="Times New Roman"/>
              </a:rPr>
              <a:t>n</a:t>
            </a:r>
            <a:endParaRPr baseline="-25132" sz="3150">
              <a:latin typeface="Times New Roman"/>
              <a:cs typeface="Times New Roman"/>
            </a:endParaRPr>
          </a:p>
          <a:p>
            <a:pPr algn="r" marR="3001645">
              <a:lnSpc>
                <a:spcPct val="100000"/>
              </a:lnSpc>
              <a:spcBef>
                <a:spcPts val="1964"/>
              </a:spcBef>
            </a:pPr>
            <a:r>
              <a:rPr dirty="0" sz="3200" b="1" i="1">
                <a:solidFill>
                  <a:srgbClr val="99FF99"/>
                </a:solidFill>
                <a:latin typeface="Times New Roman"/>
                <a:cs typeface="Times New Roman"/>
              </a:rPr>
              <a:t>δ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β</a:t>
            </a:r>
            <a:r>
              <a:rPr dirty="0" baseline="-24305" sz="2400" b="1">
                <a:solidFill>
                  <a:srgbClr val="FFFF00"/>
                </a:solidFill>
                <a:latin typeface="Times New Roman"/>
                <a:cs typeface="Times New Roman"/>
              </a:rPr>
              <a:t>1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β</a:t>
            </a:r>
            <a:r>
              <a:rPr dirty="0" baseline="-24305" sz="2400" b="1">
                <a:solidFill>
                  <a:srgbClr val="FFFF00"/>
                </a:solidFill>
                <a:latin typeface="Times New Roman"/>
                <a:cs typeface="Times New Roman"/>
              </a:rPr>
              <a:t>2 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|…|</a:t>
            </a:r>
            <a:r>
              <a:rPr dirty="0" sz="3200" spc="15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β</a:t>
            </a:r>
            <a:r>
              <a:rPr dirty="0" baseline="-24305" sz="2400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marL="568325">
              <a:lnSpc>
                <a:spcPct val="100000"/>
              </a:lnSpc>
              <a:spcBef>
                <a:spcPts val="2080"/>
              </a:spcBef>
            </a:pPr>
            <a:r>
              <a:rPr dirty="0" sz="3200" spc="-5" b="1">
                <a:solidFill>
                  <a:srgbClr val="FF0000"/>
                </a:solidFill>
                <a:latin typeface="宋体"/>
                <a:cs typeface="宋体"/>
              </a:rPr>
              <a:t>可以使用下面规则改写文</a:t>
            </a:r>
            <a:r>
              <a:rPr dirty="0" sz="3200" spc="5" b="1">
                <a:solidFill>
                  <a:srgbClr val="FF0000"/>
                </a:solidFill>
                <a:latin typeface="宋体"/>
                <a:cs typeface="宋体"/>
              </a:rPr>
              <a:t>法</a:t>
            </a:r>
            <a:r>
              <a:rPr dirty="0" sz="3200" spc="-15" b="1" i="1">
                <a:solidFill>
                  <a:srgbClr val="FF0000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0000"/>
                </a:solidFill>
                <a:latin typeface="宋体"/>
                <a:cs typeface="宋体"/>
              </a:rPr>
              <a:t>为</a:t>
            </a:r>
            <a:r>
              <a:rPr dirty="0" sz="3200" spc="-5" b="1" i="1">
                <a:solidFill>
                  <a:srgbClr val="FF0000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0000"/>
                </a:solidFill>
                <a:latin typeface="Times New Roman"/>
                <a:cs typeface="Times New Roman"/>
              </a:rPr>
              <a:t>′</a:t>
            </a:r>
            <a:r>
              <a:rPr dirty="0" sz="3200" spc="-5" b="1">
                <a:solidFill>
                  <a:srgbClr val="FF0000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 marL="1889760">
              <a:lnSpc>
                <a:spcPct val="100000"/>
              </a:lnSpc>
              <a:spcBef>
                <a:spcPts val="1115"/>
              </a:spcBef>
              <a:tabLst>
                <a:tab pos="2545080" algn="l"/>
              </a:tabLst>
            </a:pPr>
            <a:r>
              <a:rPr dirty="0" sz="3200" b="1" i="1">
                <a:solidFill>
                  <a:srgbClr val="0E172A"/>
                </a:solidFill>
                <a:latin typeface="Times New Roman"/>
                <a:cs typeface="Times New Roman"/>
              </a:rPr>
              <a:t>A	</a:t>
            </a:r>
            <a:r>
              <a:rPr dirty="0" sz="3200" b="1">
                <a:solidFill>
                  <a:srgbClr val="0E172A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0E172A"/>
                </a:solidFill>
                <a:latin typeface="Times New Roman"/>
                <a:cs typeface="Times New Roman"/>
              </a:rPr>
              <a:t>δA</a:t>
            </a:r>
            <a:r>
              <a:rPr dirty="0" sz="3200" b="1">
                <a:solidFill>
                  <a:srgbClr val="0E172A"/>
                </a:solidFill>
                <a:latin typeface="Times New Roman"/>
                <a:cs typeface="Times New Roman"/>
              </a:rPr>
              <a:t>′</a:t>
            </a:r>
            <a:endParaRPr sz="3200">
              <a:latin typeface="Times New Roman"/>
              <a:cs typeface="Times New Roman"/>
            </a:endParaRPr>
          </a:p>
          <a:p>
            <a:pPr marL="1889760">
              <a:lnSpc>
                <a:spcPct val="100000"/>
              </a:lnSpc>
              <a:spcBef>
                <a:spcPts val="1155"/>
              </a:spcBef>
            </a:pPr>
            <a:r>
              <a:rPr dirty="0" sz="3200" b="1" i="1">
                <a:solidFill>
                  <a:srgbClr val="0E172A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0E172A"/>
                </a:solidFill>
                <a:latin typeface="Times New Roman"/>
                <a:cs typeface="Times New Roman"/>
              </a:rPr>
              <a:t>′→</a:t>
            </a:r>
            <a:r>
              <a:rPr dirty="0" sz="3200" b="1" i="1">
                <a:solidFill>
                  <a:srgbClr val="0E172A"/>
                </a:solidFill>
                <a:latin typeface="Times New Roman"/>
                <a:cs typeface="Times New Roman"/>
              </a:rPr>
              <a:t>β</a:t>
            </a:r>
            <a:r>
              <a:rPr dirty="0" baseline="-25132" sz="3150" b="1">
                <a:solidFill>
                  <a:srgbClr val="0E172A"/>
                </a:solidFill>
                <a:latin typeface="Times New Roman"/>
                <a:cs typeface="Times New Roman"/>
              </a:rPr>
              <a:t>1 </a:t>
            </a:r>
            <a:r>
              <a:rPr dirty="0" sz="3200" b="1">
                <a:solidFill>
                  <a:srgbClr val="0E172A"/>
                </a:solidFill>
                <a:latin typeface="Times New Roman"/>
                <a:cs typeface="Times New Roman"/>
              </a:rPr>
              <a:t>| </a:t>
            </a:r>
            <a:r>
              <a:rPr dirty="0" sz="3200" spc="10" b="1" i="1">
                <a:solidFill>
                  <a:srgbClr val="0E172A"/>
                </a:solidFill>
                <a:latin typeface="Times New Roman"/>
                <a:cs typeface="Times New Roman"/>
              </a:rPr>
              <a:t>β</a:t>
            </a:r>
            <a:r>
              <a:rPr dirty="0" baseline="-25132" sz="3150" spc="15" b="1">
                <a:solidFill>
                  <a:srgbClr val="0E172A"/>
                </a:solidFill>
                <a:latin typeface="Times New Roman"/>
                <a:cs typeface="Times New Roman"/>
              </a:rPr>
              <a:t>2 </a:t>
            </a:r>
            <a:r>
              <a:rPr dirty="0" sz="3200" b="1">
                <a:solidFill>
                  <a:srgbClr val="0E172A"/>
                </a:solidFill>
                <a:latin typeface="Times New Roman"/>
                <a:cs typeface="Times New Roman"/>
              </a:rPr>
              <a:t>|…|</a:t>
            </a:r>
            <a:r>
              <a:rPr dirty="0" sz="3200" spc="465" b="1">
                <a:solidFill>
                  <a:srgbClr val="0E172A"/>
                </a:solidFill>
                <a:latin typeface="Times New Roman"/>
                <a:cs typeface="Times New Roman"/>
              </a:rPr>
              <a:t> </a:t>
            </a:r>
            <a:r>
              <a:rPr dirty="0" sz="3200" spc="10" b="1" i="1">
                <a:solidFill>
                  <a:srgbClr val="0E172A"/>
                </a:solidFill>
                <a:latin typeface="Times New Roman"/>
                <a:cs typeface="Times New Roman"/>
              </a:rPr>
              <a:t>β</a:t>
            </a:r>
            <a:r>
              <a:rPr dirty="0" baseline="-21164" sz="3150" spc="15" b="1" i="1">
                <a:solidFill>
                  <a:srgbClr val="0E172A"/>
                </a:solidFill>
                <a:latin typeface="Times New Roman"/>
                <a:cs typeface="Times New Roman"/>
              </a:rPr>
              <a:t>n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92373" y="3915917"/>
            <a:ext cx="4552315" cy="0"/>
          </a:xfrm>
          <a:custGeom>
            <a:avLst/>
            <a:gdLst/>
            <a:ahLst/>
            <a:cxnLst/>
            <a:rect l="l" t="t" r="r" b="b"/>
            <a:pathLst>
              <a:path w="4552315" h="0">
                <a:moveTo>
                  <a:pt x="0" y="0"/>
                </a:moveTo>
                <a:lnTo>
                  <a:pt x="4552187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79831" y="0"/>
            <a:ext cx="8757920" cy="1885314"/>
          </a:xfrm>
          <a:prstGeom prst="rect">
            <a:avLst/>
          </a:prstGeom>
        </p:spPr>
        <p:txBody>
          <a:bodyPr wrap="square" lIns="0" tIns="1784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05"/>
              </a:spcBef>
              <a:tabLst>
                <a:tab pos="546735" algn="l"/>
                <a:tab pos="18224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4.2</a:t>
            </a:r>
            <a:r>
              <a:rPr dirty="0" sz="2000" spc="47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不确定的自上而下分析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法</a:t>
            </a:r>
            <a:r>
              <a:rPr dirty="0" sz="2000" spc="455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4.2.2</a:t>
            </a:r>
            <a:r>
              <a:rPr dirty="0" u="sng" sz="2000" spc="46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不确定性原因与解决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方法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>
              <a:latin typeface="宋体"/>
              <a:cs typeface="宋体"/>
            </a:endParaRPr>
          </a:p>
          <a:p>
            <a:pPr marL="149225">
              <a:lnSpc>
                <a:spcPct val="100000"/>
              </a:lnSpc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若文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法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为：</a:t>
            </a:r>
            <a:endParaRPr sz="3200">
              <a:latin typeface="宋体"/>
              <a:cs typeface="宋体"/>
            </a:endParaRPr>
          </a:p>
          <a:p>
            <a:pPr marL="657225">
              <a:lnSpc>
                <a:spcPct val="100000"/>
              </a:lnSpc>
              <a:spcBef>
                <a:spcPts val="980"/>
              </a:spcBef>
            </a:pPr>
            <a:r>
              <a:rPr dirty="0" sz="3200" b="1" i="1">
                <a:solidFill>
                  <a:srgbClr val="FFE7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E7FF"/>
                </a:solidFill>
                <a:latin typeface="Times New Roman"/>
                <a:cs typeface="Times New Roman"/>
              </a:rPr>
              <a:t>→ </a:t>
            </a:r>
            <a:r>
              <a:rPr dirty="0" sz="3350" spc="-20" b="1" i="1">
                <a:solidFill>
                  <a:srgbClr val="FFFF00"/>
                </a:solidFill>
                <a:latin typeface="Symbol"/>
                <a:cs typeface="Symbol"/>
              </a:rPr>
              <a:t></a:t>
            </a:r>
            <a:r>
              <a:rPr dirty="0" baseline="-21164" sz="3150" spc="-3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3350" spc="-20" b="1" i="1">
                <a:solidFill>
                  <a:srgbClr val="FFE7FF"/>
                </a:solidFill>
                <a:latin typeface="Symbol"/>
                <a:cs typeface="Symbol"/>
              </a:rPr>
              <a:t></a:t>
            </a:r>
            <a:r>
              <a:rPr dirty="0" baseline="-25132" sz="3150" spc="-30" b="1">
                <a:solidFill>
                  <a:srgbClr val="FFE7FF"/>
                </a:solidFill>
                <a:latin typeface="Times New Roman"/>
                <a:cs typeface="Times New Roman"/>
              </a:rPr>
              <a:t>1</a:t>
            </a:r>
            <a:r>
              <a:rPr dirty="0" sz="3200" spc="-20" b="1">
                <a:solidFill>
                  <a:srgbClr val="FFE7FF"/>
                </a:solidFill>
                <a:latin typeface="Times New Roman"/>
                <a:cs typeface="Times New Roman"/>
              </a:rPr>
              <a:t>| </a:t>
            </a:r>
            <a:r>
              <a:rPr dirty="0" sz="3350" spc="-25" b="1" i="1">
                <a:solidFill>
                  <a:srgbClr val="FFFF00"/>
                </a:solidFill>
                <a:latin typeface="Symbol"/>
                <a:cs typeface="Symbol"/>
              </a:rPr>
              <a:t></a:t>
            </a:r>
            <a:r>
              <a:rPr dirty="0" baseline="-21164" sz="3150" spc="-37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3350" spc="-25" b="1" i="1">
                <a:solidFill>
                  <a:srgbClr val="FFE7FF"/>
                </a:solidFill>
                <a:latin typeface="Symbol"/>
                <a:cs typeface="Symbol"/>
              </a:rPr>
              <a:t></a:t>
            </a:r>
            <a:r>
              <a:rPr dirty="0" baseline="-25132" sz="3150" spc="-37" b="1">
                <a:solidFill>
                  <a:srgbClr val="FFE7FF"/>
                </a:solidFill>
                <a:latin typeface="Times New Roman"/>
                <a:cs typeface="Times New Roman"/>
              </a:rPr>
              <a:t>2 </a:t>
            </a:r>
            <a:r>
              <a:rPr dirty="0" sz="3200" b="1">
                <a:solidFill>
                  <a:srgbClr val="FFE7FF"/>
                </a:solidFill>
                <a:latin typeface="Times New Roman"/>
                <a:cs typeface="Times New Roman"/>
              </a:rPr>
              <a:t>|…| </a:t>
            </a:r>
            <a:r>
              <a:rPr dirty="0" sz="3350" spc="-20" b="1" i="1">
                <a:solidFill>
                  <a:srgbClr val="FFFF00"/>
                </a:solidFill>
                <a:latin typeface="Symbol"/>
                <a:cs typeface="Symbol"/>
              </a:rPr>
              <a:t></a:t>
            </a:r>
            <a:r>
              <a:rPr dirty="0" baseline="-21164" sz="3150" spc="-3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3350" spc="-20" b="1" i="1">
                <a:solidFill>
                  <a:srgbClr val="FFE7FF"/>
                </a:solidFill>
                <a:latin typeface="Symbol"/>
                <a:cs typeface="Symbol"/>
              </a:rPr>
              <a:t></a:t>
            </a:r>
            <a:r>
              <a:rPr dirty="0" baseline="-25132" sz="3150" spc="-30" b="1" i="1">
                <a:solidFill>
                  <a:srgbClr val="FFE7FF"/>
                </a:solidFill>
                <a:latin typeface="Times New Roman"/>
                <a:cs typeface="Times New Roman"/>
              </a:rPr>
              <a:t>n</a:t>
            </a:r>
            <a:r>
              <a:rPr dirty="0" sz="3200" spc="-20" b="1">
                <a:solidFill>
                  <a:srgbClr val="FFE7FF"/>
                </a:solidFill>
                <a:latin typeface="Times New Roman"/>
                <a:cs typeface="Times New Roman"/>
              </a:rPr>
              <a:t>| </a:t>
            </a:r>
            <a:r>
              <a:rPr dirty="0" sz="3350" spc="-30" b="1" i="1">
                <a:solidFill>
                  <a:srgbClr val="66FFFF"/>
                </a:solidFill>
                <a:latin typeface="Symbol"/>
                <a:cs typeface="Symbol"/>
              </a:rPr>
              <a:t></a:t>
            </a:r>
            <a:r>
              <a:rPr dirty="0" baseline="-21164" sz="3150" spc="-44" b="1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r>
              <a:rPr dirty="0" sz="3350" spc="-30" b="1" i="1">
                <a:solidFill>
                  <a:srgbClr val="FFE7FF"/>
                </a:solidFill>
                <a:latin typeface="Symbol"/>
                <a:cs typeface="Symbol"/>
              </a:rPr>
              <a:t></a:t>
            </a:r>
            <a:r>
              <a:rPr dirty="0" baseline="-25132" sz="3150" spc="-44" b="1">
                <a:solidFill>
                  <a:srgbClr val="FFE7FF"/>
                </a:solidFill>
                <a:latin typeface="Times New Roman"/>
                <a:cs typeface="Times New Roman"/>
              </a:rPr>
              <a:t>1 </a:t>
            </a:r>
            <a:r>
              <a:rPr dirty="0" sz="3200" b="1">
                <a:solidFill>
                  <a:srgbClr val="FFE7FF"/>
                </a:solidFill>
                <a:latin typeface="Times New Roman"/>
                <a:cs typeface="Times New Roman"/>
              </a:rPr>
              <a:t>| </a:t>
            </a:r>
            <a:r>
              <a:rPr dirty="0" sz="3350" spc="-50" b="1" i="1">
                <a:solidFill>
                  <a:srgbClr val="66FFFF"/>
                </a:solidFill>
                <a:latin typeface="Symbol"/>
                <a:cs typeface="Symbol"/>
              </a:rPr>
              <a:t></a:t>
            </a:r>
            <a:r>
              <a:rPr dirty="0" baseline="-21164" sz="3150" spc="-75" b="1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r>
              <a:rPr dirty="0" sz="3350" spc="-50" b="1" i="1">
                <a:solidFill>
                  <a:srgbClr val="FFE7FF"/>
                </a:solidFill>
                <a:latin typeface="Symbol"/>
                <a:cs typeface="Symbol"/>
              </a:rPr>
              <a:t></a:t>
            </a:r>
            <a:r>
              <a:rPr dirty="0" sz="3350" spc="-50" b="1" i="1">
                <a:solidFill>
                  <a:srgbClr val="FFE7FF"/>
                </a:solidFill>
                <a:latin typeface="Times New Roman"/>
                <a:cs typeface="Times New Roman"/>
              </a:rPr>
              <a:t> </a:t>
            </a:r>
            <a:r>
              <a:rPr dirty="0" baseline="-25132" sz="3150" spc="7" b="1">
                <a:solidFill>
                  <a:srgbClr val="FFE7FF"/>
                </a:solidFill>
                <a:latin typeface="Times New Roman"/>
                <a:cs typeface="Times New Roman"/>
              </a:rPr>
              <a:t>2</a:t>
            </a:r>
            <a:r>
              <a:rPr dirty="0" sz="3200" spc="5" b="1">
                <a:solidFill>
                  <a:srgbClr val="FFE7FF"/>
                </a:solidFill>
                <a:latin typeface="Times New Roman"/>
                <a:cs typeface="Times New Roman"/>
              </a:rPr>
              <a:t>|…| </a:t>
            </a:r>
            <a:r>
              <a:rPr dirty="0" sz="3350" spc="-50" b="1" i="1">
                <a:solidFill>
                  <a:srgbClr val="66FFFF"/>
                </a:solidFill>
                <a:latin typeface="Symbol"/>
                <a:cs typeface="Symbol"/>
              </a:rPr>
              <a:t></a:t>
            </a:r>
            <a:r>
              <a:rPr dirty="0" baseline="-21164" sz="3150" spc="-75" b="1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r>
              <a:rPr dirty="0" sz="3350" spc="-50" b="1" i="1">
                <a:solidFill>
                  <a:srgbClr val="FFE7FF"/>
                </a:solidFill>
                <a:latin typeface="Symbol"/>
                <a:cs typeface="Symbol"/>
              </a:rPr>
              <a:t></a:t>
            </a:r>
            <a:r>
              <a:rPr dirty="0" sz="3350" spc="-670" b="1" i="1">
                <a:solidFill>
                  <a:srgbClr val="FFE7FF"/>
                </a:solidFill>
                <a:latin typeface="Times New Roman"/>
                <a:cs typeface="Times New Roman"/>
              </a:rPr>
              <a:t> </a:t>
            </a:r>
            <a:r>
              <a:rPr dirty="0" baseline="-25132" sz="3150" spc="37" b="1" i="1">
                <a:solidFill>
                  <a:srgbClr val="FFE7FF"/>
                </a:solidFill>
                <a:latin typeface="Times New Roman"/>
                <a:cs typeface="Times New Roman"/>
              </a:rPr>
              <a:t>m</a:t>
            </a:r>
            <a:endParaRPr baseline="-25132" sz="31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91817" y="1910333"/>
            <a:ext cx="2875915" cy="325120"/>
          </a:xfrm>
          <a:custGeom>
            <a:avLst/>
            <a:gdLst/>
            <a:ahLst/>
            <a:cxnLst/>
            <a:rect l="l" t="t" r="r" b="b"/>
            <a:pathLst>
              <a:path w="2875915" h="325119">
                <a:moveTo>
                  <a:pt x="2875787" y="0"/>
                </a:moveTo>
                <a:lnTo>
                  <a:pt x="2851369" y="71388"/>
                </a:lnTo>
                <a:lnTo>
                  <a:pt x="2823013" y="101523"/>
                </a:lnTo>
                <a:lnTo>
                  <a:pt x="2785817" y="126656"/>
                </a:lnTo>
                <a:lnTo>
                  <a:pt x="2741225" y="145813"/>
                </a:lnTo>
                <a:lnTo>
                  <a:pt x="2690681" y="158020"/>
                </a:lnTo>
                <a:lnTo>
                  <a:pt x="2635631" y="162305"/>
                </a:lnTo>
                <a:lnTo>
                  <a:pt x="1678051" y="162305"/>
                </a:lnTo>
                <a:lnTo>
                  <a:pt x="1623000" y="166591"/>
                </a:lnTo>
                <a:lnTo>
                  <a:pt x="1572456" y="178798"/>
                </a:lnTo>
                <a:lnTo>
                  <a:pt x="1527864" y="197955"/>
                </a:lnTo>
                <a:lnTo>
                  <a:pt x="1490668" y="223088"/>
                </a:lnTo>
                <a:lnTo>
                  <a:pt x="1462312" y="253223"/>
                </a:lnTo>
                <a:lnTo>
                  <a:pt x="1444239" y="287389"/>
                </a:lnTo>
                <a:lnTo>
                  <a:pt x="1437894" y="324612"/>
                </a:lnTo>
                <a:lnTo>
                  <a:pt x="1431548" y="287389"/>
                </a:lnTo>
                <a:lnTo>
                  <a:pt x="1413475" y="253223"/>
                </a:lnTo>
                <a:lnTo>
                  <a:pt x="1385119" y="223088"/>
                </a:lnTo>
                <a:lnTo>
                  <a:pt x="1347923" y="197955"/>
                </a:lnTo>
                <a:lnTo>
                  <a:pt x="1303331" y="178798"/>
                </a:lnTo>
                <a:lnTo>
                  <a:pt x="1252787" y="166591"/>
                </a:lnTo>
                <a:lnTo>
                  <a:pt x="1197737" y="162305"/>
                </a:lnTo>
                <a:lnTo>
                  <a:pt x="240156" y="162305"/>
                </a:lnTo>
                <a:lnTo>
                  <a:pt x="185106" y="158020"/>
                </a:lnTo>
                <a:lnTo>
                  <a:pt x="134562" y="145813"/>
                </a:lnTo>
                <a:lnTo>
                  <a:pt x="89970" y="126656"/>
                </a:lnTo>
                <a:lnTo>
                  <a:pt x="52774" y="101523"/>
                </a:lnTo>
                <a:lnTo>
                  <a:pt x="24418" y="71388"/>
                </a:lnTo>
                <a:lnTo>
                  <a:pt x="6345" y="37222"/>
                </a:lnTo>
                <a:lnTo>
                  <a:pt x="0" y="0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969002" y="1968245"/>
            <a:ext cx="3214370" cy="323215"/>
          </a:xfrm>
          <a:custGeom>
            <a:avLst/>
            <a:gdLst/>
            <a:ahLst/>
            <a:cxnLst/>
            <a:rect l="l" t="t" r="r" b="b"/>
            <a:pathLst>
              <a:path w="3214370" h="323214">
                <a:moveTo>
                  <a:pt x="3214116" y="0"/>
                </a:moveTo>
                <a:lnTo>
                  <a:pt x="3186984" y="71070"/>
                </a:lnTo>
                <a:lnTo>
                  <a:pt x="3155473" y="101063"/>
                </a:lnTo>
                <a:lnTo>
                  <a:pt x="3114133" y="126074"/>
                </a:lnTo>
                <a:lnTo>
                  <a:pt x="3064567" y="145135"/>
                </a:lnTo>
                <a:lnTo>
                  <a:pt x="3008376" y="157280"/>
                </a:lnTo>
                <a:lnTo>
                  <a:pt x="2947162" y="161543"/>
                </a:lnTo>
                <a:lnTo>
                  <a:pt x="1874012" y="161543"/>
                </a:lnTo>
                <a:lnTo>
                  <a:pt x="1812798" y="165807"/>
                </a:lnTo>
                <a:lnTo>
                  <a:pt x="1756606" y="177952"/>
                </a:lnTo>
                <a:lnTo>
                  <a:pt x="1707040" y="197013"/>
                </a:lnTo>
                <a:lnTo>
                  <a:pt x="1665700" y="222024"/>
                </a:lnTo>
                <a:lnTo>
                  <a:pt x="1634189" y="252017"/>
                </a:lnTo>
                <a:lnTo>
                  <a:pt x="1614107" y="286027"/>
                </a:lnTo>
                <a:lnTo>
                  <a:pt x="1607057" y="323088"/>
                </a:lnTo>
                <a:lnTo>
                  <a:pt x="1600008" y="286027"/>
                </a:lnTo>
                <a:lnTo>
                  <a:pt x="1579926" y="252017"/>
                </a:lnTo>
                <a:lnTo>
                  <a:pt x="1548415" y="222024"/>
                </a:lnTo>
                <a:lnTo>
                  <a:pt x="1507075" y="197013"/>
                </a:lnTo>
                <a:lnTo>
                  <a:pt x="1457509" y="177952"/>
                </a:lnTo>
                <a:lnTo>
                  <a:pt x="1401318" y="165807"/>
                </a:lnTo>
                <a:lnTo>
                  <a:pt x="1340103" y="161543"/>
                </a:lnTo>
                <a:lnTo>
                  <a:pt x="266953" y="161543"/>
                </a:lnTo>
                <a:lnTo>
                  <a:pt x="205739" y="157280"/>
                </a:lnTo>
                <a:lnTo>
                  <a:pt x="149548" y="145135"/>
                </a:lnTo>
                <a:lnTo>
                  <a:pt x="99982" y="126074"/>
                </a:lnTo>
                <a:lnTo>
                  <a:pt x="58642" y="101063"/>
                </a:lnTo>
                <a:lnTo>
                  <a:pt x="27131" y="71070"/>
                </a:lnTo>
                <a:lnTo>
                  <a:pt x="7049" y="37060"/>
                </a:lnTo>
                <a:lnTo>
                  <a:pt x="0" y="0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549019" y="2186650"/>
            <a:ext cx="2858135" cy="540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2684145" algn="l"/>
              </a:tabLst>
            </a:pPr>
            <a:r>
              <a:rPr dirty="0" sz="3350" spc="-15" b="1" i="1">
                <a:solidFill>
                  <a:srgbClr val="FFFF00"/>
                </a:solidFill>
                <a:latin typeface="Symbol"/>
                <a:cs typeface="Symbol"/>
              </a:rPr>
              <a:t></a:t>
            </a:r>
            <a:r>
              <a:rPr dirty="0" baseline="-21164" sz="3150" spc="-22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( </a:t>
            </a:r>
            <a:r>
              <a:rPr dirty="0" sz="3350" spc="-20" b="1" i="1">
                <a:solidFill>
                  <a:srgbClr val="FFE7FF"/>
                </a:solidFill>
                <a:latin typeface="Symbol"/>
                <a:cs typeface="Symbol"/>
              </a:rPr>
              <a:t></a:t>
            </a:r>
            <a:r>
              <a:rPr dirty="0" baseline="-25132" sz="3150" spc="-30" b="1">
                <a:solidFill>
                  <a:srgbClr val="FFE7FF"/>
                </a:solidFill>
                <a:latin typeface="Times New Roman"/>
                <a:cs typeface="Times New Roman"/>
              </a:rPr>
              <a:t>1</a:t>
            </a:r>
            <a:r>
              <a:rPr dirty="0" sz="3200" spc="-20" b="1">
                <a:solidFill>
                  <a:srgbClr val="FFE7FF"/>
                </a:solidFill>
                <a:latin typeface="Times New Roman"/>
                <a:cs typeface="Times New Roman"/>
              </a:rPr>
              <a:t>|</a:t>
            </a:r>
            <a:r>
              <a:rPr dirty="0" sz="3200" spc="-30" b="1">
                <a:solidFill>
                  <a:srgbClr val="FFE7FF"/>
                </a:solidFill>
                <a:latin typeface="Times New Roman"/>
                <a:cs typeface="Times New Roman"/>
              </a:rPr>
              <a:t> </a:t>
            </a:r>
            <a:r>
              <a:rPr dirty="0" sz="3350" spc="-25" b="1" i="1">
                <a:solidFill>
                  <a:srgbClr val="FFE7FF"/>
                </a:solidFill>
                <a:latin typeface="Symbol"/>
                <a:cs typeface="Symbol"/>
              </a:rPr>
              <a:t></a:t>
            </a:r>
            <a:r>
              <a:rPr dirty="0" baseline="-25132" sz="3150" spc="-37" b="1">
                <a:solidFill>
                  <a:srgbClr val="FFE7FF"/>
                </a:solidFill>
                <a:latin typeface="Times New Roman"/>
                <a:cs typeface="Times New Roman"/>
              </a:rPr>
              <a:t>2</a:t>
            </a:r>
            <a:r>
              <a:rPr dirty="0" baseline="-25132" sz="3150" spc="7" b="1">
                <a:solidFill>
                  <a:srgbClr val="FFE7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E7FF"/>
                </a:solidFill>
                <a:latin typeface="Times New Roman"/>
                <a:cs typeface="Times New Roman"/>
              </a:rPr>
              <a:t>|…|</a:t>
            </a:r>
            <a:r>
              <a:rPr dirty="0" sz="3350" spc="-10" b="1" i="1">
                <a:solidFill>
                  <a:srgbClr val="FFE7FF"/>
                </a:solidFill>
                <a:latin typeface="Symbol"/>
                <a:cs typeface="Symbol"/>
              </a:rPr>
              <a:t></a:t>
            </a:r>
            <a:r>
              <a:rPr dirty="0" baseline="-25132" sz="3150" spc="-15" b="1" i="1">
                <a:solidFill>
                  <a:srgbClr val="FFE7FF"/>
                </a:solidFill>
                <a:latin typeface="Times New Roman"/>
                <a:cs typeface="Times New Roman"/>
              </a:rPr>
              <a:t>n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10917" y="2873501"/>
            <a:ext cx="2418715" cy="0"/>
          </a:xfrm>
          <a:custGeom>
            <a:avLst/>
            <a:gdLst/>
            <a:ahLst/>
            <a:cxnLst/>
            <a:rect l="l" t="t" r="r" b="b"/>
            <a:pathLst>
              <a:path w="2418715" h="0">
                <a:moveTo>
                  <a:pt x="0" y="0"/>
                </a:moveTo>
                <a:lnTo>
                  <a:pt x="2418587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24891" y="2574899"/>
            <a:ext cx="5876290" cy="3422015"/>
          </a:xfrm>
          <a:prstGeom prst="rect">
            <a:avLst/>
          </a:prstGeom>
        </p:spPr>
        <p:txBody>
          <a:bodyPr wrap="square" lIns="0" tIns="271145" rIns="0" bIns="0" rtlCol="0" vert="horz">
            <a:spAutoFit/>
          </a:bodyPr>
          <a:lstStyle/>
          <a:p>
            <a:pPr algn="ctr" marR="718820">
              <a:lnSpc>
                <a:spcPct val="100000"/>
              </a:lnSpc>
              <a:spcBef>
                <a:spcPts val="2135"/>
              </a:spcBef>
            </a:pP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′</a:t>
            </a:r>
            <a:endParaRPr sz="3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03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使用下面规则改写文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法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为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3200" spc="-8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'</a:t>
            </a:r>
            <a:r>
              <a:rPr dirty="0" sz="3200" spc="-3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 marL="2171700">
              <a:lnSpc>
                <a:spcPct val="100000"/>
              </a:lnSpc>
              <a:spcBef>
                <a:spcPts val="112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δ</a:t>
            </a:r>
            <a:r>
              <a:rPr dirty="0" baseline="-25132" sz="315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'</a:t>
            </a:r>
            <a:r>
              <a:rPr dirty="0" sz="3200" spc="-204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δ</a:t>
            </a:r>
            <a:r>
              <a:rPr dirty="0" baseline="-25132" sz="315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"</a:t>
            </a:r>
            <a:endParaRPr sz="3200">
              <a:latin typeface="Times New Roman"/>
              <a:cs typeface="Times New Roman"/>
            </a:endParaRPr>
          </a:p>
          <a:p>
            <a:pPr marL="2171700" marR="459105">
              <a:lnSpc>
                <a:spcPct val="126400"/>
              </a:lnSpc>
              <a:spcBef>
                <a:spcPts val="135"/>
              </a:spcBef>
            </a:pP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'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β</a:t>
            </a:r>
            <a:r>
              <a:rPr dirty="0" baseline="-25132" sz="315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β</a:t>
            </a:r>
            <a:r>
              <a:rPr dirty="0" baseline="-25132" sz="315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|…|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β</a:t>
            </a:r>
            <a:r>
              <a:rPr dirty="0" baseline="-25132" sz="3150" b="1" i="1">
                <a:solidFill>
                  <a:srgbClr val="FFFFFF"/>
                </a:solidFill>
                <a:latin typeface="Times New Roman"/>
                <a:cs typeface="Times New Roman"/>
              </a:rPr>
              <a:t>n  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"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3350" spc="-25" b="1" i="1">
                <a:solidFill>
                  <a:srgbClr val="FFE7FF"/>
                </a:solidFill>
                <a:latin typeface="Symbol"/>
                <a:cs typeface="Symbol"/>
              </a:rPr>
              <a:t></a:t>
            </a:r>
            <a:r>
              <a:rPr dirty="0" baseline="-25132" sz="3150" spc="-3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spc="-25" b="1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sz="3350" spc="-15" b="1" i="1">
                <a:solidFill>
                  <a:srgbClr val="FFE7FF"/>
                </a:solidFill>
                <a:latin typeface="Symbol"/>
                <a:cs typeface="Symbol"/>
              </a:rPr>
              <a:t></a:t>
            </a:r>
            <a:r>
              <a:rPr dirty="0" baseline="-25132" sz="3150" spc="-22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|…|</a:t>
            </a:r>
            <a:r>
              <a:rPr dirty="0" sz="3200" spc="-10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50" spc="-30" b="1" i="1">
                <a:solidFill>
                  <a:srgbClr val="FFE7FF"/>
                </a:solidFill>
                <a:latin typeface="Symbol"/>
                <a:cs typeface="Symbol"/>
              </a:rPr>
              <a:t></a:t>
            </a:r>
            <a:r>
              <a:rPr dirty="0" baseline="-25132" sz="3150" spc="-44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endParaRPr baseline="-25132" sz="31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23103" y="2167152"/>
            <a:ext cx="3136900" cy="541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3350" spc="-20" b="1" i="1">
                <a:solidFill>
                  <a:srgbClr val="66FFFF"/>
                </a:solidFill>
                <a:latin typeface="Symbol"/>
                <a:cs typeface="Symbol"/>
              </a:rPr>
              <a:t></a:t>
            </a:r>
            <a:r>
              <a:rPr dirty="0" baseline="-21164" sz="3150" spc="-30" b="1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r>
              <a:rPr dirty="0" sz="3200" spc="-20" b="1">
                <a:solidFill>
                  <a:srgbClr val="FFFFFF"/>
                </a:solidFill>
                <a:latin typeface="Times New Roman"/>
                <a:cs typeface="Times New Roman"/>
              </a:rPr>
              <a:t>( </a:t>
            </a:r>
            <a:r>
              <a:rPr dirty="0" sz="3350" spc="-35" b="1" i="1">
                <a:solidFill>
                  <a:srgbClr val="FFE7FF"/>
                </a:solidFill>
                <a:latin typeface="Symbol"/>
                <a:cs typeface="Symbol"/>
              </a:rPr>
              <a:t></a:t>
            </a:r>
            <a:r>
              <a:rPr dirty="0" baseline="-25132" sz="3150" spc="-52" b="1">
                <a:solidFill>
                  <a:srgbClr val="FFE7FF"/>
                </a:solidFill>
                <a:latin typeface="Times New Roman"/>
                <a:cs typeface="Times New Roman"/>
              </a:rPr>
              <a:t>1 </a:t>
            </a:r>
            <a:r>
              <a:rPr dirty="0" sz="3200" b="1">
                <a:solidFill>
                  <a:srgbClr val="FFE7FF"/>
                </a:solidFill>
                <a:latin typeface="Times New Roman"/>
                <a:cs typeface="Times New Roman"/>
              </a:rPr>
              <a:t>| </a:t>
            </a:r>
            <a:r>
              <a:rPr dirty="0" sz="3350" spc="-95" b="1" i="1">
                <a:solidFill>
                  <a:srgbClr val="FFE7FF"/>
                </a:solidFill>
                <a:latin typeface="Symbol"/>
                <a:cs typeface="Symbol"/>
              </a:rPr>
              <a:t></a:t>
            </a:r>
            <a:r>
              <a:rPr dirty="0" sz="3350" spc="-95" b="1" i="1">
                <a:solidFill>
                  <a:srgbClr val="FFE7FF"/>
                </a:solidFill>
                <a:latin typeface="Times New Roman"/>
                <a:cs typeface="Times New Roman"/>
              </a:rPr>
              <a:t> </a:t>
            </a:r>
            <a:r>
              <a:rPr dirty="0" baseline="-25132" sz="3150" b="1">
                <a:solidFill>
                  <a:srgbClr val="FFE7FF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E7FF"/>
                </a:solidFill>
                <a:latin typeface="Times New Roman"/>
                <a:cs typeface="Times New Roman"/>
              </a:rPr>
              <a:t>|…| </a:t>
            </a:r>
            <a:r>
              <a:rPr dirty="0" sz="3350" spc="-40" i="1">
                <a:solidFill>
                  <a:srgbClr val="FFE7FF"/>
                </a:solidFill>
                <a:latin typeface="Symbol"/>
                <a:cs typeface="Symbol"/>
              </a:rPr>
              <a:t></a:t>
            </a:r>
            <a:r>
              <a:rPr dirty="0" baseline="-25132" sz="3150" spc="-60" i="1">
                <a:solidFill>
                  <a:srgbClr val="FFE7FF"/>
                </a:solidFill>
                <a:latin typeface="Times New Roman"/>
                <a:cs typeface="Times New Roman"/>
              </a:rPr>
              <a:t>m</a:t>
            </a:r>
            <a:r>
              <a:rPr dirty="0" baseline="-25132" sz="3150" spc="30" i="1">
                <a:solidFill>
                  <a:srgbClr val="FFE7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572505" y="2841498"/>
            <a:ext cx="2420620" cy="0"/>
          </a:xfrm>
          <a:custGeom>
            <a:avLst/>
            <a:gdLst/>
            <a:ahLst/>
            <a:cxnLst/>
            <a:rect l="l" t="t" r="r" b="b"/>
            <a:pathLst>
              <a:path w="2420620" h="0">
                <a:moveTo>
                  <a:pt x="0" y="0"/>
                </a:moveTo>
                <a:lnTo>
                  <a:pt x="2420112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356730" y="2799714"/>
            <a:ext cx="52260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"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87655" rIns="0" bIns="0" rtlCol="0" vert="horz">
            <a:spAutoFit/>
          </a:bodyPr>
          <a:lstStyle/>
          <a:p>
            <a:pPr lvl="1" marL="1626235" indent="-1031875">
              <a:lnSpc>
                <a:spcPct val="100000"/>
              </a:lnSpc>
              <a:spcBef>
                <a:spcPts val="2265"/>
              </a:spcBef>
              <a:buFont typeface="Times New Roman"/>
              <a:buAutoNum type="arabicPeriod"/>
              <a:tabLst>
                <a:tab pos="1626235" algn="l"/>
                <a:tab pos="1626870" algn="l"/>
              </a:tabLst>
            </a:pPr>
            <a:r>
              <a:rPr dirty="0" sz="3600" spc="-5" b="1">
                <a:solidFill>
                  <a:srgbClr val="FFFF66"/>
                </a:solidFill>
                <a:latin typeface="宋体"/>
                <a:cs typeface="宋体"/>
              </a:rPr>
              <a:t>语法分析综述</a:t>
            </a:r>
            <a:endParaRPr sz="3600">
              <a:latin typeface="宋体"/>
              <a:cs typeface="宋体"/>
            </a:endParaRPr>
          </a:p>
          <a:p>
            <a:pPr lvl="1" marL="1626235" indent="-1031875">
              <a:lnSpc>
                <a:spcPct val="100000"/>
              </a:lnSpc>
              <a:spcBef>
                <a:spcPts val="2160"/>
              </a:spcBef>
              <a:buFont typeface="Times New Roman"/>
              <a:buAutoNum type="arabicPeriod"/>
              <a:tabLst>
                <a:tab pos="1626235" algn="l"/>
                <a:tab pos="1626870" algn="l"/>
              </a:tabLst>
            </a:pPr>
            <a:r>
              <a:rPr dirty="0" sz="3600" spc="-5" b="1">
                <a:solidFill>
                  <a:srgbClr val="FFFF66"/>
                </a:solidFill>
                <a:latin typeface="宋体"/>
                <a:cs typeface="宋体"/>
              </a:rPr>
              <a:t>不确定的自上而下分析法</a:t>
            </a:r>
            <a:endParaRPr sz="3600">
              <a:latin typeface="宋体"/>
              <a:cs typeface="宋体"/>
            </a:endParaRPr>
          </a:p>
          <a:p>
            <a:pPr lvl="1" marL="1626235" indent="-1031875">
              <a:lnSpc>
                <a:spcPct val="100000"/>
              </a:lnSpc>
              <a:spcBef>
                <a:spcPts val="2165"/>
              </a:spcBef>
              <a:buClr>
                <a:srgbClr val="FFFF00"/>
              </a:buClr>
              <a:buFont typeface="Times New Roman"/>
              <a:buAutoNum type="arabicPeriod"/>
              <a:tabLst>
                <a:tab pos="1626235" algn="l"/>
                <a:tab pos="1626870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递归下降分析法与递归下降分析器</a:t>
            </a:r>
            <a:endParaRPr sz="3600">
              <a:latin typeface="宋体"/>
              <a:cs typeface="宋体"/>
            </a:endParaRPr>
          </a:p>
          <a:p>
            <a:pPr lvl="1" marL="1626235" indent="-1031875">
              <a:lnSpc>
                <a:spcPct val="100000"/>
              </a:lnSpc>
              <a:spcBef>
                <a:spcPts val="2160"/>
              </a:spcBef>
              <a:buClr>
                <a:srgbClr val="FFFF00"/>
              </a:buClr>
              <a:buAutoNum type="arabicPeriod"/>
              <a:tabLst>
                <a:tab pos="1626235" algn="l"/>
                <a:tab pos="1626870" algn="l"/>
              </a:tabLst>
            </a:pP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LL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(1)分析法</a:t>
            </a:r>
            <a:r>
              <a:rPr dirty="0" sz="3600" b="1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LL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(1)分析器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41910">
              <a:lnSpc>
                <a:spcPts val="5275"/>
              </a:lnSpc>
              <a:spcBef>
                <a:spcPts val="105"/>
              </a:spcBef>
              <a:tabLst>
                <a:tab pos="2281555" algn="l"/>
                <a:tab pos="6634480" algn="l"/>
              </a:tabLst>
            </a:pPr>
            <a:r>
              <a:rPr dirty="0" spc="-15">
                <a:latin typeface="黑体"/>
                <a:cs typeface="黑体"/>
              </a:rPr>
              <a:t>第</a:t>
            </a:r>
            <a:r>
              <a:rPr dirty="0" spc="-1115">
                <a:latin typeface="黑体"/>
                <a:cs typeface="黑体"/>
              </a:rPr>
              <a:t> </a:t>
            </a:r>
            <a:r>
              <a:rPr dirty="0"/>
              <a:t>4</a:t>
            </a:r>
            <a:r>
              <a:rPr dirty="0" spc="-5"/>
              <a:t> </a:t>
            </a:r>
            <a:r>
              <a:rPr dirty="0" spc="-15">
                <a:latin typeface="黑体"/>
                <a:cs typeface="黑体"/>
              </a:rPr>
              <a:t>章</a:t>
            </a:r>
            <a:r>
              <a:rPr dirty="0">
                <a:latin typeface="黑体"/>
                <a:cs typeface="黑体"/>
              </a:rPr>
              <a:t>	</a:t>
            </a:r>
            <a:r>
              <a:rPr dirty="0">
                <a:latin typeface="黑体"/>
                <a:cs typeface="黑体"/>
              </a:rPr>
              <a:t>语法</a:t>
            </a:r>
            <a:r>
              <a:rPr dirty="0" spc="-15">
                <a:latin typeface="黑体"/>
                <a:cs typeface="黑体"/>
              </a:rPr>
              <a:t>分</a:t>
            </a:r>
            <a:r>
              <a:rPr dirty="0" spc="10">
                <a:latin typeface="黑体"/>
                <a:cs typeface="黑体"/>
              </a:rPr>
              <a:t>析</a:t>
            </a:r>
            <a:r>
              <a:rPr dirty="0" spc="-20"/>
              <a:t>(</a:t>
            </a:r>
            <a:r>
              <a:rPr dirty="0"/>
              <a:t>Syntax</a:t>
            </a:r>
            <a:r>
              <a:rPr dirty="0"/>
              <a:t>	</a:t>
            </a:r>
            <a:r>
              <a:rPr dirty="0"/>
              <a:t>Analysis)</a:t>
            </a:r>
          </a:p>
          <a:p>
            <a:pPr marL="4221480">
              <a:lnSpc>
                <a:spcPts val="3595"/>
              </a:lnSpc>
            </a:pPr>
            <a:r>
              <a:rPr dirty="0" sz="3000">
                <a:latin typeface="Arial"/>
                <a:cs typeface="Arial"/>
              </a:rPr>
              <a:t>——</a:t>
            </a:r>
            <a:r>
              <a:rPr dirty="0" sz="3000" spc="40">
                <a:latin typeface="Arial"/>
                <a:cs typeface="Arial"/>
              </a:rPr>
              <a:t> </a:t>
            </a:r>
            <a:r>
              <a:rPr dirty="0" sz="2800" spc="-5">
                <a:latin typeface="宋体"/>
                <a:cs typeface="宋体"/>
              </a:rPr>
              <a:t>自上而下分析法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601973" y="11378"/>
            <a:ext cx="19443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4215" algn="l"/>
              </a:tabLst>
            </a:pPr>
            <a:r>
              <a:rPr dirty="0" sz="2400" spc="-1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h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10" b="1">
                <a:solidFill>
                  <a:srgbClr val="A15100"/>
                </a:solidFill>
                <a:latin typeface="华文新魏"/>
                <a:cs typeface="华文新魏"/>
              </a:rPr>
              <a:t>语法分析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3444" y="4255008"/>
            <a:ext cx="727075" cy="774700"/>
          </a:xfrm>
          <a:custGeom>
            <a:avLst/>
            <a:gdLst/>
            <a:ahLst/>
            <a:cxnLst/>
            <a:rect l="l" t="t" r="r" b="b"/>
            <a:pathLst>
              <a:path w="727075" h="774700">
                <a:moveTo>
                  <a:pt x="545211" y="0"/>
                </a:moveTo>
                <a:lnTo>
                  <a:pt x="545211" y="193548"/>
                </a:lnTo>
                <a:lnTo>
                  <a:pt x="0" y="193548"/>
                </a:lnTo>
                <a:lnTo>
                  <a:pt x="0" y="580644"/>
                </a:lnTo>
                <a:lnTo>
                  <a:pt x="545211" y="580644"/>
                </a:lnTo>
                <a:lnTo>
                  <a:pt x="545211" y="774192"/>
                </a:lnTo>
                <a:lnTo>
                  <a:pt x="726947" y="387096"/>
                </a:lnTo>
                <a:lnTo>
                  <a:pt x="545211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3444" y="4255008"/>
            <a:ext cx="727075" cy="774700"/>
          </a:xfrm>
          <a:custGeom>
            <a:avLst/>
            <a:gdLst/>
            <a:ahLst/>
            <a:cxnLst/>
            <a:rect l="l" t="t" r="r" b="b"/>
            <a:pathLst>
              <a:path w="727075" h="774700">
                <a:moveTo>
                  <a:pt x="726947" y="387096"/>
                </a:moveTo>
                <a:lnTo>
                  <a:pt x="545211" y="0"/>
                </a:lnTo>
                <a:lnTo>
                  <a:pt x="545211" y="193548"/>
                </a:lnTo>
                <a:lnTo>
                  <a:pt x="0" y="193548"/>
                </a:lnTo>
                <a:lnTo>
                  <a:pt x="0" y="580644"/>
                </a:lnTo>
                <a:lnTo>
                  <a:pt x="545211" y="580644"/>
                </a:lnTo>
                <a:lnTo>
                  <a:pt x="545211" y="774192"/>
                </a:lnTo>
                <a:lnTo>
                  <a:pt x="726947" y="387096"/>
                </a:lnTo>
                <a:close/>
              </a:path>
            </a:pathLst>
          </a:custGeom>
          <a:ln w="9525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5440" y="0"/>
            <a:ext cx="8422640" cy="6465570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algn="ctr" marL="154305">
              <a:lnSpc>
                <a:spcPct val="100000"/>
              </a:lnSpc>
              <a:spcBef>
                <a:spcPts val="615"/>
              </a:spcBef>
              <a:tabLst>
                <a:tab pos="663575" algn="l"/>
                <a:tab pos="200342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4.3</a:t>
            </a:r>
            <a:r>
              <a:rPr dirty="0" u="sng" sz="2000" spc="4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递归下降分析法和递归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下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降分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析器</a:t>
            </a:r>
            <a:endParaRPr sz="2000">
              <a:latin typeface="宋体"/>
              <a:cs typeface="宋体"/>
            </a:endParaRPr>
          </a:p>
          <a:p>
            <a:pPr marL="584200" indent="-419734">
              <a:lnSpc>
                <a:spcPct val="100000"/>
              </a:lnSpc>
              <a:spcBef>
                <a:spcPts val="1425"/>
              </a:spcBef>
              <a:buClr>
                <a:srgbClr val="99FF99"/>
              </a:buClr>
              <a:buSzPct val="114062"/>
              <a:buFont typeface="Wingdings"/>
              <a:buChar char=""/>
              <a:tabLst>
                <a:tab pos="584200" algn="l"/>
                <a:tab pos="584835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递归下降分析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器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spc="-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Recursive-Descent</a:t>
            </a:r>
            <a:r>
              <a:rPr dirty="0" sz="3200" spc="-4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Parser</a:t>
            </a:r>
            <a:r>
              <a:rPr dirty="0" sz="3200" spc="-5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marL="165100" marR="140335" indent="711835">
              <a:lnSpc>
                <a:spcPct val="125000"/>
              </a:lnSpc>
              <a:spcBef>
                <a:spcPts val="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由一组递归过程组成，且每个过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程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对应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文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法的 一个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1021" sz="277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-21021" sz="2775" spc="24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的分析程序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将一个非终结符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规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则看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作识别非终结符的一个过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程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469900" indent="-419100">
              <a:lnSpc>
                <a:spcPct val="100000"/>
              </a:lnSpc>
              <a:spcBef>
                <a:spcPts val="1595"/>
              </a:spcBef>
              <a:buClr>
                <a:srgbClr val="99FF99"/>
              </a:buClr>
              <a:buSzPct val="114062"/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递归下降分析器对文法要求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LL(1)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endParaRPr sz="3200">
              <a:latin typeface="宋体"/>
              <a:cs typeface="宋体"/>
            </a:endParaRPr>
          </a:p>
          <a:p>
            <a:pPr marL="508000" indent="-419100">
              <a:lnSpc>
                <a:spcPct val="100000"/>
              </a:lnSpc>
              <a:spcBef>
                <a:spcPts val="2345"/>
              </a:spcBef>
              <a:buClr>
                <a:srgbClr val="99FF99"/>
              </a:buClr>
              <a:buSzPct val="114062"/>
              <a:buFont typeface="Wingdings"/>
              <a:buChar char=""/>
              <a:tabLst>
                <a:tab pos="507365" algn="l"/>
                <a:tab pos="50800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递归下降分析器的基本构造方法</a:t>
            </a:r>
            <a:endParaRPr sz="3200">
              <a:latin typeface="宋体"/>
              <a:cs typeface="宋体"/>
            </a:endParaRPr>
          </a:p>
          <a:p>
            <a:pPr algn="just" marL="88900" marR="156845" indent="819785">
              <a:lnSpc>
                <a:spcPct val="118900"/>
              </a:lnSpc>
              <a:spcBef>
                <a:spcPts val="4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对文法的每个非终结符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，都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根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据其产生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式的各个候选式的结构，为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其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编写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个对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应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子程序（或函数），该子程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完成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相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应的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非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终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结符对应的语法成份的识别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任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务。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56385" y="26923"/>
            <a:ext cx="15589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405378" y="26923"/>
            <a:ext cx="43065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4.3</a:t>
            </a:r>
            <a:r>
              <a:rPr dirty="0" u="sng" sz="2000" spc="42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递归下降分析法和递归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下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降分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3352" y="857833"/>
            <a:ext cx="94424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.9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24330" y="857833"/>
            <a:ext cx="3103245" cy="3214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设有文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5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 marL="620395" marR="715645">
              <a:lnSpc>
                <a:spcPct val="115900"/>
              </a:lnSpc>
              <a:spcBef>
                <a:spcPts val="1790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E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TE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′ 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′→</a:t>
            </a:r>
            <a:r>
              <a:rPr dirty="0" sz="2800" spc="-7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TE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′|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ε 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T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FT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′ 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′→ 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FT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′|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ε 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F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→(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)|</a:t>
            </a:r>
            <a:r>
              <a:rPr dirty="0" sz="2800" spc="-3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5083" y="4587585"/>
            <a:ext cx="7117715" cy="540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文法</a:t>
            </a:r>
            <a:r>
              <a:rPr dirty="0" u="heavy" sz="3200" spc="-40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G</a:t>
            </a:r>
            <a:r>
              <a:rPr dirty="0" u="heavy" sz="3200" spc="-4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heavy" sz="3350" spc="-40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Ｅ</a:t>
            </a:r>
            <a:r>
              <a:rPr dirty="0" u="heavy" sz="3200" spc="-4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u="heavy" sz="32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的递归</a:t>
            </a:r>
            <a:r>
              <a:rPr dirty="0" u="heavy" sz="3200" spc="-1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下</a:t>
            </a:r>
            <a:r>
              <a:rPr dirty="0" u="heavy" sz="32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降语法</a:t>
            </a:r>
            <a:r>
              <a:rPr dirty="0" u="heavy" sz="3200" spc="-1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分</a:t>
            </a:r>
            <a:r>
              <a:rPr dirty="0" u="heavy" sz="32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析程</a:t>
            </a:r>
            <a:r>
              <a:rPr dirty="0" u="heavy" sz="3200" spc="-1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序</a:t>
            </a:r>
            <a:r>
              <a:rPr dirty="0" u="heavy" sz="32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如</a:t>
            </a:r>
            <a:r>
              <a:rPr dirty="0" u="heavy" sz="3200" spc="-1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下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56385" y="26923"/>
            <a:ext cx="15589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05378" y="26923"/>
            <a:ext cx="43065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4.3</a:t>
            </a:r>
            <a:r>
              <a:rPr dirty="0" u="sng" sz="2000" spc="42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递归下降分析法和递归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下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降分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773" y="531113"/>
            <a:ext cx="2178050" cy="1470660"/>
          </a:xfrm>
          <a:prstGeom prst="rect">
            <a:avLst/>
          </a:prstGeom>
          <a:ln w="38100">
            <a:solidFill>
              <a:srgbClr val="99FF99"/>
            </a:solidFill>
          </a:ln>
        </p:spPr>
        <p:txBody>
          <a:bodyPr wrap="square" lIns="0" tIns="137160" rIns="0" bIns="0" rtlCol="0" vert="horz">
            <a:spAutoFit/>
          </a:bodyPr>
          <a:lstStyle/>
          <a:p>
            <a:pPr marL="219710">
              <a:lnSpc>
                <a:spcPct val="100000"/>
              </a:lnSpc>
              <a:spcBef>
                <a:spcPts val="108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E (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398145">
              <a:lnSpc>
                <a:spcPct val="100000"/>
              </a:lnSpc>
              <a:spcBef>
                <a:spcPts val="50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{ T;</a:t>
            </a:r>
            <a:r>
              <a:rPr dirty="0" sz="2800" spc="-7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E′;}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6773" y="2116073"/>
            <a:ext cx="2773680" cy="220218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24765" rIns="0" bIns="0" rtlCol="0" vert="horz">
            <a:spAutoFit/>
          </a:bodyPr>
          <a:lstStyle/>
          <a:p>
            <a:pPr marL="219710">
              <a:lnSpc>
                <a:spcPct val="100000"/>
              </a:lnSpc>
              <a:spcBef>
                <a:spcPts val="195"/>
              </a:spcBef>
            </a:pPr>
            <a:r>
              <a:rPr dirty="0" sz="2800" spc="-5" b="1">
                <a:solidFill>
                  <a:srgbClr val="FF69D7"/>
                </a:solidFill>
                <a:latin typeface="Times New Roman"/>
                <a:cs typeface="Times New Roman"/>
              </a:rPr>
              <a:t>E′(</a:t>
            </a:r>
            <a:r>
              <a:rPr dirty="0" sz="2800" spc="5" b="1">
                <a:solidFill>
                  <a:srgbClr val="FF69D7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69D7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219710">
              <a:lnSpc>
                <a:spcPct val="100000"/>
              </a:lnSpc>
              <a:spcBef>
                <a:spcPts val="505"/>
              </a:spcBef>
            </a:pPr>
            <a:r>
              <a:rPr dirty="0" sz="2800" spc="-5" b="1">
                <a:solidFill>
                  <a:srgbClr val="FF69D7"/>
                </a:solidFill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309880">
              <a:lnSpc>
                <a:spcPct val="100000"/>
              </a:lnSpc>
              <a:spcBef>
                <a:spcPts val="969"/>
              </a:spcBef>
            </a:pPr>
            <a:r>
              <a:rPr dirty="0" sz="2800" spc="-5" b="1">
                <a:solidFill>
                  <a:srgbClr val="FF69D7"/>
                </a:solidFill>
                <a:latin typeface="Times New Roman"/>
                <a:cs typeface="Times New Roman"/>
              </a:rPr>
              <a:t>if</a:t>
            </a:r>
            <a:r>
              <a:rPr dirty="0" sz="2800" spc="-10" b="1">
                <a:solidFill>
                  <a:srgbClr val="FF69D7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69D7"/>
                </a:solidFill>
                <a:latin typeface="Times New Roman"/>
                <a:cs typeface="Times New Roman"/>
              </a:rPr>
              <a:t>(c=‘+’)</a:t>
            </a:r>
            <a:endParaRPr sz="2800">
              <a:latin typeface="Times New Roman"/>
              <a:cs typeface="Times New Roman"/>
            </a:endParaRPr>
          </a:p>
          <a:p>
            <a:pPr marL="131445">
              <a:lnSpc>
                <a:spcPct val="100000"/>
              </a:lnSpc>
              <a:spcBef>
                <a:spcPts val="1150"/>
              </a:spcBef>
            </a:pPr>
            <a:r>
              <a:rPr dirty="0" sz="2800" spc="-5" b="1">
                <a:solidFill>
                  <a:srgbClr val="FF69D7"/>
                </a:solidFill>
                <a:latin typeface="Times New Roman"/>
                <a:cs typeface="Times New Roman"/>
              </a:rPr>
              <a:t>{n++; T; E’</a:t>
            </a:r>
            <a:r>
              <a:rPr dirty="0" sz="2800" spc="-5" b="1">
                <a:solidFill>
                  <a:srgbClr val="FF99CC"/>
                </a:solidFill>
                <a:latin typeface="Times New Roman"/>
                <a:cs typeface="Times New Roman"/>
              </a:rPr>
              <a:t>;</a:t>
            </a:r>
            <a:r>
              <a:rPr dirty="0" sz="2800" spc="-5" b="1">
                <a:solidFill>
                  <a:srgbClr val="FF69D7"/>
                </a:solidFill>
                <a:latin typeface="Times New Roman"/>
                <a:cs typeface="Times New Roman"/>
              </a:rPr>
              <a:t>}</a:t>
            </a:r>
            <a:r>
              <a:rPr dirty="0" sz="2800" spc="-50" b="1">
                <a:solidFill>
                  <a:srgbClr val="FF69D7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69D7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64001" y="601218"/>
            <a:ext cx="4191000" cy="371729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67310" rIns="0" bIns="0" rtlCol="0" vert="horz">
            <a:spAutoFit/>
          </a:bodyPr>
          <a:lstStyle/>
          <a:p>
            <a:pPr marL="212725">
              <a:lnSpc>
                <a:spcPct val="100000"/>
              </a:lnSpc>
              <a:spcBef>
                <a:spcPts val="530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F (</a:t>
            </a:r>
            <a:r>
              <a:rPr dirty="0" sz="2800" spc="-9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15570">
              <a:lnSpc>
                <a:spcPct val="100000"/>
              </a:lnSpc>
              <a:spcBef>
                <a:spcPts val="500"/>
              </a:spcBef>
              <a:tabLst>
                <a:tab pos="1826895" algn="l"/>
              </a:tabLst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{</a:t>
            </a:r>
            <a:r>
              <a:rPr dirty="0" sz="2800" spc="-5" b="1">
                <a:solidFill>
                  <a:srgbClr val="FFC8FF"/>
                </a:solidFill>
                <a:latin typeface="Times New Roman"/>
                <a:cs typeface="Times New Roman"/>
              </a:rPr>
              <a:t>if 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(</a:t>
            </a:r>
            <a:r>
              <a:rPr dirty="0" sz="2800" spc="2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c=‘i’</a:t>
            </a:r>
            <a:r>
              <a:rPr dirty="0" sz="2800" spc="-19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)	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n++;</a:t>
            </a:r>
            <a:endParaRPr sz="2800">
              <a:latin typeface="Times New Roman"/>
              <a:cs typeface="Times New Roman"/>
            </a:endParaRPr>
          </a:p>
          <a:p>
            <a:pPr algn="r" marR="1497965">
              <a:lnSpc>
                <a:spcPct val="100000"/>
              </a:lnSpc>
              <a:spcBef>
                <a:spcPts val="505"/>
              </a:spcBef>
              <a:tabLst>
                <a:tab pos="728345" algn="l"/>
              </a:tabLst>
            </a:pPr>
            <a:r>
              <a:rPr dirty="0" sz="2800" spc="-5" b="1">
                <a:solidFill>
                  <a:srgbClr val="FFC8FF"/>
                </a:solidFill>
                <a:latin typeface="Times New Roman"/>
                <a:cs typeface="Times New Roman"/>
              </a:rPr>
              <a:t>else	if 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( c=‘(’</a:t>
            </a:r>
            <a:r>
              <a:rPr dirty="0" sz="2800" spc="-25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algn="r" marR="1490345">
              <a:lnSpc>
                <a:spcPct val="100000"/>
              </a:lnSpc>
              <a:spcBef>
                <a:spcPts val="50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n++;</a:t>
            </a:r>
            <a:r>
              <a:rPr dirty="0" sz="2800" spc="-6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E;</a:t>
            </a:r>
            <a:endParaRPr sz="2800">
              <a:latin typeface="Times New Roman"/>
              <a:cs typeface="Times New Roman"/>
            </a:endParaRPr>
          </a:p>
          <a:p>
            <a:pPr marL="1839595">
              <a:lnSpc>
                <a:spcPct val="100000"/>
              </a:lnSpc>
              <a:spcBef>
                <a:spcPts val="505"/>
              </a:spcBef>
              <a:tabLst>
                <a:tab pos="3340100" algn="l"/>
              </a:tabLst>
            </a:pPr>
            <a:r>
              <a:rPr dirty="0" sz="2800" spc="-5" b="1">
                <a:solidFill>
                  <a:srgbClr val="B1E6CC"/>
                </a:solidFill>
                <a:latin typeface="Times New Roman"/>
                <a:cs typeface="Times New Roman"/>
              </a:rPr>
              <a:t>if</a:t>
            </a:r>
            <a:r>
              <a:rPr dirty="0" sz="2800" spc="5" b="1">
                <a:solidFill>
                  <a:srgbClr val="B1E6CC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(c=‘)’</a:t>
            </a:r>
            <a:r>
              <a:rPr dirty="0" sz="2800" spc="-18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)	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n++;</a:t>
            </a:r>
            <a:endParaRPr sz="2800">
              <a:latin typeface="Times New Roman"/>
              <a:cs typeface="Times New Roman"/>
            </a:endParaRPr>
          </a:p>
          <a:p>
            <a:pPr marL="1801495">
              <a:lnSpc>
                <a:spcPct val="100000"/>
              </a:lnSpc>
              <a:spcBef>
                <a:spcPts val="575"/>
              </a:spcBef>
            </a:pPr>
            <a:r>
              <a:rPr dirty="0" sz="3200" b="1">
                <a:solidFill>
                  <a:srgbClr val="B1E6CC"/>
                </a:solidFill>
                <a:latin typeface="Times New Roman"/>
                <a:cs typeface="Times New Roman"/>
              </a:rPr>
              <a:t>else</a:t>
            </a:r>
            <a:r>
              <a:rPr dirty="0" sz="3200" spc="-35" b="1">
                <a:solidFill>
                  <a:srgbClr val="B1E6CC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66FFFF"/>
                </a:solidFill>
                <a:latin typeface="Times New Roman"/>
                <a:cs typeface="Times New Roman"/>
              </a:rPr>
              <a:t>error</a:t>
            </a:r>
            <a:r>
              <a:rPr dirty="0" sz="3200" spc="-5" b="1">
                <a:solidFill>
                  <a:srgbClr val="66FFFF"/>
                </a:solidFill>
                <a:latin typeface="宋体"/>
                <a:cs typeface="宋体"/>
              </a:rPr>
              <a:t>；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 marL="1247775">
              <a:lnSpc>
                <a:spcPct val="100000"/>
              </a:lnSpc>
              <a:spcBef>
                <a:spcPts val="1070"/>
              </a:spcBef>
            </a:pPr>
            <a:r>
              <a:rPr dirty="0" sz="3200" b="1">
                <a:solidFill>
                  <a:srgbClr val="FFC8FF"/>
                </a:solidFill>
                <a:latin typeface="Times New Roman"/>
                <a:cs typeface="Times New Roman"/>
              </a:rPr>
              <a:t>else</a:t>
            </a:r>
            <a:r>
              <a:rPr dirty="0" sz="3200" spc="-15" b="1">
                <a:solidFill>
                  <a:srgbClr val="FFC8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error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3200" spc="-5" b="1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8195" y="4273770"/>
            <a:ext cx="1471930" cy="1038225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T (</a:t>
            </a:r>
            <a:r>
              <a:rPr dirty="0" sz="2800" spc="-6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96850">
              <a:lnSpc>
                <a:spcPct val="100000"/>
              </a:lnSpc>
              <a:spcBef>
                <a:spcPts val="62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{ F;</a:t>
            </a:r>
            <a:r>
              <a:rPr dirty="0" sz="2800" spc="-12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T’;}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78273" y="4426458"/>
            <a:ext cx="4399915" cy="1455420"/>
          </a:xfrm>
          <a:prstGeom prst="rect">
            <a:avLst/>
          </a:prstGeom>
          <a:ln w="38100">
            <a:solidFill>
              <a:srgbClr val="99FF99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18745">
              <a:lnSpc>
                <a:spcPts val="2885"/>
              </a:lnSpc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T′ (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213360">
              <a:lnSpc>
                <a:spcPct val="100000"/>
              </a:lnSpc>
              <a:spcBef>
                <a:spcPts val="625"/>
              </a:spcBef>
              <a:tabLst>
                <a:tab pos="530225" algn="l"/>
                <a:tab pos="2029460" algn="l"/>
              </a:tabLst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{	if</a:t>
            </a:r>
            <a:r>
              <a:rPr dirty="0" sz="2800" spc="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(c=‘*’)	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{n++;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F; T′</a:t>
            </a:r>
            <a:r>
              <a:rPr dirty="0" sz="2800" spc="-6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;}</a:t>
            </a:r>
            <a:endParaRPr sz="2800">
              <a:latin typeface="Times New Roman"/>
              <a:cs typeface="Times New Roman"/>
            </a:endParaRPr>
          </a:p>
          <a:p>
            <a:pPr marL="196215">
              <a:lnSpc>
                <a:spcPct val="100000"/>
              </a:lnSpc>
              <a:spcBef>
                <a:spcPts val="50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5900" y="5841593"/>
            <a:ext cx="79914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其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—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读单词指针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spc="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—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单词指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针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指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的单词；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898135" y="6606540"/>
            <a:ext cx="589915" cy="251460"/>
          </a:xfrm>
          <a:custGeom>
            <a:avLst/>
            <a:gdLst/>
            <a:ahLst/>
            <a:cxnLst/>
            <a:rect l="l" t="t" r="r" b="b"/>
            <a:pathLst>
              <a:path w="589914" h="251459">
                <a:moveTo>
                  <a:pt x="589788" y="0"/>
                </a:moveTo>
                <a:lnTo>
                  <a:pt x="0" y="0"/>
                </a:lnTo>
                <a:lnTo>
                  <a:pt x="0" y="251457"/>
                </a:lnTo>
                <a:lnTo>
                  <a:pt x="589788" y="251457"/>
                </a:lnTo>
                <a:lnTo>
                  <a:pt x="589788" y="233362"/>
                </a:lnTo>
                <a:lnTo>
                  <a:pt x="194817" y="233362"/>
                </a:lnTo>
                <a:lnTo>
                  <a:pt x="194817" y="33337"/>
                </a:lnTo>
                <a:lnTo>
                  <a:pt x="589788" y="33337"/>
                </a:lnTo>
                <a:lnTo>
                  <a:pt x="589788" y="0"/>
                </a:lnTo>
                <a:close/>
              </a:path>
              <a:path w="589914" h="251459">
                <a:moveTo>
                  <a:pt x="589788" y="33337"/>
                </a:moveTo>
                <a:lnTo>
                  <a:pt x="194817" y="33337"/>
                </a:lnTo>
                <a:lnTo>
                  <a:pt x="394842" y="133349"/>
                </a:lnTo>
                <a:lnTo>
                  <a:pt x="194817" y="233362"/>
                </a:lnTo>
                <a:lnTo>
                  <a:pt x="589788" y="233362"/>
                </a:lnTo>
                <a:lnTo>
                  <a:pt x="589788" y="33337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092953" y="6639877"/>
            <a:ext cx="200025" cy="200025"/>
          </a:xfrm>
          <a:custGeom>
            <a:avLst/>
            <a:gdLst/>
            <a:ahLst/>
            <a:cxnLst/>
            <a:rect l="l" t="t" r="r" b="b"/>
            <a:pathLst>
              <a:path w="200025" h="200025">
                <a:moveTo>
                  <a:pt x="0" y="0"/>
                </a:moveTo>
                <a:lnTo>
                  <a:pt x="0" y="200024"/>
                </a:lnTo>
                <a:lnTo>
                  <a:pt x="200025" y="100012"/>
                </a:lnTo>
                <a:lnTo>
                  <a:pt x="0" y="0"/>
                </a:lnTo>
                <a:close/>
              </a:path>
            </a:pathLst>
          </a:custGeom>
          <a:solidFill>
            <a:srgbClr val="8585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997322" y="6631330"/>
            <a:ext cx="39306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6737"/>
                </a:solidFill>
                <a:latin typeface="Times New Roman"/>
                <a:cs typeface="Times New Roman"/>
                <a:hlinkClick r:id="rId3" action="ppaction://hlinksldjump"/>
              </a:rPr>
              <a:t>OK1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6773" y="4426458"/>
            <a:ext cx="3104515" cy="1125220"/>
          </a:xfrm>
          <a:custGeom>
            <a:avLst/>
            <a:gdLst/>
            <a:ahLst/>
            <a:cxnLst/>
            <a:rect l="l" t="t" r="r" b="b"/>
            <a:pathLst>
              <a:path w="3104515" h="1125220">
                <a:moveTo>
                  <a:pt x="0" y="1124712"/>
                </a:moveTo>
                <a:lnTo>
                  <a:pt x="3104388" y="1124712"/>
                </a:lnTo>
                <a:lnTo>
                  <a:pt x="3104388" y="0"/>
                </a:lnTo>
                <a:lnTo>
                  <a:pt x="0" y="0"/>
                </a:lnTo>
                <a:lnTo>
                  <a:pt x="0" y="112471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077456" y="6606540"/>
            <a:ext cx="466725" cy="251460"/>
          </a:xfrm>
          <a:custGeom>
            <a:avLst/>
            <a:gdLst/>
            <a:ahLst/>
            <a:cxnLst/>
            <a:rect l="l" t="t" r="r" b="b"/>
            <a:pathLst>
              <a:path w="466725" h="251459">
                <a:moveTo>
                  <a:pt x="466344" y="0"/>
                </a:moveTo>
                <a:lnTo>
                  <a:pt x="0" y="0"/>
                </a:lnTo>
                <a:lnTo>
                  <a:pt x="0" y="251457"/>
                </a:lnTo>
                <a:lnTo>
                  <a:pt x="466344" y="251457"/>
                </a:lnTo>
                <a:lnTo>
                  <a:pt x="466344" y="233362"/>
                </a:lnTo>
                <a:lnTo>
                  <a:pt x="133096" y="233362"/>
                </a:lnTo>
                <a:lnTo>
                  <a:pt x="133096" y="33337"/>
                </a:lnTo>
                <a:lnTo>
                  <a:pt x="466344" y="33337"/>
                </a:lnTo>
                <a:lnTo>
                  <a:pt x="466344" y="0"/>
                </a:lnTo>
                <a:close/>
              </a:path>
              <a:path w="466725" h="251459">
                <a:moveTo>
                  <a:pt x="466344" y="33337"/>
                </a:moveTo>
                <a:lnTo>
                  <a:pt x="133096" y="33337"/>
                </a:lnTo>
                <a:lnTo>
                  <a:pt x="333121" y="133349"/>
                </a:lnTo>
                <a:lnTo>
                  <a:pt x="133096" y="233362"/>
                </a:lnTo>
                <a:lnTo>
                  <a:pt x="466344" y="233362"/>
                </a:lnTo>
                <a:lnTo>
                  <a:pt x="466344" y="33337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210552" y="6639877"/>
            <a:ext cx="200025" cy="200025"/>
          </a:xfrm>
          <a:custGeom>
            <a:avLst/>
            <a:gdLst/>
            <a:ahLst/>
            <a:cxnLst/>
            <a:rect l="l" t="t" r="r" b="b"/>
            <a:pathLst>
              <a:path w="200025" h="200025">
                <a:moveTo>
                  <a:pt x="0" y="0"/>
                </a:moveTo>
                <a:lnTo>
                  <a:pt x="0" y="200024"/>
                </a:lnTo>
                <a:lnTo>
                  <a:pt x="200025" y="100012"/>
                </a:lnTo>
                <a:lnTo>
                  <a:pt x="0" y="0"/>
                </a:lnTo>
                <a:close/>
              </a:path>
            </a:pathLst>
          </a:custGeom>
          <a:solidFill>
            <a:srgbClr val="8585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121143" y="6631330"/>
            <a:ext cx="3816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FF6737"/>
                </a:solidFill>
                <a:latin typeface="Times New Roman"/>
                <a:cs typeface="Times New Roman"/>
                <a:hlinkClick r:id="rId4" action="ppaction://hlinksldjump"/>
              </a:rPr>
              <a:t>N</a:t>
            </a:r>
            <a:r>
              <a:rPr dirty="0" sz="1400" b="1">
                <a:solidFill>
                  <a:srgbClr val="FF6737"/>
                </a:solidFill>
                <a:latin typeface="Times New Roman"/>
                <a:cs typeface="Times New Roman"/>
                <a:hlinkClick r:id="rId4" action="ppaction://hlinksldjump"/>
              </a:rPr>
              <a:t>O1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353300" y="2632710"/>
            <a:ext cx="1790700" cy="0"/>
          </a:xfrm>
          <a:custGeom>
            <a:avLst/>
            <a:gdLst/>
            <a:ahLst/>
            <a:cxnLst/>
            <a:rect l="l" t="t" r="r" b="b"/>
            <a:pathLst>
              <a:path w="1790700" h="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359650" y="575309"/>
            <a:ext cx="0" cy="2051050"/>
          </a:xfrm>
          <a:custGeom>
            <a:avLst/>
            <a:gdLst/>
            <a:ahLst/>
            <a:cxnLst/>
            <a:rect l="l" t="t" r="r" b="b"/>
            <a:pathLst>
              <a:path w="0" h="2051050">
                <a:moveTo>
                  <a:pt x="0" y="0"/>
                </a:moveTo>
                <a:lnTo>
                  <a:pt x="0" y="205105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353300" y="568959"/>
            <a:ext cx="1790700" cy="0"/>
          </a:xfrm>
          <a:custGeom>
            <a:avLst/>
            <a:gdLst/>
            <a:ahLst/>
            <a:cxnLst/>
            <a:rect l="l" t="t" r="r" b="b"/>
            <a:pathLst>
              <a:path w="1790700" h="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9137650" y="575055"/>
            <a:ext cx="0" cy="2052320"/>
          </a:xfrm>
          <a:custGeom>
            <a:avLst/>
            <a:gdLst/>
            <a:ahLst/>
            <a:cxnLst/>
            <a:rect l="l" t="t" r="r" b="b"/>
            <a:pathLst>
              <a:path w="0" h="2052320">
                <a:moveTo>
                  <a:pt x="0" y="0"/>
                </a:moveTo>
                <a:lnTo>
                  <a:pt x="0" y="2051812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378700" y="2600960"/>
            <a:ext cx="1739900" cy="0"/>
          </a:xfrm>
          <a:custGeom>
            <a:avLst/>
            <a:gdLst/>
            <a:ahLst/>
            <a:cxnLst/>
            <a:rect l="l" t="t" r="r" b="b"/>
            <a:pathLst>
              <a:path w="1739900" h="0">
                <a:moveTo>
                  <a:pt x="0" y="0"/>
                </a:moveTo>
                <a:lnTo>
                  <a:pt x="1739900" y="0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391400" y="613409"/>
            <a:ext cx="0" cy="1974850"/>
          </a:xfrm>
          <a:custGeom>
            <a:avLst/>
            <a:gdLst/>
            <a:ahLst/>
            <a:cxnLst/>
            <a:rect l="l" t="t" r="r" b="b"/>
            <a:pathLst>
              <a:path w="0" h="1974850">
                <a:moveTo>
                  <a:pt x="0" y="0"/>
                </a:moveTo>
                <a:lnTo>
                  <a:pt x="0" y="1974850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378700" y="600709"/>
            <a:ext cx="1739900" cy="0"/>
          </a:xfrm>
          <a:custGeom>
            <a:avLst/>
            <a:gdLst/>
            <a:ahLst/>
            <a:cxnLst/>
            <a:rect l="l" t="t" r="r" b="b"/>
            <a:pathLst>
              <a:path w="1739900" h="0">
                <a:moveTo>
                  <a:pt x="0" y="0"/>
                </a:moveTo>
                <a:lnTo>
                  <a:pt x="1739900" y="0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9105900" y="613155"/>
            <a:ext cx="0" cy="1976120"/>
          </a:xfrm>
          <a:custGeom>
            <a:avLst/>
            <a:gdLst/>
            <a:ahLst/>
            <a:cxnLst/>
            <a:rect l="l" t="t" r="r" b="b"/>
            <a:pathLst>
              <a:path w="0" h="1976120">
                <a:moveTo>
                  <a:pt x="0" y="0"/>
                </a:moveTo>
                <a:lnTo>
                  <a:pt x="0" y="1975612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416800" y="2569210"/>
            <a:ext cx="1663700" cy="0"/>
          </a:xfrm>
          <a:custGeom>
            <a:avLst/>
            <a:gdLst/>
            <a:ahLst/>
            <a:cxnLst/>
            <a:rect l="l" t="t" r="r" b="b"/>
            <a:pathLst>
              <a:path w="1663700" h="0">
                <a:moveTo>
                  <a:pt x="0" y="0"/>
                </a:moveTo>
                <a:lnTo>
                  <a:pt x="1663700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423150" y="638809"/>
            <a:ext cx="0" cy="1924050"/>
          </a:xfrm>
          <a:custGeom>
            <a:avLst/>
            <a:gdLst/>
            <a:ahLst/>
            <a:cxnLst/>
            <a:rect l="l" t="t" r="r" b="b"/>
            <a:pathLst>
              <a:path w="0" h="1924050">
                <a:moveTo>
                  <a:pt x="0" y="0"/>
                </a:moveTo>
                <a:lnTo>
                  <a:pt x="0" y="192405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416800" y="632459"/>
            <a:ext cx="1663700" cy="0"/>
          </a:xfrm>
          <a:custGeom>
            <a:avLst/>
            <a:gdLst/>
            <a:ahLst/>
            <a:cxnLst/>
            <a:rect l="l" t="t" r="r" b="b"/>
            <a:pathLst>
              <a:path w="1663700" h="0">
                <a:moveTo>
                  <a:pt x="0" y="0"/>
                </a:moveTo>
                <a:lnTo>
                  <a:pt x="1663700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9074150" y="638555"/>
            <a:ext cx="0" cy="1925320"/>
          </a:xfrm>
          <a:custGeom>
            <a:avLst/>
            <a:gdLst/>
            <a:ahLst/>
            <a:cxnLst/>
            <a:rect l="l" t="t" r="r" b="b"/>
            <a:pathLst>
              <a:path w="0" h="1925320">
                <a:moveTo>
                  <a:pt x="0" y="0"/>
                </a:moveTo>
                <a:lnTo>
                  <a:pt x="0" y="1924812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7404100" y="511309"/>
            <a:ext cx="1689100" cy="2005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9375" marR="339725">
              <a:lnSpc>
                <a:spcPct val="129900"/>
              </a:lnSpc>
              <a:spcBef>
                <a:spcPts val="95"/>
              </a:spcBef>
            </a:pP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E→TE</a:t>
            </a:r>
            <a:r>
              <a:rPr dirty="0" sz="2000" spc="-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000" spc="-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→+TE</a:t>
            </a:r>
            <a:r>
              <a:rPr dirty="0" sz="2000" spc="-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|ε 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T→FT</a:t>
            </a:r>
            <a:r>
              <a:rPr dirty="0" sz="20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0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→*FT</a:t>
            </a:r>
            <a:r>
              <a:rPr dirty="0" sz="20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25" b="1">
                <a:solidFill>
                  <a:srgbClr val="FFFFFF"/>
                </a:solidFill>
                <a:latin typeface="Times New Roman"/>
                <a:cs typeface="Times New Roman"/>
              </a:rPr>
              <a:t>|ε 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F→( 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E)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0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868923" y="6579107"/>
            <a:ext cx="591820" cy="266700"/>
          </a:xfrm>
          <a:custGeom>
            <a:avLst/>
            <a:gdLst/>
            <a:ahLst/>
            <a:cxnLst/>
            <a:rect l="l" t="t" r="r" b="b"/>
            <a:pathLst>
              <a:path w="591820" h="266700">
                <a:moveTo>
                  <a:pt x="591312" y="0"/>
                </a:moveTo>
                <a:lnTo>
                  <a:pt x="0" y="0"/>
                </a:lnTo>
                <a:lnTo>
                  <a:pt x="0" y="266699"/>
                </a:lnTo>
                <a:lnTo>
                  <a:pt x="591312" y="266699"/>
                </a:lnTo>
                <a:lnTo>
                  <a:pt x="591312" y="233362"/>
                </a:lnTo>
                <a:lnTo>
                  <a:pt x="195579" y="233362"/>
                </a:lnTo>
                <a:lnTo>
                  <a:pt x="195579" y="33337"/>
                </a:lnTo>
                <a:lnTo>
                  <a:pt x="591312" y="33337"/>
                </a:lnTo>
                <a:lnTo>
                  <a:pt x="591312" y="0"/>
                </a:lnTo>
                <a:close/>
              </a:path>
              <a:path w="591820" h="266700">
                <a:moveTo>
                  <a:pt x="591312" y="33337"/>
                </a:moveTo>
                <a:lnTo>
                  <a:pt x="195579" y="33337"/>
                </a:lnTo>
                <a:lnTo>
                  <a:pt x="395604" y="133350"/>
                </a:lnTo>
                <a:lnTo>
                  <a:pt x="195579" y="233362"/>
                </a:lnTo>
                <a:lnTo>
                  <a:pt x="591312" y="233362"/>
                </a:lnTo>
                <a:lnTo>
                  <a:pt x="591312" y="33337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064503" y="6612445"/>
            <a:ext cx="200025" cy="200025"/>
          </a:xfrm>
          <a:custGeom>
            <a:avLst/>
            <a:gdLst/>
            <a:ahLst/>
            <a:cxnLst/>
            <a:rect l="l" t="t" r="r" b="b"/>
            <a:pathLst>
              <a:path w="200025" h="200025">
                <a:moveTo>
                  <a:pt x="0" y="0"/>
                </a:moveTo>
                <a:lnTo>
                  <a:pt x="0" y="200025"/>
                </a:lnTo>
                <a:lnTo>
                  <a:pt x="200025" y="100012"/>
                </a:lnTo>
                <a:lnTo>
                  <a:pt x="0" y="0"/>
                </a:lnTo>
                <a:close/>
              </a:path>
            </a:pathLst>
          </a:custGeom>
          <a:solidFill>
            <a:srgbClr val="8585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5969000" y="6602679"/>
            <a:ext cx="39306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6737"/>
                </a:solidFill>
                <a:latin typeface="Times New Roman"/>
                <a:cs typeface="Times New Roman"/>
                <a:hlinkClick r:id="rId5" action="ppaction://hlinksldjump"/>
              </a:rPr>
              <a:t>OK2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760207" y="6606540"/>
            <a:ext cx="466725" cy="251460"/>
          </a:xfrm>
          <a:custGeom>
            <a:avLst/>
            <a:gdLst/>
            <a:ahLst/>
            <a:cxnLst/>
            <a:rect l="l" t="t" r="r" b="b"/>
            <a:pathLst>
              <a:path w="466725" h="251459">
                <a:moveTo>
                  <a:pt x="466344" y="0"/>
                </a:moveTo>
                <a:lnTo>
                  <a:pt x="0" y="0"/>
                </a:lnTo>
                <a:lnTo>
                  <a:pt x="0" y="251457"/>
                </a:lnTo>
                <a:lnTo>
                  <a:pt x="466344" y="251457"/>
                </a:lnTo>
                <a:lnTo>
                  <a:pt x="466344" y="233362"/>
                </a:lnTo>
                <a:lnTo>
                  <a:pt x="133096" y="233362"/>
                </a:lnTo>
                <a:lnTo>
                  <a:pt x="133096" y="33337"/>
                </a:lnTo>
                <a:lnTo>
                  <a:pt x="466344" y="33337"/>
                </a:lnTo>
                <a:lnTo>
                  <a:pt x="466344" y="0"/>
                </a:lnTo>
                <a:close/>
              </a:path>
              <a:path w="466725" h="251459">
                <a:moveTo>
                  <a:pt x="466344" y="33337"/>
                </a:moveTo>
                <a:lnTo>
                  <a:pt x="133096" y="33337"/>
                </a:lnTo>
                <a:lnTo>
                  <a:pt x="333121" y="133349"/>
                </a:lnTo>
                <a:lnTo>
                  <a:pt x="133096" y="233362"/>
                </a:lnTo>
                <a:lnTo>
                  <a:pt x="466344" y="233362"/>
                </a:lnTo>
                <a:lnTo>
                  <a:pt x="466344" y="33337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893304" y="6639877"/>
            <a:ext cx="200025" cy="200025"/>
          </a:xfrm>
          <a:custGeom>
            <a:avLst/>
            <a:gdLst/>
            <a:ahLst/>
            <a:cxnLst/>
            <a:rect l="l" t="t" r="r" b="b"/>
            <a:pathLst>
              <a:path w="200025" h="200025">
                <a:moveTo>
                  <a:pt x="0" y="0"/>
                </a:moveTo>
                <a:lnTo>
                  <a:pt x="0" y="200024"/>
                </a:lnTo>
                <a:lnTo>
                  <a:pt x="200025" y="100012"/>
                </a:lnTo>
                <a:lnTo>
                  <a:pt x="0" y="0"/>
                </a:lnTo>
                <a:close/>
              </a:path>
            </a:pathLst>
          </a:custGeom>
          <a:solidFill>
            <a:srgbClr val="8585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7778495" y="6678574"/>
            <a:ext cx="11957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3888" sz="2100" spc="-7" b="1">
                <a:solidFill>
                  <a:srgbClr val="FF6737"/>
                </a:solidFill>
                <a:latin typeface="Times New Roman"/>
                <a:cs typeface="Times New Roman"/>
                <a:hlinkClick r:id="rId6" action="ppaction://hlinksldjump"/>
              </a:rPr>
              <a:t>NO2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51</a:t>
            </a:r>
            <a:r>
              <a:rPr dirty="0" sz="1400" spc="3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49274" y="627126"/>
            <a:ext cx="1135380" cy="425450"/>
          </a:xfrm>
          <a:prstGeom prst="rect">
            <a:avLst/>
          </a:prstGeom>
          <a:ln w="38100">
            <a:solidFill>
              <a:srgbClr val="FFCC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3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主程序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56385" y="26923"/>
            <a:ext cx="15589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05378" y="26923"/>
            <a:ext cx="43065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4.3</a:t>
            </a:r>
            <a:r>
              <a:rPr dirty="0" u="sng" sz="2000" spc="42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递归下降分析法和递归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下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降分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7840" y="744727"/>
            <a:ext cx="281876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60223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33CC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84803" y="2649473"/>
            <a:ext cx="114300" cy="329565"/>
          </a:xfrm>
          <a:custGeom>
            <a:avLst/>
            <a:gdLst/>
            <a:ahLst/>
            <a:cxnLst/>
            <a:rect l="l" t="t" r="r" b="b"/>
            <a:pathLst>
              <a:path w="114300" h="329564">
                <a:moveTo>
                  <a:pt x="38100" y="214884"/>
                </a:moveTo>
                <a:lnTo>
                  <a:pt x="0" y="214884"/>
                </a:lnTo>
                <a:lnTo>
                  <a:pt x="57150" y="329184"/>
                </a:lnTo>
                <a:lnTo>
                  <a:pt x="104775" y="233934"/>
                </a:lnTo>
                <a:lnTo>
                  <a:pt x="38100" y="233934"/>
                </a:lnTo>
                <a:lnTo>
                  <a:pt x="38100" y="214884"/>
                </a:lnTo>
                <a:close/>
              </a:path>
              <a:path w="114300" h="329564">
                <a:moveTo>
                  <a:pt x="76200" y="0"/>
                </a:moveTo>
                <a:lnTo>
                  <a:pt x="38100" y="0"/>
                </a:lnTo>
                <a:lnTo>
                  <a:pt x="38100" y="233934"/>
                </a:lnTo>
                <a:lnTo>
                  <a:pt x="76200" y="233934"/>
                </a:lnTo>
                <a:lnTo>
                  <a:pt x="76200" y="0"/>
                </a:lnTo>
                <a:close/>
              </a:path>
              <a:path w="114300" h="329564">
                <a:moveTo>
                  <a:pt x="114300" y="214884"/>
                </a:moveTo>
                <a:lnTo>
                  <a:pt x="76200" y="214884"/>
                </a:lnTo>
                <a:lnTo>
                  <a:pt x="76200" y="233934"/>
                </a:lnTo>
                <a:lnTo>
                  <a:pt x="104775" y="233934"/>
                </a:lnTo>
                <a:lnTo>
                  <a:pt x="114300" y="214884"/>
                </a:lnTo>
                <a:close/>
              </a:path>
            </a:pathLst>
          </a:custGeom>
          <a:solidFill>
            <a:srgbClr val="FF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251453" y="2978657"/>
            <a:ext cx="2674620" cy="523240"/>
          </a:xfrm>
          <a:prstGeom prst="rect">
            <a:avLst/>
          </a:prstGeom>
          <a:ln w="38100">
            <a:solidFill>
              <a:srgbClr val="00FF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3620"/>
              </a:lnSpc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匹配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71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pop</a:t>
            </a:r>
            <a:r>
              <a:rPr dirty="0" sz="32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94154" y="3601973"/>
            <a:ext cx="1925320" cy="0"/>
          </a:xfrm>
          <a:custGeom>
            <a:avLst/>
            <a:gdLst/>
            <a:ahLst/>
            <a:cxnLst/>
            <a:rect l="l" t="t" r="r" b="b"/>
            <a:pathLst>
              <a:path w="1925320" h="0">
                <a:moveTo>
                  <a:pt x="0" y="0"/>
                </a:moveTo>
                <a:lnTo>
                  <a:pt x="1924811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994154" y="4077461"/>
            <a:ext cx="1925320" cy="0"/>
          </a:xfrm>
          <a:custGeom>
            <a:avLst/>
            <a:gdLst/>
            <a:ahLst/>
            <a:cxnLst/>
            <a:rect l="l" t="t" r="r" b="b"/>
            <a:pathLst>
              <a:path w="1925320" h="0">
                <a:moveTo>
                  <a:pt x="0" y="0"/>
                </a:moveTo>
                <a:lnTo>
                  <a:pt x="1924811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994154" y="3601973"/>
            <a:ext cx="533400" cy="47561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29539">
              <a:lnSpc>
                <a:spcPts val="3415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E'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27554" y="3601973"/>
            <a:ext cx="591820" cy="47561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74295">
              <a:lnSpc>
                <a:spcPts val="3415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3200" spc="-1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'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27554" y="3601973"/>
            <a:ext cx="0" cy="475615"/>
          </a:xfrm>
          <a:custGeom>
            <a:avLst/>
            <a:gdLst/>
            <a:ahLst/>
            <a:cxnLst/>
            <a:rect l="l" t="t" r="r" b="b"/>
            <a:pathLst>
              <a:path w="0" h="475614">
                <a:moveTo>
                  <a:pt x="0" y="0"/>
                </a:moveTo>
                <a:lnTo>
                  <a:pt x="0" y="47548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118866" y="3582161"/>
            <a:ext cx="0" cy="477520"/>
          </a:xfrm>
          <a:custGeom>
            <a:avLst/>
            <a:gdLst/>
            <a:ahLst/>
            <a:cxnLst/>
            <a:rect l="l" t="t" r="r" b="b"/>
            <a:pathLst>
              <a:path w="0" h="477520">
                <a:moveTo>
                  <a:pt x="0" y="0"/>
                </a:moveTo>
                <a:lnTo>
                  <a:pt x="0" y="47701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004305" y="4269994"/>
            <a:ext cx="120586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9330" algn="l"/>
              </a:tabLst>
            </a:pP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66FFFF"/>
                </a:solidFill>
                <a:latin typeface="Times New Roman"/>
                <a:cs typeface="Times New Roman"/>
              </a:rPr>
              <a:t>+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33CC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596883" y="626363"/>
            <a:ext cx="513715" cy="287020"/>
          </a:xfrm>
          <a:custGeom>
            <a:avLst/>
            <a:gdLst/>
            <a:ahLst/>
            <a:cxnLst/>
            <a:rect l="l" t="t" r="r" b="b"/>
            <a:pathLst>
              <a:path w="513715" h="287019">
                <a:moveTo>
                  <a:pt x="513588" y="0"/>
                </a:moveTo>
                <a:lnTo>
                  <a:pt x="0" y="0"/>
                </a:lnTo>
                <a:lnTo>
                  <a:pt x="0" y="286512"/>
                </a:lnTo>
                <a:lnTo>
                  <a:pt x="513588" y="286512"/>
                </a:lnTo>
                <a:lnTo>
                  <a:pt x="513588" y="250698"/>
                </a:lnTo>
                <a:lnTo>
                  <a:pt x="364236" y="250698"/>
                </a:lnTo>
                <a:lnTo>
                  <a:pt x="149351" y="143256"/>
                </a:lnTo>
                <a:lnTo>
                  <a:pt x="364236" y="35813"/>
                </a:lnTo>
                <a:lnTo>
                  <a:pt x="513588" y="35813"/>
                </a:lnTo>
                <a:lnTo>
                  <a:pt x="513588" y="0"/>
                </a:lnTo>
                <a:close/>
              </a:path>
              <a:path w="513715" h="287019">
                <a:moveTo>
                  <a:pt x="513588" y="35813"/>
                </a:moveTo>
                <a:lnTo>
                  <a:pt x="364236" y="35813"/>
                </a:lnTo>
                <a:lnTo>
                  <a:pt x="364236" y="250698"/>
                </a:lnTo>
                <a:lnTo>
                  <a:pt x="513588" y="250698"/>
                </a:lnTo>
                <a:lnTo>
                  <a:pt x="513588" y="35813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746235" y="662177"/>
            <a:ext cx="215265" cy="215265"/>
          </a:xfrm>
          <a:custGeom>
            <a:avLst/>
            <a:gdLst/>
            <a:ahLst/>
            <a:cxnLst/>
            <a:rect l="l" t="t" r="r" b="b"/>
            <a:pathLst>
              <a:path w="215265" h="215265">
                <a:moveTo>
                  <a:pt x="214884" y="0"/>
                </a:moveTo>
                <a:lnTo>
                  <a:pt x="0" y="107442"/>
                </a:lnTo>
                <a:lnTo>
                  <a:pt x="214884" y="214884"/>
                </a:lnTo>
                <a:lnTo>
                  <a:pt x="214884" y="0"/>
                </a:lnTo>
                <a:close/>
              </a:path>
            </a:pathLst>
          </a:custGeom>
          <a:solidFill>
            <a:srgbClr val="8585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663431" y="660907"/>
            <a:ext cx="38544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5" b="1">
                <a:solidFill>
                  <a:srgbClr val="FF6737"/>
                </a:solidFill>
                <a:latin typeface="宋体"/>
                <a:cs typeface="宋体"/>
                <a:hlinkClick r:id="rId3" action="ppaction://hlinksldjump"/>
              </a:rPr>
              <a:t>查看</a:t>
            </a:r>
            <a:endParaRPr sz="1400">
              <a:latin typeface="宋体"/>
              <a:cs typeface="宋体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2001011" y="1429511"/>
          <a:ext cx="1543050" cy="515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/>
                <a:gridCol w="457200"/>
                <a:gridCol w="495300"/>
              </a:tblGrid>
              <a:tr h="477012">
                <a:tc>
                  <a:txBody>
                    <a:bodyPr/>
                    <a:lstStyle/>
                    <a:p>
                      <a:pPr marL="90805">
                        <a:lnSpc>
                          <a:spcPts val="361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361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6042405" y="1311351"/>
            <a:ext cx="120650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89330" algn="l"/>
              </a:tabLst>
            </a:pPr>
            <a:r>
              <a:rPr dirty="0" sz="3200" spc="-5" b="1" i="1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33CC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36142" y="1464309"/>
            <a:ext cx="93091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sta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775204" y="4039361"/>
            <a:ext cx="114300" cy="287020"/>
          </a:xfrm>
          <a:custGeom>
            <a:avLst/>
            <a:gdLst/>
            <a:ahLst/>
            <a:cxnLst/>
            <a:rect l="l" t="t" r="r" b="b"/>
            <a:pathLst>
              <a:path w="114300" h="287020">
                <a:moveTo>
                  <a:pt x="38100" y="172212"/>
                </a:moveTo>
                <a:lnTo>
                  <a:pt x="0" y="172212"/>
                </a:lnTo>
                <a:lnTo>
                  <a:pt x="57150" y="286512"/>
                </a:lnTo>
                <a:lnTo>
                  <a:pt x="104775" y="191262"/>
                </a:lnTo>
                <a:lnTo>
                  <a:pt x="38100" y="191262"/>
                </a:lnTo>
                <a:lnTo>
                  <a:pt x="38100" y="172212"/>
                </a:lnTo>
                <a:close/>
              </a:path>
              <a:path w="114300" h="287020">
                <a:moveTo>
                  <a:pt x="76200" y="0"/>
                </a:moveTo>
                <a:lnTo>
                  <a:pt x="38100" y="0"/>
                </a:lnTo>
                <a:lnTo>
                  <a:pt x="38100" y="191262"/>
                </a:lnTo>
                <a:lnTo>
                  <a:pt x="76200" y="191262"/>
                </a:lnTo>
                <a:lnTo>
                  <a:pt x="76200" y="0"/>
                </a:lnTo>
                <a:close/>
              </a:path>
              <a:path w="114300" h="287020">
                <a:moveTo>
                  <a:pt x="114300" y="172212"/>
                </a:moveTo>
                <a:lnTo>
                  <a:pt x="76200" y="172212"/>
                </a:lnTo>
                <a:lnTo>
                  <a:pt x="76200" y="191262"/>
                </a:lnTo>
                <a:lnTo>
                  <a:pt x="104775" y="191262"/>
                </a:lnTo>
                <a:lnTo>
                  <a:pt x="114300" y="172212"/>
                </a:lnTo>
                <a:close/>
              </a:path>
            </a:pathLst>
          </a:custGeom>
          <a:solidFill>
            <a:srgbClr val="FF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503170" y="4312158"/>
            <a:ext cx="1416050" cy="523240"/>
          </a:xfrm>
          <a:prstGeom prst="rect">
            <a:avLst/>
          </a:prstGeom>
          <a:ln w="38100">
            <a:solidFill>
              <a:srgbClr val="66FF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0170">
              <a:lnSpc>
                <a:spcPts val="3625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pop</a:t>
            </a:r>
            <a:r>
              <a:rPr dirty="0" sz="3200" spc="-10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T'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154173" y="4984241"/>
            <a:ext cx="1923414" cy="0"/>
          </a:xfrm>
          <a:custGeom>
            <a:avLst/>
            <a:gdLst/>
            <a:ahLst/>
            <a:cxnLst/>
            <a:rect l="l" t="t" r="r" b="b"/>
            <a:pathLst>
              <a:path w="1923414" h="0">
                <a:moveTo>
                  <a:pt x="0" y="0"/>
                </a:moveTo>
                <a:lnTo>
                  <a:pt x="1923288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154173" y="5459729"/>
            <a:ext cx="1923414" cy="0"/>
          </a:xfrm>
          <a:custGeom>
            <a:avLst/>
            <a:gdLst/>
            <a:ahLst/>
            <a:cxnLst/>
            <a:rect l="l" t="t" r="r" b="b"/>
            <a:pathLst>
              <a:path w="1923414" h="0">
                <a:moveTo>
                  <a:pt x="0" y="0"/>
                </a:moveTo>
                <a:lnTo>
                  <a:pt x="1923288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2154173" y="4984241"/>
            <a:ext cx="533400" cy="47561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28270">
              <a:lnSpc>
                <a:spcPts val="3420"/>
              </a:lnSpc>
            </a:pP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E'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56766" y="5752338"/>
            <a:ext cx="1885314" cy="767080"/>
          </a:xfrm>
          <a:prstGeom prst="rect">
            <a:avLst/>
          </a:prstGeom>
          <a:ln w="38100">
            <a:solidFill>
              <a:srgbClr val="00FF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415"/>
              </a:lnSpc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匹配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+,pop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ts val="3304"/>
              </a:lnSpc>
            </a:pP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E',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Push</a:t>
            </a:r>
            <a:r>
              <a:rPr dirty="0" sz="24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'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964173" y="5211317"/>
            <a:ext cx="1999614" cy="489584"/>
          </a:xfrm>
          <a:prstGeom prst="rect">
            <a:avLst/>
          </a:prstGeom>
          <a:ln w="38100">
            <a:solidFill>
              <a:srgbClr val="66FF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0805">
              <a:lnSpc>
                <a:spcPts val="3620"/>
              </a:lnSpc>
              <a:tabLst>
                <a:tab pos="1067435" algn="l"/>
              </a:tabLst>
            </a:pP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dirty="0" sz="3200" spc="-5" b="1" i="1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	</a:t>
            </a:r>
            <a:r>
              <a:rPr dirty="0" sz="3200" b="1">
                <a:solidFill>
                  <a:srgbClr val="FF33CC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414016" y="5447538"/>
            <a:ext cx="114300" cy="285115"/>
          </a:xfrm>
          <a:custGeom>
            <a:avLst/>
            <a:gdLst/>
            <a:ahLst/>
            <a:cxnLst/>
            <a:rect l="l" t="t" r="r" b="b"/>
            <a:pathLst>
              <a:path w="114300" h="285114">
                <a:moveTo>
                  <a:pt x="38100" y="170687"/>
                </a:moveTo>
                <a:lnTo>
                  <a:pt x="0" y="170687"/>
                </a:lnTo>
                <a:lnTo>
                  <a:pt x="57150" y="284988"/>
                </a:lnTo>
                <a:lnTo>
                  <a:pt x="104775" y="189737"/>
                </a:lnTo>
                <a:lnTo>
                  <a:pt x="38100" y="189737"/>
                </a:lnTo>
                <a:lnTo>
                  <a:pt x="38100" y="170687"/>
                </a:lnTo>
                <a:close/>
              </a:path>
              <a:path w="114300" h="285114">
                <a:moveTo>
                  <a:pt x="76200" y="0"/>
                </a:moveTo>
                <a:lnTo>
                  <a:pt x="38100" y="0"/>
                </a:lnTo>
                <a:lnTo>
                  <a:pt x="38100" y="189737"/>
                </a:lnTo>
                <a:lnTo>
                  <a:pt x="76200" y="189737"/>
                </a:lnTo>
                <a:lnTo>
                  <a:pt x="76200" y="0"/>
                </a:lnTo>
                <a:close/>
              </a:path>
              <a:path w="114300" h="285114">
                <a:moveTo>
                  <a:pt x="114300" y="170687"/>
                </a:moveTo>
                <a:lnTo>
                  <a:pt x="76200" y="170687"/>
                </a:lnTo>
                <a:lnTo>
                  <a:pt x="76200" y="189737"/>
                </a:lnTo>
                <a:lnTo>
                  <a:pt x="104775" y="189737"/>
                </a:lnTo>
                <a:lnTo>
                  <a:pt x="114300" y="170687"/>
                </a:lnTo>
                <a:close/>
              </a:path>
            </a:pathLst>
          </a:custGeom>
          <a:solidFill>
            <a:srgbClr val="FF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830195" y="1906651"/>
            <a:ext cx="1958975" cy="291465"/>
          </a:xfrm>
          <a:custGeom>
            <a:avLst/>
            <a:gdLst/>
            <a:ahLst/>
            <a:cxnLst/>
            <a:rect l="l" t="t" r="r" b="b"/>
            <a:pathLst>
              <a:path w="1958975" h="291464">
                <a:moveTo>
                  <a:pt x="1843242" y="253182"/>
                </a:moveTo>
                <a:lnTo>
                  <a:pt x="1838833" y="291084"/>
                </a:lnTo>
                <a:lnTo>
                  <a:pt x="1937258" y="255397"/>
                </a:lnTo>
                <a:lnTo>
                  <a:pt x="1862201" y="255397"/>
                </a:lnTo>
                <a:lnTo>
                  <a:pt x="1843242" y="253182"/>
                </a:lnTo>
                <a:close/>
              </a:path>
              <a:path w="1958975" h="291464">
                <a:moveTo>
                  <a:pt x="1847643" y="215345"/>
                </a:moveTo>
                <a:lnTo>
                  <a:pt x="1843242" y="253182"/>
                </a:lnTo>
                <a:lnTo>
                  <a:pt x="1862201" y="255397"/>
                </a:lnTo>
                <a:lnTo>
                  <a:pt x="1866519" y="217550"/>
                </a:lnTo>
                <a:lnTo>
                  <a:pt x="1847643" y="215345"/>
                </a:lnTo>
                <a:close/>
              </a:path>
              <a:path w="1958975" h="291464">
                <a:moveTo>
                  <a:pt x="1852041" y="177546"/>
                </a:moveTo>
                <a:lnTo>
                  <a:pt x="1847643" y="215345"/>
                </a:lnTo>
                <a:lnTo>
                  <a:pt x="1866519" y="217550"/>
                </a:lnTo>
                <a:lnTo>
                  <a:pt x="1862201" y="255397"/>
                </a:lnTo>
                <a:lnTo>
                  <a:pt x="1937258" y="255397"/>
                </a:lnTo>
                <a:lnTo>
                  <a:pt x="1958975" y="247523"/>
                </a:lnTo>
                <a:lnTo>
                  <a:pt x="1852041" y="177546"/>
                </a:lnTo>
                <a:close/>
              </a:path>
              <a:path w="1958975" h="291464">
                <a:moveTo>
                  <a:pt x="4318" y="0"/>
                </a:moveTo>
                <a:lnTo>
                  <a:pt x="0" y="37846"/>
                </a:lnTo>
                <a:lnTo>
                  <a:pt x="1843242" y="253182"/>
                </a:lnTo>
                <a:lnTo>
                  <a:pt x="1847643" y="215345"/>
                </a:lnTo>
                <a:lnTo>
                  <a:pt x="431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1975104" y="2173223"/>
          <a:ext cx="1982470" cy="513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/>
                <a:gridCol w="591185"/>
                <a:gridCol w="513715"/>
                <a:gridCol w="286385"/>
              </a:tblGrid>
              <a:tr h="475488">
                <a:tc>
                  <a:txBody>
                    <a:bodyPr/>
                    <a:lstStyle/>
                    <a:p>
                      <a:pPr marL="129539">
                        <a:lnSpc>
                          <a:spcPts val="3310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3310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3200" spc="-13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3310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2" name="object 32"/>
          <p:cNvSpPr txBox="1"/>
          <p:nvPr/>
        </p:nvSpPr>
        <p:spPr>
          <a:xfrm>
            <a:off x="4789170" y="1968245"/>
            <a:ext cx="3175000" cy="521334"/>
          </a:xfrm>
          <a:prstGeom prst="rect">
            <a:avLst/>
          </a:prstGeom>
          <a:ln w="38100">
            <a:solidFill>
              <a:srgbClr val="00FF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0805">
              <a:lnSpc>
                <a:spcPts val="3615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pop </a:t>
            </a:r>
            <a:r>
              <a:rPr dirty="0" sz="2800" spc="-40" b="1">
                <a:solidFill>
                  <a:srgbClr val="FFFFFF"/>
                </a:solidFill>
                <a:latin typeface="Times New Roman"/>
                <a:cs typeface="Times New Roman"/>
              </a:rPr>
              <a:t>T,push</a:t>
            </a:r>
            <a:r>
              <a:rPr dirty="0" sz="2800" spc="-9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'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,F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0" y="4815840"/>
            <a:ext cx="1752600" cy="0"/>
          </a:xfrm>
          <a:custGeom>
            <a:avLst/>
            <a:gdLst/>
            <a:ahLst/>
            <a:cxnLst/>
            <a:rect l="l" t="t" r="r" b="b"/>
            <a:pathLst>
              <a:path w="1752600" h="0">
                <a:moveTo>
                  <a:pt x="0" y="0"/>
                </a:moveTo>
                <a:lnTo>
                  <a:pt x="1752600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746250" y="2755900"/>
            <a:ext cx="0" cy="2053589"/>
          </a:xfrm>
          <a:custGeom>
            <a:avLst/>
            <a:gdLst/>
            <a:ahLst/>
            <a:cxnLst/>
            <a:rect l="l" t="t" r="r" b="b"/>
            <a:pathLst>
              <a:path w="0" h="2053589">
                <a:moveTo>
                  <a:pt x="0" y="0"/>
                </a:moveTo>
                <a:lnTo>
                  <a:pt x="0" y="2053589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0" y="2749550"/>
            <a:ext cx="1752600" cy="0"/>
          </a:xfrm>
          <a:custGeom>
            <a:avLst/>
            <a:gdLst/>
            <a:ahLst/>
            <a:cxnLst/>
            <a:rect l="l" t="t" r="r" b="b"/>
            <a:pathLst>
              <a:path w="1752600" h="0">
                <a:moveTo>
                  <a:pt x="0" y="0"/>
                </a:moveTo>
                <a:lnTo>
                  <a:pt x="1752600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0" y="4784090"/>
            <a:ext cx="1727200" cy="0"/>
          </a:xfrm>
          <a:custGeom>
            <a:avLst/>
            <a:gdLst/>
            <a:ahLst/>
            <a:cxnLst/>
            <a:rect l="l" t="t" r="r" b="b"/>
            <a:pathLst>
              <a:path w="1727200" h="0">
                <a:moveTo>
                  <a:pt x="0" y="0"/>
                </a:moveTo>
                <a:lnTo>
                  <a:pt x="1727200" y="0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350" y="2794000"/>
            <a:ext cx="0" cy="1977389"/>
          </a:xfrm>
          <a:custGeom>
            <a:avLst/>
            <a:gdLst/>
            <a:ahLst/>
            <a:cxnLst/>
            <a:rect l="l" t="t" r="r" b="b"/>
            <a:pathLst>
              <a:path w="0" h="1977389">
                <a:moveTo>
                  <a:pt x="0" y="0"/>
                </a:moveTo>
                <a:lnTo>
                  <a:pt x="0" y="1977389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0" y="2781300"/>
            <a:ext cx="1727200" cy="0"/>
          </a:xfrm>
          <a:custGeom>
            <a:avLst/>
            <a:gdLst/>
            <a:ahLst/>
            <a:cxnLst/>
            <a:rect l="l" t="t" r="r" b="b"/>
            <a:pathLst>
              <a:path w="1727200" h="0">
                <a:moveTo>
                  <a:pt x="0" y="0"/>
                </a:moveTo>
                <a:lnTo>
                  <a:pt x="1727200" y="0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714500" y="2794000"/>
            <a:ext cx="0" cy="1977389"/>
          </a:xfrm>
          <a:custGeom>
            <a:avLst/>
            <a:gdLst/>
            <a:ahLst/>
            <a:cxnLst/>
            <a:rect l="l" t="t" r="r" b="b"/>
            <a:pathLst>
              <a:path w="0" h="1977389">
                <a:moveTo>
                  <a:pt x="0" y="0"/>
                </a:moveTo>
                <a:lnTo>
                  <a:pt x="0" y="1977136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5400" y="4752340"/>
            <a:ext cx="1663700" cy="0"/>
          </a:xfrm>
          <a:custGeom>
            <a:avLst/>
            <a:gdLst/>
            <a:ahLst/>
            <a:cxnLst/>
            <a:rect l="l" t="t" r="r" b="b"/>
            <a:pathLst>
              <a:path w="1663700" h="0">
                <a:moveTo>
                  <a:pt x="0" y="0"/>
                </a:moveTo>
                <a:lnTo>
                  <a:pt x="1663700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1750" y="2819400"/>
            <a:ext cx="0" cy="1926589"/>
          </a:xfrm>
          <a:custGeom>
            <a:avLst/>
            <a:gdLst/>
            <a:ahLst/>
            <a:cxnLst/>
            <a:rect l="l" t="t" r="r" b="b"/>
            <a:pathLst>
              <a:path w="0" h="1926589">
                <a:moveTo>
                  <a:pt x="0" y="0"/>
                </a:moveTo>
                <a:lnTo>
                  <a:pt x="0" y="1926589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5400" y="2813050"/>
            <a:ext cx="1663700" cy="0"/>
          </a:xfrm>
          <a:custGeom>
            <a:avLst/>
            <a:gdLst/>
            <a:ahLst/>
            <a:cxnLst/>
            <a:rect l="l" t="t" r="r" b="b"/>
            <a:pathLst>
              <a:path w="1663700" h="0">
                <a:moveTo>
                  <a:pt x="0" y="0"/>
                </a:moveTo>
                <a:lnTo>
                  <a:pt x="1663700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682750" y="2819400"/>
            <a:ext cx="0" cy="1926589"/>
          </a:xfrm>
          <a:custGeom>
            <a:avLst/>
            <a:gdLst/>
            <a:ahLst/>
            <a:cxnLst/>
            <a:rect l="l" t="t" r="r" b="b"/>
            <a:pathLst>
              <a:path w="0" h="1926589">
                <a:moveTo>
                  <a:pt x="0" y="0"/>
                </a:moveTo>
                <a:lnTo>
                  <a:pt x="0" y="1926336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25400" y="2692755"/>
            <a:ext cx="1676400" cy="2005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6040" marR="420370">
              <a:lnSpc>
                <a:spcPct val="130000"/>
              </a:lnSpc>
              <a:spcBef>
                <a:spcPts val="100"/>
              </a:spcBef>
            </a:pP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TE</a:t>
            </a:r>
            <a:r>
              <a:rPr dirty="0" sz="2000" spc="-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000" spc="2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TE</a:t>
            </a:r>
            <a:r>
              <a:rPr dirty="0" sz="2000" spc="2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000" spc="-2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ε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FT</a:t>
            </a:r>
            <a:r>
              <a:rPr dirty="0" sz="2000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endParaRPr sz="2000">
              <a:latin typeface="Symbol"/>
              <a:cs typeface="Symbol"/>
            </a:endParaRPr>
          </a:p>
          <a:p>
            <a:pPr marL="66040" marR="264795">
              <a:lnSpc>
                <a:spcPct val="129500"/>
              </a:lnSpc>
              <a:spcBef>
                <a:spcPts val="10"/>
              </a:spcBef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T </a:t>
            </a:r>
            <a:r>
              <a:rPr dirty="0" sz="2000" spc="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→*</a:t>
            </a:r>
            <a:r>
              <a:rPr dirty="0" sz="2000" spc="5" b="1" i="1">
                <a:solidFill>
                  <a:srgbClr val="FFFFFF"/>
                </a:solidFill>
                <a:latin typeface="Times New Roman"/>
                <a:cs typeface="Times New Roman"/>
              </a:rPr>
              <a:t>FT </a:t>
            </a:r>
            <a:r>
              <a:rPr dirty="0" sz="20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000" spc="-1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1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000" spc="-15" b="1" i="1">
                <a:solidFill>
                  <a:srgbClr val="FFFFFF"/>
                </a:solidFill>
                <a:latin typeface="Times New Roman"/>
                <a:cs typeface="Times New Roman"/>
              </a:rPr>
              <a:t>ε 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→( </a:t>
            </a: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0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graphicFrame>
        <p:nvGraphicFramePr>
          <p:cNvPr id="45" name="object 45"/>
          <p:cNvGraphicFramePr>
            <a:graphicFrameLocks noGrp="1"/>
          </p:cNvGraphicFramePr>
          <p:nvPr/>
        </p:nvGraphicFramePr>
        <p:xfrm>
          <a:off x="3735323" y="5920740"/>
          <a:ext cx="1980564" cy="513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/>
                <a:gridCol w="589915"/>
                <a:gridCol w="800099"/>
              </a:tblGrid>
              <a:tr h="475488">
                <a:tc>
                  <a:txBody>
                    <a:bodyPr/>
                    <a:lstStyle/>
                    <a:p>
                      <a:pPr marL="128270">
                        <a:lnSpc>
                          <a:spcPts val="342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ts val="342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46370" y="2727198"/>
            <a:ext cx="1485900" cy="0"/>
          </a:xfrm>
          <a:custGeom>
            <a:avLst/>
            <a:gdLst/>
            <a:ahLst/>
            <a:cxnLst/>
            <a:rect l="l" t="t" r="r" b="b"/>
            <a:pathLst>
              <a:path w="1485900" h="0">
                <a:moveTo>
                  <a:pt x="0" y="0"/>
                </a:moveTo>
                <a:lnTo>
                  <a:pt x="14859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246370" y="3210305"/>
            <a:ext cx="1485900" cy="0"/>
          </a:xfrm>
          <a:custGeom>
            <a:avLst/>
            <a:gdLst/>
            <a:ahLst/>
            <a:cxnLst/>
            <a:rect l="l" t="t" r="r" b="b"/>
            <a:pathLst>
              <a:path w="1485900" h="0">
                <a:moveTo>
                  <a:pt x="0" y="0"/>
                </a:moveTo>
                <a:lnTo>
                  <a:pt x="14859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246370" y="2734817"/>
            <a:ext cx="0" cy="475615"/>
          </a:xfrm>
          <a:custGeom>
            <a:avLst/>
            <a:gdLst/>
            <a:ahLst/>
            <a:cxnLst/>
            <a:rect l="l" t="t" r="r" b="b"/>
            <a:pathLst>
              <a:path w="0" h="475614">
                <a:moveTo>
                  <a:pt x="0" y="0"/>
                </a:moveTo>
                <a:lnTo>
                  <a:pt x="0" y="47548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79770" y="2734817"/>
            <a:ext cx="0" cy="475615"/>
          </a:xfrm>
          <a:custGeom>
            <a:avLst/>
            <a:gdLst/>
            <a:ahLst/>
            <a:cxnLst/>
            <a:rect l="l" t="t" r="r" b="b"/>
            <a:pathLst>
              <a:path w="0" h="475614">
                <a:moveTo>
                  <a:pt x="0" y="0"/>
                </a:moveTo>
                <a:lnTo>
                  <a:pt x="0" y="47548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382382" y="2701289"/>
            <a:ext cx="120650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89330" algn="l"/>
              </a:tabLst>
            </a:pP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11546" y="3451097"/>
            <a:ext cx="3034665" cy="152400"/>
          </a:xfrm>
          <a:custGeom>
            <a:avLst/>
            <a:gdLst/>
            <a:ahLst/>
            <a:cxnLst/>
            <a:rect l="l" t="t" r="r" b="b"/>
            <a:pathLst>
              <a:path w="3034665" h="152400">
                <a:moveTo>
                  <a:pt x="3034283" y="0"/>
                </a:moveTo>
                <a:lnTo>
                  <a:pt x="2999772" y="38438"/>
                </a:lnTo>
                <a:lnTo>
                  <a:pt x="2960242" y="53863"/>
                </a:lnTo>
                <a:lnTo>
                  <a:pt x="2909071" y="65786"/>
                </a:lnTo>
                <a:lnTo>
                  <a:pt x="2848664" y="73474"/>
                </a:lnTo>
                <a:lnTo>
                  <a:pt x="2781427" y="76200"/>
                </a:lnTo>
                <a:lnTo>
                  <a:pt x="1769999" y="76200"/>
                </a:lnTo>
                <a:lnTo>
                  <a:pt x="1702761" y="78925"/>
                </a:lnTo>
                <a:lnTo>
                  <a:pt x="1642354" y="86613"/>
                </a:lnTo>
                <a:lnTo>
                  <a:pt x="1591183" y="98536"/>
                </a:lnTo>
                <a:lnTo>
                  <a:pt x="1551653" y="113961"/>
                </a:lnTo>
                <a:lnTo>
                  <a:pt x="1517142" y="152400"/>
                </a:lnTo>
                <a:lnTo>
                  <a:pt x="1508113" y="132159"/>
                </a:lnTo>
                <a:lnTo>
                  <a:pt x="1443101" y="98536"/>
                </a:lnTo>
                <a:lnTo>
                  <a:pt x="1391929" y="86613"/>
                </a:lnTo>
                <a:lnTo>
                  <a:pt x="1331522" y="78925"/>
                </a:lnTo>
                <a:lnTo>
                  <a:pt x="1264284" y="76200"/>
                </a:lnTo>
                <a:lnTo>
                  <a:pt x="252856" y="76200"/>
                </a:lnTo>
                <a:lnTo>
                  <a:pt x="185619" y="73474"/>
                </a:lnTo>
                <a:lnTo>
                  <a:pt x="125212" y="65786"/>
                </a:lnTo>
                <a:lnTo>
                  <a:pt x="74040" y="53863"/>
                </a:lnTo>
                <a:lnTo>
                  <a:pt x="34511" y="38438"/>
                </a:lnTo>
                <a:lnTo>
                  <a:pt x="9028" y="20240"/>
                </a:lnTo>
                <a:lnTo>
                  <a:pt x="0" y="0"/>
                </a:lnTo>
              </a:path>
            </a:pathLst>
          </a:custGeom>
          <a:ln w="38100">
            <a:solidFill>
              <a:srgbClr val="FF33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881878" y="3716858"/>
            <a:ext cx="247650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分析完成格局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556385" y="26923"/>
            <a:ext cx="15589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05378" y="26923"/>
            <a:ext cx="43065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4.3</a:t>
            </a:r>
            <a:r>
              <a:rPr dirty="0" u="sng" sz="2000" spc="42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递归下降分析法和递归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下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降分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567928" y="536448"/>
            <a:ext cx="513715" cy="287020"/>
          </a:xfrm>
          <a:custGeom>
            <a:avLst/>
            <a:gdLst/>
            <a:ahLst/>
            <a:cxnLst/>
            <a:rect l="l" t="t" r="r" b="b"/>
            <a:pathLst>
              <a:path w="513715" h="287019">
                <a:moveTo>
                  <a:pt x="513588" y="0"/>
                </a:moveTo>
                <a:lnTo>
                  <a:pt x="0" y="0"/>
                </a:lnTo>
                <a:lnTo>
                  <a:pt x="0" y="286512"/>
                </a:lnTo>
                <a:lnTo>
                  <a:pt x="513588" y="286512"/>
                </a:lnTo>
                <a:lnTo>
                  <a:pt x="513588" y="250698"/>
                </a:lnTo>
                <a:lnTo>
                  <a:pt x="364236" y="250698"/>
                </a:lnTo>
                <a:lnTo>
                  <a:pt x="149351" y="143255"/>
                </a:lnTo>
                <a:lnTo>
                  <a:pt x="364236" y="35813"/>
                </a:lnTo>
                <a:lnTo>
                  <a:pt x="513588" y="35813"/>
                </a:lnTo>
                <a:lnTo>
                  <a:pt x="513588" y="0"/>
                </a:lnTo>
                <a:close/>
              </a:path>
              <a:path w="513715" h="287019">
                <a:moveTo>
                  <a:pt x="513588" y="35813"/>
                </a:moveTo>
                <a:lnTo>
                  <a:pt x="364236" y="35813"/>
                </a:lnTo>
                <a:lnTo>
                  <a:pt x="364236" y="250698"/>
                </a:lnTo>
                <a:lnTo>
                  <a:pt x="513588" y="250698"/>
                </a:lnTo>
                <a:lnTo>
                  <a:pt x="513588" y="35813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717280" y="572262"/>
            <a:ext cx="215265" cy="215265"/>
          </a:xfrm>
          <a:custGeom>
            <a:avLst/>
            <a:gdLst/>
            <a:ahLst/>
            <a:cxnLst/>
            <a:rect l="l" t="t" r="r" b="b"/>
            <a:pathLst>
              <a:path w="215265" h="215265">
                <a:moveTo>
                  <a:pt x="214884" y="0"/>
                </a:moveTo>
                <a:lnTo>
                  <a:pt x="0" y="107441"/>
                </a:lnTo>
                <a:lnTo>
                  <a:pt x="214884" y="214884"/>
                </a:lnTo>
                <a:lnTo>
                  <a:pt x="214884" y="0"/>
                </a:lnTo>
                <a:close/>
              </a:path>
            </a:pathLst>
          </a:custGeom>
          <a:solidFill>
            <a:srgbClr val="8585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634730" y="570357"/>
            <a:ext cx="38544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5" b="1">
                <a:solidFill>
                  <a:srgbClr val="FF6737"/>
                </a:solidFill>
                <a:latin typeface="宋体"/>
                <a:cs typeface="宋体"/>
                <a:hlinkClick r:id="rId3" action="ppaction://hlinksldjump"/>
              </a:rPr>
              <a:t>查看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02558" y="791718"/>
            <a:ext cx="2001520" cy="489584"/>
          </a:xfrm>
          <a:prstGeom prst="rect">
            <a:avLst/>
          </a:prstGeom>
          <a:ln w="38100">
            <a:solidFill>
              <a:srgbClr val="66FF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3610"/>
              </a:lnSpc>
              <a:tabLst>
                <a:tab pos="1068070" algn="l"/>
              </a:tabLst>
            </a:pP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dirty="0" sz="3200" spc="-5" b="1" i="1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	</a:t>
            </a:r>
            <a:r>
              <a:rPr dirty="0" sz="3200" b="1">
                <a:solidFill>
                  <a:srgbClr val="FF33CC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406908" y="545591"/>
          <a:ext cx="1982470" cy="513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/>
                <a:gridCol w="591185"/>
                <a:gridCol w="800100"/>
              </a:tblGrid>
              <a:tr h="475488">
                <a:tc>
                  <a:txBody>
                    <a:bodyPr/>
                    <a:lstStyle/>
                    <a:p>
                      <a:pPr marL="128905">
                        <a:lnSpc>
                          <a:spcPts val="341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ts val="341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470916" y="2176272"/>
          <a:ext cx="1980564" cy="513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/>
                <a:gridCol w="589915"/>
                <a:gridCol w="514984"/>
                <a:gridCol w="285114"/>
              </a:tblGrid>
              <a:tr h="475488">
                <a:tc>
                  <a:txBody>
                    <a:bodyPr/>
                    <a:lstStyle/>
                    <a:p>
                      <a:pPr marL="128270">
                        <a:lnSpc>
                          <a:spcPts val="361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361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3200" spc="-13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ts val="361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553973" y="1244346"/>
            <a:ext cx="1434465" cy="820419"/>
          </a:xfrm>
          <a:custGeom>
            <a:avLst/>
            <a:gdLst/>
            <a:ahLst/>
            <a:cxnLst/>
            <a:rect l="l" t="t" r="r" b="b"/>
            <a:pathLst>
              <a:path w="1434464" h="820419">
                <a:moveTo>
                  <a:pt x="0" y="819912"/>
                </a:moveTo>
                <a:lnTo>
                  <a:pt x="1434083" y="819912"/>
                </a:lnTo>
                <a:lnTo>
                  <a:pt x="1434083" y="0"/>
                </a:lnTo>
                <a:lnTo>
                  <a:pt x="0" y="0"/>
                </a:lnTo>
                <a:lnTo>
                  <a:pt x="0" y="819912"/>
                </a:lnTo>
                <a:close/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39902" y="1060496"/>
            <a:ext cx="1275715" cy="97726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080">
              <a:lnSpc>
                <a:spcPct val="117300"/>
              </a:lnSpc>
              <a:spcBef>
                <a:spcPts val="190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pop </a:t>
            </a:r>
            <a:r>
              <a:rPr dirty="0" sz="2400" spc="-185" b="1">
                <a:solidFill>
                  <a:srgbClr val="FFFFFF"/>
                </a:solidFill>
                <a:latin typeface="Times New Roman"/>
                <a:cs typeface="Times New Roman"/>
              </a:rPr>
              <a:t>T, 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push</a:t>
            </a:r>
            <a:r>
              <a:rPr dirty="0" sz="2400" spc="-1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T',F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245108" y="1027938"/>
            <a:ext cx="114300" cy="285115"/>
          </a:xfrm>
          <a:custGeom>
            <a:avLst/>
            <a:gdLst/>
            <a:ahLst/>
            <a:cxnLst/>
            <a:rect l="l" t="t" r="r" b="b"/>
            <a:pathLst>
              <a:path w="114300" h="285115">
                <a:moveTo>
                  <a:pt x="38100" y="170687"/>
                </a:moveTo>
                <a:lnTo>
                  <a:pt x="0" y="170687"/>
                </a:lnTo>
                <a:lnTo>
                  <a:pt x="57150" y="284988"/>
                </a:lnTo>
                <a:lnTo>
                  <a:pt x="104775" y="189737"/>
                </a:lnTo>
                <a:lnTo>
                  <a:pt x="38100" y="189737"/>
                </a:lnTo>
                <a:lnTo>
                  <a:pt x="38100" y="170687"/>
                </a:lnTo>
                <a:close/>
              </a:path>
              <a:path w="114300" h="285115">
                <a:moveTo>
                  <a:pt x="76200" y="0"/>
                </a:moveTo>
                <a:lnTo>
                  <a:pt x="38100" y="0"/>
                </a:lnTo>
                <a:lnTo>
                  <a:pt x="38100" y="189737"/>
                </a:lnTo>
                <a:lnTo>
                  <a:pt x="76200" y="189737"/>
                </a:lnTo>
                <a:lnTo>
                  <a:pt x="76200" y="0"/>
                </a:lnTo>
                <a:close/>
              </a:path>
              <a:path w="114300" h="285115">
                <a:moveTo>
                  <a:pt x="114300" y="170687"/>
                </a:moveTo>
                <a:lnTo>
                  <a:pt x="76200" y="170687"/>
                </a:lnTo>
                <a:lnTo>
                  <a:pt x="76200" y="189737"/>
                </a:lnTo>
                <a:lnTo>
                  <a:pt x="104775" y="189737"/>
                </a:lnTo>
                <a:lnTo>
                  <a:pt x="114300" y="170687"/>
                </a:lnTo>
                <a:close/>
              </a:path>
            </a:pathLst>
          </a:custGeom>
          <a:solidFill>
            <a:srgbClr val="FF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877060" y="2652141"/>
            <a:ext cx="114300" cy="279400"/>
          </a:xfrm>
          <a:custGeom>
            <a:avLst/>
            <a:gdLst/>
            <a:ahLst/>
            <a:cxnLst/>
            <a:rect l="l" t="t" r="r" b="b"/>
            <a:pathLst>
              <a:path w="114300" h="279400">
                <a:moveTo>
                  <a:pt x="0" y="163703"/>
                </a:moveTo>
                <a:lnTo>
                  <a:pt x="54609" y="279273"/>
                </a:lnTo>
                <a:lnTo>
                  <a:pt x="104709" y="184404"/>
                </a:lnTo>
                <a:lnTo>
                  <a:pt x="75691" y="184404"/>
                </a:lnTo>
                <a:lnTo>
                  <a:pt x="37591" y="183642"/>
                </a:lnTo>
                <a:lnTo>
                  <a:pt x="38014" y="164547"/>
                </a:lnTo>
                <a:lnTo>
                  <a:pt x="0" y="163703"/>
                </a:lnTo>
                <a:close/>
              </a:path>
              <a:path w="114300" h="279400">
                <a:moveTo>
                  <a:pt x="38014" y="164547"/>
                </a:moveTo>
                <a:lnTo>
                  <a:pt x="37591" y="183642"/>
                </a:lnTo>
                <a:lnTo>
                  <a:pt x="75691" y="184404"/>
                </a:lnTo>
                <a:lnTo>
                  <a:pt x="76112" y="165394"/>
                </a:lnTo>
                <a:lnTo>
                  <a:pt x="38014" y="164547"/>
                </a:lnTo>
                <a:close/>
              </a:path>
              <a:path w="114300" h="279400">
                <a:moveTo>
                  <a:pt x="76112" y="165394"/>
                </a:moveTo>
                <a:lnTo>
                  <a:pt x="75691" y="184404"/>
                </a:lnTo>
                <a:lnTo>
                  <a:pt x="104709" y="184404"/>
                </a:lnTo>
                <a:lnTo>
                  <a:pt x="114300" y="166243"/>
                </a:lnTo>
                <a:lnTo>
                  <a:pt x="76112" y="165394"/>
                </a:lnTo>
                <a:close/>
              </a:path>
              <a:path w="114300" h="279400">
                <a:moveTo>
                  <a:pt x="41656" y="0"/>
                </a:moveTo>
                <a:lnTo>
                  <a:pt x="38014" y="164547"/>
                </a:lnTo>
                <a:lnTo>
                  <a:pt x="76112" y="165394"/>
                </a:lnTo>
                <a:lnTo>
                  <a:pt x="79756" y="762"/>
                </a:lnTo>
                <a:lnTo>
                  <a:pt x="41656" y="0"/>
                </a:lnTo>
                <a:close/>
              </a:path>
            </a:pathLst>
          </a:custGeom>
          <a:solidFill>
            <a:srgbClr val="FF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747266" y="2931414"/>
            <a:ext cx="2489200" cy="523240"/>
          </a:xfrm>
          <a:prstGeom prst="rect">
            <a:avLst/>
          </a:prstGeom>
          <a:ln w="38100">
            <a:solidFill>
              <a:srgbClr val="00FF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0170">
              <a:lnSpc>
                <a:spcPts val="3620"/>
              </a:lnSpc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匹配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i,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pop</a:t>
            </a:r>
            <a:r>
              <a:rPr dirty="0" sz="32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48025" y="3550665"/>
            <a:ext cx="120586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89330" algn="l"/>
              </a:tabLst>
            </a:pP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spc="5" b="1">
                <a:solidFill>
                  <a:srgbClr val="66FFFF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EAEAEA"/>
                </a:solidFill>
                <a:latin typeface="Times New Roman"/>
                <a:cs typeface="Times New Roman"/>
              </a:rPr>
              <a:t>i</a:t>
            </a:r>
            <a:r>
              <a:rPr dirty="0" sz="3200" b="1" i="1">
                <a:solidFill>
                  <a:srgbClr val="EAEAEA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496823" y="3572255"/>
          <a:ext cx="1980564" cy="515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/>
                <a:gridCol w="589915"/>
                <a:gridCol w="514984"/>
                <a:gridCol w="285114"/>
              </a:tblGrid>
              <a:tr h="477012">
                <a:tc>
                  <a:txBody>
                    <a:bodyPr/>
                    <a:lstStyle/>
                    <a:p>
                      <a:pPr marL="127635">
                        <a:lnSpc>
                          <a:spcPts val="3410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3410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3200" spc="-13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6" name="object 26"/>
          <p:cNvSpPr txBox="1"/>
          <p:nvPr/>
        </p:nvSpPr>
        <p:spPr>
          <a:xfrm>
            <a:off x="578358" y="4347209"/>
            <a:ext cx="2071370" cy="767080"/>
          </a:xfrm>
          <a:prstGeom prst="rect">
            <a:avLst/>
          </a:prstGeom>
          <a:ln w="38100">
            <a:solidFill>
              <a:srgbClr val="00FF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410"/>
              </a:lnSpc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匹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配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*,pop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ts val="3304"/>
              </a:lnSpc>
            </a:pP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T',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Push</a:t>
            </a:r>
            <a:r>
              <a:rPr dirty="0" sz="24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',F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203426" y="4067936"/>
            <a:ext cx="114935" cy="279400"/>
          </a:xfrm>
          <a:custGeom>
            <a:avLst/>
            <a:gdLst/>
            <a:ahLst/>
            <a:cxnLst/>
            <a:rect l="l" t="t" r="r" b="b"/>
            <a:pathLst>
              <a:path w="114934" h="279400">
                <a:moveTo>
                  <a:pt x="0" y="163702"/>
                </a:moveTo>
                <a:lnTo>
                  <a:pt x="54635" y="279273"/>
                </a:lnTo>
                <a:lnTo>
                  <a:pt x="104734" y="184404"/>
                </a:lnTo>
                <a:lnTo>
                  <a:pt x="75717" y="184404"/>
                </a:lnTo>
                <a:lnTo>
                  <a:pt x="37668" y="183642"/>
                </a:lnTo>
                <a:lnTo>
                  <a:pt x="38085" y="164549"/>
                </a:lnTo>
                <a:lnTo>
                  <a:pt x="0" y="163702"/>
                </a:lnTo>
                <a:close/>
              </a:path>
              <a:path w="114934" h="279400">
                <a:moveTo>
                  <a:pt x="38085" y="164549"/>
                </a:moveTo>
                <a:lnTo>
                  <a:pt x="37668" y="183642"/>
                </a:lnTo>
                <a:lnTo>
                  <a:pt x="75717" y="184404"/>
                </a:lnTo>
                <a:lnTo>
                  <a:pt x="76138" y="165394"/>
                </a:lnTo>
                <a:lnTo>
                  <a:pt x="38085" y="164549"/>
                </a:lnTo>
                <a:close/>
              </a:path>
              <a:path w="114934" h="279400">
                <a:moveTo>
                  <a:pt x="76138" y="165394"/>
                </a:moveTo>
                <a:lnTo>
                  <a:pt x="75717" y="184404"/>
                </a:lnTo>
                <a:lnTo>
                  <a:pt x="104734" y="184404"/>
                </a:lnTo>
                <a:lnTo>
                  <a:pt x="114325" y="166243"/>
                </a:lnTo>
                <a:lnTo>
                  <a:pt x="76138" y="165394"/>
                </a:lnTo>
                <a:close/>
              </a:path>
              <a:path w="114934" h="279400">
                <a:moveTo>
                  <a:pt x="41681" y="0"/>
                </a:moveTo>
                <a:lnTo>
                  <a:pt x="38085" y="164549"/>
                </a:lnTo>
                <a:lnTo>
                  <a:pt x="76138" y="165394"/>
                </a:lnTo>
                <a:lnTo>
                  <a:pt x="79781" y="762"/>
                </a:lnTo>
                <a:lnTo>
                  <a:pt x="41681" y="0"/>
                </a:lnTo>
                <a:close/>
              </a:path>
            </a:pathLst>
          </a:custGeom>
          <a:solidFill>
            <a:srgbClr val="FF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3248025" y="5036947"/>
            <a:ext cx="120586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9330" algn="l"/>
              </a:tabLst>
            </a:pP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286511" y="5320284"/>
          <a:ext cx="1982470" cy="515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/>
                <a:gridCol w="591185"/>
                <a:gridCol w="513715"/>
                <a:gridCol w="286385"/>
              </a:tblGrid>
              <a:tr h="477012">
                <a:tc>
                  <a:txBody>
                    <a:bodyPr/>
                    <a:lstStyle/>
                    <a:p>
                      <a:pPr marL="128270">
                        <a:lnSpc>
                          <a:spcPts val="362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362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3200" spc="-13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362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0" name="object 30"/>
          <p:cNvSpPr/>
          <p:nvPr/>
        </p:nvSpPr>
        <p:spPr>
          <a:xfrm>
            <a:off x="1692655" y="5796114"/>
            <a:ext cx="114300" cy="279400"/>
          </a:xfrm>
          <a:custGeom>
            <a:avLst/>
            <a:gdLst/>
            <a:ahLst/>
            <a:cxnLst/>
            <a:rect l="l" t="t" r="r" b="b"/>
            <a:pathLst>
              <a:path w="114300" h="279400">
                <a:moveTo>
                  <a:pt x="0" y="163791"/>
                </a:moveTo>
                <a:lnTo>
                  <a:pt x="54610" y="279311"/>
                </a:lnTo>
                <a:lnTo>
                  <a:pt x="104682" y="184492"/>
                </a:lnTo>
                <a:lnTo>
                  <a:pt x="75692" y="184492"/>
                </a:lnTo>
                <a:lnTo>
                  <a:pt x="37592" y="183667"/>
                </a:lnTo>
                <a:lnTo>
                  <a:pt x="38013" y="164619"/>
                </a:lnTo>
                <a:lnTo>
                  <a:pt x="0" y="163791"/>
                </a:lnTo>
                <a:close/>
              </a:path>
              <a:path w="114300" h="279400">
                <a:moveTo>
                  <a:pt x="38013" y="164619"/>
                </a:moveTo>
                <a:lnTo>
                  <a:pt x="37592" y="183667"/>
                </a:lnTo>
                <a:lnTo>
                  <a:pt x="75692" y="184492"/>
                </a:lnTo>
                <a:lnTo>
                  <a:pt x="76113" y="165449"/>
                </a:lnTo>
                <a:lnTo>
                  <a:pt x="38013" y="164619"/>
                </a:lnTo>
                <a:close/>
              </a:path>
              <a:path w="114300" h="279400">
                <a:moveTo>
                  <a:pt x="76113" y="165449"/>
                </a:moveTo>
                <a:lnTo>
                  <a:pt x="75692" y="184492"/>
                </a:lnTo>
                <a:lnTo>
                  <a:pt x="104682" y="184492"/>
                </a:lnTo>
                <a:lnTo>
                  <a:pt x="114300" y="166281"/>
                </a:lnTo>
                <a:lnTo>
                  <a:pt x="76113" y="165449"/>
                </a:lnTo>
                <a:close/>
              </a:path>
              <a:path w="114300" h="279400">
                <a:moveTo>
                  <a:pt x="41656" y="0"/>
                </a:moveTo>
                <a:lnTo>
                  <a:pt x="38013" y="164619"/>
                </a:lnTo>
                <a:lnTo>
                  <a:pt x="76113" y="165449"/>
                </a:lnTo>
                <a:lnTo>
                  <a:pt x="79756" y="838"/>
                </a:lnTo>
                <a:lnTo>
                  <a:pt x="41656" y="0"/>
                </a:lnTo>
                <a:close/>
              </a:path>
            </a:pathLst>
          </a:custGeom>
          <a:solidFill>
            <a:srgbClr val="FF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562861" y="6075426"/>
            <a:ext cx="2489200" cy="523240"/>
          </a:xfrm>
          <a:prstGeom prst="rect">
            <a:avLst/>
          </a:prstGeom>
          <a:ln w="38100">
            <a:solidFill>
              <a:srgbClr val="00FF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0805">
              <a:lnSpc>
                <a:spcPts val="3629"/>
              </a:lnSpc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匹配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i,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pop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429125" y="6035751"/>
            <a:ext cx="120650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9330" algn="l"/>
              </a:tabLst>
            </a:pP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6288023" y="1001267"/>
          <a:ext cx="1980564" cy="513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/>
                <a:gridCol w="589915"/>
                <a:gridCol w="514984"/>
                <a:gridCol w="285114"/>
              </a:tblGrid>
              <a:tr h="475488">
                <a:tc>
                  <a:txBody>
                    <a:bodyPr/>
                    <a:lstStyle/>
                    <a:p>
                      <a:pPr marL="128905">
                        <a:lnSpc>
                          <a:spcPts val="3400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3400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3200" spc="-13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4" name="object 34"/>
          <p:cNvSpPr/>
          <p:nvPr/>
        </p:nvSpPr>
        <p:spPr>
          <a:xfrm>
            <a:off x="6994652" y="1495425"/>
            <a:ext cx="114300" cy="281305"/>
          </a:xfrm>
          <a:custGeom>
            <a:avLst/>
            <a:gdLst/>
            <a:ahLst/>
            <a:cxnLst/>
            <a:rect l="l" t="t" r="r" b="b"/>
            <a:pathLst>
              <a:path w="114300" h="281305">
                <a:moveTo>
                  <a:pt x="0" y="165226"/>
                </a:moveTo>
                <a:lnTo>
                  <a:pt x="54609" y="280797"/>
                </a:lnTo>
                <a:lnTo>
                  <a:pt x="104602" y="185927"/>
                </a:lnTo>
                <a:lnTo>
                  <a:pt x="75692" y="185927"/>
                </a:lnTo>
                <a:lnTo>
                  <a:pt x="37592" y="185165"/>
                </a:lnTo>
                <a:lnTo>
                  <a:pt x="38011" y="166072"/>
                </a:lnTo>
                <a:lnTo>
                  <a:pt x="0" y="165226"/>
                </a:lnTo>
                <a:close/>
              </a:path>
              <a:path w="114300" h="281305">
                <a:moveTo>
                  <a:pt x="38011" y="166072"/>
                </a:moveTo>
                <a:lnTo>
                  <a:pt x="37592" y="185165"/>
                </a:lnTo>
                <a:lnTo>
                  <a:pt x="75692" y="185927"/>
                </a:lnTo>
                <a:lnTo>
                  <a:pt x="76109" y="166920"/>
                </a:lnTo>
                <a:lnTo>
                  <a:pt x="38011" y="166072"/>
                </a:lnTo>
                <a:close/>
              </a:path>
              <a:path w="114300" h="281305">
                <a:moveTo>
                  <a:pt x="76109" y="166920"/>
                </a:moveTo>
                <a:lnTo>
                  <a:pt x="75692" y="185927"/>
                </a:lnTo>
                <a:lnTo>
                  <a:pt x="104602" y="185927"/>
                </a:lnTo>
                <a:lnTo>
                  <a:pt x="114173" y="167766"/>
                </a:lnTo>
                <a:lnTo>
                  <a:pt x="76109" y="166920"/>
                </a:lnTo>
                <a:close/>
              </a:path>
              <a:path w="114300" h="281305">
                <a:moveTo>
                  <a:pt x="41655" y="0"/>
                </a:moveTo>
                <a:lnTo>
                  <a:pt x="38011" y="166072"/>
                </a:lnTo>
                <a:lnTo>
                  <a:pt x="76109" y="166920"/>
                </a:lnTo>
                <a:lnTo>
                  <a:pt x="79755" y="762"/>
                </a:lnTo>
                <a:lnTo>
                  <a:pt x="41655" y="0"/>
                </a:lnTo>
                <a:close/>
              </a:path>
            </a:pathLst>
          </a:custGeom>
          <a:solidFill>
            <a:srgbClr val="FF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6528054" y="1776222"/>
            <a:ext cx="2007235" cy="521334"/>
          </a:xfrm>
          <a:prstGeom prst="rect">
            <a:avLst/>
          </a:prstGeom>
          <a:ln w="38100">
            <a:solidFill>
              <a:srgbClr val="66FF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2075">
              <a:lnSpc>
                <a:spcPts val="3610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pop</a:t>
            </a:r>
            <a:r>
              <a:rPr dirty="0" sz="3200" spc="-1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T',E'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328916" y="6629400"/>
            <a:ext cx="1790700" cy="0"/>
          </a:xfrm>
          <a:custGeom>
            <a:avLst/>
            <a:gdLst/>
            <a:ahLst/>
            <a:cxnLst/>
            <a:rect l="l" t="t" r="r" b="b"/>
            <a:pathLst>
              <a:path w="1790700" h="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335266" y="4570729"/>
            <a:ext cx="0" cy="2052320"/>
          </a:xfrm>
          <a:custGeom>
            <a:avLst/>
            <a:gdLst/>
            <a:ahLst/>
            <a:cxnLst/>
            <a:rect l="l" t="t" r="r" b="b"/>
            <a:pathLst>
              <a:path w="0" h="2052320">
                <a:moveTo>
                  <a:pt x="0" y="0"/>
                </a:moveTo>
                <a:lnTo>
                  <a:pt x="0" y="205232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328916" y="4564379"/>
            <a:ext cx="1790700" cy="0"/>
          </a:xfrm>
          <a:custGeom>
            <a:avLst/>
            <a:gdLst/>
            <a:ahLst/>
            <a:cxnLst/>
            <a:rect l="l" t="t" r="r" b="b"/>
            <a:pathLst>
              <a:path w="1790700" h="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9113266" y="4570984"/>
            <a:ext cx="0" cy="2052320"/>
          </a:xfrm>
          <a:custGeom>
            <a:avLst/>
            <a:gdLst/>
            <a:ahLst/>
            <a:cxnLst/>
            <a:rect l="l" t="t" r="r" b="b"/>
            <a:pathLst>
              <a:path w="0" h="2052320">
                <a:moveTo>
                  <a:pt x="0" y="0"/>
                </a:moveTo>
                <a:lnTo>
                  <a:pt x="0" y="2051812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354316" y="6597650"/>
            <a:ext cx="1739900" cy="0"/>
          </a:xfrm>
          <a:custGeom>
            <a:avLst/>
            <a:gdLst/>
            <a:ahLst/>
            <a:cxnLst/>
            <a:rect l="l" t="t" r="r" b="b"/>
            <a:pathLst>
              <a:path w="1739900" h="0">
                <a:moveTo>
                  <a:pt x="0" y="0"/>
                </a:moveTo>
                <a:lnTo>
                  <a:pt x="1739900" y="0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367016" y="4608829"/>
            <a:ext cx="0" cy="1976120"/>
          </a:xfrm>
          <a:custGeom>
            <a:avLst/>
            <a:gdLst/>
            <a:ahLst/>
            <a:cxnLst/>
            <a:rect l="l" t="t" r="r" b="b"/>
            <a:pathLst>
              <a:path w="0" h="1976120">
                <a:moveTo>
                  <a:pt x="0" y="0"/>
                </a:moveTo>
                <a:lnTo>
                  <a:pt x="0" y="1976120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354316" y="4596129"/>
            <a:ext cx="1739900" cy="0"/>
          </a:xfrm>
          <a:custGeom>
            <a:avLst/>
            <a:gdLst/>
            <a:ahLst/>
            <a:cxnLst/>
            <a:rect l="l" t="t" r="r" b="b"/>
            <a:pathLst>
              <a:path w="1739900" h="0">
                <a:moveTo>
                  <a:pt x="0" y="0"/>
                </a:moveTo>
                <a:lnTo>
                  <a:pt x="1739900" y="0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9081516" y="4609084"/>
            <a:ext cx="0" cy="1976120"/>
          </a:xfrm>
          <a:custGeom>
            <a:avLst/>
            <a:gdLst/>
            <a:ahLst/>
            <a:cxnLst/>
            <a:rect l="l" t="t" r="r" b="b"/>
            <a:pathLst>
              <a:path w="0" h="1976120">
                <a:moveTo>
                  <a:pt x="0" y="0"/>
                </a:moveTo>
                <a:lnTo>
                  <a:pt x="0" y="1975612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392416" y="6565900"/>
            <a:ext cx="1663700" cy="0"/>
          </a:xfrm>
          <a:custGeom>
            <a:avLst/>
            <a:gdLst/>
            <a:ahLst/>
            <a:cxnLst/>
            <a:rect l="l" t="t" r="r" b="b"/>
            <a:pathLst>
              <a:path w="1663700" h="0">
                <a:moveTo>
                  <a:pt x="0" y="0"/>
                </a:moveTo>
                <a:lnTo>
                  <a:pt x="1663700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398766" y="4634229"/>
            <a:ext cx="0" cy="1925320"/>
          </a:xfrm>
          <a:custGeom>
            <a:avLst/>
            <a:gdLst/>
            <a:ahLst/>
            <a:cxnLst/>
            <a:rect l="l" t="t" r="r" b="b"/>
            <a:pathLst>
              <a:path w="0" h="1925320">
                <a:moveTo>
                  <a:pt x="0" y="0"/>
                </a:moveTo>
                <a:lnTo>
                  <a:pt x="0" y="192532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392416" y="4627879"/>
            <a:ext cx="1663700" cy="0"/>
          </a:xfrm>
          <a:custGeom>
            <a:avLst/>
            <a:gdLst/>
            <a:ahLst/>
            <a:cxnLst/>
            <a:rect l="l" t="t" r="r" b="b"/>
            <a:pathLst>
              <a:path w="1663700" h="0">
                <a:moveTo>
                  <a:pt x="0" y="0"/>
                </a:moveTo>
                <a:lnTo>
                  <a:pt x="1663700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9049766" y="4634484"/>
            <a:ext cx="0" cy="1925320"/>
          </a:xfrm>
          <a:custGeom>
            <a:avLst/>
            <a:gdLst/>
            <a:ahLst/>
            <a:cxnLst/>
            <a:rect l="l" t="t" r="r" b="b"/>
            <a:pathLst>
              <a:path w="0" h="1925320">
                <a:moveTo>
                  <a:pt x="0" y="0"/>
                </a:moveTo>
                <a:lnTo>
                  <a:pt x="0" y="1924812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7379716" y="4506724"/>
            <a:ext cx="1689100" cy="2006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0010" marR="356235">
              <a:lnSpc>
                <a:spcPct val="130100"/>
              </a:lnSpc>
              <a:spcBef>
                <a:spcPts val="100"/>
              </a:spcBef>
            </a:pP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TE</a:t>
            </a:r>
            <a:r>
              <a:rPr dirty="0" sz="2000" spc="-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0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→+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TE</a:t>
            </a:r>
            <a:r>
              <a:rPr dirty="0" sz="2000" spc="-8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 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FT</a:t>
            </a:r>
            <a:r>
              <a:rPr dirty="0" sz="20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endParaRPr sz="2000">
              <a:latin typeface="Symbol"/>
              <a:cs typeface="Symbol"/>
            </a:endParaRPr>
          </a:p>
          <a:p>
            <a:pPr marL="80010">
              <a:lnSpc>
                <a:spcPct val="100000"/>
              </a:lnSpc>
              <a:spcBef>
                <a:spcPts val="720"/>
              </a:spcBef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T </a:t>
            </a:r>
            <a:r>
              <a:rPr dirty="0" sz="20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→*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FT </a:t>
            </a:r>
            <a:r>
              <a:rPr dirty="0" sz="20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0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000" spc="-10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000">
              <a:latin typeface="Times New Roman"/>
              <a:cs typeface="Times New Roman"/>
            </a:endParaRPr>
          </a:p>
          <a:p>
            <a:pPr marL="80010">
              <a:lnSpc>
                <a:spcPct val="100000"/>
              </a:lnSpc>
              <a:spcBef>
                <a:spcPts val="710"/>
              </a:spcBef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→( </a:t>
            </a: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0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7840" y="744727"/>
            <a:ext cx="282067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60350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r1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+i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33CC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20061" y="1715261"/>
            <a:ext cx="1485900" cy="0"/>
          </a:xfrm>
          <a:custGeom>
            <a:avLst/>
            <a:gdLst/>
            <a:ahLst/>
            <a:cxnLst/>
            <a:rect l="l" t="t" r="r" b="b"/>
            <a:pathLst>
              <a:path w="1485900" h="0">
                <a:moveTo>
                  <a:pt x="0" y="0"/>
                </a:moveTo>
                <a:lnTo>
                  <a:pt x="14859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020061" y="2192273"/>
            <a:ext cx="1485900" cy="0"/>
          </a:xfrm>
          <a:custGeom>
            <a:avLst/>
            <a:gdLst/>
            <a:ahLst/>
            <a:cxnLst/>
            <a:rect l="l" t="t" r="r" b="b"/>
            <a:pathLst>
              <a:path w="1485900" h="0">
                <a:moveTo>
                  <a:pt x="0" y="0"/>
                </a:moveTo>
                <a:lnTo>
                  <a:pt x="14859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10661" y="1715261"/>
            <a:ext cx="0" cy="477520"/>
          </a:xfrm>
          <a:custGeom>
            <a:avLst/>
            <a:gdLst/>
            <a:ahLst/>
            <a:cxnLst/>
            <a:rect l="l" t="t" r="r" b="b"/>
            <a:pathLst>
              <a:path w="0" h="477519">
                <a:moveTo>
                  <a:pt x="0" y="0"/>
                </a:moveTo>
                <a:lnTo>
                  <a:pt x="0" y="47701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020061" y="1715261"/>
            <a:ext cx="533400" cy="47752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3615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E'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53461" y="1715261"/>
            <a:ext cx="457200" cy="47752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46685">
              <a:lnSpc>
                <a:spcPts val="3615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553461" y="1715261"/>
            <a:ext cx="0" cy="477520"/>
          </a:xfrm>
          <a:custGeom>
            <a:avLst/>
            <a:gdLst/>
            <a:ahLst/>
            <a:cxnLst/>
            <a:rect l="l" t="t" r="r" b="b"/>
            <a:pathLst>
              <a:path w="0" h="477519">
                <a:moveTo>
                  <a:pt x="0" y="0"/>
                </a:moveTo>
                <a:lnTo>
                  <a:pt x="0" y="47701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550789" y="1594231"/>
            <a:ext cx="118491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67740" algn="l"/>
              </a:tabLst>
            </a:pP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（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+i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33CC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553461" y="4101846"/>
            <a:ext cx="2222500" cy="814069"/>
          </a:xfrm>
          <a:custGeom>
            <a:avLst/>
            <a:gdLst/>
            <a:ahLst/>
            <a:cxnLst/>
            <a:rect l="l" t="t" r="r" b="b"/>
            <a:pathLst>
              <a:path w="2222500" h="814070">
                <a:moveTo>
                  <a:pt x="0" y="813815"/>
                </a:moveTo>
                <a:lnTo>
                  <a:pt x="2221991" y="813815"/>
                </a:lnTo>
                <a:lnTo>
                  <a:pt x="2221991" y="0"/>
                </a:lnTo>
                <a:lnTo>
                  <a:pt x="0" y="0"/>
                </a:lnTo>
                <a:lnTo>
                  <a:pt x="0" y="813815"/>
                </a:lnTo>
                <a:close/>
              </a:path>
            </a:pathLst>
          </a:custGeom>
          <a:ln w="38099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020061" y="2588514"/>
            <a:ext cx="1485900" cy="424180"/>
          </a:xfrm>
          <a:prstGeom prst="rect">
            <a:avLst/>
          </a:prstGeom>
          <a:ln w="38100">
            <a:solidFill>
              <a:srgbClr val="00FF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870"/>
              </a:lnSpc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Push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400" spc="-11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'F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801111" y="2116073"/>
            <a:ext cx="114300" cy="467995"/>
          </a:xfrm>
          <a:custGeom>
            <a:avLst/>
            <a:gdLst/>
            <a:ahLst/>
            <a:cxnLst/>
            <a:rect l="l" t="t" r="r" b="b"/>
            <a:pathLst>
              <a:path w="114300" h="467994">
                <a:moveTo>
                  <a:pt x="38100" y="353567"/>
                </a:moveTo>
                <a:lnTo>
                  <a:pt x="0" y="353567"/>
                </a:lnTo>
                <a:lnTo>
                  <a:pt x="57150" y="467867"/>
                </a:lnTo>
                <a:lnTo>
                  <a:pt x="104775" y="372617"/>
                </a:lnTo>
                <a:lnTo>
                  <a:pt x="38100" y="372617"/>
                </a:lnTo>
                <a:lnTo>
                  <a:pt x="38100" y="353567"/>
                </a:lnTo>
                <a:close/>
              </a:path>
              <a:path w="114300" h="467994">
                <a:moveTo>
                  <a:pt x="76200" y="0"/>
                </a:moveTo>
                <a:lnTo>
                  <a:pt x="38100" y="0"/>
                </a:lnTo>
                <a:lnTo>
                  <a:pt x="38100" y="372617"/>
                </a:lnTo>
                <a:lnTo>
                  <a:pt x="76200" y="372617"/>
                </a:lnTo>
                <a:lnTo>
                  <a:pt x="76200" y="0"/>
                </a:lnTo>
                <a:close/>
              </a:path>
              <a:path w="114300" h="467994">
                <a:moveTo>
                  <a:pt x="114300" y="353567"/>
                </a:moveTo>
                <a:lnTo>
                  <a:pt x="76200" y="353567"/>
                </a:lnTo>
                <a:lnTo>
                  <a:pt x="76200" y="372617"/>
                </a:lnTo>
                <a:lnTo>
                  <a:pt x="104775" y="372617"/>
                </a:lnTo>
                <a:lnTo>
                  <a:pt x="114300" y="353567"/>
                </a:lnTo>
                <a:close/>
              </a:path>
            </a:pathLst>
          </a:custGeom>
          <a:solidFill>
            <a:srgbClr val="FF33CC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2001011" y="3354323"/>
          <a:ext cx="1982470" cy="513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/>
                <a:gridCol w="591185"/>
                <a:gridCol w="513715"/>
                <a:gridCol w="286385"/>
              </a:tblGrid>
              <a:tr h="475488">
                <a:tc>
                  <a:txBody>
                    <a:bodyPr/>
                    <a:lstStyle/>
                    <a:p>
                      <a:pPr marL="128905">
                        <a:lnSpc>
                          <a:spcPts val="361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361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3200" spc="-13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361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556385" y="26923"/>
            <a:ext cx="15589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05378" y="26923"/>
            <a:ext cx="43065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4.3</a:t>
            </a:r>
            <a:r>
              <a:rPr dirty="0" u="sng" sz="2000" spc="42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递归下降分析法和递归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下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降分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505443" y="638555"/>
            <a:ext cx="515620" cy="285115"/>
          </a:xfrm>
          <a:custGeom>
            <a:avLst/>
            <a:gdLst/>
            <a:ahLst/>
            <a:cxnLst/>
            <a:rect l="l" t="t" r="r" b="b"/>
            <a:pathLst>
              <a:path w="515620" h="285115">
                <a:moveTo>
                  <a:pt x="515111" y="0"/>
                </a:moveTo>
                <a:lnTo>
                  <a:pt x="0" y="0"/>
                </a:lnTo>
                <a:lnTo>
                  <a:pt x="0" y="284988"/>
                </a:lnTo>
                <a:lnTo>
                  <a:pt x="515111" y="284988"/>
                </a:lnTo>
                <a:lnTo>
                  <a:pt x="515111" y="249301"/>
                </a:lnTo>
                <a:lnTo>
                  <a:pt x="364362" y="249301"/>
                </a:lnTo>
                <a:lnTo>
                  <a:pt x="150622" y="142494"/>
                </a:lnTo>
                <a:lnTo>
                  <a:pt x="364362" y="35560"/>
                </a:lnTo>
                <a:lnTo>
                  <a:pt x="515111" y="35560"/>
                </a:lnTo>
                <a:lnTo>
                  <a:pt x="515111" y="0"/>
                </a:lnTo>
                <a:close/>
              </a:path>
              <a:path w="515620" h="285115">
                <a:moveTo>
                  <a:pt x="515111" y="35560"/>
                </a:moveTo>
                <a:lnTo>
                  <a:pt x="364362" y="35560"/>
                </a:lnTo>
                <a:lnTo>
                  <a:pt x="364362" y="249301"/>
                </a:lnTo>
                <a:lnTo>
                  <a:pt x="515111" y="249301"/>
                </a:lnTo>
                <a:lnTo>
                  <a:pt x="515111" y="3556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656066" y="674116"/>
            <a:ext cx="213995" cy="213995"/>
          </a:xfrm>
          <a:custGeom>
            <a:avLst/>
            <a:gdLst/>
            <a:ahLst/>
            <a:cxnLst/>
            <a:rect l="l" t="t" r="r" b="b"/>
            <a:pathLst>
              <a:path w="213995" h="213994">
                <a:moveTo>
                  <a:pt x="213740" y="0"/>
                </a:moveTo>
                <a:lnTo>
                  <a:pt x="0" y="106934"/>
                </a:lnTo>
                <a:lnTo>
                  <a:pt x="213740" y="213741"/>
                </a:lnTo>
                <a:lnTo>
                  <a:pt x="213740" y="0"/>
                </a:lnTo>
                <a:close/>
              </a:path>
            </a:pathLst>
          </a:custGeom>
          <a:solidFill>
            <a:srgbClr val="8585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8572881" y="671830"/>
            <a:ext cx="38544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5" b="1">
                <a:solidFill>
                  <a:srgbClr val="FF6737"/>
                </a:solidFill>
                <a:latin typeface="宋体"/>
                <a:cs typeface="宋体"/>
                <a:hlinkClick r:id="rId3" action="ppaction://hlinksldjump"/>
              </a:rPr>
              <a:t>查看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31694" y="3393440"/>
            <a:ext cx="4195445" cy="2495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022600">
              <a:lnSpc>
                <a:spcPct val="100000"/>
              </a:lnSpc>
              <a:spcBef>
                <a:spcPts val="105"/>
              </a:spcBef>
              <a:tabLst>
                <a:tab pos="3978910" algn="l"/>
              </a:tabLst>
            </a:pP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（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+i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33CC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ts val="2860"/>
              </a:lnSpc>
              <a:spcBef>
                <a:spcPts val="195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匹配（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ts val="2860"/>
              </a:lnSpc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pop </a:t>
            </a:r>
            <a:r>
              <a:rPr dirty="0" sz="2400" spc="-40" b="1">
                <a:solidFill>
                  <a:srgbClr val="FFFFFF"/>
                </a:solidFill>
                <a:latin typeface="Times New Roman"/>
                <a:cs typeface="Times New Roman"/>
              </a:rPr>
              <a:t>F,Push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spc="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50">
              <a:latin typeface="Times New Roman"/>
              <a:cs typeface="Times New Roman"/>
            </a:endParaRPr>
          </a:p>
          <a:p>
            <a:pPr marL="3022600">
              <a:lnSpc>
                <a:spcPct val="100000"/>
              </a:lnSpc>
              <a:tabLst>
                <a:tab pos="397891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3200" spc="-5" b="1">
                <a:solidFill>
                  <a:srgbClr val="00FFFF"/>
                </a:solidFill>
                <a:latin typeface="Times New Roman"/>
                <a:cs typeface="Times New Roman"/>
              </a:rPr>
              <a:t>+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33CC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887723" y="5679185"/>
            <a:ext cx="114300" cy="381000"/>
          </a:xfrm>
          <a:custGeom>
            <a:avLst/>
            <a:gdLst/>
            <a:ahLst/>
            <a:cxnLst/>
            <a:rect l="l" t="t" r="r" b="b"/>
            <a:pathLst>
              <a:path w="114300" h="381000">
                <a:moveTo>
                  <a:pt x="38100" y="266700"/>
                </a:moveTo>
                <a:lnTo>
                  <a:pt x="0" y="266700"/>
                </a:lnTo>
                <a:lnTo>
                  <a:pt x="57150" y="380999"/>
                </a:lnTo>
                <a:lnTo>
                  <a:pt x="104775" y="285750"/>
                </a:lnTo>
                <a:lnTo>
                  <a:pt x="38100" y="285750"/>
                </a:lnTo>
                <a:lnTo>
                  <a:pt x="38100" y="266700"/>
                </a:lnTo>
                <a:close/>
              </a:path>
              <a:path w="114300" h="381000">
                <a:moveTo>
                  <a:pt x="76200" y="0"/>
                </a:moveTo>
                <a:lnTo>
                  <a:pt x="38100" y="0"/>
                </a:lnTo>
                <a:lnTo>
                  <a:pt x="38100" y="285750"/>
                </a:lnTo>
                <a:lnTo>
                  <a:pt x="76200" y="285750"/>
                </a:lnTo>
                <a:lnTo>
                  <a:pt x="76200" y="0"/>
                </a:lnTo>
                <a:close/>
              </a:path>
              <a:path w="114300" h="381000">
                <a:moveTo>
                  <a:pt x="114300" y="266700"/>
                </a:moveTo>
                <a:lnTo>
                  <a:pt x="76200" y="266700"/>
                </a:lnTo>
                <a:lnTo>
                  <a:pt x="76200" y="285750"/>
                </a:lnTo>
                <a:lnTo>
                  <a:pt x="104775" y="285750"/>
                </a:lnTo>
                <a:lnTo>
                  <a:pt x="114300" y="266700"/>
                </a:lnTo>
                <a:close/>
              </a:path>
            </a:pathLst>
          </a:custGeom>
          <a:solidFill>
            <a:srgbClr val="FF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233422" y="6037326"/>
            <a:ext cx="2792095" cy="376555"/>
          </a:xfrm>
          <a:prstGeom prst="rect">
            <a:avLst/>
          </a:prstGeom>
          <a:ln w="38100">
            <a:solidFill>
              <a:srgbClr val="00FF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600"/>
              </a:lnSpc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pop E,Push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E'</a:t>
            </a:r>
            <a:r>
              <a:rPr dirty="0" sz="24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372611" y="3754373"/>
            <a:ext cx="114300" cy="381000"/>
          </a:xfrm>
          <a:custGeom>
            <a:avLst/>
            <a:gdLst/>
            <a:ahLst/>
            <a:cxnLst/>
            <a:rect l="l" t="t" r="r" b="b"/>
            <a:pathLst>
              <a:path w="114300" h="381000">
                <a:moveTo>
                  <a:pt x="38100" y="266700"/>
                </a:moveTo>
                <a:lnTo>
                  <a:pt x="0" y="266700"/>
                </a:lnTo>
                <a:lnTo>
                  <a:pt x="57150" y="381000"/>
                </a:lnTo>
                <a:lnTo>
                  <a:pt x="104775" y="285750"/>
                </a:lnTo>
                <a:lnTo>
                  <a:pt x="38100" y="285750"/>
                </a:lnTo>
                <a:lnTo>
                  <a:pt x="38100" y="266700"/>
                </a:lnTo>
                <a:close/>
              </a:path>
              <a:path w="114300" h="381000">
                <a:moveTo>
                  <a:pt x="76200" y="0"/>
                </a:moveTo>
                <a:lnTo>
                  <a:pt x="38100" y="0"/>
                </a:lnTo>
                <a:lnTo>
                  <a:pt x="38100" y="285750"/>
                </a:lnTo>
                <a:lnTo>
                  <a:pt x="76200" y="285750"/>
                </a:lnTo>
                <a:lnTo>
                  <a:pt x="76200" y="0"/>
                </a:lnTo>
                <a:close/>
              </a:path>
              <a:path w="114300" h="381000">
                <a:moveTo>
                  <a:pt x="114300" y="266700"/>
                </a:moveTo>
                <a:lnTo>
                  <a:pt x="76200" y="266700"/>
                </a:lnTo>
                <a:lnTo>
                  <a:pt x="76200" y="285750"/>
                </a:lnTo>
                <a:lnTo>
                  <a:pt x="104775" y="285750"/>
                </a:lnTo>
                <a:lnTo>
                  <a:pt x="114300" y="266700"/>
                </a:lnTo>
                <a:close/>
              </a:path>
            </a:pathLst>
          </a:custGeom>
          <a:solidFill>
            <a:srgbClr val="FF33CC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2001011" y="5146547"/>
          <a:ext cx="2323465" cy="558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/>
                <a:gridCol w="591185"/>
                <a:gridCol w="513715"/>
                <a:gridCol w="609600"/>
              </a:tblGrid>
              <a:tr h="516635"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16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3200" spc="-13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16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16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16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5277611" y="5955791"/>
          <a:ext cx="3207385" cy="565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/>
                <a:gridCol w="591819"/>
                <a:gridCol w="860425"/>
                <a:gridCol w="456564"/>
                <a:gridCol w="475614"/>
                <a:gridCol w="208914"/>
              </a:tblGrid>
              <a:tr h="508253">
                <a:tc>
                  <a:txBody>
                    <a:bodyPr/>
                    <a:lstStyle/>
                    <a:p>
                      <a:pPr marL="128270">
                        <a:lnSpc>
                          <a:spcPts val="3754"/>
                        </a:lnSpc>
                        <a:spcBef>
                          <a:spcPts val="145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415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3754"/>
                        </a:lnSpc>
                        <a:spcBef>
                          <a:spcPts val="145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3200" spc="-13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415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3754"/>
                        </a:lnSpc>
                        <a:spcBef>
                          <a:spcPts val="145"/>
                        </a:spcBef>
                      </a:pPr>
                      <a:r>
                        <a:rPr dirty="0" sz="3200" spc="1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）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415">
                    <a:lnL w="38100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ts val="3754"/>
                        </a:lnSpc>
                        <a:spcBef>
                          <a:spcPts val="145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415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762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7" name="object 27"/>
          <p:cNvSpPr/>
          <p:nvPr/>
        </p:nvSpPr>
        <p:spPr>
          <a:xfrm>
            <a:off x="7391400" y="3619500"/>
            <a:ext cx="1752600" cy="0"/>
          </a:xfrm>
          <a:custGeom>
            <a:avLst/>
            <a:gdLst/>
            <a:ahLst/>
            <a:cxnLst/>
            <a:rect l="l" t="t" r="r" b="b"/>
            <a:pathLst>
              <a:path w="1752600" h="0">
                <a:moveTo>
                  <a:pt x="0" y="0"/>
                </a:moveTo>
                <a:lnTo>
                  <a:pt x="1752599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397750" y="1560830"/>
            <a:ext cx="0" cy="2052320"/>
          </a:xfrm>
          <a:custGeom>
            <a:avLst/>
            <a:gdLst/>
            <a:ahLst/>
            <a:cxnLst/>
            <a:rect l="l" t="t" r="r" b="b"/>
            <a:pathLst>
              <a:path w="0" h="2052320">
                <a:moveTo>
                  <a:pt x="0" y="0"/>
                </a:moveTo>
                <a:lnTo>
                  <a:pt x="0" y="205232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391400" y="1554480"/>
            <a:ext cx="1752600" cy="0"/>
          </a:xfrm>
          <a:custGeom>
            <a:avLst/>
            <a:gdLst/>
            <a:ahLst/>
            <a:cxnLst/>
            <a:rect l="l" t="t" r="r" b="b"/>
            <a:pathLst>
              <a:path w="1752600" h="0">
                <a:moveTo>
                  <a:pt x="0" y="0"/>
                </a:moveTo>
                <a:lnTo>
                  <a:pt x="1752599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416800" y="3587750"/>
            <a:ext cx="1727200" cy="0"/>
          </a:xfrm>
          <a:custGeom>
            <a:avLst/>
            <a:gdLst/>
            <a:ahLst/>
            <a:cxnLst/>
            <a:rect l="l" t="t" r="r" b="b"/>
            <a:pathLst>
              <a:path w="1727200" h="0">
                <a:moveTo>
                  <a:pt x="0" y="0"/>
                </a:moveTo>
                <a:lnTo>
                  <a:pt x="1727199" y="0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429500" y="1598930"/>
            <a:ext cx="0" cy="1976120"/>
          </a:xfrm>
          <a:custGeom>
            <a:avLst/>
            <a:gdLst/>
            <a:ahLst/>
            <a:cxnLst/>
            <a:rect l="l" t="t" r="r" b="b"/>
            <a:pathLst>
              <a:path w="0" h="1976120">
                <a:moveTo>
                  <a:pt x="0" y="0"/>
                </a:moveTo>
                <a:lnTo>
                  <a:pt x="0" y="1976120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416800" y="1586230"/>
            <a:ext cx="1727200" cy="0"/>
          </a:xfrm>
          <a:custGeom>
            <a:avLst/>
            <a:gdLst/>
            <a:ahLst/>
            <a:cxnLst/>
            <a:rect l="l" t="t" r="r" b="b"/>
            <a:pathLst>
              <a:path w="1727200" h="0">
                <a:moveTo>
                  <a:pt x="0" y="0"/>
                </a:moveTo>
                <a:lnTo>
                  <a:pt x="1727199" y="0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9137650" y="1599183"/>
            <a:ext cx="0" cy="1976120"/>
          </a:xfrm>
          <a:custGeom>
            <a:avLst/>
            <a:gdLst/>
            <a:ahLst/>
            <a:cxnLst/>
            <a:rect l="l" t="t" r="r" b="b"/>
            <a:pathLst>
              <a:path w="0" h="1976120">
                <a:moveTo>
                  <a:pt x="0" y="0"/>
                </a:moveTo>
                <a:lnTo>
                  <a:pt x="0" y="1975612"/>
                </a:lnTo>
              </a:path>
            </a:pathLst>
          </a:custGeom>
          <a:ln w="12699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454900" y="3556000"/>
            <a:ext cx="1663700" cy="0"/>
          </a:xfrm>
          <a:custGeom>
            <a:avLst/>
            <a:gdLst/>
            <a:ahLst/>
            <a:cxnLst/>
            <a:rect l="l" t="t" r="r" b="b"/>
            <a:pathLst>
              <a:path w="1663700" h="0">
                <a:moveTo>
                  <a:pt x="0" y="0"/>
                </a:moveTo>
                <a:lnTo>
                  <a:pt x="1663700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461250" y="1624330"/>
            <a:ext cx="0" cy="1925320"/>
          </a:xfrm>
          <a:custGeom>
            <a:avLst/>
            <a:gdLst/>
            <a:ahLst/>
            <a:cxnLst/>
            <a:rect l="l" t="t" r="r" b="b"/>
            <a:pathLst>
              <a:path w="0" h="1925320">
                <a:moveTo>
                  <a:pt x="0" y="0"/>
                </a:moveTo>
                <a:lnTo>
                  <a:pt x="0" y="192532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454900" y="1617980"/>
            <a:ext cx="1663700" cy="0"/>
          </a:xfrm>
          <a:custGeom>
            <a:avLst/>
            <a:gdLst/>
            <a:ahLst/>
            <a:cxnLst/>
            <a:rect l="l" t="t" r="r" b="b"/>
            <a:pathLst>
              <a:path w="1663700" h="0">
                <a:moveTo>
                  <a:pt x="0" y="0"/>
                </a:moveTo>
                <a:lnTo>
                  <a:pt x="1663700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9112250" y="1624583"/>
            <a:ext cx="0" cy="1925320"/>
          </a:xfrm>
          <a:custGeom>
            <a:avLst/>
            <a:gdLst/>
            <a:ahLst/>
            <a:cxnLst/>
            <a:rect l="l" t="t" r="r" b="b"/>
            <a:pathLst>
              <a:path w="0" h="1925320">
                <a:moveTo>
                  <a:pt x="0" y="0"/>
                </a:moveTo>
                <a:lnTo>
                  <a:pt x="0" y="1924812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7442200" y="1497336"/>
            <a:ext cx="1676400" cy="20053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79375" marR="343535">
              <a:lnSpc>
                <a:spcPct val="130100"/>
              </a:lnSpc>
              <a:spcBef>
                <a:spcPts val="90"/>
              </a:spcBef>
            </a:pP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TE</a:t>
            </a:r>
            <a:r>
              <a:rPr dirty="0" sz="2000" spc="-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0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→+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TE</a:t>
            </a:r>
            <a:r>
              <a:rPr dirty="0" sz="2000" spc="-7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 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FT</a:t>
            </a:r>
            <a:r>
              <a:rPr dirty="0" sz="20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endParaRPr sz="2000">
              <a:latin typeface="Symbol"/>
              <a:cs typeface="Symbol"/>
            </a:endParaRPr>
          </a:p>
          <a:p>
            <a:pPr marL="79375">
              <a:lnSpc>
                <a:spcPct val="100000"/>
              </a:lnSpc>
              <a:spcBef>
                <a:spcPts val="720"/>
              </a:spcBef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T </a:t>
            </a:r>
            <a:r>
              <a:rPr dirty="0" sz="2000" spc="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→*</a:t>
            </a:r>
            <a:r>
              <a:rPr dirty="0" sz="2000" spc="5" b="1" i="1">
                <a:solidFill>
                  <a:srgbClr val="FFFFFF"/>
                </a:solidFill>
                <a:latin typeface="Times New Roman"/>
                <a:cs typeface="Times New Roman"/>
              </a:rPr>
              <a:t>FT </a:t>
            </a:r>
            <a:r>
              <a:rPr dirty="0" sz="20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0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1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000" spc="-1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000">
              <a:latin typeface="Times New Roman"/>
              <a:cs typeface="Times New Roman"/>
            </a:endParaRPr>
          </a:p>
          <a:p>
            <a:pPr marL="79375">
              <a:lnSpc>
                <a:spcPct val="100000"/>
              </a:lnSpc>
              <a:spcBef>
                <a:spcPts val="710"/>
              </a:spcBef>
            </a:pP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→( </a:t>
            </a: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0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58461" y="3527297"/>
            <a:ext cx="1143000" cy="472440"/>
          </a:xfrm>
          <a:prstGeom prst="rect">
            <a:avLst/>
          </a:prstGeom>
          <a:ln w="38100">
            <a:solidFill>
              <a:srgbClr val="00FF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0805">
              <a:lnSpc>
                <a:spcPts val="3235"/>
              </a:lnSpc>
            </a:pP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error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91811" y="3019805"/>
            <a:ext cx="114300" cy="469900"/>
          </a:xfrm>
          <a:custGeom>
            <a:avLst/>
            <a:gdLst/>
            <a:ahLst/>
            <a:cxnLst/>
            <a:rect l="l" t="t" r="r" b="b"/>
            <a:pathLst>
              <a:path w="114300" h="469900">
                <a:moveTo>
                  <a:pt x="38100" y="355092"/>
                </a:moveTo>
                <a:lnTo>
                  <a:pt x="0" y="355092"/>
                </a:lnTo>
                <a:lnTo>
                  <a:pt x="57150" y="469392"/>
                </a:lnTo>
                <a:lnTo>
                  <a:pt x="104775" y="374142"/>
                </a:lnTo>
                <a:lnTo>
                  <a:pt x="38100" y="374142"/>
                </a:lnTo>
                <a:lnTo>
                  <a:pt x="38100" y="355092"/>
                </a:lnTo>
                <a:close/>
              </a:path>
              <a:path w="114300" h="469900">
                <a:moveTo>
                  <a:pt x="76200" y="0"/>
                </a:moveTo>
                <a:lnTo>
                  <a:pt x="38100" y="0"/>
                </a:lnTo>
                <a:lnTo>
                  <a:pt x="38100" y="374142"/>
                </a:lnTo>
                <a:lnTo>
                  <a:pt x="76200" y="374142"/>
                </a:lnTo>
                <a:lnTo>
                  <a:pt x="76200" y="0"/>
                </a:lnTo>
                <a:close/>
              </a:path>
              <a:path w="114300" h="469900">
                <a:moveTo>
                  <a:pt x="114300" y="355092"/>
                </a:moveTo>
                <a:lnTo>
                  <a:pt x="76200" y="355092"/>
                </a:lnTo>
                <a:lnTo>
                  <a:pt x="76200" y="374142"/>
                </a:lnTo>
                <a:lnTo>
                  <a:pt x="104775" y="374142"/>
                </a:lnTo>
                <a:lnTo>
                  <a:pt x="114300" y="355092"/>
                </a:lnTo>
                <a:close/>
              </a:path>
            </a:pathLst>
          </a:custGeom>
          <a:solidFill>
            <a:srgbClr val="FF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687573" y="5484114"/>
            <a:ext cx="3886200" cy="304800"/>
          </a:xfrm>
          <a:custGeom>
            <a:avLst/>
            <a:gdLst/>
            <a:ahLst/>
            <a:cxnLst/>
            <a:rect l="l" t="t" r="r" b="b"/>
            <a:pathLst>
              <a:path w="3886200" h="304800">
                <a:moveTo>
                  <a:pt x="3886200" y="0"/>
                </a:moveTo>
                <a:lnTo>
                  <a:pt x="3860744" y="59334"/>
                </a:lnTo>
                <a:lnTo>
                  <a:pt x="3830880" y="85222"/>
                </a:lnTo>
                <a:lnTo>
                  <a:pt x="3791330" y="107775"/>
                </a:lnTo>
                <a:lnTo>
                  <a:pt x="3743399" y="126381"/>
                </a:lnTo>
                <a:lnTo>
                  <a:pt x="3688389" y="140428"/>
                </a:lnTo>
                <a:lnTo>
                  <a:pt x="3627605" y="149305"/>
                </a:lnTo>
                <a:lnTo>
                  <a:pt x="3562350" y="152400"/>
                </a:lnTo>
                <a:lnTo>
                  <a:pt x="2266950" y="152400"/>
                </a:lnTo>
                <a:lnTo>
                  <a:pt x="2201694" y="155495"/>
                </a:lnTo>
                <a:lnTo>
                  <a:pt x="2140910" y="164375"/>
                </a:lnTo>
                <a:lnTo>
                  <a:pt x="2085900" y="178425"/>
                </a:lnTo>
                <a:lnTo>
                  <a:pt x="2037969" y="197034"/>
                </a:lnTo>
                <a:lnTo>
                  <a:pt x="1998419" y="219588"/>
                </a:lnTo>
                <a:lnTo>
                  <a:pt x="1968555" y="245475"/>
                </a:lnTo>
                <a:lnTo>
                  <a:pt x="1943100" y="304800"/>
                </a:lnTo>
                <a:lnTo>
                  <a:pt x="1936518" y="274083"/>
                </a:lnTo>
                <a:lnTo>
                  <a:pt x="1887780" y="219588"/>
                </a:lnTo>
                <a:lnTo>
                  <a:pt x="1848230" y="197034"/>
                </a:lnTo>
                <a:lnTo>
                  <a:pt x="1800299" y="178425"/>
                </a:lnTo>
                <a:lnTo>
                  <a:pt x="1745289" y="164375"/>
                </a:lnTo>
                <a:lnTo>
                  <a:pt x="1684505" y="155495"/>
                </a:lnTo>
                <a:lnTo>
                  <a:pt x="1619250" y="152400"/>
                </a:lnTo>
                <a:lnTo>
                  <a:pt x="323850" y="152400"/>
                </a:lnTo>
                <a:lnTo>
                  <a:pt x="258594" y="149305"/>
                </a:lnTo>
                <a:lnTo>
                  <a:pt x="197810" y="140428"/>
                </a:lnTo>
                <a:lnTo>
                  <a:pt x="142800" y="126381"/>
                </a:lnTo>
                <a:lnTo>
                  <a:pt x="94868" y="107775"/>
                </a:lnTo>
                <a:lnTo>
                  <a:pt x="55319" y="85222"/>
                </a:lnTo>
                <a:lnTo>
                  <a:pt x="25455" y="59334"/>
                </a:lnTo>
                <a:lnTo>
                  <a:pt x="6581" y="30723"/>
                </a:lnTo>
                <a:lnTo>
                  <a:pt x="0" y="0"/>
                </a:lnTo>
              </a:path>
            </a:pathLst>
          </a:custGeom>
          <a:ln w="38100">
            <a:solidFill>
              <a:srgbClr val="FF33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556385" y="26923"/>
            <a:ext cx="15589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05378" y="26923"/>
            <a:ext cx="43065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4.3</a:t>
            </a:r>
            <a:r>
              <a:rPr dirty="0" u="sng" sz="2000" spc="42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递归下降分析法和递归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下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降分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21023" y="2975610"/>
            <a:ext cx="114300" cy="1541145"/>
          </a:xfrm>
          <a:custGeom>
            <a:avLst/>
            <a:gdLst/>
            <a:ahLst/>
            <a:cxnLst/>
            <a:rect l="l" t="t" r="r" b="b"/>
            <a:pathLst>
              <a:path w="114300" h="1541145">
                <a:moveTo>
                  <a:pt x="76200" y="0"/>
                </a:moveTo>
                <a:lnTo>
                  <a:pt x="38100" y="0"/>
                </a:lnTo>
                <a:lnTo>
                  <a:pt x="38100" y="152400"/>
                </a:lnTo>
                <a:lnTo>
                  <a:pt x="76200" y="152400"/>
                </a:lnTo>
                <a:lnTo>
                  <a:pt x="76200" y="0"/>
                </a:lnTo>
                <a:close/>
              </a:path>
              <a:path w="114300" h="1541145">
                <a:moveTo>
                  <a:pt x="76200" y="266700"/>
                </a:moveTo>
                <a:lnTo>
                  <a:pt x="38100" y="266700"/>
                </a:lnTo>
                <a:lnTo>
                  <a:pt x="38100" y="419100"/>
                </a:lnTo>
                <a:lnTo>
                  <a:pt x="76200" y="419100"/>
                </a:lnTo>
                <a:lnTo>
                  <a:pt x="76200" y="266700"/>
                </a:lnTo>
                <a:close/>
              </a:path>
              <a:path w="114300" h="1541145">
                <a:moveTo>
                  <a:pt x="76200" y="533400"/>
                </a:moveTo>
                <a:lnTo>
                  <a:pt x="38100" y="533400"/>
                </a:lnTo>
                <a:lnTo>
                  <a:pt x="38100" y="685800"/>
                </a:lnTo>
                <a:lnTo>
                  <a:pt x="76200" y="685800"/>
                </a:lnTo>
                <a:lnTo>
                  <a:pt x="76200" y="533400"/>
                </a:lnTo>
                <a:close/>
              </a:path>
              <a:path w="114300" h="1541145">
                <a:moveTo>
                  <a:pt x="76200" y="800100"/>
                </a:moveTo>
                <a:lnTo>
                  <a:pt x="38100" y="800100"/>
                </a:lnTo>
                <a:lnTo>
                  <a:pt x="38100" y="952500"/>
                </a:lnTo>
                <a:lnTo>
                  <a:pt x="76200" y="952500"/>
                </a:lnTo>
                <a:lnTo>
                  <a:pt x="76200" y="800100"/>
                </a:lnTo>
                <a:close/>
              </a:path>
              <a:path w="114300" h="1541145">
                <a:moveTo>
                  <a:pt x="76200" y="1066800"/>
                </a:moveTo>
                <a:lnTo>
                  <a:pt x="38100" y="1066800"/>
                </a:lnTo>
                <a:lnTo>
                  <a:pt x="38100" y="1219200"/>
                </a:lnTo>
                <a:lnTo>
                  <a:pt x="76200" y="1219200"/>
                </a:lnTo>
                <a:lnTo>
                  <a:pt x="76200" y="1066800"/>
                </a:lnTo>
                <a:close/>
              </a:path>
              <a:path w="114300" h="1541145">
                <a:moveTo>
                  <a:pt x="38100" y="1426464"/>
                </a:moveTo>
                <a:lnTo>
                  <a:pt x="0" y="1426464"/>
                </a:lnTo>
                <a:lnTo>
                  <a:pt x="57150" y="1540764"/>
                </a:lnTo>
                <a:lnTo>
                  <a:pt x="104775" y="1445514"/>
                </a:lnTo>
                <a:lnTo>
                  <a:pt x="38100" y="1445514"/>
                </a:lnTo>
                <a:lnTo>
                  <a:pt x="38100" y="1426464"/>
                </a:lnTo>
                <a:close/>
              </a:path>
              <a:path w="114300" h="1541145">
                <a:moveTo>
                  <a:pt x="76200" y="1333500"/>
                </a:moveTo>
                <a:lnTo>
                  <a:pt x="38100" y="1333500"/>
                </a:lnTo>
                <a:lnTo>
                  <a:pt x="38100" y="1445514"/>
                </a:lnTo>
                <a:lnTo>
                  <a:pt x="76200" y="1445514"/>
                </a:lnTo>
                <a:lnTo>
                  <a:pt x="76200" y="1333500"/>
                </a:lnTo>
                <a:close/>
              </a:path>
              <a:path w="114300" h="1541145">
                <a:moveTo>
                  <a:pt x="114300" y="1426464"/>
                </a:moveTo>
                <a:lnTo>
                  <a:pt x="76200" y="1426464"/>
                </a:lnTo>
                <a:lnTo>
                  <a:pt x="76200" y="1445514"/>
                </a:lnTo>
                <a:lnTo>
                  <a:pt x="104775" y="1445514"/>
                </a:lnTo>
                <a:lnTo>
                  <a:pt x="114300" y="1426464"/>
                </a:lnTo>
                <a:close/>
              </a:path>
            </a:pathLst>
          </a:custGeom>
          <a:solidFill>
            <a:srgbClr val="FF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943861" y="4616958"/>
            <a:ext cx="1485900" cy="0"/>
          </a:xfrm>
          <a:custGeom>
            <a:avLst/>
            <a:gdLst/>
            <a:ahLst/>
            <a:cxnLst/>
            <a:rect l="l" t="t" r="r" b="b"/>
            <a:pathLst>
              <a:path w="1485900" h="0">
                <a:moveTo>
                  <a:pt x="0" y="0"/>
                </a:moveTo>
                <a:lnTo>
                  <a:pt x="14859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943861" y="5093970"/>
            <a:ext cx="1485900" cy="0"/>
          </a:xfrm>
          <a:custGeom>
            <a:avLst/>
            <a:gdLst/>
            <a:ahLst/>
            <a:cxnLst/>
            <a:rect l="l" t="t" r="r" b="b"/>
            <a:pathLst>
              <a:path w="1485900" h="0">
                <a:moveTo>
                  <a:pt x="0" y="0"/>
                </a:moveTo>
                <a:lnTo>
                  <a:pt x="14859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943861" y="4616958"/>
            <a:ext cx="0" cy="477520"/>
          </a:xfrm>
          <a:custGeom>
            <a:avLst/>
            <a:gdLst/>
            <a:ahLst/>
            <a:cxnLst/>
            <a:rect l="l" t="t" r="r" b="b"/>
            <a:pathLst>
              <a:path w="0" h="477520">
                <a:moveTo>
                  <a:pt x="0" y="0"/>
                </a:moveTo>
                <a:lnTo>
                  <a:pt x="0" y="47701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477261" y="4616958"/>
            <a:ext cx="0" cy="477520"/>
          </a:xfrm>
          <a:custGeom>
            <a:avLst/>
            <a:gdLst/>
            <a:ahLst/>
            <a:cxnLst/>
            <a:rect l="l" t="t" r="r" b="b"/>
            <a:pathLst>
              <a:path w="0" h="477520">
                <a:moveTo>
                  <a:pt x="0" y="0"/>
                </a:moveTo>
                <a:lnTo>
                  <a:pt x="0" y="47701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515105" y="4572711"/>
            <a:ext cx="3483610" cy="18180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11400">
              <a:lnSpc>
                <a:spcPct val="100000"/>
              </a:lnSpc>
              <a:spcBef>
                <a:spcPts val="105"/>
              </a:spcBef>
            </a:pP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3200" spc="-90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+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i </a:t>
            </a:r>
            <a:r>
              <a:rPr dirty="0" sz="3200" b="1">
                <a:solidFill>
                  <a:srgbClr val="FF99CC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分析完成格局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087623" y="2995422"/>
            <a:ext cx="114300" cy="1539240"/>
          </a:xfrm>
          <a:custGeom>
            <a:avLst/>
            <a:gdLst/>
            <a:ahLst/>
            <a:cxnLst/>
            <a:rect l="l" t="t" r="r" b="b"/>
            <a:pathLst>
              <a:path w="114300" h="1539239">
                <a:moveTo>
                  <a:pt x="76200" y="0"/>
                </a:moveTo>
                <a:lnTo>
                  <a:pt x="38100" y="0"/>
                </a:lnTo>
                <a:lnTo>
                  <a:pt x="38100" y="152400"/>
                </a:lnTo>
                <a:lnTo>
                  <a:pt x="76200" y="152400"/>
                </a:lnTo>
                <a:lnTo>
                  <a:pt x="76200" y="0"/>
                </a:lnTo>
                <a:close/>
              </a:path>
              <a:path w="114300" h="1539239">
                <a:moveTo>
                  <a:pt x="76200" y="266700"/>
                </a:moveTo>
                <a:lnTo>
                  <a:pt x="38100" y="266700"/>
                </a:lnTo>
                <a:lnTo>
                  <a:pt x="38100" y="419100"/>
                </a:lnTo>
                <a:lnTo>
                  <a:pt x="76200" y="419100"/>
                </a:lnTo>
                <a:lnTo>
                  <a:pt x="76200" y="266700"/>
                </a:lnTo>
                <a:close/>
              </a:path>
              <a:path w="114300" h="1539239">
                <a:moveTo>
                  <a:pt x="76200" y="533400"/>
                </a:moveTo>
                <a:lnTo>
                  <a:pt x="38100" y="533400"/>
                </a:lnTo>
                <a:lnTo>
                  <a:pt x="38100" y="685800"/>
                </a:lnTo>
                <a:lnTo>
                  <a:pt x="76200" y="685800"/>
                </a:lnTo>
                <a:lnTo>
                  <a:pt x="76200" y="533400"/>
                </a:lnTo>
                <a:close/>
              </a:path>
              <a:path w="114300" h="1539239">
                <a:moveTo>
                  <a:pt x="76200" y="800100"/>
                </a:moveTo>
                <a:lnTo>
                  <a:pt x="38100" y="800100"/>
                </a:lnTo>
                <a:lnTo>
                  <a:pt x="38100" y="952500"/>
                </a:lnTo>
                <a:lnTo>
                  <a:pt x="76200" y="952500"/>
                </a:lnTo>
                <a:lnTo>
                  <a:pt x="76200" y="800100"/>
                </a:lnTo>
                <a:close/>
              </a:path>
              <a:path w="114300" h="1539239">
                <a:moveTo>
                  <a:pt x="76200" y="1066800"/>
                </a:moveTo>
                <a:lnTo>
                  <a:pt x="38100" y="1066800"/>
                </a:lnTo>
                <a:lnTo>
                  <a:pt x="38100" y="1219200"/>
                </a:lnTo>
                <a:lnTo>
                  <a:pt x="76200" y="1219200"/>
                </a:lnTo>
                <a:lnTo>
                  <a:pt x="76200" y="1066800"/>
                </a:lnTo>
                <a:close/>
              </a:path>
              <a:path w="114300" h="1539239">
                <a:moveTo>
                  <a:pt x="38100" y="1424939"/>
                </a:moveTo>
                <a:lnTo>
                  <a:pt x="0" y="1424939"/>
                </a:lnTo>
                <a:lnTo>
                  <a:pt x="57150" y="1539239"/>
                </a:lnTo>
                <a:lnTo>
                  <a:pt x="104775" y="1443989"/>
                </a:lnTo>
                <a:lnTo>
                  <a:pt x="38100" y="1443989"/>
                </a:lnTo>
                <a:lnTo>
                  <a:pt x="38100" y="1424939"/>
                </a:lnTo>
                <a:close/>
              </a:path>
              <a:path w="114300" h="1539239">
                <a:moveTo>
                  <a:pt x="76200" y="1333500"/>
                </a:moveTo>
                <a:lnTo>
                  <a:pt x="38100" y="1333500"/>
                </a:lnTo>
                <a:lnTo>
                  <a:pt x="38100" y="1443989"/>
                </a:lnTo>
                <a:lnTo>
                  <a:pt x="76200" y="1443989"/>
                </a:lnTo>
                <a:lnTo>
                  <a:pt x="76200" y="1333500"/>
                </a:lnTo>
                <a:close/>
              </a:path>
              <a:path w="114300" h="1539239">
                <a:moveTo>
                  <a:pt x="114300" y="1424939"/>
                </a:moveTo>
                <a:lnTo>
                  <a:pt x="76200" y="1424939"/>
                </a:lnTo>
                <a:lnTo>
                  <a:pt x="76200" y="1443989"/>
                </a:lnTo>
                <a:lnTo>
                  <a:pt x="104775" y="1443989"/>
                </a:lnTo>
                <a:lnTo>
                  <a:pt x="114300" y="1424939"/>
                </a:lnTo>
                <a:close/>
              </a:path>
            </a:pathLst>
          </a:custGeom>
          <a:solidFill>
            <a:srgbClr val="FF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496311" y="2971038"/>
            <a:ext cx="114300" cy="1539240"/>
          </a:xfrm>
          <a:custGeom>
            <a:avLst/>
            <a:gdLst/>
            <a:ahLst/>
            <a:cxnLst/>
            <a:rect l="l" t="t" r="r" b="b"/>
            <a:pathLst>
              <a:path w="114300" h="1539239">
                <a:moveTo>
                  <a:pt x="76200" y="0"/>
                </a:moveTo>
                <a:lnTo>
                  <a:pt x="38100" y="0"/>
                </a:lnTo>
                <a:lnTo>
                  <a:pt x="38100" y="152400"/>
                </a:lnTo>
                <a:lnTo>
                  <a:pt x="76200" y="152400"/>
                </a:lnTo>
                <a:lnTo>
                  <a:pt x="76200" y="0"/>
                </a:lnTo>
                <a:close/>
              </a:path>
              <a:path w="114300" h="1539239">
                <a:moveTo>
                  <a:pt x="76200" y="266700"/>
                </a:moveTo>
                <a:lnTo>
                  <a:pt x="38100" y="266700"/>
                </a:lnTo>
                <a:lnTo>
                  <a:pt x="38100" y="419100"/>
                </a:lnTo>
                <a:lnTo>
                  <a:pt x="76200" y="419100"/>
                </a:lnTo>
                <a:lnTo>
                  <a:pt x="76200" y="266700"/>
                </a:lnTo>
                <a:close/>
              </a:path>
              <a:path w="114300" h="1539239">
                <a:moveTo>
                  <a:pt x="76200" y="533400"/>
                </a:moveTo>
                <a:lnTo>
                  <a:pt x="38100" y="533400"/>
                </a:lnTo>
                <a:lnTo>
                  <a:pt x="38100" y="685800"/>
                </a:lnTo>
                <a:lnTo>
                  <a:pt x="76200" y="685800"/>
                </a:lnTo>
                <a:lnTo>
                  <a:pt x="76200" y="533400"/>
                </a:lnTo>
                <a:close/>
              </a:path>
              <a:path w="114300" h="1539239">
                <a:moveTo>
                  <a:pt x="76200" y="800100"/>
                </a:moveTo>
                <a:lnTo>
                  <a:pt x="38100" y="800100"/>
                </a:lnTo>
                <a:lnTo>
                  <a:pt x="38100" y="952500"/>
                </a:lnTo>
                <a:lnTo>
                  <a:pt x="76200" y="952500"/>
                </a:lnTo>
                <a:lnTo>
                  <a:pt x="76200" y="800100"/>
                </a:lnTo>
                <a:close/>
              </a:path>
              <a:path w="114300" h="1539239">
                <a:moveTo>
                  <a:pt x="76200" y="1066800"/>
                </a:moveTo>
                <a:lnTo>
                  <a:pt x="38100" y="1066800"/>
                </a:lnTo>
                <a:lnTo>
                  <a:pt x="38100" y="1219200"/>
                </a:lnTo>
                <a:lnTo>
                  <a:pt x="76200" y="1219200"/>
                </a:lnTo>
                <a:lnTo>
                  <a:pt x="76200" y="1066800"/>
                </a:lnTo>
                <a:close/>
              </a:path>
              <a:path w="114300" h="1539239">
                <a:moveTo>
                  <a:pt x="38100" y="1424939"/>
                </a:moveTo>
                <a:lnTo>
                  <a:pt x="0" y="1424939"/>
                </a:lnTo>
                <a:lnTo>
                  <a:pt x="57150" y="1539239"/>
                </a:lnTo>
                <a:lnTo>
                  <a:pt x="104775" y="1443989"/>
                </a:lnTo>
                <a:lnTo>
                  <a:pt x="38100" y="1443989"/>
                </a:lnTo>
                <a:lnTo>
                  <a:pt x="38100" y="1424939"/>
                </a:lnTo>
                <a:close/>
              </a:path>
              <a:path w="114300" h="1539239">
                <a:moveTo>
                  <a:pt x="76200" y="1333500"/>
                </a:moveTo>
                <a:lnTo>
                  <a:pt x="38100" y="1333500"/>
                </a:lnTo>
                <a:lnTo>
                  <a:pt x="38100" y="1443989"/>
                </a:lnTo>
                <a:lnTo>
                  <a:pt x="76200" y="1443989"/>
                </a:lnTo>
                <a:lnTo>
                  <a:pt x="76200" y="1333500"/>
                </a:lnTo>
                <a:close/>
              </a:path>
              <a:path w="114300" h="1539239">
                <a:moveTo>
                  <a:pt x="114300" y="1424939"/>
                </a:moveTo>
                <a:lnTo>
                  <a:pt x="76200" y="1424939"/>
                </a:lnTo>
                <a:lnTo>
                  <a:pt x="76200" y="1443989"/>
                </a:lnTo>
                <a:lnTo>
                  <a:pt x="104775" y="1443989"/>
                </a:lnTo>
                <a:lnTo>
                  <a:pt x="114300" y="1424939"/>
                </a:lnTo>
                <a:close/>
              </a:path>
            </a:pathLst>
          </a:custGeom>
          <a:solidFill>
            <a:srgbClr val="FF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962911" y="2989326"/>
            <a:ext cx="114300" cy="1541145"/>
          </a:xfrm>
          <a:custGeom>
            <a:avLst/>
            <a:gdLst/>
            <a:ahLst/>
            <a:cxnLst/>
            <a:rect l="l" t="t" r="r" b="b"/>
            <a:pathLst>
              <a:path w="114300" h="1541145">
                <a:moveTo>
                  <a:pt x="76200" y="0"/>
                </a:moveTo>
                <a:lnTo>
                  <a:pt x="38100" y="0"/>
                </a:lnTo>
                <a:lnTo>
                  <a:pt x="38100" y="152400"/>
                </a:lnTo>
                <a:lnTo>
                  <a:pt x="76200" y="152400"/>
                </a:lnTo>
                <a:lnTo>
                  <a:pt x="76200" y="0"/>
                </a:lnTo>
                <a:close/>
              </a:path>
              <a:path w="114300" h="1541145">
                <a:moveTo>
                  <a:pt x="76200" y="266700"/>
                </a:moveTo>
                <a:lnTo>
                  <a:pt x="38100" y="266700"/>
                </a:lnTo>
                <a:lnTo>
                  <a:pt x="38100" y="419100"/>
                </a:lnTo>
                <a:lnTo>
                  <a:pt x="76200" y="419100"/>
                </a:lnTo>
                <a:lnTo>
                  <a:pt x="76200" y="266700"/>
                </a:lnTo>
                <a:close/>
              </a:path>
              <a:path w="114300" h="1541145">
                <a:moveTo>
                  <a:pt x="76200" y="533400"/>
                </a:moveTo>
                <a:lnTo>
                  <a:pt x="38100" y="533400"/>
                </a:lnTo>
                <a:lnTo>
                  <a:pt x="38100" y="685800"/>
                </a:lnTo>
                <a:lnTo>
                  <a:pt x="76200" y="685800"/>
                </a:lnTo>
                <a:lnTo>
                  <a:pt x="76200" y="533400"/>
                </a:lnTo>
                <a:close/>
              </a:path>
              <a:path w="114300" h="1541145">
                <a:moveTo>
                  <a:pt x="76200" y="800100"/>
                </a:moveTo>
                <a:lnTo>
                  <a:pt x="38100" y="800100"/>
                </a:lnTo>
                <a:lnTo>
                  <a:pt x="38100" y="952500"/>
                </a:lnTo>
                <a:lnTo>
                  <a:pt x="76200" y="952500"/>
                </a:lnTo>
                <a:lnTo>
                  <a:pt x="76200" y="800100"/>
                </a:lnTo>
                <a:close/>
              </a:path>
              <a:path w="114300" h="1541145">
                <a:moveTo>
                  <a:pt x="76200" y="1066800"/>
                </a:moveTo>
                <a:lnTo>
                  <a:pt x="38100" y="1066800"/>
                </a:lnTo>
                <a:lnTo>
                  <a:pt x="38100" y="1219200"/>
                </a:lnTo>
                <a:lnTo>
                  <a:pt x="76200" y="1219200"/>
                </a:lnTo>
                <a:lnTo>
                  <a:pt x="76200" y="1066800"/>
                </a:lnTo>
                <a:close/>
              </a:path>
              <a:path w="114300" h="1541145">
                <a:moveTo>
                  <a:pt x="38100" y="1426464"/>
                </a:moveTo>
                <a:lnTo>
                  <a:pt x="0" y="1426464"/>
                </a:lnTo>
                <a:lnTo>
                  <a:pt x="57150" y="1540764"/>
                </a:lnTo>
                <a:lnTo>
                  <a:pt x="104775" y="1445514"/>
                </a:lnTo>
                <a:lnTo>
                  <a:pt x="38100" y="1445514"/>
                </a:lnTo>
                <a:lnTo>
                  <a:pt x="38100" y="1426464"/>
                </a:lnTo>
                <a:close/>
              </a:path>
              <a:path w="114300" h="1541145">
                <a:moveTo>
                  <a:pt x="76200" y="1333500"/>
                </a:moveTo>
                <a:lnTo>
                  <a:pt x="38100" y="1333500"/>
                </a:lnTo>
                <a:lnTo>
                  <a:pt x="38100" y="1445514"/>
                </a:lnTo>
                <a:lnTo>
                  <a:pt x="76200" y="1445514"/>
                </a:lnTo>
                <a:lnTo>
                  <a:pt x="76200" y="1333500"/>
                </a:lnTo>
                <a:close/>
              </a:path>
              <a:path w="114300" h="1541145">
                <a:moveTo>
                  <a:pt x="114300" y="1426464"/>
                </a:moveTo>
                <a:lnTo>
                  <a:pt x="76200" y="1426464"/>
                </a:lnTo>
                <a:lnTo>
                  <a:pt x="76200" y="1445514"/>
                </a:lnTo>
                <a:lnTo>
                  <a:pt x="104775" y="1445514"/>
                </a:lnTo>
                <a:lnTo>
                  <a:pt x="114300" y="1426464"/>
                </a:lnTo>
                <a:close/>
              </a:path>
            </a:pathLst>
          </a:custGeom>
          <a:solidFill>
            <a:srgbClr val="FF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479535" y="669036"/>
            <a:ext cx="513715" cy="285115"/>
          </a:xfrm>
          <a:custGeom>
            <a:avLst/>
            <a:gdLst/>
            <a:ahLst/>
            <a:cxnLst/>
            <a:rect l="l" t="t" r="r" b="b"/>
            <a:pathLst>
              <a:path w="513715" h="285115">
                <a:moveTo>
                  <a:pt x="513588" y="0"/>
                </a:moveTo>
                <a:lnTo>
                  <a:pt x="0" y="0"/>
                </a:lnTo>
                <a:lnTo>
                  <a:pt x="0" y="284988"/>
                </a:lnTo>
                <a:lnTo>
                  <a:pt x="513588" y="284988"/>
                </a:lnTo>
                <a:lnTo>
                  <a:pt x="513588" y="249300"/>
                </a:lnTo>
                <a:lnTo>
                  <a:pt x="363600" y="249300"/>
                </a:lnTo>
                <a:lnTo>
                  <a:pt x="149860" y="142493"/>
                </a:lnTo>
                <a:lnTo>
                  <a:pt x="363600" y="35687"/>
                </a:lnTo>
                <a:lnTo>
                  <a:pt x="513588" y="35687"/>
                </a:lnTo>
                <a:lnTo>
                  <a:pt x="513588" y="0"/>
                </a:lnTo>
                <a:close/>
              </a:path>
              <a:path w="513715" h="285115">
                <a:moveTo>
                  <a:pt x="513588" y="35687"/>
                </a:moveTo>
                <a:lnTo>
                  <a:pt x="363600" y="35687"/>
                </a:lnTo>
                <a:lnTo>
                  <a:pt x="363600" y="249300"/>
                </a:lnTo>
                <a:lnTo>
                  <a:pt x="513588" y="249300"/>
                </a:lnTo>
                <a:lnTo>
                  <a:pt x="513588" y="35687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629395" y="704723"/>
            <a:ext cx="213995" cy="213995"/>
          </a:xfrm>
          <a:custGeom>
            <a:avLst/>
            <a:gdLst/>
            <a:ahLst/>
            <a:cxnLst/>
            <a:rect l="l" t="t" r="r" b="b"/>
            <a:pathLst>
              <a:path w="213995" h="213994">
                <a:moveTo>
                  <a:pt x="213740" y="0"/>
                </a:moveTo>
                <a:lnTo>
                  <a:pt x="0" y="106806"/>
                </a:lnTo>
                <a:lnTo>
                  <a:pt x="213740" y="213613"/>
                </a:lnTo>
                <a:lnTo>
                  <a:pt x="213740" y="0"/>
                </a:lnTo>
                <a:close/>
              </a:path>
            </a:pathLst>
          </a:custGeom>
          <a:solidFill>
            <a:srgbClr val="8585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8545830" y="702056"/>
            <a:ext cx="38544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5" b="1">
                <a:solidFill>
                  <a:srgbClr val="FF6737"/>
                </a:solidFill>
                <a:latin typeface="宋体"/>
                <a:cs typeface="宋体"/>
                <a:hlinkClick r:id="rId3" action="ppaction://hlinksldjump"/>
              </a:rPr>
              <a:t>查看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42228" y="917828"/>
            <a:ext cx="118491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6837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3200" spc="-5" b="1">
                <a:solidFill>
                  <a:srgbClr val="00FFFF"/>
                </a:solidFill>
                <a:latin typeface="Times New Roman"/>
                <a:cs typeface="Times New Roman"/>
              </a:rPr>
              <a:t>+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99CC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773173" y="936497"/>
            <a:ext cx="2781300" cy="18415"/>
          </a:xfrm>
          <a:custGeom>
            <a:avLst/>
            <a:gdLst/>
            <a:ahLst/>
            <a:cxnLst/>
            <a:rect l="l" t="t" r="r" b="b"/>
            <a:pathLst>
              <a:path w="2781300" h="18415">
                <a:moveTo>
                  <a:pt x="0" y="0"/>
                </a:moveTo>
                <a:lnTo>
                  <a:pt x="2781300" y="18287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791461" y="1431797"/>
            <a:ext cx="2763520" cy="18415"/>
          </a:xfrm>
          <a:custGeom>
            <a:avLst/>
            <a:gdLst/>
            <a:ahLst/>
            <a:cxnLst/>
            <a:rect l="l" t="t" r="r" b="b"/>
            <a:pathLst>
              <a:path w="2763520" h="18415">
                <a:moveTo>
                  <a:pt x="0" y="18287"/>
                </a:moveTo>
                <a:lnTo>
                  <a:pt x="2763012" y="0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791461" y="974597"/>
            <a:ext cx="1905" cy="475615"/>
          </a:xfrm>
          <a:custGeom>
            <a:avLst/>
            <a:gdLst/>
            <a:ahLst/>
            <a:cxnLst/>
            <a:rect l="l" t="t" r="r" b="b"/>
            <a:pathLst>
              <a:path w="1905" h="475615">
                <a:moveTo>
                  <a:pt x="0" y="0"/>
                </a:moveTo>
                <a:lnTo>
                  <a:pt x="1524" y="475488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429761" y="974597"/>
            <a:ext cx="1905" cy="475615"/>
          </a:xfrm>
          <a:custGeom>
            <a:avLst/>
            <a:gdLst/>
            <a:ahLst/>
            <a:cxnLst/>
            <a:rect l="l" t="t" r="r" b="b"/>
            <a:pathLst>
              <a:path w="1904" h="475615">
                <a:moveTo>
                  <a:pt x="0" y="0"/>
                </a:moveTo>
                <a:lnTo>
                  <a:pt x="1524" y="475488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812035" y="936447"/>
            <a:ext cx="253301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07950">
              <a:lnSpc>
                <a:spcPct val="100000"/>
              </a:lnSpc>
              <a:spcBef>
                <a:spcPts val="105"/>
              </a:spcBef>
              <a:tabLst>
                <a:tab pos="2168525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E‘ T</a:t>
            </a:r>
            <a:r>
              <a:rPr dirty="0" sz="3200" spc="-1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3200" spc="-229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E'	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324861" y="974597"/>
            <a:ext cx="1905" cy="475615"/>
          </a:xfrm>
          <a:custGeom>
            <a:avLst/>
            <a:gdLst/>
            <a:ahLst/>
            <a:cxnLst/>
            <a:rect l="l" t="t" r="r" b="b"/>
            <a:pathLst>
              <a:path w="1905" h="475615">
                <a:moveTo>
                  <a:pt x="0" y="0"/>
                </a:moveTo>
                <a:lnTo>
                  <a:pt x="1524" y="475488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916173" y="954786"/>
            <a:ext cx="1905" cy="477520"/>
          </a:xfrm>
          <a:custGeom>
            <a:avLst/>
            <a:gdLst/>
            <a:ahLst/>
            <a:cxnLst/>
            <a:rect l="l" t="t" r="r" b="b"/>
            <a:pathLst>
              <a:path w="1905" h="477519">
                <a:moveTo>
                  <a:pt x="0" y="0"/>
                </a:moveTo>
                <a:lnTo>
                  <a:pt x="1524" y="47701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886961" y="962405"/>
            <a:ext cx="1905" cy="477520"/>
          </a:xfrm>
          <a:custGeom>
            <a:avLst/>
            <a:gdLst/>
            <a:ahLst/>
            <a:cxnLst/>
            <a:rect l="l" t="t" r="r" b="b"/>
            <a:pathLst>
              <a:path w="1904" h="477519">
                <a:moveTo>
                  <a:pt x="0" y="0"/>
                </a:moveTo>
                <a:lnTo>
                  <a:pt x="1524" y="47701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3096005" y="1812798"/>
            <a:ext cx="2306320" cy="424180"/>
          </a:xfrm>
          <a:prstGeom prst="rect">
            <a:avLst/>
          </a:prstGeom>
          <a:ln w="38100">
            <a:solidFill>
              <a:srgbClr val="00FF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865"/>
              </a:lnSpc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pop </a:t>
            </a:r>
            <a:r>
              <a:rPr dirty="0" sz="2400" spc="-35" b="1">
                <a:solidFill>
                  <a:srgbClr val="FFFFFF"/>
                </a:solidFill>
                <a:latin typeface="Times New Roman"/>
                <a:cs typeface="Times New Roman"/>
              </a:rPr>
              <a:t>T,Push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400" spc="-1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'F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117466" y="1338833"/>
            <a:ext cx="114300" cy="467995"/>
          </a:xfrm>
          <a:custGeom>
            <a:avLst/>
            <a:gdLst/>
            <a:ahLst/>
            <a:cxnLst/>
            <a:rect l="l" t="t" r="r" b="b"/>
            <a:pathLst>
              <a:path w="114300" h="467994">
                <a:moveTo>
                  <a:pt x="38162" y="353610"/>
                </a:moveTo>
                <a:lnTo>
                  <a:pt x="0" y="353694"/>
                </a:lnTo>
                <a:lnTo>
                  <a:pt x="57531" y="467867"/>
                </a:lnTo>
                <a:lnTo>
                  <a:pt x="104785" y="372617"/>
                </a:lnTo>
                <a:lnTo>
                  <a:pt x="38227" y="372617"/>
                </a:lnTo>
                <a:lnTo>
                  <a:pt x="38162" y="353610"/>
                </a:lnTo>
                <a:close/>
              </a:path>
              <a:path w="114300" h="467994">
                <a:moveTo>
                  <a:pt x="76261" y="353525"/>
                </a:moveTo>
                <a:lnTo>
                  <a:pt x="38162" y="353610"/>
                </a:lnTo>
                <a:lnTo>
                  <a:pt x="38227" y="372617"/>
                </a:lnTo>
                <a:lnTo>
                  <a:pt x="76327" y="372617"/>
                </a:lnTo>
                <a:lnTo>
                  <a:pt x="76261" y="353525"/>
                </a:lnTo>
                <a:close/>
              </a:path>
              <a:path w="114300" h="467994">
                <a:moveTo>
                  <a:pt x="114300" y="353440"/>
                </a:moveTo>
                <a:lnTo>
                  <a:pt x="76261" y="353525"/>
                </a:lnTo>
                <a:lnTo>
                  <a:pt x="76327" y="372617"/>
                </a:lnTo>
                <a:lnTo>
                  <a:pt x="104785" y="372617"/>
                </a:lnTo>
                <a:lnTo>
                  <a:pt x="114300" y="353440"/>
                </a:lnTo>
                <a:close/>
              </a:path>
              <a:path w="114300" h="467994">
                <a:moveTo>
                  <a:pt x="75057" y="0"/>
                </a:moveTo>
                <a:lnTo>
                  <a:pt x="36957" y="0"/>
                </a:lnTo>
                <a:lnTo>
                  <a:pt x="38162" y="353610"/>
                </a:lnTo>
                <a:lnTo>
                  <a:pt x="76261" y="353525"/>
                </a:lnTo>
                <a:lnTo>
                  <a:pt x="75057" y="0"/>
                </a:lnTo>
                <a:close/>
              </a:path>
            </a:pathLst>
          </a:custGeom>
          <a:solidFill>
            <a:srgbClr val="FF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363973" y="936497"/>
            <a:ext cx="0" cy="513715"/>
          </a:xfrm>
          <a:custGeom>
            <a:avLst/>
            <a:gdLst/>
            <a:ahLst/>
            <a:cxnLst/>
            <a:rect l="l" t="t" r="r" b="b"/>
            <a:pathLst>
              <a:path w="0" h="513715">
                <a:moveTo>
                  <a:pt x="0" y="0"/>
                </a:moveTo>
                <a:lnTo>
                  <a:pt x="0" y="51358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1734311" y="2593848"/>
          <a:ext cx="3837939" cy="539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4365"/>
                <a:gridCol w="774065"/>
                <a:gridCol w="523240"/>
                <a:gridCol w="588645"/>
                <a:gridCol w="542925"/>
                <a:gridCol w="419100"/>
                <a:gridCol w="266064"/>
              </a:tblGrid>
              <a:tr h="482346">
                <a:tc>
                  <a:txBody>
                    <a:bodyPr/>
                    <a:lstStyle/>
                    <a:p>
                      <a:pPr>
                        <a:lnSpc>
                          <a:spcPts val="3695"/>
                        </a:lnSpc>
                      </a:pPr>
                      <a:r>
                        <a:rPr dirty="0" u="sng" sz="3200">
                          <a:solidFill>
                            <a:srgbClr val="FFFFFF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3200" spc="-434">
                          <a:solidFill>
                            <a:srgbClr val="FFFFFF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3200" b="1">
                          <a:solidFill>
                            <a:srgbClr val="FFFFFF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Times New Roman"/>
                          <a:cs typeface="Times New Roman"/>
                        </a:rPr>
                        <a:t>E‘</a:t>
                      </a:r>
                      <a:r>
                        <a:rPr dirty="0" u="sng" sz="3200" spc="-70" b="1">
                          <a:solidFill>
                            <a:srgbClr val="FFFFFF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3695"/>
                        </a:lnSpc>
                        <a:tabLst>
                          <a:tab pos="768985" algn="l"/>
                        </a:tabLst>
                      </a:pPr>
                      <a:r>
                        <a:rPr dirty="0" u="sng" sz="3200" b="1">
                          <a:solidFill>
                            <a:srgbClr val="FFFFFF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u="sng" sz="3200" spc="-160" b="1">
                          <a:solidFill>
                            <a:srgbClr val="FFFFFF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3200" b="1">
                          <a:solidFill>
                            <a:srgbClr val="FFFFFF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Times New Roman"/>
                          <a:cs typeface="Times New Roman"/>
                        </a:rPr>
                        <a:t>’	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ts val="3695"/>
                        </a:lnSpc>
                        <a:tabLst>
                          <a:tab pos="517525" algn="l"/>
                        </a:tabLst>
                      </a:pPr>
                      <a:r>
                        <a:rPr dirty="0" u="sng" sz="3200" b="1">
                          <a:solidFill>
                            <a:srgbClr val="FFFFFF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Times New Roman"/>
                          <a:cs typeface="Times New Roman"/>
                        </a:rPr>
                        <a:t>)	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>
                        <a:lnSpc>
                          <a:spcPts val="3695"/>
                        </a:lnSpc>
                        <a:tabLst>
                          <a:tab pos="582930" algn="l"/>
                        </a:tabLst>
                      </a:pPr>
                      <a:r>
                        <a:rPr dirty="0" u="sng" sz="3200" b="1">
                          <a:solidFill>
                            <a:srgbClr val="FFFFFF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Times New Roman"/>
                          <a:cs typeface="Times New Roman"/>
                        </a:rPr>
                        <a:t>E'	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3695"/>
                        </a:lnSpc>
                      </a:pPr>
                      <a:r>
                        <a:rPr dirty="0" u="sng" sz="3200" b="1">
                          <a:solidFill>
                            <a:srgbClr val="FFFFFF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Times New Roman"/>
                          <a:cs typeface="Times New Roman"/>
                        </a:rPr>
                        <a:t>T' 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ts val="3695"/>
                        </a:lnSpc>
                      </a:pPr>
                      <a:r>
                        <a:rPr dirty="0" u="sng" sz="3200" b="1">
                          <a:solidFill>
                            <a:srgbClr val="FFFFFF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Times New Roman"/>
                          <a:cs typeface="Times New Roman"/>
                        </a:rPr>
                        <a:t>F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762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4" name="object 34"/>
          <p:cNvSpPr txBox="1"/>
          <p:nvPr/>
        </p:nvSpPr>
        <p:spPr>
          <a:xfrm>
            <a:off x="5813805" y="2613787"/>
            <a:ext cx="118491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6774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3200" spc="-5" b="1">
                <a:solidFill>
                  <a:srgbClr val="00FFFF"/>
                </a:solidFill>
                <a:latin typeface="Times New Roman"/>
                <a:cs typeface="Times New Roman"/>
              </a:rPr>
              <a:t>+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99CC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391400" y="4519929"/>
            <a:ext cx="1752600" cy="0"/>
          </a:xfrm>
          <a:custGeom>
            <a:avLst/>
            <a:gdLst/>
            <a:ahLst/>
            <a:cxnLst/>
            <a:rect l="l" t="t" r="r" b="b"/>
            <a:pathLst>
              <a:path w="1752600" h="0">
                <a:moveTo>
                  <a:pt x="0" y="0"/>
                </a:moveTo>
                <a:lnTo>
                  <a:pt x="1752599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397750" y="2459989"/>
            <a:ext cx="0" cy="2053589"/>
          </a:xfrm>
          <a:custGeom>
            <a:avLst/>
            <a:gdLst/>
            <a:ahLst/>
            <a:cxnLst/>
            <a:rect l="l" t="t" r="r" b="b"/>
            <a:pathLst>
              <a:path w="0" h="2053589">
                <a:moveTo>
                  <a:pt x="0" y="0"/>
                </a:moveTo>
                <a:lnTo>
                  <a:pt x="0" y="2053589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391400" y="2453639"/>
            <a:ext cx="1752600" cy="0"/>
          </a:xfrm>
          <a:custGeom>
            <a:avLst/>
            <a:gdLst/>
            <a:ahLst/>
            <a:cxnLst/>
            <a:rect l="l" t="t" r="r" b="b"/>
            <a:pathLst>
              <a:path w="1752600" h="0">
                <a:moveTo>
                  <a:pt x="0" y="0"/>
                </a:moveTo>
                <a:lnTo>
                  <a:pt x="1752599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416800" y="4488179"/>
            <a:ext cx="1727200" cy="0"/>
          </a:xfrm>
          <a:custGeom>
            <a:avLst/>
            <a:gdLst/>
            <a:ahLst/>
            <a:cxnLst/>
            <a:rect l="l" t="t" r="r" b="b"/>
            <a:pathLst>
              <a:path w="1727200" h="0">
                <a:moveTo>
                  <a:pt x="0" y="0"/>
                </a:moveTo>
                <a:lnTo>
                  <a:pt x="1727199" y="0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429500" y="2498089"/>
            <a:ext cx="0" cy="1977389"/>
          </a:xfrm>
          <a:custGeom>
            <a:avLst/>
            <a:gdLst/>
            <a:ahLst/>
            <a:cxnLst/>
            <a:rect l="l" t="t" r="r" b="b"/>
            <a:pathLst>
              <a:path w="0" h="1977389">
                <a:moveTo>
                  <a:pt x="0" y="0"/>
                </a:moveTo>
                <a:lnTo>
                  <a:pt x="0" y="1977389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416800" y="2485389"/>
            <a:ext cx="1727200" cy="0"/>
          </a:xfrm>
          <a:custGeom>
            <a:avLst/>
            <a:gdLst/>
            <a:ahLst/>
            <a:cxnLst/>
            <a:rect l="l" t="t" r="r" b="b"/>
            <a:pathLst>
              <a:path w="1727200" h="0">
                <a:moveTo>
                  <a:pt x="0" y="0"/>
                </a:moveTo>
                <a:lnTo>
                  <a:pt x="1727199" y="0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9137650" y="2498344"/>
            <a:ext cx="0" cy="1977389"/>
          </a:xfrm>
          <a:custGeom>
            <a:avLst/>
            <a:gdLst/>
            <a:ahLst/>
            <a:cxnLst/>
            <a:rect l="l" t="t" r="r" b="b"/>
            <a:pathLst>
              <a:path w="0" h="1977389">
                <a:moveTo>
                  <a:pt x="0" y="0"/>
                </a:moveTo>
                <a:lnTo>
                  <a:pt x="0" y="1977135"/>
                </a:lnTo>
              </a:path>
            </a:pathLst>
          </a:custGeom>
          <a:ln w="12699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454900" y="4456429"/>
            <a:ext cx="1663700" cy="0"/>
          </a:xfrm>
          <a:custGeom>
            <a:avLst/>
            <a:gdLst/>
            <a:ahLst/>
            <a:cxnLst/>
            <a:rect l="l" t="t" r="r" b="b"/>
            <a:pathLst>
              <a:path w="1663700" h="0">
                <a:moveTo>
                  <a:pt x="0" y="0"/>
                </a:moveTo>
                <a:lnTo>
                  <a:pt x="1663700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461250" y="2523489"/>
            <a:ext cx="0" cy="1926589"/>
          </a:xfrm>
          <a:custGeom>
            <a:avLst/>
            <a:gdLst/>
            <a:ahLst/>
            <a:cxnLst/>
            <a:rect l="l" t="t" r="r" b="b"/>
            <a:pathLst>
              <a:path w="0" h="1926589">
                <a:moveTo>
                  <a:pt x="0" y="0"/>
                </a:moveTo>
                <a:lnTo>
                  <a:pt x="0" y="1926589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454900" y="2517139"/>
            <a:ext cx="1663700" cy="0"/>
          </a:xfrm>
          <a:custGeom>
            <a:avLst/>
            <a:gdLst/>
            <a:ahLst/>
            <a:cxnLst/>
            <a:rect l="l" t="t" r="r" b="b"/>
            <a:pathLst>
              <a:path w="1663700" h="0">
                <a:moveTo>
                  <a:pt x="0" y="0"/>
                </a:moveTo>
                <a:lnTo>
                  <a:pt x="1663700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9112250" y="2523744"/>
            <a:ext cx="0" cy="1926589"/>
          </a:xfrm>
          <a:custGeom>
            <a:avLst/>
            <a:gdLst/>
            <a:ahLst/>
            <a:cxnLst/>
            <a:rect l="l" t="t" r="r" b="b"/>
            <a:pathLst>
              <a:path w="0" h="1926589">
                <a:moveTo>
                  <a:pt x="0" y="0"/>
                </a:moveTo>
                <a:lnTo>
                  <a:pt x="0" y="1926335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7442200" y="2397353"/>
            <a:ext cx="1676400" cy="2005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9375" marR="283210">
              <a:lnSpc>
                <a:spcPct val="130000"/>
              </a:lnSpc>
              <a:spcBef>
                <a:spcPts val="100"/>
              </a:spcBef>
            </a:pP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TE</a:t>
            </a:r>
            <a:r>
              <a:rPr dirty="0" sz="2000" spc="-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0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→+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TE </a:t>
            </a:r>
            <a:r>
              <a:rPr dirty="0" sz="20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0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1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000" spc="-15" b="1" i="1">
                <a:solidFill>
                  <a:srgbClr val="FFFFFF"/>
                </a:solidFill>
                <a:latin typeface="Times New Roman"/>
                <a:cs typeface="Times New Roman"/>
              </a:rPr>
              <a:t>ε 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FT</a:t>
            </a:r>
            <a:r>
              <a:rPr dirty="0" sz="20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endParaRPr sz="2000">
              <a:latin typeface="Symbol"/>
              <a:cs typeface="Symbol"/>
            </a:endParaRPr>
          </a:p>
          <a:p>
            <a:pPr marL="79375" marR="250825">
              <a:lnSpc>
                <a:spcPct val="129500"/>
              </a:lnSpc>
              <a:spcBef>
                <a:spcPts val="10"/>
              </a:spcBef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T </a:t>
            </a:r>
            <a:r>
              <a:rPr dirty="0" sz="2000" spc="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→*</a:t>
            </a:r>
            <a:r>
              <a:rPr dirty="0" sz="2000" spc="5" b="1" i="1">
                <a:solidFill>
                  <a:srgbClr val="FFFFFF"/>
                </a:solidFill>
                <a:latin typeface="Times New Roman"/>
                <a:cs typeface="Times New Roman"/>
              </a:rPr>
              <a:t>FT </a:t>
            </a:r>
            <a:r>
              <a:rPr dirty="0" sz="20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000" spc="-1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1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000" spc="-15" b="1" i="1">
                <a:solidFill>
                  <a:srgbClr val="FFFFFF"/>
                </a:solidFill>
                <a:latin typeface="Times New Roman"/>
                <a:cs typeface="Times New Roman"/>
              </a:rPr>
              <a:t>ε 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→( </a:t>
            </a: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0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12242" y="0"/>
            <a:ext cx="8383905" cy="4549140"/>
          </a:xfrm>
          <a:prstGeom prst="rect">
            <a:avLst/>
          </a:prstGeom>
        </p:spPr>
        <p:txBody>
          <a:bodyPr wrap="square" lIns="0" tIns="142240" rIns="0" bIns="0" rtlCol="0" vert="horz">
            <a:spAutoFit/>
          </a:bodyPr>
          <a:lstStyle/>
          <a:p>
            <a:pPr algn="ctr" marL="459740">
              <a:lnSpc>
                <a:spcPct val="100000"/>
              </a:lnSpc>
              <a:spcBef>
                <a:spcPts val="1120"/>
              </a:spcBef>
              <a:tabLst>
                <a:tab pos="968375" algn="l"/>
                <a:tab pos="230886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4.3</a:t>
            </a:r>
            <a:r>
              <a:rPr dirty="0" u="sng" sz="2000" spc="4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递归下降分析法和递归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下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降分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析器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400">
              <a:latin typeface="宋体"/>
              <a:cs typeface="宋体"/>
            </a:endParaRPr>
          </a:p>
          <a:p>
            <a:pPr marL="671830" indent="-445770">
              <a:lnSpc>
                <a:spcPct val="100000"/>
              </a:lnSpc>
              <a:buClr>
                <a:srgbClr val="66FFFF"/>
              </a:buClr>
              <a:buSzPct val="129687"/>
              <a:buFont typeface="Wingdings"/>
              <a:buChar char=""/>
              <a:tabLst>
                <a:tab pos="671830" algn="l"/>
                <a:tab pos="672465" algn="l"/>
                <a:tab pos="597789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递归下降分析器设计工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具</a:t>
            </a:r>
            <a:r>
              <a:rPr dirty="0" sz="3200" spc="1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—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状态图</a:t>
            </a:r>
            <a:r>
              <a:rPr dirty="0" sz="3200" spc="-60" b="1">
                <a:solidFill>
                  <a:srgbClr val="FFFF00"/>
                </a:solidFill>
                <a:latin typeface="宋体"/>
                <a:cs typeface="宋体"/>
              </a:rPr>
              <a:t>(</a:t>
            </a:r>
            <a:r>
              <a:rPr dirty="0" sz="3200" spc="-60" b="1">
                <a:solidFill>
                  <a:srgbClr val="FFFF00"/>
                </a:solidFill>
                <a:latin typeface="Times New Roman"/>
                <a:cs typeface="Times New Roman"/>
              </a:rPr>
              <a:t>FA</a:t>
            </a:r>
            <a:r>
              <a:rPr dirty="0" sz="3200" spc="-60" b="1">
                <a:solidFill>
                  <a:srgbClr val="FFFF00"/>
                </a:solidFill>
                <a:latin typeface="宋体"/>
                <a:cs typeface="宋体"/>
              </a:rPr>
              <a:t>) </a:t>
            </a:r>
            <a:endParaRPr sz="3200">
              <a:latin typeface="宋体"/>
              <a:cs typeface="宋体"/>
            </a:endParaRPr>
          </a:p>
          <a:p>
            <a:pPr marL="469900" indent="-419100">
              <a:lnSpc>
                <a:spcPct val="100000"/>
              </a:lnSpc>
              <a:spcBef>
                <a:spcPts val="2130"/>
              </a:spcBef>
              <a:buClr>
                <a:srgbClr val="99FF99"/>
              </a:buClr>
              <a:buSzPct val="114062"/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状态图构造：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为文法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的每个</a:t>
            </a:r>
            <a:r>
              <a:rPr dirty="0" sz="3200" spc="10" b="1" i="1">
                <a:solidFill>
                  <a:srgbClr val="66FFFF"/>
                </a:solidFill>
                <a:latin typeface="Times New Roman"/>
                <a:cs typeface="Times New Roman"/>
              </a:rPr>
              <a:t>V</a:t>
            </a:r>
            <a:r>
              <a:rPr dirty="0" baseline="-15873" sz="3150" spc="15" b="1" i="1">
                <a:solidFill>
                  <a:srgbClr val="66FFFF"/>
                </a:solidFill>
                <a:latin typeface="Times New Roman"/>
                <a:cs typeface="Times New Roman"/>
              </a:rPr>
              <a:t>N</a:t>
            </a:r>
            <a:endParaRPr baseline="-15873" sz="3150">
              <a:latin typeface="Times New Roman"/>
              <a:cs typeface="Times New Roman"/>
            </a:endParaRPr>
          </a:p>
          <a:p>
            <a:pPr lvl="1" marL="1221105" indent="-625475">
              <a:lnSpc>
                <a:spcPct val="100000"/>
              </a:lnSpc>
              <a:spcBef>
                <a:spcPts val="1300"/>
              </a:spcBef>
              <a:buFont typeface="Times New Roman"/>
              <a:buAutoNum type="arabicPlain"/>
              <a:tabLst>
                <a:tab pos="1221740" algn="l"/>
              </a:tabLst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建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立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个初态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个终态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函数返回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lvl="1" marL="1205865" marR="113664" indent="-622300">
              <a:lnSpc>
                <a:spcPct val="140000"/>
              </a:lnSpc>
              <a:buFont typeface="Times New Roman"/>
              <a:buAutoNum type="arabicPlain"/>
              <a:tabLst>
                <a:tab pos="1207770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为每个产生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2800" spc="10" b="1" i="1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dirty="0" baseline="-15873" sz="3150" spc="1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2800" spc="10" b="1" i="1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dirty="0" baseline="-15873" sz="3150" spc="1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baseline="-15873" sz="3150" spc="209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Arial"/>
                <a:cs typeface="Arial"/>
              </a:rPr>
              <a:t>…</a:t>
            </a:r>
            <a:r>
              <a:rPr dirty="0" sz="2800" spc="-85" b="1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dirty="0" sz="2800" spc="10" b="1" i="1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dirty="0" baseline="-15873" sz="3150" spc="15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baseline="-15873" sz="3150" spc="-1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建立从初态到终 态的路径，弧标记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15" b="1" i="1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dirty="0" baseline="-15873" sz="3150" spc="22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baseline="-15873" sz="3150" spc="22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800" spc="15" b="1" i="1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dirty="0" baseline="-15873" sz="3150" spc="22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baseline="-15873" sz="3150" spc="22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baseline="-15873" sz="3150" spc="-517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b="1">
                <a:solidFill>
                  <a:srgbClr val="FFFF00"/>
                </a:solidFill>
                <a:latin typeface="Arial"/>
                <a:cs typeface="Arial"/>
              </a:rPr>
              <a:t>…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dirty="0" baseline="-15873" sz="3150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baseline="-15873" sz="3150" spc="1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672465">
              <a:lnSpc>
                <a:spcPct val="100000"/>
              </a:lnSpc>
              <a:spcBef>
                <a:spcPts val="1405"/>
              </a:spcBef>
              <a:tabLst>
                <a:tab pos="120586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**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其中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dirty="0" baseline="-15873" sz="3150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</a:t>
            </a:r>
            <a:r>
              <a:rPr dirty="0" sz="30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000" b="1" i="1">
                <a:solidFill>
                  <a:srgbClr val="FFFF00"/>
                </a:solidFill>
                <a:latin typeface="Times New Roman"/>
                <a:cs typeface="Times New Roman"/>
              </a:rPr>
              <a:t>V</a:t>
            </a:r>
            <a:r>
              <a:rPr dirty="0" baseline="-12500" sz="3000" b="1" i="1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dirty="0" sz="3000" b="1">
                <a:solidFill>
                  <a:srgbClr val="FFFF00"/>
                </a:solidFill>
                <a:latin typeface="宋体"/>
                <a:cs typeface="宋体"/>
              </a:rPr>
              <a:t>∪</a:t>
            </a:r>
            <a:r>
              <a:rPr dirty="0" sz="3000" b="1" i="1">
                <a:solidFill>
                  <a:srgbClr val="FFFF00"/>
                </a:solidFill>
                <a:latin typeface="Times New Roman"/>
                <a:cs typeface="Times New Roman"/>
              </a:rPr>
              <a:t>V</a:t>
            </a:r>
            <a:r>
              <a:rPr dirty="0" baseline="-12500" sz="3000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30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6516" y="4871084"/>
            <a:ext cx="24193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例如，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2800" spc="-2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800" spc="-4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TE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′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14958" y="5777585"/>
            <a:ext cx="19596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'→ +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TE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'</a:t>
            </a:r>
            <a:r>
              <a:rPr dirty="0" sz="2800" spc="-7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2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20" b="1" i="1">
                <a:solidFill>
                  <a:srgbClr val="FFFF00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90009" y="5791961"/>
            <a:ext cx="464820" cy="434340"/>
          </a:xfrm>
          <a:custGeom>
            <a:avLst/>
            <a:gdLst/>
            <a:ahLst/>
            <a:cxnLst/>
            <a:rect l="l" t="t" r="r" b="b"/>
            <a:pathLst>
              <a:path w="464820" h="434339">
                <a:moveTo>
                  <a:pt x="0" y="217169"/>
                </a:moveTo>
                <a:lnTo>
                  <a:pt x="4720" y="173402"/>
                </a:lnTo>
                <a:lnTo>
                  <a:pt x="18258" y="132638"/>
                </a:lnTo>
                <a:lnTo>
                  <a:pt x="39681" y="95748"/>
                </a:lnTo>
                <a:lnTo>
                  <a:pt x="68056" y="63607"/>
                </a:lnTo>
                <a:lnTo>
                  <a:pt x="102449" y="37089"/>
                </a:lnTo>
                <a:lnTo>
                  <a:pt x="141928" y="17066"/>
                </a:lnTo>
                <a:lnTo>
                  <a:pt x="185559" y="4412"/>
                </a:lnTo>
                <a:lnTo>
                  <a:pt x="232410" y="0"/>
                </a:lnTo>
                <a:lnTo>
                  <a:pt x="279260" y="4412"/>
                </a:lnTo>
                <a:lnTo>
                  <a:pt x="322891" y="17066"/>
                </a:lnTo>
                <a:lnTo>
                  <a:pt x="362370" y="37089"/>
                </a:lnTo>
                <a:lnTo>
                  <a:pt x="396763" y="63607"/>
                </a:lnTo>
                <a:lnTo>
                  <a:pt x="425138" y="95748"/>
                </a:lnTo>
                <a:lnTo>
                  <a:pt x="446561" y="132638"/>
                </a:lnTo>
                <a:lnTo>
                  <a:pt x="460099" y="173402"/>
                </a:lnTo>
                <a:lnTo>
                  <a:pt x="464819" y="217169"/>
                </a:lnTo>
                <a:lnTo>
                  <a:pt x="460099" y="260937"/>
                </a:lnTo>
                <a:lnTo>
                  <a:pt x="446561" y="301701"/>
                </a:lnTo>
                <a:lnTo>
                  <a:pt x="425138" y="338591"/>
                </a:lnTo>
                <a:lnTo>
                  <a:pt x="396763" y="370732"/>
                </a:lnTo>
                <a:lnTo>
                  <a:pt x="362370" y="397250"/>
                </a:lnTo>
                <a:lnTo>
                  <a:pt x="322891" y="417273"/>
                </a:lnTo>
                <a:lnTo>
                  <a:pt x="279260" y="429927"/>
                </a:lnTo>
                <a:lnTo>
                  <a:pt x="232410" y="434339"/>
                </a:lnTo>
                <a:lnTo>
                  <a:pt x="185559" y="429927"/>
                </a:lnTo>
                <a:lnTo>
                  <a:pt x="141928" y="417273"/>
                </a:lnTo>
                <a:lnTo>
                  <a:pt x="102449" y="397250"/>
                </a:lnTo>
                <a:lnTo>
                  <a:pt x="68056" y="370732"/>
                </a:lnTo>
                <a:lnTo>
                  <a:pt x="39681" y="338591"/>
                </a:lnTo>
                <a:lnTo>
                  <a:pt x="18258" y="301701"/>
                </a:lnTo>
                <a:lnTo>
                  <a:pt x="4720" y="260937"/>
                </a:lnTo>
                <a:lnTo>
                  <a:pt x="0" y="217169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014978" y="5744971"/>
            <a:ext cx="21653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970526" y="5805678"/>
            <a:ext cx="466725" cy="436245"/>
          </a:xfrm>
          <a:custGeom>
            <a:avLst/>
            <a:gdLst/>
            <a:ahLst/>
            <a:cxnLst/>
            <a:rect l="l" t="t" r="r" b="b"/>
            <a:pathLst>
              <a:path w="466725" h="436245">
                <a:moveTo>
                  <a:pt x="0" y="217932"/>
                </a:moveTo>
                <a:lnTo>
                  <a:pt x="4737" y="174011"/>
                </a:lnTo>
                <a:lnTo>
                  <a:pt x="18323" y="133104"/>
                </a:lnTo>
                <a:lnTo>
                  <a:pt x="39821" y="96085"/>
                </a:lnTo>
                <a:lnTo>
                  <a:pt x="68294" y="63831"/>
                </a:lnTo>
                <a:lnTo>
                  <a:pt x="102803" y="37220"/>
                </a:lnTo>
                <a:lnTo>
                  <a:pt x="142410" y="17126"/>
                </a:lnTo>
                <a:lnTo>
                  <a:pt x="186179" y="4427"/>
                </a:lnTo>
                <a:lnTo>
                  <a:pt x="233172" y="0"/>
                </a:lnTo>
                <a:lnTo>
                  <a:pt x="280164" y="4427"/>
                </a:lnTo>
                <a:lnTo>
                  <a:pt x="323933" y="17126"/>
                </a:lnTo>
                <a:lnTo>
                  <a:pt x="363540" y="37220"/>
                </a:lnTo>
                <a:lnTo>
                  <a:pt x="398049" y="63831"/>
                </a:lnTo>
                <a:lnTo>
                  <a:pt x="426522" y="96085"/>
                </a:lnTo>
                <a:lnTo>
                  <a:pt x="448020" y="133104"/>
                </a:lnTo>
                <a:lnTo>
                  <a:pt x="461606" y="174011"/>
                </a:lnTo>
                <a:lnTo>
                  <a:pt x="466344" y="217932"/>
                </a:lnTo>
                <a:lnTo>
                  <a:pt x="461606" y="261852"/>
                </a:lnTo>
                <a:lnTo>
                  <a:pt x="448020" y="302759"/>
                </a:lnTo>
                <a:lnTo>
                  <a:pt x="426522" y="339778"/>
                </a:lnTo>
                <a:lnTo>
                  <a:pt x="398049" y="372032"/>
                </a:lnTo>
                <a:lnTo>
                  <a:pt x="363540" y="398643"/>
                </a:lnTo>
                <a:lnTo>
                  <a:pt x="323933" y="418737"/>
                </a:lnTo>
                <a:lnTo>
                  <a:pt x="280164" y="431436"/>
                </a:lnTo>
                <a:lnTo>
                  <a:pt x="233172" y="435864"/>
                </a:lnTo>
                <a:lnTo>
                  <a:pt x="186179" y="431436"/>
                </a:lnTo>
                <a:lnTo>
                  <a:pt x="142410" y="418737"/>
                </a:lnTo>
                <a:lnTo>
                  <a:pt x="102803" y="398643"/>
                </a:lnTo>
                <a:lnTo>
                  <a:pt x="68294" y="372032"/>
                </a:lnTo>
                <a:lnTo>
                  <a:pt x="39821" y="339778"/>
                </a:lnTo>
                <a:lnTo>
                  <a:pt x="18323" y="302759"/>
                </a:lnTo>
                <a:lnTo>
                  <a:pt x="4737" y="261852"/>
                </a:lnTo>
                <a:lnTo>
                  <a:pt x="0" y="21793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096002" y="5759602"/>
            <a:ext cx="2159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52873" y="5556910"/>
            <a:ext cx="21399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863078" y="5816346"/>
            <a:ext cx="466725" cy="434340"/>
          </a:xfrm>
          <a:custGeom>
            <a:avLst/>
            <a:gdLst/>
            <a:ahLst/>
            <a:cxnLst/>
            <a:rect l="l" t="t" r="r" b="b"/>
            <a:pathLst>
              <a:path w="466725" h="434339">
                <a:moveTo>
                  <a:pt x="0" y="217169"/>
                </a:moveTo>
                <a:lnTo>
                  <a:pt x="4737" y="173402"/>
                </a:lnTo>
                <a:lnTo>
                  <a:pt x="18323" y="132638"/>
                </a:lnTo>
                <a:lnTo>
                  <a:pt x="39821" y="95748"/>
                </a:lnTo>
                <a:lnTo>
                  <a:pt x="68294" y="63607"/>
                </a:lnTo>
                <a:lnTo>
                  <a:pt x="102803" y="37089"/>
                </a:lnTo>
                <a:lnTo>
                  <a:pt x="142410" y="17066"/>
                </a:lnTo>
                <a:lnTo>
                  <a:pt x="186179" y="4412"/>
                </a:lnTo>
                <a:lnTo>
                  <a:pt x="233172" y="0"/>
                </a:lnTo>
                <a:lnTo>
                  <a:pt x="280164" y="4412"/>
                </a:lnTo>
                <a:lnTo>
                  <a:pt x="323933" y="17066"/>
                </a:lnTo>
                <a:lnTo>
                  <a:pt x="363540" y="37089"/>
                </a:lnTo>
                <a:lnTo>
                  <a:pt x="398049" y="63607"/>
                </a:lnTo>
                <a:lnTo>
                  <a:pt x="426522" y="95748"/>
                </a:lnTo>
                <a:lnTo>
                  <a:pt x="448020" y="132638"/>
                </a:lnTo>
                <a:lnTo>
                  <a:pt x="461606" y="173402"/>
                </a:lnTo>
                <a:lnTo>
                  <a:pt x="466344" y="217169"/>
                </a:lnTo>
                <a:lnTo>
                  <a:pt x="461606" y="260937"/>
                </a:lnTo>
                <a:lnTo>
                  <a:pt x="448020" y="301701"/>
                </a:lnTo>
                <a:lnTo>
                  <a:pt x="426522" y="338591"/>
                </a:lnTo>
                <a:lnTo>
                  <a:pt x="398049" y="370732"/>
                </a:lnTo>
                <a:lnTo>
                  <a:pt x="363540" y="397250"/>
                </a:lnTo>
                <a:lnTo>
                  <a:pt x="323933" y="417273"/>
                </a:lnTo>
                <a:lnTo>
                  <a:pt x="280164" y="429927"/>
                </a:lnTo>
                <a:lnTo>
                  <a:pt x="233172" y="434339"/>
                </a:lnTo>
                <a:lnTo>
                  <a:pt x="186179" y="429927"/>
                </a:lnTo>
                <a:lnTo>
                  <a:pt x="142410" y="417273"/>
                </a:lnTo>
                <a:lnTo>
                  <a:pt x="102803" y="397250"/>
                </a:lnTo>
                <a:lnTo>
                  <a:pt x="68294" y="370732"/>
                </a:lnTo>
                <a:lnTo>
                  <a:pt x="39821" y="338591"/>
                </a:lnTo>
                <a:lnTo>
                  <a:pt x="18323" y="301701"/>
                </a:lnTo>
                <a:lnTo>
                  <a:pt x="4737" y="260937"/>
                </a:lnTo>
                <a:lnTo>
                  <a:pt x="0" y="217169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008746" y="5826658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782561" y="5990844"/>
            <a:ext cx="1080770" cy="114300"/>
          </a:xfrm>
          <a:custGeom>
            <a:avLst/>
            <a:gdLst/>
            <a:ahLst/>
            <a:cxnLst/>
            <a:rect l="l" t="t" r="r" b="b"/>
            <a:pathLst>
              <a:path w="1080770" h="114300">
                <a:moveTo>
                  <a:pt x="966216" y="0"/>
                </a:moveTo>
                <a:lnTo>
                  <a:pt x="966216" y="114299"/>
                </a:lnTo>
                <a:lnTo>
                  <a:pt x="1042416" y="76199"/>
                </a:lnTo>
                <a:lnTo>
                  <a:pt x="985266" y="76199"/>
                </a:lnTo>
                <a:lnTo>
                  <a:pt x="985266" y="38099"/>
                </a:lnTo>
                <a:lnTo>
                  <a:pt x="1042416" y="38099"/>
                </a:lnTo>
                <a:lnTo>
                  <a:pt x="966216" y="0"/>
                </a:lnTo>
                <a:close/>
              </a:path>
              <a:path w="1080770" h="114300">
                <a:moveTo>
                  <a:pt x="966216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966216" y="76199"/>
                </a:lnTo>
                <a:lnTo>
                  <a:pt x="966216" y="38099"/>
                </a:lnTo>
                <a:close/>
              </a:path>
              <a:path w="1080770" h="114300">
                <a:moveTo>
                  <a:pt x="1042416" y="38099"/>
                </a:moveTo>
                <a:lnTo>
                  <a:pt x="985266" y="38099"/>
                </a:lnTo>
                <a:lnTo>
                  <a:pt x="985266" y="76199"/>
                </a:lnTo>
                <a:lnTo>
                  <a:pt x="1042416" y="76199"/>
                </a:lnTo>
                <a:lnTo>
                  <a:pt x="1080516" y="57149"/>
                </a:lnTo>
                <a:lnTo>
                  <a:pt x="1042416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152258" y="5560263"/>
            <a:ext cx="3619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′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809238" y="4904994"/>
            <a:ext cx="464820" cy="434340"/>
          </a:xfrm>
          <a:custGeom>
            <a:avLst/>
            <a:gdLst/>
            <a:ahLst/>
            <a:cxnLst/>
            <a:rect l="l" t="t" r="r" b="b"/>
            <a:pathLst>
              <a:path w="464820" h="434339">
                <a:moveTo>
                  <a:pt x="0" y="217169"/>
                </a:moveTo>
                <a:lnTo>
                  <a:pt x="4720" y="173417"/>
                </a:lnTo>
                <a:lnTo>
                  <a:pt x="18258" y="132659"/>
                </a:lnTo>
                <a:lnTo>
                  <a:pt x="39681" y="95770"/>
                </a:lnTo>
                <a:lnTo>
                  <a:pt x="68056" y="63626"/>
                </a:lnTo>
                <a:lnTo>
                  <a:pt x="102449" y="37102"/>
                </a:lnTo>
                <a:lnTo>
                  <a:pt x="141928" y="17073"/>
                </a:lnTo>
                <a:lnTo>
                  <a:pt x="185559" y="4414"/>
                </a:lnTo>
                <a:lnTo>
                  <a:pt x="232410" y="0"/>
                </a:lnTo>
                <a:lnTo>
                  <a:pt x="279260" y="4414"/>
                </a:lnTo>
                <a:lnTo>
                  <a:pt x="322891" y="17073"/>
                </a:lnTo>
                <a:lnTo>
                  <a:pt x="362370" y="37102"/>
                </a:lnTo>
                <a:lnTo>
                  <a:pt x="396763" y="63626"/>
                </a:lnTo>
                <a:lnTo>
                  <a:pt x="425138" y="95770"/>
                </a:lnTo>
                <a:lnTo>
                  <a:pt x="446561" y="132659"/>
                </a:lnTo>
                <a:lnTo>
                  <a:pt x="460099" y="173417"/>
                </a:lnTo>
                <a:lnTo>
                  <a:pt x="464820" y="217169"/>
                </a:lnTo>
                <a:lnTo>
                  <a:pt x="460099" y="260922"/>
                </a:lnTo>
                <a:lnTo>
                  <a:pt x="446561" y="301680"/>
                </a:lnTo>
                <a:lnTo>
                  <a:pt x="425138" y="338569"/>
                </a:lnTo>
                <a:lnTo>
                  <a:pt x="396763" y="370712"/>
                </a:lnTo>
                <a:lnTo>
                  <a:pt x="362370" y="397237"/>
                </a:lnTo>
                <a:lnTo>
                  <a:pt x="322891" y="417266"/>
                </a:lnTo>
                <a:lnTo>
                  <a:pt x="279260" y="429925"/>
                </a:lnTo>
                <a:lnTo>
                  <a:pt x="232410" y="434339"/>
                </a:lnTo>
                <a:lnTo>
                  <a:pt x="185559" y="429925"/>
                </a:lnTo>
                <a:lnTo>
                  <a:pt x="141928" y="417266"/>
                </a:lnTo>
                <a:lnTo>
                  <a:pt x="102449" y="397237"/>
                </a:lnTo>
                <a:lnTo>
                  <a:pt x="68056" y="370712"/>
                </a:lnTo>
                <a:lnTo>
                  <a:pt x="39681" y="338569"/>
                </a:lnTo>
                <a:lnTo>
                  <a:pt x="18258" y="301680"/>
                </a:lnTo>
                <a:lnTo>
                  <a:pt x="4720" y="260922"/>
                </a:lnTo>
                <a:lnTo>
                  <a:pt x="0" y="217169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356097" y="4904994"/>
            <a:ext cx="464820" cy="434340"/>
          </a:xfrm>
          <a:custGeom>
            <a:avLst/>
            <a:gdLst/>
            <a:ahLst/>
            <a:cxnLst/>
            <a:rect l="l" t="t" r="r" b="b"/>
            <a:pathLst>
              <a:path w="464820" h="434339">
                <a:moveTo>
                  <a:pt x="0" y="217169"/>
                </a:moveTo>
                <a:lnTo>
                  <a:pt x="4720" y="173417"/>
                </a:lnTo>
                <a:lnTo>
                  <a:pt x="18258" y="132659"/>
                </a:lnTo>
                <a:lnTo>
                  <a:pt x="39681" y="95770"/>
                </a:lnTo>
                <a:lnTo>
                  <a:pt x="68056" y="63626"/>
                </a:lnTo>
                <a:lnTo>
                  <a:pt x="102449" y="37102"/>
                </a:lnTo>
                <a:lnTo>
                  <a:pt x="141928" y="17073"/>
                </a:lnTo>
                <a:lnTo>
                  <a:pt x="185559" y="4414"/>
                </a:lnTo>
                <a:lnTo>
                  <a:pt x="232410" y="0"/>
                </a:lnTo>
                <a:lnTo>
                  <a:pt x="279260" y="4414"/>
                </a:lnTo>
                <a:lnTo>
                  <a:pt x="322891" y="17073"/>
                </a:lnTo>
                <a:lnTo>
                  <a:pt x="362370" y="37102"/>
                </a:lnTo>
                <a:lnTo>
                  <a:pt x="396763" y="63626"/>
                </a:lnTo>
                <a:lnTo>
                  <a:pt x="425138" y="95770"/>
                </a:lnTo>
                <a:lnTo>
                  <a:pt x="446561" y="132659"/>
                </a:lnTo>
                <a:lnTo>
                  <a:pt x="460099" y="173417"/>
                </a:lnTo>
                <a:lnTo>
                  <a:pt x="464819" y="217169"/>
                </a:lnTo>
                <a:lnTo>
                  <a:pt x="460099" y="260922"/>
                </a:lnTo>
                <a:lnTo>
                  <a:pt x="446561" y="301680"/>
                </a:lnTo>
                <a:lnTo>
                  <a:pt x="425138" y="338569"/>
                </a:lnTo>
                <a:lnTo>
                  <a:pt x="396763" y="370712"/>
                </a:lnTo>
                <a:lnTo>
                  <a:pt x="362370" y="397237"/>
                </a:lnTo>
                <a:lnTo>
                  <a:pt x="322891" y="417266"/>
                </a:lnTo>
                <a:lnTo>
                  <a:pt x="279260" y="429925"/>
                </a:lnTo>
                <a:lnTo>
                  <a:pt x="232410" y="434339"/>
                </a:lnTo>
                <a:lnTo>
                  <a:pt x="185559" y="429925"/>
                </a:lnTo>
                <a:lnTo>
                  <a:pt x="141928" y="417266"/>
                </a:lnTo>
                <a:lnTo>
                  <a:pt x="102449" y="397237"/>
                </a:lnTo>
                <a:lnTo>
                  <a:pt x="68056" y="370712"/>
                </a:lnTo>
                <a:lnTo>
                  <a:pt x="39681" y="338569"/>
                </a:lnTo>
                <a:lnTo>
                  <a:pt x="18258" y="301680"/>
                </a:lnTo>
                <a:lnTo>
                  <a:pt x="4720" y="260922"/>
                </a:lnTo>
                <a:lnTo>
                  <a:pt x="0" y="217169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933825" y="4857750"/>
            <a:ext cx="176276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58925" algn="l"/>
              </a:tabLst>
            </a:pP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0	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274058" y="5079491"/>
            <a:ext cx="1082040" cy="114300"/>
          </a:xfrm>
          <a:custGeom>
            <a:avLst/>
            <a:gdLst/>
            <a:ahLst/>
            <a:cxnLst/>
            <a:rect l="l" t="t" r="r" b="b"/>
            <a:pathLst>
              <a:path w="1082039" h="114300">
                <a:moveTo>
                  <a:pt x="967739" y="0"/>
                </a:moveTo>
                <a:lnTo>
                  <a:pt x="967739" y="114299"/>
                </a:lnTo>
                <a:lnTo>
                  <a:pt x="1043939" y="76199"/>
                </a:lnTo>
                <a:lnTo>
                  <a:pt x="986789" y="76199"/>
                </a:lnTo>
                <a:lnTo>
                  <a:pt x="986789" y="38099"/>
                </a:lnTo>
                <a:lnTo>
                  <a:pt x="1043939" y="38099"/>
                </a:lnTo>
                <a:lnTo>
                  <a:pt x="967739" y="0"/>
                </a:lnTo>
                <a:close/>
              </a:path>
              <a:path w="1082039" h="114300">
                <a:moveTo>
                  <a:pt x="967739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967739" y="76199"/>
                </a:lnTo>
                <a:lnTo>
                  <a:pt x="967739" y="38099"/>
                </a:lnTo>
                <a:close/>
              </a:path>
              <a:path w="1082039" h="114300">
                <a:moveTo>
                  <a:pt x="1043939" y="38099"/>
                </a:moveTo>
                <a:lnTo>
                  <a:pt x="986789" y="38099"/>
                </a:lnTo>
                <a:lnTo>
                  <a:pt x="986789" y="76199"/>
                </a:lnTo>
                <a:lnTo>
                  <a:pt x="1043939" y="76199"/>
                </a:lnTo>
                <a:lnTo>
                  <a:pt x="1082039" y="57149"/>
                </a:lnTo>
                <a:lnTo>
                  <a:pt x="1043939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933438" y="4914138"/>
            <a:ext cx="464820" cy="434340"/>
          </a:xfrm>
          <a:custGeom>
            <a:avLst/>
            <a:gdLst/>
            <a:ahLst/>
            <a:cxnLst/>
            <a:rect l="l" t="t" r="r" b="b"/>
            <a:pathLst>
              <a:path w="464820" h="434339">
                <a:moveTo>
                  <a:pt x="0" y="217169"/>
                </a:moveTo>
                <a:lnTo>
                  <a:pt x="4720" y="173417"/>
                </a:lnTo>
                <a:lnTo>
                  <a:pt x="18258" y="132659"/>
                </a:lnTo>
                <a:lnTo>
                  <a:pt x="39681" y="95770"/>
                </a:lnTo>
                <a:lnTo>
                  <a:pt x="68056" y="63626"/>
                </a:lnTo>
                <a:lnTo>
                  <a:pt x="102449" y="37102"/>
                </a:lnTo>
                <a:lnTo>
                  <a:pt x="141928" y="17073"/>
                </a:lnTo>
                <a:lnTo>
                  <a:pt x="185559" y="4414"/>
                </a:lnTo>
                <a:lnTo>
                  <a:pt x="232409" y="0"/>
                </a:lnTo>
                <a:lnTo>
                  <a:pt x="279260" y="4414"/>
                </a:lnTo>
                <a:lnTo>
                  <a:pt x="322891" y="17073"/>
                </a:lnTo>
                <a:lnTo>
                  <a:pt x="362370" y="37102"/>
                </a:lnTo>
                <a:lnTo>
                  <a:pt x="396763" y="63626"/>
                </a:lnTo>
                <a:lnTo>
                  <a:pt x="425138" y="95770"/>
                </a:lnTo>
                <a:lnTo>
                  <a:pt x="446561" y="132659"/>
                </a:lnTo>
                <a:lnTo>
                  <a:pt x="460099" y="173417"/>
                </a:lnTo>
                <a:lnTo>
                  <a:pt x="464819" y="217169"/>
                </a:lnTo>
                <a:lnTo>
                  <a:pt x="460099" y="260922"/>
                </a:lnTo>
                <a:lnTo>
                  <a:pt x="446561" y="301680"/>
                </a:lnTo>
                <a:lnTo>
                  <a:pt x="425138" y="338569"/>
                </a:lnTo>
                <a:lnTo>
                  <a:pt x="396763" y="370713"/>
                </a:lnTo>
                <a:lnTo>
                  <a:pt x="362370" y="397237"/>
                </a:lnTo>
                <a:lnTo>
                  <a:pt x="322891" y="417266"/>
                </a:lnTo>
                <a:lnTo>
                  <a:pt x="279260" y="429925"/>
                </a:lnTo>
                <a:lnTo>
                  <a:pt x="232409" y="434340"/>
                </a:lnTo>
                <a:lnTo>
                  <a:pt x="185559" y="429925"/>
                </a:lnTo>
                <a:lnTo>
                  <a:pt x="141928" y="417266"/>
                </a:lnTo>
                <a:lnTo>
                  <a:pt x="102449" y="397237"/>
                </a:lnTo>
                <a:lnTo>
                  <a:pt x="68056" y="370713"/>
                </a:lnTo>
                <a:lnTo>
                  <a:pt x="39681" y="338569"/>
                </a:lnTo>
                <a:lnTo>
                  <a:pt x="18258" y="301680"/>
                </a:lnTo>
                <a:lnTo>
                  <a:pt x="4720" y="260922"/>
                </a:lnTo>
                <a:lnTo>
                  <a:pt x="0" y="217169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7078471" y="4924755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852921" y="5088635"/>
            <a:ext cx="1080770" cy="114300"/>
          </a:xfrm>
          <a:custGeom>
            <a:avLst/>
            <a:gdLst/>
            <a:ahLst/>
            <a:cxnLst/>
            <a:rect l="l" t="t" r="r" b="b"/>
            <a:pathLst>
              <a:path w="1080770" h="114300">
                <a:moveTo>
                  <a:pt x="966216" y="0"/>
                </a:moveTo>
                <a:lnTo>
                  <a:pt x="966216" y="114300"/>
                </a:lnTo>
                <a:lnTo>
                  <a:pt x="1042416" y="76200"/>
                </a:lnTo>
                <a:lnTo>
                  <a:pt x="985266" y="76200"/>
                </a:lnTo>
                <a:lnTo>
                  <a:pt x="985266" y="38100"/>
                </a:lnTo>
                <a:lnTo>
                  <a:pt x="1042416" y="38100"/>
                </a:lnTo>
                <a:lnTo>
                  <a:pt x="966216" y="0"/>
                </a:lnTo>
                <a:close/>
              </a:path>
              <a:path w="1080770" h="114300">
                <a:moveTo>
                  <a:pt x="96621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66216" y="76200"/>
                </a:lnTo>
                <a:lnTo>
                  <a:pt x="966216" y="38100"/>
                </a:lnTo>
                <a:close/>
              </a:path>
              <a:path w="1080770" h="114300">
                <a:moveTo>
                  <a:pt x="1042416" y="38100"/>
                </a:moveTo>
                <a:lnTo>
                  <a:pt x="985266" y="38100"/>
                </a:lnTo>
                <a:lnTo>
                  <a:pt x="985266" y="76200"/>
                </a:lnTo>
                <a:lnTo>
                  <a:pt x="1042416" y="76200"/>
                </a:lnTo>
                <a:lnTo>
                  <a:pt x="1080516" y="57150"/>
                </a:lnTo>
                <a:lnTo>
                  <a:pt x="104241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643373" y="4663185"/>
            <a:ext cx="19405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90675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′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005066" y="4956809"/>
            <a:ext cx="326390" cy="327660"/>
          </a:xfrm>
          <a:custGeom>
            <a:avLst/>
            <a:gdLst/>
            <a:ahLst/>
            <a:cxnLst/>
            <a:rect l="l" t="t" r="r" b="b"/>
            <a:pathLst>
              <a:path w="326390" h="327660">
                <a:moveTo>
                  <a:pt x="0" y="163829"/>
                </a:moveTo>
                <a:lnTo>
                  <a:pt x="5826" y="120297"/>
                </a:lnTo>
                <a:lnTo>
                  <a:pt x="22267" y="81167"/>
                </a:lnTo>
                <a:lnTo>
                  <a:pt x="47767" y="48005"/>
                </a:lnTo>
                <a:lnTo>
                  <a:pt x="80772" y="22380"/>
                </a:lnTo>
                <a:lnTo>
                  <a:pt x="119723" y="5856"/>
                </a:lnTo>
                <a:lnTo>
                  <a:pt x="163067" y="0"/>
                </a:lnTo>
                <a:lnTo>
                  <a:pt x="206412" y="5856"/>
                </a:lnTo>
                <a:lnTo>
                  <a:pt x="245363" y="22380"/>
                </a:lnTo>
                <a:lnTo>
                  <a:pt x="278368" y="48006"/>
                </a:lnTo>
                <a:lnTo>
                  <a:pt x="303868" y="81167"/>
                </a:lnTo>
                <a:lnTo>
                  <a:pt x="320309" y="120297"/>
                </a:lnTo>
                <a:lnTo>
                  <a:pt x="326135" y="163829"/>
                </a:lnTo>
                <a:lnTo>
                  <a:pt x="320309" y="207362"/>
                </a:lnTo>
                <a:lnTo>
                  <a:pt x="303868" y="246492"/>
                </a:lnTo>
                <a:lnTo>
                  <a:pt x="278368" y="279653"/>
                </a:lnTo>
                <a:lnTo>
                  <a:pt x="245363" y="305279"/>
                </a:lnTo>
                <a:lnTo>
                  <a:pt x="206412" y="321803"/>
                </a:lnTo>
                <a:lnTo>
                  <a:pt x="163067" y="327659"/>
                </a:lnTo>
                <a:lnTo>
                  <a:pt x="119723" y="321803"/>
                </a:lnTo>
                <a:lnTo>
                  <a:pt x="80771" y="305279"/>
                </a:lnTo>
                <a:lnTo>
                  <a:pt x="47767" y="279653"/>
                </a:lnTo>
                <a:lnTo>
                  <a:pt x="22267" y="246492"/>
                </a:lnTo>
                <a:lnTo>
                  <a:pt x="5826" y="207362"/>
                </a:lnTo>
                <a:lnTo>
                  <a:pt x="0" y="163829"/>
                </a:lnTo>
                <a:close/>
              </a:path>
            </a:pathLst>
          </a:custGeom>
          <a:ln w="28574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934706" y="5877305"/>
            <a:ext cx="327660" cy="327660"/>
          </a:xfrm>
          <a:custGeom>
            <a:avLst/>
            <a:gdLst/>
            <a:ahLst/>
            <a:cxnLst/>
            <a:rect l="l" t="t" r="r" b="b"/>
            <a:pathLst>
              <a:path w="327659" h="327660">
                <a:moveTo>
                  <a:pt x="0" y="163830"/>
                </a:moveTo>
                <a:lnTo>
                  <a:pt x="5856" y="120275"/>
                </a:lnTo>
                <a:lnTo>
                  <a:pt x="22380" y="81138"/>
                </a:lnTo>
                <a:lnTo>
                  <a:pt x="48005" y="47982"/>
                </a:lnTo>
                <a:lnTo>
                  <a:pt x="81167" y="22366"/>
                </a:lnTo>
                <a:lnTo>
                  <a:pt x="120297" y="5851"/>
                </a:lnTo>
                <a:lnTo>
                  <a:pt x="163829" y="0"/>
                </a:lnTo>
                <a:lnTo>
                  <a:pt x="207362" y="5851"/>
                </a:lnTo>
                <a:lnTo>
                  <a:pt x="246492" y="22366"/>
                </a:lnTo>
                <a:lnTo>
                  <a:pt x="279653" y="47982"/>
                </a:lnTo>
                <a:lnTo>
                  <a:pt x="305279" y="81138"/>
                </a:lnTo>
                <a:lnTo>
                  <a:pt x="321803" y="120275"/>
                </a:lnTo>
                <a:lnTo>
                  <a:pt x="327660" y="163830"/>
                </a:lnTo>
                <a:lnTo>
                  <a:pt x="321803" y="207380"/>
                </a:lnTo>
                <a:lnTo>
                  <a:pt x="305279" y="246515"/>
                </a:lnTo>
                <a:lnTo>
                  <a:pt x="279653" y="279673"/>
                </a:lnTo>
                <a:lnTo>
                  <a:pt x="246492" y="305291"/>
                </a:lnTo>
                <a:lnTo>
                  <a:pt x="207362" y="321807"/>
                </a:lnTo>
                <a:lnTo>
                  <a:pt x="163829" y="327660"/>
                </a:lnTo>
                <a:lnTo>
                  <a:pt x="120297" y="321807"/>
                </a:lnTo>
                <a:lnTo>
                  <a:pt x="81167" y="305291"/>
                </a:lnTo>
                <a:lnTo>
                  <a:pt x="48005" y="279673"/>
                </a:lnTo>
                <a:lnTo>
                  <a:pt x="22380" y="246515"/>
                </a:lnTo>
                <a:lnTo>
                  <a:pt x="5856" y="207380"/>
                </a:lnTo>
                <a:lnTo>
                  <a:pt x="0" y="163830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288785" y="5830061"/>
            <a:ext cx="464820" cy="434340"/>
          </a:xfrm>
          <a:custGeom>
            <a:avLst/>
            <a:gdLst/>
            <a:ahLst/>
            <a:cxnLst/>
            <a:rect l="l" t="t" r="r" b="b"/>
            <a:pathLst>
              <a:path w="464820" h="434339">
                <a:moveTo>
                  <a:pt x="0" y="217169"/>
                </a:moveTo>
                <a:lnTo>
                  <a:pt x="4720" y="173402"/>
                </a:lnTo>
                <a:lnTo>
                  <a:pt x="18258" y="132638"/>
                </a:lnTo>
                <a:lnTo>
                  <a:pt x="39681" y="95748"/>
                </a:lnTo>
                <a:lnTo>
                  <a:pt x="68056" y="63607"/>
                </a:lnTo>
                <a:lnTo>
                  <a:pt x="102449" y="37089"/>
                </a:lnTo>
                <a:lnTo>
                  <a:pt x="141928" y="17066"/>
                </a:lnTo>
                <a:lnTo>
                  <a:pt x="185559" y="4412"/>
                </a:lnTo>
                <a:lnTo>
                  <a:pt x="232410" y="0"/>
                </a:lnTo>
                <a:lnTo>
                  <a:pt x="279260" y="4412"/>
                </a:lnTo>
                <a:lnTo>
                  <a:pt x="322891" y="17066"/>
                </a:lnTo>
                <a:lnTo>
                  <a:pt x="362370" y="37089"/>
                </a:lnTo>
                <a:lnTo>
                  <a:pt x="396763" y="63607"/>
                </a:lnTo>
                <a:lnTo>
                  <a:pt x="425138" y="95748"/>
                </a:lnTo>
                <a:lnTo>
                  <a:pt x="446561" y="132638"/>
                </a:lnTo>
                <a:lnTo>
                  <a:pt x="460099" y="173402"/>
                </a:lnTo>
                <a:lnTo>
                  <a:pt x="464819" y="217169"/>
                </a:lnTo>
                <a:lnTo>
                  <a:pt x="460099" y="260937"/>
                </a:lnTo>
                <a:lnTo>
                  <a:pt x="446561" y="301701"/>
                </a:lnTo>
                <a:lnTo>
                  <a:pt x="425138" y="338591"/>
                </a:lnTo>
                <a:lnTo>
                  <a:pt x="396763" y="370732"/>
                </a:lnTo>
                <a:lnTo>
                  <a:pt x="362370" y="397250"/>
                </a:lnTo>
                <a:lnTo>
                  <a:pt x="322891" y="417273"/>
                </a:lnTo>
                <a:lnTo>
                  <a:pt x="279260" y="429927"/>
                </a:lnTo>
                <a:lnTo>
                  <a:pt x="232410" y="434339"/>
                </a:lnTo>
                <a:lnTo>
                  <a:pt x="185559" y="429927"/>
                </a:lnTo>
                <a:lnTo>
                  <a:pt x="141928" y="417273"/>
                </a:lnTo>
                <a:lnTo>
                  <a:pt x="102449" y="397250"/>
                </a:lnTo>
                <a:lnTo>
                  <a:pt x="68056" y="370732"/>
                </a:lnTo>
                <a:lnTo>
                  <a:pt x="39681" y="338591"/>
                </a:lnTo>
                <a:lnTo>
                  <a:pt x="18258" y="301701"/>
                </a:lnTo>
                <a:lnTo>
                  <a:pt x="4720" y="260937"/>
                </a:lnTo>
                <a:lnTo>
                  <a:pt x="0" y="217169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6414008" y="5783071"/>
            <a:ext cx="21653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637403" y="5528868"/>
            <a:ext cx="480695" cy="100076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480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104766" y="6238252"/>
            <a:ext cx="3992245" cy="257810"/>
          </a:xfrm>
          <a:custGeom>
            <a:avLst/>
            <a:gdLst/>
            <a:ahLst/>
            <a:cxnLst/>
            <a:rect l="l" t="t" r="r" b="b"/>
            <a:pathLst>
              <a:path w="3992245" h="257810">
                <a:moveTo>
                  <a:pt x="36830" y="0"/>
                </a:moveTo>
                <a:lnTo>
                  <a:pt x="0" y="9626"/>
                </a:lnTo>
                <a:lnTo>
                  <a:pt x="2794" y="20573"/>
                </a:lnTo>
                <a:lnTo>
                  <a:pt x="3556" y="23126"/>
                </a:lnTo>
                <a:lnTo>
                  <a:pt x="4699" y="25501"/>
                </a:lnTo>
                <a:lnTo>
                  <a:pt x="6350" y="27571"/>
                </a:lnTo>
                <a:lnTo>
                  <a:pt x="14859" y="38430"/>
                </a:lnTo>
                <a:lnTo>
                  <a:pt x="15875" y="39598"/>
                </a:lnTo>
                <a:lnTo>
                  <a:pt x="16891" y="40665"/>
                </a:lnTo>
                <a:lnTo>
                  <a:pt x="18034" y="41592"/>
                </a:lnTo>
                <a:lnTo>
                  <a:pt x="32004" y="52539"/>
                </a:lnTo>
                <a:lnTo>
                  <a:pt x="32766" y="53174"/>
                </a:lnTo>
                <a:lnTo>
                  <a:pt x="79629" y="76517"/>
                </a:lnTo>
                <a:lnTo>
                  <a:pt x="145034" y="98361"/>
                </a:lnTo>
                <a:lnTo>
                  <a:pt x="184277" y="108940"/>
                </a:lnTo>
                <a:lnTo>
                  <a:pt x="227711" y="119176"/>
                </a:lnTo>
                <a:lnTo>
                  <a:pt x="275209" y="129273"/>
                </a:lnTo>
                <a:lnTo>
                  <a:pt x="326644" y="139153"/>
                </a:lnTo>
                <a:lnTo>
                  <a:pt x="381888" y="148742"/>
                </a:lnTo>
                <a:lnTo>
                  <a:pt x="440690" y="158026"/>
                </a:lnTo>
                <a:lnTo>
                  <a:pt x="503047" y="167017"/>
                </a:lnTo>
                <a:lnTo>
                  <a:pt x="568452" y="175717"/>
                </a:lnTo>
                <a:lnTo>
                  <a:pt x="708406" y="192239"/>
                </a:lnTo>
                <a:lnTo>
                  <a:pt x="859409" y="207225"/>
                </a:lnTo>
                <a:lnTo>
                  <a:pt x="1019556" y="220586"/>
                </a:lnTo>
                <a:lnTo>
                  <a:pt x="1187831" y="232130"/>
                </a:lnTo>
                <a:lnTo>
                  <a:pt x="1452118" y="245681"/>
                </a:lnTo>
                <a:lnTo>
                  <a:pt x="1633982" y="251980"/>
                </a:lnTo>
                <a:lnTo>
                  <a:pt x="1818767" y="255892"/>
                </a:lnTo>
                <a:lnTo>
                  <a:pt x="2005076" y="257225"/>
                </a:lnTo>
                <a:lnTo>
                  <a:pt x="2191385" y="255993"/>
                </a:lnTo>
                <a:lnTo>
                  <a:pt x="2376170" y="252361"/>
                </a:lnTo>
                <a:lnTo>
                  <a:pt x="2558034" y="246646"/>
                </a:lnTo>
                <a:lnTo>
                  <a:pt x="2822321" y="234149"/>
                </a:lnTo>
                <a:lnTo>
                  <a:pt x="3051472" y="219125"/>
                </a:lnTo>
                <a:lnTo>
                  <a:pt x="2005330" y="219125"/>
                </a:lnTo>
                <a:lnTo>
                  <a:pt x="1819656" y="217792"/>
                </a:lnTo>
                <a:lnTo>
                  <a:pt x="1635252" y="213893"/>
                </a:lnTo>
                <a:lnTo>
                  <a:pt x="1453896" y="207619"/>
                </a:lnTo>
                <a:lnTo>
                  <a:pt x="1190371" y="194119"/>
                </a:lnTo>
                <a:lnTo>
                  <a:pt x="1022604" y="182613"/>
                </a:lnTo>
                <a:lnTo>
                  <a:pt x="862965" y="169303"/>
                </a:lnTo>
                <a:lnTo>
                  <a:pt x="712724" y="154381"/>
                </a:lnTo>
                <a:lnTo>
                  <a:pt x="573532" y="137947"/>
                </a:lnTo>
                <a:lnTo>
                  <a:pt x="508381" y="129311"/>
                </a:lnTo>
                <a:lnTo>
                  <a:pt x="446659" y="120395"/>
                </a:lnTo>
                <a:lnTo>
                  <a:pt x="388366" y="111201"/>
                </a:lnTo>
                <a:lnTo>
                  <a:pt x="333883" y="101739"/>
                </a:lnTo>
                <a:lnTo>
                  <a:pt x="283083" y="91998"/>
                </a:lnTo>
                <a:lnTo>
                  <a:pt x="236474" y="82092"/>
                </a:lnTo>
                <a:lnTo>
                  <a:pt x="194183" y="72148"/>
                </a:lnTo>
                <a:lnTo>
                  <a:pt x="156210" y="61950"/>
                </a:lnTo>
                <a:lnTo>
                  <a:pt x="95123" y="41694"/>
                </a:lnTo>
                <a:lnTo>
                  <a:pt x="56006" y="22618"/>
                </a:lnTo>
                <a:lnTo>
                  <a:pt x="55499" y="22618"/>
                </a:lnTo>
                <a:lnTo>
                  <a:pt x="52959" y="20929"/>
                </a:lnTo>
                <a:lnTo>
                  <a:pt x="53365" y="20929"/>
                </a:lnTo>
                <a:lnTo>
                  <a:pt x="45650" y="14820"/>
                </a:lnTo>
                <a:lnTo>
                  <a:pt x="44831" y="14820"/>
                </a:lnTo>
                <a:lnTo>
                  <a:pt x="41656" y="11658"/>
                </a:lnTo>
                <a:lnTo>
                  <a:pt x="42315" y="11658"/>
                </a:lnTo>
                <a:lnTo>
                  <a:pt x="41760" y="10960"/>
                </a:lnTo>
                <a:lnTo>
                  <a:pt x="39750" y="10960"/>
                </a:lnTo>
                <a:lnTo>
                  <a:pt x="36195" y="3962"/>
                </a:lnTo>
                <a:lnTo>
                  <a:pt x="37886" y="3962"/>
                </a:lnTo>
                <a:lnTo>
                  <a:pt x="36830" y="0"/>
                </a:lnTo>
                <a:close/>
              </a:path>
              <a:path w="3992245" h="257810">
                <a:moveTo>
                  <a:pt x="3884025" y="66353"/>
                </a:moveTo>
                <a:lnTo>
                  <a:pt x="3817239" y="83921"/>
                </a:lnTo>
                <a:lnTo>
                  <a:pt x="3774693" y="93179"/>
                </a:lnTo>
                <a:lnTo>
                  <a:pt x="3727958" y="102260"/>
                </a:lnTo>
                <a:lnTo>
                  <a:pt x="3677158" y="111163"/>
                </a:lnTo>
                <a:lnTo>
                  <a:pt x="3622421" y="119887"/>
                </a:lnTo>
                <a:lnTo>
                  <a:pt x="3564255" y="128422"/>
                </a:lnTo>
                <a:lnTo>
                  <a:pt x="3437382" y="144576"/>
                </a:lnTo>
                <a:lnTo>
                  <a:pt x="3298063" y="159588"/>
                </a:lnTo>
                <a:lnTo>
                  <a:pt x="3147694" y="173278"/>
                </a:lnTo>
                <a:lnTo>
                  <a:pt x="2988056" y="185546"/>
                </a:lnTo>
                <a:lnTo>
                  <a:pt x="2733929" y="200761"/>
                </a:lnTo>
                <a:lnTo>
                  <a:pt x="2556891" y="208559"/>
                </a:lnTo>
                <a:lnTo>
                  <a:pt x="2375535" y="214274"/>
                </a:lnTo>
                <a:lnTo>
                  <a:pt x="2191131" y="217893"/>
                </a:lnTo>
                <a:lnTo>
                  <a:pt x="2005330" y="219125"/>
                </a:lnTo>
                <a:lnTo>
                  <a:pt x="3051472" y="219125"/>
                </a:lnTo>
                <a:lnTo>
                  <a:pt x="3227578" y="204571"/>
                </a:lnTo>
                <a:lnTo>
                  <a:pt x="3373119" y="190169"/>
                </a:lnTo>
                <a:lnTo>
                  <a:pt x="3507105" y="174409"/>
                </a:lnTo>
                <a:lnTo>
                  <a:pt x="3569208" y="166192"/>
                </a:lnTo>
                <a:lnTo>
                  <a:pt x="3628009" y="157581"/>
                </a:lnTo>
                <a:lnTo>
                  <a:pt x="3683254" y="148780"/>
                </a:lnTo>
                <a:lnTo>
                  <a:pt x="3734562" y="139788"/>
                </a:lnTo>
                <a:lnTo>
                  <a:pt x="3781933" y="130568"/>
                </a:lnTo>
                <a:lnTo>
                  <a:pt x="3825366" y="121157"/>
                </a:lnTo>
                <a:lnTo>
                  <a:pt x="3864229" y="111607"/>
                </a:lnTo>
                <a:lnTo>
                  <a:pt x="3902075" y="100596"/>
                </a:lnTo>
                <a:lnTo>
                  <a:pt x="3904107" y="99427"/>
                </a:lnTo>
                <a:lnTo>
                  <a:pt x="3884451" y="67055"/>
                </a:lnTo>
                <a:lnTo>
                  <a:pt x="3883914" y="67055"/>
                </a:lnTo>
                <a:lnTo>
                  <a:pt x="3884308" y="66820"/>
                </a:lnTo>
                <a:lnTo>
                  <a:pt x="3884025" y="66353"/>
                </a:lnTo>
                <a:close/>
              </a:path>
              <a:path w="3992245" h="257810">
                <a:moveTo>
                  <a:pt x="3971151" y="56984"/>
                </a:moveTo>
                <a:lnTo>
                  <a:pt x="3900805" y="56984"/>
                </a:lnTo>
                <a:lnTo>
                  <a:pt x="3920363" y="89674"/>
                </a:lnTo>
                <a:lnTo>
                  <a:pt x="3904107" y="99427"/>
                </a:lnTo>
                <a:lnTo>
                  <a:pt x="3923918" y="132054"/>
                </a:lnTo>
                <a:lnTo>
                  <a:pt x="3971151" y="56984"/>
                </a:lnTo>
                <a:close/>
              </a:path>
              <a:path w="3992245" h="257810">
                <a:moveTo>
                  <a:pt x="3905645" y="65074"/>
                </a:moveTo>
                <a:lnTo>
                  <a:pt x="3888486" y="65074"/>
                </a:lnTo>
                <a:lnTo>
                  <a:pt x="3884457" y="66820"/>
                </a:lnTo>
                <a:lnTo>
                  <a:pt x="3884451" y="67055"/>
                </a:lnTo>
                <a:lnTo>
                  <a:pt x="3904107" y="99427"/>
                </a:lnTo>
                <a:lnTo>
                  <a:pt x="3920363" y="89674"/>
                </a:lnTo>
                <a:lnTo>
                  <a:pt x="3905645" y="65074"/>
                </a:lnTo>
                <a:close/>
              </a:path>
              <a:path w="3992245" h="257810">
                <a:moveTo>
                  <a:pt x="3884308" y="66820"/>
                </a:moveTo>
                <a:lnTo>
                  <a:pt x="3883914" y="67055"/>
                </a:lnTo>
                <a:lnTo>
                  <a:pt x="3884339" y="66871"/>
                </a:lnTo>
                <a:close/>
              </a:path>
              <a:path w="3992245" h="257810">
                <a:moveTo>
                  <a:pt x="3884339" y="66871"/>
                </a:moveTo>
                <a:lnTo>
                  <a:pt x="3883914" y="67055"/>
                </a:lnTo>
                <a:lnTo>
                  <a:pt x="3884451" y="67055"/>
                </a:lnTo>
                <a:lnTo>
                  <a:pt x="3884339" y="66871"/>
                </a:lnTo>
                <a:close/>
              </a:path>
              <a:path w="3992245" h="257810">
                <a:moveTo>
                  <a:pt x="3888486" y="65074"/>
                </a:moveTo>
                <a:lnTo>
                  <a:pt x="3886080" y="65764"/>
                </a:lnTo>
                <a:lnTo>
                  <a:pt x="3884308" y="66820"/>
                </a:lnTo>
                <a:lnTo>
                  <a:pt x="3888486" y="65074"/>
                </a:lnTo>
                <a:close/>
              </a:path>
              <a:path w="3992245" h="257810">
                <a:moveTo>
                  <a:pt x="3886080" y="65764"/>
                </a:moveTo>
                <a:lnTo>
                  <a:pt x="3884025" y="66353"/>
                </a:lnTo>
                <a:lnTo>
                  <a:pt x="3884308" y="66820"/>
                </a:lnTo>
                <a:lnTo>
                  <a:pt x="3886080" y="65764"/>
                </a:lnTo>
                <a:close/>
              </a:path>
              <a:path w="3992245" h="257810">
                <a:moveTo>
                  <a:pt x="3991991" y="23863"/>
                </a:moveTo>
                <a:lnTo>
                  <a:pt x="3864610" y="34378"/>
                </a:lnTo>
                <a:lnTo>
                  <a:pt x="3884025" y="66353"/>
                </a:lnTo>
                <a:lnTo>
                  <a:pt x="3886080" y="65764"/>
                </a:lnTo>
                <a:lnTo>
                  <a:pt x="3900805" y="56984"/>
                </a:lnTo>
                <a:lnTo>
                  <a:pt x="3971151" y="56984"/>
                </a:lnTo>
                <a:lnTo>
                  <a:pt x="3991991" y="23863"/>
                </a:lnTo>
                <a:close/>
              </a:path>
              <a:path w="3992245" h="257810">
                <a:moveTo>
                  <a:pt x="3900805" y="56984"/>
                </a:moveTo>
                <a:lnTo>
                  <a:pt x="3886080" y="65764"/>
                </a:lnTo>
                <a:lnTo>
                  <a:pt x="3888486" y="65074"/>
                </a:lnTo>
                <a:lnTo>
                  <a:pt x="3905645" y="65074"/>
                </a:lnTo>
                <a:lnTo>
                  <a:pt x="3900805" y="56984"/>
                </a:lnTo>
                <a:close/>
              </a:path>
              <a:path w="3992245" h="257810">
                <a:moveTo>
                  <a:pt x="52959" y="20929"/>
                </a:moveTo>
                <a:lnTo>
                  <a:pt x="55499" y="22618"/>
                </a:lnTo>
                <a:lnTo>
                  <a:pt x="54314" y="21680"/>
                </a:lnTo>
                <a:lnTo>
                  <a:pt x="52959" y="20929"/>
                </a:lnTo>
                <a:close/>
              </a:path>
              <a:path w="3992245" h="257810">
                <a:moveTo>
                  <a:pt x="54314" y="21680"/>
                </a:moveTo>
                <a:lnTo>
                  <a:pt x="55499" y="22618"/>
                </a:lnTo>
                <a:lnTo>
                  <a:pt x="56006" y="22618"/>
                </a:lnTo>
                <a:lnTo>
                  <a:pt x="54314" y="21680"/>
                </a:lnTo>
                <a:close/>
              </a:path>
              <a:path w="3992245" h="257810">
                <a:moveTo>
                  <a:pt x="53365" y="20929"/>
                </a:moveTo>
                <a:lnTo>
                  <a:pt x="52959" y="20929"/>
                </a:lnTo>
                <a:lnTo>
                  <a:pt x="54314" y="21680"/>
                </a:lnTo>
                <a:lnTo>
                  <a:pt x="53365" y="20929"/>
                </a:lnTo>
                <a:close/>
              </a:path>
              <a:path w="3992245" h="257810">
                <a:moveTo>
                  <a:pt x="41656" y="11658"/>
                </a:moveTo>
                <a:lnTo>
                  <a:pt x="44831" y="14820"/>
                </a:lnTo>
                <a:lnTo>
                  <a:pt x="43438" y="13069"/>
                </a:lnTo>
                <a:lnTo>
                  <a:pt x="41656" y="11658"/>
                </a:lnTo>
                <a:close/>
              </a:path>
              <a:path w="3992245" h="257810">
                <a:moveTo>
                  <a:pt x="43438" y="13069"/>
                </a:moveTo>
                <a:lnTo>
                  <a:pt x="44831" y="14820"/>
                </a:lnTo>
                <a:lnTo>
                  <a:pt x="45650" y="14820"/>
                </a:lnTo>
                <a:lnTo>
                  <a:pt x="43438" y="13069"/>
                </a:lnTo>
                <a:close/>
              </a:path>
              <a:path w="3992245" h="257810">
                <a:moveTo>
                  <a:pt x="42315" y="11658"/>
                </a:moveTo>
                <a:lnTo>
                  <a:pt x="41656" y="11658"/>
                </a:lnTo>
                <a:lnTo>
                  <a:pt x="43438" y="13069"/>
                </a:lnTo>
                <a:lnTo>
                  <a:pt x="42315" y="11658"/>
                </a:lnTo>
                <a:close/>
              </a:path>
              <a:path w="3992245" h="257810">
                <a:moveTo>
                  <a:pt x="36195" y="3962"/>
                </a:moveTo>
                <a:lnTo>
                  <a:pt x="39750" y="10960"/>
                </a:lnTo>
                <a:lnTo>
                  <a:pt x="38738" y="7160"/>
                </a:lnTo>
                <a:lnTo>
                  <a:pt x="36195" y="3962"/>
                </a:lnTo>
                <a:close/>
              </a:path>
              <a:path w="3992245" h="257810">
                <a:moveTo>
                  <a:pt x="38738" y="7160"/>
                </a:moveTo>
                <a:lnTo>
                  <a:pt x="39750" y="10960"/>
                </a:lnTo>
                <a:lnTo>
                  <a:pt x="41760" y="10960"/>
                </a:lnTo>
                <a:lnTo>
                  <a:pt x="38738" y="7160"/>
                </a:lnTo>
                <a:close/>
              </a:path>
              <a:path w="3992245" h="257810">
                <a:moveTo>
                  <a:pt x="37886" y="3962"/>
                </a:moveTo>
                <a:lnTo>
                  <a:pt x="36195" y="3962"/>
                </a:lnTo>
                <a:lnTo>
                  <a:pt x="38738" y="7160"/>
                </a:lnTo>
                <a:lnTo>
                  <a:pt x="37886" y="396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454650" y="5986957"/>
            <a:ext cx="815340" cy="114300"/>
          </a:xfrm>
          <a:custGeom>
            <a:avLst/>
            <a:gdLst/>
            <a:ahLst/>
            <a:cxnLst/>
            <a:rect l="l" t="t" r="r" b="b"/>
            <a:pathLst>
              <a:path w="815339" h="114300">
                <a:moveTo>
                  <a:pt x="702310" y="0"/>
                </a:moveTo>
                <a:lnTo>
                  <a:pt x="701209" y="38077"/>
                </a:lnTo>
                <a:lnTo>
                  <a:pt x="720216" y="38633"/>
                </a:lnTo>
                <a:lnTo>
                  <a:pt x="719074" y="76720"/>
                </a:lnTo>
                <a:lnTo>
                  <a:pt x="700092" y="76720"/>
                </a:lnTo>
                <a:lnTo>
                  <a:pt x="699008" y="114249"/>
                </a:lnTo>
                <a:lnTo>
                  <a:pt x="779824" y="76720"/>
                </a:lnTo>
                <a:lnTo>
                  <a:pt x="719074" y="76720"/>
                </a:lnTo>
                <a:lnTo>
                  <a:pt x="700108" y="76166"/>
                </a:lnTo>
                <a:lnTo>
                  <a:pt x="781019" y="76166"/>
                </a:lnTo>
                <a:lnTo>
                  <a:pt x="814832" y="60464"/>
                </a:lnTo>
                <a:lnTo>
                  <a:pt x="702310" y="0"/>
                </a:lnTo>
                <a:close/>
              </a:path>
              <a:path w="815339" h="114300">
                <a:moveTo>
                  <a:pt x="701209" y="38077"/>
                </a:moveTo>
                <a:lnTo>
                  <a:pt x="700108" y="76166"/>
                </a:lnTo>
                <a:lnTo>
                  <a:pt x="719074" y="76720"/>
                </a:lnTo>
                <a:lnTo>
                  <a:pt x="720216" y="38633"/>
                </a:lnTo>
                <a:lnTo>
                  <a:pt x="701209" y="38077"/>
                </a:lnTo>
                <a:close/>
              </a:path>
              <a:path w="815339" h="114300">
                <a:moveTo>
                  <a:pt x="1015" y="17614"/>
                </a:moveTo>
                <a:lnTo>
                  <a:pt x="0" y="55689"/>
                </a:lnTo>
                <a:lnTo>
                  <a:pt x="700108" y="76166"/>
                </a:lnTo>
                <a:lnTo>
                  <a:pt x="701209" y="38077"/>
                </a:lnTo>
                <a:lnTo>
                  <a:pt x="1015" y="1761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374134" y="5964224"/>
            <a:ext cx="578485" cy="114300"/>
          </a:xfrm>
          <a:custGeom>
            <a:avLst/>
            <a:gdLst/>
            <a:ahLst/>
            <a:cxnLst/>
            <a:rect l="l" t="t" r="r" b="b"/>
            <a:pathLst>
              <a:path w="578485" h="114300">
                <a:moveTo>
                  <a:pt x="465454" y="0"/>
                </a:moveTo>
                <a:lnTo>
                  <a:pt x="464523" y="38084"/>
                </a:lnTo>
                <a:lnTo>
                  <a:pt x="483615" y="38557"/>
                </a:lnTo>
                <a:lnTo>
                  <a:pt x="482726" y="76644"/>
                </a:lnTo>
                <a:lnTo>
                  <a:pt x="463580" y="76644"/>
                </a:lnTo>
                <a:lnTo>
                  <a:pt x="462661" y="114261"/>
                </a:lnTo>
                <a:lnTo>
                  <a:pt x="542804" y="76644"/>
                </a:lnTo>
                <a:lnTo>
                  <a:pt x="482726" y="76644"/>
                </a:lnTo>
                <a:lnTo>
                  <a:pt x="463592" y="76171"/>
                </a:lnTo>
                <a:lnTo>
                  <a:pt x="543812" y="76171"/>
                </a:lnTo>
                <a:lnTo>
                  <a:pt x="578357" y="59956"/>
                </a:lnTo>
                <a:lnTo>
                  <a:pt x="465454" y="0"/>
                </a:lnTo>
                <a:close/>
              </a:path>
              <a:path w="578485" h="114300">
                <a:moveTo>
                  <a:pt x="464523" y="38084"/>
                </a:moveTo>
                <a:lnTo>
                  <a:pt x="463592" y="76171"/>
                </a:lnTo>
                <a:lnTo>
                  <a:pt x="482726" y="76644"/>
                </a:lnTo>
                <a:lnTo>
                  <a:pt x="483615" y="38557"/>
                </a:lnTo>
                <a:lnTo>
                  <a:pt x="464523" y="38084"/>
                </a:lnTo>
                <a:close/>
              </a:path>
              <a:path w="578485" h="114300">
                <a:moveTo>
                  <a:pt x="1015" y="26619"/>
                </a:moveTo>
                <a:lnTo>
                  <a:pt x="0" y="64706"/>
                </a:lnTo>
                <a:lnTo>
                  <a:pt x="463592" y="76171"/>
                </a:lnTo>
                <a:lnTo>
                  <a:pt x="464523" y="38084"/>
                </a:lnTo>
                <a:lnTo>
                  <a:pt x="1015" y="2661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509009" y="5088635"/>
            <a:ext cx="300355" cy="114300"/>
          </a:xfrm>
          <a:custGeom>
            <a:avLst/>
            <a:gdLst/>
            <a:ahLst/>
            <a:cxnLst/>
            <a:rect l="l" t="t" r="r" b="b"/>
            <a:pathLst>
              <a:path w="300354" h="114300">
                <a:moveTo>
                  <a:pt x="185927" y="0"/>
                </a:moveTo>
                <a:lnTo>
                  <a:pt x="185927" y="114300"/>
                </a:lnTo>
                <a:lnTo>
                  <a:pt x="262127" y="76200"/>
                </a:lnTo>
                <a:lnTo>
                  <a:pt x="204977" y="76200"/>
                </a:lnTo>
                <a:lnTo>
                  <a:pt x="204977" y="38100"/>
                </a:lnTo>
                <a:lnTo>
                  <a:pt x="262127" y="38100"/>
                </a:lnTo>
                <a:lnTo>
                  <a:pt x="185927" y="0"/>
                </a:lnTo>
                <a:close/>
              </a:path>
              <a:path w="300354" h="114300">
                <a:moveTo>
                  <a:pt x="18592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85927" y="76200"/>
                </a:lnTo>
                <a:lnTo>
                  <a:pt x="185927" y="38100"/>
                </a:lnTo>
                <a:close/>
              </a:path>
              <a:path w="300354" h="114300">
                <a:moveTo>
                  <a:pt x="262127" y="38100"/>
                </a:moveTo>
                <a:lnTo>
                  <a:pt x="204977" y="38100"/>
                </a:lnTo>
                <a:lnTo>
                  <a:pt x="204977" y="76200"/>
                </a:lnTo>
                <a:lnTo>
                  <a:pt x="262127" y="76200"/>
                </a:lnTo>
                <a:lnTo>
                  <a:pt x="300227" y="57150"/>
                </a:lnTo>
                <a:lnTo>
                  <a:pt x="262127" y="381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509009" y="5966459"/>
            <a:ext cx="381000" cy="114300"/>
          </a:xfrm>
          <a:custGeom>
            <a:avLst/>
            <a:gdLst/>
            <a:ahLst/>
            <a:cxnLst/>
            <a:rect l="l" t="t" r="r" b="b"/>
            <a:pathLst>
              <a:path w="381000" h="114300">
                <a:moveTo>
                  <a:pt x="266700" y="0"/>
                </a:moveTo>
                <a:lnTo>
                  <a:pt x="266700" y="114299"/>
                </a:lnTo>
                <a:lnTo>
                  <a:pt x="342900" y="76199"/>
                </a:lnTo>
                <a:lnTo>
                  <a:pt x="285750" y="76199"/>
                </a:lnTo>
                <a:lnTo>
                  <a:pt x="285750" y="38099"/>
                </a:lnTo>
                <a:lnTo>
                  <a:pt x="342900" y="38099"/>
                </a:lnTo>
                <a:lnTo>
                  <a:pt x="266700" y="0"/>
                </a:lnTo>
                <a:close/>
              </a:path>
              <a:path w="381000" h="114300">
                <a:moveTo>
                  <a:pt x="266700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6700" y="76199"/>
                </a:lnTo>
                <a:lnTo>
                  <a:pt x="266700" y="38099"/>
                </a:lnTo>
                <a:close/>
              </a:path>
              <a:path w="381000" h="114300">
                <a:moveTo>
                  <a:pt x="342900" y="38099"/>
                </a:moveTo>
                <a:lnTo>
                  <a:pt x="285750" y="38099"/>
                </a:lnTo>
                <a:lnTo>
                  <a:pt x="285750" y="76199"/>
                </a:lnTo>
                <a:lnTo>
                  <a:pt x="342900" y="76199"/>
                </a:lnTo>
                <a:lnTo>
                  <a:pt x="381000" y="57149"/>
                </a:lnTo>
                <a:lnTo>
                  <a:pt x="342900" y="38099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0734" y="2500122"/>
            <a:ext cx="381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solidFill>
                  <a:srgbClr val="66FFFF"/>
                </a:solidFill>
                <a:latin typeface="宋体"/>
                <a:cs typeface="宋体"/>
              </a:rPr>
              <a:t>若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03367" y="2448001"/>
            <a:ext cx="74930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5" b="1">
                <a:solidFill>
                  <a:srgbClr val="FFFF00"/>
                </a:solidFill>
                <a:latin typeface="Symbol"/>
                <a:cs typeface="Symbol"/>
              </a:rPr>
              <a:t></a:t>
            </a:r>
            <a:r>
              <a:rPr dirty="0" sz="3000" b="1" i="1">
                <a:solidFill>
                  <a:srgbClr val="FFFF00"/>
                </a:solidFill>
                <a:latin typeface="Times New Roman"/>
                <a:cs typeface="Times New Roman"/>
              </a:rPr>
              <a:t>V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27521" y="2660142"/>
            <a:ext cx="18097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7325" y="3170935"/>
            <a:ext cx="68357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当前输入符号</a:t>
            </a:r>
            <a:r>
              <a:rPr dirty="0" sz="2400" spc="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，分析器扫描指针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+1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，进入</a:t>
            </a:r>
            <a:r>
              <a:rPr dirty="0" sz="2400" spc="5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状态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0734" y="3780535"/>
            <a:ext cx="381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solidFill>
                  <a:srgbClr val="66FFFF"/>
                </a:solidFill>
                <a:latin typeface="宋体"/>
                <a:cs typeface="宋体"/>
              </a:rPr>
              <a:t>若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77967" y="3728415"/>
            <a:ext cx="10420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</a:t>
            </a:r>
            <a:r>
              <a:rPr dirty="0" sz="3000" b="1" i="1">
                <a:solidFill>
                  <a:srgbClr val="FFFF00"/>
                </a:solidFill>
                <a:latin typeface="Times New Roman"/>
                <a:cs typeface="Times New Roman"/>
              </a:rPr>
              <a:t>V</a:t>
            </a:r>
            <a:r>
              <a:rPr dirty="0" baseline="-12500" sz="3000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endParaRPr baseline="-12500" sz="3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5216" y="4401057"/>
            <a:ext cx="71716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分析器进入</a:t>
            </a:r>
            <a:r>
              <a:rPr dirty="0" sz="2400" spc="5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的分析，扫描指针不变，分析</a:t>
            </a:r>
            <a:r>
              <a:rPr dirty="0" sz="2400" spc="-25" b="1">
                <a:solidFill>
                  <a:srgbClr val="FFFFFF"/>
                </a:solidFill>
                <a:latin typeface="宋体"/>
                <a:cs typeface="宋体"/>
              </a:rPr>
              <a:t>完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后进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31416" y="4913121"/>
            <a:ext cx="15303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入到状</a:t>
            </a:r>
            <a:r>
              <a:rPr dirty="0" sz="2400" spc="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4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00734" y="5429503"/>
            <a:ext cx="381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solidFill>
                  <a:srgbClr val="66FFFF"/>
                </a:solidFill>
                <a:latin typeface="宋体"/>
                <a:cs typeface="宋体"/>
              </a:rPr>
              <a:t>若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31416" y="6022949"/>
            <a:ext cx="42119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直接进</a:t>
            </a:r>
            <a:r>
              <a:rPr dirty="0" sz="2400" spc="5" b="1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状态，扫描指针不变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148077" y="3821429"/>
            <a:ext cx="466725" cy="436245"/>
          </a:xfrm>
          <a:custGeom>
            <a:avLst/>
            <a:gdLst/>
            <a:ahLst/>
            <a:cxnLst/>
            <a:rect l="l" t="t" r="r" b="b"/>
            <a:pathLst>
              <a:path w="466725" h="436245">
                <a:moveTo>
                  <a:pt x="0" y="217932"/>
                </a:moveTo>
                <a:lnTo>
                  <a:pt x="4737" y="174000"/>
                </a:lnTo>
                <a:lnTo>
                  <a:pt x="18323" y="133088"/>
                </a:lnTo>
                <a:lnTo>
                  <a:pt x="39821" y="96068"/>
                </a:lnTo>
                <a:lnTo>
                  <a:pt x="68294" y="63817"/>
                </a:lnTo>
                <a:lnTo>
                  <a:pt x="102803" y="37210"/>
                </a:lnTo>
                <a:lnTo>
                  <a:pt x="142410" y="17121"/>
                </a:lnTo>
                <a:lnTo>
                  <a:pt x="186179" y="4426"/>
                </a:lnTo>
                <a:lnTo>
                  <a:pt x="233172" y="0"/>
                </a:lnTo>
                <a:lnTo>
                  <a:pt x="280164" y="4426"/>
                </a:lnTo>
                <a:lnTo>
                  <a:pt x="323933" y="17121"/>
                </a:lnTo>
                <a:lnTo>
                  <a:pt x="363540" y="37210"/>
                </a:lnTo>
                <a:lnTo>
                  <a:pt x="398049" y="63817"/>
                </a:lnTo>
                <a:lnTo>
                  <a:pt x="426522" y="96068"/>
                </a:lnTo>
                <a:lnTo>
                  <a:pt x="448020" y="133088"/>
                </a:lnTo>
                <a:lnTo>
                  <a:pt x="461606" y="174000"/>
                </a:lnTo>
                <a:lnTo>
                  <a:pt x="466344" y="217932"/>
                </a:lnTo>
                <a:lnTo>
                  <a:pt x="461606" y="261863"/>
                </a:lnTo>
                <a:lnTo>
                  <a:pt x="448020" y="302775"/>
                </a:lnTo>
                <a:lnTo>
                  <a:pt x="426522" y="339795"/>
                </a:lnTo>
                <a:lnTo>
                  <a:pt x="398049" y="372046"/>
                </a:lnTo>
                <a:lnTo>
                  <a:pt x="363540" y="398653"/>
                </a:lnTo>
                <a:lnTo>
                  <a:pt x="323933" y="418742"/>
                </a:lnTo>
                <a:lnTo>
                  <a:pt x="280164" y="431437"/>
                </a:lnTo>
                <a:lnTo>
                  <a:pt x="233172" y="435864"/>
                </a:lnTo>
                <a:lnTo>
                  <a:pt x="186179" y="431437"/>
                </a:lnTo>
                <a:lnTo>
                  <a:pt x="142410" y="418742"/>
                </a:lnTo>
                <a:lnTo>
                  <a:pt x="102803" y="398653"/>
                </a:lnTo>
                <a:lnTo>
                  <a:pt x="68294" y="372046"/>
                </a:lnTo>
                <a:lnTo>
                  <a:pt x="39821" y="339795"/>
                </a:lnTo>
                <a:lnTo>
                  <a:pt x="18323" y="302775"/>
                </a:lnTo>
                <a:lnTo>
                  <a:pt x="4737" y="261863"/>
                </a:lnTo>
                <a:lnTo>
                  <a:pt x="0" y="21793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694938" y="3821429"/>
            <a:ext cx="464820" cy="436245"/>
          </a:xfrm>
          <a:custGeom>
            <a:avLst/>
            <a:gdLst/>
            <a:ahLst/>
            <a:cxnLst/>
            <a:rect l="l" t="t" r="r" b="b"/>
            <a:pathLst>
              <a:path w="464820" h="436245">
                <a:moveTo>
                  <a:pt x="0" y="217932"/>
                </a:moveTo>
                <a:lnTo>
                  <a:pt x="4720" y="174000"/>
                </a:lnTo>
                <a:lnTo>
                  <a:pt x="18258" y="133088"/>
                </a:lnTo>
                <a:lnTo>
                  <a:pt x="39681" y="96068"/>
                </a:lnTo>
                <a:lnTo>
                  <a:pt x="68056" y="63817"/>
                </a:lnTo>
                <a:lnTo>
                  <a:pt x="102449" y="37210"/>
                </a:lnTo>
                <a:lnTo>
                  <a:pt x="141928" y="17121"/>
                </a:lnTo>
                <a:lnTo>
                  <a:pt x="185559" y="4426"/>
                </a:lnTo>
                <a:lnTo>
                  <a:pt x="232410" y="0"/>
                </a:lnTo>
                <a:lnTo>
                  <a:pt x="279260" y="4426"/>
                </a:lnTo>
                <a:lnTo>
                  <a:pt x="322891" y="17121"/>
                </a:lnTo>
                <a:lnTo>
                  <a:pt x="362370" y="37210"/>
                </a:lnTo>
                <a:lnTo>
                  <a:pt x="396763" y="63817"/>
                </a:lnTo>
                <a:lnTo>
                  <a:pt x="425138" y="96068"/>
                </a:lnTo>
                <a:lnTo>
                  <a:pt x="446561" y="133088"/>
                </a:lnTo>
                <a:lnTo>
                  <a:pt x="460099" y="174000"/>
                </a:lnTo>
                <a:lnTo>
                  <a:pt x="464820" y="217932"/>
                </a:lnTo>
                <a:lnTo>
                  <a:pt x="460099" y="261863"/>
                </a:lnTo>
                <a:lnTo>
                  <a:pt x="446561" y="302775"/>
                </a:lnTo>
                <a:lnTo>
                  <a:pt x="425138" y="339795"/>
                </a:lnTo>
                <a:lnTo>
                  <a:pt x="396763" y="372046"/>
                </a:lnTo>
                <a:lnTo>
                  <a:pt x="362370" y="398653"/>
                </a:lnTo>
                <a:lnTo>
                  <a:pt x="322891" y="418742"/>
                </a:lnTo>
                <a:lnTo>
                  <a:pt x="279260" y="431437"/>
                </a:lnTo>
                <a:lnTo>
                  <a:pt x="232410" y="435864"/>
                </a:lnTo>
                <a:lnTo>
                  <a:pt x="185559" y="431437"/>
                </a:lnTo>
                <a:lnTo>
                  <a:pt x="141928" y="418742"/>
                </a:lnTo>
                <a:lnTo>
                  <a:pt x="102449" y="398653"/>
                </a:lnTo>
                <a:lnTo>
                  <a:pt x="68056" y="372046"/>
                </a:lnTo>
                <a:lnTo>
                  <a:pt x="39681" y="339795"/>
                </a:lnTo>
                <a:lnTo>
                  <a:pt x="18258" y="302775"/>
                </a:lnTo>
                <a:lnTo>
                  <a:pt x="4720" y="261863"/>
                </a:lnTo>
                <a:lnTo>
                  <a:pt x="0" y="21793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262377" y="3774389"/>
            <a:ext cx="174180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01470" algn="l"/>
              </a:tabLst>
            </a:pP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614422" y="3995928"/>
            <a:ext cx="1080770" cy="114300"/>
          </a:xfrm>
          <a:custGeom>
            <a:avLst/>
            <a:gdLst/>
            <a:ahLst/>
            <a:cxnLst/>
            <a:rect l="l" t="t" r="r" b="b"/>
            <a:pathLst>
              <a:path w="1080770" h="114300">
                <a:moveTo>
                  <a:pt x="966215" y="0"/>
                </a:moveTo>
                <a:lnTo>
                  <a:pt x="966215" y="114300"/>
                </a:lnTo>
                <a:lnTo>
                  <a:pt x="1042415" y="76200"/>
                </a:lnTo>
                <a:lnTo>
                  <a:pt x="985265" y="76200"/>
                </a:lnTo>
                <a:lnTo>
                  <a:pt x="985265" y="38100"/>
                </a:lnTo>
                <a:lnTo>
                  <a:pt x="1042415" y="38100"/>
                </a:lnTo>
                <a:lnTo>
                  <a:pt x="966215" y="0"/>
                </a:lnTo>
                <a:close/>
              </a:path>
              <a:path w="1080770" h="114300">
                <a:moveTo>
                  <a:pt x="96621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66215" y="76200"/>
                </a:lnTo>
                <a:lnTo>
                  <a:pt x="966215" y="38100"/>
                </a:lnTo>
                <a:close/>
              </a:path>
              <a:path w="1080770" h="114300">
                <a:moveTo>
                  <a:pt x="1042415" y="38100"/>
                </a:moveTo>
                <a:lnTo>
                  <a:pt x="985265" y="38100"/>
                </a:lnTo>
                <a:lnTo>
                  <a:pt x="985265" y="76200"/>
                </a:lnTo>
                <a:lnTo>
                  <a:pt x="1042415" y="76200"/>
                </a:lnTo>
                <a:lnTo>
                  <a:pt x="1080515" y="57150"/>
                </a:lnTo>
                <a:lnTo>
                  <a:pt x="1042415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982848" y="3537026"/>
            <a:ext cx="2628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300477" y="5461253"/>
            <a:ext cx="466725" cy="436245"/>
          </a:xfrm>
          <a:custGeom>
            <a:avLst/>
            <a:gdLst/>
            <a:ahLst/>
            <a:cxnLst/>
            <a:rect l="l" t="t" r="r" b="b"/>
            <a:pathLst>
              <a:path w="466725" h="436245">
                <a:moveTo>
                  <a:pt x="0" y="217932"/>
                </a:moveTo>
                <a:lnTo>
                  <a:pt x="4737" y="174000"/>
                </a:lnTo>
                <a:lnTo>
                  <a:pt x="18323" y="133088"/>
                </a:lnTo>
                <a:lnTo>
                  <a:pt x="39821" y="96068"/>
                </a:lnTo>
                <a:lnTo>
                  <a:pt x="68294" y="63817"/>
                </a:lnTo>
                <a:lnTo>
                  <a:pt x="102803" y="37210"/>
                </a:lnTo>
                <a:lnTo>
                  <a:pt x="142410" y="17121"/>
                </a:lnTo>
                <a:lnTo>
                  <a:pt x="186179" y="4426"/>
                </a:lnTo>
                <a:lnTo>
                  <a:pt x="233172" y="0"/>
                </a:lnTo>
                <a:lnTo>
                  <a:pt x="280164" y="4426"/>
                </a:lnTo>
                <a:lnTo>
                  <a:pt x="323933" y="17121"/>
                </a:lnTo>
                <a:lnTo>
                  <a:pt x="363540" y="37210"/>
                </a:lnTo>
                <a:lnTo>
                  <a:pt x="398049" y="63817"/>
                </a:lnTo>
                <a:lnTo>
                  <a:pt x="426522" y="96068"/>
                </a:lnTo>
                <a:lnTo>
                  <a:pt x="448020" y="133088"/>
                </a:lnTo>
                <a:lnTo>
                  <a:pt x="461606" y="174000"/>
                </a:lnTo>
                <a:lnTo>
                  <a:pt x="466344" y="217932"/>
                </a:lnTo>
                <a:lnTo>
                  <a:pt x="461606" y="261852"/>
                </a:lnTo>
                <a:lnTo>
                  <a:pt x="448020" y="302759"/>
                </a:lnTo>
                <a:lnTo>
                  <a:pt x="426522" y="339778"/>
                </a:lnTo>
                <a:lnTo>
                  <a:pt x="398049" y="372032"/>
                </a:lnTo>
                <a:lnTo>
                  <a:pt x="363540" y="398643"/>
                </a:lnTo>
                <a:lnTo>
                  <a:pt x="323933" y="418737"/>
                </a:lnTo>
                <a:lnTo>
                  <a:pt x="280164" y="431436"/>
                </a:lnTo>
                <a:lnTo>
                  <a:pt x="233172" y="435864"/>
                </a:lnTo>
                <a:lnTo>
                  <a:pt x="186179" y="431436"/>
                </a:lnTo>
                <a:lnTo>
                  <a:pt x="142410" y="418737"/>
                </a:lnTo>
                <a:lnTo>
                  <a:pt x="102803" y="398643"/>
                </a:lnTo>
                <a:lnTo>
                  <a:pt x="68294" y="372032"/>
                </a:lnTo>
                <a:lnTo>
                  <a:pt x="39821" y="339778"/>
                </a:lnTo>
                <a:lnTo>
                  <a:pt x="18323" y="302759"/>
                </a:lnTo>
                <a:lnTo>
                  <a:pt x="4737" y="261852"/>
                </a:lnTo>
                <a:lnTo>
                  <a:pt x="0" y="21793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847338" y="5461253"/>
            <a:ext cx="464820" cy="436245"/>
          </a:xfrm>
          <a:custGeom>
            <a:avLst/>
            <a:gdLst/>
            <a:ahLst/>
            <a:cxnLst/>
            <a:rect l="l" t="t" r="r" b="b"/>
            <a:pathLst>
              <a:path w="464820" h="436245">
                <a:moveTo>
                  <a:pt x="0" y="217932"/>
                </a:moveTo>
                <a:lnTo>
                  <a:pt x="4720" y="174000"/>
                </a:lnTo>
                <a:lnTo>
                  <a:pt x="18258" y="133088"/>
                </a:lnTo>
                <a:lnTo>
                  <a:pt x="39681" y="96068"/>
                </a:lnTo>
                <a:lnTo>
                  <a:pt x="68056" y="63817"/>
                </a:lnTo>
                <a:lnTo>
                  <a:pt x="102449" y="37210"/>
                </a:lnTo>
                <a:lnTo>
                  <a:pt x="141928" y="17121"/>
                </a:lnTo>
                <a:lnTo>
                  <a:pt x="185559" y="4426"/>
                </a:lnTo>
                <a:lnTo>
                  <a:pt x="232410" y="0"/>
                </a:lnTo>
                <a:lnTo>
                  <a:pt x="279260" y="4426"/>
                </a:lnTo>
                <a:lnTo>
                  <a:pt x="322891" y="17121"/>
                </a:lnTo>
                <a:lnTo>
                  <a:pt x="362370" y="37210"/>
                </a:lnTo>
                <a:lnTo>
                  <a:pt x="396763" y="63817"/>
                </a:lnTo>
                <a:lnTo>
                  <a:pt x="425138" y="96068"/>
                </a:lnTo>
                <a:lnTo>
                  <a:pt x="446561" y="133088"/>
                </a:lnTo>
                <a:lnTo>
                  <a:pt x="460099" y="174000"/>
                </a:lnTo>
                <a:lnTo>
                  <a:pt x="464820" y="217932"/>
                </a:lnTo>
                <a:lnTo>
                  <a:pt x="460099" y="261852"/>
                </a:lnTo>
                <a:lnTo>
                  <a:pt x="446561" y="302759"/>
                </a:lnTo>
                <a:lnTo>
                  <a:pt x="425138" y="339778"/>
                </a:lnTo>
                <a:lnTo>
                  <a:pt x="396763" y="372032"/>
                </a:lnTo>
                <a:lnTo>
                  <a:pt x="362370" y="398643"/>
                </a:lnTo>
                <a:lnTo>
                  <a:pt x="322891" y="418737"/>
                </a:lnTo>
                <a:lnTo>
                  <a:pt x="279260" y="431436"/>
                </a:lnTo>
                <a:lnTo>
                  <a:pt x="232410" y="435864"/>
                </a:lnTo>
                <a:lnTo>
                  <a:pt x="185559" y="431436"/>
                </a:lnTo>
                <a:lnTo>
                  <a:pt x="141928" y="418737"/>
                </a:lnTo>
                <a:lnTo>
                  <a:pt x="102449" y="398643"/>
                </a:lnTo>
                <a:lnTo>
                  <a:pt x="68056" y="372032"/>
                </a:lnTo>
                <a:lnTo>
                  <a:pt x="39681" y="339778"/>
                </a:lnTo>
                <a:lnTo>
                  <a:pt x="18258" y="302759"/>
                </a:lnTo>
                <a:lnTo>
                  <a:pt x="4720" y="261852"/>
                </a:lnTo>
                <a:lnTo>
                  <a:pt x="0" y="21793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414777" y="5415178"/>
            <a:ext cx="174180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01470" algn="l"/>
              </a:tabLst>
            </a:pP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	t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766822" y="5635752"/>
            <a:ext cx="1080770" cy="114300"/>
          </a:xfrm>
          <a:custGeom>
            <a:avLst/>
            <a:gdLst/>
            <a:ahLst/>
            <a:cxnLst/>
            <a:rect l="l" t="t" r="r" b="b"/>
            <a:pathLst>
              <a:path w="1080770" h="114300">
                <a:moveTo>
                  <a:pt x="966215" y="0"/>
                </a:moveTo>
                <a:lnTo>
                  <a:pt x="966215" y="114300"/>
                </a:lnTo>
                <a:lnTo>
                  <a:pt x="1042415" y="76200"/>
                </a:lnTo>
                <a:lnTo>
                  <a:pt x="985265" y="76200"/>
                </a:lnTo>
                <a:lnTo>
                  <a:pt x="985265" y="38100"/>
                </a:lnTo>
                <a:lnTo>
                  <a:pt x="1042415" y="38100"/>
                </a:lnTo>
                <a:lnTo>
                  <a:pt x="966215" y="0"/>
                </a:lnTo>
                <a:close/>
              </a:path>
              <a:path w="1080770" h="114300">
                <a:moveTo>
                  <a:pt x="96621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66215" y="76200"/>
                </a:lnTo>
                <a:lnTo>
                  <a:pt x="966215" y="38100"/>
                </a:lnTo>
                <a:close/>
              </a:path>
              <a:path w="1080770" h="114300">
                <a:moveTo>
                  <a:pt x="1042415" y="38100"/>
                </a:moveTo>
                <a:lnTo>
                  <a:pt x="985265" y="38100"/>
                </a:lnTo>
                <a:lnTo>
                  <a:pt x="985265" y="76200"/>
                </a:lnTo>
                <a:lnTo>
                  <a:pt x="1042415" y="76200"/>
                </a:lnTo>
                <a:lnTo>
                  <a:pt x="1080515" y="57150"/>
                </a:lnTo>
                <a:lnTo>
                  <a:pt x="1042415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135248" y="5143591"/>
            <a:ext cx="204470" cy="540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3350">
              <a:latin typeface="Symbol"/>
              <a:cs typeface="Symbo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148077" y="2436114"/>
            <a:ext cx="466725" cy="434340"/>
          </a:xfrm>
          <a:custGeom>
            <a:avLst/>
            <a:gdLst/>
            <a:ahLst/>
            <a:cxnLst/>
            <a:rect l="l" t="t" r="r" b="b"/>
            <a:pathLst>
              <a:path w="466725" h="434339">
                <a:moveTo>
                  <a:pt x="0" y="217170"/>
                </a:moveTo>
                <a:lnTo>
                  <a:pt x="4737" y="173417"/>
                </a:lnTo>
                <a:lnTo>
                  <a:pt x="18323" y="132659"/>
                </a:lnTo>
                <a:lnTo>
                  <a:pt x="39821" y="95770"/>
                </a:lnTo>
                <a:lnTo>
                  <a:pt x="68294" y="63626"/>
                </a:lnTo>
                <a:lnTo>
                  <a:pt x="102803" y="37102"/>
                </a:lnTo>
                <a:lnTo>
                  <a:pt x="142410" y="17073"/>
                </a:lnTo>
                <a:lnTo>
                  <a:pt x="186179" y="4414"/>
                </a:lnTo>
                <a:lnTo>
                  <a:pt x="233172" y="0"/>
                </a:lnTo>
                <a:lnTo>
                  <a:pt x="280164" y="4414"/>
                </a:lnTo>
                <a:lnTo>
                  <a:pt x="323933" y="17073"/>
                </a:lnTo>
                <a:lnTo>
                  <a:pt x="363540" y="37102"/>
                </a:lnTo>
                <a:lnTo>
                  <a:pt x="398049" y="63627"/>
                </a:lnTo>
                <a:lnTo>
                  <a:pt x="426522" y="95770"/>
                </a:lnTo>
                <a:lnTo>
                  <a:pt x="448020" y="132659"/>
                </a:lnTo>
                <a:lnTo>
                  <a:pt x="461606" y="173417"/>
                </a:lnTo>
                <a:lnTo>
                  <a:pt x="466344" y="217170"/>
                </a:lnTo>
                <a:lnTo>
                  <a:pt x="461606" y="260922"/>
                </a:lnTo>
                <a:lnTo>
                  <a:pt x="448020" y="301680"/>
                </a:lnTo>
                <a:lnTo>
                  <a:pt x="426522" y="338569"/>
                </a:lnTo>
                <a:lnTo>
                  <a:pt x="398049" y="370713"/>
                </a:lnTo>
                <a:lnTo>
                  <a:pt x="363540" y="397237"/>
                </a:lnTo>
                <a:lnTo>
                  <a:pt x="323933" y="417266"/>
                </a:lnTo>
                <a:lnTo>
                  <a:pt x="280164" y="429925"/>
                </a:lnTo>
                <a:lnTo>
                  <a:pt x="233172" y="434339"/>
                </a:lnTo>
                <a:lnTo>
                  <a:pt x="186179" y="429925"/>
                </a:lnTo>
                <a:lnTo>
                  <a:pt x="142410" y="417266"/>
                </a:lnTo>
                <a:lnTo>
                  <a:pt x="102803" y="397237"/>
                </a:lnTo>
                <a:lnTo>
                  <a:pt x="68294" y="370713"/>
                </a:lnTo>
                <a:lnTo>
                  <a:pt x="39821" y="338569"/>
                </a:lnTo>
                <a:lnTo>
                  <a:pt x="18323" y="301680"/>
                </a:lnTo>
                <a:lnTo>
                  <a:pt x="4737" y="260922"/>
                </a:lnTo>
                <a:lnTo>
                  <a:pt x="0" y="21717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694938" y="2436114"/>
            <a:ext cx="464820" cy="434340"/>
          </a:xfrm>
          <a:custGeom>
            <a:avLst/>
            <a:gdLst/>
            <a:ahLst/>
            <a:cxnLst/>
            <a:rect l="l" t="t" r="r" b="b"/>
            <a:pathLst>
              <a:path w="464820" h="434339">
                <a:moveTo>
                  <a:pt x="0" y="217170"/>
                </a:moveTo>
                <a:lnTo>
                  <a:pt x="4720" y="173417"/>
                </a:lnTo>
                <a:lnTo>
                  <a:pt x="18258" y="132659"/>
                </a:lnTo>
                <a:lnTo>
                  <a:pt x="39681" y="95770"/>
                </a:lnTo>
                <a:lnTo>
                  <a:pt x="68056" y="63626"/>
                </a:lnTo>
                <a:lnTo>
                  <a:pt x="102449" y="37102"/>
                </a:lnTo>
                <a:lnTo>
                  <a:pt x="141928" y="17073"/>
                </a:lnTo>
                <a:lnTo>
                  <a:pt x="185559" y="4414"/>
                </a:lnTo>
                <a:lnTo>
                  <a:pt x="232410" y="0"/>
                </a:lnTo>
                <a:lnTo>
                  <a:pt x="279260" y="4414"/>
                </a:lnTo>
                <a:lnTo>
                  <a:pt x="322891" y="17073"/>
                </a:lnTo>
                <a:lnTo>
                  <a:pt x="362370" y="37102"/>
                </a:lnTo>
                <a:lnTo>
                  <a:pt x="396763" y="63627"/>
                </a:lnTo>
                <a:lnTo>
                  <a:pt x="425138" y="95770"/>
                </a:lnTo>
                <a:lnTo>
                  <a:pt x="446561" y="132659"/>
                </a:lnTo>
                <a:lnTo>
                  <a:pt x="460099" y="173417"/>
                </a:lnTo>
                <a:lnTo>
                  <a:pt x="464820" y="217170"/>
                </a:lnTo>
                <a:lnTo>
                  <a:pt x="460099" y="260922"/>
                </a:lnTo>
                <a:lnTo>
                  <a:pt x="446561" y="301680"/>
                </a:lnTo>
                <a:lnTo>
                  <a:pt x="425138" y="338569"/>
                </a:lnTo>
                <a:lnTo>
                  <a:pt x="396763" y="370713"/>
                </a:lnTo>
                <a:lnTo>
                  <a:pt x="362370" y="397237"/>
                </a:lnTo>
                <a:lnTo>
                  <a:pt x="322891" y="417266"/>
                </a:lnTo>
                <a:lnTo>
                  <a:pt x="279260" y="429925"/>
                </a:lnTo>
                <a:lnTo>
                  <a:pt x="232410" y="434339"/>
                </a:lnTo>
                <a:lnTo>
                  <a:pt x="185559" y="429925"/>
                </a:lnTo>
                <a:lnTo>
                  <a:pt x="141928" y="417266"/>
                </a:lnTo>
                <a:lnTo>
                  <a:pt x="102449" y="397237"/>
                </a:lnTo>
                <a:lnTo>
                  <a:pt x="68056" y="370713"/>
                </a:lnTo>
                <a:lnTo>
                  <a:pt x="39681" y="338569"/>
                </a:lnTo>
                <a:lnTo>
                  <a:pt x="18258" y="301680"/>
                </a:lnTo>
                <a:lnTo>
                  <a:pt x="4720" y="260922"/>
                </a:lnTo>
                <a:lnTo>
                  <a:pt x="0" y="21717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262377" y="2388184"/>
            <a:ext cx="174180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01470" algn="l"/>
              </a:tabLst>
            </a:pP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614422" y="2610611"/>
            <a:ext cx="1080770" cy="114300"/>
          </a:xfrm>
          <a:custGeom>
            <a:avLst/>
            <a:gdLst/>
            <a:ahLst/>
            <a:cxnLst/>
            <a:rect l="l" t="t" r="r" b="b"/>
            <a:pathLst>
              <a:path w="1080770" h="114300">
                <a:moveTo>
                  <a:pt x="966215" y="0"/>
                </a:moveTo>
                <a:lnTo>
                  <a:pt x="966215" y="114300"/>
                </a:lnTo>
                <a:lnTo>
                  <a:pt x="1042415" y="76200"/>
                </a:lnTo>
                <a:lnTo>
                  <a:pt x="985265" y="76200"/>
                </a:lnTo>
                <a:lnTo>
                  <a:pt x="985265" y="38100"/>
                </a:lnTo>
                <a:lnTo>
                  <a:pt x="1042415" y="38100"/>
                </a:lnTo>
                <a:lnTo>
                  <a:pt x="966215" y="0"/>
                </a:lnTo>
                <a:close/>
              </a:path>
              <a:path w="1080770" h="114300">
                <a:moveTo>
                  <a:pt x="96621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66215" y="76200"/>
                </a:lnTo>
                <a:lnTo>
                  <a:pt x="966215" y="38100"/>
                </a:lnTo>
                <a:close/>
              </a:path>
              <a:path w="1080770" h="114300">
                <a:moveTo>
                  <a:pt x="1042415" y="38100"/>
                </a:moveTo>
                <a:lnTo>
                  <a:pt x="985265" y="38100"/>
                </a:lnTo>
                <a:lnTo>
                  <a:pt x="985265" y="76200"/>
                </a:lnTo>
                <a:lnTo>
                  <a:pt x="1042415" y="76200"/>
                </a:lnTo>
                <a:lnTo>
                  <a:pt x="1080515" y="57150"/>
                </a:lnTo>
                <a:lnTo>
                  <a:pt x="1042415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556385" y="26923"/>
            <a:ext cx="61556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  <a:tab pos="186118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4.3</a:t>
            </a:r>
            <a:r>
              <a:rPr dirty="0" u="sng" sz="2000" spc="42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递归下降分析法和递归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下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降分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426516" y="462182"/>
            <a:ext cx="7389495" cy="218948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331470" marR="5080" indent="-319405">
              <a:lnSpc>
                <a:spcPct val="132700"/>
              </a:lnSpc>
              <a:spcBef>
                <a:spcPts val="180"/>
              </a:spcBef>
              <a:buClr>
                <a:srgbClr val="66FFFF"/>
              </a:buClr>
              <a:buSzPct val="129687"/>
              <a:buFont typeface="Wingdings"/>
              <a:buChar char=""/>
              <a:tabLst>
                <a:tab pos="457200" algn="l"/>
                <a:tab pos="457834" algn="l"/>
              </a:tabLst>
            </a:pPr>
            <a:r>
              <a:rPr dirty="0"/>
              <a:t>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如何利用状态图构造递归下降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分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析器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-75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开始处于图的初态，即分析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器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的进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点； 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-71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在某状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  <a:p>
            <a:pPr algn="ctr" marR="2039620">
              <a:lnSpc>
                <a:spcPts val="2790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6042" y="0"/>
            <a:ext cx="7576184" cy="1087755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1432560">
              <a:lnSpc>
                <a:spcPct val="100000"/>
              </a:lnSpc>
              <a:spcBef>
                <a:spcPts val="1190"/>
              </a:spcBef>
              <a:tabLst>
                <a:tab pos="1941830" algn="l"/>
                <a:tab pos="3281679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4.3</a:t>
            </a:r>
            <a:r>
              <a:rPr dirty="0" u="sng" sz="2000" spc="42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递归下降分析法和递归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下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降分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析器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通过状态图的化简来化简递归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下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降分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器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52338" y="3263519"/>
            <a:ext cx="1539239" cy="5015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137147" y="3207829"/>
            <a:ext cx="769620" cy="371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137147" y="3170650"/>
            <a:ext cx="769620" cy="1857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752338" y="3263519"/>
            <a:ext cx="1539240" cy="501650"/>
          </a:xfrm>
          <a:custGeom>
            <a:avLst/>
            <a:gdLst/>
            <a:ahLst/>
            <a:cxnLst/>
            <a:rect l="l" t="t" r="r" b="b"/>
            <a:pathLst>
              <a:path w="1539240" h="501650">
                <a:moveTo>
                  <a:pt x="1539239" y="352932"/>
                </a:moveTo>
                <a:lnTo>
                  <a:pt x="1154430" y="352932"/>
                </a:lnTo>
                <a:lnTo>
                  <a:pt x="1154430" y="0"/>
                </a:lnTo>
                <a:lnTo>
                  <a:pt x="384810" y="0"/>
                </a:lnTo>
                <a:lnTo>
                  <a:pt x="384810" y="352932"/>
                </a:lnTo>
                <a:lnTo>
                  <a:pt x="0" y="352932"/>
                </a:lnTo>
                <a:lnTo>
                  <a:pt x="769619" y="501522"/>
                </a:lnTo>
                <a:lnTo>
                  <a:pt x="1539239" y="352932"/>
                </a:lnTo>
                <a:close/>
              </a:path>
            </a:pathLst>
          </a:custGeom>
          <a:ln w="38100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118097" y="3208273"/>
            <a:ext cx="807720" cy="55880"/>
          </a:xfrm>
          <a:custGeom>
            <a:avLst/>
            <a:gdLst/>
            <a:ahLst/>
            <a:cxnLst/>
            <a:rect l="l" t="t" r="r" b="b"/>
            <a:pathLst>
              <a:path w="807720" h="55879">
                <a:moveTo>
                  <a:pt x="0" y="55752"/>
                </a:moveTo>
                <a:lnTo>
                  <a:pt x="807720" y="55752"/>
                </a:lnTo>
                <a:lnTo>
                  <a:pt x="807720" y="0"/>
                </a:lnTo>
                <a:lnTo>
                  <a:pt x="0" y="0"/>
                </a:lnTo>
                <a:lnTo>
                  <a:pt x="0" y="55752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118097" y="3151600"/>
            <a:ext cx="807720" cy="57150"/>
          </a:xfrm>
          <a:custGeom>
            <a:avLst/>
            <a:gdLst/>
            <a:ahLst/>
            <a:cxnLst/>
            <a:rect l="l" t="t" r="r" b="b"/>
            <a:pathLst>
              <a:path w="807720" h="57150">
                <a:moveTo>
                  <a:pt x="0" y="56673"/>
                </a:moveTo>
                <a:lnTo>
                  <a:pt x="807720" y="56673"/>
                </a:lnTo>
                <a:lnTo>
                  <a:pt x="807720" y="0"/>
                </a:lnTo>
                <a:lnTo>
                  <a:pt x="0" y="0"/>
                </a:lnTo>
                <a:lnTo>
                  <a:pt x="0" y="56673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996430" y="2718441"/>
            <a:ext cx="1868805" cy="817880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815"/>
              </a:spcBef>
            </a:pP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′</a:t>
            </a: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的递归直接进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0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′</a:t>
            </a: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-150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的开始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6516" y="1124788"/>
            <a:ext cx="24193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例如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2800" spc="-2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800" spc="-5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TE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′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14958" y="2032254"/>
            <a:ext cx="19596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'→ +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TE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'</a:t>
            </a:r>
            <a:r>
              <a:rPr dirty="0" sz="2800" spc="-6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2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20" b="1" i="1">
                <a:solidFill>
                  <a:srgbClr val="FFFF00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90009" y="2047494"/>
            <a:ext cx="464820" cy="434340"/>
          </a:xfrm>
          <a:custGeom>
            <a:avLst/>
            <a:gdLst/>
            <a:ahLst/>
            <a:cxnLst/>
            <a:rect l="l" t="t" r="r" b="b"/>
            <a:pathLst>
              <a:path w="464820" h="434339">
                <a:moveTo>
                  <a:pt x="0" y="217169"/>
                </a:moveTo>
                <a:lnTo>
                  <a:pt x="4720" y="173417"/>
                </a:lnTo>
                <a:lnTo>
                  <a:pt x="18258" y="132659"/>
                </a:lnTo>
                <a:lnTo>
                  <a:pt x="39681" y="95770"/>
                </a:lnTo>
                <a:lnTo>
                  <a:pt x="68056" y="63626"/>
                </a:lnTo>
                <a:lnTo>
                  <a:pt x="102449" y="37102"/>
                </a:lnTo>
                <a:lnTo>
                  <a:pt x="141928" y="17073"/>
                </a:lnTo>
                <a:lnTo>
                  <a:pt x="185559" y="4414"/>
                </a:lnTo>
                <a:lnTo>
                  <a:pt x="232410" y="0"/>
                </a:lnTo>
                <a:lnTo>
                  <a:pt x="279260" y="4414"/>
                </a:lnTo>
                <a:lnTo>
                  <a:pt x="322891" y="17073"/>
                </a:lnTo>
                <a:lnTo>
                  <a:pt x="362370" y="37102"/>
                </a:lnTo>
                <a:lnTo>
                  <a:pt x="396763" y="63626"/>
                </a:lnTo>
                <a:lnTo>
                  <a:pt x="425138" y="95770"/>
                </a:lnTo>
                <a:lnTo>
                  <a:pt x="446561" y="132659"/>
                </a:lnTo>
                <a:lnTo>
                  <a:pt x="460099" y="173417"/>
                </a:lnTo>
                <a:lnTo>
                  <a:pt x="464819" y="217169"/>
                </a:lnTo>
                <a:lnTo>
                  <a:pt x="460099" y="260922"/>
                </a:lnTo>
                <a:lnTo>
                  <a:pt x="446561" y="301680"/>
                </a:lnTo>
                <a:lnTo>
                  <a:pt x="425138" y="338569"/>
                </a:lnTo>
                <a:lnTo>
                  <a:pt x="396763" y="370713"/>
                </a:lnTo>
                <a:lnTo>
                  <a:pt x="362370" y="397237"/>
                </a:lnTo>
                <a:lnTo>
                  <a:pt x="322891" y="417266"/>
                </a:lnTo>
                <a:lnTo>
                  <a:pt x="279260" y="429925"/>
                </a:lnTo>
                <a:lnTo>
                  <a:pt x="232410" y="434339"/>
                </a:lnTo>
                <a:lnTo>
                  <a:pt x="185559" y="429925"/>
                </a:lnTo>
                <a:lnTo>
                  <a:pt x="141928" y="417266"/>
                </a:lnTo>
                <a:lnTo>
                  <a:pt x="102449" y="397237"/>
                </a:lnTo>
                <a:lnTo>
                  <a:pt x="68056" y="370712"/>
                </a:lnTo>
                <a:lnTo>
                  <a:pt x="39681" y="338569"/>
                </a:lnTo>
                <a:lnTo>
                  <a:pt x="18258" y="301680"/>
                </a:lnTo>
                <a:lnTo>
                  <a:pt x="4720" y="260922"/>
                </a:lnTo>
                <a:lnTo>
                  <a:pt x="0" y="217169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014978" y="1999615"/>
            <a:ext cx="2159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970526" y="2061210"/>
            <a:ext cx="466725" cy="436245"/>
          </a:xfrm>
          <a:custGeom>
            <a:avLst/>
            <a:gdLst/>
            <a:ahLst/>
            <a:cxnLst/>
            <a:rect l="l" t="t" r="r" b="b"/>
            <a:pathLst>
              <a:path w="466725" h="436244">
                <a:moveTo>
                  <a:pt x="0" y="217931"/>
                </a:moveTo>
                <a:lnTo>
                  <a:pt x="4737" y="174000"/>
                </a:lnTo>
                <a:lnTo>
                  <a:pt x="18323" y="133088"/>
                </a:lnTo>
                <a:lnTo>
                  <a:pt x="39821" y="96068"/>
                </a:lnTo>
                <a:lnTo>
                  <a:pt x="68294" y="63817"/>
                </a:lnTo>
                <a:lnTo>
                  <a:pt x="102803" y="37210"/>
                </a:lnTo>
                <a:lnTo>
                  <a:pt x="142410" y="17121"/>
                </a:lnTo>
                <a:lnTo>
                  <a:pt x="186179" y="4426"/>
                </a:lnTo>
                <a:lnTo>
                  <a:pt x="233172" y="0"/>
                </a:lnTo>
                <a:lnTo>
                  <a:pt x="280164" y="4426"/>
                </a:lnTo>
                <a:lnTo>
                  <a:pt x="323933" y="17121"/>
                </a:lnTo>
                <a:lnTo>
                  <a:pt x="363540" y="37210"/>
                </a:lnTo>
                <a:lnTo>
                  <a:pt x="398049" y="63817"/>
                </a:lnTo>
                <a:lnTo>
                  <a:pt x="426522" y="96068"/>
                </a:lnTo>
                <a:lnTo>
                  <a:pt x="448020" y="133088"/>
                </a:lnTo>
                <a:lnTo>
                  <a:pt x="461606" y="174000"/>
                </a:lnTo>
                <a:lnTo>
                  <a:pt x="466344" y="217931"/>
                </a:lnTo>
                <a:lnTo>
                  <a:pt x="461606" y="261863"/>
                </a:lnTo>
                <a:lnTo>
                  <a:pt x="448020" y="302775"/>
                </a:lnTo>
                <a:lnTo>
                  <a:pt x="426522" y="339795"/>
                </a:lnTo>
                <a:lnTo>
                  <a:pt x="398049" y="372046"/>
                </a:lnTo>
                <a:lnTo>
                  <a:pt x="363540" y="398653"/>
                </a:lnTo>
                <a:lnTo>
                  <a:pt x="323933" y="418742"/>
                </a:lnTo>
                <a:lnTo>
                  <a:pt x="280164" y="431437"/>
                </a:lnTo>
                <a:lnTo>
                  <a:pt x="233172" y="435863"/>
                </a:lnTo>
                <a:lnTo>
                  <a:pt x="186179" y="431437"/>
                </a:lnTo>
                <a:lnTo>
                  <a:pt x="142410" y="418742"/>
                </a:lnTo>
                <a:lnTo>
                  <a:pt x="102803" y="398653"/>
                </a:lnTo>
                <a:lnTo>
                  <a:pt x="68294" y="372046"/>
                </a:lnTo>
                <a:lnTo>
                  <a:pt x="39821" y="339795"/>
                </a:lnTo>
                <a:lnTo>
                  <a:pt x="18323" y="302775"/>
                </a:lnTo>
                <a:lnTo>
                  <a:pt x="4737" y="261863"/>
                </a:lnTo>
                <a:lnTo>
                  <a:pt x="0" y="21793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096002" y="2013965"/>
            <a:ext cx="2159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52873" y="1811274"/>
            <a:ext cx="213995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863078" y="2070354"/>
            <a:ext cx="466725" cy="436245"/>
          </a:xfrm>
          <a:custGeom>
            <a:avLst/>
            <a:gdLst/>
            <a:ahLst/>
            <a:cxnLst/>
            <a:rect l="l" t="t" r="r" b="b"/>
            <a:pathLst>
              <a:path w="466725" h="436244">
                <a:moveTo>
                  <a:pt x="0" y="217932"/>
                </a:moveTo>
                <a:lnTo>
                  <a:pt x="4737" y="174000"/>
                </a:lnTo>
                <a:lnTo>
                  <a:pt x="18323" y="133088"/>
                </a:lnTo>
                <a:lnTo>
                  <a:pt x="39821" y="96068"/>
                </a:lnTo>
                <a:lnTo>
                  <a:pt x="68294" y="63817"/>
                </a:lnTo>
                <a:lnTo>
                  <a:pt x="102803" y="37210"/>
                </a:lnTo>
                <a:lnTo>
                  <a:pt x="142410" y="17121"/>
                </a:lnTo>
                <a:lnTo>
                  <a:pt x="186179" y="4426"/>
                </a:lnTo>
                <a:lnTo>
                  <a:pt x="233172" y="0"/>
                </a:lnTo>
                <a:lnTo>
                  <a:pt x="280164" y="4426"/>
                </a:lnTo>
                <a:lnTo>
                  <a:pt x="323933" y="17121"/>
                </a:lnTo>
                <a:lnTo>
                  <a:pt x="363540" y="37210"/>
                </a:lnTo>
                <a:lnTo>
                  <a:pt x="398049" y="63817"/>
                </a:lnTo>
                <a:lnTo>
                  <a:pt x="426522" y="96068"/>
                </a:lnTo>
                <a:lnTo>
                  <a:pt x="448020" y="133088"/>
                </a:lnTo>
                <a:lnTo>
                  <a:pt x="461606" y="174000"/>
                </a:lnTo>
                <a:lnTo>
                  <a:pt x="466344" y="217932"/>
                </a:lnTo>
                <a:lnTo>
                  <a:pt x="461606" y="261863"/>
                </a:lnTo>
                <a:lnTo>
                  <a:pt x="448020" y="302775"/>
                </a:lnTo>
                <a:lnTo>
                  <a:pt x="426522" y="339795"/>
                </a:lnTo>
                <a:lnTo>
                  <a:pt x="398049" y="372046"/>
                </a:lnTo>
                <a:lnTo>
                  <a:pt x="363540" y="398653"/>
                </a:lnTo>
                <a:lnTo>
                  <a:pt x="323933" y="418742"/>
                </a:lnTo>
                <a:lnTo>
                  <a:pt x="280164" y="431437"/>
                </a:lnTo>
                <a:lnTo>
                  <a:pt x="233172" y="435863"/>
                </a:lnTo>
                <a:lnTo>
                  <a:pt x="186179" y="431437"/>
                </a:lnTo>
                <a:lnTo>
                  <a:pt x="142410" y="418742"/>
                </a:lnTo>
                <a:lnTo>
                  <a:pt x="102803" y="398653"/>
                </a:lnTo>
                <a:lnTo>
                  <a:pt x="68294" y="372046"/>
                </a:lnTo>
                <a:lnTo>
                  <a:pt x="39821" y="339795"/>
                </a:lnTo>
                <a:lnTo>
                  <a:pt x="18323" y="302775"/>
                </a:lnTo>
                <a:lnTo>
                  <a:pt x="4737" y="261863"/>
                </a:lnTo>
                <a:lnTo>
                  <a:pt x="0" y="217932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8008746" y="2081276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782561" y="2244851"/>
            <a:ext cx="1080770" cy="114300"/>
          </a:xfrm>
          <a:custGeom>
            <a:avLst/>
            <a:gdLst/>
            <a:ahLst/>
            <a:cxnLst/>
            <a:rect l="l" t="t" r="r" b="b"/>
            <a:pathLst>
              <a:path w="1080770" h="114300">
                <a:moveTo>
                  <a:pt x="966216" y="0"/>
                </a:moveTo>
                <a:lnTo>
                  <a:pt x="966216" y="114300"/>
                </a:lnTo>
                <a:lnTo>
                  <a:pt x="1042416" y="76200"/>
                </a:lnTo>
                <a:lnTo>
                  <a:pt x="985266" y="76200"/>
                </a:lnTo>
                <a:lnTo>
                  <a:pt x="985266" y="38100"/>
                </a:lnTo>
                <a:lnTo>
                  <a:pt x="1042416" y="38100"/>
                </a:lnTo>
                <a:lnTo>
                  <a:pt x="966216" y="0"/>
                </a:lnTo>
                <a:close/>
              </a:path>
              <a:path w="1080770" h="114300">
                <a:moveTo>
                  <a:pt x="96621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66216" y="76200"/>
                </a:lnTo>
                <a:lnTo>
                  <a:pt x="966216" y="38100"/>
                </a:lnTo>
                <a:close/>
              </a:path>
              <a:path w="1080770" h="114300">
                <a:moveTo>
                  <a:pt x="1042416" y="38100"/>
                </a:moveTo>
                <a:lnTo>
                  <a:pt x="985266" y="38100"/>
                </a:lnTo>
                <a:lnTo>
                  <a:pt x="985266" y="76200"/>
                </a:lnTo>
                <a:lnTo>
                  <a:pt x="1042416" y="76200"/>
                </a:lnTo>
                <a:lnTo>
                  <a:pt x="1080516" y="57150"/>
                </a:lnTo>
                <a:lnTo>
                  <a:pt x="104241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7152258" y="1814575"/>
            <a:ext cx="3619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′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809238" y="1159002"/>
            <a:ext cx="464820" cy="436245"/>
          </a:xfrm>
          <a:custGeom>
            <a:avLst/>
            <a:gdLst/>
            <a:ahLst/>
            <a:cxnLst/>
            <a:rect l="l" t="t" r="r" b="b"/>
            <a:pathLst>
              <a:path w="464820" h="436244">
                <a:moveTo>
                  <a:pt x="0" y="217932"/>
                </a:moveTo>
                <a:lnTo>
                  <a:pt x="4720" y="174000"/>
                </a:lnTo>
                <a:lnTo>
                  <a:pt x="18258" y="133088"/>
                </a:lnTo>
                <a:lnTo>
                  <a:pt x="39681" y="96068"/>
                </a:lnTo>
                <a:lnTo>
                  <a:pt x="68056" y="63817"/>
                </a:lnTo>
                <a:lnTo>
                  <a:pt x="102449" y="37210"/>
                </a:lnTo>
                <a:lnTo>
                  <a:pt x="141928" y="17121"/>
                </a:lnTo>
                <a:lnTo>
                  <a:pt x="185559" y="4426"/>
                </a:lnTo>
                <a:lnTo>
                  <a:pt x="232410" y="0"/>
                </a:lnTo>
                <a:lnTo>
                  <a:pt x="279260" y="4426"/>
                </a:lnTo>
                <a:lnTo>
                  <a:pt x="322891" y="17121"/>
                </a:lnTo>
                <a:lnTo>
                  <a:pt x="362370" y="37210"/>
                </a:lnTo>
                <a:lnTo>
                  <a:pt x="396763" y="63817"/>
                </a:lnTo>
                <a:lnTo>
                  <a:pt x="425138" y="96068"/>
                </a:lnTo>
                <a:lnTo>
                  <a:pt x="446561" y="133088"/>
                </a:lnTo>
                <a:lnTo>
                  <a:pt x="460099" y="174000"/>
                </a:lnTo>
                <a:lnTo>
                  <a:pt x="464820" y="217932"/>
                </a:lnTo>
                <a:lnTo>
                  <a:pt x="460099" y="261863"/>
                </a:lnTo>
                <a:lnTo>
                  <a:pt x="446561" y="302775"/>
                </a:lnTo>
                <a:lnTo>
                  <a:pt x="425138" y="339795"/>
                </a:lnTo>
                <a:lnTo>
                  <a:pt x="396763" y="372046"/>
                </a:lnTo>
                <a:lnTo>
                  <a:pt x="362370" y="398653"/>
                </a:lnTo>
                <a:lnTo>
                  <a:pt x="322891" y="418742"/>
                </a:lnTo>
                <a:lnTo>
                  <a:pt x="279260" y="431437"/>
                </a:lnTo>
                <a:lnTo>
                  <a:pt x="232410" y="435863"/>
                </a:lnTo>
                <a:lnTo>
                  <a:pt x="185559" y="431437"/>
                </a:lnTo>
                <a:lnTo>
                  <a:pt x="141928" y="418742"/>
                </a:lnTo>
                <a:lnTo>
                  <a:pt x="102449" y="398653"/>
                </a:lnTo>
                <a:lnTo>
                  <a:pt x="68056" y="372046"/>
                </a:lnTo>
                <a:lnTo>
                  <a:pt x="39681" y="339795"/>
                </a:lnTo>
                <a:lnTo>
                  <a:pt x="18258" y="302775"/>
                </a:lnTo>
                <a:lnTo>
                  <a:pt x="4720" y="261863"/>
                </a:lnTo>
                <a:lnTo>
                  <a:pt x="0" y="21793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356097" y="1159002"/>
            <a:ext cx="464820" cy="436245"/>
          </a:xfrm>
          <a:custGeom>
            <a:avLst/>
            <a:gdLst/>
            <a:ahLst/>
            <a:cxnLst/>
            <a:rect l="l" t="t" r="r" b="b"/>
            <a:pathLst>
              <a:path w="464820" h="436244">
                <a:moveTo>
                  <a:pt x="0" y="217932"/>
                </a:moveTo>
                <a:lnTo>
                  <a:pt x="4720" y="174000"/>
                </a:lnTo>
                <a:lnTo>
                  <a:pt x="18258" y="133088"/>
                </a:lnTo>
                <a:lnTo>
                  <a:pt x="39681" y="96068"/>
                </a:lnTo>
                <a:lnTo>
                  <a:pt x="68056" y="63817"/>
                </a:lnTo>
                <a:lnTo>
                  <a:pt x="102449" y="37210"/>
                </a:lnTo>
                <a:lnTo>
                  <a:pt x="141928" y="17121"/>
                </a:lnTo>
                <a:lnTo>
                  <a:pt x="185559" y="4426"/>
                </a:lnTo>
                <a:lnTo>
                  <a:pt x="232410" y="0"/>
                </a:lnTo>
                <a:lnTo>
                  <a:pt x="279260" y="4426"/>
                </a:lnTo>
                <a:lnTo>
                  <a:pt x="322891" y="17121"/>
                </a:lnTo>
                <a:lnTo>
                  <a:pt x="362370" y="37210"/>
                </a:lnTo>
                <a:lnTo>
                  <a:pt x="396763" y="63817"/>
                </a:lnTo>
                <a:lnTo>
                  <a:pt x="425138" y="96068"/>
                </a:lnTo>
                <a:lnTo>
                  <a:pt x="446561" y="133088"/>
                </a:lnTo>
                <a:lnTo>
                  <a:pt x="460099" y="174000"/>
                </a:lnTo>
                <a:lnTo>
                  <a:pt x="464819" y="217932"/>
                </a:lnTo>
                <a:lnTo>
                  <a:pt x="460099" y="261863"/>
                </a:lnTo>
                <a:lnTo>
                  <a:pt x="446561" y="302775"/>
                </a:lnTo>
                <a:lnTo>
                  <a:pt x="425138" y="339795"/>
                </a:lnTo>
                <a:lnTo>
                  <a:pt x="396763" y="372046"/>
                </a:lnTo>
                <a:lnTo>
                  <a:pt x="362370" y="398653"/>
                </a:lnTo>
                <a:lnTo>
                  <a:pt x="322891" y="418742"/>
                </a:lnTo>
                <a:lnTo>
                  <a:pt x="279260" y="431437"/>
                </a:lnTo>
                <a:lnTo>
                  <a:pt x="232410" y="435863"/>
                </a:lnTo>
                <a:lnTo>
                  <a:pt x="185559" y="431437"/>
                </a:lnTo>
                <a:lnTo>
                  <a:pt x="141928" y="418742"/>
                </a:lnTo>
                <a:lnTo>
                  <a:pt x="102449" y="398653"/>
                </a:lnTo>
                <a:lnTo>
                  <a:pt x="68056" y="372046"/>
                </a:lnTo>
                <a:lnTo>
                  <a:pt x="39681" y="339795"/>
                </a:lnTo>
                <a:lnTo>
                  <a:pt x="18258" y="302775"/>
                </a:lnTo>
                <a:lnTo>
                  <a:pt x="4720" y="261863"/>
                </a:lnTo>
                <a:lnTo>
                  <a:pt x="0" y="21793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933825" y="1112011"/>
            <a:ext cx="176276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58925" algn="l"/>
              </a:tabLst>
            </a:pP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0	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274058" y="1335024"/>
            <a:ext cx="1082040" cy="114300"/>
          </a:xfrm>
          <a:custGeom>
            <a:avLst/>
            <a:gdLst/>
            <a:ahLst/>
            <a:cxnLst/>
            <a:rect l="l" t="t" r="r" b="b"/>
            <a:pathLst>
              <a:path w="1082039" h="114300">
                <a:moveTo>
                  <a:pt x="967739" y="0"/>
                </a:moveTo>
                <a:lnTo>
                  <a:pt x="967739" y="114300"/>
                </a:lnTo>
                <a:lnTo>
                  <a:pt x="1043939" y="76200"/>
                </a:lnTo>
                <a:lnTo>
                  <a:pt x="986789" y="76200"/>
                </a:lnTo>
                <a:lnTo>
                  <a:pt x="986789" y="38100"/>
                </a:lnTo>
                <a:lnTo>
                  <a:pt x="1043939" y="38100"/>
                </a:lnTo>
                <a:lnTo>
                  <a:pt x="967739" y="0"/>
                </a:lnTo>
                <a:close/>
              </a:path>
              <a:path w="1082039" h="114300">
                <a:moveTo>
                  <a:pt x="96773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67739" y="76200"/>
                </a:lnTo>
                <a:lnTo>
                  <a:pt x="967739" y="38100"/>
                </a:lnTo>
                <a:close/>
              </a:path>
              <a:path w="1082039" h="114300">
                <a:moveTo>
                  <a:pt x="1043939" y="38100"/>
                </a:moveTo>
                <a:lnTo>
                  <a:pt x="986789" y="38100"/>
                </a:lnTo>
                <a:lnTo>
                  <a:pt x="986789" y="76200"/>
                </a:lnTo>
                <a:lnTo>
                  <a:pt x="1043939" y="76200"/>
                </a:lnTo>
                <a:lnTo>
                  <a:pt x="1082039" y="57150"/>
                </a:lnTo>
                <a:lnTo>
                  <a:pt x="1043939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933438" y="1169669"/>
            <a:ext cx="464820" cy="434340"/>
          </a:xfrm>
          <a:custGeom>
            <a:avLst/>
            <a:gdLst/>
            <a:ahLst/>
            <a:cxnLst/>
            <a:rect l="l" t="t" r="r" b="b"/>
            <a:pathLst>
              <a:path w="464820" h="434340">
                <a:moveTo>
                  <a:pt x="0" y="217169"/>
                </a:moveTo>
                <a:lnTo>
                  <a:pt x="4720" y="173417"/>
                </a:lnTo>
                <a:lnTo>
                  <a:pt x="18258" y="132659"/>
                </a:lnTo>
                <a:lnTo>
                  <a:pt x="39681" y="95770"/>
                </a:lnTo>
                <a:lnTo>
                  <a:pt x="68056" y="63626"/>
                </a:lnTo>
                <a:lnTo>
                  <a:pt x="102449" y="37102"/>
                </a:lnTo>
                <a:lnTo>
                  <a:pt x="141928" y="17073"/>
                </a:lnTo>
                <a:lnTo>
                  <a:pt x="185559" y="4414"/>
                </a:lnTo>
                <a:lnTo>
                  <a:pt x="232409" y="0"/>
                </a:lnTo>
                <a:lnTo>
                  <a:pt x="279260" y="4414"/>
                </a:lnTo>
                <a:lnTo>
                  <a:pt x="322891" y="17073"/>
                </a:lnTo>
                <a:lnTo>
                  <a:pt x="362370" y="37102"/>
                </a:lnTo>
                <a:lnTo>
                  <a:pt x="396763" y="63626"/>
                </a:lnTo>
                <a:lnTo>
                  <a:pt x="425138" y="95770"/>
                </a:lnTo>
                <a:lnTo>
                  <a:pt x="446561" y="132659"/>
                </a:lnTo>
                <a:lnTo>
                  <a:pt x="460099" y="173417"/>
                </a:lnTo>
                <a:lnTo>
                  <a:pt x="464819" y="217169"/>
                </a:lnTo>
                <a:lnTo>
                  <a:pt x="460099" y="260922"/>
                </a:lnTo>
                <a:lnTo>
                  <a:pt x="446561" y="301680"/>
                </a:lnTo>
                <a:lnTo>
                  <a:pt x="425138" y="338569"/>
                </a:lnTo>
                <a:lnTo>
                  <a:pt x="396763" y="370713"/>
                </a:lnTo>
                <a:lnTo>
                  <a:pt x="362370" y="397237"/>
                </a:lnTo>
                <a:lnTo>
                  <a:pt x="322891" y="417266"/>
                </a:lnTo>
                <a:lnTo>
                  <a:pt x="279260" y="429925"/>
                </a:lnTo>
                <a:lnTo>
                  <a:pt x="232409" y="434339"/>
                </a:lnTo>
                <a:lnTo>
                  <a:pt x="185559" y="429925"/>
                </a:lnTo>
                <a:lnTo>
                  <a:pt x="141928" y="417266"/>
                </a:lnTo>
                <a:lnTo>
                  <a:pt x="102449" y="397237"/>
                </a:lnTo>
                <a:lnTo>
                  <a:pt x="68056" y="370712"/>
                </a:lnTo>
                <a:lnTo>
                  <a:pt x="39681" y="338569"/>
                </a:lnTo>
                <a:lnTo>
                  <a:pt x="18258" y="301680"/>
                </a:lnTo>
                <a:lnTo>
                  <a:pt x="4720" y="260922"/>
                </a:lnTo>
                <a:lnTo>
                  <a:pt x="0" y="217169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7078471" y="1179321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852921" y="1344167"/>
            <a:ext cx="1080770" cy="114300"/>
          </a:xfrm>
          <a:custGeom>
            <a:avLst/>
            <a:gdLst/>
            <a:ahLst/>
            <a:cxnLst/>
            <a:rect l="l" t="t" r="r" b="b"/>
            <a:pathLst>
              <a:path w="1080770" h="114300">
                <a:moveTo>
                  <a:pt x="966216" y="0"/>
                </a:moveTo>
                <a:lnTo>
                  <a:pt x="966216" y="114300"/>
                </a:lnTo>
                <a:lnTo>
                  <a:pt x="1042416" y="76200"/>
                </a:lnTo>
                <a:lnTo>
                  <a:pt x="985266" y="76200"/>
                </a:lnTo>
                <a:lnTo>
                  <a:pt x="985266" y="38100"/>
                </a:lnTo>
                <a:lnTo>
                  <a:pt x="1042416" y="38100"/>
                </a:lnTo>
                <a:lnTo>
                  <a:pt x="966216" y="0"/>
                </a:lnTo>
                <a:close/>
              </a:path>
              <a:path w="1080770" h="114300">
                <a:moveTo>
                  <a:pt x="96621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66216" y="76200"/>
                </a:lnTo>
                <a:lnTo>
                  <a:pt x="966216" y="38100"/>
                </a:lnTo>
                <a:close/>
              </a:path>
              <a:path w="1080770" h="114300">
                <a:moveTo>
                  <a:pt x="1042416" y="38100"/>
                </a:moveTo>
                <a:lnTo>
                  <a:pt x="985266" y="38100"/>
                </a:lnTo>
                <a:lnTo>
                  <a:pt x="985266" y="76200"/>
                </a:lnTo>
                <a:lnTo>
                  <a:pt x="1042416" y="76200"/>
                </a:lnTo>
                <a:lnTo>
                  <a:pt x="1080516" y="57150"/>
                </a:lnTo>
                <a:lnTo>
                  <a:pt x="104241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4643373" y="917574"/>
            <a:ext cx="19405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90675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′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005066" y="1212341"/>
            <a:ext cx="326390" cy="326390"/>
          </a:xfrm>
          <a:custGeom>
            <a:avLst/>
            <a:gdLst/>
            <a:ahLst/>
            <a:cxnLst/>
            <a:rect l="l" t="t" r="r" b="b"/>
            <a:pathLst>
              <a:path w="326390" h="326390">
                <a:moveTo>
                  <a:pt x="0" y="163068"/>
                </a:moveTo>
                <a:lnTo>
                  <a:pt x="5826" y="119723"/>
                </a:lnTo>
                <a:lnTo>
                  <a:pt x="22267" y="80772"/>
                </a:lnTo>
                <a:lnTo>
                  <a:pt x="47767" y="47767"/>
                </a:lnTo>
                <a:lnTo>
                  <a:pt x="80772" y="22267"/>
                </a:lnTo>
                <a:lnTo>
                  <a:pt x="119723" y="5826"/>
                </a:lnTo>
                <a:lnTo>
                  <a:pt x="163067" y="0"/>
                </a:lnTo>
                <a:lnTo>
                  <a:pt x="206412" y="5826"/>
                </a:lnTo>
                <a:lnTo>
                  <a:pt x="245363" y="22267"/>
                </a:lnTo>
                <a:lnTo>
                  <a:pt x="278368" y="47767"/>
                </a:lnTo>
                <a:lnTo>
                  <a:pt x="303868" y="80772"/>
                </a:lnTo>
                <a:lnTo>
                  <a:pt x="320309" y="119723"/>
                </a:lnTo>
                <a:lnTo>
                  <a:pt x="326135" y="163068"/>
                </a:lnTo>
                <a:lnTo>
                  <a:pt x="320309" y="206412"/>
                </a:lnTo>
                <a:lnTo>
                  <a:pt x="303868" y="245363"/>
                </a:lnTo>
                <a:lnTo>
                  <a:pt x="278368" y="278368"/>
                </a:lnTo>
                <a:lnTo>
                  <a:pt x="245363" y="303868"/>
                </a:lnTo>
                <a:lnTo>
                  <a:pt x="206412" y="320309"/>
                </a:lnTo>
                <a:lnTo>
                  <a:pt x="163067" y="326136"/>
                </a:lnTo>
                <a:lnTo>
                  <a:pt x="119723" y="320309"/>
                </a:lnTo>
                <a:lnTo>
                  <a:pt x="80771" y="303868"/>
                </a:lnTo>
                <a:lnTo>
                  <a:pt x="47767" y="278368"/>
                </a:lnTo>
                <a:lnTo>
                  <a:pt x="22267" y="245363"/>
                </a:lnTo>
                <a:lnTo>
                  <a:pt x="5826" y="206412"/>
                </a:lnTo>
                <a:lnTo>
                  <a:pt x="0" y="163068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934706" y="2132838"/>
            <a:ext cx="327660" cy="327660"/>
          </a:xfrm>
          <a:custGeom>
            <a:avLst/>
            <a:gdLst/>
            <a:ahLst/>
            <a:cxnLst/>
            <a:rect l="l" t="t" r="r" b="b"/>
            <a:pathLst>
              <a:path w="327659" h="327660">
                <a:moveTo>
                  <a:pt x="0" y="163829"/>
                </a:moveTo>
                <a:lnTo>
                  <a:pt x="5856" y="120297"/>
                </a:lnTo>
                <a:lnTo>
                  <a:pt x="22380" y="81167"/>
                </a:lnTo>
                <a:lnTo>
                  <a:pt x="48005" y="48006"/>
                </a:lnTo>
                <a:lnTo>
                  <a:pt x="81167" y="22380"/>
                </a:lnTo>
                <a:lnTo>
                  <a:pt x="120297" y="5856"/>
                </a:lnTo>
                <a:lnTo>
                  <a:pt x="163829" y="0"/>
                </a:lnTo>
                <a:lnTo>
                  <a:pt x="207362" y="5856"/>
                </a:lnTo>
                <a:lnTo>
                  <a:pt x="246492" y="22380"/>
                </a:lnTo>
                <a:lnTo>
                  <a:pt x="279653" y="48006"/>
                </a:lnTo>
                <a:lnTo>
                  <a:pt x="305279" y="81167"/>
                </a:lnTo>
                <a:lnTo>
                  <a:pt x="321803" y="120297"/>
                </a:lnTo>
                <a:lnTo>
                  <a:pt x="327660" y="163829"/>
                </a:lnTo>
                <a:lnTo>
                  <a:pt x="321803" y="207362"/>
                </a:lnTo>
                <a:lnTo>
                  <a:pt x="305279" y="246492"/>
                </a:lnTo>
                <a:lnTo>
                  <a:pt x="279653" y="279654"/>
                </a:lnTo>
                <a:lnTo>
                  <a:pt x="246492" y="305279"/>
                </a:lnTo>
                <a:lnTo>
                  <a:pt x="207362" y="321803"/>
                </a:lnTo>
                <a:lnTo>
                  <a:pt x="163829" y="327660"/>
                </a:lnTo>
                <a:lnTo>
                  <a:pt x="120297" y="321803"/>
                </a:lnTo>
                <a:lnTo>
                  <a:pt x="81167" y="305279"/>
                </a:lnTo>
                <a:lnTo>
                  <a:pt x="48005" y="279653"/>
                </a:lnTo>
                <a:lnTo>
                  <a:pt x="22380" y="246492"/>
                </a:lnTo>
                <a:lnTo>
                  <a:pt x="5856" y="207362"/>
                </a:lnTo>
                <a:lnTo>
                  <a:pt x="0" y="163829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288785" y="2085594"/>
            <a:ext cx="464820" cy="434340"/>
          </a:xfrm>
          <a:custGeom>
            <a:avLst/>
            <a:gdLst/>
            <a:ahLst/>
            <a:cxnLst/>
            <a:rect l="l" t="t" r="r" b="b"/>
            <a:pathLst>
              <a:path w="464820" h="434339">
                <a:moveTo>
                  <a:pt x="0" y="217169"/>
                </a:moveTo>
                <a:lnTo>
                  <a:pt x="4720" y="173417"/>
                </a:lnTo>
                <a:lnTo>
                  <a:pt x="18258" y="132659"/>
                </a:lnTo>
                <a:lnTo>
                  <a:pt x="39681" y="95770"/>
                </a:lnTo>
                <a:lnTo>
                  <a:pt x="68056" y="63626"/>
                </a:lnTo>
                <a:lnTo>
                  <a:pt x="102449" y="37102"/>
                </a:lnTo>
                <a:lnTo>
                  <a:pt x="141928" y="17073"/>
                </a:lnTo>
                <a:lnTo>
                  <a:pt x="185559" y="4414"/>
                </a:lnTo>
                <a:lnTo>
                  <a:pt x="232410" y="0"/>
                </a:lnTo>
                <a:lnTo>
                  <a:pt x="279260" y="4414"/>
                </a:lnTo>
                <a:lnTo>
                  <a:pt x="322891" y="17073"/>
                </a:lnTo>
                <a:lnTo>
                  <a:pt x="362370" y="37102"/>
                </a:lnTo>
                <a:lnTo>
                  <a:pt x="396763" y="63626"/>
                </a:lnTo>
                <a:lnTo>
                  <a:pt x="425138" y="95770"/>
                </a:lnTo>
                <a:lnTo>
                  <a:pt x="446561" y="132659"/>
                </a:lnTo>
                <a:lnTo>
                  <a:pt x="460099" y="173417"/>
                </a:lnTo>
                <a:lnTo>
                  <a:pt x="464819" y="217169"/>
                </a:lnTo>
                <a:lnTo>
                  <a:pt x="460099" y="260922"/>
                </a:lnTo>
                <a:lnTo>
                  <a:pt x="446561" y="301680"/>
                </a:lnTo>
                <a:lnTo>
                  <a:pt x="425138" y="338569"/>
                </a:lnTo>
                <a:lnTo>
                  <a:pt x="396763" y="370713"/>
                </a:lnTo>
                <a:lnTo>
                  <a:pt x="362370" y="397237"/>
                </a:lnTo>
                <a:lnTo>
                  <a:pt x="322891" y="417266"/>
                </a:lnTo>
                <a:lnTo>
                  <a:pt x="279260" y="429925"/>
                </a:lnTo>
                <a:lnTo>
                  <a:pt x="232410" y="434339"/>
                </a:lnTo>
                <a:lnTo>
                  <a:pt x="185559" y="429925"/>
                </a:lnTo>
                <a:lnTo>
                  <a:pt x="141928" y="417266"/>
                </a:lnTo>
                <a:lnTo>
                  <a:pt x="102449" y="397237"/>
                </a:lnTo>
                <a:lnTo>
                  <a:pt x="68056" y="370712"/>
                </a:lnTo>
                <a:lnTo>
                  <a:pt x="39681" y="338569"/>
                </a:lnTo>
                <a:lnTo>
                  <a:pt x="18258" y="301680"/>
                </a:lnTo>
                <a:lnTo>
                  <a:pt x="4720" y="260922"/>
                </a:lnTo>
                <a:lnTo>
                  <a:pt x="0" y="217169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6414008" y="2037715"/>
            <a:ext cx="2159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637403" y="1783970"/>
            <a:ext cx="481330" cy="100012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47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104766" y="2493772"/>
            <a:ext cx="3992245" cy="257175"/>
          </a:xfrm>
          <a:custGeom>
            <a:avLst/>
            <a:gdLst/>
            <a:ahLst/>
            <a:cxnLst/>
            <a:rect l="l" t="t" r="r" b="b"/>
            <a:pathLst>
              <a:path w="3992245" h="257175">
                <a:moveTo>
                  <a:pt x="36830" y="0"/>
                </a:moveTo>
                <a:lnTo>
                  <a:pt x="0" y="9651"/>
                </a:lnTo>
                <a:lnTo>
                  <a:pt x="2794" y="20574"/>
                </a:lnTo>
                <a:lnTo>
                  <a:pt x="3556" y="23113"/>
                </a:lnTo>
                <a:lnTo>
                  <a:pt x="4699" y="25526"/>
                </a:lnTo>
                <a:lnTo>
                  <a:pt x="6350" y="27558"/>
                </a:lnTo>
                <a:lnTo>
                  <a:pt x="14859" y="38480"/>
                </a:lnTo>
                <a:lnTo>
                  <a:pt x="15875" y="39624"/>
                </a:lnTo>
                <a:lnTo>
                  <a:pt x="16891" y="40639"/>
                </a:lnTo>
                <a:lnTo>
                  <a:pt x="18034" y="41655"/>
                </a:lnTo>
                <a:lnTo>
                  <a:pt x="32004" y="52577"/>
                </a:lnTo>
                <a:lnTo>
                  <a:pt x="32766" y="53212"/>
                </a:lnTo>
                <a:lnTo>
                  <a:pt x="79629" y="76580"/>
                </a:lnTo>
                <a:lnTo>
                  <a:pt x="145034" y="98425"/>
                </a:lnTo>
                <a:lnTo>
                  <a:pt x="184277" y="108965"/>
                </a:lnTo>
                <a:lnTo>
                  <a:pt x="227711" y="119252"/>
                </a:lnTo>
                <a:lnTo>
                  <a:pt x="275209" y="129286"/>
                </a:lnTo>
                <a:lnTo>
                  <a:pt x="326644" y="139191"/>
                </a:lnTo>
                <a:lnTo>
                  <a:pt x="381888" y="148716"/>
                </a:lnTo>
                <a:lnTo>
                  <a:pt x="440690" y="157987"/>
                </a:lnTo>
                <a:lnTo>
                  <a:pt x="503047" y="167004"/>
                </a:lnTo>
                <a:lnTo>
                  <a:pt x="568452" y="175767"/>
                </a:lnTo>
                <a:lnTo>
                  <a:pt x="708406" y="192277"/>
                </a:lnTo>
                <a:lnTo>
                  <a:pt x="859409" y="207263"/>
                </a:lnTo>
                <a:lnTo>
                  <a:pt x="1019556" y="220599"/>
                </a:lnTo>
                <a:lnTo>
                  <a:pt x="1187831" y="232155"/>
                </a:lnTo>
                <a:lnTo>
                  <a:pt x="1452118" y="245744"/>
                </a:lnTo>
                <a:lnTo>
                  <a:pt x="1633982" y="251967"/>
                </a:lnTo>
                <a:lnTo>
                  <a:pt x="1818767" y="255904"/>
                </a:lnTo>
                <a:lnTo>
                  <a:pt x="2005076" y="257175"/>
                </a:lnTo>
                <a:lnTo>
                  <a:pt x="2191385" y="256031"/>
                </a:lnTo>
                <a:lnTo>
                  <a:pt x="2376170" y="252349"/>
                </a:lnTo>
                <a:lnTo>
                  <a:pt x="2558034" y="246633"/>
                </a:lnTo>
                <a:lnTo>
                  <a:pt x="2735580" y="238887"/>
                </a:lnTo>
                <a:lnTo>
                  <a:pt x="2907284" y="229107"/>
                </a:lnTo>
                <a:lnTo>
                  <a:pt x="3050545" y="219201"/>
                </a:lnTo>
                <a:lnTo>
                  <a:pt x="2005330" y="219201"/>
                </a:lnTo>
                <a:lnTo>
                  <a:pt x="1819656" y="217804"/>
                </a:lnTo>
                <a:lnTo>
                  <a:pt x="1635252" y="213867"/>
                </a:lnTo>
                <a:lnTo>
                  <a:pt x="1453896" y="207644"/>
                </a:lnTo>
                <a:lnTo>
                  <a:pt x="1190371" y="194182"/>
                </a:lnTo>
                <a:lnTo>
                  <a:pt x="1022604" y="182625"/>
                </a:lnTo>
                <a:lnTo>
                  <a:pt x="862965" y="169290"/>
                </a:lnTo>
                <a:lnTo>
                  <a:pt x="712724" y="154431"/>
                </a:lnTo>
                <a:lnTo>
                  <a:pt x="573532" y="137922"/>
                </a:lnTo>
                <a:lnTo>
                  <a:pt x="508381" y="129286"/>
                </a:lnTo>
                <a:lnTo>
                  <a:pt x="446659" y="120395"/>
                </a:lnTo>
                <a:lnTo>
                  <a:pt x="388366" y="111251"/>
                </a:lnTo>
                <a:lnTo>
                  <a:pt x="333883" y="101726"/>
                </a:lnTo>
                <a:lnTo>
                  <a:pt x="283083" y="92075"/>
                </a:lnTo>
                <a:lnTo>
                  <a:pt x="236474" y="82041"/>
                </a:lnTo>
                <a:lnTo>
                  <a:pt x="194183" y="72136"/>
                </a:lnTo>
                <a:lnTo>
                  <a:pt x="156210" y="61975"/>
                </a:lnTo>
                <a:lnTo>
                  <a:pt x="95123" y="41655"/>
                </a:lnTo>
                <a:lnTo>
                  <a:pt x="55930" y="22605"/>
                </a:lnTo>
                <a:lnTo>
                  <a:pt x="55499" y="22605"/>
                </a:lnTo>
                <a:lnTo>
                  <a:pt x="52959" y="20954"/>
                </a:lnTo>
                <a:lnTo>
                  <a:pt x="53406" y="20954"/>
                </a:lnTo>
                <a:lnTo>
                  <a:pt x="45680" y="14858"/>
                </a:lnTo>
                <a:lnTo>
                  <a:pt x="44831" y="14858"/>
                </a:lnTo>
                <a:lnTo>
                  <a:pt x="41656" y="11683"/>
                </a:lnTo>
                <a:lnTo>
                  <a:pt x="42320" y="11683"/>
                </a:lnTo>
                <a:lnTo>
                  <a:pt x="41718" y="10922"/>
                </a:lnTo>
                <a:lnTo>
                  <a:pt x="39750" y="10922"/>
                </a:lnTo>
                <a:lnTo>
                  <a:pt x="36195" y="3937"/>
                </a:lnTo>
                <a:lnTo>
                  <a:pt x="37882" y="3937"/>
                </a:lnTo>
                <a:lnTo>
                  <a:pt x="36830" y="0"/>
                </a:lnTo>
                <a:close/>
              </a:path>
              <a:path w="3992245" h="257175">
                <a:moveTo>
                  <a:pt x="3884046" y="66421"/>
                </a:moveTo>
                <a:lnTo>
                  <a:pt x="3817239" y="83947"/>
                </a:lnTo>
                <a:lnTo>
                  <a:pt x="3774693" y="93217"/>
                </a:lnTo>
                <a:lnTo>
                  <a:pt x="3727958" y="102235"/>
                </a:lnTo>
                <a:lnTo>
                  <a:pt x="3677158" y="111125"/>
                </a:lnTo>
                <a:lnTo>
                  <a:pt x="3622421" y="119887"/>
                </a:lnTo>
                <a:lnTo>
                  <a:pt x="3564255" y="128397"/>
                </a:lnTo>
                <a:lnTo>
                  <a:pt x="3502406" y="136651"/>
                </a:lnTo>
                <a:lnTo>
                  <a:pt x="3369183" y="152273"/>
                </a:lnTo>
                <a:lnTo>
                  <a:pt x="3224149" y="166624"/>
                </a:lnTo>
                <a:lnTo>
                  <a:pt x="3069082" y="179704"/>
                </a:lnTo>
                <a:lnTo>
                  <a:pt x="2905125" y="191135"/>
                </a:lnTo>
                <a:lnTo>
                  <a:pt x="2733929" y="200787"/>
                </a:lnTo>
                <a:lnTo>
                  <a:pt x="2556891" y="208533"/>
                </a:lnTo>
                <a:lnTo>
                  <a:pt x="2375535" y="214249"/>
                </a:lnTo>
                <a:lnTo>
                  <a:pt x="2191131" y="217931"/>
                </a:lnTo>
                <a:lnTo>
                  <a:pt x="2005330" y="219201"/>
                </a:lnTo>
                <a:lnTo>
                  <a:pt x="3050545" y="219201"/>
                </a:lnTo>
                <a:lnTo>
                  <a:pt x="3227578" y="204597"/>
                </a:lnTo>
                <a:lnTo>
                  <a:pt x="3373119" y="190118"/>
                </a:lnTo>
                <a:lnTo>
                  <a:pt x="3441700" y="182499"/>
                </a:lnTo>
                <a:lnTo>
                  <a:pt x="3569208" y="166242"/>
                </a:lnTo>
                <a:lnTo>
                  <a:pt x="3628009" y="157606"/>
                </a:lnTo>
                <a:lnTo>
                  <a:pt x="3683254" y="148843"/>
                </a:lnTo>
                <a:lnTo>
                  <a:pt x="3734562" y="139826"/>
                </a:lnTo>
                <a:lnTo>
                  <a:pt x="3781933" y="130555"/>
                </a:lnTo>
                <a:lnTo>
                  <a:pt x="3825366" y="121157"/>
                </a:lnTo>
                <a:lnTo>
                  <a:pt x="3864229" y="111632"/>
                </a:lnTo>
                <a:lnTo>
                  <a:pt x="3902075" y="100583"/>
                </a:lnTo>
                <a:lnTo>
                  <a:pt x="3904078" y="99408"/>
                </a:lnTo>
                <a:lnTo>
                  <a:pt x="3884431" y="67055"/>
                </a:lnTo>
                <a:lnTo>
                  <a:pt x="3883914" y="67055"/>
                </a:lnTo>
                <a:lnTo>
                  <a:pt x="3884294" y="66830"/>
                </a:lnTo>
                <a:lnTo>
                  <a:pt x="3884046" y="66421"/>
                </a:lnTo>
                <a:close/>
              </a:path>
              <a:path w="3992245" h="257175">
                <a:moveTo>
                  <a:pt x="3971137" y="57023"/>
                </a:moveTo>
                <a:lnTo>
                  <a:pt x="3900805" y="57023"/>
                </a:lnTo>
                <a:lnTo>
                  <a:pt x="3920363" y="89662"/>
                </a:lnTo>
                <a:lnTo>
                  <a:pt x="3904078" y="99408"/>
                </a:lnTo>
                <a:lnTo>
                  <a:pt x="3923918" y="132079"/>
                </a:lnTo>
                <a:lnTo>
                  <a:pt x="3971137" y="57023"/>
                </a:lnTo>
                <a:close/>
              </a:path>
              <a:path w="3992245" h="257175">
                <a:moveTo>
                  <a:pt x="3905675" y="65150"/>
                </a:moveTo>
                <a:lnTo>
                  <a:pt x="3888486" y="65150"/>
                </a:lnTo>
                <a:lnTo>
                  <a:pt x="3884455" y="66830"/>
                </a:lnTo>
                <a:lnTo>
                  <a:pt x="3884431" y="67055"/>
                </a:lnTo>
                <a:lnTo>
                  <a:pt x="3904078" y="99408"/>
                </a:lnTo>
                <a:lnTo>
                  <a:pt x="3920363" y="89662"/>
                </a:lnTo>
                <a:lnTo>
                  <a:pt x="3905675" y="65150"/>
                </a:lnTo>
                <a:close/>
              </a:path>
              <a:path w="3992245" h="257175">
                <a:moveTo>
                  <a:pt x="3884294" y="66830"/>
                </a:moveTo>
                <a:lnTo>
                  <a:pt x="3883914" y="67055"/>
                </a:lnTo>
                <a:lnTo>
                  <a:pt x="3884326" y="66884"/>
                </a:lnTo>
                <a:close/>
              </a:path>
              <a:path w="3992245" h="257175">
                <a:moveTo>
                  <a:pt x="3884326" y="66884"/>
                </a:moveTo>
                <a:lnTo>
                  <a:pt x="3883914" y="67055"/>
                </a:lnTo>
                <a:lnTo>
                  <a:pt x="3884431" y="67055"/>
                </a:lnTo>
                <a:lnTo>
                  <a:pt x="3884326" y="66884"/>
                </a:lnTo>
                <a:close/>
              </a:path>
              <a:path w="3992245" h="257175">
                <a:moveTo>
                  <a:pt x="3888486" y="65150"/>
                </a:moveTo>
                <a:lnTo>
                  <a:pt x="3885851" y="65905"/>
                </a:lnTo>
                <a:lnTo>
                  <a:pt x="3884294" y="66830"/>
                </a:lnTo>
                <a:lnTo>
                  <a:pt x="3888486" y="65150"/>
                </a:lnTo>
                <a:close/>
              </a:path>
              <a:path w="3992245" h="257175">
                <a:moveTo>
                  <a:pt x="3885851" y="65905"/>
                </a:moveTo>
                <a:lnTo>
                  <a:pt x="3884046" y="66421"/>
                </a:lnTo>
                <a:lnTo>
                  <a:pt x="3884294" y="66830"/>
                </a:lnTo>
                <a:lnTo>
                  <a:pt x="3885851" y="65905"/>
                </a:lnTo>
                <a:close/>
              </a:path>
              <a:path w="3992245" h="257175">
                <a:moveTo>
                  <a:pt x="3991991" y="23875"/>
                </a:moveTo>
                <a:lnTo>
                  <a:pt x="3864610" y="34416"/>
                </a:lnTo>
                <a:lnTo>
                  <a:pt x="3884046" y="66421"/>
                </a:lnTo>
                <a:lnTo>
                  <a:pt x="3885851" y="65905"/>
                </a:lnTo>
                <a:lnTo>
                  <a:pt x="3900805" y="57023"/>
                </a:lnTo>
                <a:lnTo>
                  <a:pt x="3971137" y="57023"/>
                </a:lnTo>
                <a:lnTo>
                  <a:pt x="3991991" y="23875"/>
                </a:lnTo>
                <a:close/>
              </a:path>
              <a:path w="3992245" h="257175">
                <a:moveTo>
                  <a:pt x="3900805" y="57023"/>
                </a:moveTo>
                <a:lnTo>
                  <a:pt x="3885851" y="65905"/>
                </a:lnTo>
                <a:lnTo>
                  <a:pt x="3888486" y="65150"/>
                </a:lnTo>
                <a:lnTo>
                  <a:pt x="3905675" y="65150"/>
                </a:lnTo>
                <a:lnTo>
                  <a:pt x="3900805" y="57023"/>
                </a:lnTo>
                <a:close/>
              </a:path>
              <a:path w="3992245" h="257175">
                <a:moveTo>
                  <a:pt x="52959" y="20954"/>
                </a:moveTo>
                <a:lnTo>
                  <a:pt x="55499" y="22605"/>
                </a:lnTo>
                <a:lnTo>
                  <a:pt x="54471" y="21795"/>
                </a:lnTo>
                <a:lnTo>
                  <a:pt x="52959" y="20954"/>
                </a:lnTo>
                <a:close/>
              </a:path>
              <a:path w="3992245" h="257175">
                <a:moveTo>
                  <a:pt x="54471" y="21795"/>
                </a:moveTo>
                <a:lnTo>
                  <a:pt x="55499" y="22605"/>
                </a:lnTo>
                <a:lnTo>
                  <a:pt x="55930" y="22605"/>
                </a:lnTo>
                <a:lnTo>
                  <a:pt x="54471" y="21795"/>
                </a:lnTo>
                <a:close/>
              </a:path>
              <a:path w="3992245" h="257175">
                <a:moveTo>
                  <a:pt x="53406" y="20954"/>
                </a:moveTo>
                <a:lnTo>
                  <a:pt x="52959" y="20954"/>
                </a:lnTo>
                <a:lnTo>
                  <a:pt x="54471" y="21795"/>
                </a:lnTo>
                <a:lnTo>
                  <a:pt x="53406" y="20954"/>
                </a:lnTo>
                <a:close/>
              </a:path>
              <a:path w="3992245" h="257175">
                <a:moveTo>
                  <a:pt x="41656" y="11683"/>
                </a:moveTo>
                <a:lnTo>
                  <a:pt x="44831" y="14858"/>
                </a:lnTo>
                <a:lnTo>
                  <a:pt x="43422" y="13077"/>
                </a:lnTo>
                <a:lnTo>
                  <a:pt x="41656" y="11683"/>
                </a:lnTo>
                <a:close/>
              </a:path>
              <a:path w="3992245" h="257175">
                <a:moveTo>
                  <a:pt x="43422" y="13077"/>
                </a:moveTo>
                <a:lnTo>
                  <a:pt x="44831" y="14858"/>
                </a:lnTo>
                <a:lnTo>
                  <a:pt x="45680" y="14858"/>
                </a:lnTo>
                <a:lnTo>
                  <a:pt x="43422" y="13077"/>
                </a:lnTo>
                <a:close/>
              </a:path>
              <a:path w="3992245" h="257175">
                <a:moveTo>
                  <a:pt x="42320" y="11683"/>
                </a:moveTo>
                <a:lnTo>
                  <a:pt x="41656" y="11683"/>
                </a:lnTo>
                <a:lnTo>
                  <a:pt x="43422" y="13077"/>
                </a:lnTo>
                <a:lnTo>
                  <a:pt x="42320" y="11683"/>
                </a:lnTo>
                <a:close/>
              </a:path>
              <a:path w="3992245" h="257175">
                <a:moveTo>
                  <a:pt x="36195" y="3937"/>
                </a:moveTo>
                <a:lnTo>
                  <a:pt x="39750" y="10922"/>
                </a:lnTo>
                <a:lnTo>
                  <a:pt x="38745" y="7162"/>
                </a:lnTo>
                <a:lnTo>
                  <a:pt x="36195" y="3937"/>
                </a:lnTo>
                <a:close/>
              </a:path>
              <a:path w="3992245" h="257175">
                <a:moveTo>
                  <a:pt x="38745" y="7162"/>
                </a:moveTo>
                <a:lnTo>
                  <a:pt x="39750" y="10922"/>
                </a:lnTo>
                <a:lnTo>
                  <a:pt x="41718" y="10922"/>
                </a:lnTo>
                <a:lnTo>
                  <a:pt x="38745" y="7162"/>
                </a:lnTo>
                <a:close/>
              </a:path>
              <a:path w="3992245" h="257175">
                <a:moveTo>
                  <a:pt x="37882" y="3937"/>
                </a:moveTo>
                <a:lnTo>
                  <a:pt x="36195" y="3937"/>
                </a:lnTo>
                <a:lnTo>
                  <a:pt x="38745" y="7162"/>
                </a:lnTo>
                <a:lnTo>
                  <a:pt x="37882" y="393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454650" y="2242439"/>
            <a:ext cx="815340" cy="114300"/>
          </a:xfrm>
          <a:custGeom>
            <a:avLst/>
            <a:gdLst/>
            <a:ahLst/>
            <a:cxnLst/>
            <a:rect l="l" t="t" r="r" b="b"/>
            <a:pathLst>
              <a:path w="815339" h="114300">
                <a:moveTo>
                  <a:pt x="702310" y="0"/>
                </a:moveTo>
                <a:lnTo>
                  <a:pt x="701207" y="38177"/>
                </a:lnTo>
                <a:lnTo>
                  <a:pt x="720216" y="38735"/>
                </a:lnTo>
                <a:lnTo>
                  <a:pt x="719074" y="76835"/>
                </a:lnTo>
                <a:lnTo>
                  <a:pt x="700090" y="76835"/>
                </a:lnTo>
                <a:lnTo>
                  <a:pt x="699008" y="114300"/>
                </a:lnTo>
                <a:lnTo>
                  <a:pt x="779593" y="76835"/>
                </a:lnTo>
                <a:lnTo>
                  <a:pt x="719074" y="76835"/>
                </a:lnTo>
                <a:lnTo>
                  <a:pt x="700106" y="76278"/>
                </a:lnTo>
                <a:lnTo>
                  <a:pt x="780789" y="76278"/>
                </a:lnTo>
                <a:lnTo>
                  <a:pt x="814832" y="60451"/>
                </a:lnTo>
                <a:lnTo>
                  <a:pt x="702310" y="0"/>
                </a:lnTo>
                <a:close/>
              </a:path>
              <a:path w="815339" h="114300">
                <a:moveTo>
                  <a:pt x="701207" y="38177"/>
                </a:moveTo>
                <a:lnTo>
                  <a:pt x="700106" y="76278"/>
                </a:lnTo>
                <a:lnTo>
                  <a:pt x="719074" y="76835"/>
                </a:lnTo>
                <a:lnTo>
                  <a:pt x="720216" y="38735"/>
                </a:lnTo>
                <a:lnTo>
                  <a:pt x="701207" y="38177"/>
                </a:lnTo>
                <a:close/>
              </a:path>
              <a:path w="815339" h="114300">
                <a:moveTo>
                  <a:pt x="1015" y="17652"/>
                </a:moveTo>
                <a:lnTo>
                  <a:pt x="0" y="55752"/>
                </a:lnTo>
                <a:lnTo>
                  <a:pt x="700106" y="76278"/>
                </a:lnTo>
                <a:lnTo>
                  <a:pt x="701207" y="38177"/>
                </a:lnTo>
                <a:lnTo>
                  <a:pt x="1015" y="1765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374134" y="2218182"/>
            <a:ext cx="578485" cy="114300"/>
          </a:xfrm>
          <a:custGeom>
            <a:avLst/>
            <a:gdLst/>
            <a:ahLst/>
            <a:cxnLst/>
            <a:rect l="l" t="t" r="r" b="b"/>
            <a:pathLst>
              <a:path w="578485" h="114300">
                <a:moveTo>
                  <a:pt x="465454" y="0"/>
                </a:moveTo>
                <a:lnTo>
                  <a:pt x="464522" y="38135"/>
                </a:lnTo>
                <a:lnTo>
                  <a:pt x="483615" y="38607"/>
                </a:lnTo>
                <a:lnTo>
                  <a:pt x="482726" y="76707"/>
                </a:lnTo>
                <a:lnTo>
                  <a:pt x="463579" y="76707"/>
                </a:lnTo>
                <a:lnTo>
                  <a:pt x="462661" y="114300"/>
                </a:lnTo>
                <a:lnTo>
                  <a:pt x="542675" y="76707"/>
                </a:lnTo>
                <a:lnTo>
                  <a:pt x="482726" y="76707"/>
                </a:lnTo>
                <a:lnTo>
                  <a:pt x="463591" y="76234"/>
                </a:lnTo>
                <a:lnTo>
                  <a:pt x="543683" y="76234"/>
                </a:lnTo>
                <a:lnTo>
                  <a:pt x="578357" y="59943"/>
                </a:lnTo>
                <a:lnTo>
                  <a:pt x="465454" y="0"/>
                </a:lnTo>
                <a:close/>
              </a:path>
              <a:path w="578485" h="114300">
                <a:moveTo>
                  <a:pt x="464522" y="38135"/>
                </a:moveTo>
                <a:lnTo>
                  <a:pt x="463591" y="76234"/>
                </a:lnTo>
                <a:lnTo>
                  <a:pt x="482726" y="76707"/>
                </a:lnTo>
                <a:lnTo>
                  <a:pt x="483615" y="38607"/>
                </a:lnTo>
                <a:lnTo>
                  <a:pt x="464522" y="38135"/>
                </a:lnTo>
                <a:close/>
              </a:path>
              <a:path w="578485" h="114300">
                <a:moveTo>
                  <a:pt x="1015" y="26669"/>
                </a:moveTo>
                <a:lnTo>
                  <a:pt x="0" y="64769"/>
                </a:lnTo>
                <a:lnTo>
                  <a:pt x="463591" y="76234"/>
                </a:lnTo>
                <a:lnTo>
                  <a:pt x="464522" y="38135"/>
                </a:lnTo>
                <a:lnTo>
                  <a:pt x="1015" y="2666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414521" y="1318260"/>
            <a:ext cx="394970" cy="114300"/>
          </a:xfrm>
          <a:custGeom>
            <a:avLst/>
            <a:gdLst/>
            <a:ahLst/>
            <a:cxnLst/>
            <a:rect l="l" t="t" r="r" b="b"/>
            <a:pathLst>
              <a:path w="394970" h="114300">
                <a:moveTo>
                  <a:pt x="280415" y="0"/>
                </a:moveTo>
                <a:lnTo>
                  <a:pt x="280415" y="114300"/>
                </a:lnTo>
                <a:lnTo>
                  <a:pt x="356615" y="76200"/>
                </a:lnTo>
                <a:lnTo>
                  <a:pt x="299465" y="76200"/>
                </a:lnTo>
                <a:lnTo>
                  <a:pt x="299465" y="38100"/>
                </a:lnTo>
                <a:lnTo>
                  <a:pt x="356615" y="38100"/>
                </a:lnTo>
                <a:lnTo>
                  <a:pt x="280415" y="0"/>
                </a:lnTo>
                <a:close/>
              </a:path>
              <a:path w="394970" h="114300">
                <a:moveTo>
                  <a:pt x="28041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80415" y="76200"/>
                </a:lnTo>
                <a:lnTo>
                  <a:pt x="280415" y="38100"/>
                </a:lnTo>
                <a:close/>
              </a:path>
              <a:path w="394970" h="114300">
                <a:moveTo>
                  <a:pt x="356615" y="38100"/>
                </a:moveTo>
                <a:lnTo>
                  <a:pt x="299465" y="38100"/>
                </a:lnTo>
                <a:lnTo>
                  <a:pt x="299465" y="76200"/>
                </a:lnTo>
                <a:lnTo>
                  <a:pt x="356615" y="76200"/>
                </a:lnTo>
                <a:lnTo>
                  <a:pt x="394715" y="57150"/>
                </a:lnTo>
                <a:lnTo>
                  <a:pt x="356615" y="381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414267" y="2249423"/>
            <a:ext cx="476250" cy="114300"/>
          </a:xfrm>
          <a:custGeom>
            <a:avLst/>
            <a:gdLst/>
            <a:ahLst/>
            <a:cxnLst/>
            <a:rect l="l" t="t" r="r" b="b"/>
            <a:pathLst>
              <a:path w="476250" h="114300">
                <a:moveTo>
                  <a:pt x="362204" y="0"/>
                </a:moveTo>
                <a:lnTo>
                  <a:pt x="361695" y="38112"/>
                </a:lnTo>
                <a:lnTo>
                  <a:pt x="380746" y="38353"/>
                </a:lnTo>
                <a:lnTo>
                  <a:pt x="380238" y="76453"/>
                </a:lnTo>
                <a:lnTo>
                  <a:pt x="361184" y="76453"/>
                </a:lnTo>
                <a:lnTo>
                  <a:pt x="360680" y="114300"/>
                </a:lnTo>
                <a:lnTo>
                  <a:pt x="438964" y="76453"/>
                </a:lnTo>
                <a:lnTo>
                  <a:pt x="380238" y="76453"/>
                </a:lnTo>
                <a:lnTo>
                  <a:pt x="361187" y="76212"/>
                </a:lnTo>
                <a:lnTo>
                  <a:pt x="439464" y="76212"/>
                </a:lnTo>
                <a:lnTo>
                  <a:pt x="475742" y="58674"/>
                </a:lnTo>
                <a:lnTo>
                  <a:pt x="362204" y="0"/>
                </a:lnTo>
                <a:close/>
              </a:path>
              <a:path w="476250" h="114300">
                <a:moveTo>
                  <a:pt x="361695" y="38112"/>
                </a:moveTo>
                <a:lnTo>
                  <a:pt x="361187" y="76212"/>
                </a:lnTo>
                <a:lnTo>
                  <a:pt x="380238" y="76453"/>
                </a:lnTo>
                <a:lnTo>
                  <a:pt x="380746" y="38353"/>
                </a:lnTo>
                <a:lnTo>
                  <a:pt x="361695" y="38112"/>
                </a:lnTo>
                <a:close/>
              </a:path>
              <a:path w="476250" h="114300">
                <a:moveTo>
                  <a:pt x="508" y="33527"/>
                </a:moveTo>
                <a:lnTo>
                  <a:pt x="0" y="71627"/>
                </a:lnTo>
                <a:lnTo>
                  <a:pt x="361187" y="76212"/>
                </a:lnTo>
                <a:lnTo>
                  <a:pt x="361695" y="38112"/>
                </a:lnTo>
                <a:lnTo>
                  <a:pt x="508" y="33527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713226" y="4620005"/>
            <a:ext cx="466725" cy="436245"/>
          </a:xfrm>
          <a:custGeom>
            <a:avLst/>
            <a:gdLst/>
            <a:ahLst/>
            <a:cxnLst/>
            <a:rect l="l" t="t" r="r" b="b"/>
            <a:pathLst>
              <a:path w="466725" h="436245">
                <a:moveTo>
                  <a:pt x="0" y="217932"/>
                </a:moveTo>
                <a:lnTo>
                  <a:pt x="4737" y="174000"/>
                </a:lnTo>
                <a:lnTo>
                  <a:pt x="18323" y="133088"/>
                </a:lnTo>
                <a:lnTo>
                  <a:pt x="39821" y="96068"/>
                </a:lnTo>
                <a:lnTo>
                  <a:pt x="68294" y="63817"/>
                </a:lnTo>
                <a:lnTo>
                  <a:pt x="102803" y="37210"/>
                </a:lnTo>
                <a:lnTo>
                  <a:pt x="142410" y="17121"/>
                </a:lnTo>
                <a:lnTo>
                  <a:pt x="186179" y="4426"/>
                </a:lnTo>
                <a:lnTo>
                  <a:pt x="233172" y="0"/>
                </a:lnTo>
                <a:lnTo>
                  <a:pt x="280164" y="4426"/>
                </a:lnTo>
                <a:lnTo>
                  <a:pt x="323933" y="17121"/>
                </a:lnTo>
                <a:lnTo>
                  <a:pt x="363540" y="37210"/>
                </a:lnTo>
                <a:lnTo>
                  <a:pt x="398049" y="63817"/>
                </a:lnTo>
                <a:lnTo>
                  <a:pt x="426522" y="96068"/>
                </a:lnTo>
                <a:lnTo>
                  <a:pt x="448020" y="133088"/>
                </a:lnTo>
                <a:lnTo>
                  <a:pt x="461606" y="174000"/>
                </a:lnTo>
                <a:lnTo>
                  <a:pt x="466344" y="217932"/>
                </a:lnTo>
                <a:lnTo>
                  <a:pt x="461606" y="261863"/>
                </a:lnTo>
                <a:lnTo>
                  <a:pt x="448020" y="302775"/>
                </a:lnTo>
                <a:lnTo>
                  <a:pt x="426522" y="339795"/>
                </a:lnTo>
                <a:lnTo>
                  <a:pt x="398049" y="372046"/>
                </a:lnTo>
                <a:lnTo>
                  <a:pt x="363540" y="398653"/>
                </a:lnTo>
                <a:lnTo>
                  <a:pt x="323933" y="418742"/>
                </a:lnTo>
                <a:lnTo>
                  <a:pt x="280164" y="431437"/>
                </a:lnTo>
                <a:lnTo>
                  <a:pt x="233172" y="435864"/>
                </a:lnTo>
                <a:lnTo>
                  <a:pt x="186179" y="431437"/>
                </a:lnTo>
                <a:lnTo>
                  <a:pt x="142410" y="418742"/>
                </a:lnTo>
                <a:lnTo>
                  <a:pt x="102803" y="398653"/>
                </a:lnTo>
                <a:lnTo>
                  <a:pt x="68294" y="372046"/>
                </a:lnTo>
                <a:lnTo>
                  <a:pt x="39821" y="339795"/>
                </a:lnTo>
                <a:lnTo>
                  <a:pt x="18323" y="302775"/>
                </a:lnTo>
                <a:lnTo>
                  <a:pt x="4737" y="261863"/>
                </a:lnTo>
                <a:lnTo>
                  <a:pt x="0" y="21793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3838447" y="4573651"/>
            <a:ext cx="2159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865370" y="4635246"/>
            <a:ext cx="464820" cy="434340"/>
          </a:xfrm>
          <a:custGeom>
            <a:avLst/>
            <a:gdLst/>
            <a:ahLst/>
            <a:cxnLst/>
            <a:rect l="l" t="t" r="r" b="b"/>
            <a:pathLst>
              <a:path w="464820" h="434339">
                <a:moveTo>
                  <a:pt x="0" y="217169"/>
                </a:moveTo>
                <a:lnTo>
                  <a:pt x="4720" y="173417"/>
                </a:lnTo>
                <a:lnTo>
                  <a:pt x="18258" y="132659"/>
                </a:lnTo>
                <a:lnTo>
                  <a:pt x="39681" y="95770"/>
                </a:lnTo>
                <a:lnTo>
                  <a:pt x="68056" y="63626"/>
                </a:lnTo>
                <a:lnTo>
                  <a:pt x="102449" y="37102"/>
                </a:lnTo>
                <a:lnTo>
                  <a:pt x="141928" y="17073"/>
                </a:lnTo>
                <a:lnTo>
                  <a:pt x="185559" y="4414"/>
                </a:lnTo>
                <a:lnTo>
                  <a:pt x="232409" y="0"/>
                </a:lnTo>
                <a:lnTo>
                  <a:pt x="279260" y="4414"/>
                </a:lnTo>
                <a:lnTo>
                  <a:pt x="322891" y="17073"/>
                </a:lnTo>
                <a:lnTo>
                  <a:pt x="362370" y="37102"/>
                </a:lnTo>
                <a:lnTo>
                  <a:pt x="396763" y="63626"/>
                </a:lnTo>
                <a:lnTo>
                  <a:pt x="425138" y="95770"/>
                </a:lnTo>
                <a:lnTo>
                  <a:pt x="446561" y="132659"/>
                </a:lnTo>
                <a:lnTo>
                  <a:pt x="460099" y="173417"/>
                </a:lnTo>
                <a:lnTo>
                  <a:pt x="464819" y="217169"/>
                </a:lnTo>
                <a:lnTo>
                  <a:pt x="460099" y="260922"/>
                </a:lnTo>
                <a:lnTo>
                  <a:pt x="446561" y="301680"/>
                </a:lnTo>
                <a:lnTo>
                  <a:pt x="425138" y="338569"/>
                </a:lnTo>
                <a:lnTo>
                  <a:pt x="396763" y="370713"/>
                </a:lnTo>
                <a:lnTo>
                  <a:pt x="362370" y="397237"/>
                </a:lnTo>
                <a:lnTo>
                  <a:pt x="322891" y="417266"/>
                </a:lnTo>
                <a:lnTo>
                  <a:pt x="279260" y="429925"/>
                </a:lnTo>
                <a:lnTo>
                  <a:pt x="232409" y="434339"/>
                </a:lnTo>
                <a:lnTo>
                  <a:pt x="185559" y="429925"/>
                </a:lnTo>
                <a:lnTo>
                  <a:pt x="141928" y="417266"/>
                </a:lnTo>
                <a:lnTo>
                  <a:pt x="102449" y="397237"/>
                </a:lnTo>
                <a:lnTo>
                  <a:pt x="68056" y="370713"/>
                </a:lnTo>
                <a:lnTo>
                  <a:pt x="39681" y="338569"/>
                </a:lnTo>
                <a:lnTo>
                  <a:pt x="18258" y="301680"/>
                </a:lnTo>
                <a:lnTo>
                  <a:pt x="4720" y="260922"/>
                </a:lnTo>
                <a:lnTo>
                  <a:pt x="0" y="217169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4989703" y="4588002"/>
            <a:ext cx="2159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179570" y="4808728"/>
            <a:ext cx="649605" cy="85725"/>
          </a:xfrm>
          <a:custGeom>
            <a:avLst/>
            <a:gdLst/>
            <a:ahLst/>
            <a:cxnLst/>
            <a:rect l="l" t="t" r="r" b="b"/>
            <a:pathLst>
              <a:path w="649604" h="85725">
                <a:moveTo>
                  <a:pt x="563499" y="0"/>
                </a:moveTo>
                <a:lnTo>
                  <a:pt x="563499" y="85725"/>
                </a:lnTo>
                <a:lnTo>
                  <a:pt x="620733" y="57150"/>
                </a:lnTo>
                <a:lnTo>
                  <a:pt x="577722" y="57150"/>
                </a:lnTo>
                <a:lnTo>
                  <a:pt x="577722" y="28575"/>
                </a:lnTo>
                <a:lnTo>
                  <a:pt x="620564" y="28575"/>
                </a:lnTo>
                <a:lnTo>
                  <a:pt x="563499" y="0"/>
                </a:lnTo>
                <a:close/>
              </a:path>
              <a:path w="649604" h="85725">
                <a:moveTo>
                  <a:pt x="563499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563499" y="57150"/>
                </a:lnTo>
                <a:lnTo>
                  <a:pt x="563499" y="28575"/>
                </a:lnTo>
                <a:close/>
              </a:path>
              <a:path w="649604" h="85725">
                <a:moveTo>
                  <a:pt x="620564" y="28575"/>
                </a:moveTo>
                <a:lnTo>
                  <a:pt x="577722" y="28575"/>
                </a:lnTo>
                <a:lnTo>
                  <a:pt x="577722" y="57150"/>
                </a:lnTo>
                <a:lnTo>
                  <a:pt x="620733" y="57150"/>
                </a:lnTo>
                <a:lnTo>
                  <a:pt x="649224" y="42926"/>
                </a:lnTo>
                <a:lnTo>
                  <a:pt x="620564" y="285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4486402" y="4444949"/>
            <a:ext cx="214629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4763261" y="5497829"/>
            <a:ext cx="464820" cy="436245"/>
          </a:xfrm>
          <a:custGeom>
            <a:avLst/>
            <a:gdLst/>
            <a:ahLst/>
            <a:cxnLst/>
            <a:rect l="l" t="t" r="r" b="b"/>
            <a:pathLst>
              <a:path w="464820" h="436245">
                <a:moveTo>
                  <a:pt x="0" y="217932"/>
                </a:moveTo>
                <a:lnTo>
                  <a:pt x="4720" y="174011"/>
                </a:lnTo>
                <a:lnTo>
                  <a:pt x="18258" y="133104"/>
                </a:lnTo>
                <a:lnTo>
                  <a:pt x="39681" y="96085"/>
                </a:lnTo>
                <a:lnTo>
                  <a:pt x="68056" y="63831"/>
                </a:lnTo>
                <a:lnTo>
                  <a:pt x="102449" y="37220"/>
                </a:lnTo>
                <a:lnTo>
                  <a:pt x="141928" y="17126"/>
                </a:lnTo>
                <a:lnTo>
                  <a:pt x="185559" y="4427"/>
                </a:lnTo>
                <a:lnTo>
                  <a:pt x="232410" y="0"/>
                </a:lnTo>
                <a:lnTo>
                  <a:pt x="279260" y="4427"/>
                </a:lnTo>
                <a:lnTo>
                  <a:pt x="322891" y="17126"/>
                </a:lnTo>
                <a:lnTo>
                  <a:pt x="362370" y="37220"/>
                </a:lnTo>
                <a:lnTo>
                  <a:pt x="396763" y="63831"/>
                </a:lnTo>
                <a:lnTo>
                  <a:pt x="425138" y="96085"/>
                </a:lnTo>
                <a:lnTo>
                  <a:pt x="446561" y="133104"/>
                </a:lnTo>
                <a:lnTo>
                  <a:pt x="460099" y="174011"/>
                </a:lnTo>
                <a:lnTo>
                  <a:pt x="464820" y="217932"/>
                </a:lnTo>
                <a:lnTo>
                  <a:pt x="460099" y="261852"/>
                </a:lnTo>
                <a:lnTo>
                  <a:pt x="446561" y="302759"/>
                </a:lnTo>
                <a:lnTo>
                  <a:pt x="425138" y="339778"/>
                </a:lnTo>
                <a:lnTo>
                  <a:pt x="396763" y="372032"/>
                </a:lnTo>
                <a:lnTo>
                  <a:pt x="362370" y="398643"/>
                </a:lnTo>
                <a:lnTo>
                  <a:pt x="322891" y="418737"/>
                </a:lnTo>
                <a:lnTo>
                  <a:pt x="279260" y="431436"/>
                </a:lnTo>
                <a:lnTo>
                  <a:pt x="232410" y="435864"/>
                </a:lnTo>
                <a:lnTo>
                  <a:pt x="185559" y="431436"/>
                </a:lnTo>
                <a:lnTo>
                  <a:pt x="141928" y="418737"/>
                </a:lnTo>
                <a:lnTo>
                  <a:pt x="102449" y="398643"/>
                </a:lnTo>
                <a:lnTo>
                  <a:pt x="68056" y="372032"/>
                </a:lnTo>
                <a:lnTo>
                  <a:pt x="39681" y="339778"/>
                </a:lnTo>
                <a:lnTo>
                  <a:pt x="18258" y="302759"/>
                </a:lnTo>
                <a:lnTo>
                  <a:pt x="4720" y="261852"/>
                </a:lnTo>
                <a:lnTo>
                  <a:pt x="0" y="217932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4908041" y="5509056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4834890" y="5549646"/>
            <a:ext cx="326390" cy="326390"/>
          </a:xfrm>
          <a:custGeom>
            <a:avLst/>
            <a:gdLst/>
            <a:ahLst/>
            <a:cxnLst/>
            <a:rect l="l" t="t" r="r" b="b"/>
            <a:pathLst>
              <a:path w="326389" h="326389">
                <a:moveTo>
                  <a:pt x="0" y="163067"/>
                </a:moveTo>
                <a:lnTo>
                  <a:pt x="5826" y="119719"/>
                </a:lnTo>
                <a:lnTo>
                  <a:pt x="22267" y="80766"/>
                </a:lnTo>
                <a:lnTo>
                  <a:pt x="47767" y="47763"/>
                </a:lnTo>
                <a:lnTo>
                  <a:pt x="80772" y="22264"/>
                </a:lnTo>
                <a:lnTo>
                  <a:pt x="119723" y="5825"/>
                </a:lnTo>
                <a:lnTo>
                  <a:pt x="163068" y="0"/>
                </a:lnTo>
                <a:lnTo>
                  <a:pt x="206412" y="5825"/>
                </a:lnTo>
                <a:lnTo>
                  <a:pt x="245363" y="22264"/>
                </a:lnTo>
                <a:lnTo>
                  <a:pt x="278368" y="47763"/>
                </a:lnTo>
                <a:lnTo>
                  <a:pt x="303868" y="80766"/>
                </a:lnTo>
                <a:lnTo>
                  <a:pt x="320309" y="119719"/>
                </a:lnTo>
                <a:lnTo>
                  <a:pt x="326136" y="163067"/>
                </a:lnTo>
                <a:lnTo>
                  <a:pt x="320309" y="206416"/>
                </a:lnTo>
                <a:lnTo>
                  <a:pt x="303868" y="245369"/>
                </a:lnTo>
                <a:lnTo>
                  <a:pt x="278368" y="278372"/>
                </a:lnTo>
                <a:lnTo>
                  <a:pt x="245363" y="303871"/>
                </a:lnTo>
                <a:lnTo>
                  <a:pt x="206412" y="320310"/>
                </a:lnTo>
                <a:lnTo>
                  <a:pt x="163068" y="326135"/>
                </a:lnTo>
                <a:lnTo>
                  <a:pt x="119723" y="320310"/>
                </a:lnTo>
                <a:lnTo>
                  <a:pt x="80772" y="303871"/>
                </a:lnTo>
                <a:lnTo>
                  <a:pt x="47767" y="278372"/>
                </a:lnTo>
                <a:lnTo>
                  <a:pt x="22267" y="245369"/>
                </a:lnTo>
                <a:lnTo>
                  <a:pt x="5826" y="206416"/>
                </a:lnTo>
                <a:lnTo>
                  <a:pt x="0" y="163067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4381627" y="3745229"/>
            <a:ext cx="22796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229227" y="5253938"/>
            <a:ext cx="1714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867150" y="4174997"/>
            <a:ext cx="1225550" cy="443865"/>
          </a:xfrm>
          <a:custGeom>
            <a:avLst/>
            <a:gdLst/>
            <a:ahLst/>
            <a:cxnLst/>
            <a:rect l="l" t="t" r="r" b="b"/>
            <a:pathLst>
              <a:path w="1225550" h="443864">
                <a:moveTo>
                  <a:pt x="0" y="443483"/>
                </a:moveTo>
                <a:lnTo>
                  <a:pt x="1514" y="371535"/>
                </a:lnTo>
                <a:lnTo>
                  <a:pt x="5899" y="303288"/>
                </a:lnTo>
                <a:lnTo>
                  <a:pt x="12917" y="239653"/>
                </a:lnTo>
                <a:lnTo>
                  <a:pt x="22327" y="181544"/>
                </a:lnTo>
                <a:lnTo>
                  <a:pt x="33893" y="129873"/>
                </a:lnTo>
                <a:lnTo>
                  <a:pt x="47375" y="85551"/>
                </a:lnTo>
                <a:lnTo>
                  <a:pt x="62534" y="49490"/>
                </a:lnTo>
                <a:lnTo>
                  <a:pt x="96934" y="5803"/>
                </a:lnTo>
                <a:lnTo>
                  <a:pt x="115697" y="0"/>
                </a:lnTo>
                <a:lnTo>
                  <a:pt x="1109599" y="0"/>
                </a:lnTo>
                <a:lnTo>
                  <a:pt x="1146161" y="22603"/>
                </a:lnTo>
                <a:lnTo>
                  <a:pt x="1177920" y="85551"/>
                </a:lnTo>
                <a:lnTo>
                  <a:pt x="1191402" y="129873"/>
                </a:lnTo>
                <a:lnTo>
                  <a:pt x="1202968" y="181544"/>
                </a:lnTo>
                <a:lnTo>
                  <a:pt x="1212378" y="239653"/>
                </a:lnTo>
                <a:lnTo>
                  <a:pt x="1219396" y="303288"/>
                </a:lnTo>
                <a:lnTo>
                  <a:pt x="1223781" y="371535"/>
                </a:lnTo>
                <a:lnTo>
                  <a:pt x="1225296" y="443483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982973" y="5069585"/>
            <a:ext cx="0" cy="646430"/>
          </a:xfrm>
          <a:custGeom>
            <a:avLst/>
            <a:gdLst/>
            <a:ahLst/>
            <a:cxnLst/>
            <a:rect l="l" t="t" r="r" b="b"/>
            <a:pathLst>
              <a:path w="0" h="646429">
                <a:moveTo>
                  <a:pt x="0" y="0"/>
                </a:moveTo>
                <a:lnTo>
                  <a:pt x="0" y="646176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982973" y="5658611"/>
            <a:ext cx="780415" cy="114300"/>
          </a:xfrm>
          <a:custGeom>
            <a:avLst/>
            <a:gdLst/>
            <a:ahLst/>
            <a:cxnLst/>
            <a:rect l="l" t="t" r="r" b="b"/>
            <a:pathLst>
              <a:path w="780414" h="114300">
                <a:moveTo>
                  <a:pt x="665988" y="0"/>
                </a:moveTo>
                <a:lnTo>
                  <a:pt x="665988" y="114300"/>
                </a:lnTo>
                <a:lnTo>
                  <a:pt x="742188" y="76200"/>
                </a:lnTo>
                <a:lnTo>
                  <a:pt x="685038" y="76200"/>
                </a:lnTo>
                <a:lnTo>
                  <a:pt x="685038" y="38100"/>
                </a:lnTo>
                <a:lnTo>
                  <a:pt x="742188" y="38100"/>
                </a:lnTo>
                <a:lnTo>
                  <a:pt x="665988" y="0"/>
                </a:lnTo>
                <a:close/>
              </a:path>
              <a:path w="780414" h="114300">
                <a:moveTo>
                  <a:pt x="6659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65988" y="76200"/>
                </a:lnTo>
                <a:lnTo>
                  <a:pt x="665988" y="38100"/>
                </a:lnTo>
                <a:close/>
              </a:path>
              <a:path w="780414" h="114300">
                <a:moveTo>
                  <a:pt x="742188" y="38100"/>
                </a:moveTo>
                <a:lnTo>
                  <a:pt x="685038" y="38100"/>
                </a:lnTo>
                <a:lnTo>
                  <a:pt x="685038" y="76200"/>
                </a:lnTo>
                <a:lnTo>
                  <a:pt x="742188" y="76200"/>
                </a:lnTo>
                <a:lnTo>
                  <a:pt x="780288" y="57150"/>
                </a:lnTo>
                <a:lnTo>
                  <a:pt x="74218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827017" y="4404359"/>
            <a:ext cx="114046" cy="21513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5410961" y="4197858"/>
            <a:ext cx="567054" cy="131064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5998971" y="4525517"/>
            <a:ext cx="42005" cy="65531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062090" y="4525517"/>
            <a:ext cx="21001" cy="65531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410961" y="4197858"/>
            <a:ext cx="567055" cy="1310640"/>
          </a:xfrm>
          <a:custGeom>
            <a:avLst/>
            <a:gdLst/>
            <a:ahLst/>
            <a:cxnLst/>
            <a:rect l="l" t="t" r="r" b="b"/>
            <a:pathLst>
              <a:path w="567054" h="1310639">
                <a:moveTo>
                  <a:pt x="168021" y="1310640"/>
                </a:moveTo>
                <a:lnTo>
                  <a:pt x="168021" y="982980"/>
                </a:lnTo>
                <a:lnTo>
                  <a:pt x="567054" y="982980"/>
                </a:lnTo>
                <a:lnTo>
                  <a:pt x="567054" y="327660"/>
                </a:lnTo>
                <a:lnTo>
                  <a:pt x="168021" y="327660"/>
                </a:lnTo>
                <a:lnTo>
                  <a:pt x="168021" y="0"/>
                </a:lnTo>
                <a:lnTo>
                  <a:pt x="0" y="655320"/>
                </a:lnTo>
                <a:lnTo>
                  <a:pt x="168021" y="1310640"/>
                </a:lnTo>
                <a:close/>
              </a:path>
            </a:pathLst>
          </a:custGeom>
          <a:ln w="38100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5979921" y="4506467"/>
            <a:ext cx="63500" cy="693420"/>
          </a:xfrm>
          <a:custGeom>
            <a:avLst/>
            <a:gdLst/>
            <a:ahLst/>
            <a:cxnLst/>
            <a:rect l="l" t="t" r="r" b="b"/>
            <a:pathLst>
              <a:path w="63500" h="693420">
                <a:moveTo>
                  <a:pt x="0" y="693419"/>
                </a:moveTo>
                <a:lnTo>
                  <a:pt x="63119" y="693419"/>
                </a:lnTo>
                <a:lnTo>
                  <a:pt x="63119" y="0"/>
                </a:lnTo>
                <a:lnTo>
                  <a:pt x="0" y="0"/>
                </a:lnTo>
                <a:lnTo>
                  <a:pt x="0" y="693419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043040" y="4506467"/>
            <a:ext cx="59690" cy="693420"/>
          </a:xfrm>
          <a:custGeom>
            <a:avLst/>
            <a:gdLst/>
            <a:ahLst/>
            <a:cxnLst/>
            <a:rect l="l" t="t" r="r" b="b"/>
            <a:pathLst>
              <a:path w="59689" h="693420">
                <a:moveTo>
                  <a:pt x="0" y="693419"/>
                </a:moveTo>
                <a:lnTo>
                  <a:pt x="59101" y="693419"/>
                </a:lnTo>
                <a:lnTo>
                  <a:pt x="59101" y="0"/>
                </a:lnTo>
                <a:lnTo>
                  <a:pt x="0" y="0"/>
                </a:lnTo>
                <a:lnTo>
                  <a:pt x="0" y="693419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5451728" y="5707176"/>
            <a:ext cx="6381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化简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3304794" y="4808220"/>
            <a:ext cx="408940" cy="114300"/>
          </a:xfrm>
          <a:custGeom>
            <a:avLst/>
            <a:gdLst/>
            <a:ahLst/>
            <a:cxnLst/>
            <a:rect l="l" t="t" r="r" b="b"/>
            <a:pathLst>
              <a:path w="408939" h="114300">
                <a:moveTo>
                  <a:pt x="294131" y="0"/>
                </a:moveTo>
                <a:lnTo>
                  <a:pt x="294131" y="114299"/>
                </a:lnTo>
                <a:lnTo>
                  <a:pt x="370331" y="76199"/>
                </a:lnTo>
                <a:lnTo>
                  <a:pt x="313181" y="76199"/>
                </a:lnTo>
                <a:lnTo>
                  <a:pt x="313181" y="38099"/>
                </a:lnTo>
                <a:lnTo>
                  <a:pt x="370331" y="38099"/>
                </a:lnTo>
                <a:lnTo>
                  <a:pt x="294131" y="0"/>
                </a:lnTo>
                <a:close/>
              </a:path>
              <a:path w="408939" h="114300">
                <a:moveTo>
                  <a:pt x="294131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94131" y="76199"/>
                </a:lnTo>
                <a:lnTo>
                  <a:pt x="294131" y="38099"/>
                </a:lnTo>
                <a:close/>
              </a:path>
              <a:path w="408939" h="114300">
                <a:moveTo>
                  <a:pt x="370331" y="38099"/>
                </a:moveTo>
                <a:lnTo>
                  <a:pt x="313181" y="38099"/>
                </a:lnTo>
                <a:lnTo>
                  <a:pt x="313181" y="76199"/>
                </a:lnTo>
                <a:lnTo>
                  <a:pt x="370331" y="76199"/>
                </a:lnTo>
                <a:lnTo>
                  <a:pt x="408431" y="57149"/>
                </a:lnTo>
                <a:lnTo>
                  <a:pt x="370331" y="38099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552438" y="4624578"/>
            <a:ext cx="464820" cy="436245"/>
          </a:xfrm>
          <a:custGeom>
            <a:avLst/>
            <a:gdLst/>
            <a:ahLst/>
            <a:cxnLst/>
            <a:rect l="l" t="t" r="r" b="b"/>
            <a:pathLst>
              <a:path w="464820" h="436245">
                <a:moveTo>
                  <a:pt x="0" y="217932"/>
                </a:moveTo>
                <a:lnTo>
                  <a:pt x="4720" y="174000"/>
                </a:lnTo>
                <a:lnTo>
                  <a:pt x="18258" y="133088"/>
                </a:lnTo>
                <a:lnTo>
                  <a:pt x="39681" y="96068"/>
                </a:lnTo>
                <a:lnTo>
                  <a:pt x="68056" y="63817"/>
                </a:lnTo>
                <a:lnTo>
                  <a:pt x="102449" y="37210"/>
                </a:lnTo>
                <a:lnTo>
                  <a:pt x="141928" y="17121"/>
                </a:lnTo>
                <a:lnTo>
                  <a:pt x="185559" y="4426"/>
                </a:lnTo>
                <a:lnTo>
                  <a:pt x="232409" y="0"/>
                </a:lnTo>
                <a:lnTo>
                  <a:pt x="279260" y="4426"/>
                </a:lnTo>
                <a:lnTo>
                  <a:pt x="322891" y="17121"/>
                </a:lnTo>
                <a:lnTo>
                  <a:pt x="362370" y="37210"/>
                </a:lnTo>
                <a:lnTo>
                  <a:pt x="396763" y="63817"/>
                </a:lnTo>
                <a:lnTo>
                  <a:pt x="425138" y="96068"/>
                </a:lnTo>
                <a:lnTo>
                  <a:pt x="446561" y="133088"/>
                </a:lnTo>
                <a:lnTo>
                  <a:pt x="460099" y="174000"/>
                </a:lnTo>
                <a:lnTo>
                  <a:pt x="464819" y="217932"/>
                </a:lnTo>
                <a:lnTo>
                  <a:pt x="460099" y="261863"/>
                </a:lnTo>
                <a:lnTo>
                  <a:pt x="446561" y="302775"/>
                </a:lnTo>
                <a:lnTo>
                  <a:pt x="425138" y="339795"/>
                </a:lnTo>
                <a:lnTo>
                  <a:pt x="396763" y="372046"/>
                </a:lnTo>
                <a:lnTo>
                  <a:pt x="362370" y="398653"/>
                </a:lnTo>
                <a:lnTo>
                  <a:pt x="322891" y="418742"/>
                </a:lnTo>
                <a:lnTo>
                  <a:pt x="279260" y="431437"/>
                </a:lnTo>
                <a:lnTo>
                  <a:pt x="232409" y="435864"/>
                </a:lnTo>
                <a:lnTo>
                  <a:pt x="185559" y="431437"/>
                </a:lnTo>
                <a:lnTo>
                  <a:pt x="141928" y="418742"/>
                </a:lnTo>
                <a:lnTo>
                  <a:pt x="102449" y="398653"/>
                </a:lnTo>
                <a:lnTo>
                  <a:pt x="68056" y="372046"/>
                </a:lnTo>
                <a:lnTo>
                  <a:pt x="39681" y="339795"/>
                </a:lnTo>
                <a:lnTo>
                  <a:pt x="18258" y="302775"/>
                </a:lnTo>
                <a:lnTo>
                  <a:pt x="4720" y="261863"/>
                </a:lnTo>
                <a:lnTo>
                  <a:pt x="0" y="21793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6677406" y="4577918"/>
            <a:ext cx="21653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7581138" y="4639817"/>
            <a:ext cx="464820" cy="434340"/>
          </a:xfrm>
          <a:custGeom>
            <a:avLst/>
            <a:gdLst/>
            <a:ahLst/>
            <a:cxnLst/>
            <a:rect l="l" t="t" r="r" b="b"/>
            <a:pathLst>
              <a:path w="464820" h="434339">
                <a:moveTo>
                  <a:pt x="0" y="217169"/>
                </a:moveTo>
                <a:lnTo>
                  <a:pt x="4720" y="173417"/>
                </a:lnTo>
                <a:lnTo>
                  <a:pt x="18258" y="132659"/>
                </a:lnTo>
                <a:lnTo>
                  <a:pt x="39681" y="95770"/>
                </a:lnTo>
                <a:lnTo>
                  <a:pt x="68056" y="63626"/>
                </a:lnTo>
                <a:lnTo>
                  <a:pt x="102449" y="37102"/>
                </a:lnTo>
                <a:lnTo>
                  <a:pt x="141928" y="17073"/>
                </a:lnTo>
                <a:lnTo>
                  <a:pt x="185559" y="4414"/>
                </a:lnTo>
                <a:lnTo>
                  <a:pt x="232409" y="0"/>
                </a:lnTo>
                <a:lnTo>
                  <a:pt x="279260" y="4414"/>
                </a:lnTo>
                <a:lnTo>
                  <a:pt x="322891" y="17073"/>
                </a:lnTo>
                <a:lnTo>
                  <a:pt x="362370" y="37102"/>
                </a:lnTo>
                <a:lnTo>
                  <a:pt x="396763" y="63626"/>
                </a:lnTo>
                <a:lnTo>
                  <a:pt x="425138" y="95770"/>
                </a:lnTo>
                <a:lnTo>
                  <a:pt x="446561" y="132659"/>
                </a:lnTo>
                <a:lnTo>
                  <a:pt x="460099" y="173417"/>
                </a:lnTo>
                <a:lnTo>
                  <a:pt x="464819" y="217169"/>
                </a:lnTo>
                <a:lnTo>
                  <a:pt x="460099" y="260922"/>
                </a:lnTo>
                <a:lnTo>
                  <a:pt x="446561" y="301680"/>
                </a:lnTo>
                <a:lnTo>
                  <a:pt x="425138" y="338569"/>
                </a:lnTo>
                <a:lnTo>
                  <a:pt x="396763" y="370713"/>
                </a:lnTo>
                <a:lnTo>
                  <a:pt x="362370" y="397237"/>
                </a:lnTo>
                <a:lnTo>
                  <a:pt x="322891" y="417266"/>
                </a:lnTo>
                <a:lnTo>
                  <a:pt x="279260" y="429925"/>
                </a:lnTo>
                <a:lnTo>
                  <a:pt x="232409" y="434339"/>
                </a:lnTo>
                <a:lnTo>
                  <a:pt x="185559" y="429925"/>
                </a:lnTo>
                <a:lnTo>
                  <a:pt x="141928" y="417266"/>
                </a:lnTo>
                <a:lnTo>
                  <a:pt x="102449" y="397237"/>
                </a:lnTo>
                <a:lnTo>
                  <a:pt x="68056" y="370712"/>
                </a:lnTo>
                <a:lnTo>
                  <a:pt x="39681" y="338569"/>
                </a:lnTo>
                <a:lnTo>
                  <a:pt x="18258" y="301680"/>
                </a:lnTo>
                <a:lnTo>
                  <a:pt x="4720" y="260922"/>
                </a:lnTo>
                <a:lnTo>
                  <a:pt x="0" y="217169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7706359" y="4592573"/>
            <a:ext cx="2159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115682" y="4389882"/>
            <a:ext cx="21399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7931657" y="5502402"/>
            <a:ext cx="464820" cy="436245"/>
          </a:xfrm>
          <a:custGeom>
            <a:avLst/>
            <a:gdLst/>
            <a:ahLst/>
            <a:cxnLst/>
            <a:rect l="l" t="t" r="r" b="b"/>
            <a:pathLst>
              <a:path w="464820" h="436245">
                <a:moveTo>
                  <a:pt x="0" y="217932"/>
                </a:moveTo>
                <a:lnTo>
                  <a:pt x="4720" y="174011"/>
                </a:lnTo>
                <a:lnTo>
                  <a:pt x="18258" y="133104"/>
                </a:lnTo>
                <a:lnTo>
                  <a:pt x="39681" y="96085"/>
                </a:lnTo>
                <a:lnTo>
                  <a:pt x="68056" y="63831"/>
                </a:lnTo>
                <a:lnTo>
                  <a:pt x="102449" y="37220"/>
                </a:lnTo>
                <a:lnTo>
                  <a:pt x="141928" y="17126"/>
                </a:lnTo>
                <a:lnTo>
                  <a:pt x="185559" y="4427"/>
                </a:lnTo>
                <a:lnTo>
                  <a:pt x="232410" y="0"/>
                </a:lnTo>
                <a:lnTo>
                  <a:pt x="279260" y="4427"/>
                </a:lnTo>
                <a:lnTo>
                  <a:pt x="322891" y="17126"/>
                </a:lnTo>
                <a:lnTo>
                  <a:pt x="362370" y="37220"/>
                </a:lnTo>
                <a:lnTo>
                  <a:pt x="396763" y="63831"/>
                </a:lnTo>
                <a:lnTo>
                  <a:pt x="425138" y="96085"/>
                </a:lnTo>
                <a:lnTo>
                  <a:pt x="446561" y="133104"/>
                </a:lnTo>
                <a:lnTo>
                  <a:pt x="460099" y="174011"/>
                </a:lnTo>
                <a:lnTo>
                  <a:pt x="464820" y="217932"/>
                </a:lnTo>
                <a:lnTo>
                  <a:pt x="460099" y="261852"/>
                </a:lnTo>
                <a:lnTo>
                  <a:pt x="446561" y="302759"/>
                </a:lnTo>
                <a:lnTo>
                  <a:pt x="425138" y="339778"/>
                </a:lnTo>
                <a:lnTo>
                  <a:pt x="396763" y="372032"/>
                </a:lnTo>
                <a:lnTo>
                  <a:pt x="362370" y="398643"/>
                </a:lnTo>
                <a:lnTo>
                  <a:pt x="322891" y="418737"/>
                </a:lnTo>
                <a:lnTo>
                  <a:pt x="279260" y="431436"/>
                </a:lnTo>
                <a:lnTo>
                  <a:pt x="232410" y="435864"/>
                </a:lnTo>
                <a:lnTo>
                  <a:pt x="185559" y="431436"/>
                </a:lnTo>
                <a:lnTo>
                  <a:pt x="141928" y="418737"/>
                </a:lnTo>
                <a:lnTo>
                  <a:pt x="102449" y="398643"/>
                </a:lnTo>
                <a:lnTo>
                  <a:pt x="68056" y="372032"/>
                </a:lnTo>
                <a:lnTo>
                  <a:pt x="39681" y="339778"/>
                </a:lnTo>
                <a:lnTo>
                  <a:pt x="18258" y="302759"/>
                </a:lnTo>
                <a:lnTo>
                  <a:pt x="4720" y="261852"/>
                </a:lnTo>
                <a:lnTo>
                  <a:pt x="0" y="217932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8076945" y="5514238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8003285" y="5564885"/>
            <a:ext cx="327660" cy="327660"/>
          </a:xfrm>
          <a:custGeom>
            <a:avLst/>
            <a:gdLst/>
            <a:ahLst/>
            <a:cxnLst/>
            <a:rect l="l" t="t" r="r" b="b"/>
            <a:pathLst>
              <a:path w="327659" h="327660">
                <a:moveTo>
                  <a:pt x="0" y="163829"/>
                </a:moveTo>
                <a:lnTo>
                  <a:pt x="5856" y="120275"/>
                </a:lnTo>
                <a:lnTo>
                  <a:pt x="22380" y="81138"/>
                </a:lnTo>
                <a:lnTo>
                  <a:pt x="48006" y="47982"/>
                </a:lnTo>
                <a:lnTo>
                  <a:pt x="81167" y="22366"/>
                </a:lnTo>
                <a:lnTo>
                  <a:pt x="120297" y="5851"/>
                </a:lnTo>
                <a:lnTo>
                  <a:pt x="163830" y="0"/>
                </a:lnTo>
                <a:lnTo>
                  <a:pt x="207362" y="5851"/>
                </a:lnTo>
                <a:lnTo>
                  <a:pt x="246492" y="22366"/>
                </a:lnTo>
                <a:lnTo>
                  <a:pt x="279654" y="47982"/>
                </a:lnTo>
                <a:lnTo>
                  <a:pt x="305279" y="81138"/>
                </a:lnTo>
                <a:lnTo>
                  <a:pt x="321803" y="120275"/>
                </a:lnTo>
                <a:lnTo>
                  <a:pt x="327660" y="163829"/>
                </a:lnTo>
                <a:lnTo>
                  <a:pt x="321803" y="207380"/>
                </a:lnTo>
                <a:lnTo>
                  <a:pt x="305279" y="246515"/>
                </a:lnTo>
                <a:lnTo>
                  <a:pt x="279654" y="279673"/>
                </a:lnTo>
                <a:lnTo>
                  <a:pt x="246492" y="305291"/>
                </a:lnTo>
                <a:lnTo>
                  <a:pt x="207362" y="321807"/>
                </a:lnTo>
                <a:lnTo>
                  <a:pt x="163830" y="327659"/>
                </a:lnTo>
                <a:lnTo>
                  <a:pt x="120297" y="321807"/>
                </a:lnTo>
                <a:lnTo>
                  <a:pt x="81167" y="305291"/>
                </a:lnTo>
                <a:lnTo>
                  <a:pt x="48006" y="279673"/>
                </a:lnTo>
                <a:lnTo>
                  <a:pt x="22380" y="246515"/>
                </a:lnTo>
                <a:lnTo>
                  <a:pt x="5856" y="207380"/>
                </a:lnTo>
                <a:lnTo>
                  <a:pt x="0" y="163829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8548878" y="4662678"/>
            <a:ext cx="466725" cy="436245"/>
          </a:xfrm>
          <a:custGeom>
            <a:avLst/>
            <a:gdLst/>
            <a:ahLst/>
            <a:cxnLst/>
            <a:rect l="l" t="t" r="r" b="b"/>
            <a:pathLst>
              <a:path w="466725" h="436245">
                <a:moveTo>
                  <a:pt x="0" y="217932"/>
                </a:moveTo>
                <a:lnTo>
                  <a:pt x="4737" y="174000"/>
                </a:lnTo>
                <a:lnTo>
                  <a:pt x="18323" y="133088"/>
                </a:lnTo>
                <a:lnTo>
                  <a:pt x="39821" y="96068"/>
                </a:lnTo>
                <a:lnTo>
                  <a:pt x="68294" y="63817"/>
                </a:lnTo>
                <a:lnTo>
                  <a:pt x="102803" y="37210"/>
                </a:lnTo>
                <a:lnTo>
                  <a:pt x="142410" y="17121"/>
                </a:lnTo>
                <a:lnTo>
                  <a:pt x="186179" y="4426"/>
                </a:lnTo>
                <a:lnTo>
                  <a:pt x="233172" y="0"/>
                </a:lnTo>
                <a:lnTo>
                  <a:pt x="280164" y="4426"/>
                </a:lnTo>
                <a:lnTo>
                  <a:pt x="323933" y="17121"/>
                </a:lnTo>
                <a:lnTo>
                  <a:pt x="363540" y="37210"/>
                </a:lnTo>
                <a:lnTo>
                  <a:pt x="398049" y="63817"/>
                </a:lnTo>
                <a:lnTo>
                  <a:pt x="426522" y="96068"/>
                </a:lnTo>
                <a:lnTo>
                  <a:pt x="448020" y="133088"/>
                </a:lnTo>
                <a:lnTo>
                  <a:pt x="461606" y="174000"/>
                </a:lnTo>
                <a:lnTo>
                  <a:pt x="466344" y="217932"/>
                </a:lnTo>
                <a:lnTo>
                  <a:pt x="461606" y="261863"/>
                </a:lnTo>
                <a:lnTo>
                  <a:pt x="448020" y="302775"/>
                </a:lnTo>
                <a:lnTo>
                  <a:pt x="426522" y="339795"/>
                </a:lnTo>
                <a:lnTo>
                  <a:pt x="398049" y="372046"/>
                </a:lnTo>
                <a:lnTo>
                  <a:pt x="363540" y="398653"/>
                </a:lnTo>
                <a:lnTo>
                  <a:pt x="323933" y="418742"/>
                </a:lnTo>
                <a:lnTo>
                  <a:pt x="280164" y="431437"/>
                </a:lnTo>
                <a:lnTo>
                  <a:pt x="233172" y="435864"/>
                </a:lnTo>
                <a:lnTo>
                  <a:pt x="186179" y="431437"/>
                </a:lnTo>
                <a:lnTo>
                  <a:pt x="142410" y="418742"/>
                </a:lnTo>
                <a:lnTo>
                  <a:pt x="102803" y="398653"/>
                </a:lnTo>
                <a:lnTo>
                  <a:pt x="68294" y="372046"/>
                </a:lnTo>
                <a:lnTo>
                  <a:pt x="39821" y="339795"/>
                </a:lnTo>
                <a:lnTo>
                  <a:pt x="18323" y="302775"/>
                </a:lnTo>
                <a:lnTo>
                  <a:pt x="4737" y="261863"/>
                </a:lnTo>
                <a:lnTo>
                  <a:pt x="0" y="21793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8274684" y="4397197"/>
            <a:ext cx="64198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12115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T	</a:t>
            </a:r>
            <a:r>
              <a:rPr dirty="0" baseline="-31481" sz="45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baseline="-31481" sz="45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7068057" y="5258206"/>
            <a:ext cx="1714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6820661" y="5074158"/>
            <a:ext cx="0" cy="646430"/>
          </a:xfrm>
          <a:custGeom>
            <a:avLst/>
            <a:gdLst/>
            <a:ahLst/>
            <a:cxnLst/>
            <a:rect l="l" t="t" r="r" b="b"/>
            <a:pathLst>
              <a:path w="0" h="646429">
                <a:moveTo>
                  <a:pt x="0" y="0"/>
                </a:moveTo>
                <a:lnTo>
                  <a:pt x="0" y="646176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6820661" y="5663184"/>
            <a:ext cx="1111250" cy="114300"/>
          </a:xfrm>
          <a:custGeom>
            <a:avLst/>
            <a:gdLst/>
            <a:ahLst/>
            <a:cxnLst/>
            <a:rect l="l" t="t" r="r" b="b"/>
            <a:pathLst>
              <a:path w="1111250" h="114300">
                <a:moveTo>
                  <a:pt x="996696" y="0"/>
                </a:moveTo>
                <a:lnTo>
                  <a:pt x="996696" y="114299"/>
                </a:lnTo>
                <a:lnTo>
                  <a:pt x="1072896" y="76199"/>
                </a:lnTo>
                <a:lnTo>
                  <a:pt x="1015746" y="76199"/>
                </a:lnTo>
                <a:lnTo>
                  <a:pt x="1015746" y="38099"/>
                </a:lnTo>
                <a:lnTo>
                  <a:pt x="1072896" y="38099"/>
                </a:lnTo>
                <a:lnTo>
                  <a:pt x="996696" y="0"/>
                </a:lnTo>
                <a:close/>
              </a:path>
              <a:path w="1111250" h="114300">
                <a:moveTo>
                  <a:pt x="996696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996696" y="76199"/>
                </a:lnTo>
                <a:lnTo>
                  <a:pt x="996696" y="38099"/>
                </a:lnTo>
                <a:close/>
              </a:path>
              <a:path w="1111250" h="114300">
                <a:moveTo>
                  <a:pt x="1072896" y="38099"/>
                </a:moveTo>
                <a:lnTo>
                  <a:pt x="1015746" y="38099"/>
                </a:lnTo>
                <a:lnTo>
                  <a:pt x="1015746" y="76199"/>
                </a:lnTo>
                <a:lnTo>
                  <a:pt x="1072896" y="76199"/>
                </a:lnTo>
                <a:lnTo>
                  <a:pt x="1110996" y="57149"/>
                </a:lnTo>
                <a:lnTo>
                  <a:pt x="1072896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7870063" y="3756405"/>
            <a:ext cx="1714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6785609" y="4376673"/>
            <a:ext cx="2016125" cy="287655"/>
          </a:xfrm>
          <a:custGeom>
            <a:avLst/>
            <a:gdLst/>
            <a:ahLst/>
            <a:cxnLst/>
            <a:rect l="l" t="t" r="r" b="b"/>
            <a:pathLst>
              <a:path w="2016125" h="287654">
                <a:moveTo>
                  <a:pt x="1470581" y="38100"/>
                </a:moveTo>
                <a:lnTo>
                  <a:pt x="998347" y="38100"/>
                </a:lnTo>
                <a:lnTo>
                  <a:pt x="1044956" y="38481"/>
                </a:lnTo>
                <a:lnTo>
                  <a:pt x="1091311" y="39624"/>
                </a:lnTo>
                <a:lnTo>
                  <a:pt x="1137412" y="41528"/>
                </a:lnTo>
                <a:lnTo>
                  <a:pt x="1183386" y="44068"/>
                </a:lnTo>
                <a:lnTo>
                  <a:pt x="1229106" y="47370"/>
                </a:lnTo>
                <a:lnTo>
                  <a:pt x="1274191" y="51307"/>
                </a:lnTo>
                <a:lnTo>
                  <a:pt x="1318768" y="55880"/>
                </a:lnTo>
                <a:lnTo>
                  <a:pt x="1362710" y="61087"/>
                </a:lnTo>
                <a:lnTo>
                  <a:pt x="1405890" y="66675"/>
                </a:lnTo>
                <a:lnTo>
                  <a:pt x="1448308" y="73025"/>
                </a:lnTo>
                <a:lnTo>
                  <a:pt x="1489710" y="79882"/>
                </a:lnTo>
                <a:lnTo>
                  <a:pt x="1530223" y="87121"/>
                </a:lnTo>
                <a:lnTo>
                  <a:pt x="1569466" y="94995"/>
                </a:lnTo>
                <a:lnTo>
                  <a:pt x="1607693" y="103250"/>
                </a:lnTo>
                <a:lnTo>
                  <a:pt x="1679956" y="121031"/>
                </a:lnTo>
                <a:lnTo>
                  <a:pt x="1746250" y="140334"/>
                </a:lnTo>
                <a:lnTo>
                  <a:pt x="1805813" y="160781"/>
                </a:lnTo>
                <a:lnTo>
                  <a:pt x="1857756" y="182244"/>
                </a:lnTo>
                <a:lnTo>
                  <a:pt x="1901317" y="204343"/>
                </a:lnTo>
                <a:lnTo>
                  <a:pt x="1935988" y="226821"/>
                </a:lnTo>
                <a:lnTo>
                  <a:pt x="1964436" y="253492"/>
                </a:lnTo>
                <a:lnTo>
                  <a:pt x="1978152" y="287146"/>
                </a:lnTo>
                <a:lnTo>
                  <a:pt x="2016125" y="284861"/>
                </a:lnTo>
                <a:lnTo>
                  <a:pt x="2005203" y="246252"/>
                </a:lnTo>
                <a:lnTo>
                  <a:pt x="1975485" y="210184"/>
                </a:lnTo>
                <a:lnTo>
                  <a:pt x="1941322" y="184150"/>
                </a:lnTo>
                <a:lnTo>
                  <a:pt x="1898777" y="159765"/>
                </a:lnTo>
                <a:lnTo>
                  <a:pt x="1847977" y="136398"/>
                </a:lnTo>
                <a:lnTo>
                  <a:pt x="1789811" y="114426"/>
                </a:lnTo>
                <a:lnTo>
                  <a:pt x="1725041" y="93980"/>
                </a:lnTo>
                <a:lnTo>
                  <a:pt x="1654048" y="74930"/>
                </a:lnTo>
                <a:lnTo>
                  <a:pt x="1616329" y="66039"/>
                </a:lnTo>
                <a:lnTo>
                  <a:pt x="1577594" y="57784"/>
                </a:lnTo>
                <a:lnTo>
                  <a:pt x="1537589" y="49783"/>
                </a:lnTo>
                <a:lnTo>
                  <a:pt x="1496568" y="42418"/>
                </a:lnTo>
                <a:lnTo>
                  <a:pt x="1470581" y="38100"/>
                </a:lnTo>
                <a:close/>
              </a:path>
              <a:path w="2016125" h="287654">
                <a:moveTo>
                  <a:pt x="39878" y="126492"/>
                </a:moveTo>
                <a:lnTo>
                  <a:pt x="0" y="247903"/>
                </a:lnTo>
                <a:lnTo>
                  <a:pt x="121031" y="207009"/>
                </a:lnTo>
                <a:lnTo>
                  <a:pt x="108614" y="194690"/>
                </a:lnTo>
                <a:lnTo>
                  <a:pt x="79629" y="194690"/>
                </a:lnTo>
                <a:lnTo>
                  <a:pt x="54610" y="165862"/>
                </a:lnTo>
                <a:lnTo>
                  <a:pt x="67897" y="154292"/>
                </a:lnTo>
                <a:lnTo>
                  <a:pt x="39878" y="126492"/>
                </a:lnTo>
                <a:close/>
              </a:path>
              <a:path w="2016125" h="287654">
                <a:moveTo>
                  <a:pt x="67897" y="154292"/>
                </a:moveTo>
                <a:lnTo>
                  <a:pt x="54610" y="165862"/>
                </a:lnTo>
                <a:lnTo>
                  <a:pt x="79629" y="194690"/>
                </a:lnTo>
                <a:lnTo>
                  <a:pt x="94969" y="181228"/>
                </a:lnTo>
                <a:lnTo>
                  <a:pt x="93853" y="181228"/>
                </a:lnTo>
                <a:lnTo>
                  <a:pt x="94571" y="180757"/>
                </a:lnTo>
                <a:lnTo>
                  <a:pt x="67897" y="154292"/>
                </a:lnTo>
                <a:close/>
              </a:path>
              <a:path w="2016125" h="287654">
                <a:moveTo>
                  <a:pt x="95010" y="181193"/>
                </a:moveTo>
                <a:lnTo>
                  <a:pt x="79629" y="194690"/>
                </a:lnTo>
                <a:lnTo>
                  <a:pt x="108614" y="194690"/>
                </a:lnTo>
                <a:lnTo>
                  <a:pt x="95010" y="181193"/>
                </a:lnTo>
                <a:close/>
              </a:path>
              <a:path w="2016125" h="287654">
                <a:moveTo>
                  <a:pt x="94571" y="180757"/>
                </a:moveTo>
                <a:lnTo>
                  <a:pt x="93853" y="181228"/>
                </a:lnTo>
                <a:lnTo>
                  <a:pt x="94665" y="180850"/>
                </a:lnTo>
                <a:close/>
              </a:path>
              <a:path w="2016125" h="287654">
                <a:moveTo>
                  <a:pt x="94665" y="180850"/>
                </a:moveTo>
                <a:lnTo>
                  <a:pt x="93853" y="181228"/>
                </a:lnTo>
                <a:lnTo>
                  <a:pt x="94969" y="181228"/>
                </a:lnTo>
                <a:lnTo>
                  <a:pt x="94665" y="180850"/>
                </a:lnTo>
                <a:close/>
              </a:path>
              <a:path w="2016125" h="287654">
                <a:moveTo>
                  <a:pt x="96235" y="180118"/>
                </a:moveTo>
                <a:lnTo>
                  <a:pt x="94665" y="180850"/>
                </a:lnTo>
                <a:lnTo>
                  <a:pt x="95010" y="181193"/>
                </a:lnTo>
                <a:lnTo>
                  <a:pt x="96235" y="180118"/>
                </a:lnTo>
                <a:close/>
              </a:path>
              <a:path w="2016125" h="287654">
                <a:moveTo>
                  <a:pt x="98298" y="178307"/>
                </a:moveTo>
                <a:lnTo>
                  <a:pt x="94571" y="180757"/>
                </a:lnTo>
                <a:lnTo>
                  <a:pt x="96235" y="180118"/>
                </a:lnTo>
                <a:lnTo>
                  <a:pt x="98298" y="178307"/>
                </a:lnTo>
                <a:close/>
              </a:path>
              <a:path w="2016125" h="287654">
                <a:moveTo>
                  <a:pt x="998855" y="0"/>
                </a:moveTo>
                <a:lnTo>
                  <a:pt x="951611" y="507"/>
                </a:lnTo>
                <a:lnTo>
                  <a:pt x="857885" y="3175"/>
                </a:lnTo>
                <a:lnTo>
                  <a:pt x="811403" y="5461"/>
                </a:lnTo>
                <a:lnTo>
                  <a:pt x="765301" y="8255"/>
                </a:lnTo>
                <a:lnTo>
                  <a:pt x="719582" y="11683"/>
                </a:lnTo>
                <a:lnTo>
                  <a:pt x="630047" y="19938"/>
                </a:lnTo>
                <a:lnTo>
                  <a:pt x="586359" y="24892"/>
                </a:lnTo>
                <a:lnTo>
                  <a:pt x="543433" y="30352"/>
                </a:lnTo>
                <a:lnTo>
                  <a:pt x="501269" y="36321"/>
                </a:lnTo>
                <a:lnTo>
                  <a:pt x="460248" y="42671"/>
                </a:lnTo>
                <a:lnTo>
                  <a:pt x="420370" y="49530"/>
                </a:lnTo>
                <a:lnTo>
                  <a:pt x="381635" y="56642"/>
                </a:lnTo>
                <a:lnTo>
                  <a:pt x="344170" y="64134"/>
                </a:lnTo>
                <a:lnTo>
                  <a:pt x="273304" y="80390"/>
                </a:lnTo>
                <a:lnTo>
                  <a:pt x="208534" y="97917"/>
                </a:lnTo>
                <a:lnTo>
                  <a:pt x="150622" y="116586"/>
                </a:lnTo>
                <a:lnTo>
                  <a:pt x="100075" y="136398"/>
                </a:lnTo>
                <a:lnTo>
                  <a:pt x="67897" y="154292"/>
                </a:lnTo>
                <a:lnTo>
                  <a:pt x="94571" y="180757"/>
                </a:lnTo>
                <a:lnTo>
                  <a:pt x="98298" y="178307"/>
                </a:lnTo>
                <a:lnTo>
                  <a:pt x="100117" y="178307"/>
                </a:lnTo>
                <a:lnTo>
                  <a:pt x="137795" y="162051"/>
                </a:lnTo>
                <a:lnTo>
                  <a:pt x="189865" y="143509"/>
                </a:lnTo>
                <a:lnTo>
                  <a:pt x="249682" y="125856"/>
                </a:lnTo>
                <a:lnTo>
                  <a:pt x="316103" y="109346"/>
                </a:lnTo>
                <a:lnTo>
                  <a:pt x="388620" y="94106"/>
                </a:lnTo>
                <a:lnTo>
                  <a:pt x="426720" y="86994"/>
                </a:lnTo>
                <a:lnTo>
                  <a:pt x="466090" y="80263"/>
                </a:lnTo>
                <a:lnTo>
                  <a:pt x="506603" y="74040"/>
                </a:lnTo>
                <a:lnTo>
                  <a:pt x="548132" y="68199"/>
                </a:lnTo>
                <a:lnTo>
                  <a:pt x="590550" y="62864"/>
                </a:lnTo>
                <a:lnTo>
                  <a:pt x="633730" y="57912"/>
                </a:lnTo>
                <a:lnTo>
                  <a:pt x="677799" y="53467"/>
                </a:lnTo>
                <a:lnTo>
                  <a:pt x="767588" y="46227"/>
                </a:lnTo>
                <a:lnTo>
                  <a:pt x="813181" y="43433"/>
                </a:lnTo>
                <a:lnTo>
                  <a:pt x="859282" y="41275"/>
                </a:lnTo>
                <a:lnTo>
                  <a:pt x="905510" y="39624"/>
                </a:lnTo>
                <a:lnTo>
                  <a:pt x="952119" y="38607"/>
                </a:lnTo>
                <a:lnTo>
                  <a:pt x="998347" y="38100"/>
                </a:lnTo>
                <a:lnTo>
                  <a:pt x="1470581" y="38100"/>
                </a:lnTo>
                <a:lnTo>
                  <a:pt x="1454531" y="35432"/>
                </a:lnTo>
                <a:lnTo>
                  <a:pt x="1411605" y="29082"/>
                </a:lnTo>
                <a:lnTo>
                  <a:pt x="1367663" y="23240"/>
                </a:lnTo>
                <a:lnTo>
                  <a:pt x="1323213" y="18033"/>
                </a:lnTo>
                <a:lnTo>
                  <a:pt x="1278001" y="13462"/>
                </a:lnTo>
                <a:lnTo>
                  <a:pt x="1232408" y="9525"/>
                </a:lnTo>
                <a:lnTo>
                  <a:pt x="1186180" y="6095"/>
                </a:lnTo>
                <a:lnTo>
                  <a:pt x="1139571" y="3556"/>
                </a:lnTo>
                <a:lnTo>
                  <a:pt x="1092835" y="1650"/>
                </a:lnTo>
                <a:lnTo>
                  <a:pt x="1045845" y="507"/>
                </a:lnTo>
                <a:lnTo>
                  <a:pt x="998855" y="0"/>
                </a:lnTo>
                <a:close/>
              </a:path>
              <a:path w="2016125" h="287654">
                <a:moveTo>
                  <a:pt x="100117" y="178307"/>
                </a:moveTo>
                <a:lnTo>
                  <a:pt x="98298" y="178307"/>
                </a:lnTo>
                <a:lnTo>
                  <a:pt x="96235" y="180118"/>
                </a:lnTo>
                <a:lnTo>
                  <a:pt x="100117" y="17830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8045068" y="4817617"/>
            <a:ext cx="506095" cy="114300"/>
          </a:xfrm>
          <a:custGeom>
            <a:avLst/>
            <a:gdLst/>
            <a:ahLst/>
            <a:cxnLst/>
            <a:rect l="l" t="t" r="r" b="b"/>
            <a:pathLst>
              <a:path w="506095" h="114300">
                <a:moveTo>
                  <a:pt x="394207" y="0"/>
                </a:moveTo>
                <a:lnTo>
                  <a:pt x="392434" y="37964"/>
                </a:lnTo>
                <a:lnTo>
                  <a:pt x="411479" y="38861"/>
                </a:lnTo>
                <a:lnTo>
                  <a:pt x="409701" y="76961"/>
                </a:lnTo>
                <a:lnTo>
                  <a:pt x="390612" y="76961"/>
                </a:lnTo>
                <a:lnTo>
                  <a:pt x="388874" y="114172"/>
                </a:lnTo>
                <a:lnTo>
                  <a:pt x="472781" y="76961"/>
                </a:lnTo>
                <a:lnTo>
                  <a:pt x="409701" y="76961"/>
                </a:lnTo>
                <a:lnTo>
                  <a:pt x="390654" y="76064"/>
                </a:lnTo>
                <a:lnTo>
                  <a:pt x="474804" y="76064"/>
                </a:lnTo>
                <a:lnTo>
                  <a:pt x="505713" y="62356"/>
                </a:lnTo>
                <a:lnTo>
                  <a:pt x="394207" y="0"/>
                </a:lnTo>
                <a:close/>
              </a:path>
              <a:path w="506095" h="114300">
                <a:moveTo>
                  <a:pt x="392434" y="37964"/>
                </a:moveTo>
                <a:lnTo>
                  <a:pt x="390654" y="76064"/>
                </a:lnTo>
                <a:lnTo>
                  <a:pt x="409701" y="76961"/>
                </a:lnTo>
                <a:lnTo>
                  <a:pt x="411479" y="38861"/>
                </a:lnTo>
                <a:lnTo>
                  <a:pt x="392434" y="37964"/>
                </a:lnTo>
                <a:close/>
              </a:path>
              <a:path w="506095" h="114300">
                <a:moveTo>
                  <a:pt x="1777" y="19557"/>
                </a:moveTo>
                <a:lnTo>
                  <a:pt x="0" y="57657"/>
                </a:lnTo>
                <a:lnTo>
                  <a:pt x="390654" y="76064"/>
                </a:lnTo>
                <a:lnTo>
                  <a:pt x="392434" y="37964"/>
                </a:lnTo>
                <a:lnTo>
                  <a:pt x="1777" y="1955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7016750" y="4796790"/>
            <a:ext cx="564515" cy="114300"/>
          </a:xfrm>
          <a:custGeom>
            <a:avLst/>
            <a:gdLst/>
            <a:ahLst/>
            <a:cxnLst/>
            <a:rect l="l" t="t" r="r" b="b"/>
            <a:pathLst>
              <a:path w="564515" h="114300">
                <a:moveTo>
                  <a:pt x="451230" y="0"/>
                </a:moveTo>
                <a:lnTo>
                  <a:pt x="450256" y="38120"/>
                </a:lnTo>
                <a:lnTo>
                  <a:pt x="469392" y="38608"/>
                </a:lnTo>
                <a:lnTo>
                  <a:pt x="468375" y="76581"/>
                </a:lnTo>
                <a:lnTo>
                  <a:pt x="449273" y="76581"/>
                </a:lnTo>
                <a:lnTo>
                  <a:pt x="448309" y="114300"/>
                </a:lnTo>
                <a:lnTo>
                  <a:pt x="528595" y="76581"/>
                </a:lnTo>
                <a:lnTo>
                  <a:pt x="468375" y="76581"/>
                </a:lnTo>
                <a:lnTo>
                  <a:pt x="449286" y="76099"/>
                </a:lnTo>
                <a:lnTo>
                  <a:pt x="529619" y="76099"/>
                </a:lnTo>
                <a:lnTo>
                  <a:pt x="564006" y="59943"/>
                </a:lnTo>
                <a:lnTo>
                  <a:pt x="451230" y="0"/>
                </a:lnTo>
                <a:close/>
              </a:path>
              <a:path w="564515" h="114300">
                <a:moveTo>
                  <a:pt x="450256" y="38120"/>
                </a:moveTo>
                <a:lnTo>
                  <a:pt x="449286" y="76099"/>
                </a:lnTo>
                <a:lnTo>
                  <a:pt x="468375" y="76581"/>
                </a:lnTo>
                <a:lnTo>
                  <a:pt x="469392" y="38608"/>
                </a:lnTo>
                <a:lnTo>
                  <a:pt x="450256" y="38120"/>
                </a:lnTo>
                <a:close/>
              </a:path>
              <a:path w="564515" h="114300">
                <a:moveTo>
                  <a:pt x="1016" y="26670"/>
                </a:moveTo>
                <a:lnTo>
                  <a:pt x="0" y="64770"/>
                </a:lnTo>
                <a:lnTo>
                  <a:pt x="449286" y="76099"/>
                </a:lnTo>
                <a:lnTo>
                  <a:pt x="450256" y="38120"/>
                </a:lnTo>
                <a:lnTo>
                  <a:pt x="1016" y="2667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6166865" y="4799076"/>
            <a:ext cx="386080" cy="114300"/>
          </a:xfrm>
          <a:custGeom>
            <a:avLst/>
            <a:gdLst/>
            <a:ahLst/>
            <a:cxnLst/>
            <a:rect l="l" t="t" r="r" b="b"/>
            <a:pathLst>
              <a:path w="386079" h="114300">
                <a:moveTo>
                  <a:pt x="271272" y="0"/>
                </a:moveTo>
                <a:lnTo>
                  <a:pt x="271272" y="114300"/>
                </a:lnTo>
                <a:lnTo>
                  <a:pt x="347472" y="76200"/>
                </a:lnTo>
                <a:lnTo>
                  <a:pt x="290322" y="76200"/>
                </a:lnTo>
                <a:lnTo>
                  <a:pt x="290322" y="38100"/>
                </a:lnTo>
                <a:lnTo>
                  <a:pt x="347472" y="38100"/>
                </a:lnTo>
                <a:lnTo>
                  <a:pt x="271272" y="0"/>
                </a:lnTo>
                <a:close/>
              </a:path>
              <a:path w="386079" h="114300">
                <a:moveTo>
                  <a:pt x="27127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71272" y="76200"/>
                </a:lnTo>
                <a:lnTo>
                  <a:pt x="271272" y="38100"/>
                </a:lnTo>
                <a:close/>
              </a:path>
              <a:path w="386079" h="114300">
                <a:moveTo>
                  <a:pt x="347472" y="38100"/>
                </a:moveTo>
                <a:lnTo>
                  <a:pt x="290322" y="38100"/>
                </a:lnTo>
                <a:lnTo>
                  <a:pt x="290322" y="76200"/>
                </a:lnTo>
                <a:lnTo>
                  <a:pt x="347472" y="76200"/>
                </a:lnTo>
                <a:lnTo>
                  <a:pt x="385572" y="57150"/>
                </a:lnTo>
                <a:lnTo>
                  <a:pt x="347472" y="381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386334" y="4805934"/>
            <a:ext cx="466725" cy="436245"/>
          </a:xfrm>
          <a:custGeom>
            <a:avLst/>
            <a:gdLst/>
            <a:ahLst/>
            <a:cxnLst/>
            <a:rect l="l" t="t" r="r" b="b"/>
            <a:pathLst>
              <a:path w="466725" h="436245">
                <a:moveTo>
                  <a:pt x="0" y="217932"/>
                </a:moveTo>
                <a:lnTo>
                  <a:pt x="4737" y="174000"/>
                </a:lnTo>
                <a:lnTo>
                  <a:pt x="18323" y="133088"/>
                </a:lnTo>
                <a:lnTo>
                  <a:pt x="39821" y="96068"/>
                </a:lnTo>
                <a:lnTo>
                  <a:pt x="68294" y="63817"/>
                </a:lnTo>
                <a:lnTo>
                  <a:pt x="102803" y="37210"/>
                </a:lnTo>
                <a:lnTo>
                  <a:pt x="142410" y="17121"/>
                </a:lnTo>
                <a:lnTo>
                  <a:pt x="186179" y="4426"/>
                </a:lnTo>
                <a:lnTo>
                  <a:pt x="233172" y="0"/>
                </a:lnTo>
                <a:lnTo>
                  <a:pt x="280164" y="4426"/>
                </a:lnTo>
                <a:lnTo>
                  <a:pt x="323933" y="17121"/>
                </a:lnTo>
                <a:lnTo>
                  <a:pt x="363540" y="37210"/>
                </a:lnTo>
                <a:lnTo>
                  <a:pt x="398049" y="63817"/>
                </a:lnTo>
                <a:lnTo>
                  <a:pt x="426522" y="96068"/>
                </a:lnTo>
                <a:lnTo>
                  <a:pt x="448020" y="133088"/>
                </a:lnTo>
                <a:lnTo>
                  <a:pt x="461606" y="174000"/>
                </a:lnTo>
                <a:lnTo>
                  <a:pt x="466344" y="217932"/>
                </a:lnTo>
                <a:lnTo>
                  <a:pt x="461606" y="261863"/>
                </a:lnTo>
                <a:lnTo>
                  <a:pt x="448020" y="302775"/>
                </a:lnTo>
                <a:lnTo>
                  <a:pt x="426522" y="339795"/>
                </a:lnTo>
                <a:lnTo>
                  <a:pt x="398049" y="372046"/>
                </a:lnTo>
                <a:lnTo>
                  <a:pt x="363540" y="398653"/>
                </a:lnTo>
                <a:lnTo>
                  <a:pt x="323933" y="418742"/>
                </a:lnTo>
                <a:lnTo>
                  <a:pt x="280164" y="431437"/>
                </a:lnTo>
                <a:lnTo>
                  <a:pt x="233172" y="435864"/>
                </a:lnTo>
                <a:lnTo>
                  <a:pt x="186179" y="431437"/>
                </a:lnTo>
                <a:lnTo>
                  <a:pt x="142410" y="418742"/>
                </a:lnTo>
                <a:lnTo>
                  <a:pt x="102803" y="398653"/>
                </a:lnTo>
                <a:lnTo>
                  <a:pt x="68294" y="372046"/>
                </a:lnTo>
                <a:lnTo>
                  <a:pt x="39821" y="339795"/>
                </a:lnTo>
                <a:lnTo>
                  <a:pt x="18323" y="302775"/>
                </a:lnTo>
                <a:lnTo>
                  <a:pt x="4737" y="261863"/>
                </a:lnTo>
                <a:lnTo>
                  <a:pt x="0" y="21793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 txBox="1"/>
          <p:nvPr/>
        </p:nvSpPr>
        <p:spPr>
          <a:xfrm>
            <a:off x="510946" y="4759197"/>
            <a:ext cx="2159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852677" y="4973320"/>
            <a:ext cx="565785" cy="85725"/>
          </a:xfrm>
          <a:custGeom>
            <a:avLst/>
            <a:gdLst/>
            <a:ahLst/>
            <a:cxnLst/>
            <a:rect l="l" t="t" r="r" b="b"/>
            <a:pathLst>
              <a:path w="565785" h="85725">
                <a:moveTo>
                  <a:pt x="479678" y="0"/>
                </a:moveTo>
                <a:lnTo>
                  <a:pt x="479678" y="85724"/>
                </a:lnTo>
                <a:lnTo>
                  <a:pt x="536913" y="57149"/>
                </a:lnTo>
                <a:lnTo>
                  <a:pt x="493903" y="57149"/>
                </a:lnTo>
                <a:lnTo>
                  <a:pt x="493903" y="28574"/>
                </a:lnTo>
                <a:lnTo>
                  <a:pt x="536744" y="28574"/>
                </a:lnTo>
                <a:lnTo>
                  <a:pt x="479678" y="0"/>
                </a:lnTo>
                <a:close/>
              </a:path>
              <a:path w="565785" h="85725">
                <a:moveTo>
                  <a:pt x="479678" y="28574"/>
                </a:moveTo>
                <a:lnTo>
                  <a:pt x="0" y="28574"/>
                </a:lnTo>
                <a:lnTo>
                  <a:pt x="0" y="57149"/>
                </a:lnTo>
                <a:lnTo>
                  <a:pt x="479678" y="57149"/>
                </a:lnTo>
                <a:lnTo>
                  <a:pt x="479678" y="28574"/>
                </a:lnTo>
                <a:close/>
              </a:path>
              <a:path w="565785" h="85725">
                <a:moveTo>
                  <a:pt x="536744" y="28574"/>
                </a:moveTo>
                <a:lnTo>
                  <a:pt x="493903" y="28574"/>
                </a:lnTo>
                <a:lnTo>
                  <a:pt x="493903" y="57149"/>
                </a:lnTo>
                <a:lnTo>
                  <a:pt x="536913" y="57149"/>
                </a:lnTo>
                <a:lnTo>
                  <a:pt x="565404" y="42925"/>
                </a:lnTo>
                <a:lnTo>
                  <a:pt x="536744" y="2857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 txBox="1"/>
          <p:nvPr/>
        </p:nvSpPr>
        <p:spPr>
          <a:xfrm>
            <a:off x="916025" y="4564126"/>
            <a:ext cx="2120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1418082" y="4792217"/>
            <a:ext cx="466725" cy="434340"/>
          </a:xfrm>
          <a:custGeom>
            <a:avLst/>
            <a:gdLst/>
            <a:ahLst/>
            <a:cxnLst/>
            <a:rect l="l" t="t" r="r" b="b"/>
            <a:pathLst>
              <a:path w="466725" h="434339">
                <a:moveTo>
                  <a:pt x="0" y="217169"/>
                </a:moveTo>
                <a:lnTo>
                  <a:pt x="4737" y="173417"/>
                </a:lnTo>
                <a:lnTo>
                  <a:pt x="18323" y="132659"/>
                </a:lnTo>
                <a:lnTo>
                  <a:pt x="39821" y="95770"/>
                </a:lnTo>
                <a:lnTo>
                  <a:pt x="68294" y="63626"/>
                </a:lnTo>
                <a:lnTo>
                  <a:pt x="102803" y="37102"/>
                </a:lnTo>
                <a:lnTo>
                  <a:pt x="142410" y="17073"/>
                </a:lnTo>
                <a:lnTo>
                  <a:pt x="186179" y="4414"/>
                </a:lnTo>
                <a:lnTo>
                  <a:pt x="233172" y="0"/>
                </a:lnTo>
                <a:lnTo>
                  <a:pt x="280164" y="4414"/>
                </a:lnTo>
                <a:lnTo>
                  <a:pt x="323933" y="17073"/>
                </a:lnTo>
                <a:lnTo>
                  <a:pt x="363540" y="37102"/>
                </a:lnTo>
                <a:lnTo>
                  <a:pt x="398049" y="63626"/>
                </a:lnTo>
                <a:lnTo>
                  <a:pt x="426522" y="95770"/>
                </a:lnTo>
                <a:lnTo>
                  <a:pt x="448020" y="132659"/>
                </a:lnTo>
                <a:lnTo>
                  <a:pt x="461606" y="173417"/>
                </a:lnTo>
                <a:lnTo>
                  <a:pt x="466344" y="217169"/>
                </a:lnTo>
                <a:lnTo>
                  <a:pt x="461606" y="260922"/>
                </a:lnTo>
                <a:lnTo>
                  <a:pt x="448020" y="301680"/>
                </a:lnTo>
                <a:lnTo>
                  <a:pt x="426522" y="338569"/>
                </a:lnTo>
                <a:lnTo>
                  <a:pt x="398049" y="370713"/>
                </a:lnTo>
                <a:lnTo>
                  <a:pt x="363540" y="397237"/>
                </a:lnTo>
                <a:lnTo>
                  <a:pt x="323933" y="417266"/>
                </a:lnTo>
                <a:lnTo>
                  <a:pt x="280164" y="429925"/>
                </a:lnTo>
                <a:lnTo>
                  <a:pt x="233172" y="434339"/>
                </a:lnTo>
                <a:lnTo>
                  <a:pt x="186179" y="429925"/>
                </a:lnTo>
                <a:lnTo>
                  <a:pt x="142410" y="417266"/>
                </a:lnTo>
                <a:lnTo>
                  <a:pt x="102803" y="397237"/>
                </a:lnTo>
                <a:lnTo>
                  <a:pt x="68294" y="370712"/>
                </a:lnTo>
                <a:lnTo>
                  <a:pt x="39821" y="338569"/>
                </a:lnTo>
                <a:lnTo>
                  <a:pt x="18323" y="301680"/>
                </a:lnTo>
                <a:lnTo>
                  <a:pt x="4737" y="260922"/>
                </a:lnTo>
                <a:lnTo>
                  <a:pt x="0" y="217169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 txBox="1"/>
          <p:nvPr/>
        </p:nvSpPr>
        <p:spPr>
          <a:xfrm>
            <a:off x="1543050" y="4744669"/>
            <a:ext cx="21653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2728722" y="4805934"/>
            <a:ext cx="464820" cy="436245"/>
          </a:xfrm>
          <a:custGeom>
            <a:avLst/>
            <a:gdLst/>
            <a:ahLst/>
            <a:cxnLst/>
            <a:rect l="l" t="t" r="r" b="b"/>
            <a:pathLst>
              <a:path w="464819" h="436245">
                <a:moveTo>
                  <a:pt x="0" y="217932"/>
                </a:moveTo>
                <a:lnTo>
                  <a:pt x="4720" y="174000"/>
                </a:lnTo>
                <a:lnTo>
                  <a:pt x="18258" y="133088"/>
                </a:lnTo>
                <a:lnTo>
                  <a:pt x="39681" y="96068"/>
                </a:lnTo>
                <a:lnTo>
                  <a:pt x="68056" y="63817"/>
                </a:lnTo>
                <a:lnTo>
                  <a:pt x="102449" y="37210"/>
                </a:lnTo>
                <a:lnTo>
                  <a:pt x="141928" y="17121"/>
                </a:lnTo>
                <a:lnTo>
                  <a:pt x="185559" y="4426"/>
                </a:lnTo>
                <a:lnTo>
                  <a:pt x="232409" y="0"/>
                </a:lnTo>
                <a:lnTo>
                  <a:pt x="279260" y="4426"/>
                </a:lnTo>
                <a:lnTo>
                  <a:pt x="322891" y="17121"/>
                </a:lnTo>
                <a:lnTo>
                  <a:pt x="362370" y="37210"/>
                </a:lnTo>
                <a:lnTo>
                  <a:pt x="396763" y="63817"/>
                </a:lnTo>
                <a:lnTo>
                  <a:pt x="425138" y="96068"/>
                </a:lnTo>
                <a:lnTo>
                  <a:pt x="446561" y="133088"/>
                </a:lnTo>
                <a:lnTo>
                  <a:pt x="460099" y="174000"/>
                </a:lnTo>
                <a:lnTo>
                  <a:pt x="464819" y="217932"/>
                </a:lnTo>
                <a:lnTo>
                  <a:pt x="460099" y="261863"/>
                </a:lnTo>
                <a:lnTo>
                  <a:pt x="446561" y="302775"/>
                </a:lnTo>
                <a:lnTo>
                  <a:pt x="425138" y="339795"/>
                </a:lnTo>
                <a:lnTo>
                  <a:pt x="396763" y="372046"/>
                </a:lnTo>
                <a:lnTo>
                  <a:pt x="362370" y="398653"/>
                </a:lnTo>
                <a:lnTo>
                  <a:pt x="322891" y="418742"/>
                </a:lnTo>
                <a:lnTo>
                  <a:pt x="279260" y="431437"/>
                </a:lnTo>
                <a:lnTo>
                  <a:pt x="232409" y="435864"/>
                </a:lnTo>
                <a:lnTo>
                  <a:pt x="185559" y="431437"/>
                </a:lnTo>
                <a:lnTo>
                  <a:pt x="141928" y="418742"/>
                </a:lnTo>
                <a:lnTo>
                  <a:pt x="102449" y="398653"/>
                </a:lnTo>
                <a:lnTo>
                  <a:pt x="68056" y="372046"/>
                </a:lnTo>
                <a:lnTo>
                  <a:pt x="39681" y="339795"/>
                </a:lnTo>
                <a:lnTo>
                  <a:pt x="18258" y="302775"/>
                </a:lnTo>
                <a:lnTo>
                  <a:pt x="4720" y="261863"/>
                </a:lnTo>
                <a:lnTo>
                  <a:pt x="0" y="21793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 txBox="1"/>
          <p:nvPr/>
        </p:nvSpPr>
        <p:spPr>
          <a:xfrm>
            <a:off x="2852673" y="4759197"/>
            <a:ext cx="2159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1884426" y="4980940"/>
            <a:ext cx="844550" cy="85725"/>
          </a:xfrm>
          <a:custGeom>
            <a:avLst/>
            <a:gdLst/>
            <a:ahLst/>
            <a:cxnLst/>
            <a:rect l="l" t="t" r="r" b="b"/>
            <a:pathLst>
              <a:path w="844550" h="85725">
                <a:moveTo>
                  <a:pt x="758571" y="0"/>
                </a:moveTo>
                <a:lnTo>
                  <a:pt x="758571" y="85725"/>
                </a:lnTo>
                <a:lnTo>
                  <a:pt x="815805" y="57150"/>
                </a:lnTo>
                <a:lnTo>
                  <a:pt x="772794" y="57150"/>
                </a:lnTo>
                <a:lnTo>
                  <a:pt x="772794" y="28575"/>
                </a:lnTo>
                <a:lnTo>
                  <a:pt x="815636" y="28575"/>
                </a:lnTo>
                <a:lnTo>
                  <a:pt x="758571" y="0"/>
                </a:lnTo>
                <a:close/>
              </a:path>
              <a:path w="844550" h="85725">
                <a:moveTo>
                  <a:pt x="758571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758571" y="57150"/>
                </a:lnTo>
                <a:lnTo>
                  <a:pt x="758571" y="28575"/>
                </a:lnTo>
                <a:close/>
              </a:path>
              <a:path w="844550" h="85725">
                <a:moveTo>
                  <a:pt x="815636" y="28575"/>
                </a:moveTo>
                <a:lnTo>
                  <a:pt x="772794" y="28575"/>
                </a:lnTo>
                <a:lnTo>
                  <a:pt x="772794" y="57150"/>
                </a:lnTo>
                <a:lnTo>
                  <a:pt x="815805" y="57150"/>
                </a:lnTo>
                <a:lnTo>
                  <a:pt x="844296" y="42926"/>
                </a:lnTo>
                <a:lnTo>
                  <a:pt x="815636" y="285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 txBox="1"/>
          <p:nvPr/>
        </p:nvSpPr>
        <p:spPr>
          <a:xfrm>
            <a:off x="2190750" y="4616958"/>
            <a:ext cx="21399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2797301" y="5670041"/>
            <a:ext cx="466725" cy="434340"/>
          </a:xfrm>
          <a:custGeom>
            <a:avLst/>
            <a:gdLst/>
            <a:ahLst/>
            <a:cxnLst/>
            <a:rect l="l" t="t" r="r" b="b"/>
            <a:pathLst>
              <a:path w="466725" h="434339">
                <a:moveTo>
                  <a:pt x="0" y="217170"/>
                </a:moveTo>
                <a:lnTo>
                  <a:pt x="4737" y="173402"/>
                </a:lnTo>
                <a:lnTo>
                  <a:pt x="18323" y="132638"/>
                </a:lnTo>
                <a:lnTo>
                  <a:pt x="39821" y="95748"/>
                </a:lnTo>
                <a:lnTo>
                  <a:pt x="68294" y="63607"/>
                </a:lnTo>
                <a:lnTo>
                  <a:pt x="102803" y="37089"/>
                </a:lnTo>
                <a:lnTo>
                  <a:pt x="142410" y="17066"/>
                </a:lnTo>
                <a:lnTo>
                  <a:pt x="186179" y="4412"/>
                </a:lnTo>
                <a:lnTo>
                  <a:pt x="233172" y="0"/>
                </a:lnTo>
                <a:lnTo>
                  <a:pt x="280164" y="4412"/>
                </a:lnTo>
                <a:lnTo>
                  <a:pt x="323933" y="17066"/>
                </a:lnTo>
                <a:lnTo>
                  <a:pt x="363540" y="37089"/>
                </a:lnTo>
                <a:lnTo>
                  <a:pt x="398049" y="63607"/>
                </a:lnTo>
                <a:lnTo>
                  <a:pt x="426522" y="95748"/>
                </a:lnTo>
                <a:lnTo>
                  <a:pt x="448020" y="132638"/>
                </a:lnTo>
                <a:lnTo>
                  <a:pt x="461606" y="173402"/>
                </a:lnTo>
                <a:lnTo>
                  <a:pt x="466344" y="217170"/>
                </a:lnTo>
                <a:lnTo>
                  <a:pt x="461606" y="260937"/>
                </a:lnTo>
                <a:lnTo>
                  <a:pt x="448020" y="301701"/>
                </a:lnTo>
                <a:lnTo>
                  <a:pt x="426522" y="338591"/>
                </a:lnTo>
                <a:lnTo>
                  <a:pt x="398049" y="370732"/>
                </a:lnTo>
                <a:lnTo>
                  <a:pt x="363540" y="397250"/>
                </a:lnTo>
                <a:lnTo>
                  <a:pt x="323933" y="417273"/>
                </a:lnTo>
                <a:lnTo>
                  <a:pt x="280164" y="429927"/>
                </a:lnTo>
                <a:lnTo>
                  <a:pt x="233172" y="434340"/>
                </a:lnTo>
                <a:lnTo>
                  <a:pt x="186179" y="429927"/>
                </a:lnTo>
                <a:lnTo>
                  <a:pt x="142410" y="417273"/>
                </a:lnTo>
                <a:lnTo>
                  <a:pt x="102803" y="397250"/>
                </a:lnTo>
                <a:lnTo>
                  <a:pt x="68294" y="370732"/>
                </a:lnTo>
                <a:lnTo>
                  <a:pt x="39821" y="338591"/>
                </a:lnTo>
                <a:lnTo>
                  <a:pt x="18323" y="301701"/>
                </a:lnTo>
                <a:lnTo>
                  <a:pt x="4737" y="260937"/>
                </a:lnTo>
                <a:lnTo>
                  <a:pt x="0" y="217170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 txBox="1"/>
          <p:nvPr/>
        </p:nvSpPr>
        <p:spPr>
          <a:xfrm>
            <a:off x="2942335" y="5680964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2868929" y="5731002"/>
            <a:ext cx="327660" cy="327660"/>
          </a:xfrm>
          <a:custGeom>
            <a:avLst/>
            <a:gdLst/>
            <a:ahLst/>
            <a:cxnLst/>
            <a:rect l="l" t="t" r="r" b="b"/>
            <a:pathLst>
              <a:path w="327660" h="327660">
                <a:moveTo>
                  <a:pt x="0" y="163830"/>
                </a:moveTo>
                <a:lnTo>
                  <a:pt x="5856" y="120275"/>
                </a:lnTo>
                <a:lnTo>
                  <a:pt x="22380" y="81138"/>
                </a:lnTo>
                <a:lnTo>
                  <a:pt x="48006" y="47982"/>
                </a:lnTo>
                <a:lnTo>
                  <a:pt x="81167" y="22366"/>
                </a:lnTo>
                <a:lnTo>
                  <a:pt x="120297" y="5851"/>
                </a:lnTo>
                <a:lnTo>
                  <a:pt x="163830" y="0"/>
                </a:lnTo>
                <a:lnTo>
                  <a:pt x="207362" y="5851"/>
                </a:lnTo>
                <a:lnTo>
                  <a:pt x="246492" y="22366"/>
                </a:lnTo>
                <a:lnTo>
                  <a:pt x="279654" y="47982"/>
                </a:lnTo>
                <a:lnTo>
                  <a:pt x="305279" y="81138"/>
                </a:lnTo>
                <a:lnTo>
                  <a:pt x="321803" y="120275"/>
                </a:lnTo>
                <a:lnTo>
                  <a:pt x="327659" y="163830"/>
                </a:lnTo>
                <a:lnTo>
                  <a:pt x="321803" y="207380"/>
                </a:lnTo>
                <a:lnTo>
                  <a:pt x="305279" y="246515"/>
                </a:lnTo>
                <a:lnTo>
                  <a:pt x="279653" y="279673"/>
                </a:lnTo>
                <a:lnTo>
                  <a:pt x="246492" y="305291"/>
                </a:lnTo>
                <a:lnTo>
                  <a:pt x="207362" y="321807"/>
                </a:lnTo>
                <a:lnTo>
                  <a:pt x="163830" y="327660"/>
                </a:lnTo>
                <a:lnTo>
                  <a:pt x="120297" y="321807"/>
                </a:lnTo>
                <a:lnTo>
                  <a:pt x="81167" y="305291"/>
                </a:lnTo>
                <a:lnTo>
                  <a:pt x="48006" y="279673"/>
                </a:lnTo>
                <a:lnTo>
                  <a:pt x="22380" y="246515"/>
                </a:lnTo>
                <a:lnTo>
                  <a:pt x="5856" y="207380"/>
                </a:lnTo>
                <a:lnTo>
                  <a:pt x="0" y="163830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 txBox="1"/>
          <p:nvPr/>
        </p:nvSpPr>
        <p:spPr>
          <a:xfrm>
            <a:off x="558800" y="3475482"/>
            <a:ext cx="1757045" cy="863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′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代入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E</a:t>
            </a:r>
            <a:r>
              <a:rPr dirty="0" sz="2800" spc="-95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66FFFF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algn="r" marR="6985">
              <a:lnSpc>
                <a:spcPct val="100000"/>
              </a:lnSpc>
              <a:spcBef>
                <a:spcPts val="125"/>
              </a:spcBef>
            </a:pP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2004822" y="5439257"/>
            <a:ext cx="1714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1570482" y="4347209"/>
            <a:ext cx="1507490" cy="481965"/>
          </a:xfrm>
          <a:custGeom>
            <a:avLst/>
            <a:gdLst/>
            <a:ahLst/>
            <a:cxnLst/>
            <a:rect l="l" t="t" r="r" b="b"/>
            <a:pathLst>
              <a:path w="1507489" h="481964">
                <a:moveTo>
                  <a:pt x="0" y="481583"/>
                </a:moveTo>
                <a:lnTo>
                  <a:pt x="1362" y="410426"/>
                </a:lnTo>
                <a:lnTo>
                  <a:pt x="5320" y="342508"/>
                </a:lnTo>
                <a:lnTo>
                  <a:pt x="11680" y="278574"/>
                </a:lnTo>
                <a:lnTo>
                  <a:pt x="20248" y="219371"/>
                </a:lnTo>
                <a:lnTo>
                  <a:pt x="30829" y="165643"/>
                </a:lnTo>
                <a:lnTo>
                  <a:pt x="43229" y="118135"/>
                </a:lnTo>
                <a:lnTo>
                  <a:pt x="57255" y="77594"/>
                </a:lnTo>
                <a:lnTo>
                  <a:pt x="89406" y="20392"/>
                </a:lnTo>
                <a:lnTo>
                  <a:pt x="125730" y="0"/>
                </a:lnTo>
                <a:lnTo>
                  <a:pt x="1381506" y="0"/>
                </a:lnTo>
                <a:lnTo>
                  <a:pt x="1417829" y="20392"/>
                </a:lnTo>
                <a:lnTo>
                  <a:pt x="1449980" y="77594"/>
                </a:lnTo>
                <a:lnTo>
                  <a:pt x="1464006" y="118135"/>
                </a:lnTo>
                <a:lnTo>
                  <a:pt x="1476406" y="165643"/>
                </a:lnTo>
                <a:lnTo>
                  <a:pt x="1486987" y="219371"/>
                </a:lnTo>
                <a:lnTo>
                  <a:pt x="1495555" y="278574"/>
                </a:lnTo>
                <a:lnTo>
                  <a:pt x="1501915" y="342508"/>
                </a:lnTo>
                <a:lnTo>
                  <a:pt x="1505873" y="410426"/>
                </a:lnTo>
                <a:lnTo>
                  <a:pt x="1507236" y="481583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1686305" y="5241797"/>
            <a:ext cx="0" cy="646430"/>
          </a:xfrm>
          <a:custGeom>
            <a:avLst/>
            <a:gdLst/>
            <a:ahLst/>
            <a:cxnLst/>
            <a:rect l="l" t="t" r="r" b="b"/>
            <a:pathLst>
              <a:path w="0" h="646429">
                <a:moveTo>
                  <a:pt x="0" y="0"/>
                </a:moveTo>
                <a:lnTo>
                  <a:pt x="0" y="646176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1686305" y="5830823"/>
            <a:ext cx="1111250" cy="114300"/>
          </a:xfrm>
          <a:custGeom>
            <a:avLst/>
            <a:gdLst/>
            <a:ahLst/>
            <a:cxnLst/>
            <a:rect l="l" t="t" r="r" b="b"/>
            <a:pathLst>
              <a:path w="1111250" h="114300">
                <a:moveTo>
                  <a:pt x="996695" y="0"/>
                </a:moveTo>
                <a:lnTo>
                  <a:pt x="996695" y="114300"/>
                </a:lnTo>
                <a:lnTo>
                  <a:pt x="1072895" y="76200"/>
                </a:lnTo>
                <a:lnTo>
                  <a:pt x="1015745" y="76200"/>
                </a:lnTo>
                <a:lnTo>
                  <a:pt x="1015745" y="38100"/>
                </a:lnTo>
                <a:lnTo>
                  <a:pt x="1072895" y="38100"/>
                </a:lnTo>
                <a:lnTo>
                  <a:pt x="996695" y="0"/>
                </a:lnTo>
                <a:close/>
              </a:path>
              <a:path w="1111250" h="114300">
                <a:moveTo>
                  <a:pt x="99669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96695" y="76200"/>
                </a:lnTo>
                <a:lnTo>
                  <a:pt x="996695" y="38100"/>
                </a:lnTo>
                <a:close/>
              </a:path>
              <a:path w="1111250" h="114300">
                <a:moveTo>
                  <a:pt x="1072895" y="38100"/>
                </a:moveTo>
                <a:lnTo>
                  <a:pt x="1015745" y="38100"/>
                </a:lnTo>
                <a:lnTo>
                  <a:pt x="1015745" y="76200"/>
                </a:lnTo>
                <a:lnTo>
                  <a:pt x="1072895" y="76200"/>
                </a:lnTo>
                <a:lnTo>
                  <a:pt x="1110995" y="57150"/>
                </a:lnTo>
                <a:lnTo>
                  <a:pt x="1072895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1531747" y="4575809"/>
            <a:ext cx="114046" cy="21513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148589" y="4959096"/>
            <a:ext cx="248412" cy="1143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56385" y="26923"/>
            <a:ext cx="15589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05378" y="26923"/>
            <a:ext cx="43065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4.3</a:t>
            </a:r>
            <a:r>
              <a:rPr dirty="0" u="sng" sz="2000" spc="42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递归下降分析法和递归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下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降分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15811" y="3659123"/>
            <a:ext cx="2836164" cy="251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115811" y="3638567"/>
            <a:ext cx="2836545" cy="250952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720"/>
              </a:spcBef>
            </a:pPr>
            <a:r>
              <a:rPr dirty="0" sz="2800" spc="-5" b="1" i="1">
                <a:latin typeface="Times New Roman"/>
                <a:cs typeface="Times New Roman"/>
              </a:rPr>
              <a:t>E </a:t>
            </a:r>
            <a:r>
              <a:rPr dirty="0" sz="2800" spc="-5" b="1">
                <a:latin typeface="Times New Roman"/>
                <a:cs typeface="Times New Roman"/>
              </a:rPr>
              <a:t>→</a:t>
            </a:r>
            <a:r>
              <a:rPr dirty="0" sz="2800" spc="-85" b="1">
                <a:latin typeface="Times New Roman"/>
                <a:cs typeface="Times New Roman"/>
              </a:rPr>
              <a:t> </a:t>
            </a:r>
            <a:r>
              <a:rPr dirty="0" sz="2800" spc="-10" b="1" i="1">
                <a:latin typeface="Times New Roman"/>
                <a:cs typeface="Times New Roman"/>
              </a:rPr>
              <a:t>TE</a:t>
            </a:r>
            <a:r>
              <a:rPr dirty="0" sz="2800" spc="-10" b="1">
                <a:latin typeface="Times New Roman"/>
                <a:cs typeface="Times New Roman"/>
              </a:rPr>
              <a:t>′</a:t>
            </a:r>
            <a:endParaRPr sz="2800">
              <a:latin typeface="Times New Roman"/>
              <a:cs typeface="Times New Roman"/>
            </a:endParaRPr>
          </a:p>
          <a:p>
            <a:pPr marL="91440" marR="714375">
              <a:lnSpc>
                <a:spcPct val="115100"/>
              </a:lnSpc>
              <a:spcBef>
                <a:spcPts val="114"/>
              </a:spcBef>
            </a:pPr>
            <a:r>
              <a:rPr dirty="0" sz="2800" spc="-5" b="1" i="1">
                <a:latin typeface="Times New Roman"/>
                <a:cs typeface="Times New Roman"/>
              </a:rPr>
              <a:t>E </a:t>
            </a:r>
            <a:r>
              <a:rPr dirty="0" sz="2800" spc="-5" b="1">
                <a:latin typeface="Times New Roman"/>
                <a:cs typeface="Times New Roman"/>
              </a:rPr>
              <a:t>' → +</a:t>
            </a:r>
            <a:r>
              <a:rPr dirty="0" sz="2800" spc="-5" b="1" i="1">
                <a:latin typeface="Times New Roman"/>
                <a:cs typeface="Times New Roman"/>
              </a:rPr>
              <a:t>TE</a:t>
            </a:r>
            <a:r>
              <a:rPr dirty="0" sz="2800" spc="-5" b="1">
                <a:latin typeface="Times New Roman"/>
                <a:cs typeface="Times New Roman"/>
              </a:rPr>
              <a:t>'</a:t>
            </a:r>
            <a:r>
              <a:rPr dirty="0" sz="2800" spc="-65" b="1">
                <a:latin typeface="Times New Roman"/>
                <a:cs typeface="Times New Roman"/>
              </a:rPr>
              <a:t> </a:t>
            </a:r>
            <a:r>
              <a:rPr dirty="0" sz="2800" spc="-20" b="1">
                <a:latin typeface="Times New Roman"/>
                <a:cs typeface="Times New Roman"/>
              </a:rPr>
              <a:t>|</a:t>
            </a:r>
            <a:r>
              <a:rPr dirty="0" sz="2800" spc="-20" b="1" i="1">
                <a:latin typeface="Times New Roman"/>
                <a:cs typeface="Times New Roman"/>
              </a:rPr>
              <a:t>ε  </a:t>
            </a:r>
            <a:r>
              <a:rPr dirty="0" sz="2800" spc="-5" b="1" i="1">
                <a:latin typeface="Times New Roman"/>
                <a:cs typeface="Times New Roman"/>
              </a:rPr>
              <a:t>T </a:t>
            </a:r>
            <a:r>
              <a:rPr dirty="0" sz="2800" spc="-5" b="1">
                <a:latin typeface="Times New Roman"/>
                <a:cs typeface="Times New Roman"/>
              </a:rPr>
              <a:t>→</a:t>
            </a:r>
            <a:r>
              <a:rPr dirty="0" sz="2800" spc="-10" b="1">
                <a:latin typeface="Times New Roman"/>
                <a:cs typeface="Times New Roman"/>
              </a:rPr>
              <a:t> </a:t>
            </a:r>
            <a:r>
              <a:rPr dirty="0" sz="2800" spc="-10" b="1" i="1">
                <a:latin typeface="Times New Roman"/>
                <a:cs typeface="Times New Roman"/>
              </a:rPr>
              <a:t>FT</a:t>
            </a:r>
            <a:r>
              <a:rPr dirty="0" sz="2800" spc="-10" b="1">
                <a:latin typeface="Times New Roman"/>
                <a:cs typeface="Times New Roman"/>
              </a:rPr>
              <a:t>′</a:t>
            </a:r>
            <a:endParaRPr sz="2800">
              <a:latin typeface="Times New Roman"/>
              <a:cs typeface="Times New Roman"/>
            </a:endParaRPr>
          </a:p>
          <a:p>
            <a:pPr marL="91440" marR="838835">
              <a:lnSpc>
                <a:spcPct val="114999"/>
              </a:lnSpc>
            </a:pPr>
            <a:r>
              <a:rPr dirty="0" sz="2800" spc="-5" b="1" i="1">
                <a:latin typeface="Times New Roman"/>
                <a:cs typeface="Times New Roman"/>
              </a:rPr>
              <a:t>T</a:t>
            </a:r>
            <a:r>
              <a:rPr dirty="0" sz="2800" spc="-5" b="1">
                <a:latin typeface="Times New Roman"/>
                <a:cs typeface="Times New Roman"/>
              </a:rPr>
              <a:t>' → </a:t>
            </a:r>
            <a:r>
              <a:rPr dirty="0" sz="2800" spc="-10" b="1">
                <a:latin typeface="Times New Roman"/>
                <a:cs typeface="Times New Roman"/>
              </a:rPr>
              <a:t>*</a:t>
            </a:r>
            <a:r>
              <a:rPr dirty="0" sz="2800" spc="-10" b="1" i="1">
                <a:latin typeface="Times New Roman"/>
                <a:cs typeface="Times New Roman"/>
              </a:rPr>
              <a:t>FT</a:t>
            </a:r>
            <a:r>
              <a:rPr dirty="0" sz="2800" spc="-10" b="1">
                <a:latin typeface="Times New Roman"/>
                <a:cs typeface="Times New Roman"/>
              </a:rPr>
              <a:t>′|</a:t>
            </a:r>
            <a:r>
              <a:rPr dirty="0" sz="2800" spc="-10" b="1" i="1">
                <a:latin typeface="Times New Roman"/>
                <a:cs typeface="Times New Roman"/>
              </a:rPr>
              <a:t>ε  </a:t>
            </a:r>
            <a:r>
              <a:rPr dirty="0" sz="2800" spc="-5" b="1" i="1">
                <a:latin typeface="Times New Roman"/>
                <a:cs typeface="Times New Roman"/>
              </a:rPr>
              <a:t>F </a:t>
            </a:r>
            <a:r>
              <a:rPr dirty="0" sz="2800" spc="-10" b="1">
                <a:latin typeface="Times New Roman"/>
                <a:cs typeface="Times New Roman"/>
              </a:rPr>
              <a:t>→</a:t>
            </a:r>
            <a:r>
              <a:rPr dirty="0" sz="2800" spc="-10" b="1">
                <a:latin typeface="宋体"/>
                <a:cs typeface="宋体"/>
              </a:rPr>
              <a:t>（</a:t>
            </a:r>
            <a:r>
              <a:rPr dirty="0" sz="2800" spc="-10" b="1" i="1">
                <a:latin typeface="Times New Roman"/>
                <a:cs typeface="Times New Roman"/>
              </a:rPr>
              <a:t>E</a:t>
            </a:r>
            <a:r>
              <a:rPr dirty="0" sz="2800" spc="-10" b="1">
                <a:latin typeface="宋体"/>
                <a:cs typeface="宋体"/>
              </a:rPr>
              <a:t>）</a:t>
            </a:r>
            <a:r>
              <a:rPr dirty="0" sz="2800" spc="-10" b="1">
                <a:latin typeface="Times New Roman"/>
                <a:cs typeface="Times New Roman"/>
              </a:rPr>
              <a:t>|</a:t>
            </a:r>
            <a:r>
              <a:rPr dirty="0" sz="2800" spc="-65" b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0781" y="656081"/>
            <a:ext cx="5052060" cy="5989320"/>
          </a:xfrm>
          <a:custGeom>
            <a:avLst/>
            <a:gdLst/>
            <a:ahLst/>
            <a:cxnLst/>
            <a:rect l="l" t="t" r="r" b="b"/>
            <a:pathLst>
              <a:path w="5052060" h="5989320">
                <a:moveTo>
                  <a:pt x="0" y="5989320"/>
                </a:moveTo>
                <a:lnTo>
                  <a:pt x="5052060" y="5989320"/>
                </a:lnTo>
                <a:lnTo>
                  <a:pt x="5052060" y="0"/>
                </a:lnTo>
                <a:lnTo>
                  <a:pt x="0" y="0"/>
                </a:lnTo>
                <a:lnTo>
                  <a:pt x="0" y="5989320"/>
                </a:lnTo>
                <a:close/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094738" y="1817370"/>
            <a:ext cx="464820" cy="434340"/>
          </a:xfrm>
          <a:custGeom>
            <a:avLst/>
            <a:gdLst/>
            <a:ahLst/>
            <a:cxnLst/>
            <a:rect l="l" t="t" r="r" b="b"/>
            <a:pathLst>
              <a:path w="464819" h="434339">
                <a:moveTo>
                  <a:pt x="0" y="217169"/>
                </a:moveTo>
                <a:lnTo>
                  <a:pt x="4720" y="173417"/>
                </a:lnTo>
                <a:lnTo>
                  <a:pt x="18258" y="132659"/>
                </a:lnTo>
                <a:lnTo>
                  <a:pt x="39681" y="95770"/>
                </a:lnTo>
                <a:lnTo>
                  <a:pt x="68056" y="63626"/>
                </a:lnTo>
                <a:lnTo>
                  <a:pt x="102449" y="37102"/>
                </a:lnTo>
                <a:lnTo>
                  <a:pt x="141928" y="17073"/>
                </a:lnTo>
                <a:lnTo>
                  <a:pt x="185559" y="4414"/>
                </a:lnTo>
                <a:lnTo>
                  <a:pt x="232410" y="0"/>
                </a:lnTo>
                <a:lnTo>
                  <a:pt x="279260" y="4414"/>
                </a:lnTo>
                <a:lnTo>
                  <a:pt x="322891" y="17073"/>
                </a:lnTo>
                <a:lnTo>
                  <a:pt x="362370" y="37102"/>
                </a:lnTo>
                <a:lnTo>
                  <a:pt x="396763" y="63626"/>
                </a:lnTo>
                <a:lnTo>
                  <a:pt x="425138" y="95770"/>
                </a:lnTo>
                <a:lnTo>
                  <a:pt x="446561" y="132659"/>
                </a:lnTo>
                <a:lnTo>
                  <a:pt x="460099" y="173417"/>
                </a:lnTo>
                <a:lnTo>
                  <a:pt x="464819" y="217169"/>
                </a:lnTo>
                <a:lnTo>
                  <a:pt x="460099" y="260922"/>
                </a:lnTo>
                <a:lnTo>
                  <a:pt x="446561" y="301680"/>
                </a:lnTo>
                <a:lnTo>
                  <a:pt x="425138" y="338569"/>
                </a:lnTo>
                <a:lnTo>
                  <a:pt x="396763" y="370713"/>
                </a:lnTo>
                <a:lnTo>
                  <a:pt x="362370" y="397237"/>
                </a:lnTo>
                <a:lnTo>
                  <a:pt x="322891" y="417266"/>
                </a:lnTo>
                <a:lnTo>
                  <a:pt x="279260" y="429925"/>
                </a:lnTo>
                <a:lnTo>
                  <a:pt x="232410" y="434339"/>
                </a:lnTo>
                <a:lnTo>
                  <a:pt x="185559" y="429925"/>
                </a:lnTo>
                <a:lnTo>
                  <a:pt x="141928" y="417266"/>
                </a:lnTo>
                <a:lnTo>
                  <a:pt x="102449" y="397237"/>
                </a:lnTo>
                <a:lnTo>
                  <a:pt x="68056" y="370712"/>
                </a:lnTo>
                <a:lnTo>
                  <a:pt x="39681" y="338569"/>
                </a:lnTo>
                <a:lnTo>
                  <a:pt x="18258" y="301680"/>
                </a:lnTo>
                <a:lnTo>
                  <a:pt x="4720" y="260922"/>
                </a:lnTo>
                <a:lnTo>
                  <a:pt x="0" y="217169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231770" y="1769490"/>
            <a:ext cx="2032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559304" y="1982089"/>
            <a:ext cx="791210" cy="85725"/>
          </a:xfrm>
          <a:custGeom>
            <a:avLst/>
            <a:gdLst/>
            <a:ahLst/>
            <a:cxnLst/>
            <a:rect l="l" t="t" r="r" b="b"/>
            <a:pathLst>
              <a:path w="791210" h="85725">
                <a:moveTo>
                  <a:pt x="706119" y="0"/>
                </a:moveTo>
                <a:lnTo>
                  <a:pt x="705738" y="28638"/>
                </a:lnTo>
                <a:lnTo>
                  <a:pt x="719962" y="28828"/>
                </a:lnTo>
                <a:lnTo>
                  <a:pt x="719582" y="57403"/>
                </a:lnTo>
                <a:lnTo>
                  <a:pt x="705354" y="57403"/>
                </a:lnTo>
                <a:lnTo>
                  <a:pt x="704976" y="85725"/>
                </a:lnTo>
                <a:lnTo>
                  <a:pt x="763604" y="57403"/>
                </a:lnTo>
                <a:lnTo>
                  <a:pt x="719582" y="57403"/>
                </a:lnTo>
                <a:lnTo>
                  <a:pt x="705357" y="57210"/>
                </a:lnTo>
                <a:lnTo>
                  <a:pt x="764005" y="57210"/>
                </a:lnTo>
                <a:lnTo>
                  <a:pt x="791209" y="44069"/>
                </a:lnTo>
                <a:lnTo>
                  <a:pt x="706119" y="0"/>
                </a:lnTo>
                <a:close/>
              </a:path>
              <a:path w="791210" h="85725">
                <a:moveTo>
                  <a:pt x="705738" y="28638"/>
                </a:moveTo>
                <a:lnTo>
                  <a:pt x="705357" y="57210"/>
                </a:lnTo>
                <a:lnTo>
                  <a:pt x="719582" y="57403"/>
                </a:lnTo>
                <a:lnTo>
                  <a:pt x="719962" y="28828"/>
                </a:lnTo>
                <a:lnTo>
                  <a:pt x="705738" y="28638"/>
                </a:lnTo>
                <a:close/>
              </a:path>
              <a:path w="791210" h="85725">
                <a:moveTo>
                  <a:pt x="507" y="19176"/>
                </a:moveTo>
                <a:lnTo>
                  <a:pt x="0" y="47625"/>
                </a:lnTo>
                <a:lnTo>
                  <a:pt x="705357" y="57210"/>
                </a:lnTo>
                <a:lnTo>
                  <a:pt x="705738" y="28638"/>
                </a:lnTo>
                <a:lnTo>
                  <a:pt x="507" y="19176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860548" y="1573733"/>
            <a:ext cx="19939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350514" y="1802129"/>
            <a:ext cx="464820" cy="436245"/>
          </a:xfrm>
          <a:custGeom>
            <a:avLst/>
            <a:gdLst/>
            <a:ahLst/>
            <a:cxnLst/>
            <a:rect l="l" t="t" r="r" b="b"/>
            <a:pathLst>
              <a:path w="464820" h="436244">
                <a:moveTo>
                  <a:pt x="0" y="217932"/>
                </a:moveTo>
                <a:lnTo>
                  <a:pt x="4720" y="174000"/>
                </a:lnTo>
                <a:lnTo>
                  <a:pt x="18258" y="133088"/>
                </a:lnTo>
                <a:lnTo>
                  <a:pt x="39681" y="96068"/>
                </a:lnTo>
                <a:lnTo>
                  <a:pt x="68056" y="63817"/>
                </a:lnTo>
                <a:lnTo>
                  <a:pt x="102449" y="37210"/>
                </a:lnTo>
                <a:lnTo>
                  <a:pt x="141928" y="17121"/>
                </a:lnTo>
                <a:lnTo>
                  <a:pt x="185559" y="4426"/>
                </a:lnTo>
                <a:lnTo>
                  <a:pt x="232410" y="0"/>
                </a:lnTo>
                <a:lnTo>
                  <a:pt x="279260" y="4426"/>
                </a:lnTo>
                <a:lnTo>
                  <a:pt x="322891" y="17121"/>
                </a:lnTo>
                <a:lnTo>
                  <a:pt x="362370" y="37210"/>
                </a:lnTo>
                <a:lnTo>
                  <a:pt x="396763" y="63817"/>
                </a:lnTo>
                <a:lnTo>
                  <a:pt x="425138" y="96068"/>
                </a:lnTo>
                <a:lnTo>
                  <a:pt x="446561" y="133088"/>
                </a:lnTo>
                <a:lnTo>
                  <a:pt x="460099" y="174000"/>
                </a:lnTo>
                <a:lnTo>
                  <a:pt x="464820" y="217932"/>
                </a:lnTo>
                <a:lnTo>
                  <a:pt x="460099" y="261863"/>
                </a:lnTo>
                <a:lnTo>
                  <a:pt x="446561" y="302775"/>
                </a:lnTo>
                <a:lnTo>
                  <a:pt x="425138" y="339795"/>
                </a:lnTo>
                <a:lnTo>
                  <a:pt x="396763" y="372046"/>
                </a:lnTo>
                <a:lnTo>
                  <a:pt x="362370" y="398653"/>
                </a:lnTo>
                <a:lnTo>
                  <a:pt x="322891" y="418742"/>
                </a:lnTo>
                <a:lnTo>
                  <a:pt x="279260" y="431437"/>
                </a:lnTo>
                <a:lnTo>
                  <a:pt x="232410" y="435864"/>
                </a:lnTo>
                <a:lnTo>
                  <a:pt x="185559" y="431437"/>
                </a:lnTo>
                <a:lnTo>
                  <a:pt x="141928" y="418742"/>
                </a:lnTo>
                <a:lnTo>
                  <a:pt x="102449" y="398653"/>
                </a:lnTo>
                <a:lnTo>
                  <a:pt x="68056" y="372046"/>
                </a:lnTo>
                <a:lnTo>
                  <a:pt x="39681" y="339795"/>
                </a:lnTo>
                <a:lnTo>
                  <a:pt x="18258" y="302775"/>
                </a:lnTo>
                <a:lnTo>
                  <a:pt x="4720" y="261863"/>
                </a:lnTo>
                <a:lnTo>
                  <a:pt x="0" y="21793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487546" y="1755140"/>
            <a:ext cx="2032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815334" y="1990979"/>
            <a:ext cx="844550" cy="85725"/>
          </a:xfrm>
          <a:custGeom>
            <a:avLst/>
            <a:gdLst/>
            <a:ahLst/>
            <a:cxnLst/>
            <a:rect l="l" t="t" r="r" b="b"/>
            <a:pathLst>
              <a:path w="844550" h="85725">
                <a:moveTo>
                  <a:pt x="758570" y="57147"/>
                </a:moveTo>
                <a:lnTo>
                  <a:pt x="758570" y="85725"/>
                </a:lnTo>
                <a:lnTo>
                  <a:pt x="815636" y="57150"/>
                </a:lnTo>
                <a:lnTo>
                  <a:pt x="758570" y="57147"/>
                </a:lnTo>
                <a:close/>
              </a:path>
              <a:path w="844550" h="85725">
                <a:moveTo>
                  <a:pt x="758570" y="28572"/>
                </a:moveTo>
                <a:lnTo>
                  <a:pt x="758570" y="57147"/>
                </a:lnTo>
                <a:lnTo>
                  <a:pt x="772794" y="57150"/>
                </a:lnTo>
                <a:lnTo>
                  <a:pt x="772794" y="28575"/>
                </a:lnTo>
                <a:lnTo>
                  <a:pt x="758570" y="28572"/>
                </a:lnTo>
                <a:close/>
              </a:path>
              <a:path w="844550" h="85725">
                <a:moveTo>
                  <a:pt x="758570" y="0"/>
                </a:moveTo>
                <a:lnTo>
                  <a:pt x="758570" y="28572"/>
                </a:lnTo>
                <a:lnTo>
                  <a:pt x="772794" y="28575"/>
                </a:lnTo>
                <a:lnTo>
                  <a:pt x="772794" y="57150"/>
                </a:lnTo>
                <a:lnTo>
                  <a:pt x="815641" y="57147"/>
                </a:lnTo>
                <a:lnTo>
                  <a:pt x="844295" y="42799"/>
                </a:lnTo>
                <a:lnTo>
                  <a:pt x="758570" y="0"/>
                </a:lnTo>
                <a:close/>
              </a:path>
              <a:path w="844550" h="85725">
                <a:moveTo>
                  <a:pt x="0" y="28448"/>
                </a:moveTo>
                <a:lnTo>
                  <a:pt x="0" y="57023"/>
                </a:lnTo>
                <a:lnTo>
                  <a:pt x="758570" y="57147"/>
                </a:lnTo>
                <a:lnTo>
                  <a:pt x="758570" y="28572"/>
                </a:lnTo>
                <a:lnTo>
                  <a:pt x="0" y="2844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849245" y="963295"/>
            <a:ext cx="201295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62678" y="1821942"/>
            <a:ext cx="466725" cy="434340"/>
          </a:xfrm>
          <a:custGeom>
            <a:avLst/>
            <a:gdLst/>
            <a:ahLst/>
            <a:cxnLst/>
            <a:rect l="l" t="t" r="r" b="b"/>
            <a:pathLst>
              <a:path w="466725" h="434339">
                <a:moveTo>
                  <a:pt x="0" y="217170"/>
                </a:moveTo>
                <a:lnTo>
                  <a:pt x="4737" y="173417"/>
                </a:lnTo>
                <a:lnTo>
                  <a:pt x="18323" y="132659"/>
                </a:lnTo>
                <a:lnTo>
                  <a:pt x="39821" y="95770"/>
                </a:lnTo>
                <a:lnTo>
                  <a:pt x="68294" y="63626"/>
                </a:lnTo>
                <a:lnTo>
                  <a:pt x="102803" y="37102"/>
                </a:lnTo>
                <a:lnTo>
                  <a:pt x="142410" y="17073"/>
                </a:lnTo>
                <a:lnTo>
                  <a:pt x="186179" y="4414"/>
                </a:lnTo>
                <a:lnTo>
                  <a:pt x="233172" y="0"/>
                </a:lnTo>
                <a:lnTo>
                  <a:pt x="280164" y="4414"/>
                </a:lnTo>
                <a:lnTo>
                  <a:pt x="323933" y="17073"/>
                </a:lnTo>
                <a:lnTo>
                  <a:pt x="363540" y="37102"/>
                </a:lnTo>
                <a:lnTo>
                  <a:pt x="398049" y="63627"/>
                </a:lnTo>
                <a:lnTo>
                  <a:pt x="426522" y="95770"/>
                </a:lnTo>
                <a:lnTo>
                  <a:pt x="448020" y="132659"/>
                </a:lnTo>
                <a:lnTo>
                  <a:pt x="461606" y="173417"/>
                </a:lnTo>
                <a:lnTo>
                  <a:pt x="466344" y="217170"/>
                </a:lnTo>
                <a:lnTo>
                  <a:pt x="461606" y="260922"/>
                </a:lnTo>
                <a:lnTo>
                  <a:pt x="448020" y="301680"/>
                </a:lnTo>
                <a:lnTo>
                  <a:pt x="426522" y="338569"/>
                </a:lnTo>
                <a:lnTo>
                  <a:pt x="398049" y="370713"/>
                </a:lnTo>
                <a:lnTo>
                  <a:pt x="363540" y="397237"/>
                </a:lnTo>
                <a:lnTo>
                  <a:pt x="323933" y="417266"/>
                </a:lnTo>
                <a:lnTo>
                  <a:pt x="280164" y="429925"/>
                </a:lnTo>
                <a:lnTo>
                  <a:pt x="233172" y="434340"/>
                </a:lnTo>
                <a:lnTo>
                  <a:pt x="186179" y="429925"/>
                </a:lnTo>
                <a:lnTo>
                  <a:pt x="142410" y="417266"/>
                </a:lnTo>
                <a:lnTo>
                  <a:pt x="102803" y="397237"/>
                </a:lnTo>
                <a:lnTo>
                  <a:pt x="68294" y="370713"/>
                </a:lnTo>
                <a:lnTo>
                  <a:pt x="39821" y="338569"/>
                </a:lnTo>
                <a:lnTo>
                  <a:pt x="18323" y="301680"/>
                </a:lnTo>
                <a:lnTo>
                  <a:pt x="4737" y="260922"/>
                </a:lnTo>
                <a:lnTo>
                  <a:pt x="0" y="217170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820411" y="1831975"/>
            <a:ext cx="1651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734305" y="1882901"/>
            <a:ext cx="327660" cy="327660"/>
          </a:xfrm>
          <a:custGeom>
            <a:avLst/>
            <a:gdLst/>
            <a:ahLst/>
            <a:cxnLst/>
            <a:rect l="l" t="t" r="r" b="b"/>
            <a:pathLst>
              <a:path w="327660" h="327660">
                <a:moveTo>
                  <a:pt x="0" y="163830"/>
                </a:moveTo>
                <a:lnTo>
                  <a:pt x="5856" y="120297"/>
                </a:lnTo>
                <a:lnTo>
                  <a:pt x="22380" y="81167"/>
                </a:lnTo>
                <a:lnTo>
                  <a:pt x="48006" y="48005"/>
                </a:lnTo>
                <a:lnTo>
                  <a:pt x="81167" y="22380"/>
                </a:lnTo>
                <a:lnTo>
                  <a:pt x="120297" y="5856"/>
                </a:lnTo>
                <a:lnTo>
                  <a:pt x="163830" y="0"/>
                </a:lnTo>
                <a:lnTo>
                  <a:pt x="207362" y="5856"/>
                </a:lnTo>
                <a:lnTo>
                  <a:pt x="246492" y="22380"/>
                </a:lnTo>
                <a:lnTo>
                  <a:pt x="279654" y="48006"/>
                </a:lnTo>
                <a:lnTo>
                  <a:pt x="305279" y="81167"/>
                </a:lnTo>
                <a:lnTo>
                  <a:pt x="321803" y="120297"/>
                </a:lnTo>
                <a:lnTo>
                  <a:pt x="327660" y="163830"/>
                </a:lnTo>
                <a:lnTo>
                  <a:pt x="321803" y="207362"/>
                </a:lnTo>
                <a:lnTo>
                  <a:pt x="305279" y="246492"/>
                </a:lnTo>
                <a:lnTo>
                  <a:pt x="279654" y="279653"/>
                </a:lnTo>
                <a:lnTo>
                  <a:pt x="246492" y="305279"/>
                </a:lnTo>
                <a:lnTo>
                  <a:pt x="207362" y="321803"/>
                </a:lnTo>
                <a:lnTo>
                  <a:pt x="163830" y="327660"/>
                </a:lnTo>
                <a:lnTo>
                  <a:pt x="120297" y="321803"/>
                </a:lnTo>
                <a:lnTo>
                  <a:pt x="81167" y="305279"/>
                </a:lnTo>
                <a:lnTo>
                  <a:pt x="48005" y="279653"/>
                </a:lnTo>
                <a:lnTo>
                  <a:pt x="22380" y="246492"/>
                </a:lnTo>
                <a:lnTo>
                  <a:pt x="5856" y="207362"/>
                </a:lnTo>
                <a:lnTo>
                  <a:pt x="0" y="163830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021201" y="1593849"/>
            <a:ext cx="1587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216657" y="1358646"/>
            <a:ext cx="1507490" cy="480059"/>
          </a:xfrm>
          <a:custGeom>
            <a:avLst/>
            <a:gdLst/>
            <a:ahLst/>
            <a:cxnLst/>
            <a:rect l="l" t="t" r="r" b="b"/>
            <a:pathLst>
              <a:path w="1507489" h="480060">
                <a:moveTo>
                  <a:pt x="0" y="480059"/>
                </a:moveTo>
                <a:lnTo>
                  <a:pt x="1359" y="409109"/>
                </a:lnTo>
                <a:lnTo>
                  <a:pt x="5308" y="341395"/>
                </a:lnTo>
                <a:lnTo>
                  <a:pt x="11652" y="277658"/>
                </a:lnTo>
                <a:lnTo>
                  <a:pt x="20197" y="218641"/>
                </a:lnTo>
                <a:lnTo>
                  <a:pt x="30750" y="165086"/>
                </a:lnTo>
                <a:lnTo>
                  <a:pt x="43116" y="117735"/>
                </a:lnTo>
                <a:lnTo>
                  <a:pt x="57101" y="77328"/>
                </a:lnTo>
                <a:lnTo>
                  <a:pt x="89151" y="20321"/>
                </a:lnTo>
                <a:lnTo>
                  <a:pt x="125349" y="0"/>
                </a:lnTo>
                <a:lnTo>
                  <a:pt x="1381887" y="0"/>
                </a:lnTo>
                <a:lnTo>
                  <a:pt x="1418084" y="20321"/>
                </a:lnTo>
                <a:lnTo>
                  <a:pt x="1450134" y="77328"/>
                </a:lnTo>
                <a:lnTo>
                  <a:pt x="1464119" y="117735"/>
                </a:lnTo>
                <a:lnTo>
                  <a:pt x="1476485" y="165086"/>
                </a:lnTo>
                <a:lnTo>
                  <a:pt x="1487038" y="218641"/>
                </a:lnTo>
                <a:lnTo>
                  <a:pt x="1495583" y="277658"/>
                </a:lnTo>
                <a:lnTo>
                  <a:pt x="1501927" y="341395"/>
                </a:lnTo>
                <a:lnTo>
                  <a:pt x="1505876" y="409109"/>
                </a:lnTo>
                <a:lnTo>
                  <a:pt x="1507236" y="480059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177542" y="1586611"/>
            <a:ext cx="114172" cy="2150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588769" y="1999488"/>
            <a:ext cx="506095" cy="114300"/>
          </a:xfrm>
          <a:custGeom>
            <a:avLst/>
            <a:gdLst/>
            <a:ahLst/>
            <a:cxnLst/>
            <a:rect l="l" t="t" r="r" b="b"/>
            <a:pathLst>
              <a:path w="506094" h="114300">
                <a:moveTo>
                  <a:pt x="391668" y="0"/>
                </a:moveTo>
                <a:lnTo>
                  <a:pt x="391668" y="114300"/>
                </a:lnTo>
                <a:lnTo>
                  <a:pt x="467868" y="76200"/>
                </a:lnTo>
                <a:lnTo>
                  <a:pt x="410718" y="76200"/>
                </a:lnTo>
                <a:lnTo>
                  <a:pt x="410718" y="38100"/>
                </a:lnTo>
                <a:lnTo>
                  <a:pt x="467868" y="38100"/>
                </a:lnTo>
                <a:lnTo>
                  <a:pt x="391668" y="0"/>
                </a:lnTo>
                <a:close/>
              </a:path>
              <a:path w="506094" h="114300">
                <a:moveTo>
                  <a:pt x="39166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91668" y="76200"/>
                </a:lnTo>
                <a:lnTo>
                  <a:pt x="391668" y="38100"/>
                </a:lnTo>
                <a:close/>
              </a:path>
              <a:path w="506094" h="114300">
                <a:moveTo>
                  <a:pt x="467868" y="38100"/>
                </a:moveTo>
                <a:lnTo>
                  <a:pt x="410718" y="38100"/>
                </a:lnTo>
                <a:lnTo>
                  <a:pt x="410718" y="76200"/>
                </a:lnTo>
                <a:lnTo>
                  <a:pt x="467868" y="76200"/>
                </a:lnTo>
                <a:lnTo>
                  <a:pt x="505968" y="57150"/>
                </a:lnTo>
                <a:lnTo>
                  <a:pt x="467868" y="381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052066" y="3720846"/>
            <a:ext cx="464820" cy="434340"/>
          </a:xfrm>
          <a:custGeom>
            <a:avLst/>
            <a:gdLst/>
            <a:ahLst/>
            <a:cxnLst/>
            <a:rect l="l" t="t" r="r" b="b"/>
            <a:pathLst>
              <a:path w="464819" h="434339">
                <a:moveTo>
                  <a:pt x="0" y="217169"/>
                </a:moveTo>
                <a:lnTo>
                  <a:pt x="4720" y="173417"/>
                </a:lnTo>
                <a:lnTo>
                  <a:pt x="18258" y="132659"/>
                </a:lnTo>
                <a:lnTo>
                  <a:pt x="39681" y="95770"/>
                </a:lnTo>
                <a:lnTo>
                  <a:pt x="68056" y="63626"/>
                </a:lnTo>
                <a:lnTo>
                  <a:pt x="102449" y="37102"/>
                </a:lnTo>
                <a:lnTo>
                  <a:pt x="141928" y="17073"/>
                </a:lnTo>
                <a:lnTo>
                  <a:pt x="185559" y="4414"/>
                </a:lnTo>
                <a:lnTo>
                  <a:pt x="232409" y="0"/>
                </a:lnTo>
                <a:lnTo>
                  <a:pt x="279260" y="4414"/>
                </a:lnTo>
                <a:lnTo>
                  <a:pt x="322891" y="17073"/>
                </a:lnTo>
                <a:lnTo>
                  <a:pt x="362370" y="37102"/>
                </a:lnTo>
                <a:lnTo>
                  <a:pt x="396763" y="63626"/>
                </a:lnTo>
                <a:lnTo>
                  <a:pt x="425138" y="95770"/>
                </a:lnTo>
                <a:lnTo>
                  <a:pt x="446561" y="132659"/>
                </a:lnTo>
                <a:lnTo>
                  <a:pt x="460099" y="173417"/>
                </a:lnTo>
                <a:lnTo>
                  <a:pt x="464819" y="217169"/>
                </a:lnTo>
                <a:lnTo>
                  <a:pt x="460099" y="260922"/>
                </a:lnTo>
                <a:lnTo>
                  <a:pt x="446561" y="301680"/>
                </a:lnTo>
                <a:lnTo>
                  <a:pt x="425138" y="338569"/>
                </a:lnTo>
                <a:lnTo>
                  <a:pt x="396763" y="370713"/>
                </a:lnTo>
                <a:lnTo>
                  <a:pt x="362370" y="397237"/>
                </a:lnTo>
                <a:lnTo>
                  <a:pt x="322891" y="417266"/>
                </a:lnTo>
                <a:lnTo>
                  <a:pt x="279260" y="429925"/>
                </a:lnTo>
                <a:lnTo>
                  <a:pt x="232409" y="434339"/>
                </a:lnTo>
                <a:lnTo>
                  <a:pt x="185559" y="429925"/>
                </a:lnTo>
                <a:lnTo>
                  <a:pt x="141928" y="417266"/>
                </a:lnTo>
                <a:lnTo>
                  <a:pt x="102449" y="397237"/>
                </a:lnTo>
                <a:lnTo>
                  <a:pt x="68056" y="370713"/>
                </a:lnTo>
                <a:lnTo>
                  <a:pt x="39681" y="338569"/>
                </a:lnTo>
                <a:lnTo>
                  <a:pt x="18258" y="301680"/>
                </a:lnTo>
                <a:lnTo>
                  <a:pt x="4720" y="260922"/>
                </a:lnTo>
                <a:lnTo>
                  <a:pt x="0" y="217169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2188717" y="3673220"/>
            <a:ext cx="2032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516632" y="3885565"/>
            <a:ext cx="791210" cy="85725"/>
          </a:xfrm>
          <a:custGeom>
            <a:avLst/>
            <a:gdLst/>
            <a:ahLst/>
            <a:cxnLst/>
            <a:rect l="l" t="t" r="r" b="b"/>
            <a:pathLst>
              <a:path w="791210" h="85725">
                <a:moveTo>
                  <a:pt x="706119" y="0"/>
                </a:moveTo>
                <a:lnTo>
                  <a:pt x="705738" y="28638"/>
                </a:lnTo>
                <a:lnTo>
                  <a:pt x="719963" y="28829"/>
                </a:lnTo>
                <a:lnTo>
                  <a:pt x="719582" y="57404"/>
                </a:lnTo>
                <a:lnTo>
                  <a:pt x="705354" y="57404"/>
                </a:lnTo>
                <a:lnTo>
                  <a:pt x="704976" y="85725"/>
                </a:lnTo>
                <a:lnTo>
                  <a:pt x="763604" y="57404"/>
                </a:lnTo>
                <a:lnTo>
                  <a:pt x="719582" y="57404"/>
                </a:lnTo>
                <a:lnTo>
                  <a:pt x="705357" y="57210"/>
                </a:lnTo>
                <a:lnTo>
                  <a:pt x="764005" y="57210"/>
                </a:lnTo>
                <a:lnTo>
                  <a:pt x="791209" y="44068"/>
                </a:lnTo>
                <a:lnTo>
                  <a:pt x="706119" y="0"/>
                </a:lnTo>
                <a:close/>
              </a:path>
              <a:path w="791210" h="85725">
                <a:moveTo>
                  <a:pt x="705738" y="28638"/>
                </a:moveTo>
                <a:lnTo>
                  <a:pt x="705357" y="57210"/>
                </a:lnTo>
                <a:lnTo>
                  <a:pt x="719582" y="57404"/>
                </a:lnTo>
                <a:lnTo>
                  <a:pt x="719963" y="28829"/>
                </a:lnTo>
                <a:lnTo>
                  <a:pt x="705738" y="28638"/>
                </a:lnTo>
                <a:close/>
              </a:path>
              <a:path w="791210" h="85725">
                <a:moveTo>
                  <a:pt x="507" y="19177"/>
                </a:moveTo>
                <a:lnTo>
                  <a:pt x="0" y="47625"/>
                </a:lnTo>
                <a:lnTo>
                  <a:pt x="705357" y="57210"/>
                </a:lnTo>
                <a:lnTo>
                  <a:pt x="705738" y="28638"/>
                </a:lnTo>
                <a:lnTo>
                  <a:pt x="507" y="1917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2817622" y="3478148"/>
            <a:ext cx="2165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307841" y="3705605"/>
            <a:ext cx="464820" cy="436245"/>
          </a:xfrm>
          <a:custGeom>
            <a:avLst/>
            <a:gdLst/>
            <a:ahLst/>
            <a:cxnLst/>
            <a:rect l="l" t="t" r="r" b="b"/>
            <a:pathLst>
              <a:path w="464820" h="436245">
                <a:moveTo>
                  <a:pt x="0" y="217932"/>
                </a:moveTo>
                <a:lnTo>
                  <a:pt x="4720" y="174000"/>
                </a:lnTo>
                <a:lnTo>
                  <a:pt x="18258" y="133088"/>
                </a:lnTo>
                <a:lnTo>
                  <a:pt x="39681" y="96068"/>
                </a:lnTo>
                <a:lnTo>
                  <a:pt x="68056" y="63817"/>
                </a:lnTo>
                <a:lnTo>
                  <a:pt x="102449" y="37210"/>
                </a:lnTo>
                <a:lnTo>
                  <a:pt x="141928" y="17121"/>
                </a:lnTo>
                <a:lnTo>
                  <a:pt x="185559" y="4426"/>
                </a:lnTo>
                <a:lnTo>
                  <a:pt x="232410" y="0"/>
                </a:lnTo>
                <a:lnTo>
                  <a:pt x="279260" y="4426"/>
                </a:lnTo>
                <a:lnTo>
                  <a:pt x="322891" y="17121"/>
                </a:lnTo>
                <a:lnTo>
                  <a:pt x="362370" y="37210"/>
                </a:lnTo>
                <a:lnTo>
                  <a:pt x="396763" y="63817"/>
                </a:lnTo>
                <a:lnTo>
                  <a:pt x="425138" y="96068"/>
                </a:lnTo>
                <a:lnTo>
                  <a:pt x="446561" y="133088"/>
                </a:lnTo>
                <a:lnTo>
                  <a:pt x="460099" y="174000"/>
                </a:lnTo>
                <a:lnTo>
                  <a:pt x="464820" y="217932"/>
                </a:lnTo>
                <a:lnTo>
                  <a:pt x="460099" y="261863"/>
                </a:lnTo>
                <a:lnTo>
                  <a:pt x="446561" y="302775"/>
                </a:lnTo>
                <a:lnTo>
                  <a:pt x="425138" y="339795"/>
                </a:lnTo>
                <a:lnTo>
                  <a:pt x="396763" y="372046"/>
                </a:lnTo>
                <a:lnTo>
                  <a:pt x="362370" y="398653"/>
                </a:lnTo>
                <a:lnTo>
                  <a:pt x="322891" y="418742"/>
                </a:lnTo>
                <a:lnTo>
                  <a:pt x="279260" y="431437"/>
                </a:lnTo>
                <a:lnTo>
                  <a:pt x="232410" y="435864"/>
                </a:lnTo>
                <a:lnTo>
                  <a:pt x="185559" y="431437"/>
                </a:lnTo>
                <a:lnTo>
                  <a:pt x="141928" y="418742"/>
                </a:lnTo>
                <a:lnTo>
                  <a:pt x="102449" y="398653"/>
                </a:lnTo>
                <a:lnTo>
                  <a:pt x="68056" y="372046"/>
                </a:lnTo>
                <a:lnTo>
                  <a:pt x="39681" y="339795"/>
                </a:lnTo>
                <a:lnTo>
                  <a:pt x="18258" y="302775"/>
                </a:lnTo>
                <a:lnTo>
                  <a:pt x="4720" y="261863"/>
                </a:lnTo>
                <a:lnTo>
                  <a:pt x="0" y="21793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3444875" y="3658870"/>
            <a:ext cx="2032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772661" y="3894328"/>
            <a:ext cx="844550" cy="85725"/>
          </a:xfrm>
          <a:custGeom>
            <a:avLst/>
            <a:gdLst/>
            <a:ahLst/>
            <a:cxnLst/>
            <a:rect l="l" t="t" r="r" b="b"/>
            <a:pathLst>
              <a:path w="844550" h="85725">
                <a:moveTo>
                  <a:pt x="758571" y="0"/>
                </a:moveTo>
                <a:lnTo>
                  <a:pt x="758571" y="85725"/>
                </a:lnTo>
                <a:lnTo>
                  <a:pt x="815805" y="57150"/>
                </a:lnTo>
                <a:lnTo>
                  <a:pt x="772795" y="57150"/>
                </a:lnTo>
                <a:lnTo>
                  <a:pt x="772795" y="28575"/>
                </a:lnTo>
                <a:lnTo>
                  <a:pt x="815636" y="28575"/>
                </a:lnTo>
                <a:lnTo>
                  <a:pt x="758571" y="0"/>
                </a:lnTo>
                <a:close/>
              </a:path>
              <a:path w="844550" h="85725">
                <a:moveTo>
                  <a:pt x="758571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758571" y="57150"/>
                </a:lnTo>
                <a:lnTo>
                  <a:pt x="758571" y="28575"/>
                </a:lnTo>
                <a:close/>
              </a:path>
              <a:path w="844550" h="85725">
                <a:moveTo>
                  <a:pt x="815636" y="28575"/>
                </a:moveTo>
                <a:lnTo>
                  <a:pt x="772795" y="28575"/>
                </a:lnTo>
                <a:lnTo>
                  <a:pt x="772795" y="57150"/>
                </a:lnTo>
                <a:lnTo>
                  <a:pt x="815805" y="57150"/>
                </a:lnTo>
                <a:lnTo>
                  <a:pt x="844296" y="42926"/>
                </a:lnTo>
                <a:lnTo>
                  <a:pt x="815636" y="285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2806573" y="2867025"/>
            <a:ext cx="178435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620005" y="3725417"/>
            <a:ext cx="464820" cy="434340"/>
          </a:xfrm>
          <a:custGeom>
            <a:avLst/>
            <a:gdLst/>
            <a:ahLst/>
            <a:cxnLst/>
            <a:rect l="l" t="t" r="r" b="b"/>
            <a:pathLst>
              <a:path w="464820" h="434339">
                <a:moveTo>
                  <a:pt x="0" y="217169"/>
                </a:moveTo>
                <a:lnTo>
                  <a:pt x="4720" y="173417"/>
                </a:lnTo>
                <a:lnTo>
                  <a:pt x="18258" y="132659"/>
                </a:lnTo>
                <a:lnTo>
                  <a:pt x="39681" y="95770"/>
                </a:lnTo>
                <a:lnTo>
                  <a:pt x="68056" y="63626"/>
                </a:lnTo>
                <a:lnTo>
                  <a:pt x="102449" y="37102"/>
                </a:lnTo>
                <a:lnTo>
                  <a:pt x="141928" y="17073"/>
                </a:lnTo>
                <a:lnTo>
                  <a:pt x="185559" y="4414"/>
                </a:lnTo>
                <a:lnTo>
                  <a:pt x="232410" y="0"/>
                </a:lnTo>
                <a:lnTo>
                  <a:pt x="279260" y="4414"/>
                </a:lnTo>
                <a:lnTo>
                  <a:pt x="322891" y="17073"/>
                </a:lnTo>
                <a:lnTo>
                  <a:pt x="362370" y="37102"/>
                </a:lnTo>
                <a:lnTo>
                  <a:pt x="396763" y="63626"/>
                </a:lnTo>
                <a:lnTo>
                  <a:pt x="425138" y="95770"/>
                </a:lnTo>
                <a:lnTo>
                  <a:pt x="446561" y="132659"/>
                </a:lnTo>
                <a:lnTo>
                  <a:pt x="460099" y="173417"/>
                </a:lnTo>
                <a:lnTo>
                  <a:pt x="464820" y="217169"/>
                </a:lnTo>
                <a:lnTo>
                  <a:pt x="460099" y="260922"/>
                </a:lnTo>
                <a:lnTo>
                  <a:pt x="446561" y="301680"/>
                </a:lnTo>
                <a:lnTo>
                  <a:pt x="425138" y="338569"/>
                </a:lnTo>
                <a:lnTo>
                  <a:pt x="396763" y="370713"/>
                </a:lnTo>
                <a:lnTo>
                  <a:pt x="362370" y="397237"/>
                </a:lnTo>
                <a:lnTo>
                  <a:pt x="322891" y="417266"/>
                </a:lnTo>
                <a:lnTo>
                  <a:pt x="279260" y="429925"/>
                </a:lnTo>
                <a:lnTo>
                  <a:pt x="232410" y="434339"/>
                </a:lnTo>
                <a:lnTo>
                  <a:pt x="185559" y="429925"/>
                </a:lnTo>
                <a:lnTo>
                  <a:pt x="141928" y="417266"/>
                </a:lnTo>
                <a:lnTo>
                  <a:pt x="102449" y="397237"/>
                </a:lnTo>
                <a:lnTo>
                  <a:pt x="68056" y="370712"/>
                </a:lnTo>
                <a:lnTo>
                  <a:pt x="39681" y="338569"/>
                </a:lnTo>
                <a:lnTo>
                  <a:pt x="18258" y="301680"/>
                </a:lnTo>
                <a:lnTo>
                  <a:pt x="4720" y="260922"/>
                </a:lnTo>
                <a:lnTo>
                  <a:pt x="0" y="217169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4777740" y="3735400"/>
            <a:ext cx="1657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691634" y="3786378"/>
            <a:ext cx="327660" cy="327660"/>
          </a:xfrm>
          <a:custGeom>
            <a:avLst/>
            <a:gdLst/>
            <a:ahLst/>
            <a:cxnLst/>
            <a:rect l="l" t="t" r="r" b="b"/>
            <a:pathLst>
              <a:path w="327660" h="327660">
                <a:moveTo>
                  <a:pt x="0" y="163830"/>
                </a:moveTo>
                <a:lnTo>
                  <a:pt x="5856" y="120297"/>
                </a:lnTo>
                <a:lnTo>
                  <a:pt x="22380" y="81167"/>
                </a:lnTo>
                <a:lnTo>
                  <a:pt x="48005" y="48006"/>
                </a:lnTo>
                <a:lnTo>
                  <a:pt x="81167" y="22380"/>
                </a:lnTo>
                <a:lnTo>
                  <a:pt x="120297" y="5856"/>
                </a:lnTo>
                <a:lnTo>
                  <a:pt x="163829" y="0"/>
                </a:lnTo>
                <a:lnTo>
                  <a:pt x="207362" y="5856"/>
                </a:lnTo>
                <a:lnTo>
                  <a:pt x="246492" y="22380"/>
                </a:lnTo>
                <a:lnTo>
                  <a:pt x="279654" y="48006"/>
                </a:lnTo>
                <a:lnTo>
                  <a:pt x="305279" y="81167"/>
                </a:lnTo>
                <a:lnTo>
                  <a:pt x="321803" y="120297"/>
                </a:lnTo>
                <a:lnTo>
                  <a:pt x="327660" y="163830"/>
                </a:lnTo>
                <a:lnTo>
                  <a:pt x="321803" y="207362"/>
                </a:lnTo>
                <a:lnTo>
                  <a:pt x="305279" y="246492"/>
                </a:lnTo>
                <a:lnTo>
                  <a:pt x="279653" y="279654"/>
                </a:lnTo>
                <a:lnTo>
                  <a:pt x="246492" y="305279"/>
                </a:lnTo>
                <a:lnTo>
                  <a:pt x="207362" y="321803"/>
                </a:lnTo>
                <a:lnTo>
                  <a:pt x="163829" y="327660"/>
                </a:lnTo>
                <a:lnTo>
                  <a:pt x="120297" y="321803"/>
                </a:lnTo>
                <a:lnTo>
                  <a:pt x="81167" y="305279"/>
                </a:lnTo>
                <a:lnTo>
                  <a:pt x="48005" y="279654"/>
                </a:lnTo>
                <a:lnTo>
                  <a:pt x="22380" y="246492"/>
                </a:lnTo>
                <a:lnTo>
                  <a:pt x="5856" y="207362"/>
                </a:lnTo>
                <a:lnTo>
                  <a:pt x="0" y="163830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3978275" y="3497707"/>
            <a:ext cx="1587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173985" y="3262121"/>
            <a:ext cx="1507490" cy="480059"/>
          </a:xfrm>
          <a:custGeom>
            <a:avLst/>
            <a:gdLst/>
            <a:ahLst/>
            <a:cxnLst/>
            <a:rect l="l" t="t" r="r" b="b"/>
            <a:pathLst>
              <a:path w="1507489" h="480060">
                <a:moveTo>
                  <a:pt x="0" y="480059"/>
                </a:moveTo>
                <a:lnTo>
                  <a:pt x="1359" y="409109"/>
                </a:lnTo>
                <a:lnTo>
                  <a:pt x="5308" y="341395"/>
                </a:lnTo>
                <a:lnTo>
                  <a:pt x="11652" y="277658"/>
                </a:lnTo>
                <a:lnTo>
                  <a:pt x="20197" y="218641"/>
                </a:lnTo>
                <a:lnTo>
                  <a:pt x="30750" y="165086"/>
                </a:lnTo>
                <a:lnTo>
                  <a:pt x="43116" y="117735"/>
                </a:lnTo>
                <a:lnTo>
                  <a:pt x="57101" y="77328"/>
                </a:lnTo>
                <a:lnTo>
                  <a:pt x="89151" y="20321"/>
                </a:lnTo>
                <a:lnTo>
                  <a:pt x="125349" y="0"/>
                </a:lnTo>
                <a:lnTo>
                  <a:pt x="1381887" y="0"/>
                </a:lnTo>
                <a:lnTo>
                  <a:pt x="1418084" y="20321"/>
                </a:lnTo>
                <a:lnTo>
                  <a:pt x="1450134" y="77328"/>
                </a:lnTo>
                <a:lnTo>
                  <a:pt x="1464119" y="117735"/>
                </a:lnTo>
                <a:lnTo>
                  <a:pt x="1476485" y="165086"/>
                </a:lnTo>
                <a:lnTo>
                  <a:pt x="1487038" y="218641"/>
                </a:lnTo>
                <a:lnTo>
                  <a:pt x="1495583" y="277658"/>
                </a:lnTo>
                <a:lnTo>
                  <a:pt x="1501927" y="341395"/>
                </a:lnTo>
                <a:lnTo>
                  <a:pt x="1505876" y="409109"/>
                </a:lnTo>
                <a:lnTo>
                  <a:pt x="1507236" y="480059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134742" y="3489959"/>
            <a:ext cx="114045" cy="21513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247192" y="3201746"/>
            <a:ext cx="17945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10" b="1" i="1">
                <a:solidFill>
                  <a:srgbClr val="66FFFF"/>
                </a:solidFill>
                <a:latin typeface="Times New Roman"/>
                <a:cs typeface="Times New Roman"/>
              </a:rPr>
              <a:t>T</a:t>
            </a:r>
            <a:r>
              <a:rPr dirty="0" sz="2800" spc="-10" b="1">
                <a:solidFill>
                  <a:srgbClr val="66FFFF"/>
                </a:solidFill>
                <a:latin typeface="Times New Roman"/>
                <a:cs typeface="Times New Roman"/>
              </a:rPr>
              <a:t>′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代</a:t>
            </a:r>
            <a:r>
              <a:rPr dirty="0" sz="2800" spc="-15" b="1">
                <a:solidFill>
                  <a:srgbClr val="66FFFF"/>
                </a:solidFill>
                <a:latin typeface="宋体"/>
                <a:cs typeface="宋体"/>
              </a:rPr>
              <a:t>入</a:t>
            </a:r>
            <a:r>
              <a:rPr dirty="0" sz="2800" spc="-735" b="1">
                <a:solidFill>
                  <a:srgbClr val="66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T</a:t>
            </a:r>
            <a:r>
              <a:rPr dirty="0" sz="2800" spc="-35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66FFFF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410461" y="3902964"/>
            <a:ext cx="641985" cy="114300"/>
          </a:xfrm>
          <a:custGeom>
            <a:avLst/>
            <a:gdLst/>
            <a:ahLst/>
            <a:cxnLst/>
            <a:rect l="l" t="t" r="r" b="b"/>
            <a:pathLst>
              <a:path w="641985" h="114300">
                <a:moveTo>
                  <a:pt x="527304" y="0"/>
                </a:moveTo>
                <a:lnTo>
                  <a:pt x="527304" y="114300"/>
                </a:lnTo>
                <a:lnTo>
                  <a:pt x="603504" y="76200"/>
                </a:lnTo>
                <a:lnTo>
                  <a:pt x="546354" y="76200"/>
                </a:lnTo>
                <a:lnTo>
                  <a:pt x="546354" y="38100"/>
                </a:lnTo>
                <a:lnTo>
                  <a:pt x="603504" y="38100"/>
                </a:lnTo>
                <a:lnTo>
                  <a:pt x="527304" y="0"/>
                </a:lnTo>
                <a:close/>
              </a:path>
              <a:path w="641985" h="114300">
                <a:moveTo>
                  <a:pt x="52730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27304" y="76200"/>
                </a:lnTo>
                <a:lnTo>
                  <a:pt x="527304" y="38100"/>
                </a:lnTo>
                <a:close/>
              </a:path>
              <a:path w="641985" h="114300">
                <a:moveTo>
                  <a:pt x="603504" y="38100"/>
                </a:moveTo>
                <a:lnTo>
                  <a:pt x="546354" y="38100"/>
                </a:lnTo>
                <a:lnTo>
                  <a:pt x="546354" y="76200"/>
                </a:lnTo>
                <a:lnTo>
                  <a:pt x="603504" y="76200"/>
                </a:lnTo>
                <a:lnTo>
                  <a:pt x="641604" y="57150"/>
                </a:lnTo>
                <a:lnTo>
                  <a:pt x="603504" y="381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825246" y="5301234"/>
            <a:ext cx="464820" cy="436245"/>
          </a:xfrm>
          <a:custGeom>
            <a:avLst/>
            <a:gdLst/>
            <a:ahLst/>
            <a:cxnLst/>
            <a:rect l="l" t="t" r="r" b="b"/>
            <a:pathLst>
              <a:path w="464819" h="436245">
                <a:moveTo>
                  <a:pt x="0" y="217931"/>
                </a:moveTo>
                <a:lnTo>
                  <a:pt x="4721" y="174000"/>
                </a:lnTo>
                <a:lnTo>
                  <a:pt x="18263" y="133088"/>
                </a:lnTo>
                <a:lnTo>
                  <a:pt x="39691" y="96068"/>
                </a:lnTo>
                <a:lnTo>
                  <a:pt x="68070" y="63817"/>
                </a:lnTo>
                <a:lnTo>
                  <a:pt x="102466" y="37210"/>
                </a:lnTo>
                <a:lnTo>
                  <a:pt x="141944" y="17121"/>
                </a:lnTo>
                <a:lnTo>
                  <a:pt x="185570" y="4426"/>
                </a:lnTo>
                <a:lnTo>
                  <a:pt x="232409" y="0"/>
                </a:lnTo>
                <a:lnTo>
                  <a:pt x="279249" y="4426"/>
                </a:lnTo>
                <a:lnTo>
                  <a:pt x="322875" y="17121"/>
                </a:lnTo>
                <a:lnTo>
                  <a:pt x="362353" y="37210"/>
                </a:lnTo>
                <a:lnTo>
                  <a:pt x="396749" y="63817"/>
                </a:lnTo>
                <a:lnTo>
                  <a:pt x="425128" y="96068"/>
                </a:lnTo>
                <a:lnTo>
                  <a:pt x="446556" y="133088"/>
                </a:lnTo>
                <a:lnTo>
                  <a:pt x="460098" y="174000"/>
                </a:lnTo>
                <a:lnTo>
                  <a:pt x="464819" y="217931"/>
                </a:lnTo>
                <a:lnTo>
                  <a:pt x="460098" y="261852"/>
                </a:lnTo>
                <a:lnTo>
                  <a:pt x="446556" y="302759"/>
                </a:lnTo>
                <a:lnTo>
                  <a:pt x="425128" y="339778"/>
                </a:lnTo>
                <a:lnTo>
                  <a:pt x="396749" y="372032"/>
                </a:lnTo>
                <a:lnTo>
                  <a:pt x="362353" y="398643"/>
                </a:lnTo>
                <a:lnTo>
                  <a:pt x="322875" y="418737"/>
                </a:lnTo>
                <a:lnTo>
                  <a:pt x="279249" y="431436"/>
                </a:lnTo>
                <a:lnTo>
                  <a:pt x="232409" y="435863"/>
                </a:lnTo>
                <a:lnTo>
                  <a:pt x="185570" y="431436"/>
                </a:lnTo>
                <a:lnTo>
                  <a:pt x="141944" y="418737"/>
                </a:lnTo>
                <a:lnTo>
                  <a:pt x="102466" y="398643"/>
                </a:lnTo>
                <a:lnTo>
                  <a:pt x="68070" y="372032"/>
                </a:lnTo>
                <a:lnTo>
                  <a:pt x="39691" y="339778"/>
                </a:lnTo>
                <a:lnTo>
                  <a:pt x="18263" y="302759"/>
                </a:lnTo>
                <a:lnTo>
                  <a:pt x="4721" y="261852"/>
                </a:lnTo>
                <a:lnTo>
                  <a:pt x="0" y="21793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905761" y="5316473"/>
            <a:ext cx="464820" cy="434340"/>
          </a:xfrm>
          <a:custGeom>
            <a:avLst/>
            <a:gdLst/>
            <a:ahLst/>
            <a:cxnLst/>
            <a:rect l="l" t="t" r="r" b="b"/>
            <a:pathLst>
              <a:path w="464819" h="434339">
                <a:moveTo>
                  <a:pt x="0" y="217169"/>
                </a:moveTo>
                <a:lnTo>
                  <a:pt x="4720" y="173417"/>
                </a:lnTo>
                <a:lnTo>
                  <a:pt x="18258" y="132659"/>
                </a:lnTo>
                <a:lnTo>
                  <a:pt x="39681" y="95770"/>
                </a:lnTo>
                <a:lnTo>
                  <a:pt x="68056" y="63627"/>
                </a:lnTo>
                <a:lnTo>
                  <a:pt x="102449" y="37102"/>
                </a:lnTo>
                <a:lnTo>
                  <a:pt x="141928" y="17073"/>
                </a:lnTo>
                <a:lnTo>
                  <a:pt x="185559" y="4414"/>
                </a:lnTo>
                <a:lnTo>
                  <a:pt x="232410" y="0"/>
                </a:lnTo>
                <a:lnTo>
                  <a:pt x="279260" y="4414"/>
                </a:lnTo>
                <a:lnTo>
                  <a:pt x="322891" y="17073"/>
                </a:lnTo>
                <a:lnTo>
                  <a:pt x="362370" y="37102"/>
                </a:lnTo>
                <a:lnTo>
                  <a:pt x="396763" y="63627"/>
                </a:lnTo>
                <a:lnTo>
                  <a:pt x="425138" y="95770"/>
                </a:lnTo>
                <a:lnTo>
                  <a:pt x="446561" y="132659"/>
                </a:lnTo>
                <a:lnTo>
                  <a:pt x="460099" y="173417"/>
                </a:lnTo>
                <a:lnTo>
                  <a:pt x="464819" y="217169"/>
                </a:lnTo>
                <a:lnTo>
                  <a:pt x="460099" y="260937"/>
                </a:lnTo>
                <a:lnTo>
                  <a:pt x="446561" y="301701"/>
                </a:lnTo>
                <a:lnTo>
                  <a:pt x="425138" y="338591"/>
                </a:lnTo>
                <a:lnTo>
                  <a:pt x="396763" y="370732"/>
                </a:lnTo>
                <a:lnTo>
                  <a:pt x="362370" y="397250"/>
                </a:lnTo>
                <a:lnTo>
                  <a:pt x="322891" y="417273"/>
                </a:lnTo>
                <a:lnTo>
                  <a:pt x="279260" y="429927"/>
                </a:lnTo>
                <a:lnTo>
                  <a:pt x="232410" y="434339"/>
                </a:lnTo>
                <a:lnTo>
                  <a:pt x="185559" y="429927"/>
                </a:lnTo>
                <a:lnTo>
                  <a:pt x="141928" y="417273"/>
                </a:lnTo>
                <a:lnTo>
                  <a:pt x="102449" y="397250"/>
                </a:lnTo>
                <a:lnTo>
                  <a:pt x="68056" y="370732"/>
                </a:lnTo>
                <a:lnTo>
                  <a:pt x="39681" y="338591"/>
                </a:lnTo>
                <a:lnTo>
                  <a:pt x="18258" y="301701"/>
                </a:lnTo>
                <a:lnTo>
                  <a:pt x="4720" y="260937"/>
                </a:lnTo>
                <a:lnTo>
                  <a:pt x="0" y="217169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2042795" y="5268569"/>
            <a:ext cx="20383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289811" y="5497957"/>
            <a:ext cx="629920" cy="85725"/>
          </a:xfrm>
          <a:custGeom>
            <a:avLst/>
            <a:gdLst/>
            <a:ahLst/>
            <a:cxnLst/>
            <a:rect l="l" t="t" r="r" b="b"/>
            <a:pathLst>
              <a:path w="629919" h="85725">
                <a:moveTo>
                  <a:pt x="544576" y="0"/>
                </a:moveTo>
                <a:lnTo>
                  <a:pt x="544153" y="28497"/>
                </a:lnTo>
                <a:lnTo>
                  <a:pt x="558419" y="28702"/>
                </a:lnTo>
                <a:lnTo>
                  <a:pt x="558038" y="57277"/>
                </a:lnTo>
                <a:lnTo>
                  <a:pt x="543727" y="57277"/>
                </a:lnTo>
                <a:lnTo>
                  <a:pt x="543306" y="85725"/>
                </a:lnTo>
                <a:lnTo>
                  <a:pt x="602283" y="57277"/>
                </a:lnTo>
                <a:lnTo>
                  <a:pt x="558038" y="57277"/>
                </a:lnTo>
                <a:lnTo>
                  <a:pt x="543730" y="57068"/>
                </a:lnTo>
                <a:lnTo>
                  <a:pt x="602715" y="57068"/>
                </a:lnTo>
                <a:lnTo>
                  <a:pt x="629665" y="44069"/>
                </a:lnTo>
                <a:lnTo>
                  <a:pt x="544576" y="0"/>
                </a:lnTo>
                <a:close/>
              </a:path>
              <a:path w="629919" h="85725">
                <a:moveTo>
                  <a:pt x="544153" y="28497"/>
                </a:moveTo>
                <a:lnTo>
                  <a:pt x="543730" y="57068"/>
                </a:lnTo>
                <a:lnTo>
                  <a:pt x="558038" y="57277"/>
                </a:lnTo>
                <a:lnTo>
                  <a:pt x="558419" y="28702"/>
                </a:lnTo>
                <a:lnTo>
                  <a:pt x="544153" y="28497"/>
                </a:lnTo>
                <a:close/>
              </a:path>
              <a:path w="629919" h="85725">
                <a:moveTo>
                  <a:pt x="507" y="20701"/>
                </a:moveTo>
                <a:lnTo>
                  <a:pt x="0" y="49149"/>
                </a:lnTo>
                <a:lnTo>
                  <a:pt x="543730" y="57068"/>
                </a:lnTo>
                <a:lnTo>
                  <a:pt x="544153" y="28497"/>
                </a:lnTo>
                <a:lnTo>
                  <a:pt x="507" y="20701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712970" y="5310378"/>
            <a:ext cx="464820" cy="436245"/>
          </a:xfrm>
          <a:custGeom>
            <a:avLst/>
            <a:gdLst/>
            <a:ahLst/>
            <a:cxnLst/>
            <a:rect l="l" t="t" r="r" b="b"/>
            <a:pathLst>
              <a:path w="464820" h="436245">
                <a:moveTo>
                  <a:pt x="0" y="217932"/>
                </a:moveTo>
                <a:lnTo>
                  <a:pt x="4720" y="174000"/>
                </a:lnTo>
                <a:lnTo>
                  <a:pt x="18258" y="133088"/>
                </a:lnTo>
                <a:lnTo>
                  <a:pt x="39681" y="96068"/>
                </a:lnTo>
                <a:lnTo>
                  <a:pt x="68056" y="63817"/>
                </a:lnTo>
                <a:lnTo>
                  <a:pt x="102449" y="37210"/>
                </a:lnTo>
                <a:lnTo>
                  <a:pt x="141928" y="17121"/>
                </a:lnTo>
                <a:lnTo>
                  <a:pt x="185559" y="4426"/>
                </a:lnTo>
                <a:lnTo>
                  <a:pt x="232409" y="0"/>
                </a:lnTo>
                <a:lnTo>
                  <a:pt x="279260" y="4426"/>
                </a:lnTo>
                <a:lnTo>
                  <a:pt x="322891" y="17121"/>
                </a:lnTo>
                <a:lnTo>
                  <a:pt x="362370" y="37210"/>
                </a:lnTo>
                <a:lnTo>
                  <a:pt x="396763" y="63817"/>
                </a:lnTo>
                <a:lnTo>
                  <a:pt x="425138" y="96068"/>
                </a:lnTo>
                <a:lnTo>
                  <a:pt x="446561" y="133088"/>
                </a:lnTo>
                <a:lnTo>
                  <a:pt x="460099" y="174000"/>
                </a:lnTo>
                <a:lnTo>
                  <a:pt x="464819" y="217932"/>
                </a:lnTo>
                <a:lnTo>
                  <a:pt x="460099" y="261852"/>
                </a:lnTo>
                <a:lnTo>
                  <a:pt x="446561" y="302759"/>
                </a:lnTo>
                <a:lnTo>
                  <a:pt x="425138" y="339778"/>
                </a:lnTo>
                <a:lnTo>
                  <a:pt x="396763" y="372032"/>
                </a:lnTo>
                <a:lnTo>
                  <a:pt x="362370" y="398643"/>
                </a:lnTo>
                <a:lnTo>
                  <a:pt x="322891" y="418737"/>
                </a:lnTo>
                <a:lnTo>
                  <a:pt x="279260" y="431436"/>
                </a:lnTo>
                <a:lnTo>
                  <a:pt x="232409" y="435864"/>
                </a:lnTo>
                <a:lnTo>
                  <a:pt x="185559" y="431436"/>
                </a:lnTo>
                <a:lnTo>
                  <a:pt x="141928" y="418737"/>
                </a:lnTo>
                <a:lnTo>
                  <a:pt x="102449" y="398643"/>
                </a:lnTo>
                <a:lnTo>
                  <a:pt x="68056" y="372032"/>
                </a:lnTo>
                <a:lnTo>
                  <a:pt x="39681" y="339778"/>
                </a:lnTo>
                <a:lnTo>
                  <a:pt x="18258" y="302759"/>
                </a:lnTo>
                <a:lnTo>
                  <a:pt x="4720" y="261852"/>
                </a:lnTo>
                <a:lnTo>
                  <a:pt x="0" y="217932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4869815" y="5322214"/>
            <a:ext cx="1651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3630929" y="5484876"/>
            <a:ext cx="1082040" cy="114300"/>
          </a:xfrm>
          <a:custGeom>
            <a:avLst/>
            <a:gdLst/>
            <a:ahLst/>
            <a:cxnLst/>
            <a:rect l="l" t="t" r="r" b="b"/>
            <a:pathLst>
              <a:path w="1082039" h="114300">
                <a:moveTo>
                  <a:pt x="967740" y="0"/>
                </a:moveTo>
                <a:lnTo>
                  <a:pt x="967740" y="114300"/>
                </a:lnTo>
                <a:lnTo>
                  <a:pt x="1043940" y="76200"/>
                </a:lnTo>
                <a:lnTo>
                  <a:pt x="986790" y="76200"/>
                </a:lnTo>
                <a:lnTo>
                  <a:pt x="986790" y="38100"/>
                </a:lnTo>
                <a:lnTo>
                  <a:pt x="1043940" y="38100"/>
                </a:lnTo>
                <a:lnTo>
                  <a:pt x="967740" y="0"/>
                </a:lnTo>
                <a:close/>
              </a:path>
              <a:path w="1082039" h="114300">
                <a:moveTo>
                  <a:pt x="96774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67740" y="76200"/>
                </a:lnTo>
                <a:lnTo>
                  <a:pt x="967740" y="38100"/>
                </a:lnTo>
                <a:close/>
              </a:path>
              <a:path w="1082039" h="114300">
                <a:moveTo>
                  <a:pt x="1043940" y="38100"/>
                </a:moveTo>
                <a:lnTo>
                  <a:pt x="986790" y="38100"/>
                </a:lnTo>
                <a:lnTo>
                  <a:pt x="986790" y="76200"/>
                </a:lnTo>
                <a:lnTo>
                  <a:pt x="1043940" y="76200"/>
                </a:lnTo>
                <a:lnTo>
                  <a:pt x="1082040" y="57150"/>
                </a:lnTo>
                <a:lnTo>
                  <a:pt x="104394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4013327" y="5055489"/>
            <a:ext cx="1314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784597" y="5372861"/>
            <a:ext cx="326390" cy="327660"/>
          </a:xfrm>
          <a:custGeom>
            <a:avLst/>
            <a:gdLst/>
            <a:ahLst/>
            <a:cxnLst/>
            <a:rect l="l" t="t" r="r" b="b"/>
            <a:pathLst>
              <a:path w="326389" h="327660">
                <a:moveTo>
                  <a:pt x="0" y="163829"/>
                </a:moveTo>
                <a:lnTo>
                  <a:pt x="5826" y="120297"/>
                </a:lnTo>
                <a:lnTo>
                  <a:pt x="22267" y="81167"/>
                </a:lnTo>
                <a:lnTo>
                  <a:pt x="47767" y="48005"/>
                </a:lnTo>
                <a:lnTo>
                  <a:pt x="80772" y="22380"/>
                </a:lnTo>
                <a:lnTo>
                  <a:pt x="119723" y="5856"/>
                </a:lnTo>
                <a:lnTo>
                  <a:pt x="163067" y="0"/>
                </a:lnTo>
                <a:lnTo>
                  <a:pt x="206412" y="5856"/>
                </a:lnTo>
                <a:lnTo>
                  <a:pt x="245363" y="22380"/>
                </a:lnTo>
                <a:lnTo>
                  <a:pt x="278368" y="48006"/>
                </a:lnTo>
                <a:lnTo>
                  <a:pt x="303868" y="81167"/>
                </a:lnTo>
                <a:lnTo>
                  <a:pt x="320309" y="120297"/>
                </a:lnTo>
                <a:lnTo>
                  <a:pt x="326136" y="163829"/>
                </a:lnTo>
                <a:lnTo>
                  <a:pt x="320309" y="207380"/>
                </a:lnTo>
                <a:lnTo>
                  <a:pt x="303868" y="246515"/>
                </a:lnTo>
                <a:lnTo>
                  <a:pt x="278368" y="279673"/>
                </a:lnTo>
                <a:lnTo>
                  <a:pt x="245363" y="305291"/>
                </a:lnTo>
                <a:lnTo>
                  <a:pt x="206412" y="321807"/>
                </a:lnTo>
                <a:lnTo>
                  <a:pt x="163067" y="327659"/>
                </a:lnTo>
                <a:lnTo>
                  <a:pt x="119723" y="321807"/>
                </a:lnTo>
                <a:lnTo>
                  <a:pt x="80772" y="305291"/>
                </a:lnTo>
                <a:lnTo>
                  <a:pt x="47767" y="279673"/>
                </a:lnTo>
                <a:lnTo>
                  <a:pt x="22267" y="246515"/>
                </a:lnTo>
                <a:lnTo>
                  <a:pt x="5826" y="207380"/>
                </a:lnTo>
                <a:lnTo>
                  <a:pt x="0" y="163829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137154" y="5325617"/>
            <a:ext cx="466725" cy="434340"/>
          </a:xfrm>
          <a:custGeom>
            <a:avLst/>
            <a:gdLst/>
            <a:ahLst/>
            <a:cxnLst/>
            <a:rect l="l" t="t" r="r" b="b"/>
            <a:pathLst>
              <a:path w="466725" h="434339">
                <a:moveTo>
                  <a:pt x="0" y="217169"/>
                </a:moveTo>
                <a:lnTo>
                  <a:pt x="4737" y="173417"/>
                </a:lnTo>
                <a:lnTo>
                  <a:pt x="18323" y="132659"/>
                </a:lnTo>
                <a:lnTo>
                  <a:pt x="39821" y="95770"/>
                </a:lnTo>
                <a:lnTo>
                  <a:pt x="68294" y="63626"/>
                </a:lnTo>
                <a:lnTo>
                  <a:pt x="102803" y="37102"/>
                </a:lnTo>
                <a:lnTo>
                  <a:pt x="142410" y="17073"/>
                </a:lnTo>
                <a:lnTo>
                  <a:pt x="186179" y="4414"/>
                </a:lnTo>
                <a:lnTo>
                  <a:pt x="233171" y="0"/>
                </a:lnTo>
                <a:lnTo>
                  <a:pt x="280164" y="4414"/>
                </a:lnTo>
                <a:lnTo>
                  <a:pt x="323933" y="17073"/>
                </a:lnTo>
                <a:lnTo>
                  <a:pt x="363540" y="37102"/>
                </a:lnTo>
                <a:lnTo>
                  <a:pt x="398049" y="63626"/>
                </a:lnTo>
                <a:lnTo>
                  <a:pt x="426522" y="95770"/>
                </a:lnTo>
                <a:lnTo>
                  <a:pt x="448020" y="132659"/>
                </a:lnTo>
                <a:lnTo>
                  <a:pt x="461606" y="173417"/>
                </a:lnTo>
                <a:lnTo>
                  <a:pt x="466344" y="217169"/>
                </a:lnTo>
                <a:lnTo>
                  <a:pt x="461606" y="260937"/>
                </a:lnTo>
                <a:lnTo>
                  <a:pt x="448020" y="301701"/>
                </a:lnTo>
                <a:lnTo>
                  <a:pt x="426522" y="338591"/>
                </a:lnTo>
                <a:lnTo>
                  <a:pt x="398049" y="370732"/>
                </a:lnTo>
                <a:lnTo>
                  <a:pt x="363540" y="397250"/>
                </a:lnTo>
                <a:lnTo>
                  <a:pt x="323933" y="417273"/>
                </a:lnTo>
                <a:lnTo>
                  <a:pt x="280164" y="429927"/>
                </a:lnTo>
                <a:lnTo>
                  <a:pt x="233171" y="434339"/>
                </a:lnTo>
                <a:lnTo>
                  <a:pt x="186179" y="429927"/>
                </a:lnTo>
                <a:lnTo>
                  <a:pt x="142410" y="417273"/>
                </a:lnTo>
                <a:lnTo>
                  <a:pt x="102803" y="397250"/>
                </a:lnTo>
                <a:lnTo>
                  <a:pt x="68294" y="370732"/>
                </a:lnTo>
                <a:lnTo>
                  <a:pt x="39821" y="338591"/>
                </a:lnTo>
                <a:lnTo>
                  <a:pt x="18323" y="301701"/>
                </a:lnTo>
                <a:lnTo>
                  <a:pt x="4737" y="260937"/>
                </a:lnTo>
                <a:lnTo>
                  <a:pt x="0" y="217169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3274821" y="5278628"/>
            <a:ext cx="2032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2413000" y="5497576"/>
            <a:ext cx="712470" cy="85725"/>
          </a:xfrm>
          <a:custGeom>
            <a:avLst/>
            <a:gdLst/>
            <a:ahLst/>
            <a:cxnLst/>
            <a:rect l="l" t="t" r="r" b="b"/>
            <a:pathLst>
              <a:path w="712469" h="85725">
                <a:moveTo>
                  <a:pt x="627126" y="0"/>
                </a:moveTo>
                <a:lnTo>
                  <a:pt x="626575" y="28554"/>
                </a:lnTo>
                <a:lnTo>
                  <a:pt x="640842" y="28829"/>
                </a:lnTo>
                <a:lnTo>
                  <a:pt x="640207" y="57404"/>
                </a:lnTo>
                <a:lnTo>
                  <a:pt x="626018" y="57404"/>
                </a:lnTo>
                <a:lnTo>
                  <a:pt x="625475" y="85598"/>
                </a:lnTo>
                <a:lnTo>
                  <a:pt x="684734" y="57404"/>
                </a:lnTo>
                <a:lnTo>
                  <a:pt x="640207" y="57404"/>
                </a:lnTo>
                <a:lnTo>
                  <a:pt x="626024" y="57128"/>
                </a:lnTo>
                <a:lnTo>
                  <a:pt x="685314" y="57128"/>
                </a:lnTo>
                <a:lnTo>
                  <a:pt x="711962" y="44450"/>
                </a:lnTo>
                <a:lnTo>
                  <a:pt x="627126" y="0"/>
                </a:lnTo>
                <a:close/>
              </a:path>
              <a:path w="712469" h="85725">
                <a:moveTo>
                  <a:pt x="626575" y="28554"/>
                </a:moveTo>
                <a:lnTo>
                  <a:pt x="626024" y="57128"/>
                </a:lnTo>
                <a:lnTo>
                  <a:pt x="640207" y="57404"/>
                </a:lnTo>
                <a:lnTo>
                  <a:pt x="640842" y="28829"/>
                </a:lnTo>
                <a:lnTo>
                  <a:pt x="626575" y="28554"/>
                </a:lnTo>
                <a:close/>
              </a:path>
              <a:path w="712469" h="85725">
                <a:moveTo>
                  <a:pt x="507" y="16510"/>
                </a:moveTo>
                <a:lnTo>
                  <a:pt x="0" y="44958"/>
                </a:lnTo>
                <a:lnTo>
                  <a:pt x="626024" y="57128"/>
                </a:lnTo>
                <a:lnTo>
                  <a:pt x="626575" y="28554"/>
                </a:lnTo>
                <a:lnTo>
                  <a:pt x="507" y="1651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2584069" y="5099380"/>
            <a:ext cx="2501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193558" y="5603697"/>
            <a:ext cx="3634740" cy="541020"/>
          </a:xfrm>
          <a:custGeom>
            <a:avLst/>
            <a:gdLst/>
            <a:ahLst/>
            <a:cxnLst/>
            <a:rect l="l" t="t" r="r" b="b"/>
            <a:pathLst>
              <a:path w="3634740" h="541020">
                <a:moveTo>
                  <a:pt x="0" y="0"/>
                </a:moveTo>
                <a:lnTo>
                  <a:pt x="22202" y="45134"/>
                </a:lnTo>
                <a:lnTo>
                  <a:pt x="56226" y="82242"/>
                </a:lnTo>
                <a:lnTo>
                  <a:pt x="97883" y="114582"/>
                </a:lnTo>
                <a:lnTo>
                  <a:pt x="142989" y="145415"/>
                </a:lnTo>
                <a:lnTo>
                  <a:pt x="151903" y="152135"/>
                </a:lnTo>
                <a:lnTo>
                  <a:pt x="203242" y="178884"/>
                </a:lnTo>
                <a:lnTo>
                  <a:pt x="248629" y="195757"/>
                </a:lnTo>
                <a:lnTo>
                  <a:pt x="257035" y="198869"/>
                </a:lnTo>
                <a:lnTo>
                  <a:pt x="296677" y="222632"/>
                </a:lnTo>
                <a:lnTo>
                  <a:pt x="339477" y="243181"/>
                </a:lnTo>
                <a:lnTo>
                  <a:pt x="384400" y="261366"/>
                </a:lnTo>
                <a:lnTo>
                  <a:pt x="430413" y="278034"/>
                </a:lnTo>
                <a:lnTo>
                  <a:pt x="476483" y="294036"/>
                </a:lnTo>
                <a:lnTo>
                  <a:pt x="521576" y="310222"/>
                </a:lnTo>
                <a:lnTo>
                  <a:pt x="570758" y="328855"/>
                </a:lnTo>
                <a:lnTo>
                  <a:pt x="620840" y="347905"/>
                </a:lnTo>
                <a:lnTo>
                  <a:pt x="671602" y="366805"/>
                </a:lnTo>
                <a:lnTo>
                  <a:pt x="722824" y="384983"/>
                </a:lnTo>
                <a:lnTo>
                  <a:pt x="774285" y="401872"/>
                </a:lnTo>
                <a:lnTo>
                  <a:pt x="825767" y="416901"/>
                </a:lnTo>
                <a:lnTo>
                  <a:pt x="877049" y="429501"/>
                </a:lnTo>
                <a:lnTo>
                  <a:pt x="924895" y="439915"/>
                </a:lnTo>
                <a:lnTo>
                  <a:pt x="973124" y="449955"/>
                </a:lnTo>
                <a:lnTo>
                  <a:pt x="1021650" y="459652"/>
                </a:lnTo>
                <a:lnTo>
                  <a:pt x="1070386" y="469040"/>
                </a:lnTo>
                <a:lnTo>
                  <a:pt x="1119246" y="478149"/>
                </a:lnTo>
                <a:lnTo>
                  <a:pt x="1168142" y="487013"/>
                </a:lnTo>
                <a:lnTo>
                  <a:pt x="1216988" y="495664"/>
                </a:lnTo>
                <a:lnTo>
                  <a:pt x="1265697" y="504135"/>
                </a:lnTo>
                <a:lnTo>
                  <a:pt x="1314183" y="512457"/>
                </a:lnTo>
                <a:lnTo>
                  <a:pt x="1381641" y="516653"/>
                </a:lnTo>
                <a:lnTo>
                  <a:pt x="1442168" y="520678"/>
                </a:lnTo>
                <a:lnTo>
                  <a:pt x="1497042" y="524481"/>
                </a:lnTo>
                <a:lnTo>
                  <a:pt x="1547545" y="528012"/>
                </a:lnTo>
                <a:lnTo>
                  <a:pt x="1594957" y="531217"/>
                </a:lnTo>
                <a:lnTo>
                  <a:pt x="1640557" y="534046"/>
                </a:lnTo>
                <a:lnTo>
                  <a:pt x="1685626" y="536448"/>
                </a:lnTo>
                <a:lnTo>
                  <a:pt x="1731444" y="538371"/>
                </a:lnTo>
                <a:lnTo>
                  <a:pt x="1779290" y="539764"/>
                </a:lnTo>
                <a:lnTo>
                  <a:pt x="1830446" y="540575"/>
                </a:lnTo>
                <a:lnTo>
                  <a:pt x="1886191" y="540753"/>
                </a:lnTo>
                <a:lnTo>
                  <a:pt x="1936504" y="539736"/>
                </a:lnTo>
                <a:lnTo>
                  <a:pt x="1986484" y="537666"/>
                </a:lnTo>
                <a:lnTo>
                  <a:pt x="2036201" y="534775"/>
                </a:lnTo>
                <a:lnTo>
                  <a:pt x="2085727" y="531301"/>
                </a:lnTo>
                <a:lnTo>
                  <a:pt x="2135133" y="527477"/>
                </a:lnTo>
                <a:lnTo>
                  <a:pt x="2184490" y="523540"/>
                </a:lnTo>
                <a:lnTo>
                  <a:pt x="2233869" y="519724"/>
                </a:lnTo>
                <a:lnTo>
                  <a:pt x="2283341" y="516265"/>
                </a:lnTo>
                <a:lnTo>
                  <a:pt x="2332977" y="513397"/>
                </a:lnTo>
                <a:lnTo>
                  <a:pt x="2381015" y="504869"/>
                </a:lnTo>
                <a:lnTo>
                  <a:pt x="2429173" y="496989"/>
                </a:lnTo>
                <a:lnTo>
                  <a:pt x="2477394" y="489483"/>
                </a:lnTo>
                <a:lnTo>
                  <a:pt x="2525620" y="482077"/>
                </a:lnTo>
                <a:lnTo>
                  <a:pt x="2573792" y="474497"/>
                </a:lnTo>
                <a:lnTo>
                  <a:pt x="2621852" y="466468"/>
                </a:lnTo>
                <a:lnTo>
                  <a:pt x="2669743" y="457716"/>
                </a:lnTo>
                <a:lnTo>
                  <a:pt x="2717406" y="447967"/>
                </a:lnTo>
                <a:lnTo>
                  <a:pt x="2783414" y="430483"/>
                </a:lnTo>
                <a:lnTo>
                  <a:pt x="2816382" y="421626"/>
                </a:lnTo>
                <a:lnTo>
                  <a:pt x="2850375" y="414896"/>
                </a:lnTo>
                <a:lnTo>
                  <a:pt x="2882907" y="410945"/>
                </a:lnTo>
                <a:lnTo>
                  <a:pt x="2917844" y="407204"/>
                </a:lnTo>
                <a:lnTo>
                  <a:pt x="2952352" y="402071"/>
                </a:lnTo>
                <a:lnTo>
                  <a:pt x="2983598" y="393941"/>
                </a:lnTo>
                <a:lnTo>
                  <a:pt x="3017906" y="381623"/>
                </a:lnTo>
                <a:lnTo>
                  <a:pt x="3033080" y="376358"/>
                </a:lnTo>
                <a:lnTo>
                  <a:pt x="3046945" y="373474"/>
                </a:lnTo>
                <a:lnTo>
                  <a:pt x="3077324" y="368300"/>
                </a:lnTo>
                <a:lnTo>
                  <a:pt x="3087240" y="363391"/>
                </a:lnTo>
                <a:lnTo>
                  <a:pt x="3141155" y="344662"/>
                </a:lnTo>
                <a:lnTo>
                  <a:pt x="3188681" y="336588"/>
                </a:lnTo>
                <a:lnTo>
                  <a:pt x="3197466" y="335318"/>
                </a:lnTo>
                <a:lnTo>
                  <a:pt x="3234280" y="312017"/>
                </a:lnTo>
                <a:lnTo>
                  <a:pt x="3273666" y="294719"/>
                </a:lnTo>
                <a:lnTo>
                  <a:pt x="3315623" y="281950"/>
                </a:lnTo>
                <a:lnTo>
                  <a:pt x="3360153" y="272237"/>
                </a:lnTo>
                <a:lnTo>
                  <a:pt x="3401460" y="250833"/>
                </a:lnTo>
                <a:lnTo>
                  <a:pt x="3441338" y="228741"/>
                </a:lnTo>
                <a:lnTo>
                  <a:pt x="3481454" y="206898"/>
                </a:lnTo>
                <a:lnTo>
                  <a:pt x="3523475" y="186245"/>
                </a:lnTo>
                <a:lnTo>
                  <a:pt x="3564369" y="168078"/>
                </a:lnTo>
                <a:lnTo>
                  <a:pt x="3584947" y="159006"/>
                </a:lnTo>
                <a:lnTo>
                  <a:pt x="3605263" y="149910"/>
                </a:lnTo>
                <a:lnTo>
                  <a:pt x="3615268" y="145671"/>
                </a:lnTo>
                <a:lnTo>
                  <a:pt x="3626535" y="140750"/>
                </a:lnTo>
                <a:lnTo>
                  <a:pt x="3634374" y="135301"/>
                </a:lnTo>
                <a:lnTo>
                  <a:pt x="3634092" y="129476"/>
                </a:lnTo>
                <a:lnTo>
                  <a:pt x="3625722" y="126384"/>
                </a:lnTo>
                <a:lnTo>
                  <a:pt x="3615232" y="128884"/>
                </a:lnTo>
                <a:lnTo>
                  <a:pt x="3603981" y="133810"/>
                </a:lnTo>
                <a:lnTo>
                  <a:pt x="3593325" y="137998"/>
                </a:lnTo>
                <a:lnTo>
                  <a:pt x="3553149" y="156076"/>
                </a:lnTo>
                <a:lnTo>
                  <a:pt x="3516712" y="179011"/>
                </a:lnTo>
                <a:lnTo>
                  <a:pt x="3480989" y="202915"/>
                </a:lnTo>
                <a:lnTo>
                  <a:pt x="3442957" y="223901"/>
                </a:lnTo>
                <a:lnTo>
                  <a:pt x="3433116" y="244445"/>
                </a:lnTo>
                <a:lnTo>
                  <a:pt x="3428431" y="253436"/>
                </a:lnTo>
                <a:lnTo>
                  <a:pt x="3420150" y="257581"/>
                </a:lnTo>
                <a:lnTo>
                  <a:pt x="3399523" y="263588"/>
                </a:lnTo>
              </a:path>
            </a:pathLst>
          </a:custGeom>
          <a:ln w="28574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620640" y="5714238"/>
            <a:ext cx="191770" cy="151130"/>
          </a:xfrm>
          <a:custGeom>
            <a:avLst/>
            <a:gdLst/>
            <a:ahLst/>
            <a:cxnLst/>
            <a:rect l="l" t="t" r="r" b="b"/>
            <a:pathLst>
              <a:path w="191770" h="151129">
                <a:moveTo>
                  <a:pt x="191388" y="0"/>
                </a:moveTo>
                <a:lnTo>
                  <a:pt x="0" y="54317"/>
                </a:lnTo>
                <a:lnTo>
                  <a:pt x="61595" y="150672"/>
                </a:lnTo>
                <a:lnTo>
                  <a:pt x="19138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2893822" y="5687364"/>
            <a:ext cx="1117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63068" y="4989957"/>
            <a:ext cx="146748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318260" algn="l"/>
              </a:tabLst>
            </a:pPr>
            <a:r>
              <a:rPr dirty="0" baseline="1736" sz="4800" spc="-15" b="1" i="1">
                <a:solidFill>
                  <a:srgbClr val="66FFFF"/>
                </a:solidFill>
                <a:latin typeface="Times New Roman"/>
                <a:cs typeface="Times New Roman"/>
              </a:rPr>
              <a:t>F</a:t>
            </a:r>
            <a:r>
              <a:rPr dirty="0" baseline="1736" sz="4800" spc="-15" b="1">
                <a:solidFill>
                  <a:srgbClr val="66FFFF"/>
                </a:solidFill>
                <a:latin typeface="宋体"/>
                <a:cs typeface="宋体"/>
              </a:rPr>
              <a:t>：</a:t>
            </a:r>
            <a:r>
              <a:rPr dirty="0" baseline="1736" sz="4800" spc="-1447" b="1">
                <a:solidFill>
                  <a:srgbClr val="66FFFF"/>
                </a:solidFill>
                <a:latin typeface="宋体"/>
                <a:cs typeface="宋体"/>
              </a:rPr>
              <a:t> </a:t>
            </a:r>
            <a:r>
              <a:rPr dirty="0" baseline="-35185" sz="4500" b="1">
                <a:solidFill>
                  <a:srgbClr val="FFFFFF"/>
                </a:solidFill>
                <a:latin typeface="Times New Roman"/>
                <a:cs typeface="Times New Roman"/>
              </a:rPr>
              <a:t>6	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381761" y="5440679"/>
            <a:ext cx="443865" cy="114300"/>
          </a:xfrm>
          <a:custGeom>
            <a:avLst/>
            <a:gdLst/>
            <a:ahLst/>
            <a:cxnLst/>
            <a:rect l="l" t="t" r="r" b="b"/>
            <a:pathLst>
              <a:path w="443865" h="114300">
                <a:moveTo>
                  <a:pt x="329184" y="0"/>
                </a:moveTo>
                <a:lnTo>
                  <a:pt x="329184" y="114300"/>
                </a:lnTo>
                <a:lnTo>
                  <a:pt x="405384" y="76200"/>
                </a:lnTo>
                <a:lnTo>
                  <a:pt x="348234" y="76200"/>
                </a:lnTo>
                <a:lnTo>
                  <a:pt x="348234" y="38100"/>
                </a:lnTo>
                <a:lnTo>
                  <a:pt x="405384" y="38100"/>
                </a:lnTo>
                <a:lnTo>
                  <a:pt x="329184" y="0"/>
                </a:lnTo>
                <a:close/>
              </a:path>
              <a:path w="443865" h="114300">
                <a:moveTo>
                  <a:pt x="32918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29184" y="76200"/>
                </a:lnTo>
                <a:lnTo>
                  <a:pt x="329184" y="38100"/>
                </a:lnTo>
                <a:close/>
              </a:path>
              <a:path w="443865" h="114300">
                <a:moveTo>
                  <a:pt x="405384" y="38100"/>
                </a:moveTo>
                <a:lnTo>
                  <a:pt x="348234" y="38100"/>
                </a:lnTo>
                <a:lnTo>
                  <a:pt x="348234" y="76200"/>
                </a:lnTo>
                <a:lnTo>
                  <a:pt x="405384" y="76200"/>
                </a:lnTo>
                <a:lnTo>
                  <a:pt x="443484" y="57150"/>
                </a:lnTo>
                <a:lnTo>
                  <a:pt x="405384" y="381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5971794" y="1453133"/>
            <a:ext cx="464820" cy="436245"/>
          </a:xfrm>
          <a:custGeom>
            <a:avLst/>
            <a:gdLst/>
            <a:ahLst/>
            <a:cxnLst/>
            <a:rect l="l" t="t" r="r" b="b"/>
            <a:pathLst>
              <a:path w="464820" h="436244">
                <a:moveTo>
                  <a:pt x="0" y="217931"/>
                </a:moveTo>
                <a:lnTo>
                  <a:pt x="4720" y="174000"/>
                </a:lnTo>
                <a:lnTo>
                  <a:pt x="18258" y="133088"/>
                </a:lnTo>
                <a:lnTo>
                  <a:pt x="39681" y="96068"/>
                </a:lnTo>
                <a:lnTo>
                  <a:pt x="68056" y="63817"/>
                </a:lnTo>
                <a:lnTo>
                  <a:pt x="102449" y="37210"/>
                </a:lnTo>
                <a:lnTo>
                  <a:pt x="141928" y="17121"/>
                </a:lnTo>
                <a:lnTo>
                  <a:pt x="185559" y="4426"/>
                </a:lnTo>
                <a:lnTo>
                  <a:pt x="232409" y="0"/>
                </a:lnTo>
                <a:lnTo>
                  <a:pt x="279260" y="4426"/>
                </a:lnTo>
                <a:lnTo>
                  <a:pt x="322891" y="17121"/>
                </a:lnTo>
                <a:lnTo>
                  <a:pt x="362370" y="37210"/>
                </a:lnTo>
                <a:lnTo>
                  <a:pt x="396763" y="63817"/>
                </a:lnTo>
                <a:lnTo>
                  <a:pt x="425138" y="96068"/>
                </a:lnTo>
                <a:lnTo>
                  <a:pt x="446561" y="133088"/>
                </a:lnTo>
                <a:lnTo>
                  <a:pt x="460099" y="174000"/>
                </a:lnTo>
                <a:lnTo>
                  <a:pt x="464819" y="217931"/>
                </a:lnTo>
                <a:lnTo>
                  <a:pt x="460099" y="261863"/>
                </a:lnTo>
                <a:lnTo>
                  <a:pt x="446561" y="302775"/>
                </a:lnTo>
                <a:lnTo>
                  <a:pt x="425138" y="339795"/>
                </a:lnTo>
                <a:lnTo>
                  <a:pt x="396763" y="372046"/>
                </a:lnTo>
                <a:lnTo>
                  <a:pt x="362370" y="398653"/>
                </a:lnTo>
                <a:lnTo>
                  <a:pt x="322891" y="418742"/>
                </a:lnTo>
                <a:lnTo>
                  <a:pt x="279260" y="431437"/>
                </a:lnTo>
                <a:lnTo>
                  <a:pt x="232409" y="435863"/>
                </a:lnTo>
                <a:lnTo>
                  <a:pt x="185559" y="431437"/>
                </a:lnTo>
                <a:lnTo>
                  <a:pt x="141928" y="418742"/>
                </a:lnTo>
                <a:lnTo>
                  <a:pt x="102449" y="398653"/>
                </a:lnTo>
                <a:lnTo>
                  <a:pt x="68056" y="372046"/>
                </a:lnTo>
                <a:lnTo>
                  <a:pt x="39681" y="339795"/>
                </a:lnTo>
                <a:lnTo>
                  <a:pt x="18258" y="302775"/>
                </a:lnTo>
                <a:lnTo>
                  <a:pt x="4720" y="261863"/>
                </a:lnTo>
                <a:lnTo>
                  <a:pt x="0" y="21793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6097651" y="1405890"/>
            <a:ext cx="2159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6436614" y="1620647"/>
            <a:ext cx="567055" cy="85725"/>
          </a:xfrm>
          <a:custGeom>
            <a:avLst/>
            <a:gdLst/>
            <a:ahLst/>
            <a:cxnLst/>
            <a:rect l="l" t="t" r="r" b="b"/>
            <a:pathLst>
              <a:path w="567054" h="85725">
                <a:moveTo>
                  <a:pt x="481203" y="57146"/>
                </a:moveTo>
                <a:lnTo>
                  <a:pt x="481203" y="85725"/>
                </a:lnTo>
                <a:lnTo>
                  <a:pt x="538268" y="57150"/>
                </a:lnTo>
                <a:lnTo>
                  <a:pt x="481203" y="57146"/>
                </a:lnTo>
                <a:close/>
              </a:path>
              <a:path w="567054" h="85725">
                <a:moveTo>
                  <a:pt x="481203" y="28571"/>
                </a:moveTo>
                <a:lnTo>
                  <a:pt x="481203" y="57146"/>
                </a:lnTo>
                <a:lnTo>
                  <a:pt x="495427" y="57150"/>
                </a:lnTo>
                <a:lnTo>
                  <a:pt x="495427" y="28575"/>
                </a:lnTo>
                <a:lnTo>
                  <a:pt x="481203" y="28571"/>
                </a:lnTo>
                <a:close/>
              </a:path>
              <a:path w="567054" h="85725">
                <a:moveTo>
                  <a:pt x="481203" y="0"/>
                </a:moveTo>
                <a:lnTo>
                  <a:pt x="481203" y="28571"/>
                </a:lnTo>
                <a:lnTo>
                  <a:pt x="495427" y="28575"/>
                </a:lnTo>
                <a:lnTo>
                  <a:pt x="495427" y="57150"/>
                </a:lnTo>
                <a:lnTo>
                  <a:pt x="538275" y="57146"/>
                </a:lnTo>
                <a:lnTo>
                  <a:pt x="566928" y="42799"/>
                </a:lnTo>
                <a:lnTo>
                  <a:pt x="481203" y="0"/>
                </a:lnTo>
                <a:close/>
              </a:path>
              <a:path w="567054" h="85725">
                <a:moveTo>
                  <a:pt x="0" y="28448"/>
                </a:moveTo>
                <a:lnTo>
                  <a:pt x="0" y="57023"/>
                </a:lnTo>
                <a:lnTo>
                  <a:pt x="481203" y="57146"/>
                </a:lnTo>
                <a:lnTo>
                  <a:pt x="481203" y="28571"/>
                </a:lnTo>
                <a:lnTo>
                  <a:pt x="0" y="2844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6502146" y="1210132"/>
            <a:ext cx="21209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7003542" y="1439417"/>
            <a:ext cx="466725" cy="434340"/>
          </a:xfrm>
          <a:custGeom>
            <a:avLst/>
            <a:gdLst/>
            <a:ahLst/>
            <a:cxnLst/>
            <a:rect l="l" t="t" r="r" b="b"/>
            <a:pathLst>
              <a:path w="466725" h="434339">
                <a:moveTo>
                  <a:pt x="0" y="217170"/>
                </a:moveTo>
                <a:lnTo>
                  <a:pt x="4737" y="173417"/>
                </a:lnTo>
                <a:lnTo>
                  <a:pt x="18323" y="132659"/>
                </a:lnTo>
                <a:lnTo>
                  <a:pt x="39821" y="95770"/>
                </a:lnTo>
                <a:lnTo>
                  <a:pt x="68294" y="63626"/>
                </a:lnTo>
                <a:lnTo>
                  <a:pt x="102803" y="37102"/>
                </a:lnTo>
                <a:lnTo>
                  <a:pt x="142410" y="17073"/>
                </a:lnTo>
                <a:lnTo>
                  <a:pt x="186179" y="4414"/>
                </a:lnTo>
                <a:lnTo>
                  <a:pt x="233172" y="0"/>
                </a:lnTo>
                <a:lnTo>
                  <a:pt x="280164" y="4414"/>
                </a:lnTo>
                <a:lnTo>
                  <a:pt x="323933" y="17073"/>
                </a:lnTo>
                <a:lnTo>
                  <a:pt x="363540" y="37102"/>
                </a:lnTo>
                <a:lnTo>
                  <a:pt x="398049" y="63627"/>
                </a:lnTo>
                <a:lnTo>
                  <a:pt x="426522" y="95770"/>
                </a:lnTo>
                <a:lnTo>
                  <a:pt x="448020" y="132659"/>
                </a:lnTo>
                <a:lnTo>
                  <a:pt x="461606" y="173417"/>
                </a:lnTo>
                <a:lnTo>
                  <a:pt x="466343" y="217170"/>
                </a:lnTo>
                <a:lnTo>
                  <a:pt x="461606" y="260922"/>
                </a:lnTo>
                <a:lnTo>
                  <a:pt x="448020" y="301680"/>
                </a:lnTo>
                <a:lnTo>
                  <a:pt x="426522" y="338569"/>
                </a:lnTo>
                <a:lnTo>
                  <a:pt x="398049" y="370713"/>
                </a:lnTo>
                <a:lnTo>
                  <a:pt x="363540" y="397237"/>
                </a:lnTo>
                <a:lnTo>
                  <a:pt x="323933" y="417266"/>
                </a:lnTo>
                <a:lnTo>
                  <a:pt x="280164" y="429925"/>
                </a:lnTo>
                <a:lnTo>
                  <a:pt x="233172" y="434340"/>
                </a:lnTo>
                <a:lnTo>
                  <a:pt x="186179" y="429925"/>
                </a:lnTo>
                <a:lnTo>
                  <a:pt x="142410" y="417266"/>
                </a:lnTo>
                <a:lnTo>
                  <a:pt x="102803" y="397237"/>
                </a:lnTo>
                <a:lnTo>
                  <a:pt x="68294" y="370713"/>
                </a:lnTo>
                <a:lnTo>
                  <a:pt x="39821" y="338569"/>
                </a:lnTo>
                <a:lnTo>
                  <a:pt x="18323" y="301680"/>
                </a:lnTo>
                <a:lnTo>
                  <a:pt x="4737" y="260922"/>
                </a:lnTo>
                <a:lnTo>
                  <a:pt x="0" y="21717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7130288" y="1391539"/>
            <a:ext cx="2159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8314181" y="1453133"/>
            <a:ext cx="464820" cy="436245"/>
          </a:xfrm>
          <a:custGeom>
            <a:avLst/>
            <a:gdLst/>
            <a:ahLst/>
            <a:cxnLst/>
            <a:rect l="l" t="t" r="r" b="b"/>
            <a:pathLst>
              <a:path w="464820" h="436244">
                <a:moveTo>
                  <a:pt x="0" y="217931"/>
                </a:moveTo>
                <a:lnTo>
                  <a:pt x="4720" y="174000"/>
                </a:lnTo>
                <a:lnTo>
                  <a:pt x="18258" y="133088"/>
                </a:lnTo>
                <a:lnTo>
                  <a:pt x="39681" y="96068"/>
                </a:lnTo>
                <a:lnTo>
                  <a:pt x="68056" y="63817"/>
                </a:lnTo>
                <a:lnTo>
                  <a:pt x="102449" y="37210"/>
                </a:lnTo>
                <a:lnTo>
                  <a:pt x="141928" y="17121"/>
                </a:lnTo>
                <a:lnTo>
                  <a:pt x="185559" y="4426"/>
                </a:lnTo>
                <a:lnTo>
                  <a:pt x="232410" y="0"/>
                </a:lnTo>
                <a:lnTo>
                  <a:pt x="279260" y="4426"/>
                </a:lnTo>
                <a:lnTo>
                  <a:pt x="322891" y="17121"/>
                </a:lnTo>
                <a:lnTo>
                  <a:pt x="362370" y="37210"/>
                </a:lnTo>
                <a:lnTo>
                  <a:pt x="396763" y="63817"/>
                </a:lnTo>
                <a:lnTo>
                  <a:pt x="425138" y="96068"/>
                </a:lnTo>
                <a:lnTo>
                  <a:pt x="446561" y="133088"/>
                </a:lnTo>
                <a:lnTo>
                  <a:pt x="460099" y="174000"/>
                </a:lnTo>
                <a:lnTo>
                  <a:pt x="464820" y="217931"/>
                </a:lnTo>
                <a:lnTo>
                  <a:pt x="460099" y="261863"/>
                </a:lnTo>
                <a:lnTo>
                  <a:pt x="446561" y="302775"/>
                </a:lnTo>
                <a:lnTo>
                  <a:pt x="425138" y="339795"/>
                </a:lnTo>
                <a:lnTo>
                  <a:pt x="396763" y="372046"/>
                </a:lnTo>
                <a:lnTo>
                  <a:pt x="362370" y="398653"/>
                </a:lnTo>
                <a:lnTo>
                  <a:pt x="322891" y="418742"/>
                </a:lnTo>
                <a:lnTo>
                  <a:pt x="279260" y="431437"/>
                </a:lnTo>
                <a:lnTo>
                  <a:pt x="232410" y="435863"/>
                </a:lnTo>
                <a:lnTo>
                  <a:pt x="185559" y="431437"/>
                </a:lnTo>
                <a:lnTo>
                  <a:pt x="141928" y="418742"/>
                </a:lnTo>
                <a:lnTo>
                  <a:pt x="102449" y="398653"/>
                </a:lnTo>
                <a:lnTo>
                  <a:pt x="68056" y="372046"/>
                </a:lnTo>
                <a:lnTo>
                  <a:pt x="39681" y="339795"/>
                </a:lnTo>
                <a:lnTo>
                  <a:pt x="18258" y="302775"/>
                </a:lnTo>
                <a:lnTo>
                  <a:pt x="4720" y="261863"/>
                </a:lnTo>
                <a:lnTo>
                  <a:pt x="0" y="21793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8440673" y="1405890"/>
            <a:ext cx="2159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7469885" y="1628267"/>
            <a:ext cx="844550" cy="85725"/>
          </a:xfrm>
          <a:custGeom>
            <a:avLst/>
            <a:gdLst/>
            <a:ahLst/>
            <a:cxnLst/>
            <a:rect l="l" t="t" r="r" b="b"/>
            <a:pathLst>
              <a:path w="844550" h="85725">
                <a:moveTo>
                  <a:pt x="758571" y="57147"/>
                </a:moveTo>
                <a:lnTo>
                  <a:pt x="758571" y="85725"/>
                </a:lnTo>
                <a:lnTo>
                  <a:pt x="815636" y="57150"/>
                </a:lnTo>
                <a:lnTo>
                  <a:pt x="758571" y="57147"/>
                </a:lnTo>
                <a:close/>
              </a:path>
              <a:path w="844550" h="85725">
                <a:moveTo>
                  <a:pt x="758571" y="28572"/>
                </a:moveTo>
                <a:lnTo>
                  <a:pt x="758571" y="57147"/>
                </a:lnTo>
                <a:lnTo>
                  <a:pt x="772795" y="57150"/>
                </a:lnTo>
                <a:lnTo>
                  <a:pt x="772795" y="28575"/>
                </a:lnTo>
                <a:lnTo>
                  <a:pt x="758571" y="28572"/>
                </a:lnTo>
                <a:close/>
              </a:path>
              <a:path w="844550" h="85725">
                <a:moveTo>
                  <a:pt x="758571" y="0"/>
                </a:moveTo>
                <a:lnTo>
                  <a:pt x="758571" y="28572"/>
                </a:lnTo>
                <a:lnTo>
                  <a:pt x="772795" y="28575"/>
                </a:lnTo>
                <a:lnTo>
                  <a:pt x="772795" y="57150"/>
                </a:lnTo>
                <a:lnTo>
                  <a:pt x="815641" y="57147"/>
                </a:lnTo>
                <a:lnTo>
                  <a:pt x="844296" y="42799"/>
                </a:lnTo>
                <a:lnTo>
                  <a:pt x="758571" y="0"/>
                </a:lnTo>
                <a:close/>
              </a:path>
              <a:path w="844550" h="85725">
                <a:moveTo>
                  <a:pt x="0" y="28448"/>
                </a:moveTo>
                <a:lnTo>
                  <a:pt x="0" y="57023"/>
                </a:lnTo>
                <a:lnTo>
                  <a:pt x="758571" y="57147"/>
                </a:lnTo>
                <a:lnTo>
                  <a:pt x="758571" y="28572"/>
                </a:lnTo>
                <a:lnTo>
                  <a:pt x="0" y="2844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7777353" y="1262837"/>
            <a:ext cx="214629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8384285" y="2317242"/>
            <a:ext cx="464820" cy="434340"/>
          </a:xfrm>
          <a:custGeom>
            <a:avLst/>
            <a:gdLst/>
            <a:ahLst/>
            <a:cxnLst/>
            <a:rect l="l" t="t" r="r" b="b"/>
            <a:pathLst>
              <a:path w="464820" h="434339">
                <a:moveTo>
                  <a:pt x="0" y="217170"/>
                </a:moveTo>
                <a:lnTo>
                  <a:pt x="4720" y="173417"/>
                </a:lnTo>
                <a:lnTo>
                  <a:pt x="18258" y="132659"/>
                </a:lnTo>
                <a:lnTo>
                  <a:pt x="39681" y="95770"/>
                </a:lnTo>
                <a:lnTo>
                  <a:pt x="68056" y="63626"/>
                </a:lnTo>
                <a:lnTo>
                  <a:pt x="102449" y="37102"/>
                </a:lnTo>
                <a:lnTo>
                  <a:pt x="141928" y="17073"/>
                </a:lnTo>
                <a:lnTo>
                  <a:pt x="185559" y="4414"/>
                </a:lnTo>
                <a:lnTo>
                  <a:pt x="232410" y="0"/>
                </a:lnTo>
                <a:lnTo>
                  <a:pt x="279260" y="4414"/>
                </a:lnTo>
                <a:lnTo>
                  <a:pt x="322891" y="17073"/>
                </a:lnTo>
                <a:lnTo>
                  <a:pt x="362370" y="37102"/>
                </a:lnTo>
                <a:lnTo>
                  <a:pt x="396763" y="63627"/>
                </a:lnTo>
                <a:lnTo>
                  <a:pt x="425138" y="95770"/>
                </a:lnTo>
                <a:lnTo>
                  <a:pt x="446561" y="132659"/>
                </a:lnTo>
                <a:lnTo>
                  <a:pt x="460099" y="173417"/>
                </a:lnTo>
                <a:lnTo>
                  <a:pt x="464820" y="217170"/>
                </a:lnTo>
                <a:lnTo>
                  <a:pt x="460099" y="260922"/>
                </a:lnTo>
                <a:lnTo>
                  <a:pt x="446561" y="301680"/>
                </a:lnTo>
                <a:lnTo>
                  <a:pt x="425138" y="338569"/>
                </a:lnTo>
                <a:lnTo>
                  <a:pt x="396763" y="370713"/>
                </a:lnTo>
                <a:lnTo>
                  <a:pt x="362370" y="397237"/>
                </a:lnTo>
                <a:lnTo>
                  <a:pt x="322891" y="417266"/>
                </a:lnTo>
                <a:lnTo>
                  <a:pt x="279260" y="429925"/>
                </a:lnTo>
                <a:lnTo>
                  <a:pt x="232410" y="434340"/>
                </a:lnTo>
                <a:lnTo>
                  <a:pt x="185559" y="429925"/>
                </a:lnTo>
                <a:lnTo>
                  <a:pt x="141928" y="417266"/>
                </a:lnTo>
                <a:lnTo>
                  <a:pt x="102449" y="397237"/>
                </a:lnTo>
                <a:lnTo>
                  <a:pt x="68056" y="370713"/>
                </a:lnTo>
                <a:lnTo>
                  <a:pt x="39681" y="338569"/>
                </a:lnTo>
                <a:lnTo>
                  <a:pt x="18258" y="301680"/>
                </a:lnTo>
                <a:lnTo>
                  <a:pt x="4720" y="260922"/>
                </a:lnTo>
                <a:lnTo>
                  <a:pt x="0" y="217170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8528684" y="2327528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8455914" y="2378201"/>
            <a:ext cx="326390" cy="327660"/>
          </a:xfrm>
          <a:custGeom>
            <a:avLst/>
            <a:gdLst/>
            <a:ahLst/>
            <a:cxnLst/>
            <a:rect l="l" t="t" r="r" b="b"/>
            <a:pathLst>
              <a:path w="326390" h="327660">
                <a:moveTo>
                  <a:pt x="0" y="163830"/>
                </a:moveTo>
                <a:lnTo>
                  <a:pt x="5826" y="120297"/>
                </a:lnTo>
                <a:lnTo>
                  <a:pt x="22267" y="81167"/>
                </a:lnTo>
                <a:lnTo>
                  <a:pt x="47767" y="48005"/>
                </a:lnTo>
                <a:lnTo>
                  <a:pt x="80772" y="22380"/>
                </a:lnTo>
                <a:lnTo>
                  <a:pt x="119723" y="5856"/>
                </a:lnTo>
                <a:lnTo>
                  <a:pt x="163067" y="0"/>
                </a:lnTo>
                <a:lnTo>
                  <a:pt x="206412" y="5856"/>
                </a:lnTo>
                <a:lnTo>
                  <a:pt x="245363" y="22380"/>
                </a:lnTo>
                <a:lnTo>
                  <a:pt x="278368" y="48006"/>
                </a:lnTo>
                <a:lnTo>
                  <a:pt x="303868" y="81167"/>
                </a:lnTo>
                <a:lnTo>
                  <a:pt x="320309" y="120297"/>
                </a:lnTo>
                <a:lnTo>
                  <a:pt x="326135" y="163830"/>
                </a:lnTo>
                <a:lnTo>
                  <a:pt x="320309" y="207362"/>
                </a:lnTo>
                <a:lnTo>
                  <a:pt x="303868" y="246492"/>
                </a:lnTo>
                <a:lnTo>
                  <a:pt x="278368" y="279653"/>
                </a:lnTo>
                <a:lnTo>
                  <a:pt x="245363" y="305279"/>
                </a:lnTo>
                <a:lnTo>
                  <a:pt x="206412" y="321803"/>
                </a:lnTo>
                <a:lnTo>
                  <a:pt x="163067" y="327660"/>
                </a:lnTo>
                <a:lnTo>
                  <a:pt x="119723" y="321803"/>
                </a:lnTo>
                <a:lnTo>
                  <a:pt x="80771" y="305279"/>
                </a:lnTo>
                <a:lnTo>
                  <a:pt x="47767" y="279653"/>
                </a:lnTo>
                <a:lnTo>
                  <a:pt x="22267" y="246492"/>
                </a:lnTo>
                <a:lnTo>
                  <a:pt x="5826" y="207362"/>
                </a:lnTo>
                <a:lnTo>
                  <a:pt x="0" y="163830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7672578" y="563118"/>
            <a:ext cx="227965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591425" y="2086101"/>
            <a:ext cx="1714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7155942" y="994410"/>
            <a:ext cx="1507490" cy="481965"/>
          </a:xfrm>
          <a:custGeom>
            <a:avLst/>
            <a:gdLst/>
            <a:ahLst/>
            <a:cxnLst/>
            <a:rect l="l" t="t" r="r" b="b"/>
            <a:pathLst>
              <a:path w="1507490" h="481965">
                <a:moveTo>
                  <a:pt x="0" y="481584"/>
                </a:moveTo>
                <a:lnTo>
                  <a:pt x="1362" y="410426"/>
                </a:lnTo>
                <a:lnTo>
                  <a:pt x="5320" y="342508"/>
                </a:lnTo>
                <a:lnTo>
                  <a:pt x="11680" y="278574"/>
                </a:lnTo>
                <a:lnTo>
                  <a:pt x="20248" y="219371"/>
                </a:lnTo>
                <a:lnTo>
                  <a:pt x="30829" y="165643"/>
                </a:lnTo>
                <a:lnTo>
                  <a:pt x="43229" y="118135"/>
                </a:lnTo>
                <a:lnTo>
                  <a:pt x="57255" y="77594"/>
                </a:lnTo>
                <a:lnTo>
                  <a:pt x="89406" y="20392"/>
                </a:lnTo>
                <a:lnTo>
                  <a:pt x="125729" y="0"/>
                </a:lnTo>
                <a:lnTo>
                  <a:pt x="1381505" y="0"/>
                </a:lnTo>
                <a:lnTo>
                  <a:pt x="1417829" y="20392"/>
                </a:lnTo>
                <a:lnTo>
                  <a:pt x="1449980" y="77594"/>
                </a:lnTo>
                <a:lnTo>
                  <a:pt x="1464006" y="118135"/>
                </a:lnTo>
                <a:lnTo>
                  <a:pt x="1476406" y="165643"/>
                </a:lnTo>
                <a:lnTo>
                  <a:pt x="1486987" y="219371"/>
                </a:lnTo>
                <a:lnTo>
                  <a:pt x="1495555" y="278574"/>
                </a:lnTo>
                <a:lnTo>
                  <a:pt x="1501915" y="342508"/>
                </a:lnTo>
                <a:lnTo>
                  <a:pt x="1505873" y="410426"/>
                </a:lnTo>
                <a:lnTo>
                  <a:pt x="1507235" y="481584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7273290" y="1888998"/>
            <a:ext cx="0" cy="646430"/>
          </a:xfrm>
          <a:custGeom>
            <a:avLst/>
            <a:gdLst/>
            <a:ahLst/>
            <a:cxnLst/>
            <a:rect l="l" t="t" r="r" b="b"/>
            <a:pathLst>
              <a:path w="0" h="646430">
                <a:moveTo>
                  <a:pt x="0" y="0"/>
                </a:moveTo>
                <a:lnTo>
                  <a:pt x="0" y="646176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7273290" y="2478023"/>
            <a:ext cx="1111250" cy="114300"/>
          </a:xfrm>
          <a:custGeom>
            <a:avLst/>
            <a:gdLst/>
            <a:ahLst/>
            <a:cxnLst/>
            <a:rect l="l" t="t" r="r" b="b"/>
            <a:pathLst>
              <a:path w="1111250" h="114300">
                <a:moveTo>
                  <a:pt x="996695" y="0"/>
                </a:moveTo>
                <a:lnTo>
                  <a:pt x="996695" y="114300"/>
                </a:lnTo>
                <a:lnTo>
                  <a:pt x="1072895" y="76200"/>
                </a:lnTo>
                <a:lnTo>
                  <a:pt x="1015745" y="76200"/>
                </a:lnTo>
                <a:lnTo>
                  <a:pt x="1015745" y="38100"/>
                </a:lnTo>
                <a:lnTo>
                  <a:pt x="1072895" y="38100"/>
                </a:lnTo>
                <a:lnTo>
                  <a:pt x="996695" y="0"/>
                </a:lnTo>
                <a:close/>
              </a:path>
              <a:path w="1111250" h="114300">
                <a:moveTo>
                  <a:pt x="99669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96695" y="76200"/>
                </a:lnTo>
                <a:lnTo>
                  <a:pt x="996695" y="38100"/>
                </a:lnTo>
                <a:close/>
              </a:path>
              <a:path w="1111250" h="114300">
                <a:moveTo>
                  <a:pt x="1072895" y="38100"/>
                </a:moveTo>
                <a:lnTo>
                  <a:pt x="1015745" y="38100"/>
                </a:lnTo>
                <a:lnTo>
                  <a:pt x="1015745" y="76200"/>
                </a:lnTo>
                <a:lnTo>
                  <a:pt x="1072895" y="76200"/>
                </a:lnTo>
                <a:lnTo>
                  <a:pt x="1110995" y="57150"/>
                </a:lnTo>
                <a:lnTo>
                  <a:pt x="1072895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7117333" y="1223010"/>
            <a:ext cx="114046" cy="21513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732526" y="1606296"/>
            <a:ext cx="249936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/>
          <p:nvPr/>
        </p:nvSpPr>
        <p:spPr>
          <a:xfrm>
            <a:off x="264566" y="632536"/>
            <a:ext cx="17449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10" b="1" i="1">
                <a:solidFill>
                  <a:srgbClr val="66FFFF"/>
                </a:solidFill>
                <a:latin typeface="Times New Roman"/>
                <a:cs typeface="Times New Roman"/>
              </a:rPr>
              <a:t>E</a:t>
            </a:r>
            <a:r>
              <a:rPr dirty="0" sz="2800" spc="-10" b="1">
                <a:solidFill>
                  <a:srgbClr val="66FFFF"/>
                </a:solidFill>
                <a:latin typeface="Times New Roman"/>
                <a:cs typeface="Times New Roman"/>
              </a:rPr>
              <a:t>′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代入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E</a:t>
            </a:r>
            <a:r>
              <a:rPr dirty="0" sz="2800" spc="-70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66FFFF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9" name="object 7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87655" rIns="0" bIns="0" rtlCol="0" vert="horz">
            <a:spAutoFit/>
          </a:bodyPr>
          <a:lstStyle/>
          <a:p>
            <a:pPr lvl="1" marL="1626235" indent="-1031875">
              <a:lnSpc>
                <a:spcPct val="100000"/>
              </a:lnSpc>
              <a:spcBef>
                <a:spcPts val="2265"/>
              </a:spcBef>
              <a:buFont typeface="Times New Roman"/>
              <a:buAutoNum type="arabicPeriod"/>
              <a:tabLst>
                <a:tab pos="1626235" algn="l"/>
                <a:tab pos="1626870" algn="l"/>
              </a:tabLst>
            </a:pPr>
            <a:r>
              <a:rPr dirty="0" sz="3600" spc="-5" b="1">
                <a:solidFill>
                  <a:srgbClr val="FFFF66"/>
                </a:solidFill>
                <a:latin typeface="宋体"/>
                <a:cs typeface="宋体"/>
              </a:rPr>
              <a:t>语法分析综述</a:t>
            </a:r>
            <a:endParaRPr sz="3600">
              <a:latin typeface="宋体"/>
              <a:cs typeface="宋体"/>
            </a:endParaRPr>
          </a:p>
          <a:p>
            <a:pPr lvl="1" marL="1626235" indent="-1031875">
              <a:lnSpc>
                <a:spcPct val="100000"/>
              </a:lnSpc>
              <a:spcBef>
                <a:spcPts val="2160"/>
              </a:spcBef>
              <a:buFont typeface="Times New Roman"/>
              <a:buAutoNum type="arabicPeriod"/>
              <a:tabLst>
                <a:tab pos="1626235" algn="l"/>
                <a:tab pos="1626870" algn="l"/>
              </a:tabLst>
            </a:pPr>
            <a:r>
              <a:rPr dirty="0" sz="3600" spc="-5" b="1">
                <a:solidFill>
                  <a:srgbClr val="FFFF66"/>
                </a:solidFill>
                <a:latin typeface="宋体"/>
                <a:cs typeface="宋体"/>
              </a:rPr>
              <a:t>不确定的自上而下分析法</a:t>
            </a:r>
            <a:endParaRPr sz="3600">
              <a:latin typeface="宋体"/>
              <a:cs typeface="宋体"/>
            </a:endParaRPr>
          </a:p>
          <a:p>
            <a:pPr lvl="1" marL="1626235" indent="-1031875">
              <a:lnSpc>
                <a:spcPct val="100000"/>
              </a:lnSpc>
              <a:spcBef>
                <a:spcPts val="2165"/>
              </a:spcBef>
              <a:buFont typeface="Times New Roman"/>
              <a:buAutoNum type="arabicPeriod"/>
              <a:tabLst>
                <a:tab pos="1626235" algn="l"/>
                <a:tab pos="1626870" algn="l"/>
              </a:tabLst>
            </a:pPr>
            <a:r>
              <a:rPr dirty="0" sz="3600" spc="-5" b="1">
                <a:solidFill>
                  <a:srgbClr val="FFFF66"/>
                </a:solidFill>
                <a:latin typeface="宋体"/>
                <a:cs typeface="宋体"/>
              </a:rPr>
              <a:t>递归下降分析法与递归下降分析器</a:t>
            </a:r>
            <a:endParaRPr sz="3600">
              <a:latin typeface="宋体"/>
              <a:cs typeface="宋体"/>
            </a:endParaRPr>
          </a:p>
          <a:p>
            <a:pPr lvl="1" marL="1626235" indent="-1031875">
              <a:lnSpc>
                <a:spcPct val="100000"/>
              </a:lnSpc>
              <a:spcBef>
                <a:spcPts val="2160"/>
              </a:spcBef>
              <a:buAutoNum type="arabicPeriod"/>
              <a:tabLst>
                <a:tab pos="1626235" algn="l"/>
                <a:tab pos="1626870" algn="l"/>
              </a:tabLst>
            </a:pP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LL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(1)分析法</a:t>
            </a:r>
            <a:r>
              <a:rPr dirty="0" sz="3600" b="1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LL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(1)分析器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41910">
              <a:lnSpc>
                <a:spcPts val="5275"/>
              </a:lnSpc>
              <a:spcBef>
                <a:spcPts val="105"/>
              </a:spcBef>
              <a:tabLst>
                <a:tab pos="2281555" algn="l"/>
                <a:tab pos="6634480" algn="l"/>
              </a:tabLst>
            </a:pPr>
            <a:r>
              <a:rPr dirty="0" spc="-15">
                <a:latin typeface="黑体"/>
                <a:cs typeface="黑体"/>
              </a:rPr>
              <a:t>第</a:t>
            </a:r>
            <a:r>
              <a:rPr dirty="0" spc="-1115">
                <a:latin typeface="黑体"/>
                <a:cs typeface="黑体"/>
              </a:rPr>
              <a:t> </a:t>
            </a:r>
            <a:r>
              <a:rPr dirty="0"/>
              <a:t>4</a:t>
            </a:r>
            <a:r>
              <a:rPr dirty="0" spc="-5"/>
              <a:t> </a:t>
            </a:r>
            <a:r>
              <a:rPr dirty="0" spc="-15">
                <a:latin typeface="黑体"/>
                <a:cs typeface="黑体"/>
              </a:rPr>
              <a:t>章</a:t>
            </a:r>
            <a:r>
              <a:rPr dirty="0">
                <a:latin typeface="黑体"/>
                <a:cs typeface="黑体"/>
              </a:rPr>
              <a:t>	</a:t>
            </a:r>
            <a:r>
              <a:rPr dirty="0">
                <a:latin typeface="黑体"/>
                <a:cs typeface="黑体"/>
              </a:rPr>
              <a:t>语法</a:t>
            </a:r>
            <a:r>
              <a:rPr dirty="0" spc="-15">
                <a:latin typeface="黑体"/>
                <a:cs typeface="黑体"/>
              </a:rPr>
              <a:t>分</a:t>
            </a:r>
            <a:r>
              <a:rPr dirty="0" spc="10">
                <a:latin typeface="黑体"/>
                <a:cs typeface="黑体"/>
              </a:rPr>
              <a:t>析</a:t>
            </a:r>
            <a:r>
              <a:rPr dirty="0" spc="-20"/>
              <a:t>(</a:t>
            </a:r>
            <a:r>
              <a:rPr dirty="0"/>
              <a:t>Syntax</a:t>
            </a:r>
            <a:r>
              <a:rPr dirty="0"/>
              <a:t>	</a:t>
            </a:r>
            <a:r>
              <a:rPr dirty="0"/>
              <a:t>Analysis)</a:t>
            </a:r>
          </a:p>
          <a:p>
            <a:pPr marL="4221480">
              <a:lnSpc>
                <a:spcPts val="3595"/>
              </a:lnSpc>
            </a:pPr>
            <a:r>
              <a:rPr dirty="0" sz="3000">
                <a:latin typeface="Arial"/>
                <a:cs typeface="Arial"/>
              </a:rPr>
              <a:t>——</a:t>
            </a:r>
            <a:r>
              <a:rPr dirty="0" sz="3000" spc="40">
                <a:latin typeface="Arial"/>
                <a:cs typeface="Arial"/>
              </a:rPr>
              <a:t> </a:t>
            </a:r>
            <a:r>
              <a:rPr dirty="0" sz="2800" spc="-5">
                <a:latin typeface="宋体"/>
                <a:cs typeface="宋体"/>
              </a:rPr>
              <a:t>自上而下分析法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601973" y="11378"/>
            <a:ext cx="19443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4215" algn="l"/>
              </a:tabLst>
            </a:pPr>
            <a:r>
              <a:rPr dirty="0" sz="2400" spc="-1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h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10" b="1">
                <a:solidFill>
                  <a:srgbClr val="A15100"/>
                </a:solidFill>
                <a:latin typeface="华文新魏"/>
                <a:cs typeface="华文新魏"/>
              </a:rPr>
              <a:t>语法分析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3444" y="5029200"/>
            <a:ext cx="727075" cy="774700"/>
          </a:xfrm>
          <a:custGeom>
            <a:avLst/>
            <a:gdLst/>
            <a:ahLst/>
            <a:cxnLst/>
            <a:rect l="l" t="t" r="r" b="b"/>
            <a:pathLst>
              <a:path w="727075" h="774700">
                <a:moveTo>
                  <a:pt x="545211" y="0"/>
                </a:moveTo>
                <a:lnTo>
                  <a:pt x="545211" y="193548"/>
                </a:lnTo>
                <a:lnTo>
                  <a:pt x="0" y="193548"/>
                </a:lnTo>
                <a:lnTo>
                  <a:pt x="0" y="580644"/>
                </a:lnTo>
                <a:lnTo>
                  <a:pt x="545211" y="580644"/>
                </a:lnTo>
                <a:lnTo>
                  <a:pt x="545211" y="774191"/>
                </a:lnTo>
                <a:lnTo>
                  <a:pt x="726947" y="387096"/>
                </a:lnTo>
                <a:lnTo>
                  <a:pt x="545211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3444" y="5029200"/>
            <a:ext cx="727075" cy="774700"/>
          </a:xfrm>
          <a:custGeom>
            <a:avLst/>
            <a:gdLst/>
            <a:ahLst/>
            <a:cxnLst/>
            <a:rect l="l" t="t" r="r" b="b"/>
            <a:pathLst>
              <a:path w="727075" h="774700">
                <a:moveTo>
                  <a:pt x="726947" y="387096"/>
                </a:moveTo>
                <a:lnTo>
                  <a:pt x="545211" y="0"/>
                </a:lnTo>
                <a:lnTo>
                  <a:pt x="545211" y="193548"/>
                </a:lnTo>
                <a:lnTo>
                  <a:pt x="0" y="193548"/>
                </a:lnTo>
                <a:lnTo>
                  <a:pt x="0" y="580644"/>
                </a:lnTo>
                <a:lnTo>
                  <a:pt x="545211" y="580644"/>
                </a:lnTo>
                <a:lnTo>
                  <a:pt x="545211" y="774191"/>
                </a:lnTo>
                <a:lnTo>
                  <a:pt x="726947" y="387096"/>
                </a:lnTo>
                <a:close/>
              </a:path>
            </a:pathLst>
          </a:custGeom>
          <a:ln w="9525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1389" y="1890471"/>
            <a:ext cx="661924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08075" algn="l"/>
              </a:tabLst>
            </a:pPr>
            <a:r>
              <a:rPr dirty="0" sz="4000" spc="-5">
                <a:solidFill>
                  <a:srgbClr val="FFCC00"/>
                </a:solidFill>
              </a:rPr>
              <a:t>4.4	</a:t>
            </a:r>
            <a:r>
              <a:rPr dirty="0" sz="3600" spc="-5">
                <a:solidFill>
                  <a:srgbClr val="FFCC00"/>
                </a:solidFill>
              </a:rPr>
              <a:t>LL(1)</a:t>
            </a:r>
            <a:r>
              <a:rPr dirty="0" sz="3600" spc="-5">
                <a:solidFill>
                  <a:srgbClr val="FFCC00"/>
                </a:solidFill>
                <a:latin typeface="宋体"/>
                <a:cs typeface="宋体"/>
              </a:rPr>
              <a:t>分析法与</a:t>
            </a:r>
            <a:r>
              <a:rPr dirty="0" sz="3600" spc="-5">
                <a:solidFill>
                  <a:srgbClr val="FFCC00"/>
                </a:solidFill>
              </a:rPr>
              <a:t>LL(1)</a:t>
            </a:r>
            <a:r>
              <a:rPr dirty="0" sz="3600" spc="-5">
                <a:solidFill>
                  <a:srgbClr val="FFCC00"/>
                </a:solidFill>
                <a:latin typeface="宋体"/>
                <a:cs typeface="宋体"/>
              </a:rPr>
              <a:t>分析器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52041" y="2927349"/>
            <a:ext cx="6315710" cy="2616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lvl="2" marL="1489075" indent="-1477010">
              <a:lnSpc>
                <a:spcPct val="100000"/>
              </a:lnSpc>
              <a:spcBef>
                <a:spcPts val="95"/>
              </a:spcBef>
              <a:buClr>
                <a:srgbClr val="FFFF00"/>
              </a:buClr>
              <a:buSzPct val="111111"/>
              <a:buAutoNum type="arabicPeriod"/>
              <a:tabLst>
                <a:tab pos="1489075" algn="l"/>
                <a:tab pos="1489710" algn="l"/>
              </a:tabLst>
            </a:pP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LL(1)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分析器的逻辑结构</a:t>
            </a:r>
            <a:endParaRPr sz="3600">
              <a:latin typeface="宋体"/>
              <a:cs typeface="宋体"/>
            </a:endParaRPr>
          </a:p>
          <a:p>
            <a:pPr lvl="2" marL="1489075" indent="-1477010">
              <a:lnSpc>
                <a:spcPct val="100000"/>
              </a:lnSpc>
              <a:spcBef>
                <a:spcPts val="3365"/>
              </a:spcBef>
              <a:buClr>
                <a:srgbClr val="FFFF00"/>
              </a:buClr>
              <a:buSzPct val="111111"/>
              <a:buAutoNum type="arabicPeriod"/>
              <a:tabLst>
                <a:tab pos="1489075" algn="l"/>
                <a:tab pos="1489710" algn="l"/>
              </a:tabLst>
            </a:pP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LL(1)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分析器的构造</a:t>
            </a:r>
            <a:endParaRPr sz="3600">
              <a:latin typeface="宋体"/>
              <a:cs typeface="宋体"/>
            </a:endParaRPr>
          </a:p>
          <a:p>
            <a:pPr lvl="2" marL="1489075" indent="-1477010">
              <a:lnSpc>
                <a:spcPct val="100000"/>
              </a:lnSpc>
              <a:spcBef>
                <a:spcPts val="2640"/>
              </a:spcBef>
              <a:buClr>
                <a:srgbClr val="FFFF00"/>
              </a:buClr>
              <a:buSzPct val="111111"/>
              <a:buFont typeface="Times New Roman"/>
              <a:buAutoNum type="arabicPeriod"/>
              <a:tabLst>
                <a:tab pos="1489075" algn="l"/>
                <a:tab pos="1489710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关于</a:t>
            </a: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LL(1)</a:t>
            </a:r>
            <a:r>
              <a:rPr dirty="0" sz="3600" spc="-10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75485" y="26923"/>
            <a:ext cx="15589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970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60470" y="26923"/>
            <a:ext cx="353250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4.4</a:t>
            </a:r>
            <a:r>
              <a:rPr dirty="0" sz="2000" spc="4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分析法与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0791" y="3048000"/>
            <a:ext cx="1336675" cy="774700"/>
          </a:xfrm>
          <a:custGeom>
            <a:avLst/>
            <a:gdLst/>
            <a:ahLst/>
            <a:cxnLst/>
            <a:rect l="l" t="t" r="r" b="b"/>
            <a:pathLst>
              <a:path w="1336675" h="774700">
                <a:moveTo>
                  <a:pt x="1002664" y="0"/>
                </a:moveTo>
                <a:lnTo>
                  <a:pt x="1002664" y="193548"/>
                </a:lnTo>
                <a:lnTo>
                  <a:pt x="0" y="193548"/>
                </a:lnTo>
                <a:lnTo>
                  <a:pt x="0" y="580644"/>
                </a:lnTo>
                <a:lnTo>
                  <a:pt x="1002664" y="580644"/>
                </a:lnTo>
                <a:lnTo>
                  <a:pt x="1002664" y="774192"/>
                </a:lnTo>
                <a:lnTo>
                  <a:pt x="1336548" y="387096"/>
                </a:lnTo>
                <a:lnTo>
                  <a:pt x="1002664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40791" y="3048000"/>
            <a:ext cx="1336675" cy="774700"/>
          </a:xfrm>
          <a:custGeom>
            <a:avLst/>
            <a:gdLst/>
            <a:ahLst/>
            <a:cxnLst/>
            <a:rect l="l" t="t" r="r" b="b"/>
            <a:pathLst>
              <a:path w="1336675" h="774700">
                <a:moveTo>
                  <a:pt x="1336548" y="387096"/>
                </a:moveTo>
                <a:lnTo>
                  <a:pt x="1002664" y="0"/>
                </a:lnTo>
                <a:lnTo>
                  <a:pt x="1002664" y="193548"/>
                </a:lnTo>
                <a:lnTo>
                  <a:pt x="0" y="193548"/>
                </a:lnTo>
                <a:lnTo>
                  <a:pt x="0" y="580644"/>
                </a:lnTo>
                <a:lnTo>
                  <a:pt x="1002664" y="580644"/>
                </a:lnTo>
                <a:lnTo>
                  <a:pt x="1002664" y="774192"/>
                </a:lnTo>
                <a:lnTo>
                  <a:pt x="1336548" y="387096"/>
                </a:lnTo>
                <a:close/>
              </a:path>
            </a:pathLst>
          </a:custGeom>
          <a:ln w="9525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8596" y="2106167"/>
            <a:ext cx="501650" cy="0"/>
          </a:xfrm>
          <a:custGeom>
            <a:avLst/>
            <a:gdLst/>
            <a:ahLst/>
            <a:cxnLst/>
            <a:rect l="l" t="t" r="r" b="b"/>
            <a:pathLst>
              <a:path w="501650" h="0">
                <a:moveTo>
                  <a:pt x="0" y="0"/>
                </a:moveTo>
                <a:lnTo>
                  <a:pt x="501395" y="0"/>
                </a:lnTo>
              </a:path>
            </a:pathLst>
          </a:custGeom>
          <a:ln w="5715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86433" y="2106929"/>
            <a:ext cx="0" cy="2372995"/>
          </a:xfrm>
          <a:custGeom>
            <a:avLst/>
            <a:gdLst/>
            <a:ahLst/>
            <a:cxnLst/>
            <a:rect l="l" t="t" r="r" b="b"/>
            <a:pathLst>
              <a:path w="0" h="2372995">
                <a:moveTo>
                  <a:pt x="0" y="0"/>
                </a:moveTo>
                <a:lnTo>
                  <a:pt x="0" y="237286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86433" y="4422647"/>
            <a:ext cx="1341120" cy="114300"/>
          </a:xfrm>
          <a:custGeom>
            <a:avLst/>
            <a:gdLst/>
            <a:ahLst/>
            <a:cxnLst/>
            <a:rect l="l" t="t" r="r" b="b"/>
            <a:pathLst>
              <a:path w="1341120" h="114300">
                <a:moveTo>
                  <a:pt x="1150620" y="0"/>
                </a:moveTo>
                <a:lnTo>
                  <a:pt x="1150620" y="114300"/>
                </a:lnTo>
                <a:lnTo>
                  <a:pt x="1277620" y="76200"/>
                </a:lnTo>
                <a:lnTo>
                  <a:pt x="1169670" y="76200"/>
                </a:lnTo>
                <a:lnTo>
                  <a:pt x="1169670" y="38100"/>
                </a:lnTo>
                <a:lnTo>
                  <a:pt x="1277620" y="38100"/>
                </a:lnTo>
                <a:lnTo>
                  <a:pt x="1150620" y="0"/>
                </a:lnTo>
                <a:close/>
              </a:path>
              <a:path w="1341120" h="114300">
                <a:moveTo>
                  <a:pt x="115062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150620" y="76200"/>
                </a:lnTo>
                <a:lnTo>
                  <a:pt x="1150620" y="38100"/>
                </a:lnTo>
                <a:close/>
              </a:path>
              <a:path w="1341120" h="114300">
                <a:moveTo>
                  <a:pt x="1277620" y="38100"/>
                </a:moveTo>
                <a:lnTo>
                  <a:pt x="1169670" y="38100"/>
                </a:lnTo>
                <a:lnTo>
                  <a:pt x="1169670" y="76200"/>
                </a:lnTo>
                <a:lnTo>
                  <a:pt x="1277620" y="76200"/>
                </a:lnTo>
                <a:lnTo>
                  <a:pt x="1341120" y="57150"/>
                </a:lnTo>
                <a:lnTo>
                  <a:pt x="127762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74291" y="2125979"/>
            <a:ext cx="508000" cy="0"/>
          </a:xfrm>
          <a:custGeom>
            <a:avLst/>
            <a:gdLst/>
            <a:ahLst/>
            <a:cxnLst/>
            <a:rect l="l" t="t" r="r" b="b"/>
            <a:pathLst>
              <a:path w="508000" h="0">
                <a:moveTo>
                  <a:pt x="0" y="0"/>
                </a:moveTo>
                <a:lnTo>
                  <a:pt x="507491" y="0"/>
                </a:lnTo>
              </a:path>
            </a:pathLst>
          </a:custGeom>
          <a:ln w="5715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05177" y="2178557"/>
            <a:ext cx="0" cy="1483360"/>
          </a:xfrm>
          <a:custGeom>
            <a:avLst/>
            <a:gdLst/>
            <a:ahLst/>
            <a:cxnLst/>
            <a:rect l="l" t="t" r="r" b="b"/>
            <a:pathLst>
              <a:path w="0" h="1483360">
                <a:moveTo>
                  <a:pt x="0" y="0"/>
                </a:moveTo>
                <a:lnTo>
                  <a:pt x="0" y="1482852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805177" y="3604259"/>
            <a:ext cx="680085" cy="114300"/>
          </a:xfrm>
          <a:custGeom>
            <a:avLst/>
            <a:gdLst/>
            <a:ahLst/>
            <a:cxnLst/>
            <a:rect l="l" t="t" r="r" b="b"/>
            <a:pathLst>
              <a:path w="680085" h="114300">
                <a:moveTo>
                  <a:pt x="489204" y="0"/>
                </a:moveTo>
                <a:lnTo>
                  <a:pt x="489204" y="114300"/>
                </a:lnTo>
                <a:lnTo>
                  <a:pt x="616204" y="76200"/>
                </a:lnTo>
                <a:lnTo>
                  <a:pt x="508254" y="76200"/>
                </a:lnTo>
                <a:lnTo>
                  <a:pt x="508254" y="38100"/>
                </a:lnTo>
                <a:lnTo>
                  <a:pt x="616204" y="38100"/>
                </a:lnTo>
                <a:lnTo>
                  <a:pt x="489204" y="0"/>
                </a:lnTo>
                <a:close/>
              </a:path>
              <a:path w="680085" h="114300">
                <a:moveTo>
                  <a:pt x="48920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89204" y="76200"/>
                </a:lnTo>
                <a:lnTo>
                  <a:pt x="489204" y="38100"/>
                </a:lnTo>
                <a:close/>
              </a:path>
              <a:path w="680085" h="114300">
                <a:moveTo>
                  <a:pt x="616204" y="38100"/>
                </a:moveTo>
                <a:lnTo>
                  <a:pt x="508254" y="38100"/>
                </a:lnTo>
                <a:lnTo>
                  <a:pt x="508254" y="76200"/>
                </a:lnTo>
                <a:lnTo>
                  <a:pt x="616204" y="76200"/>
                </a:lnTo>
                <a:lnTo>
                  <a:pt x="679704" y="57150"/>
                </a:lnTo>
                <a:lnTo>
                  <a:pt x="616204" y="3810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153411" y="2142744"/>
            <a:ext cx="486409" cy="1905"/>
          </a:xfrm>
          <a:custGeom>
            <a:avLst/>
            <a:gdLst/>
            <a:ahLst/>
            <a:cxnLst/>
            <a:rect l="l" t="t" r="r" b="b"/>
            <a:pathLst>
              <a:path w="486410" h="1905">
                <a:moveTo>
                  <a:pt x="-28575" y="761"/>
                </a:moveTo>
                <a:lnTo>
                  <a:pt x="514730" y="761"/>
                </a:lnTo>
              </a:path>
            </a:pathLst>
          </a:custGeom>
          <a:ln w="58673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362961" y="2143505"/>
            <a:ext cx="1905" cy="422275"/>
          </a:xfrm>
          <a:custGeom>
            <a:avLst/>
            <a:gdLst/>
            <a:ahLst/>
            <a:cxnLst/>
            <a:rect l="l" t="t" r="r" b="b"/>
            <a:pathLst>
              <a:path w="1905" h="422275">
                <a:moveTo>
                  <a:pt x="0" y="0"/>
                </a:moveTo>
                <a:lnTo>
                  <a:pt x="1524" y="422148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362961" y="2509647"/>
            <a:ext cx="719455" cy="114300"/>
          </a:xfrm>
          <a:custGeom>
            <a:avLst/>
            <a:gdLst/>
            <a:ahLst/>
            <a:cxnLst/>
            <a:rect l="l" t="t" r="r" b="b"/>
            <a:pathLst>
              <a:path w="719455" h="114300">
                <a:moveTo>
                  <a:pt x="528785" y="76160"/>
                </a:moveTo>
                <a:lnTo>
                  <a:pt x="528701" y="114300"/>
                </a:lnTo>
                <a:lnTo>
                  <a:pt x="656638" y="76200"/>
                </a:lnTo>
                <a:lnTo>
                  <a:pt x="547877" y="76200"/>
                </a:lnTo>
                <a:lnTo>
                  <a:pt x="528785" y="76160"/>
                </a:lnTo>
                <a:close/>
              </a:path>
              <a:path w="719455" h="114300">
                <a:moveTo>
                  <a:pt x="528870" y="38060"/>
                </a:moveTo>
                <a:lnTo>
                  <a:pt x="528785" y="76160"/>
                </a:lnTo>
                <a:lnTo>
                  <a:pt x="547877" y="76200"/>
                </a:lnTo>
                <a:lnTo>
                  <a:pt x="547877" y="38100"/>
                </a:lnTo>
                <a:lnTo>
                  <a:pt x="528870" y="38060"/>
                </a:lnTo>
                <a:close/>
              </a:path>
              <a:path w="719455" h="114300">
                <a:moveTo>
                  <a:pt x="528955" y="0"/>
                </a:moveTo>
                <a:lnTo>
                  <a:pt x="528870" y="38060"/>
                </a:lnTo>
                <a:lnTo>
                  <a:pt x="547877" y="38100"/>
                </a:lnTo>
                <a:lnTo>
                  <a:pt x="547877" y="76200"/>
                </a:lnTo>
                <a:lnTo>
                  <a:pt x="656638" y="76200"/>
                </a:lnTo>
                <a:lnTo>
                  <a:pt x="719327" y="57530"/>
                </a:lnTo>
                <a:lnTo>
                  <a:pt x="528955" y="0"/>
                </a:lnTo>
                <a:close/>
              </a:path>
              <a:path w="719455" h="114300">
                <a:moveTo>
                  <a:pt x="0" y="36956"/>
                </a:moveTo>
                <a:lnTo>
                  <a:pt x="0" y="75056"/>
                </a:lnTo>
                <a:lnTo>
                  <a:pt x="528785" y="76160"/>
                </a:lnTo>
                <a:lnTo>
                  <a:pt x="528870" y="38060"/>
                </a:lnTo>
                <a:lnTo>
                  <a:pt x="0" y="369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05231" y="26923"/>
            <a:ext cx="15601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90089" y="26923"/>
            <a:ext cx="353250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4.4</a:t>
            </a:r>
            <a:r>
              <a:rPr dirty="0" sz="2000" spc="4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分析法与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48909" y="26923"/>
            <a:ext cx="28346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4.4.1</a:t>
            </a:r>
            <a:r>
              <a:rPr dirty="0" u="sng" sz="2000" spc="42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LL(1)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分析器的结构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664458" y="528066"/>
            <a:ext cx="4287520" cy="1140460"/>
          </a:xfrm>
          <a:custGeom>
            <a:avLst/>
            <a:gdLst/>
            <a:ahLst/>
            <a:cxnLst/>
            <a:rect l="l" t="t" r="r" b="b"/>
            <a:pathLst>
              <a:path w="4287520" h="1140460">
                <a:moveTo>
                  <a:pt x="2143505" y="0"/>
                </a:moveTo>
                <a:lnTo>
                  <a:pt x="2071316" y="317"/>
                </a:lnTo>
                <a:lnTo>
                  <a:pt x="1999724" y="1261"/>
                </a:lnTo>
                <a:lnTo>
                  <a:pt x="1928767" y="2824"/>
                </a:lnTo>
                <a:lnTo>
                  <a:pt x="1788907" y="7762"/>
                </a:lnTo>
                <a:lnTo>
                  <a:pt x="1652038" y="15051"/>
                </a:lnTo>
                <a:lnTo>
                  <a:pt x="1518458" y="24611"/>
                </a:lnTo>
                <a:lnTo>
                  <a:pt x="1388468" y="36363"/>
                </a:lnTo>
                <a:lnTo>
                  <a:pt x="1262369" y="50226"/>
                </a:lnTo>
                <a:lnTo>
                  <a:pt x="1200872" y="57925"/>
                </a:lnTo>
                <a:lnTo>
                  <a:pt x="1140460" y="66122"/>
                </a:lnTo>
                <a:lnTo>
                  <a:pt x="1081170" y="74806"/>
                </a:lnTo>
                <a:lnTo>
                  <a:pt x="1023041" y="83969"/>
                </a:lnTo>
                <a:lnTo>
                  <a:pt x="966110" y="93601"/>
                </a:lnTo>
                <a:lnTo>
                  <a:pt x="910413" y="103690"/>
                </a:lnTo>
                <a:lnTo>
                  <a:pt x="855990" y="114227"/>
                </a:lnTo>
                <a:lnTo>
                  <a:pt x="802876" y="125203"/>
                </a:lnTo>
                <a:lnTo>
                  <a:pt x="751111" y="136607"/>
                </a:lnTo>
                <a:lnTo>
                  <a:pt x="700731" y="148429"/>
                </a:lnTo>
                <a:lnTo>
                  <a:pt x="651773" y="160660"/>
                </a:lnTo>
                <a:lnTo>
                  <a:pt x="604276" y="173289"/>
                </a:lnTo>
                <a:lnTo>
                  <a:pt x="558277" y="186306"/>
                </a:lnTo>
                <a:lnTo>
                  <a:pt x="513813" y="199702"/>
                </a:lnTo>
                <a:lnTo>
                  <a:pt x="470922" y="213466"/>
                </a:lnTo>
                <a:lnTo>
                  <a:pt x="429642" y="227589"/>
                </a:lnTo>
                <a:lnTo>
                  <a:pt x="390009" y="242060"/>
                </a:lnTo>
                <a:lnTo>
                  <a:pt x="352062" y="256870"/>
                </a:lnTo>
                <a:lnTo>
                  <a:pt x="315838" y="272008"/>
                </a:lnTo>
                <a:lnTo>
                  <a:pt x="248708" y="303231"/>
                </a:lnTo>
                <a:lnTo>
                  <a:pt x="188921" y="335648"/>
                </a:lnTo>
                <a:lnTo>
                  <a:pt x="136776" y="369181"/>
                </a:lnTo>
                <a:lnTo>
                  <a:pt x="92574" y="403748"/>
                </a:lnTo>
                <a:lnTo>
                  <a:pt x="56614" y="439271"/>
                </a:lnTo>
                <a:lnTo>
                  <a:pt x="29197" y="475670"/>
                </a:lnTo>
                <a:lnTo>
                  <a:pt x="10623" y="512865"/>
                </a:lnTo>
                <a:lnTo>
                  <a:pt x="1192" y="550776"/>
                </a:lnTo>
                <a:lnTo>
                  <a:pt x="0" y="569976"/>
                </a:lnTo>
                <a:lnTo>
                  <a:pt x="1192" y="589175"/>
                </a:lnTo>
                <a:lnTo>
                  <a:pt x="10623" y="627086"/>
                </a:lnTo>
                <a:lnTo>
                  <a:pt x="29197" y="664281"/>
                </a:lnTo>
                <a:lnTo>
                  <a:pt x="56614" y="700680"/>
                </a:lnTo>
                <a:lnTo>
                  <a:pt x="92574" y="736203"/>
                </a:lnTo>
                <a:lnTo>
                  <a:pt x="136776" y="770770"/>
                </a:lnTo>
                <a:lnTo>
                  <a:pt x="188921" y="804303"/>
                </a:lnTo>
                <a:lnTo>
                  <a:pt x="248708" y="836720"/>
                </a:lnTo>
                <a:lnTo>
                  <a:pt x="315838" y="867943"/>
                </a:lnTo>
                <a:lnTo>
                  <a:pt x="352062" y="883081"/>
                </a:lnTo>
                <a:lnTo>
                  <a:pt x="390009" y="897891"/>
                </a:lnTo>
                <a:lnTo>
                  <a:pt x="429642" y="912362"/>
                </a:lnTo>
                <a:lnTo>
                  <a:pt x="470922" y="926485"/>
                </a:lnTo>
                <a:lnTo>
                  <a:pt x="513813" y="940249"/>
                </a:lnTo>
                <a:lnTo>
                  <a:pt x="558277" y="953645"/>
                </a:lnTo>
                <a:lnTo>
                  <a:pt x="604276" y="966662"/>
                </a:lnTo>
                <a:lnTo>
                  <a:pt x="651773" y="979291"/>
                </a:lnTo>
                <a:lnTo>
                  <a:pt x="700731" y="991522"/>
                </a:lnTo>
                <a:lnTo>
                  <a:pt x="751111" y="1003344"/>
                </a:lnTo>
                <a:lnTo>
                  <a:pt x="802876" y="1014748"/>
                </a:lnTo>
                <a:lnTo>
                  <a:pt x="855990" y="1025724"/>
                </a:lnTo>
                <a:lnTo>
                  <a:pt x="910413" y="1036261"/>
                </a:lnTo>
                <a:lnTo>
                  <a:pt x="966110" y="1046350"/>
                </a:lnTo>
                <a:lnTo>
                  <a:pt x="1023041" y="1055982"/>
                </a:lnTo>
                <a:lnTo>
                  <a:pt x="1081170" y="1065145"/>
                </a:lnTo>
                <a:lnTo>
                  <a:pt x="1140460" y="1073829"/>
                </a:lnTo>
                <a:lnTo>
                  <a:pt x="1200872" y="1082026"/>
                </a:lnTo>
                <a:lnTo>
                  <a:pt x="1262369" y="1089725"/>
                </a:lnTo>
                <a:lnTo>
                  <a:pt x="1388468" y="1103588"/>
                </a:lnTo>
                <a:lnTo>
                  <a:pt x="1518458" y="1115340"/>
                </a:lnTo>
                <a:lnTo>
                  <a:pt x="1652038" y="1124900"/>
                </a:lnTo>
                <a:lnTo>
                  <a:pt x="1788907" y="1132189"/>
                </a:lnTo>
                <a:lnTo>
                  <a:pt x="1928767" y="1137127"/>
                </a:lnTo>
                <a:lnTo>
                  <a:pt x="1999724" y="1138690"/>
                </a:lnTo>
                <a:lnTo>
                  <a:pt x="2071316" y="1139634"/>
                </a:lnTo>
                <a:lnTo>
                  <a:pt x="2143505" y="1139952"/>
                </a:lnTo>
                <a:lnTo>
                  <a:pt x="2287287" y="1138690"/>
                </a:lnTo>
                <a:lnTo>
                  <a:pt x="2428529" y="1134957"/>
                </a:lnTo>
                <a:lnTo>
                  <a:pt x="2566931" y="1128834"/>
                </a:lnTo>
                <a:lnTo>
                  <a:pt x="2702193" y="1120399"/>
                </a:lnTo>
                <a:lnTo>
                  <a:pt x="2834016" y="1109733"/>
                </a:lnTo>
                <a:lnTo>
                  <a:pt x="2962098" y="1096916"/>
                </a:lnTo>
                <a:lnTo>
                  <a:pt x="3024642" y="1089725"/>
                </a:lnTo>
                <a:lnTo>
                  <a:pt x="3086139" y="1082026"/>
                </a:lnTo>
                <a:lnTo>
                  <a:pt x="3146551" y="1073829"/>
                </a:lnTo>
                <a:lnTo>
                  <a:pt x="3205841" y="1065145"/>
                </a:lnTo>
                <a:lnTo>
                  <a:pt x="3263970" y="1055982"/>
                </a:lnTo>
                <a:lnTo>
                  <a:pt x="3320901" y="1046350"/>
                </a:lnTo>
                <a:lnTo>
                  <a:pt x="3376598" y="1036261"/>
                </a:lnTo>
                <a:lnTo>
                  <a:pt x="3431021" y="1025724"/>
                </a:lnTo>
                <a:lnTo>
                  <a:pt x="3484135" y="1014748"/>
                </a:lnTo>
                <a:lnTo>
                  <a:pt x="3535900" y="1003344"/>
                </a:lnTo>
                <a:lnTo>
                  <a:pt x="3586280" y="991522"/>
                </a:lnTo>
                <a:lnTo>
                  <a:pt x="3635238" y="979291"/>
                </a:lnTo>
                <a:lnTo>
                  <a:pt x="3682735" y="966662"/>
                </a:lnTo>
                <a:lnTo>
                  <a:pt x="3728734" y="953645"/>
                </a:lnTo>
                <a:lnTo>
                  <a:pt x="3773198" y="940249"/>
                </a:lnTo>
                <a:lnTo>
                  <a:pt x="3816089" y="926485"/>
                </a:lnTo>
                <a:lnTo>
                  <a:pt x="3857369" y="912362"/>
                </a:lnTo>
                <a:lnTo>
                  <a:pt x="3897002" y="897891"/>
                </a:lnTo>
                <a:lnTo>
                  <a:pt x="3934949" y="883081"/>
                </a:lnTo>
                <a:lnTo>
                  <a:pt x="3971173" y="867943"/>
                </a:lnTo>
                <a:lnTo>
                  <a:pt x="4038303" y="836720"/>
                </a:lnTo>
                <a:lnTo>
                  <a:pt x="4098090" y="804303"/>
                </a:lnTo>
                <a:lnTo>
                  <a:pt x="4150235" y="770770"/>
                </a:lnTo>
                <a:lnTo>
                  <a:pt x="4194437" y="736203"/>
                </a:lnTo>
                <a:lnTo>
                  <a:pt x="4230397" y="700680"/>
                </a:lnTo>
                <a:lnTo>
                  <a:pt x="4257814" y="664281"/>
                </a:lnTo>
                <a:lnTo>
                  <a:pt x="4276388" y="627086"/>
                </a:lnTo>
                <a:lnTo>
                  <a:pt x="4285819" y="589175"/>
                </a:lnTo>
                <a:lnTo>
                  <a:pt x="4287012" y="569976"/>
                </a:lnTo>
                <a:lnTo>
                  <a:pt x="4285819" y="550776"/>
                </a:lnTo>
                <a:lnTo>
                  <a:pt x="4276388" y="512865"/>
                </a:lnTo>
                <a:lnTo>
                  <a:pt x="4257814" y="475670"/>
                </a:lnTo>
                <a:lnTo>
                  <a:pt x="4230397" y="439271"/>
                </a:lnTo>
                <a:lnTo>
                  <a:pt x="4194437" y="403748"/>
                </a:lnTo>
                <a:lnTo>
                  <a:pt x="4150235" y="369181"/>
                </a:lnTo>
                <a:lnTo>
                  <a:pt x="4098090" y="335648"/>
                </a:lnTo>
                <a:lnTo>
                  <a:pt x="4038303" y="303231"/>
                </a:lnTo>
                <a:lnTo>
                  <a:pt x="3971173" y="272008"/>
                </a:lnTo>
                <a:lnTo>
                  <a:pt x="3934949" y="256870"/>
                </a:lnTo>
                <a:lnTo>
                  <a:pt x="3897002" y="242060"/>
                </a:lnTo>
                <a:lnTo>
                  <a:pt x="3857369" y="227589"/>
                </a:lnTo>
                <a:lnTo>
                  <a:pt x="3816089" y="213466"/>
                </a:lnTo>
                <a:lnTo>
                  <a:pt x="3773198" y="199702"/>
                </a:lnTo>
                <a:lnTo>
                  <a:pt x="3728734" y="186306"/>
                </a:lnTo>
                <a:lnTo>
                  <a:pt x="3682735" y="173289"/>
                </a:lnTo>
                <a:lnTo>
                  <a:pt x="3635238" y="160660"/>
                </a:lnTo>
                <a:lnTo>
                  <a:pt x="3586280" y="148429"/>
                </a:lnTo>
                <a:lnTo>
                  <a:pt x="3535900" y="136607"/>
                </a:lnTo>
                <a:lnTo>
                  <a:pt x="3484135" y="125203"/>
                </a:lnTo>
                <a:lnTo>
                  <a:pt x="3431021" y="114227"/>
                </a:lnTo>
                <a:lnTo>
                  <a:pt x="3376598" y="103690"/>
                </a:lnTo>
                <a:lnTo>
                  <a:pt x="3320901" y="93601"/>
                </a:lnTo>
                <a:lnTo>
                  <a:pt x="3263970" y="83969"/>
                </a:lnTo>
                <a:lnTo>
                  <a:pt x="3205841" y="74806"/>
                </a:lnTo>
                <a:lnTo>
                  <a:pt x="3146551" y="66122"/>
                </a:lnTo>
                <a:lnTo>
                  <a:pt x="3086139" y="57925"/>
                </a:lnTo>
                <a:lnTo>
                  <a:pt x="3024642" y="50226"/>
                </a:lnTo>
                <a:lnTo>
                  <a:pt x="2898543" y="36363"/>
                </a:lnTo>
                <a:lnTo>
                  <a:pt x="2768553" y="24611"/>
                </a:lnTo>
                <a:lnTo>
                  <a:pt x="2634973" y="15051"/>
                </a:lnTo>
                <a:lnTo>
                  <a:pt x="2498104" y="7762"/>
                </a:lnTo>
                <a:lnTo>
                  <a:pt x="2358244" y="2824"/>
                </a:lnTo>
                <a:lnTo>
                  <a:pt x="2215695" y="317"/>
                </a:lnTo>
                <a:lnTo>
                  <a:pt x="2143505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664458" y="528066"/>
            <a:ext cx="4287520" cy="1140460"/>
          </a:xfrm>
          <a:custGeom>
            <a:avLst/>
            <a:gdLst/>
            <a:ahLst/>
            <a:cxnLst/>
            <a:rect l="l" t="t" r="r" b="b"/>
            <a:pathLst>
              <a:path w="4287520" h="1140460">
                <a:moveTo>
                  <a:pt x="0" y="569976"/>
                </a:moveTo>
                <a:lnTo>
                  <a:pt x="4746" y="531736"/>
                </a:lnTo>
                <a:lnTo>
                  <a:pt x="18786" y="494173"/>
                </a:lnTo>
                <a:lnTo>
                  <a:pt x="41819" y="457366"/>
                </a:lnTo>
                <a:lnTo>
                  <a:pt x="73545" y="421395"/>
                </a:lnTo>
                <a:lnTo>
                  <a:pt x="113663" y="386340"/>
                </a:lnTo>
                <a:lnTo>
                  <a:pt x="161875" y="352280"/>
                </a:lnTo>
                <a:lnTo>
                  <a:pt x="217878" y="319295"/>
                </a:lnTo>
                <a:lnTo>
                  <a:pt x="281374" y="287465"/>
                </a:lnTo>
                <a:lnTo>
                  <a:pt x="352062" y="256870"/>
                </a:lnTo>
                <a:lnTo>
                  <a:pt x="390009" y="242060"/>
                </a:lnTo>
                <a:lnTo>
                  <a:pt x="429642" y="227589"/>
                </a:lnTo>
                <a:lnTo>
                  <a:pt x="470922" y="213466"/>
                </a:lnTo>
                <a:lnTo>
                  <a:pt x="513813" y="199702"/>
                </a:lnTo>
                <a:lnTo>
                  <a:pt x="558277" y="186306"/>
                </a:lnTo>
                <a:lnTo>
                  <a:pt x="604276" y="173289"/>
                </a:lnTo>
                <a:lnTo>
                  <a:pt x="651773" y="160660"/>
                </a:lnTo>
                <a:lnTo>
                  <a:pt x="700731" y="148429"/>
                </a:lnTo>
                <a:lnTo>
                  <a:pt x="751111" y="136607"/>
                </a:lnTo>
                <a:lnTo>
                  <a:pt x="802876" y="125203"/>
                </a:lnTo>
                <a:lnTo>
                  <a:pt x="855990" y="114227"/>
                </a:lnTo>
                <a:lnTo>
                  <a:pt x="910413" y="103690"/>
                </a:lnTo>
                <a:lnTo>
                  <a:pt x="966110" y="93601"/>
                </a:lnTo>
                <a:lnTo>
                  <a:pt x="1023041" y="83969"/>
                </a:lnTo>
                <a:lnTo>
                  <a:pt x="1081170" y="74806"/>
                </a:lnTo>
                <a:lnTo>
                  <a:pt x="1140460" y="66122"/>
                </a:lnTo>
                <a:lnTo>
                  <a:pt x="1200872" y="57925"/>
                </a:lnTo>
                <a:lnTo>
                  <a:pt x="1262369" y="50226"/>
                </a:lnTo>
                <a:lnTo>
                  <a:pt x="1324913" y="43035"/>
                </a:lnTo>
                <a:lnTo>
                  <a:pt x="1388468" y="36363"/>
                </a:lnTo>
                <a:lnTo>
                  <a:pt x="1452995" y="30218"/>
                </a:lnTo>
                <a:lnTo>
                  <a:pt x="1518458" y="24611"/>
                </a:lnTo>
                <a:lnTo>
                  <a:pt x="1584818" y="19552"/>
                </a:lnTo>
                <a:lnTo>
                  <a:pt x="1652038" y="15051"/>
                </a:lnTo>
                <a:lnTo>
                  <a:pt x="1720080" y="11117"/>
                </a:lnTo>
                <a:lnTo>
                  <a:pt x="1788907" y="7762"/>
                </a:lnTo>
                <a:lnTo>
                  <a:pt x="1858482" y="4994"/>
                </a:lnTo>
                <a:lnTo>
                  <a:pt x="1928767" y="2824"/>
                </a:lnTo>
                <a:lnTo>
                  <a:pt x="1999724" y="1261"/>
                </a:lnTo>
                <a:lnTo>
                  <a:pt x="2071316" y="317"/>
                </a:lnTo>
                <a:lnTo>
                  <a:pt x="2143505" y="0"/>
                </a:lnTo>
                <a:lnTo>
                  <a:pt x="2215695" y="317"/>
                </a:lnTo>
                <a:lnTo>
                  <a:pt x="2287287" y="1261"/>
                </a:lnTo>
                <a:lnTo>
                  <a:pt x="2358244" y="2824"/>
                </a:lnTo>
                <a:lnTo>
                  <a:pt x="2428529" y="4994"/>
                </a:lnTo>
                <a:lnTo>
                  <a:pt x="2498104" y="7762"/>
                </a:lnTo>
                <a:lnTo>
                  <a:pt x="2566931" y="11117"/>
                </a:lnTo>
                <a:lnTo>
                  <a:pt x="2634973" y="15051"/>
                </a:lnTo>
                <a:lnTo>
                  <a:pt x="2702193" y="19552"/>
                </a:lnTo>
                <a:lnTo>
                  <a:pt x="2768553" y="24611"/>
                </a:lnTo>
                <a:lnTo>
                  <a:pt x="2834016" y="30218"/>
                </a:lnTo>
                <a:lnTo>
                  <a:pt x="2898543" y="36363"/>
                </a:lnTo>
                <a:lnTo>
                  <a:pt x="2962098" y="43035"/>
                </a:lnTo>
                <a:lnTo>
                  <a:pt x="3024642" y="50226"/>
                </a:lnTo>
                <a:lnTo>
                  <a:pt x="3086139" y="57925"/>
                </a:lnTo>
                <a:lnTo>
                  <a:pt x="3146551" y="66122"/>
                </a:lnTo>
                <a:lnTo>
                  <a:pt x="3205841" y="74806"/>
                </a:lnTo>
                <a:lnTo>
                  <a:pt x="3263970" y="83969"/>
                </a:lnTo>
                <a:lnTo>
                  <a:pt x="3320901" y="93601"/>
                </a:lnTo>
                <a:lnTo>
                  <a:pt x="3376598" y="103690"/>
                </a:lnTo>
                <a:lnTo>
                  <a:pt x="3431021" y="114227"/>
                </a:lnTo>
                <a:lnTo>
                  <a:pt x="3484135" y="125203"/>
                </a:lnTo>
                <a:lnTo>
                  <a:pt x="3535900" y="136607"/>
                </a:lnTo>
                <a:lnTo>
                  <a:pt x="3586280" y="148429"/>
                </a:lnTo>
                <a:lnTo>
                  <a:pt x="3635238" y="160660"/>
                </a:lnTo>
                <a:lnTo>
                  <a:pt x="3682735" y="173289"/>
                </a:lnTo>
                <a:lnTo>
                  <a:pt x="3728734" y="186306"/>
                </a:lnTo>
                <a:lnTo>
                  <a:pt x="3773198" y="199702"/>
                </a:lnTo>
                <a:lnTo>
                  <a:pt x="3816089" y="213466"/>
                </a:lnTo>
                <a:lnTo>
                  <a:pt x="3857369" y="227589"/>
                </a:lnTo>
                <a:lnTo>
                  <a:pt x="3897002" y="242060"/>
                </a:lnTo>
                <a:lnTo>
                  <a:pt x="3934949" y="256870"/>
                </a:lnTo>
                <a:lnTo>
                  <a:pt x="3971173" y="272008"/>
                </a:lnTo>
                <a:lnTo>
                  <a:pt x="4038303" y="303231"/>
                </a:lnTo>
                <a:lnTo>
                  <a:pt x="4098090" y="335648"/>
                </a:lnTo>
                <a:lnTo>
                  <a:pt x="4150235" y="369181"/>
                </a:lnTo>
                <a:lnTo>
                  <a:pt x="4194437" y="403748"/>
                </a:lnTo>
                <a:lnTo>
                  <a:pt x="4230397" y="439271"/>
                </a:lnTo>
                <a:lnTo>
                  <a:pt x="4257814" y="475670"/>
                </a:lnTo>
                <a:lnTo>
                  <a:pt x="4276388" y="512865"/>
                </a:lnTo>
                <a:lnTo>
                  <a:pt x="4285819" y="550776"/>
                </a:lnTo>
                <a:lnTo>
                  <a:pt x="4287012" y="569976"/>
                </a:lnTo>
                <a:lnTo>
                  <a:pt x="4285819" y="589175"/>
                </a:lnTo>
                <a:lnTo>
                  <a:pt x="4276388" y="627086"/>
                </a:lnTo>
                <a:lnTo>
                  <a:pt x="4257814" y="664281"/>
                </a:lnTo>
                <a:lnTo>
                  <a:pt x="4230397" y="700680"/>
                </a:lnTo>
                <a:lnTo>
                  <a:pt x="4194437" y="736203"/>
                </a:lnTo>
                <a:lnTo>
                  <a:pt x="4150235" y="770770"/>
                </a:lnTo>
                <a:lnTo>
                  <a:pt x="4098090" y="804303"/>
                </a:lnTo>
                <a:lnTo>
                  <a:pt x="4038303" y="836720"/>
                </a:lnTo>
                <a:lnTo>
                  <a:pt x="3971173" y="867943"/>
                </a:lnTo>
                <a:lnTo>
                  <a:pt x="3934949" y="883081"/>
                </a:lnTo>
                <a:lnTo>
                  <a:pt x="3897002" y="897891"/>
                </a:lnTo>
                <a:lnTo>
                  <a:pt x="3857369" y="912362"/>
                </a:lnTo>
                <a:lnTo>
                  <a:pt x="3816089" y="926485"/>
                </a:lnTo>
                <a:lnTo>
                  <a:pt x="3773198" y="940249"/>
                </a:lnTo>
                <a:lnTo>
                  <a:pt x="3728734" y="953645"/>
                </a:lnTo>
                <a:lnTo>
                  <a:pt x="3682735" y="966662"/>
                </a:lnTo>
                <a:lnTo>
                  <a:pt x="3635238" y="979291"/>
                </a:lnTo>
                <a:lnTo>
                  <a:pt x="3586280" y="991522"/>
                </a:lnTo>
                <a:lnTo>
                  <a:pt x="3535900" y="1003344"/>
                </a:lnTo>
                <a:lnTo>
                  <a:pt x="3484135" y="1014748"/>
                </a:lnTo>
                <a:lnTo>
                  <a:pt x="3431021" y="1025724"/>
                </a:lnTo>
                <a:lnTo>
                  <a:pt x="3376598" y="1036261"/>
                </a:lnTo>
                <a:lnTo>
                  <a:pt x="3320901" y="1046350"/>
                </a:lnTo>
                <a:lnTo>
                  <a:pt x="3263970" y="1055982"/>
                </a:lnTo>
                <a:lnTo>
                  <a:pt x="3205841" y="1065145"/>
                </a:lnTo>
                <a:lnTo>
                  <a:pt x="3146551" y="1073829"/>
                </a:lnTo>
                <a:lnTo>
                  <a:pt x="3086139" y="1082026"/>
                </a:lnTo>
                <a:lnTo>
                  <a:pt x="3024642" y="1089725"/>
                </a:lnTo>
                <a:lnTo>
                  <a:pt x="2962098" y="1096916"/>
                </a:lnTo>
                <a:lnTo>
                  <a:pt x="2898543" y="1103588"/>
                </a:lnTo>
                <a:lnTo>
                  <a:pt x="2834016" y="1109733"/>
                </a:lnTo>
                <a:lnTo>
                  <a:pt x="2768553" y="1115340"/>
                </a:lnTo>
                <a:lnTo>
                  <a:pt x="2702193" y="1120399"/>
                </a:lnTo>
                <a:lnTo>
                  <a:pt x="2634973" y="1124900"/>
                </a:lnTo>
                <a:lnTo>
                  <a:pt x="2566931" y="1128834"/>
                </a:lnTo>
                <a:lnTo>
                  <a:pt x="2498104" y="1132189"/>
                </a:lnTo>
                <a:lnTo>
                  <a:pt x="2428529" y="1134957"/>
                </a:lnTo>
                <a:lnTo>
                  <a:pt x="2358244" y="1137127"/>
                </a:lnTo>
                <a:lnTo>
                  <a:pt x="2287287" y="1138690"/>
                </a:lnTo>
                <a:lnTo>
                  <a:pt x="2215695" y="1139634"/>
                </a:lnTo>
                <a:lnTo>
                  <a:pt x="2143505" y="1139952"/>
                </a:lnTo>
                <a:lnTo>
                  <a:pt x="2071316" y="1139634"/>
                </a:lnTo>
                <a:lnTo>
                  <a:pt x="1999724" y="1138690"/>
                </a:lnTo>
                <a:lnTo>
                  <a:pt x="1928767" y="1137127"/>
                </a:lnTo>
                <a:lnTo>
                  <a:pt x="1858482" y="1134957"/>
                </a:lnTo>
                <a:lnTo>
                  <a:pt x="1788907" y="1132189"/>
                </a:lnTo>
                <a:lnTo>
                  <a:pt x="1720080" y="1128834"/>
                </a:lnTo>
                <a:lnTo>
                  <a:pt x="1652038" y="1124900"/>
                </a:lnTo>
                <a:lnTo>
                  <a:pt x="1584818" y="1120399"/>
                </a:lnTo>
                <a:lnTo>
                  <a:pt x="1518458" y="1115340"/>
                </a:lnTo>
                <a:lnTo>
                  <a:pt x="1452995" y="1109733"/>
                </a:lnTo>
                <a:lnTo>
                  <a:pt x="1388468" y="1103588"/>
                </a:lnTo>
                <a:lnTo>
                  <a:pt x="1324913" y="1096916"/>
                </a:lnTo>
                <a:lnTo>
                  <a:pt x="1262369" y="1089725"/>
                </a:lnTo>
                <a:lnTo>
                  <a:pt x="1200872" y="1082026"/>
                </a:lnTo>
                <a:lnTo>
                  <a:pt x="1140460" y="1073829"/>
                </a:lnTo>
                <a:lnTo>
                  <a:pt x="1081170" y="1065145"/>
                </a:lnTo>
                <a:lnTo>
                  <a:pt x="1023041" y="1055982"/>
                </a:lnTo>
                <a:lnTo>
                  <a:pt x="966110" y="1046350"/>
                </a:lnTo>
                <a:lnTo>
                  <a:pt x="910413" y="1036261"/>
                </a:lnTo>
                <a:lnTo>
                  <a:pt x="855990" y="1025724"/>
                </a:lnTo>
                <a:lnTo>
                  <a:pt x="802876" y="1014748"/>
                </a:lnTo>
                <a:lnTo>
                  <a:pt x="751111" y="1003344"/>
                </a:lnTo>
                <a:lnTo>
                  <a:pt x="700731" y="991522"/>
                </a:lnTo>
                <a:lnTo>
                  <a:pt x="651773" y="979291"/>
                </a:lnTo>
                <a:lnTo>
                  <a:pt x="604276" y="966662"/>
                </a:lnTo>
                <a:lnTo>
                  <a:pt x="558277" y="953645"/>
                </a:lnTo>
                <a:lnTo>
                  <a:pt x="513813" y="940249"/>
                </a:lnTo>
                <a:lnTo>
                  <a:pt x="470922" y="926485"/>
                </a:lnTo>
                <a:lnTo>
                  <a:pt x="429642" y="912362"/>
                </a:lnTo>
                <a:lnTo>
                  <a:pt x="390009" y="897891"/>
                </a:lnTo>
                <a:lnTo>
                  <a:pt x="352062" y="883081"/>
                </a:lnTo>
                <a:lnTo>
                  <a:pt x="315838" y="867943"/>
                </a:lnTo>
                <a:lnTo>
                  <a:pt x="248708" y="836720"/>
                </a:lnTo>
                <a:lnTo>
                  <a:pt x="188921" y="804303"/>
                </a:lnTo>
                <a:lnTo>
                  <a:pt x="136776" y="770770"/>
                </a:lnTo>
                <a:lnTo>
                  <a:pt x="92574" y="736203"/>
                </a:lnTo>
                <a:lnTo>
                  <a:pt x="56614" y="700680"/>
                </a:lnTo>
                <a:lnTo>
                  <a:pt x="29197" y="664281"/>
                </a:lnTo>
                <a:lnTo>
                  <a:pt x="10623" y="627086"/>
                </a:lnTo>
                <a:lnTo>
                  <a:pt x="1192" y="589175"/>
                </a:lnTo>
                <a:lnTo>
                  <a:pt x="0" y="569976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35940" y="756199"/>
            <a:ext cx="8227059" cy="5436235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4250690">
              <a:lnSpc>
                <a:spcPct val="100000"/>
              </a:lnSpc>
              <a:spcBef>
                <a:spcPts val="595"/>
              </a:spcBef>
            </a:pPr>
            <a:r>
              <a:rPr dirty="0" sz="3200" b="1">
                <a:latin typeface="宋体"/>
                <a:cs typeface="宋体"/>
              </a:rPr>
              <a:t>预测分析器</a:t>
            </a:r>
            <a:endParaRPr sz="3200">
              <a:latin typeface="宋体"/>
              <a:cs typeface="宋体"/>
            </a:endParaRPr>
          </a:p>
          <a:p>
            <a:pPr marL="514350">
              <a:lnSpc>
                <a:spcPct val="100000"/>
              </a:lnSpc>
              <a:spcBef>
                <a:spcPts val="680"/>
              </a:spcBef>
            </a:pPr>
            <a:r>
              <a:rPr dirty="0" sz="4400" b="1">
                <a:solidFill>
                  <a:srgbClr val="FFFFFF"/>
                </a:solidFill>
                <a:latin typeface="Times New Roman"/>
                <a:cs typeface="Times New Roman"/>
              </a:rPr>
              <a:t>L L</a:t>
            </a:r>
            <a:r>
              <a:rPr dirty="0" sz="4400" spc="-48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4400" b="1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endParaRPr sz="4400">
              <a:latin typeface="Times New Roman"/>
              <a:cs typeface="Times New Roman"/>
            </a:endParaRPr>
          </a:p>
          <a:p>
            <a:pPr marL="2667000">
              <a:lnSpc>
                <a:spcPct val="100000"/>
              </a:lnSpc>
              <a:spcBef>
                <a:spcPts val="1889"/>
              </a:spcBef>
            </a:pP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在分析中最多向前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看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个输入字符</a:t>
            </a:r>
            <a:endParaRPr sz="3000">
              <a:latin typeface="宋体"/>
              <a:cs typeface="宋体"/>
            </a:endParaRPr>
          </a:p>
          <a:p>
            <a:pPr marL="2315845" marR="2226945" indent="-41275">
              <a:lnSpc>
                <a:spcPct val="164100"/>
              </a:lnSpc>
              <a:spcBef>
                <a:spcPts val="2495"/>
              </a:spcBef>
            </a:pP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分析模式：最左推导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扫描模式：自左向右</a:t>
            </a:r>
            <a:endParaRPr sz="3200">
              <a:latin typeface="宋体"/>
              <a:cs typeface="宋体"/>
            </a:endParaRPr>
          </a:p>
          <a:p>
            <a:pPr marL="12700" marR="38100">
              <a:lnSpc>
                <a:spcPct val="120000"/>
              </a:lnSpc>
              <a:spcBef>
                <a:spcPts val="250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显式地维护一个状态栈，而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不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是通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过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隐式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的递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归调用来做自上而下的语法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析。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5231" y="26923"/>
            <a:ext cx="83781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  <a:tab pos="1797050" algn="l"/>
                <a:tab pos="55562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4.4  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分析法与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析器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4.4.1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LL(1)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分析器的结构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5940" y="649046"/>
            <a:ext cx="431165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32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LL(1)</a:t>
            </a:r>
            <a:r>
              <a:rPr dirty="0" u="heavy" sz="3200" spc="-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分析器的逻辑结构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49044" y="4733849"/>
            <a:ext cx="2269490" cy="1927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总控程序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LL(1</a:t>
            </a:r>
            <a:r>
              <a:rPr dirty="0" sz="3200" spc="5" b="1">
                <a:solidFill>
                  <a:srgbClr val="00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分析表 </a:t>
            </a: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分析栈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84910" y="5103114"/>
            <a:ext cx="352425" cy="1414780"/>
          </a:xfrm>
          <a:custGeom>
            <a:avLst/>
            <a:gdLst/>
            <a:ahLst/>
            <a:cxnLst/>
            <a:rect l="l" t="t" r="r" b="b"/>
            <a:pathLst>
              <a:path w="352425" h="1414779">
                <a:moveTo>
                  <a:pt x="352044" y="1414272"/>
                </a:moveTo>
                <a:lnTo>
                  <a:pt x="296430" y="1408272"/>
                </a:lnTo>
                <a:lnTo>
                  <a:pt x="248113" y="1391565"/>
                </a:lnTo>
                <a:lnTo>
                  <a:pt x="210001" y="1366090"/>
                </a:lnTo>
                <a:lnTo>
                  <a:pt x="185001" y="1333786"/>
                </a:lnTo>
                <a:lnTo>
                  <a:pt x="176022" y="1296593"/>
                </a:lnTo>
                <a:lnTo>
                  <a:pt x="176022" y="824814"/>
                </a:lnTo>
                <a:lnTo>
                  <a:pt x="167042" y="787616"/>
                </a:lnTo>
                <a:lnTo>
                  <a:pt x="142042" y="755312"/>
                </a:lnTo>
                <a:lnTo>
                  <a:pt x="103930" y="729839"/>
                </a:lnTo>
                <a:lnTo>
                  <a:pt x="55613" y="713134"/>
                </a:lnTo>
                <a:lnTo>
                  <a:pt x="0" y="707136"/>
                </a:lnTo>
                <a:lnTo>
                  <a:pt x="55613" y="701136"/>
                </a:lnTo>
                <a:lnTo>
                  <a:pt x="103930" y="684429"/>
                </a:lnTo>
                <a:lnTo>
                  <a:pt x="142042" y="658954"/>
                </a:lnTo>
                <a:lnTo>
                  <a:pt x="167042" y="626650"/>
                </a:lnTo>
                <a:lnTo>
                  <a:pt x="176022" y="589457"/>
                </a:lnTo>
                <a:lnTo>
                  <a:pt x="176022" y="117729"/>
                </a:lnTo>
                <a:lnTo>
                  <a:pt x="185001" y="80515"/>
                </a:lnTo>
                <a:lnTo>
                  <a:pt x="210001" y="48198"/>
                </a:lnTo>
                <a:lnTo>
                  <a:pt x="248113" y="22713"/>
                </a:lnTo>
                <a:lnTo>
                  <a:pt x="296430" y="6001"/>
                </a:lnTo>
                <a:lnTo>
                  <a:pt x="352044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20192" y="5557520"/>
            <a:ext cx="842644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组成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15717" y="3191255"/>
            <a:ext cx="498475" cy="114300"/>
          </a:xfrm>
          <a:custGeom>
            <a:avLst/>
            <a:gdLst/>
            <a:ahLst/>
            <a:cxnLst/>
            <a:rect l="l" t="t" r="r" b="b"/>
            <a:pathLst>
              <a:path w="498475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498475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498475" h="114300">
                <a:moveTo>
                  <a:pt x="498348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498348" y="76200"/>
                </a:lnTo>
                <a:lnTo>
                  <a:pt x="49834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39902" y="1618615"/>
            <a:ext cx="19475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99CC"/>
                </a:solidFill>
                <a:latin typeface="宋体"/>
                <a:cs typeface="宋体"/>
              </a:rPr>
              <a:t>输入字符串</a:t>
            </a:r>
            <a:r>
              <a:rPr dirty="0" sz="2800" spc="-5" b="1" i="1">
                <a:solidFill>
                  <a:srgbClr val="FF99CC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657855" y="1601724"/>
          <a:ext cx="4928235" cy="460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3085"/>
                <a:gridCol w="553085"/>
                <a:gridCol w="885190"/>
                <a:gridCol w="553085"/>
                <a:gridCol w="995045"/>
                <a:gridCol w="553085"/>
                <a:gridCol w="777239"/>
              </a:tblGrid>
              <a:tr h="422148">
                <a:tc>
                  <a:txBody>
                    <a:bodyPr/>
                    <a:lstStyle/>
                    <a:p>
                      <a:pPr marL="152400">
                        <a:lnSpc>
                          <a:spcPts val="2790"/>
                        </a:lnSpc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-20833" sz="2400" spc="-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20833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790"/>
                        </a:lnSpc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-20833" sz="2400" spc="-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20833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279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……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ts val="2790"/>
                        </a:lnSpc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-20833" sz="2400" spc="-7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baseline="-20833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ts val="279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……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ts val="2790"/>
                        </a:lnSpc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-20833" sz="2400" spc="-7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baseline="-20833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ts val="279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7421880" y="1467611"/>
            <a:ext cx="220979" cy="843280"/>
          </a:xfrm>
          <a:custGeom>
            <a:avLst/>
            <a:gdLst/>
            <a:ahLst/>
            <a:cxnLst/>
            <a:rect l="l" t="t" r="r" b="b"/>
            <a:pathLst>
              <a:path w="220979" h="843280">
                <a:moveTo>
                  <a:pt x="0" y="842772"/>
                </a:moveTo>
                <a:lnTo>
                  <a:pt x="220979" y="842772"/>
                </a:lnTo>
                <a:lnTo>
                  <a:pt x="220979" y="0"/>
                </a:lnTo>
                <a:lnTo>
                  <a:pt x="0" y="0"/>
                </a:lnTo>
                <a:lnTo>
                  <a:pt x="0" y="842772"/>
                </a:lnTo>
                <a:close/>
              </a:path>
            </a:pathLst>
          </a:custGeom>
          <a:solidFill>
            <a:srgbClr val="1E2D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814066" y="2847594"/>
            <a:ext cx="2036445" cy="844550"/>
          </a:xfrm>
          <a:custGeom>
            <a:avLst/>
            <a:gdLst/>
            <a:ahLst/>
            <a:cxnLst/>
            <a:rect l="l" t="t" r="r" b="b"/>
            <a:pathLst>
              <a:path w="2036445" h="844550">
                <a:moveTo>
                  <a:pt x="0" y="844296"/>
                </a:moveTo>
                <a:lnTo>
                  <a:pt x="2036063" y="844296"/>
                </a:lnTo>
                <a:lnTo>
                  <a:pt x="2036063" y="0"/>
                </a:lnTo>
                <a:lnTo>
                  <a:pt x="0" y="0"/>
                </a:lnTo>
                <a:lnTo>
                  <a:pt x="0" y="84429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841879" y="2828290"/>
            <a:ext cx="198945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90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宋体"/>
                <a:cs typeface="宋体"/>
              </a:rPr>
              <a:t>总控程序</a:t>
            </a:r>
            <a:endParaRPr sz="2400">
              <a:latin typeface="宋体"/>
              <a:cs typeface="宋体"/>
            </a:endParaRPr>
          </a:p>
          <a:p>
            <a:pPr algn="ctr" marR="4445">
              <a:lnSpc>
                <a:spcPct val="100000"/>
              </a:lnSpc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400" b="1">
                <a:solidFill>
                  <a:srgbClr val="00FFFF"/>
                </a:solidFill>
                <a:latin typeface="宋体"/>
                <a:cs typeface="宋体"/>
              </a:rPr>
              <a:t>分析</a:t>
            </a:r>
            <a:r>
              <a:rPr dirty="0" sz="2400" spc="5" b="1">
                <a:solidFill>
                  <a:srgbClr val="00FFFF"/>
                </a:solidFill>
                <a:latin typeface="宋体"/>
                <a:cs typeface="宋体"/>
              </a:rPr>
              <a:t>表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956553" y="2641854"/>
            <a:ext cx="346075" cy="2197735"/>
          </a:xfrm>
          <a:custGeom>
            <a:avLst/>
            <a:gdLst/>
            <a:ahLst/>
            <a:cxnLst/>
            <a:rect l="l" t="t" r="r" b="b"/>
            <a:pathLst>
              <a:path w="346075" h="2197735">
                <a:moveTo>
                  <a:pt x="0" y="2197608"/>
                </a:moveTo>
                <a:lnTo>
                  <a:pt x="345948" y="2197608"/>
                </a:lnTo>
                <a:lnTo>
                  <a:pt x="345948" y="0"/>
                </a:lnTo>
                <a:lnTo>
                  <a:pt x="0" y="0"/>
                </a:lnTo>
                <a:lnTo>
                  <a:pt x="0" y="219760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975350" y="3020390"/>
            <a:ext cx="30861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75603" y="4483684"/>
            <a:ext cx="3079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556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971794" y="4365497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707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967221" y="3509009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707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956553" y="3027426"/>
            <a:ext cx="346075" cy="3175"/>
          </a:xfrm>
          <a:custGeom>
            <a:avLst/>
            <a:gdLst/>
            <a:ahLst/>
            <a:cxnLst/>
            <a:rect l="l" t="t" r="r" b="b"/>
            <a:pathLst>
              <a:path w="346075" h="3175">
                <a:moveTo>
                  <a:pt x="-19050" y="1524"/>
                </a:moveTo>
                <a:lnTo>
                  <a:pt x="364998" y="1524"/>
                </a:lnTo>
              </a:path>
            </a:pathLst>
          </a:custGeom>
          <a:ln w="41148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917691" y="2462783"/>
            <a:ext cx="454659" cy="340360"/>
          </a:xfrm>
          <a:custGeom>
            <a:avLst/>
            <a:gdLst/>
            <a:ahLst/>
            <a:cxnLst/>
            <a:rect l="l" t="t" r="r" b="b"/>
            <a:pathLst>
              <a:path w="454660" h="340360">
                <a:moveTo>
                  <a:pt x="0" y="339851"/>
                </a:moveTo>
                <a:lnTo>
                  <a:pt x="454151" y="339851"/>
                </a:lnTo>
                <a:lnTo>
                  <a:pt x="454151" y="0"/>
                </a:lnTo>
                <a:lnTo>
                  <a:pt x="0" y="0"/>
                </a:lnTo>
                <a:lnTo>
                  <a:pt x="0" y="339851"/>
                </a:lnTo>
                <a:close/>
              </a:path>
            </a:pathLst>
          </a:custGeom>
          <a:solidFill>
            <a:srgbClr val="1E2D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950208" y="2023110"/>
            <a:ext cx="114300" cy="805180"/>
          </a:xfrm>
          <a:custGeom>
            <a:avLst/>
            <a:gdLst/>
            <a:ahLst/>
            <a:cxnLst/>
            <a:rect l="l" t="t" r="r" b="b"/>
            <a:pathLst>
              <a:path w="114300" h="805180">
                <a:moveTo>
                  <a:pt x="76200" y="171450"/>
                </a:moveTo>
                <a:lnTo>
                  <a:pt x="38100" y="171450"/>
                </a:lnTo>
                <a:lnTo>
                  <a:pt x="38100" y="804672"/>
                </a:lnTo>
                <a:lnTo>
                  <a:pt x="76200" y="804672"/>
                </a:lnTo>
                <a:lnTo>
                  <a:pt x="76200" y="171450"/>
                </a:lnTo>
                <a:close/>
              </a:path>
              <a:path w="114300" h="805180">
                <a:moveTo>
                  <a:pt x="57150" y="0"/>
                </a:moveTo>
                <a:lnTo>
                  <a:pt x="0" y="190500"/>
                </a:lnTo>
                <a:lnTo>
                  <a:pt x="38100" y="190500"/>
                </a:lnTo>
                <a:lnTo>
                  <a:pt x="38100" y="171450"/>
                </a:lnTo>
                <a:lnTo>
                  <a:pt x="108585" y="171450"/>
                </a:lnTo>
                <a:lnTo>
                  <a:pt x="57150" y="0"/>
                </a:lnTo>
                <a:close/>
              </a:path>
              <a:path w="114300" h="805180">
                <a:moveTo>
                  <a:pt x="108585" y="171450"/>
                </a:moveTo>
                <a:lnTo>
                  <a:pt x="76200" y="171450"/>
                </a:lnTo>
                <a:lnTo>
                  <a:pt x="76200" y="190500"/>
                </a:lnTo>
                <a:lnTo>
                  <a:pt x="114300" y="190500"/>
                </a:lnTo>
                <a:lnTo>
                  <a:pt x="108585" y="1714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850129" y="3191255"/>
            <a:ext cx="1106805" cy="114300"/>
          </a:xfrm>
          <a:custGeom>
            <a:avLst/>
            <a:gdLst/>
            <a:ahLst/>
            <a:cxnLst/>
            <a:rect l="l" t="t" r="r" b="b"/>
            <a:pathLst>
              <a:path w="1106804" h="114300">
                <a:moveTo>
                  <a:pt x="915924" y="0"/>
                </a:moveTo>
                <a:lnTo>
                  <a:pt x="915924" y="114300"/>
                </a:lnTo>
                <a:lnTo>
                  <a:pt x="1042924" y="76200"/>
                </a:lnTo>
                <a:lnTo>
                  <a:pt x="934974" y="76200"/>
                </a:lnTo>
                <a:lnTo>
                  <a:pt x="934974" y="38100"/>
                </a:lnTo>
                <a:lnTo>
                  <a:pt x="1042924" y="38100"/>
                </a:lnTo>
                <a:lnTo>
                  <a:pt x="915924" y="0"/>
                </a:lnTo>
                <a:close/>
              </a:path>
              <a:path w="1106804" h="114300">
                <a:moveTo>
                  <a:pt x="91592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15924" y="76200"/>
                </a:lnTo>
                <a:lnTo>
                  <a:pt x="915924" y="38100"/>
                </a:lnTo>
                <a:close/>
              </a:path>
              <a:path w="1106804" h="114300">
                <a:moveTo>
                  <a:pt x="1042924" y="38100"/>
                </a:moveTo>
                <a:lnTo>
                  <a:pt x="934974" y="38100"/>
                </a:lnTo>
                <a:lnTo>
                  <a:pt x="934974" y="76200"/>
                </a:lnTo>
                <a:lnTo>
                  <a:pt x="1042924" y="76200"/>
                </a:lnTo>
                <a:lnTo>
                  <a:pt x="1106424" y="57150"/>
                </a:lnTo>
                <a:lnTo>
                  <a:pt x="1042924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6321552" y="4082237"/>
            <a:ext cx="129286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860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宋体"/>
                <a:cs typeface="宋体"/>
              </a:rPr>
              <a:t>分析栈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999788" y="3761994"/>
            <a:ext cx="476884" cy="43307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3595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31416" y="2949701"/>
            <a:ext cx="7391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99CC"/>
                </a:solidFill>
                <a:latin typeface="宋体"/>
                <a:cs typeface="宋体"/>
              </a:rPr>
              <a:t>输出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813304" y="2802635"/>
            <a:ext cx="4829810" cy="2089785"/>
          </a:xfrm>
          <a:custGeom>
            <a:avLst/>
            <a:gdLst/>
            <a:ahLst/>
            <a:cxnLst/>
            <a:rect l="l" t="t" r="r" b="b"/>
            <a:pathLst>
              <a:path w="4829809" h="2089785">
                <a:moveTo>
                  <a:pt x="0" y="2089404"/>
                </a:moveTo>
                <a:lnTo>
                  <a:pt x="4829556" y="2089404"/>
                </a:lnTo>
                <a:lnTo>
                  <a:pt x="4829556" y="0"/>
                </a:lnTo>
                <a:lnTo>
                  <a:pt x="0" y="0"/>
                </a:lnTo>
                <a:lnTo>
                  <a:pt x="0" y="2089404"/>
                </a:lnTo>
                <a:close/>
              </a:path>
            </a:pathLst>
          </a:custGeom>
          <a:ln w="57150">
            <a:solidFill>
              <a:srgbClr val="FF6737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5231" y="26923"/>
            <a:ext cx="83781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  <a:tab pos="1797050" algn="l"/>
                <a:tab pos="55562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4.4  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分析法与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析器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4.4.1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LL(1)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分析器的结构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45440" y="561346"/>
            <a:ext cx="8187055" cy="1927225"/>
          </a:xfrm>
          <a:prstGeom prst="rect"/>
        </p:spPr>
        <p:txBody>
          <a:bodyPr wrap="square" lIns="0" tIns="158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45"/>
              </a:spcBef>
              <a:tabLst>
                <a:tab pos="688975" algn="l"/>
              </a:tabLst>
            </a:pPr>
            <a:r>
              <a:rPr dirty="0" sz="3200"/>
              <a:t>(1)	</a:t>
            </a:r>
            <a:r>
              <a:rPr dirty="0" sz="3200">
                <a:latin typeface="宋体"/>
                <a:cs typeface="宋体"/>
              </a:rPr>
              <a:t>分析</a:t>
            </a:r>
            <a:r>
              <a:rPr dirty="0" sz="3200" spc="-10">
                <a:latin typeface="宋体"/>
                <a:cs typeface="宋体"/>
              </a:rPr>
              <a:t>栈</a:t>
            </a:r>
            <a:endParaRPr sz="3200">
              <a:latin typeface="宋体"/>
              <a:cs typeface="宋体"/>
            </a:endParaRPr>
          </a:p>
          <a:p>
            <a:pPr marL="12700" marR="5080" indent="812165">
              <a:lnSpc>
                <a:spcPts val="4990"/>
              </a:lnSpc>
              <a:spcBef>
                <a:spcPts val="360"/>
              </a:spcBef>
            </a:pP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存放分析过程中的文法符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号</a:t>
            </a: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已</a:t>
            </a: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经推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导出 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的待处理的</a:t>
            </a:r>
            <a:r>
              <a:rPr dirty="0" sz="3200" spc="5">
                <a:solidFill>
                  <a:srgbClr val="FFFFFF"/>
                </a:solidFill>
                <a:latin typeface="宋体"/>
                <a:cs typeface="宋体"/>
              </a:rPr>
              <a:t>串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8036" y="2608529"/>
            <a:ext cx="165925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初始为：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29405" y="3617976"/>
            <a:ext cx="533400" cy="114300"/>
          </a:xfrm>
          <a:custGeom>
            <a:avLst/>
            <a:gdLst/>
            <a:ahLst/>
            <a:cxnLst/>
            <a:rect l="l" t="t" r="r" b="b"/>
            <a:pathLst>
              <a:path w="533400" h="114300">
                <a:moveTo>
                  <a:pt x="419100" y="0"/>
                </a:moveTo>
                <a:lnTo>
                  <a:pt x="419100" y="114300"/>
                </a:lnTo>
                <a:lnTo>
                  <a:pt x="495300" y="76200"/>
                </a:lnTo>
                <a:lnTo>
                  <a:pt x="438150" y="76200"/>
                </a:lnTo>
                <a:lnTo>
                  <a:pt x="438150" y="38100"/>
                </a:lnTo>
                <a:lnTo>
                  <a:pt x="495300" y="38100"/>
                </a:lnTo>
                <a:lnTo>
                  <a:pt x="419100" y="0"/>
                </a:lnTo>
                <a:close/>
              </a:path>
              <a:path w="533400" h="114300">
                <a:moveTo>
                  <a:pt x="4191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19100" y="76200"/>
                </a:lnTo>
                <a:lnTo>
                  <a:pt x="419100" y="38100"/>
                </a:lnTo>
                <a:close/>
              </a:path>
              <a:path w="533400" h="114300">
                <a:moveTo>
                  <a:pt x="495300" y="38100"/>
                </a:moveTo>
                <a:lnTo>
                  <a:pt x="438150" y="38100"/>
                </a:lnTo>
                <a:lnTo>
                  <a:pt x="438150" y="76200"/>
                </a:lnTo>
                <a:lnTo>
                  <a:pt x="495300" y="76200"/>
                </a:lnTo>
                <a:lnTo>
                  <a:pt x="533400" y="57150"/>
                </a:lnTo>
                <a:lnTo>
                  <a:pt x="495300" y="38100"/>
                </a:lnTo>
                <a:close/>
              </a:path>
            </a:pathLst>
          </a:custGeom>
          <a:solidFill>
            <a:srgbClr val="FF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200905" y="2989326"/>
            <a:ext cx="0" cy="1485900"/>
          </a:xfrm>
          <a:custGeom>
            <a:avLst/>
            <a:gdLst/>
            <a:ahLst/>
            <a:cxnLst/>
            <a:rect l="l" t="t" r="r" b="b"/>
            <a:pathLst>
              <a:path w="0" h="1485900">
                <a:moveTo>
                  <a:pt x="0" y="148590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677917" y="2989326"/>
            <a:ext cx="0" cy="1485900"/>
          </a:xfrm>
          <a:custGeom>
            <a:avLst/>
            <a:gdLst/>
            <a:ahLst/>
            <a:cxnLst/>
            <a:rect l="l" t="t" r="r" b="b"/>
            <a:pathLst>
              <a:path w="0" h="1485900">
                <a:moveTo>
                  <a:pt x="0" y="148590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200905" y="3941826"/>
            <a:ext cx="477520" cy="53340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34620">
              <a:lnSpc>
                <a:spcPts val="3335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00905" y="3408426"/>
            <a:ext cx="477520" cy="53340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marL="134620">
              <a:lnSpc>
                <a:spcPct val="100000"/>
              </a:lnSpc>
              <a:spcBef>
                <a:spcPts val="18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71109" y="4039361"/>
            <a:ext cx="3542029" cy="403860"/>
          </a:xfrm>
          <a:prstGeom prst="rect">
            <a:avLst/>
          </a:prstGeom>
          <a:ln w="38100">
            <a:solidFill>
              <a:srgbClr val="FF33CC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995"/>
              </a:lnSpc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句子界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栈底标志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677917" y="4165091"/>
            <a:ext cx="403860" cy="114300"/>
          </a:xfrm>
          <a:custGeom>
            <a:avLst/>
            <a:gdLst/>
            <a:ahLst/>
            <a:cxnLst/>
            <a:rect l="l" t="t" r="r" b="b"/>
            <a:pathLst>
              <a:path w="403860" h="114300">
                <a:moveTo>
                  <a:pt x="289560" y="0"/>
                </a:moveTo>
                <a:lnTo>
                  <a:pt x="289560" y="114299"/>
                </a:lnTo>
                <a:lnTo>
                  <a:pt x="365760" y="76199"/>
                </a:lnTo>
                <a:lnTo>
                  <a:pt x="308610" y="76199"/>
                </a:lnTo>
                <a:lnTo>
                  <a:pt x="308610" y="38099"/>
                </a:lnTo>
                <a:lnTo>
                  <a:pt x="365760" y="38099"/>
                </a:lnTo>
                <a:lnTo>
                  <a:pt x="289560" y="0"/>
                </a:lnTo>
                <a:close/>
              </a:path>
              <a:path w="403860" h="114300">
                <a:moveTo>
                  <a:pt x="289560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89560" y="76199"/>
                </a:lnTo>
                <a:lnTo>
                  <a:pt x="289560" y="38099"/>
                </a:lnTo>
                <a:close/>
              </a:path>
              <a:path w="403860" h="114300">
                <a:moveTo>
                  <a:pt x="365760" y="38099"/>
                </a:moveTo>
                <a:lnTo>
                  <a:pt x="308610" y="38099"/>
                </a:lnTo>
                <a:lnTo>
                  <a:pt x="308610" y="76199"/>
                </a:lnTo>
                <a:lnTo>
                  <a:pt x="365760" y="76199"/>
                </a:lnTo>
                <a:lnTo>
                  <a:pt x="403860" y="57149"/>
                </a:lnTo>
                <a:lnTo>
                  <a:pt x="365760" y="38099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209794" y="3408426"/>
            <a:ext cx="2304415" cy="437515"/>
          </a:xfrm>
          <a:prstGeom prst="rect">
            <a:avLst/>
          </a:prstGeom>
          <a:ln w="38100">
            <a:solidFill>
              <a:srgbClr val="FF33CC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00"/>
              </a:lnSpc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文法开始符号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665726" y="3617976"/>
            <a:ext cx="544195" cy="114300"/>
          </a:xfrm>
          <a:custGeom>
            <a:avLst/>
            <a:gdLst/>
            <a:ahLst/>
            <a:cxnLst/>
            <a:rect l="l" t="t" r="r" b="b"/>
            <a:pathLst>
              <a:path w="544195" h="114300">
                <a:moveTo>
                  <a:pt x="429768" y="0"/>
                </a:moveTo>
                <a:lnTo>
                  <a:pt x="429768" y="114300"/>
                </a:lnTo>
                <a:lnTo>
                  <a:pt x="505968" y="76200"/>
                </a:lnTo>
                <a:lnTo>
                  <a:pt x="448818" y="76200"/>
                </a:lnTo>
                <a:lnTo>
                  <a:pt x="448818" y="38100"/>
                </a:lnTo>
                <a:lnTo>
                  <a:pt x="505968" y="38100"/>
                </a:lnTo>
                <a:lnTo>
                  <a:pt x="429768" y="0"/>
                </a:lnTo>
                <a:close/>
              </a:path>
              <a:path w="544195" h="114300">
                <a:moveTo>
                  <a:pt x="42976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29768" y="76200"/>
                </a:lnTo>
                <a:lnTo>
                  <a:pt x="429768" y="38100"/>
                </a:lnTo>
                <a:close/>
              </a:path>
              <a:path w="544195" h="114300">
                <a:moveTo>
                  <a:pt x="505968" y="38100"/>
                </a:moveTo>
                <a:lnTo>
                  <a:pt x="448818" y="38100"/>
                </a:lnTo>
                <a:lnTo>
                  <a:pt x="448818" y="76200"/>
                </a:lnTo>
                <a:lnTo>
                  <a:pt x="505968" y="76200"/>
                </a:lnTo>
                <a:lnTo>
                  <a:pt x="544068" y="57150"/>
                </a:lnTo>
                <a:lnTo>
                  <a:pt x="505968" y="3810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5231" y="26923"/>
            <a:ext cx="84410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  <a:tab pos="1797050" algn="l"/>
                <a:tab pos="561848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4.4 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分析法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与</a:t>
            </a:r>
            <a:r>
              <a:rPr dirty="0" u="sng" sz="2000" spc="-5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器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4.4.1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LL(1)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分析器的结构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45440" y="706627"/>
            <a:ext cx="192786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88975" algn="l"/>
              </a:tabLst>
            </a:pPr>
            <a:r>
              <a:rPr dirty="0" sz="3200"/>
              <a:t>(</a:t>
            </a:r>
            <a:r>
              <a:rPr dirty="0" sz="3200" spc="5"/>
              <a:t>2</a:t>
            </a:r>
            <a:r>
              <a:rPr dirty="0" sz="3200"/>
              <a:t>)</a:t>
            </a:r>
            <a:r>
              <a:rPr dirty="0" sz="3200"/>
              <a:t>	</a:t>
            </a:r>
            <a:r>
              <a:rPr dirty="0" sz="3200">
                <a:latin typeface="宋体"/>
                <a:cs typeface="宋体"/>
              </a:rPr>
              <a:t>分析表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77874" y="2382773"/>
            <a:ext cx="6477000" cy="0"/>
          </a:xfrm>
          <a:custGeom>
            <a:avLst/>
            <a:gdLst/>
            <a:ahLst/>
            <a:cxnLst/>
            <a:rect l="l" t="t" r="r" b="b"/>
            <a:pathLst>
              <a:path w="6477000" h="0">
                <a:moveTo>
                  <a:pt x="0" y="0"/>
                </a:moveTo>
                <a:lnTo>
                  <a:pt x="6477000" y="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268473" y="1620774"/>
            <a:ext cx="0" cy="3409315"/>
          </a:xfrm>
          <a:custGeom>
            <a:avLst/>
            <a:gdLst/>
            <a:ahLst/>
            <a:cxnLst/>
            <a:rect l="l" t="t" r="r" b="b"/>
            <a:pathLst>
              <a:path w="0" h="3409315">
                <a:moveTo>
                  <a:pt x="0" y="0"/>
                </a:moveTo>
                <a:lnTo>
                  <a:pt x="0" y="3409188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01394" y="2428006"/>
            <a:ext cx="483870" cy="1855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25099"/>
              </a:lnSpc>
              <a:spcBef>
                <a:spcPts val="100"/>
              </a:spcBef>
            </a:pP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1164" sz="3150" spc="15" b="1">
                <a:solidFill>
                  <a:srgbClr val="FFFFFF"/>
                </a:solidFill>
                <a:latin typeface="Times New Roman"/>
                <a:cs typeface="Times New Roman"/>
              </a:rPr>
              <a:t>1 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1164" sz="3150" spc="22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baseline="-21164" sz="3150">
              <a:latin typeface="Times New Roman"/>
              <a:cs typeface="Times New Roman"/>
            </a:endParaRPr>
          </a:p>
          <a:p>
            <a:pPr marL="139700">
              <a:lnSpc>
                <a:spcPct val="100000"/>
              </a:lnSpc>
              <a:spcBef>
                <a:spcPts val="960"/>
              </a:spcBef>
            </a:pPr>
            <a:r>
              <a:rPr dirty="0" sz="3200" spc="-5" b="1">
                <a:solidFill>
                  <a:srgbClr val="FFFFFF"/>
                </a:solidFill>
                <a:latin typeface="MT Extra"/>
                <a:cs typeface="MT Extra"/>
              </a:rPr>
              <a:t></a:t>
            </a:r>
            <a:endParaRPr sz="3200">
              <a:latin typeface="MT Extra"/>
              <a:cs typeface="MT Extr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26794" y="4379467"/>
            <a:ext cx="29718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98066" y="4615688"/>
            <a:ext cx="176530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1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086861" y="1419605"/>
            <a:ext cx="3525520" cy="363220"/>
          </a:xfrm>
          <a:custGeom>
            <a:avLst/>
            <a:gdLst/>
            <a:ahLst/>
            <a:cxnLst/>
            <a:rect l="l" t="t" r="r" b="b"/>
            <a:pathLst>
              <a:path w="3525520" h="363219">
                <a:moveTo>
                  <a:pt x="0" y="362712"/>
                </a:moveTo>
                <a:lnTo>
                  <a:pt x="23115" y="292101"/>
                </a:lnTo>
                <a:lnTo>
                  <a:pt x="50236" y="261295"/>
                </a:lnTo>
                <a:lnTo>
                  <a:pt x="86153" y="234457"/>
                </a:lnTo>
                <a:lnTo>
                  <a:pt x="129685" y="212317"/>
                </a:lnTo>
                <a:lnTo>
                  <a:pt x="179647" y="195601"/>
                </a:lnTo>
                <a:lnTo>
                  <a:pt x="234857" y="185038"/>
                </a:lnTo>
                <a:lnTo>
                  <a:pt x="294132" y="181356"/>
                </a:lnTo>
                <a:lnTo>
                  <a:pt x="1468374" y="181356"/>
                </a:lnTo>
                <a:lnTo>
                  <a:pt x="1527648" y="177673"/>
                </a:lnTo>
                <a:lnTo>
                  <a:pt x="1582858" y="167110"/>
                </a:lnTo>
                <a:lnTo>
                  <a:pt x="1632820" y="150394"/>
                </a:lnTo>
                <a:lnTo>
                  <a:pt x="1676352" y="128254"/>
                </a:lnTo>
                <a:lnTo>
                  <a:pt x="1712269" y="101416"/>
                </a:lnTo>
                <a:lnTo>
                  <a:pt x="1739390" y="70610"/>
                </a:lnTo>
                <a:lnTo>
                  <a:pt x="1756529" y="36561"/>
                </a:lnTo>
                <a:lnTo>
                  <a:pt x="1762505" y="0"/>
                </a:lnTo>
                <a:lnTo>
                  <a:pt x="1768482" y="36561"/>
                </a:lnTo>
                <a:lnTo>
                  <a:pt x="1785621" y="70610"/>
                </a:lnTo>
                <a:lnTo>
                  <a:pt x="1812742" y="101416"/>
                </a:lnTo>
                <a:lnTo>
                  <a:pt x="1848659" y="128254"/>
                </a:lnTo>
                <a:lnTo>
                  <a:pt x="1892191" y="150394"/>
                </a:lnTo>
                <a:lnTo>
                  <a:pt x="1942153" y="167110"/>
                </a:lnTo>
                <a:lnTo>
                  <a:pt x="1997363" y="177673"/>
                </a:lnTo>
                <a:lnTo>
                  <a:pt x="2056638" y="181356"/>
                </a:lnTo>
                <a:lnTo>
                  <a:pt x="3230879" y="181356"/>
                </a:lnTo>
                <a:lnTo>
                  <a:pt x="3290154" y="185038"/>
                </a:lnTo>
                <a:lnTo>
                  <a:pt x="3345364" y="195601"/>
                </a:lnTo>
                <a:lnTo>
                  <a:pt x="3395326" y="212317"/>
                </a:lnTo>
                <a:lnTo>
                  <a:pt x="3438858" y="234457"/>
                </a:lnTo>
                <a:lnTo>
                  <a:pt x="3474775" y="261295"/>
                </a:lnTo>
                <a:lnTo>
                  <a:pt x="3501896" y="292101"/>
                </a:lnTo>
                <a:lnTo>
                  <a:pt x="3519035" y="326150"/>
                </a:lnTo>
                <a:lnTo>
                  <a:pt x="3525012" y="362712"/>
                </a:lnTo>
              </a:path>
            </a:pathLst>
          </a:custGeom>
          <a:ln w="38100">
            <a:solidFill>
              <a:srgbClr val="FF33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886075" y="866089"/>
            <a:ext cx="4829175" cy="12833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684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1021" sz="277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baseline="-21021" sz="2775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  <a:spcBef>
                <a:spcPts val="2705"/>
              </a:spcBef>
              <a:tabLst>
                <a:tab pos="1151255" algn="l"/>
                <a:tab pos="2200275" algn="l"/>
                <a:tab pos="3622040" algn="l"/>
                <a:tab pos="4587240" algn="l"/>
              </a:tabLst>
            </a:pPr>
            <a:r>
              <a:rPr dirty="0" sz="3200" spc="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1164" sz="3150" spc="15" b="1">
                <a:solidFill>
                  <a:srgbClr val="FFFFFF"/>
                </a:solidFill>
                <a:latin typeface="Times New Roman"/>
                <a:cs typeface="Times New Roman"/>
              </a:rPr>
              <a:t>1	</a:t>
            </a:r>
            <a:r>
              <a:rPr dirty="0" sz="3200" spc="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1164" sz="3150" spc="15" b="1">
                <a:solidFill>
                  <a:srgbClr val="FFFFFF"/>
                </a:solidFill>
                <a:latin typeface="Times New Roman"/>
                <a:cs typeface="Times New Roman"/>
              </a:rPr>
              <a:t>2	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…	</a:t>
            </a:r>
            <a:r>
              <a:rPr dirty="0" sz="3200" spc="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1164" sz="3150" spc="15" b="1" i="1">
                <a:solidFill>
                  <a:srgbClr val="FFFFFF"/>
                </a:solidFill>
                <a:latin typeface="Times New Roman"/>
                <a:cs typeface="Times New Roman"/>
              </a:rPr>
              <a:t>n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39774" y="2725673"/>
            <a:ext cx="170815" cy="2129155"/>
          </a:xfrm>
          <a:custGeom>
            <a:avLst/>
            <a:gdLst/>
            <a:ahLst/>
            <a:cxnLst/>
            <a:rect l="l" t="t" r="r" b="b"/>
            <a:pathLst>
              <a:path w="170815" h="2129154">
                <a:moveTo>
                  <a:pt x="170687" y="2129028"/>
                </a:moveTo>
                <a:lnTo>
                  <a:pt x="120292" y="2094935"/>
                </a:lnTo>
                <a:lnTo>
                  <a:pt x="101815" y="2056689"/>
                </a:lnTo>
                <a:lnTo>
                  <a:pt x="89696" y="2008197"/>
                </a:lnTo>
                <a:lnTo>
                  <a:pt x="85343" y="1952370"/>
                </a:lnTo>
                <a:lnTo>
                  <a:pt x="85343" y="1241170"/>
                </a:lnTo>
                <a:lnTo>
                  <a:pt x="80991" y="1185344"/>
                </a:lnTo>
                <a:lnTo>
                  <a:pt x="68872" y="1136852"/>
                </a:lnTo>
                <a:lnTo>
                  <a:pt x="50395" y="1098606"/>
                </a:lnTo>
                <a:lnTo>
                  <a:pt x="26968" y="1073522"/>
                </a:lnTo>
                <a:lnTo>
                  <a:pt x="0" y="1064514"/>
                </a:lnTo>
                <a:lnTo>
                  <a:pt x="26968" y="1055505"/>
                </a:lnTo>
                <a:lnTo>
                  <a:pt x="50395" y="1030421"/>
                </a:lnTo>
                <a:lnTo>
                  <a:pt x="68872" y="992175"/>
                </a:lnTo>
                <a:lnTo>
                  <a:pt x="80991" y="943683"/>
                </a:lnTo>
                <a:lnTo>
                  <a:pt x="85343" y="887857"/>
                </a:lnTo>
                <a:lnTo>
                  <a:pt x="85343" y="176656"/>
                </a:lnTo>
                <a:lnTo>
                  <a:pt x="89696" y="120830"/>
                </a:lnTo>
                <a:lnTo>
                  <a:pt x="101815" y="72338"/>
                </a:lnTo>
                <a:lnTo>
                  <a:pt x="120292" y="34092"/>
                </a:lnTo>
                <a:lnTo>
                  <a:pt x="143719" y="9008"/>
                </a:lnTo>
                <a:lnTo>
                  <a:pt x="170687" y="0"/>
                </a:lnTo>
              </a:path>
            </a:pathLst>
          </a:custGeom>
          <a:ln w="38100">
            <a:solidFill>
              <a:srgbClr val="FF33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44042" y="2859151"/>
            <a:ext cx="543560" cy="1878330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algn="just" marL="38100" marR="30480">
              <a:lnSpc>
                <a:spcPct val="93200"/>
              </a:lnSpc>
              <a:spcBef>
                <a:spcPts val="365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文 法 的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1164" sz="3150" spc="37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20798" y="2549143"/>
            <a:ext cx="28378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485900" algn="l"/>
              </a:tabLst>
            </a:pP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M(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21021" sz="2775" b="1">
                <a:solidFill>
                  <a:srgbClr val="FFFF00"/>
                </a:solidFill>
                <a:latin typeface="Times New Roman"/>
                <a:cs typeface="Times New Roman"/>
              </a:rPr>
              <a:t>1,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21021" sz="277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)	M(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21021" sz="277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21021" sz="277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69052" y="2473579"/>
            <a:ext cx="201295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647700" algn="l"/>
              </a:tabLst>
            </a:pPr>
            <a:r>
              <a:rPr dirty="0" baseline="5208" sz="4800" b="1">
                <a:solidFill>
                  <a:srgbClr val="FFFF00"/>
                </a:solidFill>
                <a:latin typeface="Times New Roman"/>
                <a:cs typeface="Times New Roman"/>
              </a:rPr>
              <a:t>…	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M(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21021" sz="277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21021" sz="2775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22575" y="3614420"/>
            <a:ext cx="16129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" b="1">
                <a:solidFill>
                  <a:srgbClr val="FFFF00"/>
                </a:solidFill>
                <a:latin typeface="MT Extra"/>
                <a:cs typeface="MT Extra"/>
              </a:rPr>
              <a:t></a:t>
            </a:r>
            <a:endParaRPr sz="3200">
              <a:latin typeface="MT Extra"/>
              <a:cs typeface="MT Extr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077973" y="2396489"/>
            <a:ext cx="6076315" cy="2597150"/>
          </a:xfrm>
          <a:custGeom>
            <a:avLst/>
            <a:gdLst/>
            <a:ahLst/>
            <a:cxnLst/>
            <a:rect l="l" t="t" r="r" b="b"/>
            <a:pathLst>
              <a:path w="6076315" h="2597150">
                <a:moveTo>
                  <a:pt x="0" y="1298448"/>
                </a:moveTo>
                <a:lnTo>
                  <a:pt x="2806" y="1242119"/>
                </a:lnTo>
                <a:lnTo>
                  <a:pt x="11151" y="1186405"/>
                </a:lnTo>
                <a:lnTo>
                  <a:pt x="24919" y="1131352"/>
                </a:lnTo>
                <a:lnTo>
                  <a:pt x="43997" y="1077010"/>
                </a:lnTo>
                <a:lnTo>
                  <a:pt x="68271" y="1023427"/>
                </a:lnTo>
                <a:lnTo>
                  <a:pt x="97626" y="970653"/>
                </a:lnTo>
                <a:lnTo>
                  <a:pt x="131950" y="918735"/>
                </a:lnTo>
                <a:lnTo>
                  <a:pt x="171127" y="867723"/>
                </a:lnTo>
                <a:lnTo>
                  <a:pt x="215043" y="817665"/>
                </a:lnTo>
                <a:lnTo>
                  <a:pt x="263586" y="768610"/>
                </a:lnTo>
                <a:lnTo>
                  <a:pt x="316641" y="720607"/>
                </a:lnTo>
                <a:lnTo>
                  <a:pt x="374093" y="673704"/>
                </a:lnTo>
                <a:lnTo>
                  <a:pt x="435829" y="627950"/>
                </a:lnTo>
                <a:lnTo>
                  <a:pt x="468268" y="605520"/>
                </a:lnTo>
                <a:lnTo>
                  <a:pt x="501735" y="583394"/>
                </a:lnTo>
                <a:lnTo>
                  <a:pt x="536216" y="561581"/>
                </a:lnTo>
                <a:lnTo>
                  <a:pt x="571697" y="540085"/>
                </a:lnTo>
                <a:lnTo>
                  <a:pt x="608164" y="518913"/>
                </a:lnTo>
                <a:lnTo>
                  <a:pt x="645601" y="498070"/>
                </a:lnTo>
                <a:lnTo>
                  <a:pt x="683996" y="477564"/>
                </a:lnTo>
                <a:lnTo>
                  <a:pt x="723333" y="457400"/>
                </a:lnTo>
                <a:lnTo>
                  <a:pt x="763599" y="437584"/>
                </a:lnTo>
                <a:lnTo>
                  <a:pt x="804779" y="418122"/>
                </a:lnTo>
                <a:lnTo>
                  <a:pt x="846859" y="399020"/>
                </a:lnTo>
                <a:lnTo>
                  <a:pt x="889825" y="380285"/>
                </a:lnTo>
                <a:lnTo>
                  <a:pt x="933662" y="361922"/>
                </a:lnTo>
                <a:lnTo>
                  <a:pt x="978357" y="343938"/>
                </a:lnTo>
                <a:lnTo>
                  <a:pt x="1023894" y="326339"/>
                </a:lnTo>
                <a:lnTo>
                  <a:pt x="1070261" y="309130"/>
                </a:lnTo>
                <a:lnTo>
                  <a:pt x="1117441" y="292318"/>
                </a:lnTo>
                <a:lnTo>
                  <a:pt x="1165423" y="275909"/>
                </a:lnTo>
                <a:lnTo>
                  <a:pt x="1214190" y="259910"/>
                </a:lnTo>
                <a:lnTo>
                  <a:pt x="1263728" y="244325"/>
                </a:lnTo>
                <a:lnTo>
                  <a:pt x="1314025" y="229161"/>
                </a:lnTo>
                <a:lnTo>
                  <a:pt x="1365064" y="214425"/>
                </a:lnTo>
                <a:lnTo>
                  <a:pt x="1416833" y="200122"/>
                </a:lnTo>
                <a:lnTo>
                  <a:pt x="1469317" y="186258"/>
                </a:lnTo>
                <a:lnTo>
                  <a:pt x="1522500" y="172841"/>
                </a:lnTo>
                <a:lnTo>
                  <a:pt x="1576371" y="159874"/>
                </a:lnTo>
                <a:lnTo>
                  <a:pt x="1630913" y="147366"/>
                </a:lnTo>
                <a:lnTo>
                  <a:pt x="1686113" y="135321"/>
                </a:lnTo>
                <a:lnTo>
                  <a:pt x="1741956" y="123746"/>
                </a:lnTo>
                <a:lnTo>
                  <a:pt x="1798429" y="112647"/>
                </a:lnTo>
                <a:lnTo>
                  <a:pt x="1855517" y="102030"/>
                </a:lnTo>
                <a:lnTo>
                  <a:pt x="1913206" y="91901"/>
                </a:lnTo>
                <a:lnTo>
                  <a:pt x="1971481" y="82267"/>
                </a:lnTo>
                <a:lnTo>
                  <a:pt x="2030328" y="73133"/>
                </a:lnTo>
                <a:lnTo>
                  <a:pt x="2089734" y="64505"/>
                </a:lnTo>
                <a:lnTo>
                  <a:pt x="2149683" y="56390"/>
                </a:lnTo>
                <a:lnTo>
                  <a:pt x="2210162" y="48793"/>
                </a:lnTo>
                <a:lnTo>
                  <a:pt x="2271156" y="41721"/>
                </a:lnTo>
                <a:lnTo>
                  <a:pt x="2332652" y="35180"/>
                </a:lnTo>
                <a:lnTo>
                  <a:pt x="2394634" y="29176"/>
                </a:lnTo>
                <a:lnTo>
                  <a:pt x="2457088" y="23715"/>
                </a:lnTo>
                <a:lnTo>
                  <a:pt x="2520001" y="18802"/>
                </a:lnTo>
                <a:lnTo>
                  <a:pt x="2583358" y="14445"/>
                </a:lnTo>
                <a:lnTo>
                  <a:pt x="2647145" y="10649"/>
                </a:lnTo>
                <a:lnTo>
                  <a:pt x="2711347" y="7420"/>
                </a:lnTo>
                <a:lnTo>
                  <a:pt x="2775951" y="4765"/>
                </a:lnTo>
                <a:lnTo>
                  <a:pt x="2840941" y="2689"/>
                </a:lnTo>
                <a:lnTo>
                  <a:pt x="2906305" y="1199"/>
                </a:lnTo>
                <a:lnTo>
                  <a:pt x="2972027" y="300"/>
                </a:lnTo>
                <a:lnTo>
                  <a:pt x="3038093" y="0"/>
                </a:lnTo>
                <a:lnTo>
                  <a:pt x="3104160" y="300"/>
                </a:lnTo>
                <a:lnTo>
                  <a:pt x="3169882" y="1199"/>
                </a:lnTo>
                <a:lnTo>
                  <a:pt x="3235246" y="2689"/>
                </a:lnTo>
                <a:lnTo>
                  <a:pt x="3300236" y="4765"/>
                </a:lnTo>
                <a:lnTo>
                  <a:pt x="3364840" y="7420"/>
                </a:lnTo>
                <a:lnTo>
                  <a:pt x="3429042" y="10649"/>
                </a:lnTo>
                <a:lnTo>
                  <a:pt x="3492829" y="14445"/>
                </a:lnTo>
                <a:lnTo>
                  <a:pt x="3556186" y="18802"/>
                </a:lnTo>
                <a:lnTo>
                  <a:pt x="3619099" y="23715"/>
                </a:lnTo>
                <a:lnTo>
                  <a:pt x="3681553" y="29176"/>
                </a:lnTo>
                <a:lnTo>
                  <a:pt x="3743535" y="35180"/>
                </a:lnTo>
                <a:lnTo>
                  <a:pt x="3805031" y="41721"/>
                </a:lnTo>
                <a:lnTo>
                  <a:pt x="3866025" y="48793"/>
                </a:lnTo>
                <a:lnTo>
                  <a:pt x="3926504" y="56390"/>
                </a:lnTo>
                <a:lnTo>
                  <a:pt x="3986453" y="64505"/>
                </a:lnTo>
                <a:lnTo>
                  <a:pt x="4045859" y="73133"/>
                </a:lnTo>
                <a:lnTo>
                  <a:pt x="4104706" y="82267"/>
                </a:lnTo>
                <a:lnTo>
                  <a:pt x="4162981" y="91901"/>
                </a:lnTo>
                <a:lnTo>
                  <a:pt x="4220670" y="102030"/>
                </a:lnTo>
                <a:lnTo>
                  <a:pt x="4277758" y="112647"/>
                </a:lnTo>
                <a:lnTo>
                  <a:pt x="4334231" y="123746"/>
                </a:lnTo>
                <a:lnTo>
                  <a:pt x="4390074" y="135321"/>
                </a:lnTo>
                <a:lnTo>
                  <a:pt x="4445274" y="147366"/>
                </a:lnTo>
                <a:lnTo>
                  <a:pt x="4499816" y="159874"/>
                </a:lnTo>
                <a:lnTo>
                  <a:pt x="4553687" y="172841"/>
                </a:lnTo>
                <a:lnTo>
                  <a:pt x="4606870" y="186258"/>
                </a:lnTo>
                <a:lnTo>
                  <a:pt x="4659354" y="200122"/>
                </a:lnTo>
                <a:lnTo>
                  <a:pt x="4711123" y="214425"/>
                </a:lnTo>
                <a:lnTo>
                  <a:pt x="4762162" y="229161"/>
                </a:lnTo>
                <a:lnTo>
                  <a:pt x="4812459" y="244325"/>
                </a:lnTo>
                <a:lnTo>
                  <a:pt x="4861997" y="259910"/>
                </a:lnTo>
                <a:lnTo>
                  <a:pt x="4910764" y="275909"/>
                </a:lnTo>
                <a:lnTo>
                  <a:pt x="4958746" y="292318"/>
                </a:lnTo>
                <a:lnTo>
                  <a:pt x="5005926" y="309130"/>
                </a:lnTo>
                <a:lnTo>
                  <a:pt x="5052293" y="326339"/>
                </a:lnTo>
                <a:lnTo>
                  <a:pt x="5097830" y="343938"/>
                </a:lnTo>
                <a:lnTo>
                  <a:pt x="5142525" y="361922"/>
                </a:lnTo>
                <a:lnTo>
                  <a:pt x="5186362" y="380285"/>
                </a:lnTo>
                <a:lnTo>
                  <a:pt x="5229328" y="399020"/>
                </a:lnTo>
                <a:lnTo>
                  <a:pt x="5271408" y="418122"/>
                </a:lnTo>
                <a:lnTo>
                  <a:pt x="5312588" y="437584"/>
                </a:lnTo>
                <a:lnTo>
                  <a:pt x="5352854" y="457400"/>
                </a:lnTo>
                <a:lnTo>
                  <a:pt x="5392191" y="477564"/>
                </a:lnTo>
                <a:lnTo>
                  <a:pt x="5430586" y="498070"/>
                </a:lnTo>
                <a:lnTo>
                  <a:pt x="5468023" y="518913"/>
                </a:lnTo>
                <a:lnTo>
                  <a:pt x="5504490" y="540085"/>
                </a:lnTo>
                <a:lnTo>
                  <a:pt x="5539971" y="561581"/>
                </a:lnTo>
                <a:lnTo>
                  <a:pt x="5574452" y="583394"/>
                </a:lnTo>
                <a:lnTo>
                  <a:pt x="5607919" y="605520"/>
                </a:lnTo>
                <a:lnTo>
                  <a:pt x="5640358" y="627950"/>
                </a:lnTo>
                <a:lnTo>
                  <a:pt x="5671754" y="650681"/>
                </a:lnTo>
                <a:lnTo>
                  <a:pt x="5731363" y="697015"/>
                </a:lnTo>
                <a:lnTo>
                  <a:pt x="5786631" y="744474"/>
                </a:lnTo>
                <a:lnTo>
                  <a:pt x="5837443" y="793009"/>
                </a:lnTo>
                <a:lnTo>
                  <a:pt x="5883687" y="842572"/>
                </a:lnTo>
                <a:lnTo>
                  <a:pt x="5925249" y="893113"/>
                </a:lnTo>
                <a:lnTo>
                  <a:pt x="5962013" y="944584"/>
                </a:lnTo>
                <a:lnTo>
                  <a:pt x="5993867" y="996936"/>
                </a:lnTo>
                <a:lnTo>
                  <a:pt x="6020695" y="1050120"/>
                </a:lnTo>
                <a:lnTo>
                  <a:pt x="6042385" y="1104089"/>
                </a:lnTo>
                <a:lnTo>
                  <a:pt x="6058823" y="1158792"/>
                </a:lnTo>
                <a:lnTo>
                  <a:pt x="6069893" y="1214182"/>
                </a:lnTo>
                <a:lnTo>
                  <a:pt x="6075483" y="1270210"/>
                </a:lnTo>
                <a:lnTo>
                  <a:pt x="6076187" y="1298448"/>
                </a:lnTo>
                <a:lnTo>
                  <a:pt x="6075483" y="1326685"/>
                </a:lnTo>
                <a:lnTo>
                  <a:pt x="6069893" y="1382713"/>
                </a:lnTo>
                <a:lnTo>
                  <a:pt x="6058823" y="1438103"/>
                </a:lnTo>
                <a:lnTo>
                  <a:pt x="6042385" y="1492806"/>
                </a:lnTo>
                <a:lnTo>
                  <a:pt x="6020695" y="1546775"/>
                </a:lnTo>
                <a:lnTo>
                  <a:pt x="5993867" y="1599959"/>
                </a:lnTo>
                <a:lnTo>
                  <a:pt x="5962013" y="1652311"/>
                </a:lnTo>
                <a:lnTo>
                  <a:pt x="5925249" y="1703782"/>
                </a:lnTo>
                <a:lnTo>
                  <a:pt x="5883687" y="1754323"/>
                </a:lnTo>
                <a:lnTo>
                  <a:pt x="5837443" y="1803886"/>
                </a:lnTo>
                <a:lnTo>
                  <a:pt x="5786631" y="1852421"/>
                </a:lnTo>
                <a:lnTo>
                  <a:pt x="5731363" y="1899880"/>
                </a:lnTo>
                <a:lnTo>
                  <a:pt x="5671754" y="1946214"/>
                </a:lnTo>
                <a:lnTo>
                  <a:pt x="5640358" y="1968945"/>
                </a:lnTo>
                <a:lnTo>
                  <a:pt x="5607919" y="1991375"/>
                </a:lnTo>
                <a:lnTo>
                  <a:pt x="5574452" y="2013501"/>
                </a:lnTo>
                <a:lnTo>
                  <a:pt x="5539971" y="2035314"/>
                </a:lnTo>
                <a:lnTo>
                  <a:pt x="5504490" y="2056810"/>
                </a:lnTo>
                <a:lnTo>
                  <a:pt x="5468023" y="2077982"/>
                </a:lnTo>
                <a:lnTo>
                  <a:pt x="5430586" y="2098825"/>
                </a:lnTo>
                <a:lnTo>
                  <a:pt x="5392191" y="2119331"/>
                </a:lnTo>
                <a:lnTo>
                  <a:pt x="5352854" y="2139495"/>
                </a:lnTo>
                <a:lnTo>
                  <a:pt x="5312588" y="2159311"/>
                </a:lnTo>
                <a:lnTo>
                  <a:pt x="5271408" y="2178773"/>
                </a:lnTo>
                <a:lnTo>
                  <a:pt x="5229328" y="2197875"/>
                </a:lnTo>
                <a:lnTo>
                  <a:pt x="5186362" y="2216610"/>
                </a:lnTo>
                <a:lnTo>
                  <a:pt x="5142525" y="2234973"/>
                </a:lnTo>
                <a:lnTo>
                  <a:pt x="5097830" y="2252957"/>
                </a:lnTo>
                <a:lnTo>
                  <a:pt x="5052293" y="2270556"/>
                </a:lnTo>
                <a:lnTo>
                  <a:pt x="5005926" y="2287765"/>
                </a:lnTo>
                <a:lnTo>
                  <a:pt x="4958746" y="2304577"/>
                </a:lnTo>
                <a:lnTo>
                  <a:pt x="4910764" y="2320986"/>
                </a:lnTo>
                <a:lnTo>
                  <a:pt x="4861997" y="2336985"/>
                </a:lnTo>
                <a:lnTo>
                  <a:pt x="4812459" y="2352570"/>
                </a:lnTo>
                <a:lnTo>
                  <a:pt x="4762162" y="2367734"/>
                </a:lnTo>
                <a:lnTo>
                  <a:pt x="4711123" y="2382470"/>
                </a:lnTo>
                <a:lnTo>
                  <a:pt x="4659354" y="2396773"/>
                </a:lnTo>
                <a:lnTo>
                  <a:pt x="4606870" y="2410637"/>
                </a:lnTo>
                <a:lnTo>
                  <a:pt x="4553687" y="2424054"/>
                </a:lnTo>
                <a:lnTo>
                  <a:pt x="4499816" y="2437021"/>
                </a:lnTo>
                <a:lnTo>
                  <a:pt x="4445274" y="2449529"/>
                </a:lnTo>
                <a:lnTo>
                  <a:pt x="4390074" y="2461574"/>
                </a:lnTo>
                <a:lnTo>
                  <a:pt x="4334231" y="2473149"/>
                </a:lnTo>
                <a:lnTo>
                  <a:pt x="4277758" y="2484248"/>
                </a:lnTo>
                <a:lnTo>
                  <a:pt x="4220670" y="2494865"/>
                </a:lnTo>
                <a:lnTo>
                  <a:pt x="4162981" y="2504994"/>
                </a:lnTo>
                <a:lnTo>
                  <a:pt x="4104706" y="2514628"/>
                </a:lnTo>
                <a:lnTo>
                  <a:pt x="4045859" y="2523762"/>
                </a:lnTo>
                <a:lnTo>
                  <a:pt x="3986453" y="2532390"/>
                </a:lnTo>
                <a:lnTo>
                  <a:pt x="3926504" y="2540505"/>
                </a:lnTo>
                <a:lnTo>
                  <a:pt x="3866025" y="2548102"/>
                </a:lnTo>
                <a:lnTo>
                  <a:pt x="3805031" y="2555174"/>
                </a:lnTo>
                <a:lnTo>
                  <a:pt x="3743535" y="2561715"/>
                </a:lnTo>
                <a:lnTo>
                  <a:pt x="3681553" y="2567719"/>
                </a:lnTo>
                <a:lnTo>
                  <a:pt x="3619099" y="2573180"/>
                </a:lnTo>
                <a:lnTo>
                  <a:pt x="3556186" y="2578093"/>
                </a:lnTo>
                <a:lnTo>
                  <a:pt x="3492829" y="2582450"/>
                </a:lnTo>
                <a:lnTo>
                  <a:pt x="3429042" y="2586246"/>
                </a:lnTo>
                <a:lnTo>
                  <a:pt x="3364840" y="2589475"/>
                </a:lnTo>
                <a:lnTo>
                  <a:pt x="3300236" y="2592130"/>
                </a:lnTo>
                <a:lnTo>
                  <a:pt x="3235246" y="2594206"/>
                </a:lnTo>
                <a:lnTo>
                  <a:pt x="3169882" y="2595696"/>
                </a:lnTo>
                <a:lnTo>
                  <a:pt x="3104160" y="2596595"/>
                </a:lnTo>
                <a:lnTo>
                  <a:pt x="3038093" y="2596896"/>
                </a:lnTo>
                <a:lnTo>
                  <a:pt x="2972027" y="2596595"/>
                </a:lnTo>
                <a:lnTo>
                  <a:pt x="2906305" y="2595696"/>
                </a:lnTo>
                <a:lnTo>
                  <a:pt x="2840941" y="2594206"/>
                </a:lnTo>
                <a:lnTo>
                  <a:pt x="2775951" y="2592130"/>
                </a:lnTo>
                <a:lnTo>
                  <a:pt x="2711347" y="2589475"/>
                </a:lnTo>
                <a:lnTo>
                  <a:pt x="2647145" y="2586246"/>
                </a:lnTo>
                <a:lnTo>
                  <a:pt x="2583358" y="2582450"/>
                </a:lnTo>
                <a:lnTo>
                  <a:pt x="2520001" y="2578093"/>
                </a:lnTo>
                <a:lnTo>
                  <a:pt x="2457088" y="2573180"/>
                </a:lnTo>
                <a:lnTo>
                  <a:pt x="2394634" y="2567719"/>
                </a:lnTo>
                <a:lnTo>
                  <a:pt x="2332652" y="2561715"/>
                </a:lnTo>
                <a:lnTo>
                  <a:pt x="2271156" y="2555174"/>
                </a:lnTo>
                <a:lnTo>
                  <a:pt x="2210162" y="2548102"/>
                </a:lnTo>
                <a:lnTo>
                  <a:pt x="2149683" y="2540505"/>
                </a:lnTo>
                <a:lnTo>
                  <a:pt x="2089734" y="2532390"/>
                </a:lnTo>
                <a:lnTo>
                  <a:pt x="2030328" y="2523762"/>
                </a:lnTo>
                <a:lnTo>
                  <a:pt x="1971481" y="2514628"/>
                </a:lnTo>
                <a:lnTo>
                  <a:pt x="1913206" y="2504994"/>
                </a:lnTo>
                <a:lnTo>
                  <a:pt x="1855517" y="2494865"/>
                </a:lnTo>
                <a:lnTo>
                  <a:pt x="1798429" y="2484248"/>
                </a:lnTo>
                <a:lnTo>
                  <a:pt x="1741956" y="2473149"/>
                </a:lnTo>
                <a:lnTo>
                  <a:pt x="1686113" y="2461574"/>
                </a:lnTo>
                <a:lnTo>
                  <a:pt x="1630913" y="2449529"/>
                </a:lnTo>
                <a:lnTo>
                  <a:pt x="1576371" y="2437021"/>
                </a:lnTo>
                <a:lnTo>
                  <a:pt x="1522500" y="2424054"/>
                </a:lnTo>
                <a:lnTo>
                  <a:pt x="1469317" y="2410637"/>
                </a:lnTo>
                <a:lnTo>
                  <a:pt x="1416833" y="2396773"/>
                </a:lnTo>
                <a:lnTo>
                  <a:pt x="1365064" y="2382470"/>
                </a:lnTo>
                <a:lnTo>
                  <a:pt x="1314025" y="2367734"/>
                </a:lnTo>
                <a:lnTo>
                  <a:pt x="1263728" y="2352570"/>
                </a:lnTo>
                <a:lnTo>
                  <a:pt x="1214190" y="2336985"/>
                </a:lnTo>
                <a:lnTo>
                  <a:pt x="1165423" y="2320986"/>
                </a:lnTo>
                <a:lnTo>
                  <a:pt x="1117441" y="2304577"/>
                </a:lnTo>
                <a:lnTo>
                  <a:pt x="1070261" y="2287765"/>
                </a:lnTo>
                <a:lnTo>
                  <a:pt x="1023894" y="2270556"/>
                </a:lnTo>
                <a:lnTo>
                  <a:pt x="978357" y="2252957"/>
                </a:lnTo>
                <a:lnTo>
                  <a:pt x="933662" y="2234973"/>
                </a:lnTo>
                <a:lnTo>
                  <a:pt x="889825" y="2216610"/>
                </a:lnTo>
                <a:lnTo>
                  <a:pt x="846859" y="2197875"/>
                </a:lnTo>
                <a:lnTo>
                  <a:pt x="804779" y="2178773"/>
                </a:lnTo>
                <a:lnTo>
                  <a:pt x="763599" y="2159311"/>
                </a:lnTo>
                <a:lnTo>
                  <a:pt x="723333" y="2139495"/>
                </a:lnTo>
                <a:lnTo>
                  <a:pt x="683996" y="2119331"/>
                </a:lnTo>
                <a:lnTo>
                  <a:pt x="645601" y="2098825"/>
                </a:lnTo>
                <a:lnTo>
                  <a:pt x="608164" y="2077982"/>
                </a:lnTo>
                <a:lnTo>
                  <a:pt x="571697" y="2056810"/>
                </a:lnTo>
                <a:lnTo>
                  <a:pt x="536216" y="2035314"/>
                </a:lnTo>
                <a:lnTo>
                  <a:pt x="501735" y="2013501"/>
                </a:lnTo>
                <a:lnTo>
                  <a:pt x="468268" y="1991375"/>
                </a:lnTo>
                <a:lnTo>
                  <a:pt x="435829" y="1968945"/>
                </a:lnTo>
                <a:lnTo>
                  <a:pt x="404433" y="1946214"/>
                </a:lnTo>
                <a:lnTo>
                  <a:pt x="344824" y="1899880"/>
                </a:lnTo>
                <a:lnTo>
                  <a:pt x="289556" y="1852421"/>
                </a:lnTo>
                <a:lnTo>
                  <a:pt x="238744" y="1803886"/>
                </a:lnTo>
                <a:lnTo>
                  <a:pt x="192500" y="1754323"/>
                </a:lnTo>
                <a:lnTo>
                  <a:pt x="150938" y="1703782"/>
                </a:lnTo>
                <a:lnTo>
                  <a:pt x="114174" y="1652311"/>
                </a:lnTo>
                <a:lnTo>
                  <a:pt x="82320" y="1599959"/>
                </a:lnTo>
                <a:lnTo>
                  <a:pt x="55492" y="1546775"/>
                </a:lnTo>
                <a:lnTo>
                  <a:pt x="33802" y="1492806"/>
                </a:lnTo>
                <a:lnTo>
                  <a:pt x="17364" y="1438103"/>
                </a:lnTo>
                <a:lnTo>
                  <a:pt x="6294" y="1382713"/>
                </a:lnTo>
                <a:lnTo>
                  <a:pt x="704" y="1326685"/>
                </a:lnTo>
                <a:lnTo>
                  <a:pt x="0" y="1298448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801361" y="4993385"/>
            <a:ext cx="972312" cy="4084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801361" y="4993385"/>
            <a:ext cx="972819" cy="408940"/>
          </a:xfrm>
          <a:custGeom>
            <a:avLst/>
            <a:gdLst/>
            <a:ahLst/>
            <a:cxnLst/>
            <a:rect l="l" t="t" r="r" b="b"/>
            <a:pathLst>
              <a:path w="972820" h="408939">
                <a:moveTo>
                  <a:pt x="0" y="306323"/>
                </a:moveTo>
                <a:lnTo>
                  <a:pt x="243077" y="306323"/>
                </a:lnTo>
                <a:lnTo>
                  <a:pt x="243077" y="0"/>
                </a:lnTo>
                <a:lnTo>
                  <a:pt x="729234" y="0"/>
                </a:lnTo>
                <a:lnTo>
                  <a:pt x="729234" y="306323"/>
                </a:lnTo>
                <a:lnTo>
                  <a:pt x="972312" y="306323"/>
                </a:lnTo>
                <a:lnTo>
                  <a:pt x="486155" y="408431"/>
                </a:lnTo>
                <a:lnTo>
                  <a:pt x="0" y="30632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829665" y="5766308"/>
            <a:ext cx="12833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M(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1021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1021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160270" y="5659373"/>
            <a:ext cx="222885" cy="803275"/>
          </a:xfrm>
          <a:custGeom>
            <a:avLst/>
            <a:gdLst/>
            <a:ahLst/>
            <a:cxnLst/>
            <a:rect l="l" t="t" r="r" b="b"/>
            <a:pathLst>
              <a:path w="222885" h="803275">
                <a:moveTo>
                  <a:pt x="222504" y="803147"/>
                </a:moveTo>
                <a:lnTo>
                  <a:pt x="179189" y="797884"/>
                </a:lnTo>
                <a:lnTo>
                  <a:pt x="143827" y="783531"/>
                </a:lnTo>
                <a:lnTo>
                  <a:pt x="119991" y="762241"/>
                </a:lnTo>
                <a:lnTo>
                  <a:pt x="111252" y="736168"/>
                </a:lnTo>
                <a:lnTo>
                  <a:pt x="111252" y="468553"/>
                </a:lnTo>
                <a:lnTo>
                  <a:pt x="102512" y="442480"/>
                </a:lnTo>
                <a:lnTo>
                  <a:pt x="78676" y="421190"/>
                </a:lnTo>
                <a:lnTo>
                  <a:pt x="43314" y="406837"/>
                </a:lnTo>
                <a:lnTo>
                  <a:pt x="0" y="401573"/>
                </a:lnTo>
                <a:lnTo>
                  <a:pt x="43314" y="396310"/>
                </a:lnTo>
                <a:lnTo>
                  <a:pt x="78676" y="381957"/>
                </a:lnTo>
                <a:lnTo>
                  <a:pt x="102512" y="360667"/>
                </a:lnTo>
                <a:lnTo>
                  <a:pt x="111252" y="334594"/>
                </a:lnTo>
                <a:lnTo>
                  <a:pt x="111252" y="66979"/>
                </a:lnTo>
                <a:lnTo>
                  <a:pt x="119991" y="40906"/>
                </a:lnTo>
                <a:lnTo>
                  <a:pt x="143827" y="19616"/>
                </a:lnTo>
                <a:lnTo>
                  <a:pt x="179189" y="5263"/>
                </a:lnTo>
                <a:lnTo>
                  <a:pt x="222504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476245" y="5275775"/>
            <a:ext cx="5614670" cy="1274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" marR="5080" indent="-6985">
              <a:lnSpc>
                <a:spcPct val="146300"/>
              </a:lnSpc>
              <a:spcBef>
                <a:spcPts val="100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文法的一条产生式规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spc="-5" b="1">
                <a:solidFill>
                  <a:srgbClr val="FF33CC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>
                <a:solidFill>
                  <a:srgbClr val="FF33CC"/>
                </a:solidFill>
                <a:latin typeface="宋体"/>
                <a:cs typeface="宋体"/>
              </a:rPr>
              <a:t>候选式</a:t>
            </a:r>
            <a:r>
              <a:rPr dirty="0" sz="2800" b="1">
                <a:solidFill>
                  <a:srgbClr val="FF33CC"/>
                </a:solidFill>
                <a:latin typeface="宋体"/>
                <a:cs typeface="宋体"/>
              </a:rPr>
              <a:t>唯</a:t>
            </a:r>
            <a:r>
              <a:rPr dirty="0" sz="2800" spc="10" b="1">
                <a:solidFill>
                  <a:srgbClr val="FF33CC"/>
                </a:solidFill>
                <a:latin typeface="宋体"/>
                <a:cs typeface="宋体"/>
              </a:rPr>
              <a:t>一</a:t>
            </a:r>
            <a:r>
              <a:rPr dirty="0" sz="2800" spc="-5" b="1">
                <a:solidFill>
                  <a:srgbClr val="FF33CC"/>
                </a:solidFill>
                <a:latin typeface="Times New Roman"/>
                <a:cs typeface="Times New Roman"/>
              </a:rPr>
              <a:t>)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出错（空白）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76477" y="5439917"/>
            <a:ext cx="7508875" cy="1286510"/>
          </a:xfrm>
          <a:custGeom>
            <a:avLst/>
            <a:gdLst/>
            <a:ahLst/>
            <a:cxnLst/>
            <a:rect l="l" t="t" r="r" b="b"/>
            <a:pathLst>
              <a:path w="7508875" h="1286509">
                <a:moveTo>
                  <a:pt x="0" y="1286255"/>
                </a:moveTo>
                <a:lnTo>
                  <a:pt x="7508748" y="1286255"/>
                </a:lnTo>
                <a:lnTo>
                  <a:pt x="7508748" y="0"/>
                </a:lnTo>
                <a:lnTo>
                  <a:pt x="0" y="0"/>
                </a:lnTo>
                <a:lnTo>
                  <a:pt x="0" y="1286255"/>
                </a:lnTo>
                <a:close/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403852" y="4120134"/>
            <a:ext cx="21653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5" b="1">
                <a:solidFill>
                  <a:srgbClr val="DDDDDD"/>
                </a:solidFill>
                <a:uFill>
                  <a:solidFill>
                    <a:srgbClr val="DDDDDD"/>
                  </a:solidFill>
                </a:uFill>
                <a:latin typeface="宋体"/>
                <a:cs typeface="宋体"/>
              </a:rPr>
              <a:t>预测分析函数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5231" y="26923"/>
            <a:ext cx="53816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  <a:tab pos="17970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4.4</a:t>
            </a:r>
            <a:r>
              <a:rPr dirty="0" sz="2000" spc="45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分析法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与</a:t>
            </a:r>
            <a:r>
              <a:rPr dirty="0" u="sng" sz="2000" spc="-55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11392" y="26923"/>
            <a:ext cx="28346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4.4.1</a:t>
            </a:r>
            <a:r>
              <a:rPr dirty="0" u="sng" sz="2000" spc="42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LL(1)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分析器的结构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45440" y="706627"/>
            <a:ext cx="464439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88975" algn="l"/>
              </a:tabLst>
            </a:pPr>
            <a:r>
              <a:rPr dirty="0" sz="3200"/>
              <a:t>(3)	</a:t>
            </a:r>
            <a:r>
              <a:rPr dirty="0" sz="3200">
                <a:latin typeface="宋体"/>
                <a:cs typeface="宋体"/>
              </a:rPr>
              <a:t>总控程</a:t>
            </a:r>
            <a:r>
              <a:rPr dirty="0" sz="3200" spc="-10">
                <a:latin typeface="宋体"/>
                <a:cs typeface="宋体"/>
              </a:rPr>
              <a:t>序</a:t>
            </a:r>
            <a:r>
              <a:rPr dirty="0" sz="3200" spc="-95">
                <a:latin typeface="宋体"/>
                <a:cs typeface="宋体"/>
              </a:rPr>
              <a:t> </a:t>
            </a:r>
            <a:r>
              <a:rPr dirty="0" sz="3200"/>
              <a:t>(LL(1)</a:t>
            </a:r>
            <a:r>
              <a:rPr dirty="0" sz="3200">
                <a:latin typeface="宋体"/>
                <a:cs typeface="宋体"/>
              </a:rPr>
              <a:t>分析</a:t>
            </a:r>
            <a:r>
              <a:rPr dirty="0" sz="3200"/>
              <a:t>)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2742" y="1463421"/>
            <a:ext cx="16052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34340" indent="-422275">
              <a:lnSpc>
                <a:spcPct val="100000"/>
              </a:lnSpc>
              <a:spcBef>
                <a:spcPts val="95"/>
              </a:spcBef>
              <a:buClr>
                <a:srgbClr val="66FFFF"/>
              </a:buClr>
              <a:buSzPct val="94642"/>
              <a:buFont typeface="Wingdings"/>
              <a:buChar char=""/>
              <a:tabLst>
                <a:tab pos="434340" algn="l"/>
                <a:tab pos="434975" algn="l"/>
              </a:tabLst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算法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9442" y="2017852"/>
            <a:ext cx="26695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(1)</a:t>
            </a:r>
            <a:r>
              <a:rPr dirty="0" sz="2800" spc="-6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初始化工作：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4042" y="2976638"/>
            <a:ext cx="8132445" cy="337756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6364" marR="444500" indent="-88900">
              <a:lnSpc>
                <a:spcPct val="127699"/>
              </a:lnSpc>
              <a:spcBef>
                <a:spcPts val="15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(2)</a:t>
            </a:r>
            <a:r>
              <a:rPr dirty="0" sz="2800" spc="-3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若当前分析栈顶符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号</a:t>
            </a:r>
            <a:r>
              <a:rPr dirty="0" sz="2950" spc="-160" b="1" i="1">
                <a:solidFill>
                  <a:srgbClr val="FFFFFF"/>
                </a:solidFill>
                <a:latin typeface="宋体"/>
                <a:cs typeface="宋体"/>
              </a:rPr>
              <a:t>Ｘ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是文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u="heavy" sz="2800" spc="-1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终</a:t>
            </a:r>
            <a:r>
              <a:rPr dirty="0" u="heavy" sz="28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结</a:t>
            </a:r>
            <a:r>
              <a:rPr dirty="0" u="heavy" sz="2800" spc="-1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符</a:t>
            </a:r>
            <a:r>
              <a:rPr dirty="0" u="heavy" sz="2800" spc="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号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则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对于：</a:t>
            </a:r>
            <a:endParaRPr sz="2800">
              <a:latin typeface="宋体"/>
              <a:cs typeface="宋体"/>
            </a:endParaRPr>
          </a:p>
          <a:p>
            <a:pPr marL="304800">
              <a:lnSpc>
                <a:spcPct val="100000"/>
              </a:lnSpc>
              <a:spcBef>
                <a:spcPts val="1010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①</a:t>
            </a:r>
            <a:r>
              <a:rPr dirty="0" sz="2800" spc="-5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1021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“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＃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”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，表示分析成功，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停止分析过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程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749300" marR="346075" indent="-443865">
              <a:lnSpc>
                <a:spcPct val="130000"/>
              </a:lnSpc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②</a:t>
            </a:r>
            <a:r>
              <a:rPr dirty="0" sz="2800" spc="-6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1021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≠“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＃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”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，则将Ｘ从分析栈顶退</a:t>
            </a:r>
            <a:r>
              <a:rPr dirty="0" sz="2800" spc="-25" b="1">
                <a:solidFill>
                  <a:srgbClr val="FFFFFF"/>
                </a:solidFill>
                <a:latin typeface="宋体"/>
                <a:cs typeface="宋体"/>
              </a:rPr>
              <a:t>掉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指向 下一个输入字符；</a:t>
            </a:r>
            <a:endParaRPr sz="2800">
              <a:latin typeface="宋体"/>
              <a:cs typeface="宋体"/>
            </a:endParaRPr>
          </a:p>
          <a:p>
            <a:pPr marL="304800">
              <a:lnSpc>
                <a:spcPct val="100000"/>
              </a:lnSpc>
              <a:spcBef>
                <a:spcPts val="1010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③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≠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1021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表示不匹配的出错情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况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096511" y="1799082"/>
            <a:ext cx="114300" cy="533400"/>
          </a:xfrm>
          <a:custGeom>
            <a:avLst/>
            <a:gdLst/>
            <a:ahLst/>
            <a:cxnLst/>
            <a:rect l="l" t="t" r="r" b="b"/>
            <a:pathLst>
              <a:path w="114300" h="533400">
                <a:moveTo>
                  <a:pt x="38100" y="419100"/>
                </a:moveTo>
                <a:lnTo>
                  <a:pt x="0" y="419100"/>
                </a:lnTo>
                <a:lnTo>
                  <a:pt x="57150" y="533400"/>
                </a:lnTo>
                <a:lnTo>
                  <a:pt x="104775" y="438150"/>
                </a:lnTo>
                <a:lnTo>
                  <a:pt x="38100" y="438150"/>
                </a:lnTo>
                <a:lnTo>
                  <a:pt x="38100" y="419100"/>
                </a:lnTo>
                <a:close/>
              </a:path>
              <a:path w="114300" h="533400">
                <a:moveTo>
                  <a:pt x="76200" y="0"/>
                </a:moveTo>
                <a:lnTo>
                  <a:pt x="38100" y="0"/>
                </a:lnTo>
                <a:lnTo>
                  <a:pt x="38100" y="438150"/>
                </a:lnTo>
                <a:lnTo>
                  <a:pt x="76200" y="438150"/>
                </a:lnTo>
                <a:lnTo>
                  <a:pt x="76200" y="0"/>
                </a:lnTo>
                <a:close/>
              </a:path>
              <a:path w="114300" h="533400">
                <a:moveTo>
                  <a:pt x="114300" y="419100"/>
                </a:moveTo>
                <a:lnTo>
                  <a:pt x="76200" y="419100"/>
                </a:lnTo>
                <a:lnTo>
                  <a:pt x="76200" y="438150"/>
                </a:lnTo>
                <a:lnTo>
                  <a:pt x="104775" y="438150"/>
                </a:lnTo>
                <a:lnTo>
                  <a:pt x="114300" y="419100"/>
                </a:lnTo>
                <a:close/>
              </a:path>
            </a:pathLst>
          </a:custGeom>
          <a:solidFill>
            <a:srgbClr val="FF33CC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334511" y="2351532"/>
          <a:ext cx="1543050" cy="515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/>
                <a:gridCol w="533400"/>
                <a:gridCol w="419100"/>
              </a:tblGrid>
              <a:tr h="477012">
                <a:tc>
                  <a:txBody>
                    <a:bodyPr/>
                    <a:lstStyle/>
                    <a:p>
                      <a:pPr marL="147955">
                        <a:lnSpc>
                          <a:spcPts val="31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3115"/>
                        </a:lnSpc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5997828" y="2305304"/>
            <a:ext cx="180911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21021" sz="2775" spc="7" b="1">
                <a:solidFill>
                  <a:srgbClr val="FFFF00"/>
                </a:solidFill>
                <a:latin typeface="Times New Roman"/>
                <a:cs typeface="Times New Roman"/>
              </a:rPr>
              <a:t>1 </a:t>
            </a:r>
            <a:r>
              <a:rPr dirty="0" sz="2800" spc="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21021" sz="2775" spc="7" b="1">
                <a:solidFill>
                  <a:srgbClr val="FFFF00"/>
                </a:solidFill>
                <a:latin typeface="Times New Roman"/>
                <a:cs typeface="Times New Roman"/>
              </a:rPr>
              <a:t>2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… </a:t>
            </a:r>
            <a:r>
              <a:rPr dirty="0" sz="2800" spc="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21021" sz="2775" spc="7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baseline="-21021" sz="2775" spc="-487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#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059423" y="1856994"/>
            <a:ext cx="114300" cy="533400"/>
          </a:xfrm>
          <a:custGeom>
            <a:avLst/>
            <a:gdLst/>
            <a:ahLst/>
            <a:cxnLst/>
            <a:rect l="l" t="t" r="r" b="b"/>
            <a:pathLst>
              <a:path w="114300" h="533400">
                <a:moveTo>
                  <a:pt x="38100" y="419100"/>
                </a:moveTo>
                <a:lnTo>
                  <a:pt x="0" y="419100"/>
                </a:lnTo>
                <a:lnTo>
                  <a:pt x="57150" y="533400"/>
                </a:lnTo>
                <a:lnTo>
                  <a:pt x="104775" y="438150"/>
                </a:lnTo>
                <a:lnTo>
                  <a:pt x="38100" y="438150"/>
                </a:lnTo>
                <a:lnTo>
                  <a:pt x="38100" y="419100"/>
                </a:lnTo>
                <a:close/>
              </a:path>
              <a:path w="114300" h="533400">
                <a:moveTo>
                  <a:pt x="76200" y="0"/>
                </a:moveTo>
                <a:lnTo>
                  <a:pt x="38100" y="0"/>
                </a:lnTo>
                <a:lnTo>
                  <a:pt x="38100" y="438150"/>
                </a:lnTo>
                <a:lnTo>
                  <a:pt x="76200" y="438150"/>
                </a:lnTo>
                <a:lnTo>
                  <a:pt x="76200" y="0"/>
                </a:lnTo>
                <a:close/>
              </a:path>
              <a:path w="114300" h="533400">
                <a:moveTo>
                  <a:pt x="114300" y="419100"/>
                </a:moveTo>
                <a:lnTo>
                  <a:pt x="76200" y="419100"/>
                </a:lnTo>
                <a:lnTo>
                  <a:pt x="76200" y="438150"/>
                </a:lnTo>
                <a:lnTo>
                  <a:pt x="104775" y="438150"/>
                </a:lnTo>
                <a:lnTo>
                  <a:pt x="114300" y="419100"/>
                </a:lnTo>
                <a:close/>
              </a:path>
            </a:pathLst>
          </a:custGeom>
          <a:solidFill>
            <a:srgbClr val="FF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194805" y="1524127"/>
            <a:ext cx="2228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5231" y="26923"/>
            <a:ext cx="15601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990089" y="26923"/>
            <a:ext cx="35972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4.4</a:t>
            </a:r>
            <a:r>
              <a:rPr dirty="0" sz="2000" spc="45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分析法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与</a:t>
            </a:r>
            <a:r>
              <a:rPr dirty="0" sz="2000" spc="-550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11392" y="26923"/>
            <a:ext cx="28346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4.4.1</a:t>
            </a:r>
            <a:r>
              <a:rPr dirty="0" u="sng" sz="2000" spc="42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LL(1)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分析器的结构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6740" y="867661"/>
            <a:ext cx="8136890" cy="3992245"/>
          </a:xfrm>
          <a:prstGeom prst="rect">
            <a:avLst/>
          </a:prstGeom>
        </p:spPr>
        <p:txBody>
          <a:bodyPr wrap="square" lIns="0" tIns="2254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75"/>
              </a:spcBef>
              <a:tabLst>
                <a:tab pos="632460" algn="l"/>
              </a:tabLst>
            </a:pP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(3)	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若</a:t>
            </a:r>
            <a:r>
              <a:rPr dirty="0" sz="2950" spc="-65" b="1" i="1">
                <a:solidFill>
                  <a:srgbClr val="66FFFF"/>
                </a:solidFill>
                <a:latin typeface="宋体"/>
                <a:cs typeface="宋体"/>
              </a:rPr>
              <a:t>Ｘ</a:t>
            </a:r>
            <a:r>
              <a:rPr dirty="0" sz="2800" spc="-65" b="1">
                <a:solidFill>
                  <a:srgbClr val="66FFFF"/>
                </a:solidFill>
                <a:latin typeface="宋体"/>
                <a:cs typeface="宋体"/>
              </a:rPr>
              <a:t>∈</a:t>
            </a:r>
            <a:r>
              <a:rPr dirty="0" sz="2950" spc="-65" b="1" i="1">
                <a:solidFill>
                  <a:srgbClr val="66FFFF"/>
                </a:solidFill>
                <a:latin typeface="宋体"/>
                <a:cs typeface="宋体"/>
              </a:rPr>
              <a:t>Ｖ</a:t>
            </a:r>
            <a:r>
              <a:rPr dirty="0" baseline="-25525" sz="2775" spc="-97" b="1" i="1">
                <a:solidFill>
                  <a:srgbClr val="66FFFF"/>
                </a:solidFill>
                <a:latin typeface="Times New Roman"/>
                <a:cs typeface="Times New Roman"/>
              </a:rPr>
              <a:t>N</a:t>
            </a:r>
            <a:r>
              <a:rPr dirty="0" sz="2800" spc="-65" b="1">
                <a:solidFill>
                  <a:srgbClr val="66FFFF"/>
                </a:solidFill>
                <a:latin typeface="宋体"/>
                <a:cs typeface="宋体"/>
              </a:rPr>
              <a:t>，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则查分析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表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。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此时对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Ｍ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800" spc="4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1021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126364" marR="505459" indent="358140">
              <a:lnSpc>
                <a:spcPts val="5210"/>
              </a:lnSpc>
              <a:spcBef>
                <a:spcPts val="450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①</a:t>
            </a:r>
            <a:r>
              <a:rPr dirty="0" sz="2800" spc="-6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800" spc="-40" b="1">
                <a:solidFill>
                  <a:srgbClr val="FFFFFF"/>
                </a:solidFill>
                <a:latin typeface="宋体"/>
                <a:cs typeface="宋体"/>
              </a:rPr>
              <a:t>Ｍ</a:t>
            </a:r>
            <a:r>
              <a:rPr dirty="0" sz="2800" spc="-4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950" spc="-40" b="1" i="1">
                <a:solidFill>
                  <a:srgbClr val="FFFFFF"/>
                </a:solidFill>
                <a:latin typeface="宋体"/>
                <a:cs typeface="宋体"/>
              </a:rPr>
              <a:t>Ｘ</a:t>
            </a:r>
            <a:r>
              <a:rPr dirty="0" sz="2800" spc="-4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1021" sz="277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中为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一个产生式规</a:t>
            </a:r>
            <a:r>
              <a:rPr dirty="0" sz="2800" b="1">
                <a:solidFill>
                  <a:srgbClr val="FFFF66"/>
                </a:solidFill>
                <a:latin typeface="宋体"/>
                <a:cs typeface="宋体"/>
              </a:rPr>
              <a:t>则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，则将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从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栈中弹出并将此规则右部的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号序</a:t>
            </a:r>
            <a:r>
              <a:rPr dirty="0" sz="2800" spc="-20" b="1">
                <a:solidFill>
                  <a:srgbClr val="FFFFFF"/>
                </a:solidFill>
                <a:latin typeface="宋体"/>
                <a:cs typeface="宋体"/>
              </a:rPr>
              <a:t>列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按倒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序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推进</a:t>
            </a:r>
            <a:endParaRPr sz="2800">
              <a:latin typeface="宋体"/>
              <a:cs typeface="宋体"/>
            </a:endParaRPr>
          </a:p>
          <a:p>
            <a:pPr marL="126364">
              <a:lnSpc>
                <a:spcPct val="100000"/>
              </a:lnSpc>
              <a:spcBef>
                <a:spcPts val="121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栈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若产生式规则为</a:t>
            </a:r>
            <a:r>
              <a:rPr dirty="0" sz="2950" spc="-45" b="1" i="1">
                <a:solidFill>
                  <a:srgbClr val="FFFFFF"/>
                </a:solidFill>
                <a:latin typeface="宋体"/>
                <a:cs typeface="宋体"/>
              </a:rPr>
              <a:t>Ｘ</a:t>
            </a:r>
            <a:r>
              <a:rPr dirty="0" sz="2800" spc="-4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4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2800" spc="-4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仅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将</a:t>
            </a:r>
            <a:r>
              <a:rPr dirty="0" sz="2950" spc="-160" b="1" i="1">
                <a:solidFill>
                  <a:srgbClr val="FFFFFF"/>
                </a:solidFill>
                <a:latin typeface="宋体"/>
                <a:cs typeface="宋体"/>
              </a:rPr>
              <a:t>Ｘ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从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栈中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弹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出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38100" marR="474980" indent="445134">
              <a:lnSpc>
                <a:spcPts val="5210"/>
              </a:lnSpc>
              <a:spcBef>
                <a:spcPts val="450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②</a:t>
            </a:r>
            <a:r>
              <a:rPr dirty="0" sz="2800" spc="-74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800" spc="-45" b="1">
                <a:solidFill>
                  <a:srgbClr val="FFFFFF"/>
                </a:solidFill>
                <a:latin typeface="宋体"/>
                <a:cs typeface="宋体"/>
              </a:rPr>
              <a:t>Ｍ</a:t>
            </a:r>
            <a:r>
              <a:rPr dirty="0" sz="2800" spc="-4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950" spc="-45" b="1" i="1">
                <a:solidFill>
                  <a:srgbClr val="FFFFFF"/>
                </a:solidFill>
                <a:latin typeface="宋体"/>
                <a:cs typeface="宋体"/>
              </a:rPr>
              <a:t>Ｘ</a:t>
            </a:r>
            <a:r>
              <a:rPr dirty="0" sz="2800" spc="-4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1021" sz="277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中为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空白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，表示出错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可调用语 法出错处理子程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序。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5231" y="26923"/>
            <a:ext cx="15601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990089" y="26923"/>
            <a:ext cx="353250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4.4</a:t>
            </a:r>
            <a:r>
              <a:rPr dirty="0" sz="2000" spc="4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分析法与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48909" y="26923"/>
            <a:ext cx="28346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4.4.1</a:t>
            </a:r>
            <a:r>
              <a:rPr dirty="0" u="sng" sz="2000" spc="42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LL(1)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分析器的结构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6231" y="744727"/>
            <a:ext cx="114935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10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15642" y="581551"/>
            <a:ext cx="3215640" cy="3848100"/>
          </a:xfrm>
          <a:prstGeom prst="rect">
            <a:avLst/>
          </a:prstGeom>
        </p:spPr>
        <p:txBody>
          <a:bodyPr wrap="square" lIns="0" tIns="156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设有文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spc="-3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3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350" spc="-35" b="1" i="1">
                <a:solidFill>
                  <a:srgbClr val="FFFFFF"/>
                </a:solidFill>
                <a:latin typeface="宋体"/>
                <a:cs typeface="宋体"/>
              </a:rPr>
              <a:t>Ｅ</a:t>
            </a:r>
            <a:r>
              <a:rPr dirty="0" sz="3200" spc="-3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3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 marL="727710">
              <a:lnSpc>
                <a:spcPct val="100000"/>
              </a:lnSpc>
              <a:spcBef>
                <a:spcPts val="1065"/>
              </a:spcBef>
            </a:pP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TE</a:t>
            </a:r>
            <a:r>
              <a:rPr dirty="0" sz="3200" spc="-5" b="1">
                <a:solidFill>
                  <a:srgbClr val="FFFF00"/>
                </a:solidFill>
                <a:latin typeface="Courier New"/>
                <a:cs typeface="Courier New"/>
              </a:rPr>
              <a:t>’</a:t>
            </a:r>
            <a:endParaRPr sz="3200">
              <a:latin typeface="Courier New"/>
              <a:cs typeface="Courier New"/>
            </a:endParaRPr>
          </a:p>
          <a:p>
            <a:pPr marL="727710" marR="5080">
              <a:lnSpc>
                <a:spcPct val="130000"/>
              </a:lnSpc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00"/>
                </a:solidFill>
                <a:latin typeface="Courier New"/>
                <a:cs typeface="Courier New"/>
              </a:rPr>
              <a:t>’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→+</a:t>
            </a:r>
            <a:r>
              <a:rPr dirty="0" sz="3200" spc="-7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TE</a:t>
            </a:r>
            <a:r>
              <a:rPr dirty="0" sz="3200" spc="-5" b="1">
                <a:solidFill>
                  <a:srgbClr val="FFFF00"/>
                </a:solidFill>
                <a:latin typeface="Courier New"/>
                <a:cs typeface="Courier New"/>
              </a:rPr>
              <a:t>’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│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ε 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FT</a:t>
            </a:r>
            <a:r>
              <a:rPr dirty="0" sz="3200" b="1">
                <a:solidFill>
                  <a:srgbClr val="FFFF00"/>
                </a:solidFill>
                <a:latin typeface="Courier New"/>
                <a:cs typeface="Courier New"/>
              </a:rPr>
              <a:t>’</a:t>
            </a:r>
            <a:endParaRPr sz="3200">
              <a:latin typeface="Courier New"/>
              <a:cs typeface="Courier New"/>
            </a:endParaRPr>
          </a:p>
          <a:p>
            <a:pPr marL="727710" marR="157480">
              <a:lnSpc>
                <a:spcPts val="5050"/>
              </a:lnSpc>
              <a:spcBef>
                <a:spcPts val="315"/>
              </a:spcBef>
            </a:pP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dirty="0" sz="3200" spc="-5" b="1">
                <a:solidFill>
                  <a:srgbClr val="FFFF00"/>
                </a:solidFill>
                <a:latin typeface="Courier New"/>
                <a:cs typeface="Courier New"/>
              </a:rPr>
              <a:t>’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FT</a:t>
            </a:r>
            <a:r>
              <a:rPr dirty="0" sz="3200" spc="-5" b="1">
                <a:solidFill>
                  <a:srgbClr val="FFFF00"/>
                </a:solidFill>
                <a:latin typeface="Courier New"/>
                <a:cs typeface="Courier New"/>
              </a:rPr>
              <a:t>’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│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ε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→(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)│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id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48425" y="4656785"/>
            <a:ext cx="141160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id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1140" y="4510687"/>
            <a:ext cx="5941695" cy="1294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100"/>
              </a:lnSpc>
              <a:spcBef>
                <a:spcPts val="100"/>
              </a:spcBef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和文法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LL(1)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分析表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对输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入串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使用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LL(1)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分析器的分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过程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211057" y="6678574"/>
            <a:ext cx="7378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69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05231" y="26923"/>
            <a:ext cx="837819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  <a:tab pos="1797050" algn="l"/>
                <a:tab pos="5556250" algn="l"/>
              </a:tabLst>
            </a:pPr>
            <a:r>
              <a:rPr dirty="0" sz="2000">
                <a:solidFill>
                  <a:srgbClr val="8B4600"/>
                </a:solidFill>
              </a:rPr>
              <a:t>c</a:t>
            </a:r>
            <a:r>
              <a:rPr dirty="0" sz="2000">
                <a:solidFill>
                  <a:srgbClr val="A15100"/>
                </a:solidFill>
              </a:rPr>
              <a:t>h4	</a:t>
            </a:r>
            <a:r>
              <a:rPr dirty="0" sz="2000" spc="5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>
                <a:solidFill>
                  <a:srgbClr val="A15100"/>
                </a:solidFill>
              </a:rPr>
              <a:t>4.4  LL(1)</a:t>
            </a:r>
            <a:r>
              <a:rPr dirty="0" sz="2000" spc="5">
                <a:solidFill>
                  <a:srgbClr val="A15100"/>
                </a:solidFill>
                <a:latin typeface="宋体"/>
                <a:cs typeface="宋体"/>
              </a:rPr>
              <a:t>分析法与</a:t>
            </a:r>
            <a:r>
              <a:rPr dirty="0" sz="2000">
                <a:solidFill>
                  <a:srgbClr val="A15100"/>
                </a:solidFill>
              </a:rPr>
              <a:t>LL(1)</a:t>
            </a:r>
            <a:r>
              <a:rPr dirty="0" sz="2000" spc="5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>
                <a:solidFill>
                  <a:srgbClr val="A15100"/>
                </a:solidFill>
                <a:latin typeface="宋体"/>
                <a:cs typeface="宋体"/>
              </a:rPr>
              <a:t>析器	</a:t>
            </a:r>
            <a:r>
              <a:rPr dirty="0" u="sng" sz="200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</a:rPr>
              <a:t>4.4.2</a:t>
            </a:r>
            <a:r>
              <a:rPr dirty="0" u="sng" sz="2000" spc="43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</a:rPr>
              <a:t> </a:t>
            </a:r>
            <a:r>
              <a:rPr dirty="0" u="sng" sz="200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</a:rPr>
              <a:t>LL(1)</a:t>
            </a:r>
            <a:r>
              <a:rPr dirty="0" u="sng" sz="2000" spc="5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60498" y="698118"/>
            <a:ext cx="38036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文法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G(E)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LL(1)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分析表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438144" y="6637019"/>
            <a:ext cx="782320" cy="220979"/>
          </a:xfrm>
          <a:custGeom>
            <a:avLst/>
            <a:gdLst/>
            <a:ahLst/>
            <a:cxnLst/>
            <a:rect l="l" t="t" r="r" b="b"/>
            <a:pathLst>
              <a:path w="782320" h="220979">
                <a:moveTo>
                  <a:pt x="781811" y="0"/>
                </a:moveTo>
                <a:lnTo>
                  <a:pt x="0" y="0"/>
                </a:lnTo>
                <a:lnTo>
                  <a:pt x="0" y="220979"/>
                </a:lnTo>
                <a:lnTo>
                  <a:pt x="781811" y="220979"/>
                </a:lnTo>
                <a:lnTo>
                  <a:pt x="781811" y="193357"/>
                </a:lnTo>
                <a:lnTo>
                  <a:pt x="473709" y="193357"/>
                </a:lnTo>
                <a:lnTo>
                  <a:pt x="307975" y="110489"/>
                </a:lnTo>
                <a:lnTo>
                  <a:pt x="473709" y="27622"/>
                </a:lnTo>
                <a:lnTo>
                  <a:pt x="781811" y="27622"/>
                </a:lnTo>
                <a:lnTo>
                  <a:pt x="781811" y="0"/>
                </a:lnTo>
                <a:close/>
              </a:path>
              <a:path w="782320" h="220979">
                <a:moveTo>
                  <a:pt x="781811" y="27622"/>
                </a:moveTo>
                <a:lnTo>
                  <a:pt x="473709" y="27622"/>
                </a:lnTo>
                <a:lnTo>
                  <a:pt x="473709" y="193357"/>
                </a:lnTo>
                <a:lnTo>
                  <a:pt x="781811" y="193357"/>
                </a:lnTo>
                <a:lnTo>
                  <a:pt x="781811" y="27622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746119" y="6664642"/>
            <a:ext cx="165735" cy="165735"/>
          </a:xfrm>
          <a:custGeom>
            <a:avLst/>
            <a:gdLst/>
            <a:ahLst/>
            <a:cxnLst/>
            <a:rect l="l" t="t" r="r" b="b"/>
            <a:pathLst>
              <a:path w="165735" h="165734">
                <a:moveTo>
                  <a:pt x="165734" y="0"/>
                </a:moveTo>
                <a:lnTo>
                  <a:pt x="0" y="82867"/>
                </a:lnTo>
                <a:lnTo>
                  <a:pt x="165734" y="165735"/>
                </a:lnTo>
                <a:lnTo>
                  <a:pt x="165734" y="0"/>
                </a:lnTo>
                <a:close/>
              </a:path>
            </a:pathLst>
          </a:custGeom>
          <a:solidFill>
            <a:srgbClr val="1F3C5C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24968" y="1353311"/>
          <a:ext cx="8935085" cy="4820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3919"/>
                <a:gridCol w="1431290"/>
                <a:gridCol w="1371600"/>
                <a:gridCol w="1094105"/>
                <a:gridCol w="1254125"/>
                <a:gridCol w="1087754"/>
                <a:gridCol w="1635125"/>
                <a:gridCol w="156845"/>
              </a:tblGrid>
              <a:tr h="585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1594">
                        <a:lnSpc>
                          <a:spcPts val="3654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黑体"/>
                          <a:cs typeface="黑体"/>
                        </a:rPr>
                        <a:t>+</a:t>
                      </a:r>
                      <a:endParaRPr sz="3200">
                        <a:latin typeface="黑体"/>
                        <a:cs typeface="黑体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9855">
                        <a:lnSpc>
                          <a:spcPts val="3654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4480" marR="12065">
                        <a:lnSpc>
                          <a:spcPts val="3654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3654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9105">
                        <a:lnSpc>
                          <a:spcPts val="3654"/>
                        </a:lnSpc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20345">
                        <a:lnSpc>
                          <a:spcPts val="3654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9296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950">
                        <a:latin typeface="Times New Roman"/>
                        <a:cs typeface="Times New Roman"/>
                      </a:endParaRPr>
                    </a:p>
                    <a:p>
                      <a:pPr marL="280670">
                        <a:lnSpc>
                          <a:spcPts val="3779"/>
                        </a:lnSpc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325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B="0" marT="381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  <a:p>
                      <a:pPr marL="41275">
                        <a:lnSpc>
                          <a:spcPct val="100000"/>
                        </a:lnSpc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B="0" marT="6985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spcBef>
                          <a:spcPts val="1675"/>
                        </a:spcBef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B="0" marT="212725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975"/>
                        </a:spcBef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→+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082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7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B="0" marT="25082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dirty="0" sz="28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800" spc="-5" b="1">
                          <a:solidFill>
                            <a:srgbClr val="FFFF00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r>
                        <a:rPr dirty="0" sz="28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8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ε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113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dirty="0" sz="28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800" spc="-5" b="1">
                          <a:solidFill>
                            <a:srgbClr val="FFFF00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r>
                        <a:rPr dirty="0" sz="28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8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ε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9865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771144">
                <a:tc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4625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9050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FT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B="0" marT="19748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FT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B="0" marT="17018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871728">
                <a:tc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B="0" marT="111125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dirty="0" sz="28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2800" spc="-5" b="1">
                          <a:solidFill>
                            <a:srgbClr val="FFFF00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r>
                        <a:rPr dirty="0" sz="28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8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ε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176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605"/>
                        </a:spcBef>
                      </a:pPr>
                      <a:r>
                        <a:rPr dirty="0" sz="2400" spc="-1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→*</a:t>
                      </a:r>
                      <a:r>
                        <a:rPr dirty="0" sz="2400" spc="-1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383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  <a:spcBef>
                          <a:spcPts val="160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B="0" marT="20383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dirty="0" sz="28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2800" spc="-5" b="1">
                          <a:solidFill>
                            <a:srgbClr val="FFFF00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r>
                        <a:rPr dirty="0" sz="28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8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ε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478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dirty="0" sz="28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2800" spc="-5" b="1">
                          <a:solidFill>
                            <a:srgbClr val="FFFF00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r>
                        <a:rPr dirty="0" sz="28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8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ε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415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824483">
                <a:tc>
                  <a:txBody>
                    <a:bodyPr/>
                    <a:lstStyle/>
                    <a:p>
                      <a:pPr marL="280670">
                        <a:lnSpc>
                          <a:spcPts val="3770"/>
                        </a:lnSpc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marR="1206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40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id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3637279" y="6639864"/>
            <a:ext cx="3854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5" b="1">
                <a:solidFill>
                  <a:srgbClr val="FFFFFF"/>
                </a:solidFill>
                <a:latin typeface="宋体"/>
                <a:cs typeface="宋体"/>
                <a:hlinkClick r:id="rId4" action="ppaction://hlinksldjump"/>
              </a:rPr>
              <a:t>返回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981955" y="6637019"/>
            <a:ext cx="780415" cy="220979"/>
          </a:xfrm>
          <a:custGeom>
            <a:avLst/>
            <a:gdLst/>
            <a:ahLst/>
            <a:cxnLst/>
            <a:rect l="l" t="t" r="r" b="b"/>
            <a:pathLst>
              <a:path w="780414" h="220979">
                <a:moveTo>
                  <a:pt x="780288" y="0"/>
                </a:moveTo>
                <a:lnTo>
                  <a:pt x="0" y="0"/>
                </a:lnTo>
                <a:lnTo>
                  <a:pt x="0" y="220979"/>
                </a:lnTo>
                <a:lnTo>
                  <a:pt x="780288" y="220979"/>
                </a:lnTo>
                <a:lnTo>
                  <a:pt x="780288" y="193357"/>
                </a:lnTo>
                <a:lnTo>
                  <a:pt x="472948" y="193357"/>
                </a:lnTo>
                <a:lnTo>
                  <a:pt x="307213" y="110489"/>
                </a:lnTo>
                <a:lnTo>
                  <a:pt x="472948" y="27622"/>
                </a:lnTo>
                <a:lnTo>
                  <a:pt x="780288" y="27622"/>
                </a:lnTo>
                <a:lnTo>
                  <a:pt x="780288" y="0"/>
                </a:lnTo>
                <a:close/>
              </a:path>
              <a:path w="780414" h="220979">
                <a:moveTo>
                  <a:pt x="780288" y="27622"/>
                </a:moveTo>
                <a:lnTo>
                  <a:pt x="472948" y="27622"/>
                </a:lnTo>
                <a:lnTo>
                  <a:pt x="472948" y="193357"/>
                </a:lnTo>
                <a:lnTo>
                  <a:pt x="780288" y="193357"/>
                </a:lnTo>
                <a:lnTo>
                  <a:pt x="780288" y="27622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289169" y="6664642"/>
            <a:ext cx="165735" cy="165735"/>
          </a:xfrm>
          <a:custGeom>
            <a:avLst/>
            <a:gdLst/>
            <a:ahLst/>
            <a:cxnLst/>
            <a:rect l="l" t="t" r="r" b="b"/>
            <a:pathLst>
              <a:path w="165735" h="165734">
                <a:moveTo>
                  <a:pt x="165734" y="0"/>
                </a:moveTo>
                <a:lnTo>
                  <a:pt x="0" y="82867"/>
                </a:lnTo>
                <a:lnTo>
                  <a:pt x="165734" y="165735"/>
                </a:lnTo>
                <a:lnTo>
                  <a:pt x="165734" y="0"/>
                </a:lnTo>
                <a:close/>
              </a:path>
            </a:pathLst>
          </a:custGeom>
          <a:solidFill>
            <a:srgbClr val="1F3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135117" y="6639864"/>
            <a:ext cx="4743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5" b="1">
                <a:solidFill>
                  <a:srgbClr val="FFFFFF"/>
                </a:solidFill>
                <a:latin typeface="宋体"/>
                <a:cs typeface="宋体"/>
                <a:hlinkClick r:id="rId5" action="ppaction://hlinksldjump"/>
              </a:rPr>
              <a:t>返回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  <a:hlinkClick r:id="rId5" action="ppaction://hlinksldjump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211057" y="6678574"/>
            <a:ext cx="7378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70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05231" y="26923"/>
            <a:ext cx="15601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90089" y="26923"/>
            <a:ext cx="353250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4.4</a:t>
            </a:r>
            <a:r>
              <a:rPr dirty="0" sz="2000" spc="4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分析法与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48909" y="26923"/>
            <a:ext cx="28346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4.4.1</a:t>
            </a:r>
            <a:r>
              <a:rPr dirty="0" u="sng" sz="2000" spc="42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LL(1)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分析器的结构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2742" y="983361"/>
            <a:ext cx="65532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5" b="1">
                <a:solidFill>
                  <a:srgbClr val="FFFFFF"/>
                </a:solidFill>
                <a:latin typeface="宋体"/>
                <a:cs typeface="宋体"/>
              </a:rPr>
              <a:t>步</a:t>
            </a:r>
            <a:r>
              <a:rPr dirty="0" sz="2200" spc="-63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 spc="-15" b="1">
                <a:solidFill>
                  <a:srgbClr val="FFFFFF"/>
                </a:solidFill>
                <a:latin typeface="宋体"/>
                <a:cs typeface="宋体"/>
              </a:rPr>
              <a:t>骤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03273" y="983361"/>
            <a:ext cx="868044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5" b="1">
                <a:solidFill>
                  <a:srgbClr val="FFFFFF"/>
                </a:solidFill>
                <a:latin typeface="宋体"/>
                <a:cs typeface="宋体"/>
              </a:rPr>
              <a:t>分析栈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38447" y="983361"/>
            <a:ext cx="142748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5" b="1">
                <a:solidFill>
                  <a:srgbClr val="FFFFFF"/>
                </a:solidFill>
                <a:latin typeface="宋体"/>
                <a:cs typeface="宋体"/>
              </a:rPr>
              <a:t>余留输入串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05702" y="983361"/>
            <a:ext cx="142748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5" b="1">
                <a:solidFill>
                  <a:srgbClr val="FFFFFF"/>
                </a:solidFill>
                <a:latin typeface="宋体"/>
                <a:cs typeface="宋体"/>
              </a:rPr>
              <a:t>所用产生式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42338" y="1774459"/>
            <a:ext cx="1255395" cy="965835"/>
          </a:xfrm>
          <a:prstGeom prst="rect">
            <a:avLst/>
          </a:prstGeom>
        </p:spPr>
        <p:txBody>
          <a:bodyPr wrap="square" lIns="0" tIns="14732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160"/>
              </a:spcBef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# 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2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# 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200" spc="-5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200" spc="-5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r>
              <a:rPr dirty="0" sz="2200" spc="-819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76344" y="1774459"/>
            <a:ext cx="1200785" cy="965835"/>
          </a:xfrm>
          <a:prstGeom prst="rect">
            <a:avLst/>
          </a:prstGeom>
        </p:spPr>
        <p:txBody>
          <a:bodyPr wrap="square" lIns="0" tIns="1473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60"/>
              </a:spcBef>
            </a:pP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dirty="0" sz="2200" spc="-4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2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060"/>
              </a:spcBef>
            </a:pP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dirty="0" sz="2200" spc="-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42535" y="2849117"/>
            <a:ext cx="899794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45385" y="2714847"/>
            <a:ext cx="169545" cy="181863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just" marL="12700" marR="5080">
              <a:lnSpc>
                <a:spcPct val="138900"/>
              </a:lnSpc>
              <a:spcBef>
                <a:spcPts val="125"/>
              </a:spcBef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#  #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84267" y="3183577"/>
            <a:ext cx="741680" cy="1350010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algn="just" marL="15240" marR="5080" indent="-3175">
              <a:lnSpc>
                <a:spcPct val="138400"/>
              </a:lnSpc>
              <a:spcBef>
                <a:spcPts val="145"/>
              </a:spcBef>
            </a:pP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#  </a:t>
            </a: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53005" y="4629099"/>
            <a:ext cx="75755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#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000" spc="-9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25771" y="4629099"/>
            <a:ext cx="73977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dirty="0" sz="2000" spc="-8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53005" y="5056378"/>
            <a:ext cx="9099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#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000" spc="-8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5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000" spc="-5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39973" y="5087873"/>
            <a:ext cx="1934210" cy="330835"/>
          </a:xfrm>
          <a:prstGeom prst="rect">
            <a:avLst/>
          </a:prstGeom>
          <a:ln w="38100">
            <a:solidFill>
              <a:srgbClr val="FF6737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73025">
              <a:lnSpc>
                <a:spcPts val="2255"/>
              </a:lnSpc>
              <a:tabLst>
                <a:tab pos="1678305" algn="l"/>
              </a:tabLst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F	</a:t>
            </a: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65040" y="5056378"/>
            <a:ext cx="4787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000" spc="5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953005" y="5483148"/>
            <a:ext cx="11068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#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000" spc="-8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5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000" spc="-5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r>
              <a:rPr dirty="0" sz="2000" spc="-5" b="1" i="1">
                <a:solidFill>
                  <a:srgbClr val="66FFFF"/>
                </a:solidFill>
                <a:latin typeface="Times New Roman"/>
                <a:cs typeface="Times New Roman"/>
              </a:rPr>
              <a:t>id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93767" y="5483148"/>
            <a:ext cx="7397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 i="1">
                <a:solidFill>
                  <a:srgbClr val="66FFFF"/>
                </a:solidFill>
                <a:latin typeface="Times New Roman"/>
                <a:cs typeface="Times New Roman"/>
              </a:rPr>
              <a:t>id</a:t>
            </a:r>
            <a:r>
              <a:rPr dirty="0" sz="2000" spc="-75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73430" y="1774459"/>
            <a:ext cx="301625" cy="4466590"/>
          </a:xfrm>
          <a:prstGeom prst="rect">
            <a:avLst/>
          </a:prstGeom>
        </p:spPr>
        <p:txBody>
          <a:bodyPr wrap="square" lIns="0" tIns="147320" rIns="0" bIns="0" rtlCol="0" vert="horz">
            <a:spAutoFit/>
          </a:bodyPr>
          <a:lstStyle/>
          <a:p>
            <a:pPr marL="121920">
              <a:lnSpc>
                <a:spcPct val="100000"/>
              </a:lnSpc>
              <a:spcBef>
                <a:spcPts val="1160"/>
              </a:spcBef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  <a:p>
            <a:pPr marL="121920">
              <a:lnSpc>
                <a:spcPct val="100000"/>
              </a:lnSpc>
              <a:spcBef>
                <a:spcPts val="1060"/>
              </a:spcBef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200">
              <a:latin typeface="Times New Roman"/>
              <a:cs typeface="Times New Roman"/>
            </a:endParaRPr>
          </a:p>
          <a:p>
            <a:pPr marL="121920">
              <a:lnSpc>
                <a:spcPct val="100000"/>
              </a:lnSpc>
              <a:spcBef>
                <a:spcPts val="1055"/>
              </a:spcBef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200">
              <a:latin typeface="Times New Roman"/>
              <a:cs typeface="Times New Roman"/>
            </a:endParaRPr>
          </a:p>
          <a:p>
            <a:pPr marL="120650">
              <a:lnSpc>
                <a:spcPct val="100000"/>
              </a:lnSpc>
              <a:spcBef>
                <a:spcPts val="1055"/>
              </a:spcBef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200">
              <a:latin typeface="Times New Roman"/>
              <a:cs typeface="Times New Roman"/>
            </a:endParaRPr>
          </a:p>
          <a:p>
            <a:pPr marL="129539">
              <a:lnSpc>
                <a:spcPct val="100000"/>
              </a:lnSpc>
              <a:spcBef>
                <a:spcPts val="969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  <a:p>
            <a:pPr marL="160020">
              <a:lnSpc>
                <a:spcPct val="100000"/>
              </a:lnSpc>
              <a:spcBef>
                <a:spcPts val="96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2000">
              <a:latin typeface="Times New Roman"/>
              <a:cs typeface="Times New Roman"/>
            </a:endParaRPr>
          </a:p>
          <a:p>
            <a:pPr marL="160020">
              <a:lnSpc>
                <a:spcPct val="100000"/>
              </a:lnSpc>
              <a:spcBef>
                <a:spcPts val="96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endParaRPr sz="200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  <a:spcBef>
                <a:spcPts val="96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endParaRPr sz="2000">
              <a:latin typeface="Times New Roman"/>
              <a:cs typeface="Times New Roman"/>
            </a:endParaRPr>
          </a:p>
          <a:p>
            <a:pPr marL="32384">
              <a:lnSpc>
                <a:spcPct val="100000"/>
              </a:lnSpc>
              <a:spcBef>
                <a:spcPts val="960"/>
              </a:spcBef>
            </a:pP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2000" spc="-105" b="1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896617" y="5909868"/>
            <a:ext cx="9112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#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000" spc="-7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5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000" spc="-5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623308" y="5909868"/>
            <a:ext cx="5416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0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25374" y="838961"/>
            <a:ext cx="8514715" cy="0"/>
          </a:xfrm>
          <a:custGeom>
            <a:avLst/>
            <a:gdLst/>
            <a:ahLst/>
            <a:cxnLst/>
            <a:rect l="l" t="t" r="r" b="b"/>
            <a:pathLst>
              <a:path w="8514715" h="0">
                <a:moveTo>
                  <a:pt x="0" y="0"/>
                </a:moveTo>
                <a:lnTo>
                  <a:pt x="8514588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77773" y="6497573"/>
            <a:ext cx="8514715" cy="0"/>
          </a:xfrm>
          <a:custGeom>
            <a:avLst/>
            <a:gdLst/>
            <a:ahLst/>
            <a:cxnLst/>
            <a:rect l="l" t="t" r="r" b="b"/>
            <a:pathLst>
              <a:path w="8514715" h="0">
                <a:moveTo>
                  <a:pt x="0" y="0"/>
                </a:moveTo>
                <a:lnTo>
                  <a:pt x="8514588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591561" y="1905761"/>
            <a:ext cx="1922145" cy="401320"/>
          </a:xfrm>
          <a:custGeom>
            <a:avLst/>
            <a:gdLst/>
            <a:ahLst/>
            <a:cxnLst/>
            <a:rect l="l" t="t" r="r" b="b"/>
            <a:pathLst>
              <a:path w="1922145" h="401319">
                <a:moveTo>
                  <a:pt x="0" y="400812"/>
                </a:moveTo>
                <a:lnTo>
                  <a:pt x="1921764" y="400812"/>
                </a:lnTo>
                <a:lnTo>
                  <a:pt x="1921764" y="0"/>
                </a:lnTo>
                <a:lnTo>
                  <a:pt x="0" y="0"/>
                </a:lnTo>
                <a:lnTo>
                  <a:pt x="0" y="400812"/>
                </a:lnTo>
                <a:close/>
              </a:path>
            </a:pathLst>
          </a:custGeom>
          <a:ln w="38100">
            <a:solidFill>
              <a:srgbClr val="FF67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919222" y="2362961"/>
            <a:ext cx="1621790" cy="401320"/>
          </a:xfrm>
          <a:custGeom>
            <a:avLst/>
            <a:gdLst/>
            <a:ahLst/>
            <a:cxnLst/>
            <a:rect l="l" t="t" r="r" b="b"/>
            <a:pathLst>
              <a:path w="1621789" h="401319">
                <a:moveTo>
                  <a:pt x="0" y="400812"/>
                </a:moveTo>
                <a:lnTo>
                  <a:pt x="1621536" y="400812"/>
                </a:lnTo>
                <a:lnTo>
                  <a:pt x="1621536" y="0"/>
                </a:lnTo>
                <a:lnTo>
                  <a:pt x="0" y="0"/>
                </a:lnTo>
                <a:lnTo>
                  <a:pt x="0" y="400812"/>
                </a:lnTo>
                <a:close/>
              </a:path>
            </a:pathLst>
          </a:custGeom>
          <a:ln w="38100">
            <a:solidFill>
              <a:srgbClr val="FF67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147316" y="6611111"/>
            <a:ext cx="744220" cy="247015"/>
          </a:xfrm>
          <a:custGeom>
            <a:avLst/>
            <a:gdLst/>
            <a:ahLst/>
            <a:cxnLst/>
            <a:rect l="l" t="t" r="r" b="b"/>
            <a:pathLst>
              <a:path w="744219" h="247015">
                <a:moveTo>
                  <a:pt x="743711" y="0"/>
                </a:moveTo>
                <a:lnTo>
                  <a:pt x="0" y="0"/>
                </a:lnTo>
                <a:lnTo>
                  <a:pt x="0" y="246887"/>
                </a:lnTo>
                <a:lnTo>
                  <a:pt x="743711" y="246887"/>
                </a:lnTo>
                <a:lnTo>
                  <a:pt x="743711" y="216025"/>
                </a:lnTo>
                <a:lnTo>
                  <a:pt x="279272" y="216025"/>
                </a:lnTo>
                <a:lnTo>
                  <a:pt x="279272" y="30861"/>
                </a:lnTo>
                <a:lnTo>
                  <a:pt x="743711" y="30861"/>
                </a:lnTo>
                <a:lnTo>
                  <a:pt x="743711" y="0"/>
                </a:lnTo>
                <a:close/>
              </a:path>
              <a:path w="744219" h="247015">
                <a:moveTo>
                  <a:pt x="743711" y="30861"/>
                </a:moveTo>
                <a:lnTo>
                  <a:pt x="279272" y="30861"/>
                </a:lnTo>
                <a:lnTo>
                  <a:pt x="464438" y="123442"/>
                </a:lnTo>
                <a:lnTo>
                  <a:pt x="279272" y="216025"/>
                </a:lnTo>
                <a:lnTo>
                  <a:pt x="743711" y="216025"/>
                </a:lnTo>
                <a:lnTo>
                  <a:pt x="743711" y="30861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426589" y="6641972"/>
            <a:ext cx="185420" cy="185420"/>
          </a:xfrm>
          <a:custGeom>
            <a:avLst/>
            <a:gdLst/>
            <a:ahLst/>
            <a:cxnLst/>
            <a:rect l="l" t="t" r="r" b="b"/>
            <a:pathLst>
              <a:path w="185419" h="185420">
                <a:moveTo>
                  <a:pt x="0" y="0"/>
                </a:moveTo>
                <a:lnTo>
                  <a:pt x="0" y="185164"/>
                </a:lnTo>
                <a:lnTo>
                  <a:pt x="185166" y="92581"/>
                </a:lnTo>
                <a:lnTo>
                  <a:pt x="0" y="0"/>
                </a:lnTo>
                <a:close/>
              </a:path>
            </a:pathLst>
          </a:custGeom>
          <a:solidFill>
            <a:srgbClr val="1F3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2416555" y="6626453"/>
            <a:ext cx="2038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FFC8FF"/>
                </a:solidFill>
                <a:latin typeface="宋体"/>
                <a:cs typeface="宋体"/>
                <a:hlinkClick r:id="rId4" action="ppaction://hlinksldjump"/>
              </a:rPr>
              <a:t>表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019800" y="6611111"/>
            <a:ext cx="853440" cy="247015"/>
          </a:xfrm>
          <a:custGeom>
            <a:avLst/>
            <a:gdLst/>
            <a:ahLst/>
            <a:cxnLst/>
            <a:rect l="l" t="t" r="r" b="b"/>
            <a:pathLst>
              <a:path w="853440" h="247015">
                <a:moveTo>
                  <a:pt x="853440" y="0"/>
                </a:moveTo>
                <a:lnTo>
                  <a:pt x="0" y="0"/>
                </a:lnTo>
                <a:lnTo>
                  <a:pt x="0" y="246885"/>
                </a:lnTo>
                <a:lnTo>
                  <a:pt x="313563" y="246885"/>
                </a:lnTo>
                <a:lnTo>
                  <a:pt x="313563" y="37719"/>
                </a:lnTo>
                <a:lnTo>
                  <a:pt x="853440" y="37719"/>
                </a:lnTo>
                <a:lnTo>
                  <a:pt x="853440" y="0"/>
                </a:lnTo>
                <a:close/>
              </a:path>
              <a:path w="853440" h="247015">
                <a:moveTo>
                  <a:pt x="853440" y="37719"/>
                </a:moveTo>
                <a:lnTo>
                  <a:pt x="313563" y="37719"/>
                </a:lnTo>
                <a:lnTo>
                  <a:pt x="539876" y="150876"/>
                </a:lnTo>
                <a:lnTo>
                  <a:pt x="347857" y="246885"/>
                </a:lnTo>
                <a:lnTo>
                  <a:pt x="853440" y="246885"/>
                </a:lnTo>
                <a:lnTo>
                  <a:pt x="853440" y="37719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333363" y="6648831"/>
            <a:ext cx="226695" cy="209550"/>
          </a:xfrm>
          <a:custGeom>
            <a:avLst/>
            <a:gdLst/>
            <a:ahLst/>
            <a:cxnLst/>
            <a:rect l="l" t="t" r="r" b="b"/>
            <a:pathLst>
              <a:path w="226695" h="209550">
                <a:moveTo>
                  <a:pt x="0" y="0"/>
                </a:moveTo>
                <a:lnTo>
                  <a:pt x="0" y="209166"/>
                </a:lnTo>
                <a:lnTo>
                  <a:pt x="34294" y="209166"/>
                </a:lnTo>
                <a:lnTo>
                  <a:pt x="226313" y="113157"/>
                </a:lnTo>
                <a:lnTo>
                  <a:pt x="0" y="0"/>
                </a:lnTo>
                <a:close/>
              </a:path>
            </a:pathLst>
          </a:custGeom>
          <a:solidFill>
            <a:srgbClr val="1F3C5C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306324" y="1391411"/>
          <a:ext cx="8533765" cy="439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6170"/>
                <a:gridCol w="778509"/>
                <a:gridCol w="1139825"/>
                <a:gridCol w="1162685"/>
                <a:gridCol w="1676400"/>
                <a:gridCol w="2650490"/>
              </a:tblGrid>
              <a:tr h="400812">
                <a:tc>
                  <a:txBody>
                    <a:bodyPr/>
                    <a:lstStyle/>
                    <a:p>
                      <a:pPr algn="ctr" marR="217804">
                        <a:lnSpc>
                          <a:spcPts val="2625"/>
                        </a:lnSpc>
                        <a:spcBef>
                          <a:spcPts val="430"/>
                        </a:spcBef>
                      </a:pPr>
                      <a:r>
                        <a:rPr dirty="0" sz="2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4925">
                        <a:lnSpc>
                          <a:spcPts val="2625"/>
                        </a:lnSpc>
                        <a:spcBef>
                          <a:spcPts val="430"/>
                        </a:spcBef>
                      </a:pPr>
                      <a:r>
                        <a:rPr dirty="0" sz="2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R w="38100">
                      <a:solidFill>
                        <a:srgbClr val="FF6737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ts val="2625"/>
                        </a:lnSpc>
                        <a:spcBef>
                          <a:spcPts val="430"/>
                        </a:spcBef>
                      </a:pPr>
                      <a:r>
                        <a:rPr dirty="0" sz="2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L w="38100">
                      <a:solidFill>
                        <a:srgbClr val="FF6737"/>
                      </a:solidFill>
                      <a:prstDash val="solid"/>
                    </a:lnL>
                    <a:lnT w="38100">
                      <a:solidFill>
                        <a:srgbClr val="FF6737"/>
                      </a:solidFill>
                      <a:prstDash val="solid"/>
                    </a:lnT>
                    <a:lnB w="38100">
                      <a:solidFill>
                        <a:srgbClr val="FF6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065">
                        <a:lnSpc>
                          <a:spcPts val="2625"/>
                        </a:lnSpc>
                        <a:spcBef>
                          <a:spcPts val="430"/>
                        </a:spcBef>
                      </a:pPr>
                      <a:r>
                        <a:rPr dirty="0" sz="2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id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R w="38100">
                      <a:solidFill>
                        <a:srgbClr val="FF6737"/>
                      </a:solidFill>
                      <a:prstDash val="solid"/>
                    </a:lnR>
                    <a:lnT w="38100">
                      <a:solidFill>
                        <a:srgbClr val="FF6737"/>
                      </a:solidFill>
                      <a:prstDash val="solid"/>
                    </a:lnT>
                    <a:lnB w="38100">
                      <a:solidFill>
                        <a:srgbClr val="FF6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625"/>
                        </a:lnSpc>
                        <a:spcBef>
                          <a:spcPts val="430"/>
                        </a:spcBef>
                      </a:pPr>
                      <a:r>
                        <a:rPr dirty="0" sz="22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22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id</a:t>
                      </a:r>
                      <a:r>
                        <a:rPr dirty="0" sz="22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dirty="0" sz="22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id</a:t>
                      </a:r>
                      <a:r>
                        <a:rPr dirty="0" sz="22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L w="38100">
                      <a:solidFill>
                        <a:srgbClr val="FF6737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1205">
                        <a:lnSpc>
                          <a:spcPts val="2225"/>
                        </a:lnSpc>
                        <a:spcBef>
                          <a:spcPts val="830"/>
                        </a:spcBef>
                      </a:pPr>
                      <a:r>
                        <a:rPr dirty="0" sz="22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2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2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dirty="0" sz="2200" spc="-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105410"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2129027" y="2839211"/>
          <a:ext cx="2578100" cy="1744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795"/>
                <a:gridCol w="198120"/>
                <a:gridCol w="126365"/>
                <a:gridCol w="842644"/>
                <a:gridCol w="779780"/>
                <a:gridCol w="180975"/>
              </a:tblGrid>
              <a:tr h="422147">
                <a:tc gridSpan="3">
                  <a:txBody>
                    <a:bodyPr/>
                    <a:lstStyle/>
                    <a:p>
                      <a:pPr marL="2032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22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200" spc="-4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r>
                        <a:rPr dirty="0" sz="22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R w="38100">
                      <a:solidFill>
                        <a:srgbClr val="FFFF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2200" spc="-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r>
                        <a:rPr dirty="0" sz="2200" spc="-5" b="1" i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id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6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2200" b="1" i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id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6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B w="38100">
                      <a:solidFill>
                        <a:srgbClr val="FF6737"/>
                      </a:solidFill>
                      <a:prstDash val="solid"/>
                    </a:lnB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marL="2032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R w="38100">
                      <a:solidFill>
                        <a:srgbClr val="FF6737"/>
                      </a:solidFill>
                      <a:prstDash val="solid"/>
                    </a:lnR>
                    <a:lnB w="38100">
                      <a:solidFill>
                        <a:srgbClr val="FF6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20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50165">
                    <a:lnL w="38100">
                      <a:solidFill>
                        <a:srgbClr val="FF6737"/>
                      </a:solidFill>
                      <a:prstDash val="solid"/>
                    </a:lnL>
                    <a:lnT w="38100">
                      <a:solidFill>
                        <a:srgbClr val="FF6737"/>
                      </a:solidFill>
                      <a:prstDash val="solid"/>
                    </a:lnT>
                    <a:lnB w="38100">
                      <a:solidFill>
                        <a:srgbClr val="FF6737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2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2200" spc="-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50165">
                    <a:lnT w="38100">
                      <a:solidFill>
                        <a:srgbClr val="FF6737"/>
                      </a:solidFill>
                      <a:prstDash val="solid"/>
                    </a:lnT>
                    <a:lnB w="38100">
                      <a:solidFill>
                        <a:srgbClr val="FF673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r" marR="3365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R w="38100">
                      <a:solidFill>
                        <a:srgbClr val="FF6737"/>
                      </a:solidFill>
                      <a:prstDash val="solid"/>
                    </a:lnR>
                    <a:lnT w="38100">
                      <a:solidFill>
                        <a:srgbClr val="FF6737"/>
                      </a:solidFill>
                      <a:prstDash val="solid"/>
                    </a:lnT>
                    <a:lnB w="38100">
                      <a:solidFill>
                        <a:srgbClr val="FF673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32054">
                <a:tc gridSpan="6"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515"/>
                        </a:spcBef>
                        <a:tabLst>
                          <a:tab pos="2370455" algn="l"/>
                        </a:tabLst>
                      </a:pPr>
                      <a:r>
                        <a:rPr dirty="0" sz="20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0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38100">
                      <a:solidFill>
                        <a:srgbClr val="FF6737"/>
                      </a:solidFill>
                      <a:prstDash val="solid"/>
                    </a:lnL>
                    <a:lnR w="38100">
                      <a:solidFill>
                        <a:srgbClr val="FF6737"/>
                      </a:solidFill>
                      <a:prstDash val="solid"/>
                    </a:lnR>
                    <a:lnT w="38100">
                      <a:solidFill>
                        <a:srgbClr val="FF6737"/>
                      </a:solidFill>
                      <a:prstDash val="solid"/>
                    </a:lnT>
                    <a:lnB w="76200">
                      <a:solidFill>
                        <a:srgbClr val="FF673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09194">
                <a:tc gridSpan="2"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20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000" spc="-6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r>
                        <a:rPr dirty="0" sz="20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9690">
                    <a:lnR w="38100">
                      <a:solidFill>
                        <a:srgbClr val="FF6737"/>
                      </a:solidFill>
                      <a:prstDash val="solid"/>
                    </a:lnR>
                    <a:lnT w="38100">
                      <a:solidFill>
                        <a:srgbClr val="FF6737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2286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2000" b="1">
                          <a:solidFill>
                            <a:srgbClr val="FF99FF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9690">
                    <a:lnL w="38100">
                      <a:solidFill>
                        <a:srgbClr val="FF6737"/>
                      </a:solidFill>
                      <a:prstDash val="solid"/>
                    </a:lnL>
                    <a:lnT w="76200">
                      <a:solidFill>
                        <a:srgbClr val="FF6737"/>
                      </a:solidFill>
                      <a:prstDash val="solid"/>
                    </a:lnT>
                    <a:lnB w="38100">
                      <a:solidFill>
                        <a:srgbClr val="FF673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r" marR="2286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2000" b="1">
                          <a:solidFill>
                            <a:srgbClr val="FF99FF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9690">
                    <a:lnR w="38100">
                      <a:solidFill>
                        <a:srgbClr val="FF6737"/>
                      </a:solidFill>
                      <a:prstDash val="solid"/>
                    </a:lnR>
                    <a:lnT w="76200">
                      <a:solidFill>
                        <a:srgbClr val="FF6737"/>
                      </a:solidFill>
                      <a:prstDash val="solid"/>
                    </a:lnT>
                    <a:lnB w="38100">
                      <a:solidFill>
                        <a:srgbClr val="FF673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41" name="object 41"/>
          <p:cNvSpPr txBox="1"/>
          <p:nvPr/>
        </p:nvSpPr>
        <p:spPr>
          <a:xfrm>
            <a:off x="6255511" y="6654190"/>
            <a:ext cx="38608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5" b="1">
                <a:solidFill>
                  <a:srgbClr val="FFC8FF"/>
                </a:solidFill>
                <a:latin typeface="宋体"/>
                <a:cs typeface="宋体"/>
                <a:hlinkClick r:id="rId5" action="ppaction://hlinksldjump"/>
              </a:rPr>
              <a:t>下页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876033" y="1801638"/>
            <a:ext cx="1339850" cy="4489450"/>
          </a:xfrm>
          <a:prstGeom prst="rect">
            <a:avLst/>
          </a:prstGeom>
        </p:spPr>
        <p:txBody>
          <a:bodyPr wrap="square" lIns="0" tIns="146050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1150"/>
              </a:spcBef>
            </a:pP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FT</a:t>
            </a:r>
            <a:r>
              <a:rPr dirty="0" sz="2200" spc="-5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endParaRPr sz="2200">
              <a:latin typeface="Courier New"/>
              <a:cs typeface="Courier New"/>
            </a:endParaRPr>
          </a:p>
          <a:p>
            <a:pPr marL="78740" marR="584200" indent="-14604">
              <a:lnSpc>
                <a:spcPct val="136200"/>
              </a:lnSpc>
              <a:spcBef>
                <a:spcPts val="95"/>
              </a:spcBef>
            </a:pP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id 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p++  </a:t>
            </a:r>
            <a:r>
              <a:rPr dirty="0" sz="2200" spc="-2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200" spc="-20" b="1">
                <a:solidFill>
                  <a:srgbClr val="FFFFFF"/>
                </a:solidFill>
                <a:latin typeface="Times New Roman"/>
                <a:cs typeface="Times New Roman"/>
              </a:rPr>
              <a:t>′→</a:t>
            </a:r>
            <a:r>
              <a:rPr dirty="0" sz="2300" spc="-2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300">
              <a:latin typeface="Symbol"/>
              <a:cs typeface="Symbol"/>
            </a:endParaRPr>
          </a:p>
          <a:p>
            <a:pPr marL="85090">
              <a:lnSpc>
                <a:spcPct val="100000"/>
              </a:lnSpc>
              <a:spcBef>
                <a:spcPts val="445"/>
              </a:spcBef>
            </a:pP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′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′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  <a:spcBef>
                <a:spcPts val="484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p++</a:t>
            </a:r>
            <a:endParaRPr sz="2400">
              <a:latin typeface="Times New Roman"/>
              <a:cs typeface="Times New Roman"/>
            </a:endParaRPr>
          </a:p>
          <a:p>
            <a:pPr marL="39370">
              <a:lnSpc>
                <a:spcPct val="100000"/>
              </a:lnSpc>
              <a:spcBef>
                <a:spcPts val="47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FT</a:t>
            </a:r>
            <a:r>
              <a:rPr dirty="0" sz="2400" spc="-5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endParaRPr sz="2400">
              <a:latin typeface="Courier New"/>
              <a:cs typeface="Courier New"/>
            </a:endParaRPr>
          </a:p>
          <a:p>
            <a:pPr marL="69215">
              <a:lnSpc>
                <a:spcPct val="100000"/>
              </a:lnSpc>
              <a:spcBef>
                <a:spcPts val="56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  <a:spcBef>
                <a:spcPts val="815"/>
              </a:spcBef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p++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′→*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FT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′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2527554" y="4615434"/>
            <a:ext cx="2269490" cy="401320"/>
          </a:xfrm>
          <a:custGeom>
            <a:avLst/>
            <a:gdLst/>
            <a:ahLst/>
            <a:cxnLst/>
            <a:rect l="l" t="t" r="r" b="b"/>
            <a:pathLst>
              <a:path w="2269490" h="401320">
                <a:moveTo>
                  <a:pt x="0" y="400812"/>
                </a:moveTo>
                <a:lnTo>
                  <a:pt x="2269236" y="400812"/>
                </a:lnTo>
                <a:lnTo>
                  <a:pt x="2269236" y="0"/>
                </a:lnTo>
                <a:lnTo>
                  <a:pt x="0" y="0"/>
                </a:lnTo>
                <a:lnTo>
                  <a:pt x="0" y="400812"/>
                </a:lnTo>
                <a:close/>
              </a:path>
            </a:pathLst>
          </a:custGeom>
          <a:ln w="38100">
            <a:solidFill>
              <a:srgbClr val="FF67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807970" y="5523738"/>
            <a:ext cx="1934210" cy="332740"/>
          </a:xfrm>
          <a:custGeom>
            <a:avLst/>
            <a:gdLst/>
            <a:ahLst/>
            <a:cxnLst/>
            <a:rect l="l" t="t" r="r" b="b"/>
            <a:pathLst>
              <a:path w="1934210" h="332739">
                <a:moveTo>
                  <a:pt x="0" y="332231"/>
                </a:moveTo>
                <a:lnTo>
                  <a:pt x="1933956" y="332231"/>
                </a:lnTo>
                <a:lnTo>
                  <a:pt x="1933956" y="0"/>
                </a:lnTo>
                <a:lnTo>
                  <a:pt x="0" y="0"/>
                </a:lnTo>
                <a:lnTo>
                  <a:pt x="0" y="332231"/>
                </a:lnTo>
                <a:close/>
              </a:path>
            </a:pathLst>
          </a:custGeom>
          <a:ln w="38100">
            <a:solidFill>
              <a:srgbClr val="FF67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452877" y="5948934"/>
            <a:ext cx="2321560" cy="334010"/>
          </a:xfrm>
          <a:custGeom>
            <a:avLst/>
            <a:gdLst/>
            <a:ahLst/>
            <a:cxnLst/>
            <a:rect l="l" t="t" r="r" b="b"/>
            <a:pathLst>
              <a:path w="2321560" h="334010">
                <a:moveTo>
                  <a:pt x="0" y="333755"/>
                </a:moveTo>
                <a:lnTo>
                  <a:pt x="2321052" y="333755"/>
                </a:lnTo>
                <a:lnTo>
                  <a:pt x="2321052" y="0"/>
                </a:lnTo>
                <a:lnTo>
                  <a:pt x="0" y="0"/>
                </a:lnTo>
                <a:lnTo>
                  <a:pt x="0" y="333755"/>
                </a:lnTo>
                <a:close/>
              </a:path>
            </a:pathLst>
          </a:custGeom>
          <a:ln w="38099">
            <a:solidFill>
              <a:srgbClr val="FF6737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5231" y="26923"/>
            <a:ext cx="15601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90089" y="26923"/>
            <a:ext cx="353250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4.4</a:t>
            </a:r>
            <a:r>
              <a:rPr dirty="0" sz="2000" spc="4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分析法与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48909" y="26923"/>
            <a:ext cx="28346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4.4.1</a:t>
            </a:r>
            <a:r>
              <a:rPr dirty="0" u="sng" sz="2000" spc="42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LL(1)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分析器的结构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5374" y="691133"/>
            <a:ext cx="8514715" cy="0"/>
          </a:xfrm>
          <a:custGeom>
            <a:avLst/>
            <a:gdLst/>
            <a:ahLst/>
            <a:cxnLst/>
            <a:rect l="l" t="t" r="r" b="b"/>
            <a:pathLst>
              <a:path w="8514715" h="0">
                <a:moveTo>
                  <a:pt x="0" y="0"/>
                </a:moveTo>
                <a:lnTo>
                  <a:pt x="8514588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25374" y="887452"/>
          <a:ext cx="8514715" cy="3118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9995"/>
                <a:gridCol w="2147570"/>
                <a:gridCol w="2319019"/>
                <a:gridCol w="2816859"/>
              </a:tblGrid>
              <a:tr h="375181">
                <a:tc>
                  <a:txBody>
                    <a:bodyPr/>
                    <a:lstStyle/>
                    <a:p>
                      <a:pPr marL="89535">
                        <a:lnSpc>
                          <a:spcPts val="2325"/>
                        </a:lnSpc>
                      </a:pPr>
                      <a:r>
                        <a:rPr dirty="0" sz="2200" spc="-1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步</a:t>
                      </a:r>
                      <a:r>
                        <a:rPr dirty="0" sz="2200" spc="-56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2200" spc="-1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骤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115">
                        <a:lnSpc>
                          <a:spcPts val="2325"/>
                        </a:lnSpc>
                      </a:pPr>
                      <a:r>
                        <a:rPr dirty="0" sz="22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分析栈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ts val="2325"/>
                        </a:lnSpc>
                      </a:pPr>
                      <a:r>
                        <a:rPr dirty="0" sz="22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余留输入串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0">
                        <a:lnSpc>
                          <a:spcPts val="2325"/>
                        </a:lnSpc>
                      </a:pPr>
                      <a:r>
                        <a:rPr dirty="0" sz="22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所用产生式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63913">
                <a:tc>
                  <a:txBody>
                    <a:bodyPr/>
                    <a:lstStyle/>
                    <a:p>
                      <a:pPr marL="37020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215"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3911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 </a:t>
                      </a:r>
                      <a:r>
                        <a:rPr dirty="0" sz="20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000" spc="-3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r>
                        <a:rPr dirty="0" sz="20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2000" spc="-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r>
                        <a:rPr dirty="0" sz="20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dirty="0" sz="2000" spc="-5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215"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0002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200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dirty="0" sz="20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id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215"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646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22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p++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3815"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</a:tr>
              <a:tr h="436574">
                <a:tc>
                  <a:txBody>
                    <a:bodyPr/>
                    <a:lstStyle/>
                    <a:p>
                      <a:pPr marL="344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/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 </a:t>
                      </a:r>
                      <a:r>
                        <a:rPr dirty="0" sz="20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000" spc="-1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r>
                        <a:rPr dirty="0" sz="20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2000" spc="-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r>
                        <a:rPr dirty="0" sz="20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/>
                </a:tc>
                <a:tc>
                  <a:txBody>
                    <a:bodyPr/>
                    <a:lstStyle/>
                    <a:p>
                      <a:pPr algn="ctr" marL="269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0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id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/>
                </a:tc>
                <a:tc>
                  <a:txBody>
                    <a:bodyPr/>
                    <a:lstStyle/>
                    <a:p>
                      <a:pPr marL="922019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0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dirty="0" sz="20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0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/>
                </a:tc>
              </a:tr>
              <a:tr h="477335">
                <a:tc>
                  <a:txBody>
                    <a:bodyPr/>
                    <a:lstStyle/>
                    <a:p>
                      <a:pPr marL="34417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00"/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 </a:t>
                      </a:r>
                      <a:r>
                        <a:rPr dirty="0" sz="20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000" spc="-1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r>
                        <a:rPr dirty="0" sz="20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2000" spc="-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r>
                        <a:rPr dirty="0" sz="2000" spc="-5" b="1" i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id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00"/>
                </a:tc>
                <a:tc>
                  <a:txBody>
                    <a:bodyPr/>
                    <a:lstStyle/>
                    <a:p>
                      <a:pPr marL="123507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2000" b="1" i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id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00"/>
                </a:tc>
                <a:tc>
                  <a:txBody>
                    <a:bodyPr/>
                    <a:lstStyle/>
                    <a:p>
                      <a:pPr marL="8915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2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p++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/>
                </a:tc>
              </a:tr>
              <a:tr h="451231">
                <a:tc>
                  <a:txBody>
                    <a:bodyPr/>
                    <a:lstStyle/>
                    <a:p>
                      <a:pPr marL="36258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53467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 </a:t>
                      </a:r>
                      <a:r>
                        <a:rPr dirty="0" sz="20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000" spc="-2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r>
                        <a:rPr dirty="0" sz="20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2000" spc="-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 marL="14795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89154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20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2000" spc="-1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′→</a:t>
                      </a:r>
                      <a:r>
                        <a:rPr dirty="0" sz="20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ε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80"/>
                </a:tc>
              </a:tr>
              <a:tr h="435863">
                <a:tc>
                  <a:txBody>
                    <a:bodyPr/>
                    <a:lstStyle/>
                    <a:p>
                      <a:pPr marL="3441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/>
                </a:tc>
                <a:tc>
                  <a:txBody>
                    <a:bodyPr/>
                    <a:lstStyle/>
                    <a:p>
                      <a:pPr marL="5105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 </a:t>
                      </a:r>
                      <a:r>
                        <a:rPr dirty="0" sz="20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000" spc="-2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37465"/>
                </a:tc>
                <a:tc>
                  <a:txBody>
                    <a:bodyPr/>
                    <a:lstStyle/>
                    <a:p>
                      <a:pPr algn="ctr" marL="1327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/>
                </a:tc>
                <a:tc>
                  <a:txBody>
                    <a:bodyPr/>
                    <a:lstStyle/>
                    <a:p>
                      <a:pPr marL="8197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′→</a:t>
                      </a:r>
                      <a:r>
                        <a:rPr dirty="0" sz="20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ε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/>
                </a:tc>
              </a:tr>
              <a:tr h="440182">
                <a:tc>
                  <a:txBody>
                    <a:bodyPr/>
                    <a:lstStyle/>
                    <a:p>
                      <a:pPr marL="3441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2000" spc="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17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640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05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20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640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3189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20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640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2000" spc="5" b="1">
                          <a:solidFill>
                            <a:srgbClr val="00FFFF"/>
                          </a:solidFill>
                          <a:latin typeface="宋体"/>
                          <a:cs typeface="宋体"/>
                        </a:rPr>
                        <a:t>分析成功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40640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326136" y="4232147"/>
            <a:ext cx="8514715" cy="2478405"/>
          </a:xfrm>
          <a:custGeom>
            <a:avLst/>
            <a:gdLst/>
            <a:ahLst/>
            <a:cxnLst/>
            <a:rect l="l" t="t" r="r" b="b"/>
            <a:pathLst>
              <a:path w="8514715" h="2478404">
                <a:moveTo>
                  <a:pt x="0" y="2478024"/>
                </a:moveTo>
                <a:lnTo>
                  <a:pt x="8514588" y="2478024"/>
                </a:lnTo>
                <a:lnTo>
                  <a:pt x="8514588" y="0"/>
                </a:lnTo>
                <a:lnTo>
                  <a:pt x="0" y="0"/>
                </a:lnTo>
                <a:lnTo>
                  <a:pt x="0" y="24780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66775" y="4142841"/>
            <a:ext cx="8289290" cy="2578100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  <a:tabLst>
                <a:tab pos="643255" algn="l"/>
              </a:tabLst>
            </a:pPr>
            <a:r>
              <a:rPr dirty="0" sz="3200">
                <a:latin typeface="Wingdings"/>
                <a:cs typeface="Wingdings"/>
              </a:rPr>
              <a:t>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b="1">
                <a:latin typeface="宋体"/>
                <a:cs typeface="宋体"/>
              </a:rPr>
              <a:t>注意：</a:t>
            </a:r>
            <a:endParaRPr sz="3200">
              <a:latin typeface="宋体"/>
              <a:cs typeface="宋体"/>
            </a:endParaRPr>
          </a:p>
          <a:p>
            <a:pPr marL="812800" marR="152400" indent="-393700">
              <a:lnSpc>
                <a:spcPct val="108500"/>
              </a:lnSpc>
              <a:spcBef>
                <a:spcPts val="195"/>
              </a:spcBef>
              <a:buSzPct val="114285"/>
              <a:buFont typeface="Times New Roman"/>
              <a:buAutoNum type="arabicParenBoth"/>
              <a:tabLst>
                <a:tab pos="994410" algn="l"/>
              </a:tabLst>
            </a:pPr>
            <a:r>
              <a:rPr dirty="0" sz="2800" spc="-5" b="1">
                <a:latin typeface="宋体"/>
                <a:cs typeface="宋体"/>
              </a:rPr>
              <a:t>整个分析过程是分析栈和待匹配</a:t>
            </a:r>
            <a:r>
              <a:rPr dirty="0" sz="2800" spc="5" b="1">
                <a:latin typeface="宋体"/>
                <a:cs typeface="宋体"/>
              </a:rPr>
              <a:t>串</a:t>
            </a:r>
            <a:r>
              <a:rPr dirty="0" sz="2800" spc="-5" b="1">
                <a:latin typeface="宋体"/>
                <a:cs typeface="宋体"/>
              </a:rPr>
              <a:t>构</a:t>
            </a:r>
            <a:r>
              <a:rPr dirty="0" sz="2800" spc="5" b="1">
                <a:latin typeface="宋体"/>
                <a:cs typeface="宋体"/>
              </a:rPr>
              <a:t>成</a:t>
            </a:r>
            <a:r>
              <a:rPr dirty="0" sz="2800" spc="-5" b="1">
                <a:latin typeface="宋体"/>
                <a:cs typeface="宋体"/>
              </a:rPr>
              <a:t>的二元 </a:t>
            </a:r>
            <a:r>
              <a:rPr dirty="0" sz="2800" spc="-5" b="1">
                <a:latin typeface="宋体"/>
                <a:cs typeface="宋体"/>
              </a:rPr>
              <a:t>式不断变化的过程。</a:t>
            </a:r>
            <a:endParaRPr sz="2800">
              <a:latin typeface="宋体"/>
              <a:cs typeface="宋体"/>
            </a:endParaRPr>
          </a:p>
          <a:p>
            <a:pPr marL="812800" marR="5080" indent="-445770">
              <a:lnSpc>
                <a:spcPts val="3870"/>
              </a:lnSpc>
              <a:spcBef>
                <a:spcPts val="170"/>
              </a:spcBef>
              <a:buSzPct val="96428"/>
              <a:buFont typeface="Times New Roman"/>
              <a:buAutoNum type="arabicParenBoth"/>
              <a:tabLst>
                <a:tab pos="784225" algn="l"/>
              </a:tabLst>
            </a:pPr>
            <a:r>
              <a:rPr dirty="0" sz="2800" spc="-10" b="1">
                <a:latin typeface="宋体"/>
                <a:cs typeface="宋体"/>
              </a:rPr>
              <a:t>不同的源语言仅是分析表不</a:t>
            </a:r>
            <a:r>
              <a:rPr dirty="0" sz="2800" b="1">
                <a:latin typeface="宋体"/>
                <a:cs typeface="宋体"/>
              </a:rPr>
              <a:t>同</a:t>
            </a:r>
            <a:r>
              <a:rPr dirty="0" sz="2800" spc="-10" b="1">
                <a:latin typeface="宋体"/>
                <a:cs typeface="宋体"/>
              </a:rPr>
              <a:t>，分</a:t>
            </a:r>
            <a:r>
              <a:rPr dirty="0" sz="2800" b="1">
                <a:latin typeface="宋体"/>
                <a:cs typeface="宋体"/>
              </a:rPr>
              <a:t>析</a:t>
            </a:r>
            <a:r>
              <a:rPr dirty="0" sz="2800" spc="-10" b="1">
                <a:latin typeface="宋体"/>
                <a:cs typeface="宋体"/>
              </a:rPr>
              <a:t>器结</a:t>
            </a:r>
            <a:r>
              <a:rPr dirty="0" sz="2800" b="1">
                <a:latin typeface="宋体"/>
                <a:cs typeface="宋体"/>
              </a:rPr>
              <a:t>构</a:t>
            </a:r>
            <a:r>
              <a:rPr dirty="0" sz="2800" spc="-10" b="1">
                <a:latin typeface="宋体"/>
                <a:cs typeface="宋体"/>
              </a:rPr>
              <a:t>、总 </a:t>
            </a:r>
            <a:r>
              <a:rPr dirty="0" sz="2800" spc="-5" b="1">
                <a:latin typeface="宋体"/>
                <a:cs typeface="宋体"/>
              </a:rPr>
              <a:t>控程序不变。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86661" y="3377946"/>
            <a:ext cx="4191000" cy="692150"/>
          </a:xfrm>
          <a:custGeom>
            <a:avLst/>
            <a:gdLst/>
            <a:ahLst/>
            <a:cxnLst/>
            <a:rect l="l" t="t" r="r" b="b"/>
            <a:pathLst>
              <a:path w="4191000" h="692150">
                <a:moveTo>
                  <a:pt x="0" y="345947"/>
                </a:moveTo>
                <a:lnTo>
                  <a:pt x="12295" y="308262"/>
                </a:lnTo>
                <a:lnTo>
                  <a:pt x="48330" y="271750"/>
                </a:lnTo>
                <a:lnTo>
                  <a:pt x="84910" y="248164"/>
                </a:lnTo>
                <a:lnTo>
                  <a:pt x="131095" y="225257"/>
                </a:lnTo>
                <a:lnTo>
                  <a:pt x="186505" y="203090"/>
                </a:lnTo>
                <a:lnTo>
                  <a:pt x="250761" y="181726"/>
                </a:lnTo>
                <a:lnTo>
                  <a:pt x="323485" y="161228"/>
                </a:lnTo>
                <a:lnTo>
                  <a:pt x="362904" y="151323"/>
                </a:lnTo>
                <a:lnTo>
                  <a:pt x="404298" y="141658"/>
                </a:lnTo>
                <a:lnTo>
                  <a:pt x="447620" y="132241"/>
                </a:lnTo>
                <a:lnTo>
                  <a:pt x="492822" y="123080"/>
                </a:lnTo>
                <a:lnTo>
                  <a:pt x="539857" y="114182"/>
                </a:lnTo>
                <a:lnTo>
                  <a:pt x="588678" y="105555"/>
                </a:lnTo>
                <a:lnTo>
                  <a:pt x="639237" y="97207"/>
                </a:lnTo>
                <a:lnTo>
                  <a:pt x="691486" y="89146"/>
                </a:lnTo>
                <a:lnTo>
                  <a:pt x="745380" y="81380"/>
                </a:lnTo>
                <a:lnTo>
                  <a:pt x="800869" y="73916"/>
                </a:lnTo>
                <a:lnTo>
                  <a:pt x="857908" y="66763"/>
                </a:lnTo>
                <a:lnTo>
                  <a:pt x="916448" y="59928"/>
                </a:lnTo>
                <a:lnTo>
                  <a:pt x="976442" y="53419"/>
                </a:lnTo>
                <a:lnTo>
                  <a:pt x="1037844" y="47244"/>
                </a:lnTo>
                <a:lnTo>
                  <a:pt x="1100604" y="41410"/>
                </a:lnTo>
                <a:lnTo>
                  <a:pt x="1164677" y="35926"/>
                </a:lnTo>
                <a:lnTo>
                  <a:pt x="1230015" y="30799"/>
                </a:lnTo>
                <a:lnTo>
                  <a:pt x="1296571" y="26038"/>
                </a:lnTo>
                <a:lnTo>
                  <a:pt x="1364296" y="21649"/>
                </a:lnTo>
                <a:lnTo>
                  <a:pt x="1433145" y="17641"/>
                </a:lnTo>
                <a:lnTo>
                  <a:pt x="1503069" y="14022"/>
                </a:lnTo>
                <a:lnTo>
                  <a:pt x="1574021" y="10800"/>
                </a:lnTo>
                <a:lnTo>
                  <a:pt x="1645954" y="7981"/>
                </a:lnTo>
                <a:lnTo>
                  <a:pt x="1718821" y="5575"/>
                </a:lnTo>
                <a:lnTo>
                  <a:pt x="1792573" y="3589"/>
                </a:lnTo>
                <a:lnTo>
                  <a:pt x="1867165" y="2030"/>
                </a:lnTo>
                <a:lnTo>
                  <a:pt x="1942548" y="907"/>
                </a:lnTo>
                <a:lnTo>
                  <a:pt x="2018675" y="228"/>
                </a:lnTo>
                <a:lnTo>
                  <a:pt x="2095500" y="0"/>
                </a:lnTo>
                <a:lnTo>
                  <a:pt x="2172324" y="228"/>
                </a:lnTo>
                <a:lnTo>
                  <a:pt x="2248451" y="907"/>
                </a:lnTo>
                <a:lnTo>
                  <a:pt x="2323834" y="2030"/>
                </a:lnTo>
                <a:lnTo>
                  <a:pt x="2398426" y="3589"/>
                </a:lnTo>
                <a:lnTo>
                  <a:pt x="2472178" y="5575"/>
                </a:lnTo>
                <a:lnTo>
                  <a:pt x="2545045" y="7981"/>
                </a:lnTo>
                <a:lnTo>
                  <a:pt x="2616978" y="10800"/>
                </a:lnTo>
                <a:lnTo>
                  <a:pt x="2687930" y="14022"/>
                </a:lnTo>
                <a:lnTo>
                  <a:pt x="2757854" y="17641"/>
                </a:lnTo>
                <a:lnTo>
                  <a:pt x="2826703" y="21649"/>
                </a:lnTo>
                <a:lnTo>
                  <a:pt x="2894428" y="26038"/>
                </a:lnTo>
                <a:lnTo>
                  <a:pt x="2960984" y="30799"/>
                </a:lnTo>
                <a:lnTo>
                  <a:pt x="3026322" y="35926"/>
                </a:lnTo>
                <a:lnTo>
                  <a:pt x="3090395" y="41410"/>
                </a:lnTo>
                <a:lnTo>
                  <a:pt x="3153155" y="47244"/>
                </a:lnTo>
                <a:lnTo>
                  <a:pt x="3214557" y="53419"/>
                </a:lnTo>
                <a:lnTo>
                  <a:pt x="3274551" y="59928"/>
                </a:lnTo>
                <a:lnTo>
                  <a:pt x="3333091" y="66763"/>
                </a:lnTo>
                <a:lnTo>
                  <a:pt x="3390130" y="73916"/>
                </a:lnTo>
                <a:lnTo>
                  <a:pt x="3445619" y="81380"/>
                </a:lnTo>
                <a:lnTo>
                  <a:pt x="3499513" y="89146"/>
                </a:lnTo>
                <a:lnTo>
                  <a:pt x="3551762" y="97207"/>
                </a:lnTo>
                <a:lnTo>
                  <a:pt x="3602321" y="105555"/>
                </a:lnTo>
                <a:lnTo>
                  <a:pt x="3651142" y="114182"/>
                </a:lnTo>
                <a:lnTo>
                  <a:pt x="3698177" y="123080"/>
                </a:lnTo>
                <a:lnTo>
                  <a:pt x="3743379" y="132241"/>
                </a:lnTo>
                <a:lnTo>
                  <a:pt x="3786701" y="141658"/>
                </a:lnTo>
                <a:lnTo>
                  <a:pt x="3828095" y="151323"/>
                </a:lnTo>
                <a:lnTo>
                  <a:pt x="3867514" y="161228"/>
                </a:lnTo>
                <a:lnTo>
                  <a:pt x="3904911" y="171365"/>
                </a:lnTo>
                <a:lnTo>
                  <a:pt x="3973448" y="192304"/>
                </a:lnTo>
                <a:lnTo>
                  <a:pt x="4033329" y="214077"/>
                </a:lnTo>
                <a:lnTo>
                  <a:pt x="4084173" y="236622"/>
                </a:lnTo>
                <a:lnTo>
                  <a:pt x="4125603" y="259876"/>
                </a:lnTo>
                <a:lnTo>
                  <a:pt x="4157239" y="283777"/>
                </a:lnTo>
                <a:lnTo>
                  <a:pt x="4185503" y="320704"/>
                </a:lnTo>
                <a:lnTo>
                  <a:pt x="4191000" y="345947"/>
                </a:lnTo>
                <a:lnTo>
                  <a:pt x="4189618" y="358627"/>
                </a:lnTo>
                <a:lnTo>
                  <a:pt x="4169267" y="395945"/>
                </a:lnTo>
                <a:lnTo>
                  <a:pt x="4125603" y="432019"/>
                </a:lnTo>
                <a:lnTo>
                  <a:pt x="4084173" y="455273"/>
                </a:lnTo>
                <a:lnTo>
                  <a:pt x="4033329" y="477818"/>
                </a:lnTo>
                <a:lnTo>
                  <a:pt x="3973448" y="499591"/>
                </a:lnTo>
                <a:lnTo>
                  <a:pt x="3904911" y="520530"/>
                </a:lnTo>
                <a:lnTo>
                  <a:pt x="3867514" y="530667"/>
                </a:lnTo>
                <a:lnTo>
                  <a:pt x="3828095" y="540572"/>
                </a:lnTo>
                <a:lnTo>
                  <a:pt x="3786701" y="550237"/>
                </a:lnTo>
                <a:lnTo>
                  <a:pt x="3743379" y="559654"/>
                </a:lnTo>
                <a:lnTo>
                  <a:pt x="3698177" y="568815"/>
                </a:lnTo>
                <a:lnTo>
                  <a:pt x="3651142" y="577713"/>
                </a:lnTo>
                <a:lnTo>
                  <a:pt x="3602321" y="586340"/>
                </a:lnTo>
                <a:lnTo>
                  <a:pt x="3551762" y="594688"/>
                </a:lnTo>
                <a:lnTo>
                  <a:pt x="3499513" y="602749"/>
                </a:lnTo>
                <a:lnTo>
                  <a:pt x="3445619" y="610515"/>
                </a:lnTo>
                <a:lnTo>
                  <a:pt x="3390130" y="617979"/>
                </a:lnTo>
                <a:lnTo>
                  <a:pt x="3333091" y="625132"/>
                </a:lnTo>
                <a:lnTo>
                  <a:pt x="3274551" y="631967"/>
                </a:lnTo>
                <a:lnTo>
                  <a:pt x="3214557" y="638476"/>
                </a:lnTo>
                <a:lnTo>
                  <a:pt x="3153155" y="644651"/>
                </a:lnTo>
                <a:lnTo>
                  <a:pt x="3090395" y="650485"/>
                </a:lnTo>
                <a:lnTo>
                  <a:pt x="3026322" y="655969"/>
                </a:lnTo>
                <a:lnTo>
                  <a:pt x="2960984" y="661096"/>
                </a:lnTo>
                <a:lnTo>
                  <a:pt x="2894428" y="665857"/>
                </a:lnTo>
                <a:lnTo>
                  <a:pt x="2826703" y="670246"/>
                </a:lnTo>
                <a:lnTo>
                  <a:pt x="2757854" y="674254"/>
                </a:lnTo>
                <a:lnTo>
                  <a:pt x="2687930" y="677873"/>
                </a:lnTo>
                <a:lnTo>
                  <a:pt x="2616978" y="681095"/>
                </a:lnTo>
                <a:lnTo>
                  <a:pt x="2545045" y="683914"/>
                </a:lnTo>
                <a:lnTo>
                  <a:pt x="2472178" y="686320"/>
                </a:lnTo>
                <a:lnTo>
                  <a:pt x="2398426" y="688306"/>
                </a:lnTo>
                <a:lnTo>
                  <a:pt x="2323834" y="689865"/>
                </a:lnTo>
                <a:lnTo>
                  <a:pt x="2248451" y="690988"/>
                </a:lnTo>
                <a:lnTo>
                  <a:pt x="2172324" y="691667"/>
                </a:lnTo>
                <a:lnTo>
                  <a:pt x="2095500" y="691895"/>
                </a:lnTo>
                <a:lnTo>
                  <a:pt x="2018675" y="691667"/>
                </a:lnTo>
                <a:lnTo>
                  <a:pt x="1942548" y="690988"/>
                </a:lnTo>
                <a:lnTo>
                  <a:pt x="1867165" y="689865"/>
                </a:lnTo>
                <a:lnTo>
                  <a:pt x="1792573" y="688306"/>
                </a:lnTo>
                <a:lnTo>
                  <a:pt x="1718821" y="686320"/>
                </a:lnTo>
                <a:lnTo>
                  <a:pt x="1645954" y="683914"/>
                </a:lnTo>
                <a:lnTo>
                  <a:pt x="1574021" y="681095"/>
                </a:lnTo>
                <a:lnTo>
                  <a:pt x="1503069" y="677873"/>
                </a:lnTo>
                <a:lnTo>
                  <a:pt x="1433145" y="674254"/>
                </a:lnTo>
                <a:lnTo>
                  <a:pt x="1364296" y="670246"/>
                </a:lnTo>
                <a:lnTo>
                  <a:pt x="1296571" y="665857"/>
                </a:lnTo>
                <a:lnTo>
                  <a:pt x="1230015" y="661096"/>
                </a:lnTo>
                <a:lnTo>
                  <a:pt x="1164677" y="655969"/>
                </a:lnTo>
                <a:lnTo>
                  <a:pt x="1100604" y="650485"/>
                </a:lnTo>
                <a:lnTo>
                  <a:pt x="1037844" y="644652"/>
                </a:lnTo>
                <a:lnTo>
                  <a:pt x="976442" y="638476"/>
                </a:lnTo>
                <a:lnTo>
                  <a:pt x="916448" y="631967"/>
                </a:lnTo>
                <a:lnTo>
                  <a:pt x="857908" y="625132"/>
                </a:lnTo>
                <a:lnTo>
                  <a:pt x="800869" y="617979"/>
                </a:lnTo>
                <a:lnTo>
                  <a:pt x="745380" y="610515"/>
                </a:lnTo>
                <a:lnTo>
                  <a:pt x="691486" y="602749"/>
                </a:lnTo>
                <a:lnTo>
                  <a:pt x="639237" y="594688"/>
                </a:lnTo>
                <a:lnTo>
                  <a:pt x="588678" y="586340"/>
                </a:lnTo>
                <a:lnTo>
                  <a:pt x="539857" y="577713"/>
                </a:lnTo>
                <a:lnTo>
                  <a:pt x="492822" y="568815"/>
                </a:lnTo>
                <a:lnTo>
                  <a:pt x="447620" y="559654"/>
                </a:lnTo>
                <a:lnTo>
                  <a:pt x="404298" y="550237"/>
                </a:lnTo>
                <a:lnTo>
                  <a:pt x="362904" y="540572"/>
                </a:lnTo>
                <a:lnTo>
                  <a:pt x="323485" y="530667"/>
                </a:lnTo>
                <a:lnTo>
                  <a:pt x="286088" y="520530"/>
                </a:lnTo>
                <a:lnTo>
                  <a:pt x="217551" y="499591"/>
                </a:lnTo>
                <a:lnTo>
                  <a:pt x="157670" y="477818"/>
                </a:lnTo>
                <a:lnTo>
                  <a:pt x="106826" y="455273"/>
                </a:lnTo>
                <a:lnTo>
                  <a:pt x="65396" y="432019"/>
                </a:lnTo>
                <a:lnTo>
                  <a:pt x="33760" y="408118"/>
                </a:lnTo>
                <a:lnTo>
                  <a:pt x="5496" y="371191"/>
                </a:lnTo>
                <a:lnTo>
                  <a:pt x="0" y="345947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7056" y="525780"/>
            <a:ext cx="314325" cy="736600"/>
          </a:xfrm>
          <a:custGeom>
            <a:avLst/>
            <a:gdLst/>
            <a:ahLst/>
            <a:cxnLst/>
            <a:rect l="l" t="t" r="r" b="b"/>
            <a:pathLst>
              <a:path w="314325" h="736600">
                <a:moveTo>
                  <a:pt x="313944" y="0"/>
                </a:moveTo>
                <a:lnTo>
                  <a:pt x="0" y="0"/>
                </a:lnTo>
                <a:lnTo>
                  <a:pt x="0" y="736092"/>
                </a:lnTo>
                <a:lnTo>
                  <a:pt x="313944" y="736092"/>
                </a:lnTo>
                <a:lnTo>
                  <a:pt x="313944" y="485775"/>
                </a:lnTo>
                <a:lnTo>
                  <a:pt x="39242" y="485775"/>
                </a:lnTo>
                <a:lnTo>
                  <a:pt x="39242" y="250317"/>
                </a:lnTo>
                <a:lnTo>
                  <a:pt x="313944" y="250317"/>
                </a:lnTo>
                <a:lnTo>
                  <a:pt x="313944" y="0"/>
                </a:lnTo>
                <a:close/>
              </a:path>
              <a:path w="314325" h="736600">
                <a:moveTo>
                  <a:pt x="313944" y="250317"/>
                </a:moveTo>
                <a:lnTo>
                  <a:pt x="39243" y="250317"/>
                </a:lnTo>
                <a:lnTo>
                  <a:pt x="274700" y="368046"/>
                </a:lnTo>
                <a:lnTo>
                  <a:pt x="39242" y="485775"/>
                </a:lnTo>
                <a:lnTo>
                  <a:pt x="313944" y="485775"/>
                </a:lnTo>
                <a:lnTo>
                  <a:pt x="313944" y="250317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6298" y="776097"/>
            <a:ext cx="235585" cy="235585"/>
          </a:xfrm>
          <a:custGeom>
            <a:avLst/>
            <a:gdLst/>
            <a:ahLst/>
            <a:cxnLst/>
            <a:rect l="l" t="t" r="r" b="b"/>
            <a:pathLst>
              <a:path w="235585" h="235584">
                <a:moveTo>
                  <a:pt x="0" y="0"/>
                </a:moveTo>
                <a:lnTo>
                  <a:pt x="0" y="235457"/>
                </a:lnTo>
                <a:lnTo>
                  <a:pt x="235458" y="117728"/>
                </a:lnTo>
                <a:lnTo>
                  <a:pt x="0" y="0"/>
                </a:lnTo>
                <a:close/>
              </a:path>
            </a:pathLst>
          </a:custGeom>
          <a:solidFill>
            <a:srgbClr val="1F3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21716" y="784606"/>
            <a:ext cx="20383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 b="1">
                <a:solidFill>
                  <a:srgbClr val="FFC8FF"/>
                </a:solidFill>
                <a:latin typeface="宋体"/>
                <a:cs typeface="宋体"/>
                <a:hlinkClick r:id="rId3" action="ppaction://hlinksldjump"/>
              </a:rPr>
              <a:t>表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71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1389" y="1890471"/>
            <a:ext cx="661924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08075" algn="l"/>
              </a:tabLst>
            </a:pPr>
            <a:r>
              <a:rPr dirty="0" sz="4000" spc="-5">
                <a:solidFill>
                  <a:srgbClr val="FA54FA"/>
                </a:solidFill>
              </a:rPr>
              <a:t>4.4	</a:t>
            </a:r>
            <a:r>
              <a:rPr dirty="0" sz="3600" spc="-5">
                <a:solidFill>
                  <a:srgbClr val="FA54FA"/>
                </a:solidFill>
              </a:rPr>
              <a:t>LL(1)</a:t>
            </a:r>
            <a:r>
              <a:rPr dirty="0" sz="3600" spc="-5">
                <a:solidFill>
                  <a:srgbClr val="FA54FA"/>
                </a:solidFill>
                <a:latin typeface="宋体"/>
                <a:cs typeface="宋体"/>
              </a:rPr>
              <a:t>分析法与</a:t>
            </a:r>
            <a:r>
              <a:rPr dirty="0" sz="3600" spc="-5">
                <a:solidFill>
                  <a:srgbClr val="FA54FA"/>
                </a:solidFill>
              </a:rPr>
              <a:t>LL(1)</a:t>
            </a:r>
            <a:r>
              <a:rPr dirty="0" sz="3600" spc="-5">
                <a:solidFill>
                  <a:srgbClr val="FA54FA"/>
                </a:solidFill>
                <a:latin typeface="宋体"/>
                <a:cs typeface="宋体"/>
              </a:rPr>
              <a:t>分析器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52041" y="2927349"/>
            <a:ext cx="6315710" cy="2616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lvl="2" marL="1489075" indent="-1477010">
              <a:lnSpc>
                <a:spcPct val="100000"/>
              </a:lnSpc>
              <a:spcBef>
                <a:spcPts val="95"/>
              </a:spcBef>
              <a:buSzPct val="111111"/>
              <a:buAutoNum type="arabicPeriod"/>
              <a:tabLst>
                <a:tab pos="1489075" algn="l"/>
                <a:tab pos="1489710" algn="l"/>
              </a:tabLst>
            </a:pPr>
            <a:r>
              <a:rPr dirty="0" sz="3600" spc="-5" b="1">
                <a:solidFill>
                  <a:srgbClr val="FFFF66"/>
                </a:solidFill>
                <a:latin typeface="Times New Roman"/>
                <a:cs typeface="Times New Roman"/>
              </a:rPr>
              <a:t>LL(1)</a:t>
            </a:r>
            <a:r>
              <a:rPr dirty="0" sz="3600" spc="-5" b="1">
                <a:solidFill>
                  <a:srgbClr val="FFFF66"/>
                </a:solidFill>
                <a:latin typeface="宋体"/>
                <a:cs typeface="宋体"/>
              </a:rPr>
              <a:t>分析器的逻辑结构</a:t>
            </a:r>
            <a:endParaRPr sz="3600">
              <a:latin typeface="宋体"/>
              <a:cs typeface="宋体"/>
            </a:endParaRPr>
          </a:p>
          <a:p>
            <a:pPr lvl="2" marL="1489075" indent="-1477010">
              <a:lnSpc>
                <a:spcPct val="100000"/>
              </a:lnSpc>
              <a:spcBef>
                <a:spcPts val="3365"/>
              </a:spcBef>
              <a:buClr>
                <a:srgbClr val="FFFF00"/>
              </a:buClr>
              <a:buSzPct val="111111"/>
              <a:buAutoNum type="arabicPeriod"/>
              <a:tabLst>
                <a:tab pos="1489075" algn="l"/>
                <a:tab pos="1489710" algn="l"/>
              </a:tabLst>
            </a:pP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LL(1)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分析器的构造</a:t>
            </a:r>
            <a:endParaRPr sz="3600">
              <a:latin typeface="宋体"/>
              <a:cs typeface="宋体"/>
            </a:endParaRPr>
          </a:p>
          <a:p>
            <a:pPr lvl="2" marL="1489075" indent="-1477010">
              <a:lnSpc>
                <a:spcPct val="100000"/>
              </a:lnSpc>
              <a:spcBef>
                <a:spcPts val="2640"/>
              </a:spcBef>
              <a:buClr>
                <a:srgbClr val="FFFF00"/>
              </a:buClr>
              <a:buSzPct val="111111"/>
              <a:buFont typeface="Times New Roman"/>
              <a:buAutoNum type="arabicPeriod"/>
              <a:tabLst>
                <a:tab pos="1489075" algn="l"/>
                <a:tab pos="1489710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关于</a:t>
            </a: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LL(1)</a:t>
            </a:r>
            <a:r>
              <a:rPr dirty="0" sz="3600" spc="-10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75485" y="26923"/>
            <a:ext cx="15589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970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60470" y="26923"/>
            <a:ext cx="353250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4.4</a:t>
            </a:r>
            <a:r>
              <a:rPr dirty="0" sz="2000" spc="4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分析法与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0791" y="4012691"/>
            <a:ext cx="1336675" cy="775970"/>
          </a:xfrm>
          <a:custGeom>
            <a:avLst/>
            <a:gdLst/>
            <a:ahLst/>
            <a:cxnLst/>
            <a:rect l="l" t="t" r="r" b="b"/>
            <a:pathLst>
              <a:path w="1336675" h="775970">
                <a:moveTo>
                  <a:pt x="1002004" y="0"/>
                </a:moveTo>
                <a:lnTo>
                  <a:pt x="1002004" y="193928"/>
                </a:lnTo>
                <a:lnTo>
                  <a:pt x="0" y="193928"/>
                </a:lnTo>
                <a:lnTo>
                  <a:pt x="0" y="581786"/>
                </a:lnTo>
                <a:lnTo>
                  <a:pt x="1002004" y="581786"/>
                </a:lnTo>
                <a:lnTo>
                  <a:pt x="1002004" y="775715"/>
                </a:lnTo>
                <a:lnTo>
                  <a:pt x="1336548" y="387857"/>
                </a:lnTo>
                <a:lnTo>
                  <a:pt x="1002004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40791" y="4012691"/>
            <a:ext cx="1336675" cy="775970"/>
          </a:xfrm>
          <a:custGeom>
            <a:avLst/>
            <a:gdLst/>
            <a:ahLst/>
            <a:cxnLst/>
            <a:rect l="l" t="t" r="r" b="b"/>
            <a:pathLst>
              <a:path w="1336675" h="775970">
                <a:moveTo>
                  <a:pt x="1336548" y="387857"/>
                </a:moveTo>
                <a:lnTo>
                  <a:pt x="1002004" y="0"/>
                </a:lnTo>
                <a:lnTo>
                  <a:pt x="1002004" y="193928"/>
                </a:lnTo>
                <a:lnTo>
                  <a:pt x="0" y="193928"/>
                </a:lnTo>
                <a:lnTo>
                  <a:pt x="0" y="581786"/>
                </a:lnTo>
                <a:lnTo>
                  <a:pt x="1002004" y="581786"/>
                </a:lnTo>
                <a:lnTo>
                  <a:pt x="1002004" y="775715"/>
                </a:lnTo>
                <a:lnTo>
                  <a:pt x="1336548" y="387857"/>
                </a:lnTo>
                <a:close/>
              </a:path>
            </a:pathLst>
          </a:custGeom>
          <a:ln w="9525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71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58774" y="614933"/>
            <a:ext cx="7772400" cy="5227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8774" y="614933"/>
            <a:ext cx="7772400" cy="523240"/>
          </a:xfrm>
          <a:prstGeom prst="rect"/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63195">
              <a:lnSpc>
                <a:spcPts val="3654"/>
              </a:lnSpc>
              <a:tabLst>
                <a:tab pos="5153660" algn="l"/>
              </a:tabLst>
            </a:pPr>
            <a:r>
              <a:rPr dirty="0" sz="3200">
                <a:solidFill>
                  <a:srgbClr val="FFFFFF"/>
                </a:solidFill>
              </a:rPr>
              <a:t>LL(1)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分析器构造关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键	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分析表的构造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71109" y="801623"/>
            <a:ext cx="990600" cy="114300"/>
          </a:xfrm>
          <a:custGeom>
            <a:avLst/>
            <a:gdLst/>
            <a:ahLst/>
            <a:cxnLst/>
            <a:rect l="l" t="t" r="r" b="b"/>
            <a:pathLst>
              <a:path w="990600" h="114300">
                <a:moveTo>
                  <a:pt x="876300" y="0"/>
                </a:moveTo>
                <a:lnTo>
                  <a:pt x="876300" y="114300"/>
                </a:lnTo>
                <a:lnTo>
                  <a:pt x="952500" y="76200"/>
                </a:lnTo>
                <a:lnTo>
                  <a:pt x="895350" y="76200"/>
                </a:lnTo>
                <a:lnTo>
                  <a:pt x="895350" y="38100"/>
                </a:lnTo>
                <a:lnTo>
                  <a:pt x="952500" y="38100"/>
                </a:lnTo>
                <a:lnTo>
                  <a:pt x="876300" y="0"/>
                </a:lnTo>
                <a:close/>
              </a:path>
              <a:path w="990600" h="114300">
                <a:moveTo>
                  <a:pt x="8763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76300" y="76200"/>
                </a:lnTo>
                <a:lnTo>
                  <a:pt x="876300" y="38100"/>
                </a:lnTo>
                <a:close/>
              </a:path>
              <a:path w="990600" h="114300">
                <a:moveTo>
                  <a:pt x="952500" y="38100"/>
                </a:moveTo>
                <a:lnTo>
                  <a:pt x="895350" y="38100"/>
                </a:lnTo>
                <a:lnTo>
                  <a:pt x="895350" y="76200"/>
                </a:lnTo>
                <a:lnTo>
                  <a:pt x="952500" y="76200"/>
                </a:lnTo>
                <a:lnTo>
                  <a:pt x="990600" y="57150"/>
                </a:lnTo>
                <a:lnTo>
                  <a:pt x="9525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05231" y="26923"/>
            <a:ext cx="83781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  <a:tab pos="1797050" algn="l"/>
                <a:tab pos="55562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4.4  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分析法与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析器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4.4.2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LL(1)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39673" y="3196589"/>
            <a:ext cx="8324215" cy="3058795"/>
          </a:xfrm>
          <a:custGeom>
            <a:avLst/>
            <a:gdLst/>
            <a:ahLst/>
            <a:cxnLst/>
            <a:rect l="l" t="t" r="r" b="b"/>
            <a:pathLst>
              <a:path w="8324215" h="3058795">
                <a:moveTo>
                  <a:pt x="0" y="3058668"/>
                </a:moveTo>
                <a:lnTo>
                  <a:pt x="8324088" y="3058668"/>
                </a:lnTo>
                <a:lnTo>
                  <a:pt x="8324088" y="0"/>
                </a:lnTo>
                <a:lnTo>
                  <a:pt x="0" y="0"/>
                </a:lnTo>
                <a:lnTo>
                  <a:pt x="0" y="3058668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17042" y="3231235"/>
            <a:ext cx="7978140" cy="2952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3200" b="1">
                <a:solidFill>
                  <a:srgbClr val="FFFF66"/>
                </a:solidFill>
                <a:latin typeface="宋体"/>
                <a:cs typeface="宋体"/>
              </a:rPr>
              <a:t>根据</a:t>
            </a: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LL(1</a:t>
            </a:r>
            <a:r>
              <a:rPr dirty="0" sz="3200" spc="5" b="1">
                <a:solidFill>
                  <a:srgbClr val="FFFF66"/>
                </a:solidFill>
                <a:latin typeface="Times New Roman"/>
                <a:cs typeface="Times New Roman"/>
              </a:rPr>
              <a:t>)</a:t>
            </a:r>
            <a:r>
              <a:rPr dirty="0" sz="3200" spc="-5" b="1">
                <a:solidFill>
                  <a:srgbClr val="FFFF66"/>
                </a:solidFill>
                <a:latin typeface="宋体"/>
                <a:cs typeface="宋体"/>
              </a:rPr>
              <a:t>分析过程，</a:t>
            </a:r>
            <a:r>
              <a:rPr dirty="0" sz="3200" spc="-10" b="1">
                <a:solidFill>
                  <a:srgbClr val="FFFF66"/>
                </a:solidFill>
                <a:latin typeface="宋体"/>
                <a:cs typeface="宋体"/>
              </a:rPr>
              <a:t>问</a:t>
            </a:r>
            <a:r>
              <a:rPr dirty="0" sz="3200" spc="-5" b="1">
                <a:solidFill>
                  <a:srgbClr val="FFFF66"/>
                </a:solidFill>
                <a:latin typeface="宋体"/>
                <a:cs typeface="宋体"/>
              </a:rPr>
              <a:t>题的</a:t>
            </a:r>
            <a:r>
              <a:rPr dirty="0" sz="3200" spc="-10" b="1">
                <a:solidFill>
                  <a:srgbClr val="FFFF66"/>
                </a:solidFill>
                <a:latin typeface="宋体"/>
                <a:cs typeface="宋体"/>
              </a:rPr>
              <a:t>关</a:t>
            </a:r>
            <a:r>
              <a:rPr dirty="0" sz="3200" spc="-5" b="1">
                <a:solidFill>
                  <a:srgbClr val="FFFF66"/>
                </a:solidFill>
                <a:latin typeface="宋体"/>
                <a:cs typeface="宋体"/>
              </a:rPr>
              <a:t>键是解</a:t>
            </a:r>
            <a:r>
              <a:rPr dirty="0" sz="3200" spc="-10" b="1">
                <a:solidFill>
                  <a:srgbClr val="FFFF66"/>
                </a:solidFill>
                <a:latin typeface="宋体"/>
                <a:cs typeface="宋体"/>
              </a:rPr>
              <a:t>决</a:t>
            </a:r>
            <a:r>
              <a:rPr dirty="0" sz="3200" spc="-5" b="1">
                <a:solidFill>
                  <a:srgbClr val="FFFF66"/>
                </a:solidFill>
                <a:latin typeface="宋体"/>
                <a:cs typeface="宋体"/>
              </a:rPr>
              <a:t>根</a:t>
            </a:r>
            <a:r>
              <a:rPr dirty="0" sz="3200" spc="-10" b="1">
                <a:solidFill>
                  <a:srgbClr val="FFFF66"/>
                </a:solidFill>
                <a:latin typeface="宋体"/>
                <a:cs typeface="宋体"/>
              </a:rPr>
              <a:t>据 </a:t>
            </a:r>
            <a:r>
              <a:rPr dirty="0" sz="3200" b="1">
                <a:solidFill>
                  <a:srgbClr val="FFFF66"/>
                </a:solidFill>
                <a:latin typeface="宋体"/>
                <a:cs typeface="宋体"/>
              </a:rPr>
              <a:t>当前要替换的文法的非终结</a:t>
            </a:r>
            <a:r>
              <a:rPr dirty="0" sz="3200" spc="-15" b="1">
                <a:solidFill>
                  <a:srgbClr val="FFFF66"/>
                </a:solidFill>
                <a:latin typeface="宋体"/>
                <a:cs typeface="宋体"/>
              </a:rPr>
              <a:t>符</a:t>
            </a:r>
            <a:r>
              <a:rPr dirty="0" sz="3200" b="1">
                <a:solidFill>
                  <a:srgbClr val="FFFF66"/>
                </a:solidFill>
                <a:latin typeface="宋体"/>
                <a:cs typeface="宋体"/>
              </a:rPr>
              <a:t>和下</a:t>
            </a:r>
            <a:r>
              <a:rPr dirty="0" sz="3200" spc="-15" b="1">
                <a:solidFill>
                  <a:srgbClr val="FFFF66"/>
                </a:solidFill>
                <a:latin typeface="宋体"/>
                <a:cs typeface="宋体"/>
              </a:rPr>
              <a:t>一</a:t>
            </a:r>
            <a:r>
              <a:rPr dirty="0" sz="3200" b="1">
                <a:solidFill>
                  <a:srgbClr val="FFFF66"/>
                </a:solidFill>
                <a:latin typeface="宋体"/>
                <a:cs typeface="宋体"/>
              </a:rPr>
              <a:t>步要匹 配的终结符，选择非终结符</a:t>
            </a:r>
            <a:r>
              <a:rPr dirty="0" sz="3200" spc="-15" b="1">
                <a:solidFill>
                  <a:srgbClr val="FFFF66"/>
                </a:solidFill>
                <a:latin typeface="宋体"/>
                <a:cs typeface="宋体"/>
              </a:rPr>
              <a:t>对</a:t>
            </a:r>
            <a:r>
              <a:rPr dirty="0" sz="3200" b="1">
                <a:solidFill>
                  <a:srgbClr val="FFFF66"/>
                </a:solidFill>
                <a:latin typeface="宋体"/>
                <a:cs typeface="宋体"/>
              </a:rPr>
              <a:t>应的</a:t>
            </a:r>
            <a:r>
              <a:rPr dirty="0" sz="3200" spc="-15" b="1">
                <a:solidFill>
                  <a:srgbClr val="FFFF66"/>
                </a:solidFill>
                <a:latin typeface="宋体"/>
                <a:cs typeface="宋体"/>
              </a:rPr>
              <a:t>产</a:t>
            </a:r>
            <a:r>
              <a:rPr dirty="0" sz="3200" b="1">
                <a:solidFill>
                  <a:srgbClr val="FFFF66"/>
                </a:solidFill>
                <a:latin typeface="宋体"/>
                <a:cs typeface="宋体"/>
              </a:rPr>
              <a:t>生式规 则的哪一个候选式。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509771" y="2486405"/>
            <a:ext cx="1612391" cy="47320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912870" y="2433827"/>
            <a:ext cx="806196" cy="350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912870" y="2398776"/>
            <a:ext cx="806196" cy="175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163574" y="1815845"/>
            <a:ext cx="6571488" cy="5212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163574" y="1815845"/>
            <a:ext cx="6571615" cy="521334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89535">
              <a:lnSpc>
                <a:spcPts val="3650"/>
              </a:lnSpc>
              <a:tabLst>
                <a:tab pos="4472305" algn="l"/>
              </a:tabLst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分析表的构造关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键	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预测函数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725161" y="2001011"/>
            <a:ext cx="838200" cy="114300"/>
          </a:xfrm>
          <a:custGeom>
            <a:avLst/>
            <a:gdLst/>
            <a:ahLst/>
            <a:cxnLst/>
            <a:rect l="l" t="t" r="r" b="b"/>
            <a:pathLst>
              <a:path w="838200" h="114300">
                <a:moveTo>
                  <a:pt x="723900" y="0"/>
                </a:moveTo>
                <a:lnTo>
                  <a:pt x="723900" y="114300"/>
                </a:lnTo>
                <a:lnTo>
                  <a:pt x="800100" y="76200"/>
                </a:lnTo>
                <a:lnTo>
                  <a:pt x="742950" y="76200"/>
                </a:lnTo>
                <a:lnTo>
                  <a:pt x="742950" y="38100"/>
                </a:lnTo>
                <a:lnTo>
                  <a:pt x="800100" y="38100"/>
                </a:lnTo>
                <a:lnTo>
                  <a:pt x="723900" y="0"/>
                </a:lnTo>
                <a:close/>
              </a:path>
              <a:path w="838200" h="114300">
                <a:moveTo>
                  <a:pt x="7239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23900" y="76200"/>
                </a:lnTo>
                <a:lnTo>
                  <a:pt x="723900" y="38100"/>
                </a:lnTo>
                <a:close/>
              </a:path>
              <a:path w="838200" h="114300">
                <a:moveTo>
                  <a:pt x="800100" y="38100"/>
                </a:moveTo>
                <a:lnTo>
                  <a:pt x="742950" y="38100"/>
                </a:lnTo>
                <a:lnTo>
                  <a:pt x="742950" y="76200"/>
                </a:lnTo>
                <a:lnTo>
                  <a:pt x="800100" y="76200"/>
                </a:lnTo>
                <a:lnTo>
                  <a:pt x="838200" y="57150"/>
                </a:lnTo>
                <a:lnTo>
                  <a:pt x="8001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454908" y="1261110"/>
            <a:ext cx="1613915" cy="47320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858386" y="1208532"/>
            <a:ext cx="806958" cy="3505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858386" y="1173480"/>
            <a:ext cx="806958" cy="1752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71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5231" y="26923"/>
            <a:ext cx="83781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  <a:tab pos="1797050" algn="l"/>
                <a:tab pos="55562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4.4  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分析法与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析器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4.4.2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LL(1)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9708" y="5613963"/>
            <a:ext cx="3456940" cy="551815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M(</a:t>
            </a:r>
            <a:r>
              <a:rPr dirty="0" sz="3200" b="1" i="1">
                <a:solidFill>
                  <a:srgbClr val="FFFF66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66"/>
                </a:solidFill>
                <a:latin typeface="宋体"/>
                <a:cs typeface="宋体"/>
              </a:rPr>
              <a:t>，</a:t>
            </a:r>
            <a:r>
              <a:rPr dirty="0" sz="3200" b="1" i="1">
                <a:solidFill>
                  <a:srgbClr val="FFFF66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) = { </a:t>
            </a:r>
            <a:r>
              <a:rPr dirty="0" sz="3200" spc="-35" b="1" i="1">
                <a:solidFill>
                  <a:srgbClr val="FFFF66"/>
                </a:solidFill>
                <a:latin typeface="Times New Roman"/>
                <a:cs typeface="Times New Roman"/>
              </a:rPr>
              <a:t>A</a:t>
            </a:r>
            <a:r>
              <a:rPr dirty="0" sz="3200" spc="-3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3350" spc="-35" b="1" i="1">
                <a:solidFill>
                  <a:srgbClr val="FFFF66"/>
                </a:solidFill>
                <a:latin typeface="Symbol"/>
                <a:cs typeface="Symbol"/>
              </a:rPr>
              <a:t></a:t>
            </a:r>
            <a:r>
              <a:rPr dirty="0" sz="3350" spc="-140" b="1" i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74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12216" y="608838"/>
            <a:ext cx="27781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">
                <a:solidFill>
                  <a:srgbClr val="FFFF66"/>
                </a:solidFill>
                <a:latin typeface="宋体"/>
                <a:cs typeface="宋体"/>
              </a:rPr>
              <a:t>第一种情况：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2216" y="1392326"/>
            <a:ext cx="8380095" cy="413067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61290" marR="299085">
              <a:lnSpc>
                <a:spcPct val="126200"/>
              </a:lnSpc>
              <a:spcBef>
                <a:spcPts val="2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据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FIRS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集合的定义：对文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中产生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式形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r>
              <a:rPr dirty="0" sz="3200" spc="-3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3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350" spc="-3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3350" spc="-6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99FF99"/>
                </a:solidFill>
                <a:latin typeface="宋体"/>
                <a:cs typeface="宋体"/>
              </a:rPr>
              <a:t>且没</a:t>
            </a:r>
            <a:r>
              <a:rPr dirty="0" sz="3200" spc="-10" b="1">
                <a:solidFill>
                  <a:srgbClr val="99FF99"/>
                </a:solidFill>
                <a:latin typeface="宋体"/>
                <a:cs typeface="宋体"/>
              </a:rPr>
              <a:t>有</a:t>
            </a:r>
            <a:r>
              <a:rPr dirty="0" sz="3200" spc="-819" b="1">
                <a:solidFill>
                  <a:srgbClr val="99FF99"/>
                </a:solidFill>
                <a:latin typeface="宋体"/>
                <a:cs typeface="宋体"/>
              </a:rPr>
              <a:t> </a:t>
            </a:r>
            <a:r>
              <a:rPr dirty="0" sz="3350" spc="-2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3200" spc="-25" b="1">
                <a:solidFill>
                  <a:srgbClr val="FFFFFF"/>
                </a:solidFill>
                <a:latin typeface="Times New Roman"/>
                <a:cs typeface="Times New Roman"/>
              </a:rPr>
              <a:t>=&gt;ε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的情况，则产生</a:t>
            </a:r>
            <a:endParaRPr sz="3200">
              <a:latin typeface="宋体"/>
              <a:cs typeface="宋体"/>
            </a:endParaRPr>
          </a:p>
          <a:p>
            <a:pPr marL="161290">
              <a:lnSpc>
                <a:spcPct val="100000"/>
              </a:lnSpc>
              <a:spcBef>
                <a:spcPts val="112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LL(1)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分析表的预测函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7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tabLst>
                <a:tab pos="245872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对文法规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则	</a:t>
            </a:r>
            <a:r>
              <a:rPr dirty="0" sz="3200" b="1" i="1">
                <a:solidFill>
                  <a:srgbClr val="FFFF66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 i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3200" spc="-4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3350" spc="-45" b="1" i="1">
                <a:solidFill>
                  <a:srgbClr val="FFFF66"/>
                </a:solidFill>
                <a:latin typeface="Symbol"/>
                <a:cs typeface="Symbol"/>
              </a:rPr>
              <a:t></a:t>
            </a:r>
            <a:endParaRPr sz="3350">
              <a:latin typeface="Symbol"/>
              <a:cs typeface="Symbol"/>
            </a:endParaRPr>
          </a:p>
          <a:p>
            <a:pPr marL="12700" marR="5080" indent="406400">
              <a:lnSpc>
                <a:spcPct val="124200"/>
              </a:lnSpc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3200" spc="-10" b="1" i="1">
                <a:solidFill>
                  <a:srgbClr val="FFFF66"/>
                </a:solidFill>
                <a:latin typeface="Times New Roman"/>
                <a:cs typeface="Times New Roman"/>
              </a:rPr>
              <a:t>a</a:t>
            </a:r>
            <a:r>
              <a:rPr dirty="0" sz="3200" spc="-10" b="1">
                <a:solidFill>
                  <a:srgbClr val="FFFF66"/>
                </a:solidFill>
                <a:latin typeface="宋体"/>
                <a:cs typeface="宋体"/>
              </a:rPr>
              <a:t>∈</a:t>
            </a:r>
            <a:r>
              <a:rPr dirty="0" sz="3200" spc="-10" b="1">
                <a:solidFill>
                  <a:srgbClr val="FFFF66"/>
                </a:solidFill>
                <a:latin typeface="Times New Roman"/>
                <a:cs typeface="Times New Roman"/>
              </a:rPr>
              <a:t>FIRST(</a:t>
            </a:r>
            <a:r>
              <a:rPr dirty="0" sz="3350" spc="-10" b="1" i="1">
                <a:solidFill>
                  <a:srgbClr val="FFFF66"/>
                </a:solidFill>
                <a:latin typeface="Symbol"/>
                <a:cs typeface="Symbol"/>
              </a:rPr>
              <a:t></a:t>
            </a:r>
            <a:r>
              <a:rPr dirty="0" sz="3200" spc="-10" b="1">
                <a:solidFill>
                  <a:srgbClr val="FFFF66"/>
                </a:solidFill>
                <a:latin typeface="Times New Roman"/>
                <a:cs typeface="Times New Roman"/>
              </a:rPr>
              <a:t>)</a:t>
            </a:r>
            <a:r>
              <a:rPr dirty="0" sz="3200" spc="-65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，那么要匹配输入单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词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时， 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应该使用候选式</a:t>
            </a:r>
            <a:r>
              <a:rPr dirty="0" sz="3350" spc="-9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替换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。所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以有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9811" y="26923"/>
            <a:ext cx="91243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8120">
              <a:lnSpc>
                <a:spcPct val="100000"/>
              </a:lnSpc>
              <a:spcBef>
                <a:spcPts val="100"/>
              </a:spcBef>
              <a:tabLst>
                <a:tab pos="706755" algn="l"/>
                <a:tab pos="1982470" algn="l"/>
                <a:tab pos="574167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4.4  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分析法与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析器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4.4.2</a:t>
            </a:r>
            <a:r>
              <a:rPr dirty="0" u="sng" sz="2000" spc="4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LL(1)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25623" y="1581149"/>
            <a:ext cx="33299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文法</a:t>
            </a:r>
            <a:r>
              <a:rPr dirty="0" u="heavy" sz="2800" spc="-1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G</a:t>
            </a:r>
            <a:r>
              <a:rPr dirty="0" u="heavy" sz="28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的</a:t>
            </a:r>
            <a:r>
              <a:rPr dirty="0" u="heavy" sz="28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L</a:t>
            </a:r>
            <a:r>
              <a:rPr dirty="0" u="heavy" sz="2800" spc="-2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L</a:t>
            </a:r>
            <a:r>
              <a:rPr dirty="0" u="heavy" sz="28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heavy" sz="28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1)</a:t>
            </a:r>
            <a:r>
              <a:rPr dirty="0" u="heavy" sz="28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分析表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2919" y="5277611"/>
            <a:ext cx="8476488" cy="11186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402207" y="5219114"/>
            <a:ext cx="7054850" cy="541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200" spc="-5" b="1">
                <a:latin typeface="宋体"/>
                <a:cs typeface="宋体"/>
              </a:rPr>
              <a:t>若有</a:t>
            </a:r>
            <a:r>
              <a:rPr dirty="0" sz="3350" spc="-25" b="1" i="1">
                <a:latin typeface="宋体"/>
                <a:cs typeface="宋体"/>
              </a:rPr>
              <a:t>ε</a:t>
            </a:r>
            <a:r>
              <a:rPr dirty="0" sz="3200" spc="-25" b="1">
                <a:latin typeface="宋体"/>
                <a:cs typeface="宋体"/>
              </a:rPr>
              <a:t>∈</a:t>
            </a:r>
            <a:r>
              <a:rPr dirty="0" sz="3200" spc="-25" b="1">
                <a:latin typeface="Times New Roman"/>
                <a:cs typeface="Times New Roman"/>
              </a:rPr>
              <a:t>FIRST(</a:t>
            </a:r>
            <a:r>
              <a:rPr dirty="0" sz="3350" spc="-25" b="1" i="1">
                <a:latin typeface="Symbol"/>
                <a:cs typeface="Symbol"/>
              </a:rPr>
              <a:t></a:t>
            </a:r>
            <a:r>
              <a:rPr dirty="0" sz="3200" spc="-25" b="1">
                <a:latin typeface="Times New Roman"/>
                <a:cs typeface="Times New Roman"/>
              </a:rPr>
              <a:t>)</a:t>
            </a:r>
            <a:r>
              <a:rPr dirty="0" sz="3200" spc="-10" b="1">
                <a:latin typeface="宋体"/>
                <a:cs typeface="宋体"/>
              </a:rPr>
              <a:t>怎么</a:t>
            </a:r>
            <a:r>
              <a:rPr dirty="0" sz="3200" b="1">
                <a:latin typeface="宋体"/>
                <a:cs typeface="宋体"/>
              </a:rPr>
              <a:t>办</a:t>
            </a:r>
            <a:r>
              <a:rPr dirty="0" sz="3200" spc="-10" b="1">
                <a:latin typeface="宋体"/>
                <a:cs typeface="宋体"/>
              </a:rPr>
              <a:t>？此</a:t>
            </a:r>
            <a:r>
              <a:rPr dirty="0" sz="3200" b="1">
                <a:latin typeface="宋体"/>
                <a:cs typeface="宋体"/>
              </a:rPr>
              <a:t>时</a:t>
            </a:r>
            <a:r>
              <a:rPr dirty="0" sz="3200" spc="-10" b="1">
                <a:latin typeface="宋体"/>
                <a:cs typeface="宋体"/>
              </a:rPr>
              <a:t>当面临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409955"/>
            <a:ext cx="9144000" cy="1234440"/>
          </a:xfrm>
          <a:custGeom>
            <a:avLst/>
            <a:gdLst/>
            <a:ahLst/>
            <a:cxnLst/>
            <a:rect l="l" t="t" r="r" b="b"/>
            <a:pathLst>
              <a:path w="9144000" h="1234439">
                <a:moveTo>
                  <a:pt x="0" y="1234439"/>
                </a:moveTo>
                <a:lnTo>
                  <a:pt x="9144000" y="1234439"/>
                </a:lnTo>
                <a:lnTo>
                  <a:pt x="9144000" y="0"/>
                </a:lnTo>
                <a:lnTo>
                  <a:pt x="0" y="0"/>
                </a:lnTo>
                <a:lnTo>
                  <a:pt x="0" y="1234439"/>
                </a:lnTo>
                <a:close/>
              </a:path>
            </a:pathLst>
          </a:custGeom>
          <a:solidFill>
            <a:srgbClr val="611F1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40080" y="2100072"/>
          <a:ext cx="8145145" cy="2771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0825"/>
                <a:gridCol w="1334770"/>
                <a:gridCol w="1125855"/>
                <a:gridCol w="1208404"/>
                <a:gridCol w="1153795"/>
                <a:gridCol w="827404"/>
                <a:gridCol w="906779"/>
              </a:tblGrid>
              <a:tr h="6957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00FFFF"/>
                      </a:solidFill>
                      <a:prstDash val="solid"/>
                    </a:lnL>
                    <a:lnR w="38100">
                      <a:solidFill>
                        <a:srgbClr val="00FFFF"/>
                      </a:solidFill>
                      <a:prstDash val="solid"/>
                    </a:lnR>
                    <a:lnT w="53975">
                      <a:solidFill>
                        <a:srgbClr val="00FFFF"/>
                      </a:solidFill>
                      <a:prstDash val="solid"/>
                    </a:lnT>
                    <a:lnB w="38100">
                      <a:solidFill>
                        <a:srgbClr val="00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8190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8110">
                    <a:lnL w="38100">
                      <a:solidFill>
                        <a:srgbClr val="00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76200">
                      <a:solidFill>
                        <a:srgbClr val="00FFFF"/>
                      </a:solidFill>
                      <a:prstDash val="solid"/>
                    </a:lnT>
                    <a:lnB w="38100">
                      <a:solidFill>
                        <a:srgbClr val="00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0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dirty="0" sz="28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811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76200">
                      <a:solidFill>
                        <a:srgbClr val="00FFFF"/>
                      </a:solidFill>
                      <a:prstDash val="solid"/>
                    </a:lnT>
                    <a:lnB w="38100">
                      <a:solidFill>
                        <a:srgbClr val="00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8097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811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76200">
                      <a:solidFill>
                        <a:srgbClr val="00FFFF"/>
                      </a:solidFill>
                      <a:prstDash val="solid"/>
                    </a:lnT>
                    <a:lnB w="38100">
                      <a:solidFill>
                        <a:srgbClr val="00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750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dirty="0" sz="28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811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76200">
                      <a:solidFill>
                        <a:srgbClr val="00FFFF"/>
                      </a:solidFill>
                      <a:prstDash val="solid"/>
                    </a:lnT>
                    <a:lnB w="38100">
                      <a:solidFill>
                        <a:srgbClr val="00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21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811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76200">
                      <a:solidFill>
                        <a:srgbClr val="00FFFF"/>
                      </a:solidFill>
                      <a:prstDash val="solid"/>
                    </a:lnT>
                    <a:lnB w="38100">
                      <a:solidFill>
                        <a:srgbClr val="00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8110">
                    <a:lnL w="38100">
                      <a:solidFill>
                        <a:srgbClr val="66FFFF"/>
                      </a:solidFill>
                      <a:prstDash val="solid"/>
                    </a:lnL>
                    <a:lnR w="53975">
                      <a:solidFill>
                        <a:srgbClr val="00FFFF"/>
                      </a:solidFill>
                      <a:prstDash val="solid"/>
                    </a:lnR>
                    <a:lnT w="76200">
                      <a:solidFill>
                        <a:srgbClr val="00FFFF"/>
                      </a:solidFill>
                      <a:prstDash val="solid"/>
                    </a:lnT>
                    <a:lnB w="38100">
                      <a:solidFill>
                        <a:srgbClr val="00FFFF"/>
                      </a:solidFill>
                      <a:prstDash val="solid"/>
                    </a:lnB>
                  </a:tcPr>
                </a:tc>
              </a:tr>
              <a:tr h="631697"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0645">
                    <a:lnL w="38100">
                      <a:solidFill>
                        <a:srgbClr val="00FFFF"/>
                      </a:solidFill>
                      <a:prstDash val="solid"/>
                    </a:lnL>
                    <a:lnR w="38100">
                      <a:solidFill>
                        <a:srgbClr val="00FFFF"/>
                      </a:solidFill>
                      <a:prstDash val="solid"/>
                    </a:lnR>
                    <a:lnT w="38100">
                      <a:solidFill>
                        <a:srgbClr val="00FFFF"/>
                      </a:solidFill>
                      <a:prstDash val="solid"/>
                    </a:lnT>
                    <a:lnB w="53975">
                      <a:solidFill>
                        <a:srgbClr val="00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8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8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38100">
                      <a:solidFill>
                        <a:srgbClr val="00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38100">
                      <a:solidFill>
                        <a:srgbClr val="00FFFF"/>
                      </a:solidFill>
                      <a:prstDash val="solid"/>
                    </a:lnT>
                    <a:lnB w="53975">
                      <a:solidFill>
                        <a:srgbClr val="00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28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28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8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Bq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38100">
                      <a:solidFill>
                        <a:srgbClr val="00FFFF"/>
                      </a:solidFill>
                      <a:prstDash val="solid"/>
                    </a:lnT>
                    <a:lnB w="53975">
                      <a:solidFill>
                        <a:srgbClr val="00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28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8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38100">
                      <a:solidFill>
                        <a:srgbClr val="00FFFF"/>
                      </a:solidFill>
                      <a:prstDash val="solid"/>
                    </a:lnT>
                    <a:lnB w="53975">
                      <a:solidFill>
                        <a:srgbClr val="00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28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28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8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Bq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86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38100">
                      <a:solidFill>
                        <a:srgbClr val="00FFFF"/>
                      </a:solidFill>
                      <a:prstDash val="solid"/>
                    </a:lnT>
                    <a:lnB w="53975">
                      <a:solidFill>
                        <a:srgbClr val="00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38100">
                      <a:solidFill>
                        <a:srgbClr val="00FFFF"/>
                      </a:solidFill>
                      <a:prstDash val="solid"/>
                    </a:lnT>
                    <a:lnB w="53975">
                      <a:solidFill>
                        <a:srgbClr val="00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00FFFF"/>
                      </a:solidFill>
                      <a:prstDash val="solid"/>
                    </a:lnR>
                    <a:lnT w="38100">
                      <a:solidFill>
                        <a:srgbClr val="00FFFF"/>
                      </a:solidFill>
                      <a:prstDash val="solid"/>
                    </a:lnT>
                    <a:lnB w="53975">
                      <a:solidFill>
                        <a:srgbClr val="00FFFF"/>
                      </a:solidFill>
                      <a:prstDash val="solid"/>
                    </a:lnB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2080">
                    <a:lnL w="38100">
                      <a:solidFill>
                        <a:srgbClr val="00FFFF"/>
                      </a:solidFill>
                      <a:prstDash val="solid"/>
                    </a:lnL>
                    <a:lnR w="38100">
                      <a:solidFill>
                        <a:srgbClr val="00FFFF"/>
                      </a:solidFill>
                      <a:prstDash val="solid"/>
                    </a:lnR>
                    <a:lnT w="53975">
                      <a:solidFill>
                        <a:srgbClr val="00FFFF"/>
                      </a:solidFill>
                      <a:prstDash val="solid"/>
                    </a:lnT>
                    <a:lnB w="53975">
                      <a:solidFill>
                        <a:srgbClr val="00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28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8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135">
                    <a:lnL w="38100">
                      <a:solidFill>
                        <a:srgbClr val="00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53975">
                      <a:solidFill>
                        <a:srgbClr val="00FFFF"/>
                      </a:solidFill>
                      <a:prstDash val="solid"/>
                    </a:lnT>
                    <a:lnB w="53975">
                      <a:solidFill>
                        <a:srgbClr val="00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53975">
                      <a:solidFill>
                        <a:srgbClr val="00FFFF"/>
                      </a:solidFill>
                      <a:prstDash val="solid"/>
                    </a:lnT>
                    <a:lnB w="53975">
                      <a:solidFill>
                        <a:srgbClr val="00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2800" spc="-1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800" spc="-1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355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53975">
                      <a:solidFill>
                        <a:srgbClr val="00FFFF"/>
                      </a:solidFill>
                      <a:prstDash val="solid"/>
                    </a:lnT>
                    <a:lnB w="53975">
                      <a:solidFill>
                        <a:srgbClr val="00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53975">
                      <a:solidFill>
                        <a:srgbClr val="00FFFF"/>
                      </a:solidFill>
                      <a:prstDash val="solid"/>
                    </a:lnT>
                    <a:lnB w="53975">
                      <a:solidFill>
                        <a:srgbClr val="00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53975">
                      <a:solidFill>
                        <a:srgbClr val="00FFFF"/>
                      </a:solidFill>
                      <a:prstDash val="solid"/>
                    </a:lnT>
                    <a:lnB w="53975">
                      <a:solidFill>
                        <a:srgbClr val="00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00FFFF"/>
                      </a:solidFill>
                      <a:prstDash val="solid"/>
                    </a:lnR>
                    <a:lnT w="53975">
                      <a:solidFill>
                        <a:srgbClr val="00FFFF"/>
                      </a:solidFill>
                      <a:prstDash val="solid"/>
                    </a:lnT>
                    <a:lnB w="53975">
                      <a:solidFill>
                        <a:srgbClr val="00FFFF"/>
                      </a:solidFill>
                      <a:prstDash val="solid"/>
                    </a:lnB>
                  </a:tcPr>
                </a:tc>
              </a:tr>
              <a:tr h="697230"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6839">
                    <a:lnL w="38100">
                      <a:solidFill>
                        <a:srgbClr val="00FFFF"/>
                      </a:solidFill>
                      <a:prstDash val="solid"/>
                    </a:lnL>
                    <a:lnR w="38100">
                      <a:solidFill>
                        <a:srgbClr val="00FFFF"/>
                      </a:solidFill>
                      <a:prstDash val="solid"/>
                    </a:lnR>
                    <a:lnT w="53975">
                      <a:solidFill>
                        <a:srgbClr val="00FFFF"/>
                      </a:solidFill>
                      <a:prstDash val="solid"/>
                    </a:lnT>
                    <a:lnB w="38100">
                      <a:solidFill>
                        <a:srgbClr val="00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53975">
                      <a:solidFill>
                        <a:srgbClr val="00FFFF"/>
                      </a:solidFill>
                      <a:prstDash val="solid"/>
                    </a:lnT>
                    <a:lnB w="38100">
                      <a:solidFill>
                        <a:srgbClr val="00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0960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dirty="0" sz="28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dirty="0" sz="28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8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1125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53975">
                      <a:solidFill>
                        <a:srgbClr val="00FFFF"/>
                      </a:solidFill>
                      <a:prstDash val="solid"/>
                    </a:lnT>
                    <a:lnB w="38100">
                      <a:solidFill>
                        <a:srgbClr val="00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53975">
                      <a:solidFill>
                        <a:srgbClr val="00FFFF"/>
                      </a:solidFill>
                      <a:prstDash val="solid"/>
                    </a:lnT>
                    <a:lnB w="38100">
                      <a:solidFill>
                        <a:srgbClr val="00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dirty="0" sz="28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dirty="0" sz="28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8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dB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1125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53975">
                      <a:solidFill>
                        <a:srgbClr val="00FFFF"/>
                      </a:solidFill>
                      <a:prstDash val="solid"/>
                    </a:lnT>
                    <a:lnB w="38100">
                      <a:solidFill>
                        <a:srgbClr val="00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53975">
                      <a:solidFill>
                        <a:srgbClr val="00FFFF"/>
                      </a:solidFill>
                      <a:prstDash val="solid"/>
                    </a:lnT>
                    <a:lnB w="38100">
                      <a:solidFill>
                        <a:srgbClr val="00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00FFFF"/>
                      </a:solidFill>
                      <a:prstDash val="solid"/>
                    </a:lnR>
                    <a:lnT w="53975">
                      <a:solidFill>
                        <a:srgbClr val="00FFFF"/>
                      </a:solidFill>
                      <a:prstDash val="solid"/>
                    </a:lnT>
                    <a:lnB w="38100">
                      <a:solidFill>
                        <a:srgbClr val="00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581964" y="5851421"/>
            <a:ext cx="5611495" cy="551180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3200" b="1" i="1">
                <a:latin typeface="Times New Roman"/>
                <a:cs typeface="Times New Roman"/>
              </a:rPr>
              <a:t>a</a:t>
            </a:r>
            <a:r>
              <a:rPr dirty="0" sz="3200" b="1">
                <a:latin typeface="Symbol"/>
                <a:cs typeface="Symbol"/>
              </a:rPr>
              <a:t></a:t>
            </a:r>
            <a:r>
              <a:rPr dirty="0" sz="3200" spc="-35" b="1">
                <a:latin typeface="Times New Roman"/>
                <a:cs typeface="Times New Roman"/>
              </a:rPr>
              <a:t> </a:t>
            </a:r>
            <a:r>
              <a:rPr dirty="0" sz="3200" spc="-15" b="1">
                <a:latin typeface="Times New Roman"/>
                <a:cs typeface="Times New Roman"/>
              </a:rPr>
              <a:t>FIRST(</a:t>
            </a:r>
            <a:r>
              <a:rPr dirty="0" sz="3350" spc="-15" b="1" i="1">
                <a:latin typeface="Symbol"/>
                <a:cs typeface="Symbol"/>
              </a:rPr>
              <a:t></a:t>
            </a:r>
            <a:r>
              <a:rPr dirty="0" sz="3200" spc="-15" b="1">
                <a:latin typeface="Times New Roman"/>
                <a:cs typeface="Times New Roman"/>
              </a:rPr>
              <a:t>)</a:t>
            </a:r>
            <a:r>
              <a:rPr dirty="0" sz="3200" spc="-5" b="1">
                <a:latin typeface="宋体"/>
                <a:cs typeface="宋体"/>
              </a:rPr>
              <a:t>时并不一</a:t>
            </a:r>
            <a:r>
              <a:rPr dirty="0" sz="3200" spc="-10" b="1">
                <a:latin typeface="宋体"/>
                <a:cs typeface="宋体"/>
              </a:rPr>
              <a:t>定</a:t>
            </a:r>
            <a:r>
              <a:rPr dirty="0" sz="3200" spc="-5" b="1">
                <a:latin typeface="宋体"/>
                <a:cs typeface="宋体"/>
              </a:rPr>
              <a:t>出错</a:t>
            </a:r>
            <a:r>
              <a:rPr dirty="0" sz="3200" spc="-10" b="1"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75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1544" y="403605"/>
            <a:ext cx="407162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2802890" algn="l"/>
              </a:tabLst>
            </a:pPr>
            <a:r>
              <a:rPr dirty="0" sz="2200" spc="-5" b="1" i="1">
                <a:solidFill>
                  <a:srgbClr val="FFFF00"/>
                </a:solidFill>
                <a:latin typeface="Times New Roman"/>
                <a:cs typeface="Times New Roman"/>
              </a:rPr>
              <a:t>S </a:t>
            </a:r>
            <a:r>
              <a:rPr dirty="0" sz="2200" spc="-5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2200" spc="-5" b="1" i="1">
                <a:solidFill>
                  <a:srgbClr val="FFFF00"/>
                </a:solidFill>
                <a:latin typeface="Times New Roman"/>
                <a:cs typeface="Times New Roman"/>
              </a:rPr>
              <a:t>Ap</a:t>
            </a:r>
            <a:r>
              <a:rPr dirty="0" sz="2200" spc="-7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200" spc="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 i="1">
                <a:solidFill>
                  <a:srgbClr val="FFFF00"/>
                </a:solidFill>
                <a:latin typeface="Times New Roman"/>
                <a:cs typeface="Times New Roman"/>
              </a:rPr>
              <a:t>Bq	A </a:t>
            </a:r>
            <a:r>
              <a:rPr dirty="0" sz="2200" spc="-5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2200" spc="-5" b="1" i="1">
                <a:solidFill>
                  <a:srgbClr val="FFFF00"/>
                </a:solidFill>
                <a:latin typeface="Times New Roman"/>
                <a:cs typeface="Times New Roman"/>
              </a:rPr>
              <a:t>a </a:t>
            </a:r>
            <a:r>
              <a:rPr dirty="0" sz="22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200" spc="-6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200" spc="-10" b="1" i="1">
                <a:solidFill>
                  <a:srgbClr val="FFFF00"/>
                </a:solidFill>
                <a:latin typeface="Times New Roman"/>
                <a:cs typeface="Times New Roman"/>
              </a:rPr>
              <a:t>cA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439" y="842517"/>
            <a:ext cx="532955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2903220" algn="l"/>
              </a:tabLst>
            </a:pPr>
            <a:r>
              <a:rPr dirty="0" sz="2200" spc="-5" b="1">
                <a:solidFill>
                  <a:srgbClr val="FFFF00"/>
                </a:solidFill>
                <a:latin typeface="宋体"/>
                <a:cs typeface="宋体"/>
              </a:rPr>
              <a:t>对</a:t>
            </a:r>
            <a:r>
              <a:rPr dirty="0" sz="22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200" spc="-5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Ap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)={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}	</a:t>
            </a:r>
            <a:r>
              <a:rPr dirty="0" sz="2200" spc="-5" b="1">
                <a:solidFill>
                  <a:srgbClr val="FFFF00"/>
                </a:solidFill>
                <a:latin typeface="宋体"/>
                <a:cs typeface="宋体"/>
              </a:rPr>
              <a:t>对</a:t>
            </a:r>
            <a:r>
              <a:rPr dirty="0" sz="22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200" spc="-5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)={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9431" y="1275715"/>
            <a:ext cx="207518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Bq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)={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60342" y="299364"/>
            <a:ext cx="4594860" cy="1336675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1927860">
              <a:lnSpc>
                <a:spcPct val="100000"/>
              </a:lnSpc>
              <a:spcBef>
                <a:spcPts val="915"/>
              </a:spcBef>
            </a:pPr>
            <a:r>
              <a:rPr dirty="0" sz="2200" spc="-5" b="1" i="1">
                <a:solidFill>
                  <a:srgbClr val="FFFF00"/>
                </a:solidFill>
                <a:latin typeface="Times New Roman"/>
                <a:cs typeface="Times New Roman"/>
              </a:rPr>
              <a:t>B </a:t>
            </a:r>
            <a:r>
              <a:rPr dirty="0" sz="2200" spc="-5" b="1">
                <a:solidFill>
                  <a:srgbClr val="FFFF00"/>
                </a:solidFill>
                <a:latin typeface="Times New Roman"/>
                <a:cs typeface="Times New Roman"/>
              </a:rPr>
              <a:t>→ </a:t>
            </a:r>
            <a:r>
              <a:rPr dirty="0" sz="2200" spc="-5" b="1" i="1">
                <a:solidFill>
                  <a:srgbClr val="FFFF00"/>
                </a:solidFill>
                <a:latin typeface="Times New Roman"/>
                <a:cs typeface="Times New Roman"/>
              </a:rPr>
              <a:t>b </a:t>
            </a:r>
            <a:r>
              <a:rPr dirty="0" sz="22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200" spc="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200" b="1" i="1">
                <a:solidFill>
                  <a:srgbClr val="FFFF00"/>
                </a:solidFill>
                <a:latin typeface="Times New Roman"/>
                <a:cs typeface="Times New Roman"/>
              </a:rPr>
              <a:t>dB</a:t>
            </a:r>
            <a:endParaRPr sz="2200">
              <a:latin typeface="Times New Roman"/>
              <a:cs typeface="Times New Roman"/>
            </a:endParaRPr>
          </a:p>
          <a:p>
            <a:pPr marR="5080" indent="1929130">
              <a:lnSpc>
                <a:spcPct val="129200"/>
              </a:lnSpc>
              <a:spcBef>
                <a:spcPts val="45"/>
              </a:spcBef>
              <a:tabLst>
                <a:tab pos="2729230" algn="l"/>
              </a:tabLst>
            </a:pPr>
            <a:r>
              <a:rPr dirty="0" sz="2200" spc="-5" b="1">
                <a:solidFill>
                  <a:srgbClr val="FFFF00"/>
                </a:solidFill>
                <a:latin typeface="宋体"/>
                <a:cs typeface="宋体"/>
              </a:rPr>
              <a:t>对</a:t>
            </a:r>
            <a:r>
              <a:rPr dirty="0" sz="2200" spc="-1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200" spc="-15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200" spc="-56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)={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}  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cA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)=</a:t>
            </a:r>
            <a:r>
              <a:rPr dirty="0" sz="2200" spc="-1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FIR</a:t>
            </a:r>
            <a:r>
              <a:rPr dirty="0" sz="2200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200" spc="-1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200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)=</a:t>
            </a:r>
            <a:r>
              <a:rPr dirty="0" sz="2200" spc="-1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200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5231" y="26923"/>
            <a:ext cx="83781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  <a:tab pos="1797050" algn="l"/>
                <a:tab pos="55562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4.4  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分析法与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析器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4.4.2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LL(1)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3540" y="664845"/>
            <a:ext cx="1770380" cy="587375"/>
          </a:xfrm>
          <a:prstGeom prst="rect"/>
        </p:spPr>
        <p:txBody>
          <a:bodyPr wrap="square" lIns="0" tIns="74295" rIns="0" bIns="0" rtlCol="0" vert="horz">
            <a:spAutoFit/>
          </a:bodyPr>
          <a:lstStyle/>
          <a:p>
            <a:pPr marL="429895" indent="-417830">
              <a:lnSpc>
                <a:spcPct val="100000"/>
              </a:lnSpc>
              <a:spcBef>
                <a:spcPts val="585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429895" algn="l"/>
                <a:tab pos="430530" algn="l"/>
              </a:tabLst>
            </a:pPr>
            <a:r>
              <a:rPr dirty="0" sz="3200">
                <a:latin typeface="宋体"/>
                <a:cs typeface="宋体"/>
              </a:rPr>
              <a:t>定义</a:t>
            </a:r>
            <a:r>
              <a:rPr dirty="0" sz="3200" spc="5"/>
              <a:t>4</a:t>
            </a:r>
            <a:r>
              <a:rPr dirty="0" sz="3200"/>
              <a:t>.5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2400" y="4279391"/>
            <a:ext cx="8610600" cy="21930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18440" y="1214507"/>
            <a:ext cx="8079740" cy="5229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7800" marR="30480" indent="812165">
              <a:lnSpc>
                <a:spcPct val="130000"/>
              </a:lnSpc>
              <a:spcBef>
                <a:spcPts val="9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设上下文无关文法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是文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的开始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符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对于文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任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何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非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终结</a:t>
            </a:r>
            <a:r>
              <a:rPr dirty="0" sz="3200" spc="15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  <a:p>
            <a:pPr marL="586105" marR="90805">
              <a:lnSpc>
                <a:spcPts val="6340"/>
              </a:lnSpc>
              <a:spcBef>
                <a:spcPts val="50"/>
              </a:spcBef>
            </a:pPr>
            <a:r>
              <a:rPr dirty="0" sz="3200" spc="-65" b="1">
                <a:solidFill>
                  <a:srgbClr val="66FFFF"/>
                </a:solidFill>
                <a:latin typeface="Times New Roman"/>
                <a:cs typeface="Times New Roman"/>
              </a:rPr>
              <a:t>FOLLOW(</a:t>
            </a:r>
            <a:r>
              <a:rPr dirty="0" sz="3200" spc="-6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spc="-65" b="1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r>
              <a:rPr dirty="0" sz="3200" spc="-65" b="1">
                <a:solidFill>
                  <a:srgbClr val="66FFFF"/>
                </a:solidFill>
                <a:latin typeface="宋体"/>
                <a:cs typeface="宋体"/>
              </a:rPr>
              <a:t>＝｛</a:t>
            </a:r>
            <a:r>
              <a:rPr dirty="0" sz="3200" spc="-6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spc="-65" b="1">
                <a:solidFill>
                  <a:srgbClr val="66FFFF"/>
                </a:solidFill>
                <a:latin typeface="Times New Roman"/>
                <a:cs typeface="Times New Roman"/>
              </a:rPr>
              <a:t>|</a:t>
            </a:r>
            <a:r>
              <a:rPr dirty="0" sz="3200" spc="-65" b="1" i="1">
                <a:solidFill>
                  <a:srgbClr val="66FFFF"/>
                </a:solidFill>
                <a:latin typeface="Times New Roman"/>
                <a:cs typeface="Times New Roman"/>
              </a:rPr>
              <a:t>S</a:t>
            </a:r>
            <a:r>
              <a:rPr dirty="0" sz="3200" spc="-65" b="1">
                <a:solidFill>
                  <a:srgbClr val="66FFFF"/>
                </a:solidFill>
                <a:latin typeface="Times New Roman"/>
                <a:cs typeface="Times New Roman"/>
              </a:rPr>
              <a:t>=</a:t>
            </a:r>
            <a:r>
              <a:rPr dirty="0" baseline="13888" sz="4800" spc="-97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spc="-65" b="1">
                <a:solidFill>
                  <a:srgbClr val="66FFFF"/>
                </a:solidFill>
                <a:latin typeface="Times New Roman"/>
                <a:cs typeface="Times New Roman"/>
              </a:rPr>
              <a:t>&gt;…</a:t>
            </a:r>
            <a:r>
              <a:rPr dirty="0" sz="3200" spc="-6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3200" spc="-6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spc="-65" b="1">
                <a:solidFill>
                  <a:srgbClr val="66FFFF"/>
                </a:solidFill>
                <a:latin typeface="Times New Roman"/>
                <a:cs typeface="Times New Roman"/>
              </a:rPr>
              <a:t>…</a:t>
            </a:r>
            <a:r>
              <a:rPr dirty="0" sz="3200" spc="-65" b="1">
                <a:solidFill>
                  <a:srgbClr val="66FFFF"/>
                </a:solidFill>
                <a:latin typeface="宋体"/>
                <a:cs typeface="宋体"/>
              </a:rPr>
              <a:t>，</a:t>
            </a:r>
            <a:r>
              <a:rPr dirty="0" sz="3200" spc="-6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3200" spc="-65" b="1">
                <a:solidFill>
                  <a:srgbClr val="66FFFF"/>
                </a:solidFill>
                <a:latin typeface="宋体"/>
                <a:cs typeface="宋体"/>
              </a:rPr>
              <a:t>∈</a:t>
            </a:r>
            <a:r>
              <a:rPr dirty="0" sz="3200" spc="-65" b="1" i="1">
                <a:solidFill>
                  <a:srgbClr val="66FFFF"/>
                </a:solidFill>
                <a:latin typeface="Times New Roman"/>
                <a:cs typeface="Times New Roman"/>
              </a:rPr>
              <a:t>V</a:t>
            </a:r>
            <a:r>
              <a:rPr dirty="0" baseline="-25132" sz="3150" spc="-97" b="1" i="1">
                <a:solidFill>
                  <a:srgbClr val="66FFFF"/>
                </a:solidFill>
                <a:latin typeface="Times New Roman"/>
                <a:cs typeface="Times New Roman"/>
              </a:rPr>
              <a:t>T </a:t>
            </a:r>
            <a:r>
              <a:rPr dirty="0" sz="3200" spc="-10" b="1">
                <a:solidFill>
                  <a:srgbClr val="66FFFF"/>
                </a:solidFill>
                <a:latin typeface="宋体"/>
                <a:cs typeface="宋体"/>
              </a:rPr>
              <a:t>｝ 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3200" spc="-23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23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baseline="18229" sz="4800" spc="-352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spc="-235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r>
              <a:rPr dirty="0" sz="3200" spc="-235" b="1">
                <a:solidFill>
                  <a:srgbClr val="FFFFFF"/>
                </a:solidFill>
                <a:latin typeface="Courier New"/>
                <a:cs typeface="Courier New"/>
              </a:rPr>
              <a:t>…</a:t>
            </a:r>
            <a:r>
              <a:rPr dirty="0" sz="3200" spc="-23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23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则令＃∈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25400" marR="428625" indent="812165">
              <a:lnSpc>
                <a:spcPts val="6140"/>
              </a:lnSpc>
              <a:spcBef>
                <a:spcPts val="425"/>
              </a:spcBef>
            </a:pPr>
            <a:r>
              <a:rPr dirty="0" sz="3200" b="1">
                <a:latin typeface="Times New Roman"/>
                <a:cs typeface="Times New Roman"/>
              </a:rPr>
              <a:t>FOLLOW(</a:t>
            </a:r>
            <a:r>
              <a:rPr dirty="0" sz="3200" b="1" i="1">
                <a:latin typeface="Times New Roman"/>
                <a:cs typeface="Times New Roman"/>
              </a:rPr>
              <a:t>A</a:t>
            </a:r>
            <a:r>
              <a:rPr dirty="0" sz="3200" b="1">
                <a:latin typeface="Times New Roman"/>
                <a:cs typeface="Times New Roman"/>
              </a:rPr>
              <a:t>)</a:t>
            </a:r>
            <a:r>
              <a:rPr dirty="0" sz="3200" spc="-5" b="1">
                <a:latin typeface="宋体"/>
                <a:cs typeface="宋体"/>
              </a:rPr>
              <a:t>的含义</a:t>
            </a:r>
            <a:r>
              <a:rPr dirty="0" sz="3200" spc="-10" b="1">
                <a:latin typeface="宋体"/>
                <a:cs typeface="宋体"/>
              </a:rPr>
              <a:t>是</a:t>
            </a:r>
            <a:r>
              <a:rPr dirty="0" sz="3200" spc="-5" b="1">
                <a:latin typeface="宋体"/>
                <a:cs typeface="宋体"/>
              </a:rPr>
              <a:t>指，在</a:t>
            </a:r>
            <a:r>
              <a:rPr dirty="0" sz="3200" spc="-10" b="1">
                <a:latin typeface="宋体"/>
                <a:cs typeface="宋体"/>
              </a:rPr>
              <a:t>文</a:t>
            </a:r>
            <a:r>
              <a:rPr dirty="0" sz="3200" spc="20" b="1">
                <a:latin typeface="宋体"/>
                <a:cs typeface="宋体"/>
              </a:rPr>
              <a:t>法</a:t>
            </a:r>
            <a:r>
              <a:rPr dirty="0" sz="3200" b="1" i="1">
                <a:latin typeface="Times New Roman"/>
                <a:cs typeface="Times New Roman"/>
              </a:rPr>
              <a:t>G</a:t>
            </a:r>
            <a:r>
              <a:rPr dirty="0" sz="3200" spc="-10" b="1">
                <a:latin typeface="宋体"/>
                <a:cs typeface="宋体"/>
              </a:rPr>
              <a:t>的 </a:t>
            </a:r>
            <a:r>
              <a:rPr dirty="0" sz="3200" b="1">
                <a:latin typeface="宋体"/>
                <a:cs typeface="宋体"/>
              </a:rPr>
              <a:t>句型中，能够紧跟</a:t>
            </a:r>
            <a:r>
              <a:rPr dirty="0" sz="3200" spc="5" b="1">
                <a:latin typeface="宋体"/>
                <a:cs typeface="宋体"/>
              </a:rPr>
              <a:t>着</a:t>
            </a:r>
            <a:r>
              <a:rPr dirty="0" sz="3200" spc="-5" b="1" i="1">
                <a:latin typeface="Times New Roman"/>
                <a:cs typeface="Times New Roman"/>
              </a:rPr>
              <a:t>A</a:t>
            </a:r>
            <a:r>
              <a:rPr dirty="0" sz="3200" spc="-5" b="1">
                <a:latin typeface="宋体"/>
                <a:cs typeface="宋体"/>
              </a:rPr>
              <a:t>之后的</a:t>
            </a:r>
            <a:r>
              <a:rPr dirty="0" sz="3200" spc="-10" b="1">
                <a:latin typeface="宋体"/>
                <a:cs typeface="宋体"/>
              </a:rPr>
              <a:t>一</a:t>
            </a:r>
            <a:r>
              <a:rPr dirty="0" sz="3200" spc="-5" b="1">
                <a:latin typeface="宋体"/>
                <a:cs typeface="宋体"/>
              </a:rPr>
              <a:t>切终</a:t>
            </a:r>
            <a:r>
              <a:rPr dirty="0" sz="3200" spc="-10" b="1">
                <a:latin typeface="宋体"/>
                <a:cs typeface="宋体"/>
              </a:rPr>
              <a:t>结</a:t>
            </a:r>
            <a:r>
              <a:rPr dirty="0" sz="3200" spc="-5" b="1">
                <a:latin typeface="宋体"/>
                <a:cs typeface="宋体"/>
              </a:rPr>
              <a:t>符</a:t>
            </a:r>
            <a:r>
              <a:rPr dirty="0" sz="3200" spc="-10" b="1">
                <a:latin typeface="宋体"/>
                <a:cs typeface="宋体"/>
              </a:rPr>
              <a:t>或</a:t>
            </a:r>
            <a:endParaRPr sz="3200">
              <a:latin typeface="宋体"/>
              <a:cs typeface="宋体"/>
            </a:endParaRPr>
          </a:p>
          <a:p>
            <a:pPr marL="25400">
              <a:lnSpc>
                <a:spcPct val="100000"/>
              </a:lnSpc>
              <a:spcBef>
                <a:spcPts val="1720"/>
              </a:spcBef>
            </a:pPr>
            <a:r>
              <a:rPr dirty="0" sz="3200" b="1">
                <a:latin typeface="宋体"/>
                <a:cs typeface="宋体"/>
              </a:rPr>
              <a:t>“＃”</a:t>
            </a:r>
            <a:r>
              <a:rPr dirty="0" sz="3200" spc="-10" b="1"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11057" y="6697989"/>
            <a:ext cx="737870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76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79831" y="0"/>
            <a:ext cx="8711565" cy="670369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30"/>
              </a:spcBef>
              <a:tabLst>
                <a:tab pos="546735" algn="l"/>
                <a:tab pos="1822450" algn="l"/>
                <a:tab pos="55816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4.4  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分析法与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析器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4.4.2</a:t>
            </a:r>
            <a:r>
              <a:rPr dirty="0" u="sng" sz="2000" spc="46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LL(1)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分析器的构造</a:t>
            </a:r>
            <a:endParaRPr sz="2000">
              <a:latin typeface="宋体"/>
              <a:cs typeface="宋体"/>
            </a:endParaRPr>
          </a:p>
          <a:p>
            <a:pPr marL="579120" indent="-477520">
              <a:lnSpc>
                <a:spcPct val="100000"/>
              </a:lnSpc>
              <a:spcBef>
                <a:spcPts val="1789"/>
              </a:spcBef>
              <a:buClr>
                <a:srgbClr val="00FF99"/>
              </a:buClr>
              <a:buSzPct val="139062"/>
              <a:buFont typeface="Wingdings"/>
              <a:buChar char=""/>
              <a:tabLst>
                <a:tab pos="578485" algn="l"/>
                <a:tab pos="57912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构造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FOLLOW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集方法</a:t>
            </a:r>
            <a:endParaRPr sz="3200">
              <a:latin typeface="宋体"/>
              <a:cs typeface="宋体"/>
            </a:endParaRPr>
          </a:p>
          <a:p>
            <a:pPr marL="579120" indent="-477520">
              <a:lnSpc>
                <a:spcPct val="100000"/>
              </a:lnSpc>
              <a:spcBef>
                <a:spcPts val="1155"/>
              </a:spcBef>
              <a:buClr>
                <a:srgbClr val="99FFCC"/>
              </a:buClr>
              <a:buSzPct val="114062"/>
              <a:buFont typeface="Wingdings"/>
              <a:buChar char=""/>
              <a:tabLst>
                <a:tab pos="578485" algn="l"/>
                <a:tab pos="57912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算法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4.3</a:t>
            </a:r>
            <a:endParaRPr sz="3200">
              <a:latin typeface="Times New Roman"/>
              <a:cs typeface="Times New Roman"/>
            </a:endParaRPr>
          </a:p>
          <a:p>
            <a:pPr marL="190500" marR="68580" indent="623570">
              <a:lnSpc>
                <a:spcPts val="4370"/>
              </a:lnSpc>
              <a:spcBef>
                <a:spcPts val="315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中的每一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2800" spc="-4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40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950" spc="-40" b="1" i="1">
                <a:solidFill>
                  <a:srgbClr val="FFFFFF"/>
                </a:solidFill>
                <a:latin typeface="宋体"/>
                <a:cs typeface="宋体"/>
              </a:rPr>
              <a:t>Ｖ</a:t>
            </a:r>
            <a:r>
              <a:rPr dirty="0" baseline="-25525" sz="2775" spc="-60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-25525" sz="2775" spc="39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，为构造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 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可反复应用如下规则：</a:t>
            </a:r>
            <a:endParaRPr sz="2800">
              <a:latin typeface="宋体"/>
              <a:cs typeface="宋体"/>
            </a:endParaRPr>
          </a:p>
          <a:p>
            <a:pPr marL="457200">
              <a:lnSpc>
                <a:spcPct val="100000"/>
              </a:lnSpc>
              <a:spcBef>
                <a:spcPts val="69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①</a:t>
            </a:r>
            <a:r>
              <a:rPr dirty="0" sz="2800" spc="-7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对文法的开始符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号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，令＃∈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902335" marR="1146175" indent="-443865">
              <a:lnSpc>
                <a:spcPts val="4370"/>
              </a:lnSpc>
              <a:spcBef>
                <a:spcPts val="31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②</a:t>
            </a:r>
            <a:r>
              <a:rPr dirty="0" sz="2800" spc="-75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若文法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中有形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r>
              <a:rPr dirty="0" sz="2800" spc="-2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2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950" spc="-2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2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25" b="1" i="1">
                <a:solidFill>
                  <a:srgbClr val="66FFFF"/>
                </a:solidFill>
                <a:latin typeface="Times New Roman"/>
                <a:cs typeface="Times New Roman"/>
              </a:rPr>
              <a:t>β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的规则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10" b="1">
                <a:solidFill>
                  <a:srgbClr val="FFFFFF"/>
                </a:solidFill>
                <a:latin typeface="宋体"/>
                <a:cs typeface="宋体"/>
              </a:rPr>
              <a:t>且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β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≠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 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则将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β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中的一切非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号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加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入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457200">
              <a:lnSpc>
                <a:spcPct val="100000"/>
              </a:lnSpc>
              <a:spcBef>
                <a:spcPts val="540"/>
              </a:spcBef>
              <a:tabLst>
                <a:tab pos="1082040" algn="l"/>
              </a:tabLst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③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中有形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r>
              <a:rPr dirty="0" sz="2800" spc="-67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100" b="1" i="1">
                <a:solidFill>
                  <a:srgbClr val="66FFFF"/>
                </a:solidFill>
                <a:latin typeface="Symbol"/>
                <a:cs typeface="Symbol"/>
              </a:rPr>
              <a:t></a:t>
            </a:r>
            <a:r>
              <a:rPr dirty="0" sz="2950" spc="-50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dirty="0" sz="2800" spc="-15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2800" spc="-7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10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950" spc="-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Bβ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的规则，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且</a:t>
            </a:r>
            <a:endParaRPr sz="2800">
              <a:latin typeface="宋体"/>
              <a:cs typeface="宋体"/>
            </a:endParaRPr>
          </a:p>
          <a:p>
            <a:pPr marL="990600" marR="730885" indent="89535">
              <a:lnSpc>
                <a:spcPts val="4370"/>
              </a:lnSpc>
              <a:spcBef>
                <a:spcPts val="28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FIRS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β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，则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OW(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全部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元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素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属于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77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0883" y="3119120"/>
            <a:ext cx="856996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据算法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4.3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计算文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[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所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3200" spc="1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1164" sz="3150" spc="1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FOLLOW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05231" y="26923"/>
            <a:ext cx="15601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77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90089" y="26923"/>
            <a:ext cx="353250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4.4</a:t>
            </a:r>
            <a:r>
              <a:rPr dirty="0" sz="2000" spc="4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分析法与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48909" y="26923"/>
            <a:ext cx="28346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4.4.2</a:t>
            </a:r>
            <a:r>
              <a:rPr dirty="0" u="sng" sz="2000" spc="42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LL(1)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2431" y="703021"/>
            <a:ext cx="111315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spc="-85" b="1">
                <a:solidFill>
                  <a:srgbClr val="FFFF00"/>
                </a:solidFill>
                <a:latin typeface="Times New Roman"/>
                <a:cs typeface="Times New Roman"/>
              </a:rPr>
              <a:t>4.11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70505" y="703021"/>
            <a:ext cx="326771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设有文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[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为：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25466" y="1192228"/>
            <a:ext cx="1663700" cy="11468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9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ε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 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AD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1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81885" y="1192228"/>
            <a:ext cx="1969770" cy="17659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95"/>
              </a:spcBef>
            </a:pP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AB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7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bC 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ε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3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aD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  <a:tabLst>
                <a:tab pos="1334135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aS	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3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211057" y="6678574"/>
            <a:ext cx="7378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79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05231" y="26923"/>
            <a:ext cx="83781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  <a:tab pos="1797050" algn="l"/>
                <a:tab pos="55562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4.4  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分析法与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析器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4.4.2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LL(1)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793235"/>
            <a:ext cx="9060180" cy="30647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8739" y="6601459"/>
            <a:ext cx="357695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)={#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542276" y="2407920"/>
            <a:ext cx="1586865" cy="0"/>
          </a:xfrm>
          <a:custGeom>
            <a:avLst/>
            <a:gdLst/>
            <a:ahLst/>
            <a:cxnLst/>
            <a:rect l="l" t="t" r="r" b="b"/>
            <a:pathLst>
              <a:path w="1586865" h="0">
                <a:moveTo>
                  <a:pt x="0" y="0"/>
                </a:moveTo>
                <a:lnTo>
                  <a:pt x="1586483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548626" y="408940"/>
            <a:ext cx="0" cy="1992630"/>
          </a:xfrm>
          <a:custGeom>
            <a:avLst/>
            <a:gdLst/>
            <a:ahLst/>
            <a:cxnLst/>
            <a:rect l="l" t="t" r="r" b="b"/>
            <a:pathLst>
              <a:path w="0" h="1992630">
                <a:moveTo>
                  <a:pt x="0" y="0"/>
                </a:moveTo>
                <a:lnTo>
                  <a:pt x="0" y="1992629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542276" y="402590"/>
            <a:ext cx="1586865" cy="0"/>
          </a:xfrm>
          <a:custGeom>
            <a:avLst/>
            <a:gdLst/>
            <a:ahLst/>
            <a:cxnLst/>
            <a:rect l="l" t="t" r="r" b="b"/>
            <a:pathLst>
              <a:path w="1586865" h="0">
                <a:moveTo>
                  <a:pt x="0" y="0"/>
                </a:moveTo>
                <a:lnTo>
                  <a:pt x="1586483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122409" y="408940"/>
            <a:ext cx="0" cy="1992630"/>
          </a:xfrm>
          <a:custGeom>
            <a:avLst/>
            <a:gdLst/>
            <a:ahLst/>
            <a:cxnLst/>
            <a:rect l="l" t="t" r="r" b="b"/>
            <a:pathLst>
              <a:path w="0" h="1992630">
                <a:moveTo>
                  <a:pt x="0" y="0"/>
                </a:moveTo>
                <a:lnTo>
                  <a:pt x="0" y="1992376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567676" y="2376170"/>
            <a:ext cx="1536065" cy="0"/>
          </a:xfrm>
          <a:custGeom>
            <a:avLst/>
            <a:gdLst/>
            <a:ahLst/>
            <a:cxnLst/>
            <a:rect l="l" t="t" r="r" b="b"/>
            <a:pathLst>
              <a:path w="1536065" h="0">
                <a:moveTo>
                  <a:pt x="0" y="0"/>
                </a:moveTo>
                <a:lnTo>
                  <a:pt x="1535683" y="0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580376" y="447040"/>
            <a:ext cx="0" cy="1916430"/>
          </a:xfrm>
          <a:custGeom>
            <a:avLst/>
            <a:gdLst/>
            <a:ahLst/>
            <a:cxnLst/>
            <a:rect l="l" t="t" r="r" b="b"/>
            <a:pathLst>
              <a:path w="0" h="1916430">
                <a:moveTo>
                  <a:pt x="0" y="0"/>
                </a:moveTo>
                <a:lnTo>
                  <a:pt x="0" y="1916429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567676" y="434340"/>
            <a:ext cx="1536065" cy="0"/>
          </a:xfrm>
          <a:custGeom>
            <a:avLst/>
            <a:gdLst/>
            <a:ahLst/>
            <a:cxnLst/>
            <a:rect l="l" t="t" r="r" b="b"/>
            <a:pathLst>
              <a:path w="1536065" h="0">
                <a:moveTo>
                  <a:pt x="0" y="0"/>
                </a:moveTo>
                <a:lnTo>
                  <a:pt x="1535683" y="0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090659" y="447040"/>
            <a:ext cx="0" cy="1916430"/>
          </a:xfrm>
          <a:custGeom>
            <a:avLst/>
            <a:gdLst/>
            <a:ahLst/>
            <a:cxnLst/>
            <a:rect l="l" t="t" r="r" b="b"/>
            <a:pathLst>
              <a:path w="0" h="1916430">
                <a:moveTo>
                  <a:pt x="0" y="0"/>
                </a:moveTo>
                <a:lnTo>
                  <a:pt x="0" y="1916176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605776" y="2344420"/>
            <a:ext cx="1459865" cy="0"/>
          </a:xfrm>
          <a:custGeom>
            <a:avLst/>
            <a:gdLst/>
            <a:ahLst/>
            <a:cxnLst/>
            <a:rect l="l" t="t" r="r" b="b"/>
            <a:pathLst>
              <a:path w="1459865" h="0">
                <a:moveTo>
                  <a:pt x="0" y="0"/>
                </a:moveTo>
                <a:lnTo>
                  <a:pt x="1459483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612126" y="472440"/>
            <a:ext cx="0" cy="1865630"/>
          </a:xfrm>
          <a:custGeom>
            <a:avLst/>
            <a:gdLst/>
            <a:ahLst/>
            <a:cxnLst/>
            <a:rect l="l" t="t" r="r" b="b"/>
            <a:pathLst>
              <a:path w="0" h="1865630">
                <a:moveTo>
                  <a:pt x="0" y="0"/>
                </a:moveTo>
                <a:lnTo>
                  <a:pt x="0" y="1865629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605776" y="466090"/>
            <a:ext cx="1459865" cy="0"/>
          </a:xfrm>
          <a:custGeom>
            <a:avLst/>
            <a:gdLst/>
            <a:ahLst/>
            <a:cxnLst/>
            <a:rect l="l" t="t" r="r" b="b"/>
            <a:pathLst>
              <a:path w="1459865" h="0">
                <a:moveTo>
                  <a:pt x="0" y="0"/>
                </a:moveTo>
                <a:lnTo>
                  <a:pt x="1459483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9058909" y="472440"/>
            <a:ext cx="0" cy="1865630"/>
          </a:xfrm>
          <a:custGeom>
            <a:avLst/>
            <a:gdLst/>
            <a:ahLst/>
            <a:cxnLst/>
            <a:rect l="l" t="t" r="r" b="b"/>
            <a:pathLst>
              <a:path w="0" h="1865630">
                <a:moveTo>
                  <a:pt x="0" y="0"/>
                </a:moveTo>
                <a:lnTo>
                  <a:pt x="0" y="1865376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7660385" y="344017"/>
            <a:ext cx="1241425" cy="2007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dirty="0" sz="2000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000" b="1" i="1">
                <a:solidFill>
                  <a:srgbClr val="FFFF00"/>
                </a:solidFill>
                <a:latin typeface="Times New Roman"/>
                <a:cs typeface="Times New Roman"/>
              </a:rPr>
              <a:t>AB 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000" spc="-1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 i="1">
                <a:solidFill>
                  <a:srgbClr val="FFFF00"/>
                </a:solidFill>
                <a:latin typeface="Times New Roman"/>
                <a:cs typeface="Times New Roman"/>
              </a:rPr>
              <a:t>bC  </a:t>
            </a:r>
            <a:r>
              <a:rPr dirty="0" sz="20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000" spc="-5" b="1" i="1">
                <a:solidFill>
                  <a:srgbClr val="FFFF00"/>
                </a:solidFill>
                <a:latin typeface="Times New Roman"/>
                <a:cs typeface="Times New Roman"/>
              </a:rPr>
              <a:t>ε</a:t>
            </a: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2000" b="1" i="1">
                <a:solidFill>
                  <a:srgbClr val="FFFF00"/>
                </a:solidFill>
                <a:latin typeface="Times New Roman"/>
                <a:cs typeface="Times New Roman"/>
              </a:rPr>
              <a:t>b  </a:t>
            </a:r>
            <a:r>
              <a:rPr dirty="0" sz="20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000" spc="-5" b="1" i="1">
                <a:solidFill>
                  <a:srgbClr val="FFFF00"/>
                </a:solidFill>
                <a:latin typeface="Times New Roman"/>
                <a:cs typeface="Times New Roman"/>
              </a:rPr>
              <a:t>ε</a:t>
            </a: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2000" spc="5" b="1" i="1">
                <a:solidFill>
                  <a:srgbClr val="FFFF00"/>
                </a:solidFill>
                <a:latin typeface="Times New Roman"/>
                <a:cs typeface="Times New Roman"/>
              </a:rPr>
              <a:t>aD  </a:t>
            </a:r>
            <a:r>
              <a:rPr dirty="0" sz="2000" b="1" i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000" b="1" i="1">
                <a:solidFill>
                  <a:srgbClr val="FFFF00"/>
                </a:solidFill>
                <a:latin typeface="Times New Roman"/>
                <a:cs typeface="Times New Roman"/>
              </a:rPr>
              <a:t>AD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2000" b="1" i="1">
                <a:solidFill>
                  <a:srgbClr val="FFFF00"/>
                </a:solidFill>
                <a:latin typeface="Times New Roman"/>
                <a:cs typeface="Times New Roman"/>
              </a:rPr>
              <a:t>b  </a:t>
            </a:r>
            <a:r>
              <a:rPr dirty="0" sz="2000" b="1" i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000" b="1" i="1">
                <a:solidFill>
                  <a:srgbClr val="FFFF00"/>
                </a:solidFill>
                <a:latin typeface="Times New Roman"/>
                <a:cs typeface="Times New Roman"/>
              </a:rPr>
              <a:t>aS	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000" spc="-5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2689" y="449961"/>
            <a:ext cx="4222115" cy="1854835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产生式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AB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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</a:t>
            </a:r>
            <a:r>
              <a:rPr dirty="0" sz="24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8739" y="2261601"/>
            <a:ext cx="8841105" cy="432879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66040">
              <a:lnSpc>
                <a:spcPct val="100000"/>
              </a:lnSpc>
              <a:spcBef>
                <a:spcPts val="855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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500" spc="-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}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</a:t>
            </a:r>
            <a:r>
              <a:rPr dirty="0" sz="24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66040">
              <a:lnSpc>
                <a:spcPct val="100000"/>
              </a:lnSpc>
              <a:spcBef>
                <a:spcPts val="700"/>
              </a:spcBef>
            </a:pP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产生式：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bC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400">
              <a:latin typeface="宋体"/>
              <a:cs typeface="宋体"/>
            </a:endParaRPr>
          </a:p>
          <a:p>
            <a:pPr marL="66040">
              <a:lnSpc>
                <a:spcPct val="100000"/>
              </a:lnSpc>
              <a:spcBef>
                <a:spcPts val="725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</a:t>
            </a:r>
            <a:r>
              <a:rPr dirty="0" sz="24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产生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aD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得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</a:t>
            </a:r>
            <a:r>
              <a:rPr dirty="0" sz="24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产生式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AD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得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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r>
              <a:rPr dirty="0" sz="2400" spc="-10" b="1">
                <a:solidFill>
                  <a:srgbClr val="FFFFFF"/>
                </a:solidFill>
                <a:latin typeface="Symbol"/>
                <a:cs typeface="Symbol"/>
              </a:rPr>
              <a:t>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500" spc="-1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}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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 ,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产生式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dirty="0" sz="2400" spc="-10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得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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所以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400" spc="5" b="1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LLOW</a:t>
            </a:r>
            <a:r>
              <a:rPr dirty="0" sz="2400" spc="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S)=F</a:t>
            </a:r>
            <a:r>
              <a:rPr dirty="0" sz="2400" spc="5" b="1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LLOW</a:t>
            </a:r>
            <a:r>
              <a:rPr dirty="0" sz="2400" spc="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B)=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OLL</a:t>
            </a:r>
            <a:r>
              <a:rPr dirty="0" sz="2400" spc="5" b="1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W(D)=FO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LOW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(C)={#}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9123" y="456438"/>
            <a:ext cx="683577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/>
              <a:t>2.</a:t>
            </a:r>
            <a:r>
              <a:rPr dirty="0" sz="3200" spc="-65"/>
              <a:t> </a:t>
            </a:r>
            <a:r>
              <a:rPr dirty="0" sz="3200">
                <a:latin typeface="宋体"/>
                <a:cs typeface="宋体"/>
              </a:rPr>
              <a:t>构造</a:t>
            </a:r>
            <a:r>
              <a:rPr dirty="0" sz="3200"/>
              <a:t>FOLLOW</a:t>
            </a:r>
            <a:r>
              <a:rPr dirty="0" sz="3200">
                <a:latin typeface="宋体"/>
                <a:cs typeface="宋体"/>
              </a:rPr>
              <a:t>集方法</a:t>
            </a:r>
            <a:r>
              <a:rPr dirty="0" sz="3200" spc="5">
                <a:latin typeface="宋体"/>
                <a:cs typeface="宋体"/>
              </a:rPr>
              <a:t>二</a:t>
            </a:r>
            <a:r>
              <a:rPr dirty="0" sz="3200" spc="-5">
                <a:latin typeface="Courier New"/>
                <a:cs typeface="Courier New"/>
              </a:rPr>
              <a:t>——</a:t>
            </a:r>
            <a:r>
              <a:rPr dirty="0" sz="3200">
                <a:latin typeface="宋体"/>
                <a:cs typeface="宋体"/>
              </a:rPr>
              <a:t>关系图法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05231" y="26923"/>
            <a:ext cx="83781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  <a:tab pos="1797050" algn="l"/>
                <a:tab pos="55562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4.4  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分析法与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析器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4.4.2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LL(1)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4315" y="958229"/>
            <a:ext cx="8799830" cy="5293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 marR="123189">
              <a:lnSpc>
                <a:spcPct val="125000"/>
              </a:lnSpc>
              <a:spcBef>
                <a:spcPts val="95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⑴文法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中的每个终结符和“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”对应图中的一个结点，每个非终 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结符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对应两个结点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101600">
              <a:lnSpc>
                <a:spcPct val="100000"/>
              </a:lnSpc>
              <a:spcBef>
                <a:spcPts val="72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⑵从开始符号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结点</a:t>
            </a:r>
            <a:r>
              <a:rPr dirty="0" sz="2400" spc="5" b="1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”#”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号的结点连一条箭弧。</a:t>
            </a:r>
            <a:endParaRPr sz="2400">
              <a:latin typeface="宋体"/>
              <a:cs typeface="宋体"/>
            </a:endParaRPr>
          </a:p>
          <a:p>
            <a:pPr marL="25400" marR="274955" indent="76200">
              <a:lnSpc>
                <a:spcPct val="108900"/>
              </a:lnSpc>
              <a:spcBef>
                <a:spcPts val="355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⑶如果文法中有产生</a:t>
            </a:r>
            <a:r>
              <a:rPr dirty="0" sz="2400" spc="5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4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1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500" spc="-1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400" spc="-15" b="1" i="1">
                <a:solidFill>
                  <a:srgbClr val="FFFFFF"/>
                </a:solidFill>
                <a:latin typeface="Times New Roman"/>
                <a:cs typeface="Times New Roman"/>
              </a:rPr>
              <a:t>BX</a:t>
            </a:r>
            <a:r>
              <a:rPr dirty="0" sz="2400" spc="-1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400" spc="5" b="1">
                <a:solidFill>
                  <a:srgbClr val="FFFFFF"/>
                </a:solidFill>
                <a:latin typeface="宋体"/>
                <a:cs typeface="宋体"/>
              </a:rPr>
              <a:t>当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时，则从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结点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结点连一条弧，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当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4305" sz="2400" spc="-1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时，则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相连。</a:t>
            </a:r>
            <a:endParaRPr sz="2400">
              <a:latin typeface="宋体"/>
              <a:cs typeface="宋体"/>
            </a:endParaRPr>
          </a:p>
          <a:p>
            <a:pPr marL="101600">
              <a:lnSpc>
                <a:spcPts val="3760"/>
              </a:lnSpc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⑷如果文法中有产生</a:t>
            </a:r>
            <a:r>
              <a:rPr dirty="0" sz="2400" spc="5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500" spc="-6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500" spc="-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Bβ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400" spc="5" b="1">
                <a:solidFill>
                  <a:srgbClr val="FFFFFF"/>
                </a:solidFill>
                <a:latin typeface="宋体"/>
                <a:cs typeface="宋体"/>
              </a:rPr>
              <a:t>且</a:t>
            </a:r>
            <a:r>
              <a:rPr dirty="0" sz="2400" spc="-270" b="1" i="1">
                <a:solidFill>
                  <a:srgbClr val="FFFFFF"/>
                </a:solidFill>
                <a:latin typeface="Times New Roman"/>
                <a:cs typeface="Times New Roman"/>
              </a:rPr>
              <a:t>β</a:t>
            </a:r>
            <a:r>
              <a:rPr dirty="0" sz="2400" spc="-27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spc="-270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2400" spc="-270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r>
              <a:rPr dirty="0" sz="2400" spc="-270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2400" spc="-27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则从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结点到</a:t>
            </a:r>
            <a:endParaRPr sz="2400">
              <a:latin typeface="宋体"/>
              <a:cs typeface="宋体"/>
            </a:endParaRPr>
          </a:p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结点连一条箭弧。</a:t>
            </a:r>
            <a:endParaRPr sz="2400">
              <a:latin typeface="宋体"/>
              <a:cs typeface="宋体"/>
            </a:endParaRPr>
          </a:p>
          <a:p>
            <a:pPr marL="101600">
              <a:lnSpc>
                <a:spcPct val="100000"/>
              </a:lnSpc>
              <a:spcBef>
                <a:spcPts val="720"/>
              </a:spcBef>
            </a:pP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⑸对每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结点如果有产生</a:t>
            </a:r>
            <a:r>
              <a:rPr dirty="0" sz="2400" spc="-15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spc="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baseline="-20833" sz="2400" spc="-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baseline="-20833" sz="2400" spc="-7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当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baseline="-20833" sz="2400" spc="-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时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endParaRPr sz="2400">
              <a:latin typeface="Times New Roman"/>
              <a:cs typeface="Times New Roman"/>
            </a:endParaRPr>
          </a:p>
          <a:p>
            <a:pPr marL="25400">
              <a:lnSpc>
                <a:spcPts val="2625"/>
              </a:lnSpc>
              <a:spcBef>
                <a:spcPts val="29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则与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baseline="-20833" sz="2400" spc="-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相连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当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baseline="-20833" sz="2400" spc="-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时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从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baseline="-20833" sz="2400" spc="-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结点连一条箭弧</a:t>
            </a:r>
            <a:endParaRPr sz="2400">
              <a:latin typeface="宋体"/>
              <a:cs typeface="宋体"/>
            </a:endParaRPr>
          </a:p>
          <a:p>
            <a:pPr marL="25400">
              <a:lnSpc>
                <a:spcPts val="3585"/>
              </a:lnSpc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当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baseline="-20833" sz="2400" spc="-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baseline="-20833" sz="2400" spc="-7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340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baseline="-20833" sz="2400" spc="-509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0833" sz="2400" spc="-509" b="1">
                <a:solidFill>
                  <a:srgbClr val="FFFFFF"/>
                </a:solidFill>
                <a:latin typeface="宋体"/>
                <a:cs typeface="宋体"/>
              </a:rPr>
              <a:t>－</a:t>
            </a:r>
            <a:r>
              <a:rPr dirty="0" baseline="-20833" sz="2400" spc="-509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400" spc="-340" b="1">
                <a:solidFill>
                  <a:srgbClr val="FFFFFF"/>
                </a:solidFill>
                <a:latin typeface="Symbol"/>
                <a:cs typeface="Symbol"/>
              </a:rPr>
              <a:t></a:t>
            </a:r>
            <a:r>
              <a:rPr dirty="0" baseline="3472" sz="4800" spc="-509" b="1">
                <a:solidFill>
                  <a:srgbClr val="FFFF00"/>
                </a:solidFill>
                <a:latin typeface="Times New Roman"/>
                <a:cs typeface="Times New Roman"/>
              </a:rPr>
              <a:t>* </a:t>
            </a:r>
            <a:r>
              <a:rPr dirty="0" baseline="3472" sz="4800" spc="-34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500" spc="-2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400" spc="-2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从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spc="5" b="1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结点连一条箭弧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25400" marR="94615">
              <a:lnSpc>
                <a:spcPts val="3600"/>
              </a:lnSpc>
              <a:spcBef>
                <a:spcPts val="8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⑹凡是从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结点有路径可以到达的终结符</a:t>
            </a:r>
            <a:r>
              <a:rPr dirty="0" sz="2400" spc="5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“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”号的 结点，其所标记的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终结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符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或“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#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”号即</a:t>
            </a:r>
            <a:r>
              <a:rPr dirty="0" sz="2400" spc="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FOLLOW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(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)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的成员。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9811" y="26923"/>
            <a:ext cx="91052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8120">
              <a:lnSpc>
                <a:spcPct val="100000"/>
              </a:lnSpc>
              <a:spcBef>
                <a:spcPts val="100"/>
              </a:spcBef>
              <a:tabLst>
                <a:tab pos="706755" algn="l"/>
                <a:tab pos="1982470" algn="l"/>
                <a:tab pos="574167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4.4  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分析法与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析器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4.4.2</a:t>
            </a:r>
            <a:r>
              <a:rPr dirty="0" u="sng" sz="2000" spc="4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LL(1)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03370" y="614933"/>
            <a:ext cx="607060" cy="607060"/>
          </a:xfrm>
          <a:custGeom>
            <a:avLst/>
            <a:gdLst/>
            <a:ahLst/>
            <a:cxnLst/>
            <a:rect l="l" t="t" r="r" b="b"/>
            <a:pathLst>
              <a:path w="607060" h="607060">
                <a:moveTo>
                  <a:pt x="0" y="303275"/>
                </a:moveTo>
                <a:lnTo>
                  <a:pt x="3968" y="254078"/>
                </a:lnTo>
                <a:lnTo>
                  <a:pt x="15459" y="207410"/>
                </a:lnTo>
                <a:lnTo>
                  <a:pt x="33847" y="163895"/>
                </a:lnTo>
                <a:lnTo>
                  <a:pt x="58509" y="124157"/>
                </a:lnTo>
                <a:lnTo>
                  <a:pt x="88820" y="88820"/>
                </a:lnTo>
                <a:lnTo>
                  <a:pt x="124157" y="58509"/>
                </a:lnTo>
                <a:lnTo>
                  <a:pt x="163895" y="33847"/>
                </a:lnTo>
                <a:lnTo>
                  <a:pt x="207410" y="15459"/>
                </a:lnTo>
                <a:lnTo>
                  <a:pt x="254078" y="3968"/>
                </a:lnTo>
                <a:lnTo>
                  <a:pt x="303275" y="0"/>
                </a:lnTo>
                <a:lnTo>
                  <a:pt x="352473" y="3968"/>
                </a:lnTo>
                <a:lnTo>
                  <a:pt x="399141" y="15459"/>
                </a:lnTo>
                <a:lnTo>
                  <a:pt x="442656" y="33847"/>
                </a:lnTo>
                <a:lnTo>
                  <a:pt x="482394" y="58509"/>
                </a:lnTo>
                <a:lnTo>
                  <a:pt x="517731" y="88820"/>
                </a:lnTo>
                <a:lnTo>
                  <a:pt x="548042" y="124157"/>
                </a:lnTo>
                <a:lnTo>
                  <a:pt x="572704" y="163895"/>
                </a:lnTo>
                <a:lnTo>
                  <a:pt x="591092" y="207410"/>
                </a:lnTo>
                <a:lnTo>
                  <a:pt x="602583" y="254078"/>
                </a:lnTo>
                <a:lnTo>
                  <a:pt x="606551" y="303275"/>
                </a:lnTo>
                <a:lnTo>
                  <a:pt x="602583" y="352473"/>
                </a:lnTo>
                <a:lnTo>
                  <a:pt x="591092" y="399141"/>
                </a:lnTo>
                <a:lnTo>
                  <a:pt x="572704" y="442656"/>
                </a:lnTo>
                <a:lnTo>
                  <a:pt x="548042" y="482394"/>
                </a:lnTo>
                <a:lnTo>
                  <a:pt x="517731" y="517731"/>
                </a:lnTo>
                <a:lnTo>
                  <a:pt x="482394" y="548042"/>
                </a:lnTo>
                <a:lnTo>
                  <a:pt x="442656" y="572704"/>
                </a:lnTo>
                <a:lnTo>
                  <a:pt x="399141" y="591092"/>
                </a:lnTo>
                <a:lnTo>
                  <a:pt x="352473" y="602583"/>
                </a:lnTo>
                <a:lnTo>
                  <a:pt x="303275" y="606551"/>
                </a:lnTo>
                <a:lnTo>
                  <a:pt x="254078" y="602583"/>
                </a:lnTo>
                <a:lnTo>
                  <a:pt x="207410" y="591092"/>
                </a:lnTo>
                <a:lnTo>
                  <a:pt x="163895" y="572704"/>
                </a:lnTo>
                <a:lnTo>
                  <a:pt x="124157" y="548042"/>
                </a:lnTo>
                <a:lnTo>
                  <a:pt x="88820" y="517731"/>
                </a:lnTo>
                <a:lnTo>
                  <a:pt x="58509" y="482394"/>
                </a:lnTo>
                <a:lnTo>
                  <a:pt x="33847" y="442656"/>
                </a:lnTo>
                <a:lnTo>
                  <a:pt x="15459" y="399141"/>
                </a:lnTo>
                <a:lnTo>
                  <a:pt x="3968" y="352473"/>
                </a:lnTo>
                <a:lnTo>
                  <a:pt x="0" y="303275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316095" y="680084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01617" y="4816602"/>
            <a:ext cx="607060" cy="607060"/>
          </a:xfrm>
          <a:custGeom>
            <a:avLst/>
            <a:gdLst/>
            <a:ahLst/>
            <a:cxnLst/>
            <a:rect l="l" t="t" r="r" b="b"/>
            <a:pathLst>
              <a:path w="607060" h="607060">
                <a:moveTo>
                  <a:pt x="0" y="303275"/>
                </a:moveTo>
                <a:lnTo>
                  <a:pt x="3968" y="254078"/>
                </a:lnTo>
                <a:lnTo>
                  <a:pt x="15459" y="207410"/>
                </a:lnTo>
                <a:lnTo>
                  <a:pt x="33847" y="163895"/>
                </a:lnTo>
                <a:lnTo>
                  <a:pt x="58509" y="124157"/>
                </a:lnTo>
                <a:lnTo>
                  <a:pt x="88820" y="88820"/>
                </a:lnTo>
                <a:lnTo>
                  <a:pt x="124157" y="58509"/>
                </a:lnTo>
                <a:lnTo>
                  <a:pt x="163895" y="33847"/>
                </a:lnTo>
                <a:lnTo>
                  <a:pt x="207410" y="15459"/>
                </a:lnTo>
                <a:lnTo>
                  <a:pt x="254078" y="3968"/>
                </a:lnTo>
                <a:lnTo>
                  <a:pt x="303276" y="0"/>
                </a:lnTo>
                <a:lnTo>
                  <a:pt x="352473" y="3968"/>
                </a:lnTo>
                <a:lnTo>
                  <a:pt x="399141" y="15459"/>
                </a:lnTo>
                <a:lnTo>
                  <a:pt x="442656" y="33847"/>
                </a:lnTo>
                <a:lnTo>
                  <a:pt x="482394" y="58509"/>
                </a:lnTo>
                <a:lnTo>
                  <a:pt x="517731" y="88820"/>
                </a:lnTo>
                <a:lnTo>
                  <a:pt x="548042" y="124157"/>
                </a:lnTo>
                <a:lnTo>
                  <a:pt x="572704" y="163895"/>
                </a:lnTo>
                <a:lnTo>
                  <a:pt x="591092" y="207410"/>
                </a:lnTo>
                <a:lnTo>
                  <a:pt x="602583" y="254078"/>
                </a:lnTo>
                <a:lnTo>
                  <a:pt x="606552" y="303275"/>
                </a:lnTo>
                <a:lnTo>
                  <a:pt x="602583" y="352473"/>
                </a:lnTo>
                <a:lnTo>
                  <a:pt x="591092" y="399141"/>
                </a:lnTo>
                <a:lnTo>
                  <a:pt x="572704" y="442656"/>
                </a:lnTo>
                <a:lnTo>
                  <a:pt x="548042" y="482394"/>
                </a:lnTo>
                <a:lnTo>
                  <a:pt x="517731" y="517731"/>
                </a:lnTo>
                <a:lnTo>
                  <a:pt x="482394" y="548042"/>
                </a:lnTo>
                <a:lnTo>
                  <a:pt x="442656" y="572704"/>
                </a:lnTo>
                <a:lnTo>
                  <a:pt x="399141" y="591092"/>
                </a:lnTo>
                <a:lnTo>
                  <a:pt x="352473" y="602583"/>
                </a:lnTo>
                <a:lnTo>
                  <a:pt x="303276" y="606552"/>
                </a:lnTo>
                <a:lnTo>
                  <a:pt x="254078" y="602583"/>
                </a:lnTo>
                <a:lnTo>
                  <a:pt x="207410" y="591092"/>
                </a:lnTo>
                <a:lnTo>
                  <a:pt x="163895" y="572704"/>
                </a:lnTo>
                <a:lnTo>
                  <a:pt x="124157" y="548042"/>
                </a:lnTo>
                <a:lnTo>
                  <a:pt x="88820" y="517731"/>
                </a:lnTo>
                <a:lnTo>
                  <a:pt x="58509" y="482394"/>
                </a:lnTo>
                <a:lnTo>
                  <a:pt x="33847" y="442656"/>
                </a:lnTo>
                <a:lnTo>
                  <a:pt x="15459" y="399141"/>
                </a:lnTo>
                <a:lnTo>
                  <a:pt x="3968" y="352473"/>
                </a:lnTo>
                <a:lnTo>
                  <a:pt x="0" y="303275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000880" y="4832730"/>
            <a:ext cx="20637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03826" y="4816602"/>
            <a:ext cx="608330" cy="607060"/>
          </a:xfrm>
          <a:custGeom>
            <a:avLst/>
            <a:gdLst/>
            <a:ahLst/>
            <a:cxnLst/>
            <a:rect l="l" t="t" r="r" b="b"/>
            <a:pathLst>
              <a:path w="608329" h="607060">
                <a:moveTo>
                  <a:pt x="0" y="303275"/>
                </a:moveTo>
                <a:lnTo>
                  <a:pt x="3979" y="254078"/>
                </a:lnTo>
                <a:lnTo>
                  <a:pt x="15502" y="207410"/>
                </a:lnTo>
                <a:lnTo>
                  <a:pt x="33940" y="163895"/>
                </a:lnTo>
                <a:lnTo>
                  <a:pt x="58667" y="124157"/>
                </a:lnTo>
                <a:lnTo>
                  <a:pt x="89058" y="88820"/>
                </a:lnTo>
                <a:lnTo>
                  <a:pt x="124486" y="58509"/>
                </a:lnTo>
                <a:lnTo>
                  <a:pt x="164324" y="33847"/>
                </a:lnTo>
                <a:lnTo>
                  <a:pt x="207946" y="15459"/>
                </a:lnTo>
                <a:lnTo>
                  <a:pt x="254726" y="3968"/>
                </a:lnTo>
                <a:lnTo>
                  <a:pt x="304038" y="0"/>
                </a:lnTo>
                <a:lnTo>
                  <a:pt x="353349" y="3968"/>
                </a:lnTo>
                <a:lnTo>
                  <a:pt x="400129" y="15459"/>
                </a:lnTo>
                <a:lnTo>
                  <a:pt x="443751" y="33847"/>
                </a:lnTo>
                <a:lnTo>
                  <a:pt x="483589" y="58509"/>
                </a:lnTo>
                <a:lnTo>
                  <a:pt x="519017" y="88820"/>
                </a:lnTo>
                <a:lnTo>
                  <a:pt x="549408" y="124157"/>
                </a:lnTo>
                <a:lnTo>
                  <a:pt x="574135" y="163895"/>
                </a:lnTo>
                <a:lnTo>
                  <a:pt x="592573" y="207410"/>
                </a:lnTo>
                <a:lnTo>
                  <a:pt x="604096" y="254078"/>
                </a:lnTo>
                <a:lnTo>
                  <a:pt x="608076" y="303275"/>
                </a:lnTo>
                <a:lnTo>
                  <a:pt x="604096" y="352473"/>
                </a:lnTo>
                <a:lnTo>
                  <a:pt x="592573" y="399141"/>
                </a:lnTo>
                <a:lnTo>
                  <a:pt x="574135" y="442656"/>
                </a:lnTo>
                <a:lnTo>
                  <a:pt x="549408" y="482394"/>
                </a:lnTo>
                <a:lnTo>
                  <a:pt x="519017" y="517731"/>
                </a:lnTo>
                <a:lnTo>
                  <a:pt x="483589" y="548042"/>
                </a:lnTo>
                <a:lnTo>
                  <a:pt x="443751" y="572704"/>
                </a:lnTo>
                <a:lnTo>
                  <a:pt x="400129" y="591092"/>
                </a:lnTo>
                <a:lnTo>
                  <a:pt x="353349" y="602583"/>
                </a:lnTo>
                <a:lnTo>
                  <a:pt x="304038" y="606552"/>
                </a:lnTo>
                <a:lnTo>
                  <a:pt x="254726" y="602583"/>
                </a:lnTo>
                <a:lnTo>
                  <a:pt x="207946" y="591092"/>
                </a:lnTo>
                <a:lnTo>
                  <a:pt x="164324" y="572704"/>
                </a:lnTo>
                <a:lnTo>
                  <a:pt x="124486" y="548042"/>
                </a:lnTo>
                <a:lnTo>
                  <a:pt x="89058" y="517731"/>
                </a:lnTo>
                <a:lnTo>
                  <a:pt x="58667" y="482394"/>
                </a:lnTo>
                <a:lnTo>
                  <a:pt x="33940" y="442656"/>
                </a:lnTo>
                <a:lnTo>
                  <a:pt x="15502" y="399141"/>
                </a:lnTo>
                <a:lnTo>
                  <a:pt x="3979" y="352473"/>
                </a:lnTo>
                <a:lnTo>
                  <a:pt x="0" y="303275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892802" y="4814697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346447" y="1223010"/>
            <a:ext cx="114300" cy="521334"/>
          </a:xfrm>
          <a:custGeom>
            <a:avLst/>
            <a:gdLst/>
            <a:ahLst/>
            <a:cxnLst/>
            <a:rect l="l" t="t" r="r" b="b"/>
            <a:pathLst>
              <a:path w="114300" h="521335">
                <a:moveTo>
                  <a:pt x="76200" y="171450"/>
                </a:moveTo>
                <a:lnTo>
                  <a:pt x="38100" y="171450"/>
                </a:lnTo>
                <a:lnTo>
                  <a:pt x="38100" y="521207"/>
                </a:lnTo>
                <a:lnTo>
                  <a:pt x="76200" y="521207"/>
                </a:lnTo>
                <a:lnTo>
                  <a:pt x="76200" y="171450"/>
                </a:lnTo>
                <a:close/>
              </a:path>
              <a:path w="114300" h="521335">
                <a:moveTo>
                  <a:pt x="57150" y="0"/>
                </a:moveTo>
                <a:lnTo>
                  <a:pt x="0" y="190500"/>
                </a:lnTo>
                <a:lnTo>
                  <a:pt x="38100" y="190500"/>
                </a:lnTo>
                <a:lnTo>
                  <a:pt x="38100" y="171450"/>
                </a:lnTo>
                <a:lnTo>
                  <a:pt x="108585" y="171450"/>
                </a:lnTo>
                <a:lnTo>
                  <a:pt x="57150" y="0"/>
                </a:lnTo>
                <a:close/>
              </a:path>
              <a:path w="114300" h="521335">
                <a:moveTo>
                  <a:pt x="108585" y="171450"/>
                </a:moveTo>
                <a:lnTo>
                  <a:pt x="76200" y="171450"/>
                </a:lnTo>
                <a:lnTo>
                  <a:pt x="76200" y="190500"/>
                </a:lnTo>
                <a:lnTo>
                  <a:pt x="114300" y="190500"/>
                </a:lnTo>
                <a:lnTo>
                  <a:pt x="108585" y="171450"/>
                </a:lnTo>
                <a:close/>
              </a:path>
            </a:pathLst>
          </a:custGeom>
          <a:solidFill>
            <a:srgbClr val="FF6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596133" y="1949195"/>
            <a:ext cx="904240" cy="114300"/>
          </a:xfrm>
          <a:custGeom>
            <a:avLst/>
            <a:gdLst/>
            <a:ahLst/>
            <a:cxnLst/>
            <a:rect l="l" t="t" r="r" b="b"/>
            <a:pathLst>
              <a:path w="904239" h="114300">
                <a:moveTo>
                  <a:pt x="713232" y="0"/>
                </a:moveTo>
                <a:lnTo>
                  <a:pt x="713232" y="114300"/>
                </a:lnTo>
                <a:lnTo>
                  <a:pt x="840232" y="76200"/>
                </a:lnTo>
                <a:lnTo>
                  <a:pt x="732282" y="76200"/>
                </a:lnTo>
                <a:lnTo>
                  <a:pt x="732282" y="38100"/>
                </a:lnTo>
                <a:lnTo>
                  <a:pt x="840232" y="38100"/>
                </a:lnTo>
                <a:lnTo>
                  <a:pt x="713232" y="0"/>
                </a:lnTo>
                <a:close/>
              </a:path>
              <a:path w="904239" h="114300">
                <a:moveTo>
                  <a:pt x="71323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13232" y="76200"/>
                </a:lnTo>
                <a:lnTo>
                  <a:pt x="713232" y="38100"/>
                </a:lnTo>
                <a:close/>
              </a:path>
              <a:path w="904239" h="114300">
                <a:moveTo>
                  <a:pt x="840232" y="38100"/>
                </a:moveTo>
                <a:lnTo>
                  <a:pt x="732282" y="38100"/>
                </a:lnTo>
                <a:lnTo>
                  <a:pt x="732282" y="76200"/>
                </a:lnTo>
                <a:lnTo>
                  <a:pt x="840232" y="76200"/>
                </a:lnTo>
                <a:lnTo>
                  <a:pt x="903732" y="57150"/>
                </a:lnTo>
                <a:lnTo>
                  <a:pt x="840232" y="38100"/>
                </a:lnTo>
                <a:close/>
              </a:path>
            </a:pathLst>
          </a:custGeom>
          <a:solidFill>
            <a:srgbClr val="FFC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801617" y="2265426"/>
            <a:ext cx="0" cy="170815"/>
          </a:xfrm>
          <a:custGeom>
            <a:avLst/>
            <a:gdLst/>
            <a:ahLst/>
            <a:cxnLst/>
            <a:rect l="l" t="t" r="r" b="b"/>
            <a:pathLst>
              <a:path w="0" h="170814">
                <a:moveTo>
                  <a:pt x="0" y="0"/>
                </a:moveTo>
                <a:lnTo>
                  <a:pt x="0" y="170687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718310" y="2410205"/>
            <a:ext cx="2108200" cy="0"/>
          </a:xfrm>
          <a:custGeom>
            <a:avLst/>
            <a:gdLst/>
            <a:ahLst/>
            <a:cxnLst/>
            <a:rect l="l" t="t" r="r" b="b"/>
            <a:pathLst>
              <a:path w="2108200" h="0">
                <a:moveTo>
                  <a:pt x="0" y="0"/>
                </a:moveTo>
                <a:lnTo>
                  <a:pt x="2107691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696847" y="2404364"/>
            <a:ext cx="114300" cy="351790"/>
          </a:xfrm>
          <a:custGeom>
            <a:avLst/>
            <a:gdLst/>
            <a:ahLst/>
            <a:cxnLst/>
            <a:rect l="l" t="t" r="r" b="b"/>
            <a:pathLst>
              <a:path w="114300" h="351789">
                <a:moveTo>
                  <a:pt x="38036" y="163066"/>
                </a:moveTo>
                <a:lnTo>
                  <a:pt x="0" y="165735"/>
                </a:lnTo>
                <a:lnTo>
                  <a:pt x="70230" y="351789"/>
                </a:lnTo>
                <a:lnTo>
                  <a:pt x="108540" y="182118"/>
                </a:lnTo>
                <a:lnTo>
                  <a:pt x="39369" y="182118"/>
                </a:lnTo>
                <a:lnTo>
                  <a:pt x="38036" y="163066"/>
                </a:lnTo>
                <a:close/>
              </a:path>
              <a:path w="114300" h="351789">
                <a:moveTo>
                  <a:pt x="76021" y="160401"/>
                </a:moveTo>
                <a:lnTo>
                  <a:pt x="38036" y="163066"/>
                </a:lnTo>
                <a:lnTo>
                  <a:pt x="39369" y="182118"/>
                </a:lnTo>
                <a:lnTo>
                  <a:pt x="77342" y="179450"/>
                </a:lnTo>
                <a:lnTo>
                  <a:pt x="76021" y="160401"/>
                </a:lnTo>
                <a:close/>
              </a:path>
              <a:path w="114300" h="351789">
                <a:moveTo>
                  <a:pt x="114045" y="157734"/>
                </a:moveTo>
                <a:lnTo>
                  <a:pt x="76021" y="160401"/>
                </a:lnTo>
                <a:lnTo>
                  <a:pt x="77342" y="179450"/>
                </a:lnTo>
                <a:lnTo>
                  <a:pt x="39369" y="182118"/>
                </a:lnTo>
                <a:lnTo>
                  <a:pt x="108540" y="182118"/>
                </a:lnTo>
                <a:lnTo>
                  <a:pt x="114045" y="157734"/>
                </a:lnTo>
                <a:close/>
              </a:path>
              <a:path w="114300" h="351789">
                <a:moveTo>
                  <a:pt x="64896" y="0"/>
                </a:moveTo>
                <a:lnTo>
                  <a:pt x="26796" y="2539"/>
                </a:lnTo>
                <a:lnTo>
                  <a:pt x="38036" y="163066"/>
                </a:lnTo>
                <a:lnTo>
                  <a:pt x="76021" y="160401"/>
                </a:lnTo>
                <a:lnTo>
                  <a:pt x="648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046220" y="2265426"/>
            <a:ext cx="114300" cy="260985"/>
          </a:xfrm>
          <a:custGeom>
            <a:avLst/>
            <a:gdLst/>
            <a:ahLst/>
            <a:cxnLst/>
            <a:rect l="l" t="t" r="r" b="b"/>
            <a:pathLst>
              <a:path w="114300" h="260985">
                <a:moveTo>
                  <a:pt x="76200" y="95250"/>
                </a:moveTo>
                <a:lnTo>
                  <a:pt x="38100" y="95250"/>
                </a:lnTo>
                <a:lnTo>
                  <a:pt x="38100" y="260603"/>
                </a:lnTo>
                <a:lnTo>
                  <a:pt x="76200" y="260603"/>
                </a:lnTo>
                <a:lnTo>
                  <a:pt x="76200" y="95250"/>
                </a:lnTo>
                <a:close/>
              </a:path>
              <a:path w="114300" h="26098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6098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C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392174" y="4350258"/>
            <a:ext cx="0" cy="260985"/>
          </a:xfrm>
          <a:custGeom>
            <a:avLst/>
            <a:gdLst/>
            <a:ahLst/>
            <a:cxnLst/>
            <a:rect l="l" t="t" r="r" b="b"/>
            <a:pathLst>
              <a:path w="0" h="260985">
                <a:moveTo>
                  <a:pt x="0" y="0"/>
                </a:moveTo>
                <a:lnTo>
                  <a:pt x="0" y="260604"/>
                </a:lnTo>
              </a:path>
            </a:pathLst>
          </a:custGeom>
          <a:ln w="38100">
            <a:solidFill>
              <a:srgbClr val="FFC8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392174" y="4610861"/>
            <a:ext cx="1506220" cy="0"/>
          </a:xfrm>
          <a:custGeom>
            <a:avLst/>
            <a:gdLst/>
            <a:ahLst/>
            <a:cxnLst/>
            <a:rect l="l" t="t" r="r" b="b"/>
            <a:pathLst>
              <a:path w="1506220" h="0">
                <a:moveTo>
                  <a:pt x="0" y="0"/>
                </a:moveTo>
                <a:lnTo>
                  <a:pt x="1505712" y="0"/>
                </a:lnTo>
              </a:path>
            </a:pathLst>
          </a:custGeom>
          <a:ln w="38100">
            <a:solidFill>
              <a:srgbClr val="FFC8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897885" y="2526029"/>
            <a:ext cx="0" cy="2085339"/>
          </a:xfrm>
          <a:custGeom>
            <a:avLst/>
            <a:gdLst/>
            <a:ahLst/>
            <a:cxnLst/>
            <a:rect l="l" t="t" r="r" b="b"/>
            <a:pathLst>
              <a:path w="0" h="2085339">
                <a:moveTo>
                  <a:pt x="0" y="0"/>
                </a:moveTo>
                <a:lnTo>
                  <a:pt x="0" y="2084832"/>
                </a:lnTo>
              </a:path>
            </a:pathLst>
          </a:custGeom>
          <a:ln w="38100">
            <a:solidFill>
              <a:srgbClr val="FFC8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897885" y="2526029"/>
            <a:ext cx="1205865" cy="0"/>
          </a:xfrm>
          <a:custGeom>
            <a:avLst/>
            <a:gdLst/>
            <a:ahLst/>
            <a:cxnLst/>
            <a:rect l="l" t="t" r="r" b="b"/>
            <a:pathLst>
              <a:path w="1205864" h="0">
                <a:moveTo>
                  <a:pt x="0" y="0"/>
                </a:moveTo>
                <a:lnTo>
                  <a:pt x="1205484" y="0"/>
                </a:lnTo>
              </a:path>
            </a:pathLst>
          </a:custGeom>
          <a:ln w="38100">
            <a:solidFill>
              <a:srgbClr val="FFC8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335024" y="2265426"/>
            <a:ext cx="114300" cy="521334"/>
          </a:xfrm>
          <a:custGeom>
            <a:avLst/>
            <a:gdLst/>
            <a:ahLst/>
            <a:cxnLst/>
            <a:rect l="l" t="t" r="r" b="b"/>
            <a:pathLst>
              <a:path w="114300" h="521335">
                <a:moveTo>
                  <a:pt x="76200" y="171450"/>
                </a:moveTo>
                <a:lnTo>
                  <a:pt x="38100" y="171450"/>
                </a:lnTo>
                <a:lnTo>
                  <a:pt x="38100" y="521208"/>
                </a:lnTo>
                <a:lnTo>
                  <a:pt x="76200" y="521208"/>
                </a:lnTo>
                <a:lnTo>
                  <a:pt x="76200" y="171450"/>
                </a:lnTo>
                <a:close/>
              </a:path>
              <a:path w="114300" h="521335">
                <a:moveTo>
                  <a:pt x="57150" y="0"/>
                </a:moveTo>
                <a:lnTo>
                  <a:pt x="0" y="190500"/>
                </a:lnTo>
                <a:lnTo>
                  <a:pt x="38100" y="190500"/>
                </a:lnTo>
                <a:lnTo>
                  <a:pt x="38100" y="171450"/>
                </a:lnTo>
                <a:lnTo>
                  <a:pt x="108584" y="171450"/>
                </a:lnTo>
                <a:lnTo>
                  <a:pt x="57150" y="0"/>
                </a:lnTo>
                <a:close/>
              </a:path>
              <a:path w="114300" h="521335">
                <a:moveTo>
                  <a:pt x="108584" y="171450"/>
                </a:moveTo>
                <a:lnTo>
                  <a:pt x="76200" y="171450"/>
                </a:lnTo>
                <a:lnTo>
                  <a:pt x="76200" y="190500"/>
                </a:lnTo>
                <a:lnTo>
                  <a:pt x="114300" y="190500"/>
                </a:lnTo>
                <a:lnTo>
                  <a:pt x="108584" y="1714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335024" y="3307841"/>
            <a:ext cx="114300" cy="523240"/>
          </a:xfrm>
          <a:custGeom>
            <a:avLst/>
            <a:gdLst/>
            <a:ahLst/>
            <a:cxnLst/>
            <a:rect l="l" t="t" r="r" b="b"/>
            <a:pathLst>
              <a:path w="114300" h="523239">
                <a:moveTo>
                  <a:pt x="38100" y="408432"/>
                </a:moveTo>
                <a:lnTo>
                  <a:pt x="0" y="408432"/>
                </a:lnTo>
                <a:lnTo>
                  <a:pt x="57150" y="522732"/>
                </a:lnTo>
                <a:lnTo>
                  <a:pt x="104775" y="427482"/>
                </a:lnTo>
                <a:lnTo>
                  <a:pt x="38100" y="427482"/>
                </a:lnTo>
                <a:lnTo>
                  <a:pt x="38100" y="408432"/>
                </a:lnTo>
                <a:close/>
              </a:path>
              <a:path w="114300" h="523239">
                <a:moveTo>
                  <a:pt x="76200" y="0"/>
                </a:moveTo>
                <a:lnTo>
                  <a:pt x="38100" y="0"/>
                </a:lnTo>
                <a:lnTo>
                  <a:pt x="38100" y="427482"/>
                </a:lnTo>
                <a:lnTo>
                  <a:pt x="76200" y="427482"/>
                </a:lnTo>
                <a:lnTo>
                  <a:pt x="76200" y="0"/>
                </a:lnTo>
                <a:close/>
              </a:path>
              <a:path w="114300" h="523239">
                <a:moveTo>
                  <a:pt x="114300" y="408432"/>
                </a:moveTo>
                <a:lnTo>
                  <a:pt x="76200" y="408432"/>
                </a:lnTo>
                <a:lnTo>
                  <a:pt x="76200" y="427482"/>
                </a:lnTo>
                <a:lnTo>
                  <a:pt x="104775" y="427482"/>
                </a:lnTo>
                <a:lnTo>
                  <a:pt x="114300" y="408432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346447" y="2265426"/>
            <a:ext cx="114300" cy="521334"/>
          </a:xfrm>
          <a:custGeom>
            <a:avLst/>
            <a:gdLst/>
            <a:ahLst/>
            <a:cxnLst/>
            <a:rect l="l" t="t" r="r" b="b"/>
            <a:pathLst>
              <a:path w="114300" h="521335">
                <a:moveTo>
                  <a:pt x="76200" y="171450"/>
                </a:moveTo>
                <a:lnTo>
                  <a:pt x="38100" y="171450"/>
                </a:lnTo>
                <a:lnTo>
                  <a:pt x="38100" y="521208"/>
                </a:lnTo>
                <a:lnTo>
                  <a:pt x="76200" y="521208"/>
                </a:lnTo>
                <a:lnTo>
                  <a:pt x="76200" y="171450"/>
                </a:lnTo>
                <a:close/>
              </a:path>
              <a:path w="114300" h="521335">
                <a:moveTo>
                  <a:pt x="57150" y="0"/>
                </a:moveTo>
                <a:lnTo>
                  <a:pt x="0" y="190500"/>
                </a:lnTo>
                <a:lnTo>
                  <a:pt x="38100" y="190500"/>
                </a:lnTo>
                <a:lnTo>
                  <a:pt x="38100" y="171450"/>
                </a:lnTo>
                <a:lnTo>
                  <a:pt x="108585" y="171450"/>
                </a:lnTo>
                <a:lnTo>
                  <a:pt x="57150" y="0"/>
                </a:lnTo>
                <a:close/>
              </a:path>
              <a:path w="114300" h="521335">
                <a:moveTo>
                  <a:pt x="108585" y="171450"/>
                </a:moveTo>
                <a:lnTo>
                  <a:pt x="76200" y="171450"/>
                </a:lnTo>
                <a:lnTo>
                  <a:pt x="76200" y="190500"/>
                </a:lnTo>
                <a:lnTo>
                  <a:pt x="114300" y="190500"/>
                </a:lnTo>
                <a:lnTo>
                  <a:pt x="108585" y="171450"/>
                </a:lnTo>
                <a:close/>
              </a:path>
            </a:pathLst>
          </a:custGeom>
          <a:solidFill>
            <a:srgbClr val="FFC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346447" y="3307841"/>
            <a:ext cx="114300" cy="523240"/>
          </a:xfrm>
          <a:custGeom>
            <a:avLst/>
            <a:gdLst/>
            <a:ahLst/>
            <a:cxnLst/>
            <a:rect l="l" t="t" r="r" b="b"/>
            <a:pathLst>
              <a:path w="114300" h="523239">
                <a:moveTo>
                  <a:pt x="38100" y="332232"/>
                </a:moveTo>
                <a:lnTo>
                  <a:pt x="0" y="332232"/>
                </a:lnTo>
                <a:lnTo>
                  <a:pt x="57150" y="522732"/>
                </a:lnTo>
                <a:lnTo>
                  <a:pt x="108585" y="351282"/>
                </a:lnTo>
                <a:lnTo>
                  <a:pt x="38100" y="351282"/>
                </a:lnTo>
                <a:lnTo>
                  <a:pt x="38100" y="332232"/>
                </a:lnTo>
                <a:close/>
              </a:path>
              <a:path w="114300" h="523239">
                <a:moveTo>
                  <a:pt x="76200" y="0"/>
                </a:moveTo>
                <a:lnTo>
                  <a:pt x="38100" y="0"/>
                </a:lnTo>
                <a:lnTo>
                  <a:pt x="38100" y="351282"/>
                </a:lnTo>
                <a:lnTo>
                  <a:pt x="76200" y="351282"/>
                </a:lnTo>
                <a:lnTo>
                  <a:pt x="76200" y="0"/>
                </a:lnTo>
                <a:close/>
              </a:path>
              <a:path w="114300" h="523239">
                <a:moveTo>
                  <a:pt x="114300" y="332232"/>
                </a:moveTo>
                <a:lnTo>
                  <a:pt x="76200" y="332232"/>
                </a:lnTo>
                <a:lnTo>
                  <a:pt x="76200" y="351282"/>
                </a:lnTo>
                <a:lnTo>
                  <a:pt x="108585" y="351282"/>
                </a:lnTo>
                <a:lnTo>
                  <a:pt x="114300" y="332232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487161" y="2936748"/>
            <a:ext cx="1325880" cy="114300"/>
          </a:xfrm>
          <a:custGeom>
            <a:avLst/>
            <a:gdLst/>
            <a:ahLst/>
            <a:cxnLst/>
            <a:rect l="l" t="t" r="r" b="b"/>
            <a:pathLst>
              <a:path w="1325879" h="114300">
                <a:moveTo>
                  <a:pt x="1135380" y="0"/>
                </a:moveTo>
                <a:lnTo>
                  <a:pt x="1135380" y="114300"/>
                </a:lnTo>
                <a:lnTo>
                  <a:pt x="1262380" y="76200"/>
                </a:lnTo>
                <a:lnTo>
                  <a:pt x="1154430" y="76200"/>
                </a:lnTo>
                <a:lnTo>
                  <a:pt x="1154430" y="38100"/>
                </a:lnTo>
                <a:lnTo>
                  <a:pt x="1262380" y="38100"/>
                </a:lnTo>
                <a:lnTo>
                  <a:pt x="1135380" y="0"/>
                </a:lnTo>
                <a:close/>
              </a:path>
              <a:path w="1325879" h="114300">
                <a:moveTo>
                  <a:pt x="113538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135380" y="76200"/>
                </a:lnTo>
                <a:lnTo>
                  <a:pt x="1135380" y="38100"/>
                </a:lnTo>
                <a:close/>
              </a:path>
              <a:path w="1325879" h="114300">
                <a:moveTo>
                  <a:pt x="1262380" y="38100"/>
                </a:moveTo>
                <a:lnTo>
                  <a:pt x="1154430" y="38100"/>
                </a:lnTo>
                <a:lnTo>
                  <a:pt x="1154430" y="76200"/>
                </a:lnTo>
                <a:lnTo>
                  <a:pt x="1262380" y="76200"/>
                </a:lnTo>
                <a:lnTo>
                  <a:pt x="1325880" y="57150"/>
                </a:lnTo>
                <a:lnTo>
                  <a:pt x="1262380" y="38100"/>
                </a:lnTo>
                <a:close/>
              </a:path>
            </a:pathLst>
          </a:custGeom>
          <a:solidFill>
            <a:srgbClr val="FFC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046220" y="4296917"/>
            <a:ext cx="114300" cy="520065"/>
          </a:xfrm>
          <a:custGeom>
            <a:avLst/>
            <a:gdLst/>
            <a:ahLst/>
            <a:cxnLst/>
            <a:rect l="l" t="t" r="r" b="b"/>
            <a:pathLst>
              <a:path w="114300" h="520064">
                <a:moveTo>
                  <a:pt x="38100" y="329183"/>
                </a:moveTo>
                <a:lnTo>
                  <a:pt x="0" y="329183"/>
                </a:lnTo>
                <a:lnTo>
                  <a:pt x="57150" y="519683"/>
                </a:lnTo>
                <a:lnTo>
                  <a:pt x="108585" y="348233"/>
                </a:lnTo>
                <a:lnTo>
                  <a:pt x="38100" y="348233"/>
                </a:lnTo>
                <a:lnTo>
                  <a:pt x="38100" y="329183"/>
                </a:lnTo>
                <a:close/>
              </a:path>
              <a:path w="114300" h="520064">
                <a:moveTo>
                  <a:pt x="76200" y="0"/>
                </a:moveTo>
                <a:lnTo>
                  <a:pt x="38100" y="0"/>
                </a:lnTo>
                <a:lnTo>
                  <a:pt x="38100" y="348233"/>
                </a:lnTo>
                <a:lnTo>
                  <a:pt x="76200" y="348233"/>
                </a:lnTo>
                <a:lnTo>
                  <a:pt x="76200" y="0"/>
                </a:lnTo>
                <a:close/>
              </a:path>
              <a:path w="114300" h="520064">
                <a:moveTo>
                  <a:pt x="114300" y="329183"/>
                </a:moveTo>
                <a:lnTo>
                  <a:pt x="76200" y="329183"/>
                </a:lnTo>
                <a:lnTo>
                  <a:pt x="76200" y="348233"/>
                </a:lnTo>
                <a:lnTo>
                  <a:pt x="108585" y="348233"/>
                </a:lnTo>
                <a:lnTo>
                  <a:pt x="114300" y="329183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948428" y="4296917"/>
            <a:ext cx="114300" cy="520065"/>
          </a:xfrm>
          <a:custGeom>
            <a:avLst/>
            <a:gdLst/>
            <a:ahLst/>
            <a:cxnLst/>
            <a:rect l="l" t="t" r="r" b="b"/>
            <a:pathLst>
              <a:path w="114300" h="520064">
                <a:moveTo>
                  <a:pt x="38100" y="329183"/>
                </a:moveTo>
                <a:lnTo>
                  <a:pt x="0" y="329183"/>
                </a:lnTo>
                <a:lnTo>
                  <a:pt x="57150" y="519683"/>
                </a:lnTo>
                <a:lnTo>
                  <a:pt x="108585" y="348233"/>
                </a:lnTo>
                <a:lnTo>
                  <a:pt x="38100" y="348233"/>
                </a:lnTo>
                <a:lnTo>
                  <a:pt x="38100" y="329183"/>
                </a:lnTo>
                <a:close/>
              </a:path>
              <a:path w="114300" h="520064">
                <a:moveTo>
                  <a:pt x="76200" y="0"/>
                </a:moveTo>
                <a:lnTo>
                  <a:pt x="38100" y="0"/>
                </a:lnTo>
                <a:lnTo>
                  <a:pt x="38100" y="348233"/>
                </a:lnTo>
                <a:lnTo>
                  <a:pt x="76200" y="348233"/>
                </a:lnTo>
                <a:lnTo>
                  <a:pt x="76200" y="0"/>
                </a:lnTo>
                <a:close/>
              </a:path>
              <a:path w="114300" h="520064">
                <a:moveTo>
                  <a:pt x="114300" y="329183"/>
                </a:moveTo>
                <a:lnTo>
                  <a:pt x="76200" y="329183"/>
                </a:lnTo>
                <a:lnTo>
                  <a:pt x="76200" y="348233"/>
                </a:lnTo>
                <a:lnTo>
                  <a:pt x="108585" y="348233"/>
                </a:lnTo>
                <a:lnTo>
                  <a:pt x="114300" y="329183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87501" y="1739645"/>
            <a:ext cx="1988820" cy="521334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3505">
              <a:lnSpc>
                <a:spcPts val="2790"/>
              </a:lnSpc>
            </a:pP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FOLLOW(</a:t>
            </a:r>
            <a:r>
              <a:rPr dirty="0" sz="2400" spc="-5" b="1" i="1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88441" y="2786633"/>
            <a:ext cx="1987550" cy="521334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4615">
              <a:lnSpc>
                <a:spcPts val="2795"/>
              </a:lnSpc>
            </a:pP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FOLLOW(</a:t>
            </a:r>
            <a:r>
              <a:rPr dirty="0" sz="2400" spc="-5" b="1" i="1">
                <a:solidFill>
                  <a:srgbClr val="66FFFF"/>
                </a:solidFill>
                <a:latin typeface="Times New Roman"/>
                <a:cs typeface="Times New Roman"/>
              </a:rPr>
              <a:t>D</a:t>
            </a: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88441" y="3830573"/>
            <a:ext cx="1987550" cy="52006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2235">
              <a:lnSpc>
                <a:spcPts val="2790"/>
              </a:lnSpc>
            </a:pP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FOLLOW(</a:t>
            </a:r>
            <a:r>
              <a:rPr dirty="0" sz="2400" b="1" i="1">
                <a:solidFill>
                  <a:srgbClr val="66FFFF"/>
                </a:solidFill>
                <a:latin typeface="Times New Roman"/>
                <a:cs typeface="Times New Roman"/>
              </a:rPr>
              <a:t>C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499865" y="1744217"/>
            <a:ext cx="1987550" cy="521334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19380">
              <a:lnSpc>
                <a:spcPts val="2790"/>
              </a:lnSpc>
            </a:pP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FOLLOW(</a:t>
            </a:r>
            <a:r>
              <a:rPr dirty="0" sz="2400" spc="-5" b="1" i="1">
                <a:solidFill>
                  <a:srgbClr val="66FFFF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813042" y="2733294"/>
            <a:ext cx="1485900" cy="50609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2790"/>
              </a:lnSpc>
            </a:pP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FIRST(</a:t>
            </a:r>
            <a:r>
              <a:rPr dirty="0" sz="2400" spc="-5" b="1" i="1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499865" y="2786633"/>
            <a:ext cx="1987550" cy="521334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2870">
              <a:lnSpc>
                <a:spcPts val="2795"/>
              </a:lnSpc>
            </a:pP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FOLLOW(</a:t>
            </a:r>
            <a:r>
              <a:rPr dirty="0" sz="2400" spc="-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675126" y="3778758"/>
            <a:ext cx="1711960" cy="52578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94945">
              <a:lnSpc>
                <a:spcPts val="2800"/>
              </a:lnSpc>
            </a:pP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FIRST(</a:t>
            </a:r>
            <a:r>
              <a:rPr dirty="0" sz="2400" spc="-5" b="1" i="1">
                <a:solidFill>
                  <a:srgbClr val="66FFFF"/>
                </a:solidFill>
                <a:latin typeface="Times New Roman"/>
                <a:cs typeface="Times New Roman"/>
              </a:rPr>
              <a:t>D</a:t>
            </a: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305805" y="5020055"/>
            <a:ext cx="2109470" cy="114300"/>
          </a:xfrm>
          <a:custGeom>
            <a:avLst/>
            <a:gdLst/>
            <a:ahLst/>
            <a:cxnLst/>
            <a:rect l="l" t="t" r="r" b="b"/>
            <a:pathLst>
              <a:path w="2109470" h="114300">
                <a:moveTo>
                  <a:pt x="190500" y="0"/>
                </a:moveTo>
                <a:lnTo>
                  <a:pt x="0" y="57150"/>
                </a:lnTo>
                <a:lnTo>
                  <a:pt x="190500" y="114300"/>
                </a:lnTo>
                <a:lnTo>
                  <a:pt x="190500" y="76200"/>
                </a:lnTo>
                <a:lnTo>
                  <a:pt x="171450" y="76200"/>
                </a:lnTo>
                <a:lnTo>
                  <a:pt x="171450" y="38100"/>
                </a:lnTo>
                <a:lnTo>
                  <a:pt x="190500" y="38100"/>
                </a:lnTo>
                <a:lnTo>
                  <a:pt x="190500" y="0"/>
                </a:lnTo>
                <a:close/>
              </a:path>
              <a:path w="2109470" h="114300">
                <a:moveTo>
                  <a:pt x="190500" y="38100"/>
                </a:moveTo>
                <a:lnTo>
                  <a:pt x="171450" y="38100"/>
                </a:lnTo>
                <a:lnTo>
                  <a:pt x="171450" y="76200"/>
                </a:lnTo>
                <a:lnTo>
                  <a:pt x="190500" y="76200"/>
                </a:lnTo>
                <a:lnTo>
                  <a:pt x="190500" y="38100"/>
                </a:lnTo>
                <a:close/>
              </a:path>
              <a:path w="2109470" h="114300">
                <a:moveTo>
                  <a:pt x="2109216" y="38100"/>
                </a:moveTo>
                <a:lnTo>
                  <a:pt x="190500" y="38100"/>
                </a:lnTo>
                <a:lnTo>
                  <a:pt x="190500" y="76200"/>
                </a:lnTo>
                <a:lnTo>
                  <a:pt x="2109216" y="76200"/>
                </a:lnTo>
                <a:lnTo>
                  <a:pt x="2109216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415021" y="3252978"/>
            <a:ext cx="0" cy="1824355"/>
          </a:xfrm>
          <a:custGeom>
            <a:avLst/>
            <a:gdLst/>
            <a:ahLst/>
            <a:cxnLst/>
            <a:rect l="l" t="t" r="r" b="b"/>
            <a:pathLst>
              <a:path w="0" h="1824354">
                <a:moveTo>
                  <a:pt x="0" y="1824228"/>
                </a:moveTo>
                <a:lnTo>
                  <a:pt x="0" y="0"/>
                </a:lnTo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441692" y="2468879"/>
            <a:ext cx="1702435" cy="0"/>
          </a:xfrm>
          <a:custGeom>
            <a:avLst/>
            <a:gdLst/>
            <a:ahLst/>
            <a:cxnLst/>
            <a:rect l="l" t="t" r="r" b="b"/>
            <a:pathLst>
              <a:path w="1702434" h="0">
                <a:moveTo>
                  <a:pt x="0" y="0"/>
                </a:moveTo>
                <a:lnTo>
                  <a:pt x="1702307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448042" y="408940"/>
            <a:ext cx="0" cy="2053589"/>
          </a:xfrm>
          <a:custGeom>
            <a:avLst/>
            <a:gdLst/>
            <a:ahLst/>
            <a:cxnLst/>
            <a:rect l="l" t="t" r="r" b="b"/>
            <a:pathLst>
              <a:path w="0" h="2053589">
                <a:moveTo>
                  <a:pt x="0" y="0"/>
                </a:moveTo>
                <a:lnTo>
                  <a:pt x="0" y="2053589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441692" y="402590"/>
            <a:ext cx="1702435" cy="0"/>
          </a:xfrm>
          <a:custGeom>
            <a:avLst/>
            <a:gdLst/>
            <a:ahLst/>
            <a:cxnLst/>
            <a:rect l="l" t="t" r="r" b="b"/>
            <a:pathLst>
              <a:path w="1702434" h="0">
                <a:moveTo>
                  <a:pt x="0" y="0"/>
                </a:moveTo>
                <a:lnTo>
                  <a:pt x="1702307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467092" y="2437129"/>
            <a:ext cx="1677035" cy="0"/>
          </a:xfrm>
          <a:custGeom>
            <a:avLst/>
            <a:gdLst/>
            <a:ahLst/>
            <a:cxnLst/>
            <a:rect l="l" t="t" r="r" b="b"/>
            <a:pathLst>
              <a:path w="1677034" h="0">
                <a:moveTo>
                  <a:pt x="0" y="0"/>
                </a:moveTo>
                <a:lnTo>
                  <a:pt x="1676907" y="0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479792" y="447040"/>
            <a:ext cx="0" cy="1977389"/>
          </a:xfrm>
          <a:custGeom>
            <a:avLst/>
            <a:gdLst/>
            <a:ahLst/>
            <a:cxnLst/>
            <a:rect l="l" t="t" r="r" b="b"/>
            <a:pathLst>
              <a:path w="0" h="1977389">
                <a:moveTo>
                  <a:pt x="0" y="0"/>
                </a:moveTo>
                <a:lnTo>
                  <a:pt x="0" y="1977389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467092" y="434340"/>
            <a:ext cx="1677035" cy="0"/>
          </a:xfrm>
          <a:custGeom>
            <a:avLst/>
            <a:gdLst/>
            <a:ahLst/>
            <a:cxnLst/>
            <a:rect l="l" t="t" r="r" b="b"/>
            <a:pathLst>
              <a:path w="1677034" h="0">
                <a:moveTo>
                  <a:pt x="0" y="0"/>
                </a:moveTo>
                <a:lnTo>
                  <a:pt x="1676907" y="0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9137650" y="447040"/>
            <a:ext cx="0" cy="1977389"/>
          </a:xfrm>
          <a:custGeom>
            <a:avLst/>
            <a:gdLst/>
            <a:ahLst/>
            <a:cxnLst/>
            <a:rect l="l" t="t" r="r" b="b"/>
            <a:pathLst>
              <a:path w="0" h="1977389">
                <a:moveTo>
                  <a:pt x="0" y="0"/>
                </a:moveTo>
                <a:lnTo>
                  <a:pt x="0" y="1977136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505192" y="2405379"/>
            <a:ext cx="1613535" cy="0"/>
          </a:xfrm>
          <a:custGeom>
            <a:avLst/>
            <a:gdLst/>
            <a:ahLst/>
            <a:cxnLst/>
            <a:rect l="l" t="t" r="r" b="b"/>
            <a:pathLst>
              <a:path w="1613534" h="0">
                <a:moveTo>
                  <a:pt x="0" y="0"/>
                </a:moveTo>
                <a:lnTo>
                  <a:pt x="1613407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511542" y="472440"/>
            <a:ext cx="0" cy="1926589"/>
          </a:xfrm>
          <a:custGeom>
            <a:avLst/>
            <a:gdLst/>
            <a:ahLst/>
            <a:cxnLst/>
            <a:rect l="l" t="t" r="r" b="b"/>
            <a:pathLst>
              <a:path w="0" h="1926589">
                <a:moveTo>
                  <a:pt x="0" y="0"/>
                </a:moveTo>
                <a:lnTo>
                  <a:pt x="0" y="1926589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505192" y="466090"/>
            <a:ext cx="1613535" cy="0"/>
          </a:xfrm>
          <a:custGeom>
            <a:avLst/>
            <a:gdLst/>
            <a:ahLst/>
            <a:cxnLst/>
            <a:rect l="l" t="t" r="r" b="b"/>
            <a:pathLst>
              <a:path w="1613534" h="0">
                <a:moveTo>
                  <a:pt x="0" y="0"/>
                </a:moveTo>
                <a:lnTo>
                  <a:pt x="1613407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9112250" y="472440"/>
            <a:ext cx="0" cy="1926589"/>
          </a:xfrm>
          <a:custGeom>
            <a:avLst/>
            <a:gdLst/>
            <a:ahLst/>
            <a:cxnLst/>
            <a:rect l="l" t="t" r="r" b="b"/>
            <a:pathLst>
              <a:path w="0" h="1926589">
                <a:moveTo>
                  <a:pt x="0" y="0"/>
                </a:moveTo>
                <a:lnTo>
                  <a:pt x="0" y="1926336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7492492" y="344017"/>
            <a:ext cx="1626235" cy="2007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0010" marR="321945">
              <a:lnSpc>
                <a:spcPct val="130000"/>
              </a:lnSpc>
              <a:spcBef>
                <a:spcPts val="100"/>
              </a:spcBef>
              <a:tabLst>
                <a:tab pos="994410" algn="l"/>
              </a:tabLst>
            </a:pPr>
            <a:r>
              <a:rPr dirty="0" sz="2000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000" b="1" i="1">
                <a:solidFill>
                  <a:srgbClr val="FFFF00"/>
                </a:solidFill>
                <a:latin typeface="Times New Roman"/>
                <a:cs typeface="Times New Roman"/>
              </a:rPr>
              <a:t>AB 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000" spc="-1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 i="1">
                <a:solidFill>
                  <a:srgbClr val="FFFF00"/>
                </a:solidFill>
                <a:latin typeface="Times New Roman"/>
                <a:cs typeface="Times New Roman"/>
              </a:rPr>
              <a:t>bC  </a:t>
            </a:r>
            <a:r>
              <a:rPr dirty="0" sz="20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000" spc="-5" b="1" i="1">
                <a:solidFill>
                  <a:srgbClr val="FFFF00"/>
                </a:solidFill>
                <a:latin typeface="Times New Roman"/>
                <a:cs typeface="Times New Roman"/>
              </a:rPr>
              <a:t>ε</a:t>
            </a: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2000" b="1" i="1">
                <a:solidFill>
                  <a:srgbClr val="FFFF00"/>
                </a:solidFill>
                <a:latin typeface="Times New Roman"/>
                <a:cs typeface="Times New Roman"/>
              </a:rPr>
              <a:t>b  </a:t>
            </a:r>
            <a:r>
              <a:rPr dirty="0" sz="20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000" spc="-5" b="1" i="1">
                <a:solidFill>
                  <a:srgbClr val="FFFF00"/>
                </a:solidFill>
                <a:latin typeface="Times New Roman"/>
                <a:cs typeface="Times New Roman"/>
              </a:rPr>
              <a:t>ε</a:t>
            </a: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2000" spc="5" b="1" i="1">
                <a:solidFill>
                  <a:srgbClr val="FFFF00"/>
                </a:solidFill>
                <a:latin typeface="Times New Roman"/>
                <a:cs typeface="Times New Roman"/>
              </a:rPr>
              <a:t>aD  </a:t>
            </a:r>
            <a:r>
              <a:rPr dirty="0" sz="2000" b="1" i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000" b="1" i="1">
                <a:solidFill>
                  <a:srgbClr val="FFFF00"/>
                </a:solidFill>
                <a:latin typeface="Times New Roman"/>
                <a:cs typeface="Times New Roman"/>
              </a:rPr>
              <a:t>AD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2000" b="1" i="1">
                <a:solidFill>
                  <a:srgbClr val="FFFF00"/>
                </a:solidFill>
                <a:latin typeface="Times New Roman"/>
                <a:cs typeface="Times New Roman"/>
              </a:rPr>
              <a:t>b  </a:t>
            </a:r>
            <a:r>
              <a:rPr dirty="0" sz="2000" b="1" i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000" b="1" i="1">
                <a:solidFill>
                  <a:srgbClr val="FFFF00"/>
                </a:solidFill>
                <a:latin typeface="Times New Roman"/>
                <a:cs typeface="Times New Roman"/>
              </a:rPr>
              <a:t>aS	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000" spc="-5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310692" y="5566163"/>
            <a:ext cx="8730615" cy="9766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95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)=FOLLOW(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)=FOLLOW( 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)=FOLLOW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={#}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； 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)={#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5231" y="26923"/>
            <a:ext cx="8667115" cy="6221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  <a:tab pos="1797050" algn="l"/>
                <a:tab pos="55562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4.4  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分析法与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析器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4.4.2</a:t>
            </a:r>
            <a:r>
              <a:rPr dirty="0" u="sng" sz="2000" spc="46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LL(1)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分析器的构造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700">
              <a:latin typeface="宋体"/>
              <a:cs typeface="宋体"/>
            </a:endParaRPr>
          </a:p>
          <a:p>
            <a:pPr marL="76200" marR="19050">
              <a:lnSpc>
                <a:spcPct val="114999"/>
              </a:lnSpc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自上而下语法分析的主旨是选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择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产生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800" spc="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 b="1">
                <a:solidFill>
                  <a:srgbClr val="FF99CC"/>
                </a:solidFill>
                <a:latin typeface="宋体"/>
                <a:cs typeface="宋体"/>
              </a:rPr>
              <a:t>合</a:t>
            </a:r>
            <a:r>
              <a:rPr dirty="0" sz="2800" spc="-10" b="1">
                <a:solidFill>
                  <a:srgbClr val="FF99CC"/>
                </a:solidFill>
                <a:latin typeface="宋体"/>
                <a:cs typeface="宋体"/>
              </a:rPr>
              <a:t>适的</a:t>
            </a:r>
            <a:r>
              <a:rPr dirty="0" sz="2800" spc="5" b="1">
                <a:solidFill>
                  <a:srgbClr val="FF99CC"/>
                </a:solidFill>
                <a:latin typeface="宋体"/>
                <a:cs typeface="宋体"/>
              </a:rPr>
              <a:t>侯</a:t>
            </a:r>
            <a:r>
              <a:rPr dirty="0" sz="2800" spc="-10" b="1">
                <a:solidFill>
                  <a:srgbClr val="FF99CC"/>
                </a:solidFill>
                <a:latin typeface="宋体"/>
                <a:cs typeface="宋体"/>
              </a:rPr>
              <a:t>选</a:t>
            </a:r>
            <a:r>
              <a:rPr dirty="0" sz="2800" spc="-15" b="1">
                <a:solidFill>
                  <a:srgbClr val="FF99CC"/>
                </a:solidFill>
                <a:latin typeface="宋体"/>
                <a:cs typeface="宋体"/>
              </a:rPr>
              <a:t>式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进行推导，逐步使推导结果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匹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配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76200" marR="19050">
              <a:lnSpc>
                <a:spcPct val="114999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LL(1)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分析法用分析栈和输入缓冲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区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记录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析的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过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程， 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分析表为根据当前情况确定选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择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那一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候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选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式的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格。</a:t>
            </a:r>
            <a:endParaRPr sz="2800">
              <a:latin typeface="宋体"/>
              <a:cs typeface="宋体"/>
            </a:endParaRPr>
          </a:p>
          <a:p>
            <a:pPr marL="76200">
              <a:lnSpc>
                <a:spcPct val="100000"/>
              </a:lnSpc>
              <a:spcBef>
                <a:spcPts val="135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所以分析表的构造：</a:t>
            </a:r>
            <a:endParaRPr sz="2800">
              <a:latin typeface="宋体"/>
              <a:cs typeface="宋体"/>
            </a:endParaRPr>
          </a:p>
          <a:p>
            <a:pPr marL="76200" marR="5080">
              <a:lnSpc>
                <a:spcPct val="112000"/>
              </a:lnSpc>
              <a:spcBef>
                <a:spcPts val="94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）对文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，若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中对非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终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结</a:t>
            </a:r>
            <a:r>
              <a:rPr dirty="0" sz="2800" spc="15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的产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生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形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如 </a:t>
            </a:r>
            <a:r>
              <a:rPr dirty="0" sz="2800" spc="-4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4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950" spc="-4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4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950" spc="-45" b="1" i="1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dirty="0" sz="2800" spc="-15" b="1">
                <a:solidFill>
                  <a:srgbClr val="99FF99"/>
                </a:solidFill>
                <a:latin typeface="宋体"/>
                <a:cs typeface="宋体"/>
              </a:rPr>
              <a:t>且</a:t>
            </a:r>
            <a:r>
              <a:rPr dirty="0" sz="2800" spc="-715" b="1">
                <a:solidFill>
                  <a:srgbClr val="99FF99"/>
                </a:solidFill>
                <a:latin typeface="宋体"/>
                <a:cs typeface="宋体"/>
              </a:rPr>
              <a:t> </a:t>
            </a:r>
            <a:r>
              <a:rPr dirty="0" sz="2950" spc="-9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950" spc="-75" b="1" i="1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均不推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出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则可产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生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LL(1)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分析表的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行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为，</a:t>
            </a:r>
            <a:endParaRPr sz="2800">
              <a:latin typeface="宋体"/>
              <a:cs typeface="宋体"/>
            </a:endParaRPr>
          </a:p>
          <a:p>
            <a:pPr marL="431800">
              <a:lnSpc>
                <a:spcPct val="100000"/>
              </a:lnSpc>
              <a:spcBef>
                <a:spcPts val="11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800" spc="-5" b="1">
                <a:solidFill>
                  <a:srgbClr val="FFFF00"/>
                </a:solidFill>
                <a:latin typeface="Symbol"/>
                <a:cs typeface="Symbol"/>
              </a:rPr>
              <a:t></a:t>
            </a:r>
            <a:r>
              <a:rPr dirty="0" sz="2800" spc="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 i="1">
                <a:solidFill>
                  <a:srgbClr val="FFFF66"/>
                </a:solidFill>
                <a:latin typeface="Times New Roman"/>
                <a:cs typeface="Times New Roman"/>
              </a:rPr>
              <a:t>a</a:t>
            </a:r>
            <a:r>
              <a:rPr dirty="0" sz="2800" spc="-15" b="1">
                <a:solidFill>
                  <a:srgbClr val="FFFF66"/>
                </a:solidFill>
                <a:latin typeface="宋体"/>
                <a:cs typeface="宋体"/>
              </a:rPr>
              <a:t>∈</a:t>
            </a:r>
            <a:r>
              <a:rPr dirty="0" sz="2800" spc="-15" b="1">
                <a:solidFill>
                  <a:srgbClr val="FFFF66"/>
                </a:solidFill>
                <a:latin typeface="Times New Roman"/>
                <a:cs typeface="Times New Roman"/>
              </a:rPr>
              <a:t>FIRST(</a:t>
            </a:r>
            <a:r>
              <a:rPr dirty="0" sz="2950" spc="-15" b="1" i="1">
                <a:solidFill>
                  <a:srgbClr val="FFFF66"/>
                </a:solidFill>
                <a:latin typeface="Symbol"/>
                <a:cs typeface="Symbol"/>
              </a:rPr>
              <a:t></a:t>
            </a:r>
            <a:r>
              <a:rPr dirty="0" sz="2800" spc="-15" b="1">
                <a:solidFill>
                  <a:srgbClr val="FFFF66"/>
                </a:solidFill>
                <a:latin typeface="Times New Roman"/>
                <a:cs typeface="Times New Roman"/>
              </a:rPr>
              <a:t>)</a:t>
            </a:r>
            <a:r>
              <a:rPr dirty="0" sz="2800" spc="1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 i="1">
                <a:solidFill>
                  <a:srgbClr val="FFFF66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列即</a:t>
            </a:r>
            <a:r>
              <a:rPr dirty="0" sz="2950" spc="-30" b="1" i="1">
                <a:solidFill>
                  <a:srgbClr val="FFFF66"/>
                </a:solidFill>
                <a:latin typeface="宋体"/>
                <a:cs typeface="宋体"/>
              </a:rPr>
              <a:t>Ｍ</a:t>
            </a:r>
            <a:r>
              <a:rPr dirty="0" sz="2800" spc="-30" b="1">
                <a:solidFill>
                  <a:srgbClr val="FFFF66"/>
                </a:solidFill>
                <a:latin typeface="Times New Roman"/>
                <a:cs typeface="Times New Roman"/>
              </a:rPr>
              <a:t>(</a:t>
            </a:r>
            <a:r>
              <a:rPr dirty="0" sz="2800" spc="-30" b="1" i="1">
                <a:solidFill>
                  <a:srgbClr val="FFFF66"/>
                </a:solidFill>
                <a:latin typeface="Times New Roman"/>
                <a:cs typeface="Times New Roman"/>
              </a:rPr>
              <a:t>A</a:t>
            </a:r>
            <a:r>
              <a:rPr dirty="0" sz="2800" spc="-30" b="1">
                <a:solidFill>
                  <a:srgbClr val="FFFF66"/>
                </a:solidFill>
                <a:latin typeface="宋体"/>
                <a:cs typeface="宋体"/>
              </a:rPr>
              <a:t>，</a:t>
            </a:r>
            <a:r>
              <a:rPr dirty="0" sz="2800" spc="-30" b="1" i="1">
                <a:solidFill>
                  <a:srgbClr val="FFFF66"/>
                </a:solidFill>
                <a:latin typeface="Times New Roman"/>
                <a:cs typeface="Times New Roman"/>
              </a:rPr>
              <a:t>a</a:t>
            </a:r>
            <a:r>
              <a:rPr dirty="0" sz="2800" spc="-30" b="1">
                <a:solidFill>
                  <a:srgbClr val="FFFF66"/>
                </a:solidFill>
                <a:latin typeface="Times New Roman"/>
                <a:cs typeface="Times New Roman"/>
              </a:rPr>
              <a:t>)</a:t>
            </a:r>
            <a:r>
              <a:rPr dirty="0" sz="2800" spc="15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= {</a:t>
            </a:r>
            <a:r>
              <a:rPr dirty="0" sz="280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2800" spc="-40" b="1" i="1">
                <a:solidFill>
                  <a:srgbClr val="FFFF66"/>
                </a:solidFill>
                <a:latin typeface="Times New Roman"/>
                <a:cs typeface="Times New Roman"/>
              </a:rPr>
              <a:t>A</a:t>
            </a:r>
            <a:r>
              <a:rPr dirty="0" sz="2800" spc="-40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2950" spc="-40" b="1" i="1">
                <a:solidFill>
                  <a:srgbClr val="FFFF66"/>
                </a:solidFill>
                <a:latin typeface="Symbol"/>
                <a:cs typeface="Symbol"/>
              </a:rPr>
              <a:t></a:t>
            </a:r>
            <a:r>
              <a:rPr dirty="0" sz="2950" spc="-35" b="1" i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431800">
              <a:lnSpc>
                <a:spcPct val="100000"/>
              </a:lnSpc>
              <a:spcBef>
                <a:spcPts val="116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800" spc="-5" b="1">
                <a:solidFill>
                  <a:srgbClr val="FFFF00"/>
                </a:solidFill>
                <a:latin typeface="Symbol"/>
                <a:cs typeface="Symbol"/>
              </a:rPr>
              <a:t></a:t>
            </a:r>
            <a:r>
              <a:rPr dirty="0" sz="2800" spc="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 i="1">
                <a:solidFill>
                  <a:srgbClr val="FFFF66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>
                <a:solidFill>
                  <a:srgbClr val="FFFF66"/>
                </a:solidFill>
                <a:latin typeface="宋体"/>
                <a:cs typeface="宋体"/>
              </a:rPr>
              <a:t>∈</a:t>
            </a:r>
            <a:r>
              <a:rPr dirty="0" sz="2800" spc="-10" b="1">
                <a:solidFill>
                  <a:srgbClr val="FFFF66"/>
                </a:solidFill>
                <a:latin typeface="Times New Roman"/>
                <a:cs typeface="Times New Roman"/>
              </a:rPr>
              <a:t>FIRST(</a:t>
            </a:r>
            <a:r>
              <a:rPr dirty="0" sz="2950" spc="-10" b="1" i="1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dirty="0" sz="2800" spc="-10" b="1">
                <a:solidFill>
                  <a:srgbClr val="FFFF66"/>
                </a:solidFill>
                <a:latin typeface="Times New Roman"/>
                <a:cs typeface="Times New Roman"/>
              </a:rPr>
              <a:t>)</a:t>
            </a:r>
            <a:r>
              <a:rPr dirty="0" sz="2800" spc="5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 i="1">
                <a:solidFill>
                  <a:srgbClr val="FFFF66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列即</a:t>
            </a:r>
            <a:r>
              <a:rPr dirty="0" sz="2950" spc="-30" b="1" i="1">
                <a:solidFill>
                  <a:srgbClr val="FFFF66"/>
                </a:solidFill>
                <a:latin typeface="宋体"/>
                <a:cs typeface="宋体"/>
              </a:rPr>
              <a:t>Ｍ</a:t>
            </a:r>
            <a:r>
              <a:rPr dirty="0" sz="2800" spc="-30" b="1">
                <a:solidFill>
                  <a:srgbClr val="FFFF66"/>
                </a:solidFill>
                <a:latin typeface="Times New Roman"/>
                <a:cs typeface="Times New Roman"/>
              </a:rPr>
              <a:t>(</a:t>
            </a:r>
            <a:r>
              <a:rPr dirty="0" sz="2800" spc="-30" b="1" i="1">
                <a:solidFill>
                  <a:srgbClr val="FFFF66"/>
                </a:solidFill>
                <a:latin typeface="Times New Roman"/>
                <a:cs typeface="Times New Roman"/>
              </a:rPr>
              <a:t>A</a:t>
            </a:r>
            <a:r>
              <a:rPr dirty="0" sz="2800" spc="-30" b="1">
                <a:solidFill>
                  <a:srgbClr val="FFFF66"/>
                </a:solidFill>
                <a:latin typeface="宋体"/>
                <a:cs typeface="宋体"/>
              </a:rPr>
              <a:t>，</a:t>
            </a:r>
            <a:r>
              <a:rPr dirty="0" sz="2800" spc="-30" b="1" i="1">
                <a:solidFill>
                  <a:srgbClr val="FFFF66"/>
                </a:solidFill>
                <a:latin typeface="Times New Roman"/>
                <a:cs typeface="Times New Roman"/>
              </a:rPr>
              <a:t>b</a:t>
            </a:r>
            <a:r>
              <a:rPr dirty="0" sz="2800" spc="-30" b="1">
                <a:solidFill>
                  <a:srgbClr val="FFFF66"/>
                </a:solidFill>
                <a:latin typeface="Times New Roman"/>
                <a:cs typeface="Times New Roman"/>
              </a:rPr>
              <a:t>)</a:t>
            </a:r>
            <a:r>
              <a:rPr dirty="0" sz="2800" spc="15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= {</a:t>
            </a:r>
            <a:r>
              <a:rPr dirty="0" sz="280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 i="1">
                <a:solidFill>
                  <a:srgbClr val="FFFF66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280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2950" spc="-90" b="1" i="1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dirty="0" sz="2950" spc="-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5231" y="26923"/>
            <a:ext cx="83781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  <a:tab pos="1797050" algn="l"/>
                <a:tab pos="55562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4.4  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分析法与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析器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4.4.2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LL(1)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3842" y="2313785"/>
            <a:ext cx="7216140" cy="423100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25400" marR="1657350">
              <a:lnSpc>
                <a:spcPts val="3700"/>
              </a:lnSpc>
              <a:spcBef>
                <a:spcPts val="85"/>
              </a:spcBef>
            </a:pPr>
            <a:r>
              <a:rPr dirty="0" sz="2800" spc="-5" b="1">
                <a:solidFill>
                  <a:srgbClr val="FFEB99"/>
                </a:solidFill>
                <a:latin typeface="宋体"/>
                <a:cs typeface="宋体"/>
              </a:rPr>
              <a:t>对</a:t>
            </a:r>
            <a:r>
              <a:rPr dirty="0" sz="2800" spc="-5" b="1">
                <a:solidFill>
                  <a:srgbClr val="FFEB99"/>
                </a:solidFill>
                <a:latin typeface="Symbol"/>
                <a:cs typeface="Symbol"/>
              </a:rPr>
              <a:t></a:t>
            </a:r>
            <a:r>
              <a:rPr dirty="0" sz="2800" spc="-55" b="1">
                <a:solidFill>
                  <a:srgbClr val="FFEB99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 i="1">
                <a:solidFill>
                  <a:srgbClr val="FFEB99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EB99"/>
                </a:solidFill>
                <a:latin typeface="宋体"/>
                <a:cs typeface="宋体"/>
              </a:rPr>
              <a:t>∈</a:t>
            </a:r>
            <a:r>
              <a:rPr dirty="0" sz="2800" spc="-10" b="1">
                <a:solidFill>
                  <a:srgbClr val="FFEB99"/>
                </a:solidFill>
                <a:latin typeface="Times New Roman"/>
                <a:cs typeface="Times New Roman"/>
              </a:rPr>
              <a:t>FIRST(</a:t>
            </a:r>
            <a:r>
              <a:rPr dirty="0" sz="2950" spc="-10" b="1" i="1">
                <a:solidFill>
                  <a:srgbClr val="FFEB99"/>
                </a:solidFill>
                <a:latin typeface="Symbol"/>
                <a:cs typeface="Symbol"/>
              </a:rPr>
              <a:t></a:t>
            </a:r>
            <a:r>
              <a:rPr dirty="0" sz="2800" spc="-10" b="1">
                <a:solidFill>
                  <a:srgbClr val="FFEB99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∪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FOLLOW(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  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列即</a:t>
            </a:r>
            <a:r>
              <a:rPr dirty="0" sz="2950" spc="-30" b="1" i="1">
                <a:solidFill>
                  <a:srgbClr val="FFFFFF"/>
                </a:solidFill>
                <a:latin typeface="宋体"/>
                <a:cs typeface="宋体"/>
              </a:rPr>
              <a:t>Ｍ</a:t>
            </a:r>
            <a:r>
              <a:rPr dirty="0" sz="2800" spc="-3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3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3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3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3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4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4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950" spc="-4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950" spc="-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950" spc="-10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950" spc="-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不推出空串，</a:t>
            </a:r>
            <a:endParaRPr sz="2800">
              <a:latin typeface="宋体"/>
              <a:cs typeface="宋体"/>
            </a:endParaRPr>
          </a:p>
          <a:p>
            <a:pPr marL="25400">
              <a:lnSpc>
                <a:spcPts val="3495"/>
              </a:lnSpc>
              <a:spcBef>
                <a:spcPts val="15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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950" spc="-1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列即</a:t>
            </a:r>
            <a:r>
              <a:rPr dirty="0" sz="2950" spc="-30" b="1" i="1">
                <a:solidFill>
                  <a:srgbClr val="FFFFFF"/>
                </a:solidFill>
                <a:latin typeface="宋体"/>
                <a:cs typeface="宋体"/>
              </a:rPr>
              <a:t>Ｍ</a:t>
            </a:r>
            <a:r>
              <a:rPr dirty="0" sz="2800" spc="-3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3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3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3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3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4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4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950" spc="-4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95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25400">
              <a:lnSpc>
                <a:spcPts val="3795"/>
              </a:lnSpc>
            </a:pPr>
            <a:r>
              <a:rPr dirty="0" sz="2800" spc="-5" b="1">
                <a:solidFill>
                  <a:srgbClr val="FFEB99"/>
                </a:solidFill>
                <a:latin typeface="宋体"/>
                <a:cs typeface="宋体"/>
              </a:rPr>
              <a:t>若</a:t>
            </a:r>
            <a:r>
              <a:rPr dirty="0" sz="2950" spc="-90" b="1" i="1">
                <a:solidFill>
                  <a:srgbClr val="FFEB99"/>
                </a:solidFill>
                <a:latin typeface="Symbol"/>
                <a:cs typeface="Symbol"/>
              </a:rPr>
              <a:t></a:t>
            </a:r>
            <a:r>
              <a:rPr dirty="0" sz="2950" spc="-215" b="1" i="1">
                <a:solidFill>
                  <a:srgbClr val="FFEB99"/>
                </a:solidFill>
                <a:latin typeface="Times New Roman"/>
                <a:cs typeface="Times New Roman"/>
              </a:rPr>
              <a:t> </a:t>
            </a:r>
            <a:r>
              <a:rPr dirty="0" baseline="6076" sz="4800" spc="-540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2800" spc="-360" b="1">
                <a:solidFill>
                  <a:srgbClr val="FFEB99"/>
                </a:solidFill>
                <a:latin typeface="Times New Roman"/>
                <a:cs typeface="Times New Roman"/>
              </a:rPr>
              <a:t>=&gt;ε</a:t>
            </a:r>
            <a:endParaRPr sz="2800">
              <a:latin typeface="Times New Roman"/>
              <a:cs typeface="Times New Roman"/>
            </a:endParaRPr>
          </a:p>
          <a:p>
            <a:pPr marL="25400" marR="1685925">
              <a:lnSpc>
                <a:spcPts val="3700"/>
              </a:lnSpc>
              <a:spcBef>
                <a:spcPts val="100"/>
              </a:spcBef>
            </a:pPr>
            <a:r>
              <a:rPr dirty="0" sz="2800" spc="-5" b="1">
                <a:solidFill>
                  <a:srgbClr val="FFEB99"/>
                </a:solidFill>
                <a:latin typeface="宋体"/>
                <a:cs typeface="宋体"/>
              </a:rPr>
              <a:t>对</a:t>
            </a:r>
            <a:r>
              <a:rPr dirty="0" sz="2800" spc="-5" b="1">
                <a:solidFill>
                  <a:srgbClr val="FFEB99"/>
                </a:solidFill>
                <a:latin typeface="Symbol"/>
                <a:cs typeface="Symbol"/>
              </a:rPr>
              <a:t></a:t>
            </a:r>
            <a:r>
              <a:rPr dirty="0" sz="2800" spc="-40" b="1">
                <a:solidFill>
                  <a:srgbClr val="FFEB99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 i="1">
                <a:solidFill>
                  <a:srgbClr val="FFEB99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>
                <a:solidFill>
                  <a:srgbClr val="FFEB99"/>
                </a:solidFill>
                <a:latin typeface="宋体"/>
                <a:cs typeface="宋体"/>
              </a:rPr>
              <a:t>∈</a:t>
            </a:r>
            <a:r>
              <a:rPr dirty="0" sz="2800" spc="-10" b="1">
                <a:solidFill>
                  <a:srgbClr val="FFEB99"/>
                </a:solidFill>
                <a:latin typeface="Times New Roman"/>
                <a:cs typeface="Times New Roman"/>
              </a:rPr>
              <a:t>FIRST(</a:t>
            </a:r>
            <a:r>
              <a:rPr dirty="0" sz="2950" spc="-10" b="1" i="1">
                <a:solidFill>
                  <a:srgbClr val="FFEB99"/>
                </a:solidFill>
                <a:latin typeface="Symbol"/>
                <a:cs typeface="Symbol"/>
              </a:rPr>
              <a:t></a:t>
            </a:r>
            <a:r>
              <a:rPr dirty="0" sz="2800" spc="-10" b="1">
                <a:solidFill>
                  <a:srgbClr val="FFEB99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∪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FOLLOW(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  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列即</a:t>
            </a:r>
            <a:r>
              <a:rPr dirty="0" sz="2950" spc="-30" b="1" i="1">
                <a:solidFill>
                  <a:srgbClr val="FFFFFF"/>
                </a:solidFill>
                <a:latin typeface="宋体"/>
                <a:cs typeface="宋体"/>
              </a:rPr>
              <a:t>Ｍ</a:t>
            </a:r>
            <a:r>
              <a:rPr dirty="0" sz="2800" spc="-3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3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3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3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3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 { 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85" b="1" i="1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dirty="0" sz="295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950" spc="-80" b="1" i="1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不推出空串，</a:t>
            </a:r>
            <a:endParaRPr sz="2800">
              <a:latin typeface="宋体"/>
              <a:cs typeface="宋体"/>
            </a:endParaRPr>
          </a:p>
          <a:p>
            <a:pPr marL="25400">
              <a:lnSpc>
                <a:spcPct val="100000"/>
              </a:lnSpc>
              <a:spcBef>
                <a:spcPts val="16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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950" spc="-1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列即</a:t>
            </a:r>
            <a:r>
              <a:rPr dirty="0" sz="2950" spc="-30" b="1" i="1">
                <a:solidFill>
                  <a:srgbClr val="FFFFFF"/>
                </a:solidFill>
                <a:latin typeface="宋体"/>
                <a:cs typeface="宋体"/>
              </a:rPr>
              <a:t>Ｍ</a:t>
            </a:r>
            <a:r>
              <a:rPr dirty="0" sz="2800" spc="-3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3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3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3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3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90" b="1" i="1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dirty="0" sz="2950" spc="-4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13842" y="459919"/>
            <a:ext cx="8539480" cy="1859280"/>
          </a:xfrm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25400" marR="17780" indent="101600">
              <a:lnSpc>
                <a:spcPct val="127899"/>
              </a:lnSpc>
              <a:spcBef>
                <a:spcPts val="175"/>
              </a:spcBef>
            </a:pPr>
            <a:r>
              <a:rPr dirty="0" sz="3200">
                <a:solidFill>
                  <a:srgbClr val="FFFFFF"/>
                </a:solidFill>
              </a:rPr>
              <a:t>(2)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3200" spc="-35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35">
                <a:solidFill>
                  <a:srgbClr val="FFFFFF"/>
                </a:solidFill>
              </a:rPr>
              <a:t>→</a:t>
            </a:r>
            <a:r>
              <a:rPr dirty="0" sz="3350" spc="-35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3200" spc="-35">
                <a:solidFill>
                  <a:srgbClr val="FFFFFF"/>
                </a:solidFill>
              </a:rPr>
              <a:t>|</a:t>
            </a:r>
            <a:r>
              <a:rPr dirty="0" sz="3350" spc="-35" i="1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且</a:t>
            </a:r>
            <a:r>
              <a:rPr dirty="0" sz="3200" spc="-894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350" spc="-90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3350" spc="-70" i="1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推出</a:t>
            </a:r>
            <a:r>
              <a:rPr dirty="0" sz="3200" spc="5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情</a:t>
            </a: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况，产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生</a:t>
            </a:r>
            <a:r>
              <a:rPr dirty="0" sz="3200">
                <a:solidFill>
                  <a:srgbClr val="FFFFFF"/>
                </a:solidFill>
              </a:rPr>
              <a:t>LL(1)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分 </a:t>
            </a: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析表的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行为，</a:t>
            </a:r>
            <a:endParaRPr sz="3200">
              <a:latin typeface="宋体"/>
              <a:cs typeface="宋体"/>
            </a:endParaRPr>
          </a:p>
          <a:p>
            <a:pPr marL="25400">
              <a:lnSpc>
                <a:spcPct val="100000"/>
              </a:lnSpc>
              <a:spcBef>
                <a:spcPts val="235"/>
              </a:spcBef>
            </a:pPr>
            <a:r>
              <a:rPr dirty="0" sz="3200">
                <a:solidFill>
                  <a:srgbClr val="FFEB99"/>
                </a:solidFill>
                <a:latin typeface="宋体"/>
                <a:cs typeface="宋体"/>
              </a:rPr>
              <a:t>若</a:t>
            </a:r>
            <a:r>
              <a:rPr dirty="0" sz="3350" spc="-95" i="1">
                <a:solidFill>
                  <a:srgbClr val="FFEB99"/>
                </a:solidFill>
                <a:latin typeface="Symbol"/>
                <a:cs typeface="Symbol"/>
              </a:rPr>
              <a:t></a:t>
            </a:r>
            <a:r>
              <a:rPr dirty="0" sz="3350" spc="-45" i="1">
                <a:solidFill>
                  <a:srgbClr val="FFEB99"/>
                </a:solidFill>
                <a:latin typeface="Times New Roman"/>
                <a:cs typeface="Times New Roman"/>
              </a:rPr>
              <a:t> </a:t>
            </a:r>
            <a:r>
              <a:rPr dirty="0" sz="3200" spc="-405">
                <a:solidFill>
                  <a:srgbClr val="FFEB99"/>
                </a:solidFill>
              </a:rPr>
              <a:t>=</a:t>
            </a:r>
            <a:r>
              <a:rPr dirty="0" baseline="8680" sz="4800" spc="-607"/>
              <a:t>*</a:t>
            </a:r>
            <a:r>
              <a:rPr dirty="0" sz="3200" spc="-405">
                <a:solidFill>
                  <a:srgbClr val="FFEB99"/>
                </a:solidFill>
              </a:rPr>
              <a:t>&gt;ε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00398" y="3014242"/>
            <a:ext cx="5057140" cy="541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00" spc="480" b="1">
                <a:solidFill>
                  <a:srgbClr val="FFFFFF"/>
                </a:solidFill>
                <a:latin typeface="宋体"/>
                <a:cs typeface="宋体"/>
              </a:rPr>
              <a:t>由</a:t>
            </a:r>
            <a:r>
              <a:rPr dirty="0" sz="2800" spc="470" b="1">
                <a:solidFill>
                  <a:srgbClr val="FFFFFF"/>
                </a:solidFill>
                <a:latin typeface="宋体"/>
                <a:cs typeface="宋体"/>
              </a:rPr>
              <a:t>于</a:t>
            </a:r>
            <a:r>
              <a:rPr dirty="0" sz="2800" spc="480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800" spc="470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2800" spc="480" b="1">
                <a:solidFill>
                  <a:srgbClr val="FFFFFF"/>
                </a:solidFill>
                <a:latin typeface="宋体"/>
                <a:cs typeface="宋体"/>
              </a:rPr>
              <a:t>规</a:t>
            </a:r>
            <a:r>
              <a:rPr dirty="0" sz="2800" spc="470" b="1">
                <a:solidFill>
                  <a:srgbClr val="FFFFFF"/>
                </a:solidFill>
                <a:latin typeface="宋体"/>
                <a:cs typeface="宋体"/>
              </a:rPr>
              <a:t>则存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2800" spc="-919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3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3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350" spc="-3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3350" spc="-38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且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7323" y="3036265"/>
            <a:ext cx="283654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874394" algn="l"/>
              </a:tabLst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设	</a:t>
            </a:r>
            <a:r>
              <a:rPr dirty="0" sz="2800" spc="-18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baseline="8680" sz="4800" spc="-277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spc="-185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sz="2800" spc="-185" b="1">
                <a:solidFill>
                  <a:srgbClr val="FFFFFF"/>
                </a:solidFill>
                <a:latin typeface="宋体"/>
                <a:cs typeface="宋体"/>
              </a:rPr>
              <a:t>…</a:t>
            </a:r>
            <a:r>
              <a:rPr dirty="0" sz="2800" spc="-18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8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18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85" b="1">
                <a:solidFill>
                  <a:srgbClr val="FFFFFF"/>
                </a:solidFill>
                <a:latin typeface="宋体"/>
                <a:cs typeface="宋体"/>
              </a:rPr>
              <a:t>…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01769" y="4805298"/>
            <a:ext cx="2651125" cy="398145"/>
          </a:xfrm>
          <a:custGeom>
            <a:avLst/>
            <a:gdLst/>
            <a:ahLst/>
            <a:cxnLst/>
            <a:rect l="l" t="t" r="r" b="b"/>
            <a:pathLst>
              <a:path w="2651125" h="398145">
                <a:moveTo>
                  <a:pt x="2535305" y="360179"/>
                </a:moveTo>
                <a:lnTo>
                  <a:pt x="2530475" y="398018"/>
                </a:lnTo>
                <a:lnTo>
                  <a:pt x="2631560" y="362584"/>
                </a:lnTo>
                <a:lnTo>
                  <a:pt x="2554224" y="362584"/>
                </a:lnTo>
                <a:lnTo>
                  <a:pt x="2535305" y="360179"/>
                </a:lnTo>
                <a:close/>
              </a:path>
              <a:path w="2651125" h="398145">
                <a:moveTo>
                  <a:pt x="2540120" y="322458"/>
                </a:moveTo>
                <a:lnTo>
                  <a:pt x="2535305" y="360179"/>
                </a:lnTo>
                <a:lnTo>
                  <a:pt x="2554224" y="362584"/>
                </a:lnTo>
                <a:lnTo>
                  <a:pt x="2559050" y="324865"/>
                </a:lnTo>
                <a:lnTo>
                  <a:pt x="2540120" y="322458"/>
                </a:lnTo>
                <a:close/>
              </a:path>
              <a:path w="2651125" h="398145">
                <a:moveTo>
                  <a:pt x="2544953" y="284606"/>
                </a:moveTo>
                <a:lnTo>
                  <a:pt x="2540120" y="322458"/>
                </a:lnTo>
                <a:lnTo>
                  <a:pt x="2559050" y="324865"/>
                </a:lnTo>
                <a:lnTo>
                  <a:pt x="2554224" y="362584"/>
                </a:lnTo>
                <a:lnTo>
                  <a:pt x="2631560" y="362584"/>
                </a:lnTo>
                <a:lnTo>
                  <a:pt x="2651125" y="355726"/>
                </a:lnTo>
                <a:lnTo>
                  <a:pt x="2544953" y="284606"/>
                </a:lnTo>
                <a:close/>
              </a:path>
              <a:path w="2651125" h="398145">
                <a:moveTo>
                  <a:pt x="4825" y="0"/>
                </a:moveTo>
                <a:lnTo>
                  <a:pt x="0" y="37845"/>
                </a:lnTo>
                <a:lnTo>
                  <a:pt x="2535305" y="360179"/>
                </a:lnTo>
                <a:lnTo>
                  <a:pt x="2540120" y="322458"/>
                </a:lnTo>
                <a:lnTo>
                  <a:pt x="482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10540" y="3335436"/>
            <a:ext cx="5784850" cy="154432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304800" marR="30480" indent="-266700">
              <a:lnSpc>
                <a:spcPct val="149400"/>
              </a:lnSpc>
              <a:spcBef>
                <a:spcPts val="225"/>
              </a:spcBef>
              <a:tabLst>
                <a:tab pos="4839335" algn="l"/>
              </a:tabLst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3350" spc="-9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当</a:t>
            </a:r>
            <a:r>
              <a:rPr dirty="0" sz="3350" spc="-9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3350" spc="-11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4340" sz="4800" spc="-225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，则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158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baseline="9548" sz="4800" spc="-37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故有</a:t>
            </a:r>
            <a:r>
              <a:rPr dirty="0" sz="2800" spc="-18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18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baseline="9548" sz="4800" spc="-277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spc="-185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r>
              <a:rPr dirty="0" sz="2800" spc="-185" b="1">
                <a:solidFill>
                  <a:srgbClr val="FFFFFF"/>
                </a:solidFill>
                <a:latin typeface="宋体"/>
                <a:cs typeface="宋体"/>
              </a:rPr>
              <a:t>…</a:t>
            </a:r>
            <a:r>
              <a:rPr dirty="0" sz="2800" spc="-185" b="1" i="1">
                <a:solidFill>
                  <a:srgbClr val="FFFF66"/>
                </a:solidFill>
                <a:latin typeface="Times New Roman"/>
                <a:cs typeface="Times New Roman"/>
              </a:rPr>
              <a:t>a</a:t>
            </a:r>
            <a:r>
              <a:rPr dirty="0" sz="2800" spc="-18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85" b="1" i="1">
                <a:solidFill>
                  <a:srgbClr val="FFFF66"/>
                </a:solidFill>
                <a:latin typeface="Times New Roman"/>
                <a:cs typeface="Times New Roman"/>
              </a:rPr>
              <a:t>b</a:t>
            </a:r>
            <a:r>
              <a:rPr dirty="0" sz="2800" spc="-185" b="1">
                <a:solidFill>
                  <a:srgbClr val="FFFFFF"/>
                </a:solidFill>
                <a:latin typeface="宋体"/>
                <a:cs typeface="宋体"/>
              </a:rPr>
              <a:t>…</a:t>
            </a:r>
            <a:r>
              <a:rPr dirty="0" sz="2800" spc="-68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66FF"/>
                </a:solidFill>
                <a:latin typeface="Times New Roman"/>
                <a:cs typeface="Times New Roman"/>
              </a:rPr>
              <a:t>=&gt;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…</a:t>
            </a:r>
            <a:r>
              <a:rPr dirty="0" u="heavy" sz="2800" spc="-5" b="1" i="1">
                <a:solidFill>
                  <a:srgbClr val="FFFF66"/>
                </a:solidFill>
                <a:uFill>
                  <a:solidFill>
                    <a:srgbClr val="FFFF66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heavy" sz="2800" spc="-5" b="1" i="1">
                <a:solidFill>
                  <a:srgbClr val="FFFF00"/>
                </a:solidFill>
                <a:uFill>
                  <a:solidFill>
                    <a:srgbClr val="FFFF66"/>
                  </a:solidFill>
                </a:u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…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79831" y="0"/>
            <a:ext cx="8428990" cy="2760345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0"/>
              </a:spcBef>
              <a:tabLst>
                <a:tab pos="546735" algn="l"/>
                <a:tab pos="1822450" algn="l"/>
                <a:tab pos="55816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4.4  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分析法与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析器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4.4.2</a:t>
            </a:r>
            <a:r>
              <a:rPr dirty="0" u="sng" sz="2000" spc="43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LL(1)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分析器的构造</a:t>
            </a:r>
            <a:endParaRPr sz="2000">
              <a:latin typeface="宋体"/>
              <a:cs typeface="宋体"/>
            </a:endParaRPr>
          </a:p>
          <a:p>
            <a:pPr marL="368300">
              <a:lnSpc>
                <a:spcPct val="100000"/>
              </a:lnSpc>
              <a:spcBef>
                <a:spcPts val="1275"/>
              </a:spcBef>
            </a:pP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分析</a:t>
            </a:r>
            <a:endParaRPr sz="3200">
              <a:latin typeface="宋体"/>
              <a:cs typeface="宋体"/>
            </a:endParaRPr>
          </a:p>
          <a:p>
            <a:pPr marL="635000" marR="322580">
              <a:lnSpc>
                <a:spcPts val="4370"/>
              </a:lnSpc>
              <a:spcBef>
                <a:spcPts val="39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已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知</a:t>
            </a:r>
            <a:r>
              <a:rPr dirty="0" sz="2800" spc="-5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│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8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8680" sz="4800" spc="-19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spc="-130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sz="2800" spc="-130" b="1">
                <a:solidFill>
                  <a:srgbClr val="FFFFFF"/>
                </a:solidFill>
                <a:latin typeface="宋体"/>
                <a:cs typeface="宋体"/>
              </a:rPr>
              <a:t>…</a:t>
            </a:r>
            <a:r>
              <a:rPr dirty="0" sz="2800" spc="-13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3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130" b="1">
                <a:solidFill>
                  <a:srgbClr val="FFFFFF"/>
                </a:solidFill>
                <a:latin typeface="宋体"/>
                <a:cs typeface="宋体"/>
              </a:rPr>
              <a:t>…，</a:t>
            </a:r>
            <a:r>
              <a:rPr dirty="0" sz="2800" spc="-13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30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950" spc="-130" b="1" i="1">
                <a:solidFill>
                  <a:srgbClr val="FFFFFF"/>
                </a:solidFill>
                <a:latin typeface="宋体"/>
                <a:cs typeface="宋体"/>
              </a:rPr>
              <a:t>Ｖ</a:t>
            </a:r>
            <a:r>
              <a:rPr dirty="0" baseline="-25525" sz="2775" spc="-19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-130" b="1">
                <a:solidFill>
                  <a:srgbClr val="FFFFFF"/>
                </a:solidFill>
                <a:latin typeface="宋体"/>
                <a:cs typeface="宋体"/>
              </a:rPr>
              <a:t>｝ 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-7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∈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FOLLOW(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则必有</a:t>
            </a:r>
            <a:endParaRPr sz="2800">
              <a:latin typeface="宋体"/>
              <a:cs typeface="宋体"/>
            </a:endParaRPr>
          </a:p>
          <a:p>
            <a:pPr algn="ctr" marR="909955">
              <a:lnSpc>
                <a:spcPct val="100000"/>
              </a:lnSpc>
              <a:spcBef>
                <a:spcPts val="545"/>
              </a:spcBef>
            </a:pPr>
            <a:r>
              <a:rPr dirty="0" sz="2800" spc="-20" b="1">
                <a:solidFill>
                  <a:srgbClr val="FFFFFF"/>
                </a:solidFill>
                <a:latin typeface="宋体"/>
                <a:cs typeface="宋体"/>
              </a:rPr>
              <a:t>…</a:t>
            </a:r>
            <a:r>
              <a:rPr dirty="0" sz="2800" spc="-20" b="1" i="1">
                <a:solidFill>
                  <a:srgbClr val="FFFFFF"/>
                </a:solidFill>
                <a:latin typeface="Times New Roman"/>
                <a:cs typeface="Times New Roman"/>
              </a:rPr>
              <a:t>Ab</a:t>
            </a:r>
            <a:r>
              <a:rPr dirty="0" sz="2800" spc="-20" b="1">
                <a:solidFill>
                  <a:srgbClr val="FFFFFF"/>
                </a:solidFill>
                <a:latin typeface="宋体"/>
                <a:cs typeface="宋体"/>
              </a:rPr>
              <a:t>…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2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20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950" spc="-20" b="1" i="1">
                <a:solidFill>
                  <a:srgbClr val="FFFFFF"/>
                </a:solidFill>
                <a:latin typeface="宋体"/>
                <a:cs typeface="宋体"/>
              </a:rPr>
              <a:t>Ｖ</a:t>
            </a:r>
            <a:r>
              <a:rPr dirty="0" baseline="-25525" sz="2775" spc="-3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baseline="-25525" sz="2775" spc="3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这样的句型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59740" y="5025510"/>
            <a:ext cx="8018145" cy="1693545"/>
          </a:xfrm>
          <a:prstGeom prst="rect">
            <a:avLst/>
          </a:prstGeom>
        </p:spPr>
        <p:txBody>
          <a:bodyPr wrap="square" lIns="0" tIns="129539" rIns="0" bIns="0" rtlCol="0" vert="horz">
            <a:spAutoFit/>
          </a:bodyPr>
          <a:lstStyle/>
          <a:p>
            <a:pPr algn="r" marR="59055">
              <a:lnSpc>
                <a:spcPct val="100000"/>
              </a:lnSpc>
              <a:spcBef>
                <a:spcPts val="1019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要</a:t>
            </a:r>
            <a:r>
              <a:rPr dirty="0" u="heavy" sz="24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获得匹配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  <a:tabLst>
                <a:tab pos="498475" algn="l"/>
                <a:tab pos="1955800" algn="l"/>
              </a:tabLst>
            </a:pP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</a:t>
            </a: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Ｍ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,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)	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=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→</a:t>
            </a:r>
            <a:r>
              <a:rPr dirty="0" sz="2800" spc="-70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950" spc="-10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950" spc="-1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66FFFF"/>
                </a:solidFill>
                <a:latin typeface="宋体"/>
                <a:cs typeface="宋体"/>
              </a:rPr>
              <a:t>(</a:t>
            </a:r>
            <a:r>
              <a:rPr dirty="0" sz="2400" b="1">
                <a:solidFill>
                  <a:srgbClr val="66FFFF"/>
                </a:solidFill>
                <a:latin typeface="宋体"/>
                <a:cs typeface="宋体"/>
              </a:rPr>
              <a:t>这样在自上而下分析的推导</a:t>
            </a:r>
            <a:endParaRPr sz="2400">
              <a:latin typeface="宋体"/>
              <a:cs typeface="宋体"/>
            </a:endParaRPr>
          </a:p>
          <a:p>
            <a:pPr marL="4478655">
              <a:lnSpc>
                <a:spcPct val="100000"/>
              </a:lnSpc>
              <a:spcBef>
                <a:spcPts val="980"/>
              </a:spcBef>
            </a:pPr>
            <a:r>
              <a:rPr dirty="0" sz="2400" b="1">
                <a:solidFill>
                  <a:srgbClr val="66FFFF"/>
                </a:solidFill>
                <a:latin typeface="宋体"/>
                <a:cs typeface="宋体"/>
              </a:rPr>
              <a:t>中才可能从栈中退</a:t>
            </a:r>
            <a:r>
              <a:rPr dirty="0" sz="2400" spc="5" b="1">
                <a:solidFill>
                  <a:srgbClr val="66FFFF"/>
                </a:solidFill>
                <a:latin typeface="宋体"/>
                <a:cs typeface="宋体"/>
              </a:rPr>
              <a:t>掉</a:t>
            </a:r>
            <a:r>
              <a:rPr dirty="0" sz="2400" spc="-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2800" spc="-15" b="1">
                <a:solidFill>
                  <a:srgbClr val="66FFFF"/>
                </a:solidFill>
                <a:latin typeface="宋体"/>
                <a:cs typeface="宋体"/>
              </a:rPr>
              <a:t>。</a:t>
            </a:r>
            <a:r>
              <a:rPr dirty="0" sz="2800" spc="-760" b="1">
                <a:solidFill>
                  <a:srgbClr val="66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5231" y="26923"/>
            <a:ext cx="83781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  <a:tab pos="1797050" algn="l"/>
                <a:tab pos="55562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4.4  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分析法与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析器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4.4.2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LL(1)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4642" y="448513"/>
            <a:ext cx="1548765" cy="516255"/>
          </a:xfrm>
          <a:prstGeom prst="rect"/>
        </p:spPr>
        <p:txBody>
          <a:bodyPr wrap="square" lIns="0" tIns="65405" rIns="0" bIns="0" rtlCol="0" vert="horz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515"/>
              </a:spcBef>
              <a:buClr>
                <a:srgbClr val="99FF99"/>
              </a:buClr>
              <a:buSzPct val="114285"/>
              <a:buFont typeface="Wingdings"/>
              <a:buChar char=""/>
              <a:tabLst>
                <a:tab pos="377825" algn="l"/>
                <a:tab pos="378460" algn="l"/>
              </a:tabLst>
            </a:pPr>
            <a:r>
              <a:rPr dirty="0" sz="2800" spc="-10">
                <a:latin typeface="宋体"/>
                <a:cs typeface="宋体"/>
              </a:rPr>
              <a:t>算法</a:t>
            </a:r>
            <a:r>
              <a:rPr dirty="0" sz="2800" spc="-5"/>
              <a:t>4</a:t>
            </a:r>
            <a:r>
              <a:rPr dirty="0" sz="2800" spc="-10"/>
              <a:t>.</a:t>
            </a:r>
            <a:r>
              <a:rPr dirty="0" sz="2800" spc="-5"/>
              <a:t>4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48661" y="501853"/>
            <a:ext cx="26974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DDDDDD"/>
                </a:solidFill>
                <a:latin typeface="Times New Roman"/>
                <a:cs typeface="Times New Roman"/>
              </a:rPr>
              <a:t>LL(1)</a:t>
            </a:r>
            <a:r>
              <a:rPr dirty="0" sz="2800" spc="-10" b="1">
                <a:solidFill>
                  <a:srgbClr val="DDDDDD"/>
                </a:solidFill>
                <a:latin typeface="宋体"/>
                <a:cs typeface="宋体"/>
              </a:rPr>
              <a:t>分析表构造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3842" y="1013866"/>
            <a:ext cx="8439150" cy="5403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 marR="55880" indent="419100">
              <a:lnSpc>
                <a:spcPct val="110000"/>
              </a:lnSpc>
              <a:spcBef>
                <a:spcPts val="100"/>
              </a:spcBef>
            </a:pPr>
            <a:r>
              <a:rPr dirty="0" sz="2800" spc="135" b="1">
                <a:solidFill>
                  <a:srgbClr val="FFFF00"/>
                </a:solidFill>
                <a:latin typeface="宋体"/>
                <a:cs typeface="宋体"/>
              </a:rPr>
              <a:t>输</a:t>
            </a:r>
            <a:r>
              <a:rPr dirty="0" sz="2800" spc="150" b="1">
                <a:solidFill>
                  <a:srgbClr val="FFFF00"/>
                </a:solidFill>
                <a:latin typeface="宋体"/>
                <a:cs typeface="宋体"/>
              </a:rPr>
              <a:t>入</a:t>
            </a:r>
            <a:r>
              <a:rPr dirty="0" sz="2800" spc="16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800" spc="140" b="1">
                <a:solidFill>
                  <a:srgbClr val="FFFFFF"/>
                </a:solidFill>
                <a:latin typeface="宋体"/>
                <a:cs typeface="宋体"/>
              </a:rPr>
              <a:t>文</a:t>
            </a:r>
            <a:r>
              <a:rPr dirty="0" sz="2800" spc="15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2800" spc="14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150" b="1">
                <a:solidFill>
                  <a:srgbClr val="FFFFFF"/>
                </a:solidFill>
                <a:latin typeface="宋体"/>
                <a:cs typeface="宋体"/>
              </a:rPr>
              <a:t>候</a:t>
            </a:r>
            <a:r>
              <a:rPr dirty="0" sz="2800" spc="140" b="1">
                <a:solidFill>
                  <a:srgbClr val="FFFFFF"/>
                </a:solidFill>
                <a:latin typeface="宋体"/>
                <a:cs typeface="宋体"/>
              </a:rPr>
              <a:t>选</a:t>
            </a:r>
            <a:r>
              <a:rPr dirty="0" sz="2800" spc="150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800" spc="14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155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140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spc="150" b="1">
                <a:solidFill>
                  <a:srgbClr val="FFFFFF"/>
                </a:solidFill>
                <a:latin typeface="宋体"/>
                <a:cs typeface="宋体"/>
              </a:rPr>
              <a:t>候选</a:t>
            </a:r>
            <a:r>
              <a:rPr dirty="0" sz="2800" spc="155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FIRST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的非终结符号的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FOLLOW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集合</a:t>
            </a:r>
            <a:endParaRPr sz="2800">
              <a:latin typeface="宋体"/>
              <a:cs typeface="宋体"/>
            </a:endParaRPr>
          </a:p>
          <a:p>
            <a:pPr marL="482600">
              <a:lnSpc>
                <a:spcPct val="100000"/>
              </a:lnSpc>
              <a:spcBef>
                <a:spcPts val="1010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输出：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LL(1)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分析表</a:t>
            </a:r>
            <a:endParaRPr sz="2800">
              <a:latin typeface="宋体"/>
              <a:cs typeface="宋体"/>
            </a:endParaRPr>
          </a:p>
          <a:p>
            <a:pPr algn="ctr" marR="528320">
              <a:lnSpc>
                <a:spcPct val="100000"/>
              </a:lnSpc>
              <a:spcBef>
                <a:spcPts val="100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方法：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28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的每个产生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γ</a:t>
            </a:r>
            <a:r>
              <a:rPr dirty="0" baseline="-25525" sz="2775" spc="-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baseline="-25525" sz="2775" spc="67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γ</a:t>
            </a:r>
            <a:r>
              <a:rPr dirty="0" baseline="-25525" sz="2775" spc="-1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baseline="-25525" sz="2775" spc="22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…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γ</a:t>
            </a:r>
            <a:r>
              <a:rPr dirty="0" baseline="-25525" sz="2775" spc="-22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endParaRPr baseline="-25525" sz="2775">
              <a:latin typeface="Times New Roman"/>
              <a:cs typeface="Times New Roman"/>
            </a:endParaRPr>
          </a:p>
          <a:p>
            <a:pPr algn="ctr" marR="582295">
              <a:lnSpc>
                <a:spcPct val="100000"/>
              </a:lnSpc>
              <a:spcBef>
                <a:spcPts val="1010"/>
              </a:spcBef>
              <a:tabLst>
                <a:tab pos="316865" algn="l"/>
                <a:tab pos="2976880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	if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FIRST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γ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525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	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置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Ｍ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spc="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 =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CC00"/>
                </a:solidFill>
                <a:latin typeface="Times New Roman"/>
                <a:cs typeface="Times New Roman"/>
              </a:rPr>
              <a:t>γ</a:t>
            </a:r>
            <a:r>
              <a:rPr dirty="0" baseline="-25525" sz="2775" spc="-7" b="1" i="1">
                <a:solidFill>
                  <a:srgbClr val="FFCC00"/>
                </a:solidFill>
                <a:latin typeface="Times New Roman"/>
                <a:cs typeface="Times New Roman"/>
              </a:rPr>
              <a:t>i</a:t>
            </a:r>
            <a:r>
              <a:rPr dirty="0" baseline="-25525" sz="2775" spc="-30" b="1" i="1">
                <a:solidFill>
                  <a:srgbClr val="FFCC00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1132840">
              <a:lnSpc>
                <a:spcPct val="100000"/>
              </a:lnSpc>
              <a:spcBef>
                <a:spcPts val="1010"/>
              </a:spcBef>
              <a:tabLst>
                <a:tab pos="1617980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if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FIRST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γ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525" sz="2775" spc="-7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218565">
              <a:lnSpc>
                <a:spcPct val="100000"/>
              </a:lnSpc>
              <a:spcBef>
                <a:spcPts val="1010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28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任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何</a:t>
            </a:r>
            <a:r>
              <a:rPr dirty="0" sz="2800" spc="1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396365">
              <a:lnSpc>
                <a:spcPct val="100000"/>
              </a:lnSpc>
              <a:spcBef>
                <a:spcPts val="101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置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Ｍ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spc="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)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r>
              <a:rPr dirty="0" sz="2800" spc="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CC00"/>
                </a:solidFill>
                <a:latin typeface="Times New Roman"/>
                <a:cs typeface="Times New Roman"/>
              </a:rPr>
              <a:t>γ</a:t>
            </a:r>
            <a:r>
              <a:rPr dirty="0" baseline="-25525" sz="2775" spc="-7" b="1" i="1">
                <a:solidFill>
                  <a:srgbClr val="FFCC00"/>
                </a:solidFill>
                <a:latin typeface="Times New Roman"/>
                <a:cs typeface="Times New Roman"/>
              </a:rPr>
              <a:t>i</a:t>
            </a:r>
            <a:r>
              <a:rPr dirty="0" baseline="-25525" sz="2775" spc="337" b="1" i="1">
                <a:solidFill>
                  <a:srgbClr val="FFCC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algn="ctr" marL="353060">
              <a:lnSpc>
                <a:spcPct val="100000"/>
              </a:lnSpc>
              <a:spcBef>
                <a:spcPts val="100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else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置所有无定义的Ｍ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1021" sz="277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为出错</a:t>
            </a:r>
            <a:endParaRPr sz="2800">
              <a:latin typeface="宋体"/>
              <a:cs typeface="宋体"/>
            </a:endParaRPr>
          </a:p>
          <a:p>
            <a:pPr marL="863600">
              <a:lnSpc>
                <a:spcPct val="100000"/>
              </a:lnSpc>
              <a:spcBef>
                <a:spcPts val="101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5231" y="26923"/>
            <a:ext cx="15601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990089" y="26923"/>
            <a:ext cx="353250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4.4</a:t>
            </a:r>
            <a:r>
              <a:rPr dirty="0" sz="2000" spc="4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分析法与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48909" y="26923"/>
            <a:ext cx="28346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4.4.2</a:t>
            </a:r>
            <a:r>
              <a:rPr dirty="0" u="sng" sz="2000" spc="42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LL(1)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4331" y="694385"/>
            <a:ext cx="13627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前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4.10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07666" y="577531"/>
            <a:ext cx="2538095" cy="2999105"/>
          </a:xfrm>
          <a:prstGeom prst="rect">
            <a:avLst/>
          </a:prstGeom>
        </p:spPr>
        <p:txBody>
          <a:bodyPr wrap="square" lIns="0" tIns="128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设有文</a:t>
            </a:r>
            <a:r>
              <a:rPr dirty="0" sz="2800" spc="-10" b="1">
                <a:solidFill>
                  <a:srgbClr val="FFFF66"/>
                </a:solidFill>
                <a:latin typeface="宋体"/>
                <a:cs typeface="宋体"/>
              </a:rPr>
              <a:t>法</a:t>
            </a:r>
            <a:r>
              <a:rPr dirty="0" sz="2800" spc="-10" b="1" i="1">
                <a:solidFill>
                  <a:srgbClr val="FFFF66"/>
                </a:solidFill>
                <a:latin typeface="Times New Roman"/>
                <a:cs typeface="Times New Roman"/>
              </a:rPr>
              <a:t>G</a:t>
            </a:r>
            <a:r>
              <a:rPr dirty="0" sz="2800" spc="-10" b="1">
                <a:solidFill>
                  <a:srgbClr val="FFFF66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 i="1">
                <a:solidFill>
                  <a:srgbClr val="FFFF66"/>
                </a:solidFill>
                <a:latin typeface="Times New Roman"/>
                <a:cs typeface="Times New Roman"/>
              </a:rPr>
              <a:t>E</a:t>
            </a:r>
            <a:r>
              <a:rPr dirty="0" sz="2800" spc="-10" b="1">
                <a:solidFill>
                  <a:srgbClr val="FFFF66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FFFF66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266700">
              <a:lnSpc>
                <a:spcPct val="100000"/>
              </a:lnSpc>
              <a:spcBef>
                <a:spcPts val="915"/>
              </a:spcBef>
            </a:pP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TE</a:t>
            </a:r>
            <a:r>
              <a:rPr dirty="0" sz="2800" spc="-10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endParaRPr sz="2800">
              <a:latin typeface="Courier New"/>
              <a:cs typeface="Courier New"/>
            </a:endParaRPr>
          </a:p>
          <a:p>
            <a:pPr marL="255904" marR="113664">
              <a:lnSpc>
                <a:spcPct val="110100"/>
              </a:lnSpc>
              <a:spcBef>
                <a:spcPts val="70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→+</a:t>
            </a:r>
            <a:r>
              <a:rPr dirty="0" sz="2800" spc="-9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TE</a:t>
            </a:r>
            <a:r>
              <a:rPr dirty="0" sz="2800" spc="-5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│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  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FT</a:t>
            </a:r>
            <a:r>
              <a:rPr dirty="0" sz="2800" spc="-10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endParaRPr sz="2800">
              <a:latin typeface="Courier New"/>
              <a:cs typeface="Courier New"/>
            </a:endParaRPr>
          </a:p>
          <a:p>
            <a:pPr marL="255904" marR="246379">
              <a:lnSpc>
                <a:spcPct val="110000"/>
              </a:lnSpc>
            </a:pP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FT</a:t>
            </a:r>
            <a:r>
              <a:rPr dirty="0" sz="2800" spc="-5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│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 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)│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3742" y="3733481"/>
            <a:ext cx="7554595" cy="2171065"/>
          </a:xfrm>
          <a:prstGeom prst="rect">
            <a:avLst/>
          </a:prstGeom>
        </p:spPr>
        <p:txBody>
          <a:bodyPr wrap="square" lIns="0" tIns="2311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20"/>
              </a:spcBef>
              <a:tabLst>
                <a:tab pos="1506220" algn="l"/>
              </a:tabLst>
            </a:pPr>
            <a:r>
              <a:rPr dirty="0" u="heavy" sz="32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对</a:t>
            </a:r>
            <a:r>
              <a:rPr dirty="0" u="heavy" sz="32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E</a:t>
            </a:r>
            <a:r>
              <a:rPr dirty="0" u="heavy" sz="32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：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	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FIRST(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TE</a:t>
            </a:r>
            <a:r>
              <a:rPr dirty="0" sz="3200" b="1">
                <a:solidFill>
                  <a:srgbClr val="FFFF00"/>
                </a:solidFill>
                <a:latin typeface="Courier New"/>
                <a:cs typeface="Courier New"/>
              </a:rPr>
              <a:t>’</a:t>
            </a:r>
            <a:r>
              <a:rPr dirty="0" sz="3200" spc="-1175" b="1">
                <a:solidFill>
                  <a:srgbClr val="FFFF00"/>
                </a:solidFill>
                <a:latin typeface="Courier New"/>
                <a:cs typeface="Courier New"/>
              </a:rPr>
              <a:t>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)={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i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30"/>
              </a:spcBef>
              <a:tabLst>
                <a:tab pos="1506220" algn="l"/>
              </a:tabLst>
            </a:pPr>
            <a:r>
              <a:rPr dirty="0" u="heavy" sz="32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对</a:t>
            </a:r>
            <a:r>
              <a:rPr dirty="0" u="heavy" sz="32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T</a:t>
            </a:r>
            <a:r>
              <a:rPr dirty="0" u="heavy" sz="32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：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	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FIRST(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FT </a:t>
            </a:r>
            <a:r>
              <a:rPr dirty="0" sz="3200" b="1">
                <a:solidFill>
                  <a:srgbClr val="FFFF00"/>
                </a:solidFill>
                <a:latin typeface="Courier New"/>
                <a:cs typeface="Courier New"/>
              </a:rPr>
              <a:t>’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)={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spc="-6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  <a:tabLst>
                <a:tab pos="1483360" algn="l"/>
                <a:tab pos="4889500" algn="l"/>
              </a:tabLst>
            </a:pPr>
            <a:r>
              <a:rPr dirty="0" u="heavy" sz="32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对</a:t>
            </a:r>
            <a:r>
              <a:rPr dirty="0" u="heavy" sz="32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F</a:t>
            </a:r>
            <a:r>
              <a:rPr dirty="0" u="heavy" sz="32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：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	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FIRST(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)={</a:t>
            </a:r>
            <a:r>
              <a:rPr dirty="0" sz="3200" spc="-3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}	FIRST(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i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)={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spc="-12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5231" y="26923"/>
            <a:ext cx="15601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90089" y="26923"/>
            <a:ext cx="353250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4.4</a:t>
            </a:r>
            <a:r>
              <a:rPr dirty="0" sz="2000" spc="4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分析法与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48909" y="26923"/>
            <a:ext cx="28346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4.4.2</a:t>
            </a:r>
            <a:r>
              <a:rPr dirty="0" u="sng" sz="2000" spc="42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LL(1)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0692" y="778586"/>
            <a:ext cx="145859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32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对</a:t>
            </a:r>
            <a:r>
              <a:rPr dirty="0" u="heavy" sz="320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E</a:t>
            </a:r>
            <a:r>
              <a:rPr dirty="0" u="heavy" sz="32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urier New"/>
                <a:cs typeface="Courier New"/>
              </a:rPr>
              <a:t>’</a:t>
            </a:r>
            <a:r>
              <a:rPr dirty="0" sz="3200" spc="-120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52014" y="778586"/>
            <a:ext cx="347535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FIRST(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+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TE</a:t>
            </a:r>
            <a:r>
              <a:rPr dirty="0" sz="3200" b="1">
                <a:solidFill>
                  <a:srgbClr val="FFFF00"/>
                </a:solidFill>
                <a:latin typeface="Courier New"/>
                <a:cs typeface="Courier New"/>
              </a:rPr>
              <a:t>’</a:t>
            </a:r>
            <a:r>
              <a:rPr dirty="0" sz="3200" spc="-1230" b="1">
                <a:solidFill>
                  <a:srgbClr val="FFFF00"/>
                </a:solidFill>
                <a:latin typeface="Courier New"/>
                <a:cs typeface="Courier New"/>
              </a:rPr>
              <a:t>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)={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39823" y="1267866"/>
            <a:ext cx="4008120" cy="13423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5000"/>
              </a:lnSpc>
              <a:spcBef>
                <a:spcPts val="9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FIRST(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ε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)= {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ε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} 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800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)= { #, )</a:t>
            </a:r>
            <a:r>
              <a:rPr dirty="0" sz="3200" spc="-1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689" y="3699509"/>
            <a:ext cx="145859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32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对</a:t>
            </a:r>
            <a:r>
              <a:rPr dirty="0" u="heavy" sz="32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T</a:t>
            </a:r>
            <a:r>
              <a:rPr dirty="0" u="heavy" sz="32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urier New"/>
                <a:cs typeface="Courier New"/>
              </a:rPr>
              <a:t>’</a:t>
            </a:r>
            <a:r>
              <a:rPr dirty="0" sz="3200" spc="-120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63876" y="3554229"/>
            <a:ext cx="4317365" cy="1927225"/>
          </a:xfrm>
          <a:prstGeom prst="rect">
            <a:avLst/>
          </a:prstGeom>
        </p:spPr>
        <p:txBody>
          <a:bodyPr wrap="square" lIns="0" tIns="158115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1245"/>
              </a:spcBef>
            </a:pPr>
            <a:r>
              <a:rPr dirty="0" sz="3200" spc="-5" b="1">
                <a:solidFill>
                  <a:srgbClr val="66FFFF"/>
                </a:solidFill>
                <a:latin typeface="Times New Roman"/>
                <a:cs typeface="Times New Roman"/>
              </a:rPr>
              <a:t>FIRST(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FT</a:t>
            </a:r>
            <a:r>
              <a:rPr dirty="0" sz="2800" spc="-5" b="1">
                <a:solidFill>
                  <a:srgbClr val="FFFF00"/>
                </a:solidFill>
                <a:latin typeface="Courier New"/>
                <a:cs typeface="Courier New"/>
              </a:rPr>
              <a:t>’</a:t>
            </a:r>
            <a:r>
              <a:rPr dirty="0" sz="3200" spc="-5" b="1">
                <a:solidFill>
                  <a:srgbClr val="66FFFF"/>
                </a:solidFill>
                <a:latin typeface="Times New Roman"/>
                <a:cs typeface="Times New Roman"/>
              </a:rPr>
              <a:t>)={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3200" spc="-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4990"/>
              </a:lnSpc>
              <a:spcBef>
                <a:spcPts val="36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FIRST(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ε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)={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ε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} 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b="1">
                <a:solidFill>
                  <a:srgbClr val="FFFF00"/>
                </a:solidFill>
                <a:latin typeface="Courier New"/>
                <a:cs typeface="Courier New"/>
              </a:rPr>
              <a:t>’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)={ #, ), +</a:t>
            </a:r>
            <a:r>
              <a:rPr dirty="0" sz="3200" spc="-1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793992" y="413004"/>
            <a:ext cx="2350135" cy="995680"/>
          </a:xfrm>
          <a:custGeom>
            <a:avLst/>
            <a:gdLst/>
            <a:ahLst/>
            <a:cxnLst/>
            <a:rect l="l" t="t" r="r" b="b"/>
            <a:pathLst>
              <a:path w="2350134" h="995680">
                <a:moveTo>
                  <a:pt x="0" y="995172"/>
                </a:moveTo>
                <a:lnTo>
                  <a:pt x="2350007" y="995172"/>
                </a:lnTo>
                <a:lnTo>
                  <a:pt x="2350007" y="0"/>
                </a:lnTo>
                <a:lnTo>
                  <a:pt x="0" y="0"/>
                </a:lnTo>
                <a:lnTo>
                  <a:pt x="0" y="9951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793992" y="1484375"/>
            <a:ext cx="2350135" cy="1417320"/>
          </a:xfrm>
          <a:custGeom>
            <a:avLst/>
            <a:gdLst/>
            <a:ahLst/>
            <a:cxnLst/>
            <a:rect l="l" t="t" r="r" b="b"/>
            <a:pathLst>
              <a:path w="2350134" h="1417320">
                <a:moveTo>
                  <a:pt x="0" y="1417320"/>
                </a:moveTo>
                <a:lnTo>
                  <a:pt x="2350007" y="1417320"/>
                </a:lnTo>
                <a:lnTo>
                  <a:pt x="2350007" y="0"/>
                </a:lnTo>
                <a:lnTo>
                  <a:pt x="0" y="0"/>
                </a:lnTo>
                <a:lnTo>
                  <a:pt x="0" y="14173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874256" y="470357"/>
            <a:ext cx="13481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latin typeface="Times New Roman"/>
                <a:cs typeface="Times New Roman"/>
              </a:rPr>
              <a:t>E </a:t>
            </a:r>
            <a:r>
              <a:rPr dirty="0" sz="2800" spc="-5" b="1">
                <a:latin typeface="Times New Roman"/>
                <a:cs typeface="Times New Roman"/>
              </a:rPr>
              <a:t>→</a:t>
            </a:r>
            <a:r>
              <a:rPr dirty="0" sz="2800" spc="-85" b="1">
                <a:latin typeface="Times New Roman"/>
                <a:cs typeface="Times New Roman"/>
              </a:rPr>
              <a:t> </a:t>
            </a:r>
            <a:r>
              <a:rPr dirty="0" sz="2800" spc="-10" b="1" i="1">
                <a:latin typeface="Times New Roman"/>
                <a:cs typeface="Times New Roman"/>
              </a:rPr>
              <a:t>TE</a:t>
            </a:r>
            <a:r>
              <a:rPr dirty="0" sz="2800" spc="-10" b="1">
                <a:latin typeface="Times New Roman"/>
                <a:cs typeface="Times New Roman"/>
              </a:rPr>
              <a:t>′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74256" y="977011"/>
            <a:ext cx="19577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latin typeface="Times New Roman"/>
                <a:cs typeface="Times New Roman"/>
              </a:rPr>
              <a:t>E </a:t>
            </a:r>
            <a:r>
              <a:rPr dirty="0" sz="2800" spc="-5" b="1">
                <a:latin typeface="Times New Roman"/>
                <a:cs typeface="Times New Roman"/>
              </a:rPr>
              <a:t>' →</a:t>
            </a:r>
            <a:r>
              <a:rPr dirty="0" sz="2800" spc="-7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+</a:t>
            </a:r>
            <a:r>
              <a:rPr dirty="0" sz="2800" spc="-10" b="1" i="1">
                <a:latin typeface="Times New Roman"/>
                <a:cs typeface="Times New Roman"/>
              </a:rPr>
              <a:t>TE</a:t>
            </a:r>
            <a:r>
              <a:rPr dirty="0" sz="2800" spc="-10" b="1">
                <a:latin typeface="Times New Roman"/>
                <a:cs typeface="Times New Roman"/>
              </a:rPr>
              <a:t>'|</a:t>
            </a:r>
            <a:r>
              <a:rPr dirty="0" sz="2800" spc="-10" b="1" i="1"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74256" y="1467738"/>
            <a:ext cx="13296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latin typeface="Times New Roman"/>
                <a:cs typeface="Times New Roman"/>
              </a:rPr>
              <a:t>T </a:t>
            </a:r>
            <a:r>
              <a:rPr dirty="0" sz="2800" spc="-5" b="1">
                <a:latin typeface="Times New Roman"/>
                <a:cs typeface="Times New Roman"/>
              </a:rPr>
              <a:t>→</a:t>
            </a:r>
            <a:r>
              <a:rPr dirty="0" sz="2800" spc="-65" b="1">
                <a:latin typeface="Times New Roman"/>
                <a:cs typeface="Times New Roman"/>
              </a:rPr>
              <a:t> </a:t>
            </a:r>
            <a:r>
              <a:rPr dirty="0" sz="2800" spc="-10" b="1" i="1">
                <a:latin typeface="Times New Roman"/>
                <a:cs typeface="Times New Roman"/>
              </a:rPr>
              <a:t>FT</a:t>
            </a:r>
            <a:r>
              <a:rPr dirty="0" sz="2800" spc="-10" b="1">
                <a:latin typeface="Times New Roman"/>
                <a:cs typeface="Times New Roman"/>
              </a:rPr>
              <a:t>′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74256" y="1958720"/>
            <a:ext cx="1824989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latin typeface="Times New Roman"/>
                <a:cs typeface="Times New Roman"/>
              </a:rPr>
              <a:t>T</a:t>
            </a:r>
            <a:r>
              <a:rPr dirty="0" sz="2800" spc="-5" b="1">
                <a:latin typeface="Times New Roman"/>
                <a:cs typeface="Times New Roman"/>
              </a:rPr>
              <a:t>' →</a:t>
            </a:r>
            <a:r>
              <a:rPr dirty="0" sz="2800" spc="-7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*</a:t>
            </a:r>
            <a:r>
              <a:rPr dirty="0" sz="2800" spc="-10" b="1" i="1">
                <a:latin typeface="Times New Roman"/>
                <a:cs typeface="Times New Roman"/>
              </a:rPr>
              <a:t>FT</a:t>
            </a:r>
            <a:r>
              <a:rPr dirty="0" sz="2800" spc="-10" b="1">
                <a:latin typeface="Times New Roman"/>
                <a:cs typeface="Times New Roman"/>
              </a:rPr>
              <a:t>'|</a:t>
            </a:r>
            <a:r>
              <a:rPr dirty="0" sz="2800" spc="-10" b="1" i="1"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11009" y="2449448"/>
            <a:ext cx="23241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10765" algn="l"/>
              </a:tabLst>
            </a:pPr>
            <a:r>
              <a:rPr dirty="0" u="heavy" sz="2800" spc="-210" b="1" i="1">
                <a:uFill>
                  <a:solidFill>
                    <a:srgbClr val="FFCC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spc="-5" b="1" i="1">
                <a:uFill>
                  <a:solidFill>
                    <a:srgbClr val="FFCC00"/>
                  </a:solidFill>
                </a:uFill>
                <a:latin typeface="Times New Roman"/>
                <a:cs typeface="Times New Roman"/>
              </a:rPr>
              <a:t>F</a:t>
            </a:r>
            <a:r>
              <a:rPr dirty="0" u="heavy" sz="2800" spc="-20" b="1" i="1">
                <a:uFill>
                  <a:solidFill>
                    <a:srgbClr val="FFCC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spc="-10" b="1">
                <a:uFill>
                  <a:solidFill>
                    <a:srgbClr val="FFCC00"/>
                  </a:solidFill>
                </a:uFill>
                <a:latin typeface="Times New Roman"/>
                <a:cs typeface="Times New Roman"/>
              </a:rPr>
              <a:t>→</a:t>
            </a:r>
            <a:r>
              <a:rPr dirty="0" u="heavy" sz="2800" spc="-10" b="1">
                <a:uFill>
                  <a:solidFill>
                    <a:srgbClr val="FFCC00"/>
                  </a:solidFill>
                </a:uFill>
                <a:latin typeface="宋体"/>
                <a:cs typeface="宋体"/>
              </a:rPr>
              <a:t>（</a:t>
            </a:r>
            <a:r>
              <a:rPr dirty="0" u="heavy" sz="2800" spc="-715" b="1">
                <a:uFill>
                  <a:solidFill>
                    <a:srgbClr val="FFCC00"/>
                  </a:solidFill>
                </a:uFill>
                <a:latin typeface="宋体"/>
                <a:cs typeface="宋体"/>
              </a:rPr>
              <a:t> </a:t>
            </a:r>
            <a:r>
              <a:rPr dirty="0" u="heavy" sz="2800" spc="-15" b="1" i="1">
                <a:uFill>
                  <a:solidFill>
                    <a:srgbClr val="FFCC00"/>
                  </a:solidFill>
                </a:uFill>
                <a:latin typeface="Times New Roman"/>
                <a:cs typeface="Times New Roman"/>
              </a:rPr>
              <a:t>E</a:t>
            </a:r>
            <a:r>
              <a:rPr dirty="0" u="heavy" sz="2800" spc="-15" b="1">
                <a:uFill>
                  <a:solidFill>
                    <a:srgbClr val="FFCC00"/>
                  </a:solidFill>
                </a:uFill>
                <a:latin typeface="宋体"/>
                <a:cs typeface="宋体"/>
              </a:rPr>
              <a:t>）</a:t>
            </a:r>
            <a:r>
              <a:rPr dirty="0" u="heavy" sz="2800" spc="-715" b="1">
                <a:uFill>
                  <a:solidFill>
                    <a:srgbClr val="FFCC00"/>
                  </a:solidFill>
                </a:uFill>
                <a:latin typeface="宋体"/>
                <a:cs typeface="宋体"/>
              </a:rPr>
              <a:t> </a:t>
            </a:r>
            <a:r>
              <a:rPr dirty="0" u="heavy" sz="2800" spc="-5" b="1">
                <a:uFill>
                  <a:solidFill>
                    <a:srgbClr val="FFCC00"/>
                  </a:solidFill>
                </a:uFill>
                <a:latin typeface="Times New Roman"/>
                <a:cs typeface="Times New Roman"/>
              </a:rPr>
              <a:t>|</a:t>
            </a:r>
            <a:r>
              <a:rPr dirty="0" u="heavy" sz="2800" spc="-30" b="1">
                <a:uFill>
                  <a:solidFill>
                    <a:srgbClr val="FFCC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spc="-5" b="1" i="1">
                <a:uFill>
                  <a:solidFill>
                    <a:srgbClr val="FFCC00"/>
                  </a:solidFill>
                </a:uFill>
                <a:latin typeface="Times New Roman"/>
                <a:cs typeface="Times New Roman"/>
              </a:rPr>
              <a:t>i	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794754" y="910589"/>
            <a:ext cx="46990" cy="0"/>
          </a:xfrm>
          <a:custGeom>
            <a:avLst/>
            <a:gdLst/>
            <a:ahLst/>
            <a:cxnLst/>
            <a:rect l="l" t="t" r="r" b="b"/>
            <a:pathLst>
              <a:path w="46990" h="0">
                <a:moveTo>
                  <a:pt x="0" y="0"/>
                </a:moveTo>
                <a:lnTo>
                  <a:pt x="46481" y="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823709" y="1911857"/>
            <a:ext cx="1529080" cy="13970"/>
          </a:xfrm>
          <a:custGeom>
            <a:avLst/>
            <a:gdLst/>
            <a:ahLst/>
            <a:cxnLst/>
            <a:rect l="l" t="t" r="r" b="b"/>
            <a:pathLst>
              <a:path w="1529079" h="13969">
                <a:moveTo>
                  <a:pt x="0" y="13715"/>
                </a:moveTo>
                <a:lnTo>
                  <a:pt x="1528572" y="0"/>
                </a:lnTo>
              </a:path>
            </a:pathLst>
          </a:custGeom>
          <a:ln w="38100">
            <a:solidFill>
              <a:srgbClr val="61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867906" y="2411729"/>
            <a:ext cx="2054860" cy="13970"/>
          </a:xfrm>
          <a:custGeom>
            <a:avLst/>
            <a:gdLst/>
            <a:ahLst/>
            <a:cxnLst/>
            <a:rect l="l" t="t" r="r" b="b"/>
            <a:pathLst>
              <a:path w="2054859" h="13969">
                <a:moveTo>
                  <a:pt x="0" y="13716"/>
                </a:moveTo>
                <a:lnTo>
                  <a:pt x="2054352" y="0"/>
                </a:lnTo>
              </a:path>
            </a:pathLst>
          </a:custGeom>
          <a:ln w="38099">
            <a:solidFill>
              <a:srgbClr val="61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793992" y="1408175"/>
            <a:ext cx="2350135" cy="76200"/>
          </a:xfrm>
          <a:custGeom>
            <a:avLst/>
            <a:gdLst/>
            <a:ahLst/>
            <a:cxnLst/>
            <a:rect l="l" t="t" r="r" b="b"/>
            <a:pathLst>
              <a:path w="2350134" h="76200">
                <a:moveTo>
                  <a:pt x="0" y="76200"/>
                </a:moveTo>
                <a:lnTo>
                  <a:pt x="2350007" y="76200"/>
                </a:lnTo>
                <a:lnTo>
                  <a:pt x="2350007" y="0"/>
                </a:ln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841235" y="923544"/>
            <a:ext cx="2303145" cy="0"/>
          </a:xfrm>
          <a:custGeom>
            <a:avLst/>
            <a:gdLst/>
            <a:ahLst/>
            <a:cxnLst/>
            <a:rect l="l" t="t" r="r" b="b"/>
            <a:pathLst>
              <a:path w="2303145" h="0">
                <a:moveTo>
                  <a:pt x="0" y="0"/>
                </a:moveTo>
                <a:lnTo>
                  <a:pt x="2302763" y="0"/>
                </a:lnTo>
              </a:path>
            </a:pathLst>
          </a:custGeom>
          <a:ln w="762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4968" y="3037332"/>
          <a:ext cx="8935085" cy="3558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3919"/>
                <a:gridCol w="1431290"/>
                <a:gridCol w="1371600"/>
                <a:gridCol w="1094105"/>
                <a:gridCol w="1254125"/>
                <a:gridCol w="1078865"/>
                <a:gridCol w="1644015"/>
                <a:gridCol w="156845"/>
              </a:tblGrid>
              <a:tr h="5714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1594">
                        <a:lnSpc>
                          <a:spcPts val="3660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黑体"/>
                          <a:cs typeface="黑体"/>
                        </a:rPr>
                        <a:t>+</a:t>
                      </a:r>
                      <a:endParaRPr sz="3200">
                        <a:latin typeface="黑体"/>
                        <a:cs typeface="黑体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9855">
                        <a:lnSpc>
                          <a:spcPts val="3660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3845" marR="12065">
                        <a:lnSpc>
                          <a:spcPts val="3660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3660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8735">
                        <a:lnSpc>
                          <a:spcPts val="3660"/>
                        </a:lnSpc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8305">
                        <a:lnSpc>
                          <a:spcPts val="3660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614172">
                <a:tc>
                  <a:txBody>
                    <a:bodyPr/>
                    <a:lstStyle/>
                    <a:p>
                      <a:pPr marL="280670">
                        <a:lnSpc>
                          <a:spcPts val="3790"/>
                        </a:lnSpc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B="0" marT="107314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26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B="0" marT="88265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614171">
                <a:tc>
                  <a:txBody>
                    <a:bodyPr/>
                    <a:lstStyle/>
                    <a:p>
                      <a:pPr marL="280670">
                        <a:lnSpc>
                          <a:spcPts val="3550"/>
                        </a:lnSpc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3200" b="1" i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→+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B="0" marT="6604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28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800" spc="-5" b="1">
                          <a:solidFill>
                            <a:srgbClr val="FFFF00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r>
                        <a:rPr dirty="0" sz="28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8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ε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28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800" spc="-5" b="1">
                          <a:solidFill>
                            <a:srgbClr val="FFFF00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r>
                        <a:rPr dirty="0" sz="28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8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ε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280670">
                        <a:lnSpc>
                          <a:spcPts val="3760"/>
                        </a:lnSpc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905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FT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B="0" marT="8382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FT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B="0" marT="5715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629412">
                <a:tc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32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3200" spc="-5" b="1" i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B="0" marT="3175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2800" spc="-2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2800" spc="-25" b="1">
                          <a:solidFill>
                            <a:srgbClr val="FFFF00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r>
                        <a:rPr dirty="0" sz="2800" spc="-2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950" spc="-25" b="1" i="1">
                          <a:solidFill>
                            <a:srgbClr val="FFFF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2950">
                        <a:latin typeface="Symbol"/>
                        <a:cs typeface="Symbol"/>
                      </a:endParaRPr>
                    </a:p>
                  </a:txBody>
                  <a:tcPr marL="0" marR="0" marB="0" marT="508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→*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762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B="0" marT="4762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3529"/>
                        </a:lnSpc>
                      </a:pPr>
                      <a:r>
                        <a:rPr dirty="0" sz="2800" spc="-1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2800" spc="-10" b="1">
                          <a:solidFill>
                            <a:srgbClr val="FFFF00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r>
                        <a:rPr dirty="0" sz="2800" spc="-1015" b="1">
                          <a:solidFill>
                            <a:srgbClr val="FFFF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 spc="-4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950" spc="-40" b="1" i="1">
                          <a:solidFill>
                            <a:srgbClr val="FFFF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2950">
                        <a:latin typeface="Symbol"/>
                        <a:cs typeface="Symbol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800" spc="-5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2800" spc="-5" b="1">
                          <a:solidFill>
                            <a:srgbClr val="FFFF00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r>
                        <a:rPr dirty="0" sz="2800" spc="-990" b="1">
                          <a:solidFill>
                            <a:srgbClr val="FFFF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 spc="-4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950" spc="-40" b="1" i="1">
                          <a:solidFill>
                            <a:srgbClr val="FFFF00"/>
                          </a:solidFill>
                          <a:latin typeface="Symbol"/>
                          <a:cs typeface="Symbol"/>
                        </a:rPr>
                        <a:t></a:t>
                      </a:r>
                      <a:endParaRPr sz="2950">
                        <a:latin typeface="Symbol"/>
                        <a:cs typeface="Symbol"/>
                      </a:endParaRPr>
                    </a:p>
                  </a:txBody>
                  <a:tcPr marL="0" marR="0" marB="0" marT="3810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519684">
                <a:tc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marR="1206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40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2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2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761" y="464058"/>
            <a:ext cx="9143365" cy="2026920"/>
          </a:xfrm>
          <a:custGeom>
            <a:avLst/>
            <a:gdLst/>
            <a:ahLst/>
            <a:cxnLst/>
            <a:rect l="l" t="t" r="r" b="b"/>
            <a:pathLst>
              <a:path w="9143365" h="2026920">
                <a:moveTo>
                  <a:pt x="0" y="2026920"/>
                </a:moveTo>
                <a:lnTo>
                  <a:pt x="9143238" y="2026920"/>
                </a:lnTo>
                <a:lnTo>
                  <a:pt x="9143238" y="0"/>
                </a:lnTo>
                <a:lnTo>
                  <a:pt x="0" y="0"/>
                </a:lnTo>
                <a:lnTo>
                  <a:pt x="0" y="20269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2471927"/>
            <a:ext cx="9143365" cy="38100"/>
          </a:xfrm>
          <a:custGeom>
            <a:avLst/>
            <a:gdLst/>
            <a:ahLst/>
            <a:cxnLst/>
            <a:rect l="l" t="t" r="r" b="b"/>
            <a:pathLst>
              <a:path w="9143365" h="38100">
                <a:moveTo>
                  <a:pt x="0" y="38100"/>
                </a:moveTo>
                <a:lnTo>
                  <a:pt x="9143238" y="38100"/>
                </a:lnTo>
                <a:lnTo>
                  <a:pt x="9143238" y="0"/>
                </a:lnTo>
                <a:lnTo>
                  <a:pt x="0" y="0"/>
                </a:lnTo>
                <a:lnTo>
                  <a:pt x="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464058"/>
            <a:ext cx="9143365" cy="2026920"/>
          </a:xfrm>
          <a:custGeom>
            <a:avLst/>
            <a:gdLst/>
            <a:ahLst/>
            <a:cxnLst/>
            <a:rect l="l" t="t" r="r" b="b"/>
            <a:pathLst>
              <a:path w="9143365" h="2026920">
                <a:moveTo>
                  <a:pt x="9143238" y="0"/>
                </a:moveTo>
                <a:lnTo>
                  <a:pt x="0" y="0"/>
                </a:lnTo>
                <a:lnTo>
                  <a:pt x="0" y="202692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8739" y="0"/>
            <a:ext cx="8505190" cy="3077845"/>
          </a:xfrm>
          <a:prstGeom prst="rect">
            <a:avLst/>
          </a:prstGeom>
        </p:spPr>
        <p:txBody>
          <a:bodyPr wrap="square" lIns="0" tIns="182880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1440"/>
              </a:spcBef>
              <a:tabLst>
                <a:tab pos="647700" algn="l"/>
                <a:tab pos="1923414" algn="l"/>
                <a:tab pos="568261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4.4  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分析法与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析器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4.4.2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LL(1)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分析器的构造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TE</a:t>
            </a:r>
            <a:r>
              <a:rPr dirty="0" sz="2200" spc="-5" b="1">
                <a:solidFill>
                  <a:srgbClr val="FFFFFF"/>
                </a:solidFill>
                <a:latin typeface="Arial"/>
                <a:cs typeface="Arial"/>
              </a:rPr>
              <a:t>’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: </a:t>
            </a:r>
            <a:r>
              <a:rPr dirty="0" sz="2200" spc="-5" b="1">
                <a:solidFill>
                  <a:srgbClr val="66FFFF"/>
                </a:solidFill>
                <a:latin typeface="Times New Roman"/>
                <a:cs typeface="Times New Roman"/>
              </a:rPr>
              <a:t>FIRST(</a:t>
            </a:r>
            <a:r>
              <a:rPr dirty="0" sz="2200" spc="-5" b="1" i="1">
                <a:solidFill>
                  <a:srgbClr val="FFFF00"/>
                </a:solidFill>
                <a:latin typeface="Times New Roman"/>
                <a:cs typeface="Times New Roman"/>
              </a:rPr>
              <a:t>TE</a:t>
            </a:r>
            <a:r>
              <a:rPr dirty="0" sz="2200" spc="-5" b="1">
                <a:solidFill>
                  <a:srgbClr val="FFFF00"/>
                </a:solidFill>
                <a:latin typeface="Courier New"/>
                <a:cs typeface="Courier New"/>
              </a:rPr>
              <a:t>’</a:t>
            </a:r>
            <a:r>
              <a:rPr dirty="0" sz="2200" spc="-735" b="1">
                <a:solidFill>
                  <a:srgbClr val="FFFF00"/>
                </a:solidFill>
                <a:latin typeface="Courier New"/>
                <a:cs typeface="Courier New"/>
              </a:rPr>
              <a:t> </a:t>
            </a:r>
            <a:r>
              <a:rPr dirty="0" sz="2200" spc="-5" b="1">
                <a:solidFill>
                  <a:srgbClr val="66FFFF"/>
                </a:solidFill>
                <a:latin typeface="Times New Roman"/>
                <a:cs typeface="Times New Roman"/>
              </a:rPr>
              <a:t>)={</a:t>
            </a:r>
            <a:r>
              <a:rPr dirty="0" sz="22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200" spc="-5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2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2200" spc="-5" b="1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  <a:tabLst>
                <a:tab pos="3714750" algn="l"/>
                <a:tab pos="5470525" algn="l"/>
              </a:tabLst>
            </a:pP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'→+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TE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'|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dirty="0" sz="2200" spc="-5" b="1">
                <a:solidFill>
                  <a:srgbClr val="66FFFF"/>
                </a:solidFill>
                <a:latin typeface="Times New Roman"/>
                <a:cs typeface="Times New Roman"/>
              </a:rPr>
              <a:t>FIRST(+</a:t>
            </a:r>
            <a:r>
              <a:rPr dirty="0" sz="2200" spc="-5" b="1" i="1">
                <a:solidFill>
                  <a:srgbClr val="66FFFF"/>
                </a:solidFill>
                <a:latin typeface="Times New Roman"/>
                <a:cs typeface="Times New Roman"/>
              </a:rPr>
              <a:t>TE</a:t>
            </a:r>
            <a:r>
              <a:rPr dirty="0" sz="2200" spc="-5" b="1">
                <a:solidFill>
                  <a:srgbClr val="66FFFF"/>
                </a:solidFill>
                <a:latin typeface="Times New Roman"/>
                <a:cs typeface="Times New Roman"/>
              </a:rPr>
              <a:t>’)={</a:t>
            </a:r>
            <a:r>
              <a:rPr dirty="0" sz="2200" spc="-5" b="1">
                <a:solidFill>
                  <a:srgbClr val="FFCC00"/>
                </a:solidFill>
                <a:latin typeface="Times New Roman"/>
                <a:cs typeface="Times New Roman"/>
              </a:rPr>
              <a:t>+</a:t>
            </a:r>
            <a:r>
              <a:rPr dirty="0" sz="2200" spc="-5" b="1">
                <a:solidFill>
                  <a:srgbClr val="66FFFF"/>
                </a:solidFill>
                <a:latin typeface="Times New Roman"/>
                <a:cs typeface="Times New Roman"/>
              </a:rPr>
              <a:t>}	FIRST(</a:t>
            </a:r>
            <a:r>
              <a:rPr dirty="0" sz="2200" spc="-5" b="1" i="1">
                <a:solidFill>
                  <a:srgbClr val="66FFFF"/>
                </a:solidFill>
                <a:latin typeface="Times New Roman"/>
                <a:cs typeface="Times New Roman"/>
              </a:rPr>
              <a:t>ε</a:t>
            </a:r>
            <a:r>
              <a:rPr dirty="0" sz="2200" spc="-5" b="1">
                <a:solidFill>
                  <a:srgbClr val="66FFFF"/>
                </a:solidFill>
                <a:latin typeface="Times New Roman"/>
                <a:cs typeface="Times New Roman"/>
              </a:rPr>
              <a:t>)={</a:t>
            </a:r>
            <a:r>
              <a:rPr dirty="0" sz="2200" spc="-5" b="1" i="1">
                <a:solidFill>
                  <a:srgbClr val="66FFFF"/>
                </a:solidFill>
                <a:latin typeface="Times New Roman"/>
                <a:cs typeface="Times New Roman"/>
              </a:rPr>
              <a:t>ε</a:t>
            </a:r>
            <a:r>
              <a:rPr dirty="0" sz="2200" spc="-5" b="1">
                <a:solidFill>
                  <a:srgbClr val="66FFFF"/>
                </a:solidFill>
                <a:latin typeface="Times New Roman"/>
                <a:cs typeface="Times New Roman"/>
              </a:rPr>
              <a:t>}	FOLLOW(</a:t>
            </a:r>
            <a:r>
              <a:rPr dirty="0" sz="2200" spc="-5" b="1" i="1">
                <a:solidFill>
                  <a:srgbClr val="66FFFF"/>
                </a:solidFill>
                <a:latin typeface="Times New Roman"/>
                <a:cs typeface="Times New Roman"/>
              </a:rPr>
              <a:t>E</a:t>
            </a:r>
            <a:r>
              <a:rPr dirty="0" sz="2200" spc="-5" b="1">
                <a:solidFill>
                  <a:srgbClr val="66FFFF"/>
                </a:solidFill>
                <a:latin typeface="Times New Roman"/>
                <a:cs typeface="Times New Roman"/>
              </a:rPr>
              <a:t>’)= { </a:t>
            </a:r>
            <a:r>
              <a:rPr dirty="0" sz="2200" spc="-5" b="1">
                <a:solidFill>
                  <a:srgbClr val="FFCC00"/>
                </a:solidFill>
                <a:latin typeface="Times New Roman"/>
                <a:cs typeface="Times New Roman"/>
              </a:rPr>
              <a:t>#, )</a:t>
            </a:r>
            <a:r>
              <a:rPr dirty="0" sz="2200" spc="10" b="1">
                <a:solidFill>
                  <a:srgbClr val="FFCC00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FT</a:t>
            </a:r>
            <a:r>
              <a:rPr dirty="0" sz="2200" spc="-5" b="1">
                <a:solidFill>
                  <a:srgbClr val="FFFFFF"/>
                </a:solidFill>
                <a:latin typeface="Arial"/>
                <a:cs typeface="Arial"/>
              </a:rPr>
              <a:t>’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: </a:t>
            </a:r>
            <a:r>
              <a:rPr dirty="0" sz="2200" spc="-5" b="1">
                <a:solidFill>
                  <a:srgbClr val="66FFFF"/>
                </a:solidFill>
                <a:latin typeface="Times New Roman"/>
                <a:cs typeface="Times New Roman"/>
              </a:rPr>
              <a:t>FIRST( </a:t>
            </a:r>
            <a:r>
              <a:rPr dirty="0" sz="2200" spc="-5" b="1" i="1">
                <a:solidFill>
                  <a:srgbClr val="FFFF00"/>
                </a:solidFill>
                <a:latin typeface="Times New Roman"/>
                <a:cs typeface="Times New Roman"/>
              </a:rPr>
              <a:t>FT</a:t>
            </a:r>
            <a:r>
              <a:rPr dirty="0" sz="2200" spc="4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FFFF00"/>
                </a:solidFill>
                <a:latin typeface="Courier New"/>
                <a:cs typeface="Courier New"/>
              </a:rPr>
              <a:t>’</a:t>
            </a:r>
            <a:r>
              <a:rPr dirty="0" sz="2200" spc="-5" b="1">
                <a:solidFill>
                  <a:srgbClr val="66FFFF"/>
                </a:solidFill>
                <a:latin typeface="Times New Roman"/>
                <a:cs typeface="Times New Roman"/>
              </a:rPr>
              <a:t>)={</a:t>
            </a:r>
            <a:r>
              <a:rPr dirty="0" sz="22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200" spc="-5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2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2200" spc="-5" b="1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  <a:tabLst>
                <a:tab pos="3642360" algn="l"/>
                <a:tab pos="5398770" algn="l"/>
              </a:tabLst>
            </a:pP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'→*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FT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'|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2200" spc="-5" b="1">
                <a:solidFill>
                  <a:srgbClr val="66FFFF"/>
                </a:solidFill>
                <a:latin typeface="Times New Roman"/>
                <a:cs typeface="Times New Roman"/>
              </a:rPr>
              <a:t>:FIRST(*</a:t>
            </a:r>
            <a:r>
              <a:rPr dirty="0" sz="2200" spc="-5" b="1" i="1">
                <a:solidFill>
                  <a:srgbClr val="66FFFF"/>
                </a:solidFill>
                <a:latin typeface="Times New Roman"/>
                <a:cs typeface="Times New Roman"/>
              </a:rPr>
              <a:t>FT</a:t>
            </a:r>
            <a:r>
              <a:rPr dirty="0" sz="2200" spc="-5" b="1">
                <a:solidFill>
                  <a:srgbClr val="66FFFF"/>
                </a:solidFill>
                <a:latin typeface="Times New Roman"/>
                <a:cs typeface="Times New Roman"/>
              </a:rPr>
              <a:t>’)={</a:t>
            </a:r>
            <a:r>
              <a:rPr dirty="0" sz="2200" spc="-5" b="1">
                <a:solidFill>
                  <a:srgbClr val="FFCC00"/>
                </a:solidFill>
                <a:latin typeface="Times New Roman"/>
                <a:cs typeface="Times New Roman"/>
              </a:rPr>
              <a:t>*</a:t>
            </a:r>
            <a:r>
              <a:rPr dirty="0" sz="2200" spc="-5" b="1">
                <a:solidFill>
                  <a:srgbClr val="66FFFF"/>
                </a:solidFill>
                <a:latin typeface="Times New Roman"/>
                <a:cs typeface="Times New Roman"/>
              </a:rPr>
              <a:t>}	FIRST(</a:t>
            </a:r>
            <a:r>
              <a:rPr dirty="0" sz="2200" spc="-5" b="1" i="1">
                <a:solidFill>
                  <a:srgbClr val="66FFFF"/>
                </a:solidFill>
                <a:latin typeface="Times New Roman"/>
                <a:cs typeface="Times New Roman"/>
              </a:rPr>
              <a:t>ε</a:t>
            </a:r>
            <a:r>
              <a:rPr dirty="0" sz="2200" spc="-5" b="1">
                <a:solidFill>
                  <a:srgbClr val="66FFFF"/>
                </a:solidFill>
                <a:latin typeface="Times New Roman"/>
                <a:cs typeface="Times New Roman"/>
              </a:rPr>
              <a:t>)={</a:t>
            </a:r>
            <a:r>
              <a:rPr dirty="0" sz="2200" spc="-5" b="1" i="1">
                <a:solidFill>
                  <a:srgbClr val="66FFFF"/>
                </a:solidFill>
                <a:latin typeface="Times New Roman"/>
                <a:cs typeface="Times New Roman"/>
              </a:rPr>
              <a:t>ε</a:t>
            </a:r>
            <a:r>
              <a:rPr dirty="0" sz="2200" spc="-5" b="1">
                <a:solidFill>
                  <a:srgbClr val="66FFFF"/>
                </a:solidFill>
                <a:latin typeface="Times New Roman"/>
                <a:cs typeface="Times New Roman"/>
              </a:rPr>
              <a:t>}	FOLLOW(</a:t>
            </a:r>
            <a:r>
              <a:rPr dirty="0" sz="2200" spc="-5" b="1" i="1">
                <a:solidFill>
                  <a:srgbClr val="66FFFF"/>
                </a:solidFill>
                <a:latin typeface="Times New Roman"/>
                <a:cs typeface="Times New Roman"/>
              </a:rPr>
              <a:t>T</a:t>
            </a:r>
            <a:r>
              <a:rPr dirty="0" sz="2200" spc="-5" b="1">
                <a:solidFill>
                  <a:srgbClr val="66FFFF"/>
                </a:solidFill>
                <a:latin typeface="Times New Roman"/>
                <a:cs typeface="Times New Roman"/>
              </a:rPr>
              <a:t>’)={ </a:t>
            </a:r>
            <a:r>
              <a:rPr dirty="0" sz="2200" spc="-5" b="1">
                <a:solidFill>
                  <a:srgbClr val="FFCC00"/>
                </a:solidFill>
                <a:latin typeface="Times New Roman"/>
                <a:cs typeface="Times New Roman"/>
              </a:rPr>
              <a:t>#, ),+</a:t>
            </a:r>
            <a:r>
              <a:rPr dirty="0" sz="2200" spc="40" b="1">
                <a:solidFill>
                  <a:srgbClr val="FFCC00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  <a:tabLst>
                <a:tab pos="3427095" algn="l"/>
              </a:tabLst>
            </a:pP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→(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200" spc="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200" spc="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dirty="0" sz="2200" spc="-5" b="1">
                <a:solidFill>
                  <a:srgbClr val="66FFFF"/>
                </a:solidFill>
                <a:latin typeface="Times New Roman"/>
                <a:cs typeface="Times New Roman"/>
              </a:rPr>
              <a:t>FIRST(</a:t>
            </a:r>
            <a:r>
              <a:rPr dirty="0" sz="22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2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22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200" spc="-5" b="1">
                <a:solidFill>
                  <a:srgbClr val="66FFFF"/>
                </a:solidFill>
                <a:latin typeface="Times New Roman"/>
                <a:cs typeface="Times New Roman"/>
              </a:rPr>
              <a:t>)={</a:t>
            </a:r>
            <a:r>
              <a:rPr dirty="0" sz="22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200" spc="-5" b="1">
                <a:solidFill>
                  <a:srgbClr val="66FFFF"/>
                </a:solidFill>
                <a:latin typeface="Times New Roman"/>
                <a:cs typeface="Times New Roman"/>
              </a:rPr>
              <a:t>}	FIRST( </a:t>
            </a:r>
            <a:r>
              <a:rPr dirty="0" sz="22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2200" spc="1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66FFFF"/>
                </a:solidFill>
                <a:latin typeface="Times New Roman"/>
                <a:cs typeface="Times New Roman"/>
              </a:rPr>
              <a:t>)={</a:t>
            </a:r>
            <a:r>
              <a:rPr dirty="0" sz="2200" spc="-5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2200" spc="-5" b="1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algn="ctr" marL="71120">
              <a:lnSpc>
                <a:spcPct val="100000"/>
              </a:lnSpc>
              <a:spcBef>
                <a:spcPts val="680"/>
              </a:spcBef>
            </a:pP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文法</a:t>
            </a:r>
            <a:r>
              <a:rPr dirty="0" sz="2800" spc="-5" b="1" i="1">
                <a:solidFill>
                  <a:srgbClr val="FFFF66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66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)</a:t>
            </a:r>
            <a:r>
              <a:rPr dirty="0" sz="2800" b="1">
                <a:solidFill>
                  <a:srgbClr val="FFFF66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LL(1)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分析表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0588" y="644778"/>
            <a:ext cx="27990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582545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33CC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9277" y="1715261"/>
            <a:ext cx="1485900" cy="0"/>
          </a:xfrm>
          <a:custGeom>
            <a:avLst/>
            <a:gdLst/>
            <a:ahLst/>
            <a:cxnLst/>
            <a:rect l="l" t="t" r="r" b="b"/>
            <a:pathLst>
              <a:path w="1485900" h="0">
                <a:moveTo>
                  <a:pt x="0" y="0"/>
                </a:moveTo>
                <a:lnTo>
                  <a:pt x="1485899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19277" y="2192273"/>
            <a:ext cx="1485900" cy="0"/>
          </a:xfrm>
          <a:custGeom>
            <a:avLst/>
            <a:gdLst/>
            <a:ahLst/>
            <a:cxnLst/>
            <a:rect l="l" t="t" r="r" b="b"/>
            <a:pathLst>
              <a:path w="1485900" h="0">
                <a:moveTo>
                  <a:pt x="0" y="0"/>
                </a:moveTo>
                <a:lnTo>
                  <a:pt x="1485899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09877" y="1715261"/>
            <a:ext cx="0" cy="477520"/>
          </a:xfrm>
          <a:custGeom>
            <a:avLst/>
            <a:gdLst/>
            <a:ahLst/>
            <a:cxnLst/>
            <a:rect l="l" t="t" r="r" b="b"/>
            <a:pathLst>
              <a:path w="0" h="477519">
                <a:moveTo>
                  <a:pt x="0" y="0"/>
                </a:moveTo>
                <a:lnTo>
                  <a:pt x="0" y="47701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19277" y="1715261"/>
            <a:ext cx="533400" cy="47752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3615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'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52677" y="1715261"/>
            <a:ext cx="0" cy="477520"/>
          </a:xfrm>
          <a:custGeom>
            <a:avLst/>
            <a:gdLst/>
            <a:ahLst/>
            <a:cxnLst/>
            <a:rect l="l" t="t" r="r" b="b"/>
            <a:pathLst>
              <a:path w="0" h="477519">
                <a:moveTo>
                  <a:pt x="0" y="0"/>
                </a:moveTo>
                <a:lnTo>
                  <a:pt x="0" y="47701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52677" y="1678000"/>
            <a:ext cx="3199765" cy="51435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13335" rIns="0" bIns="0" rtlCol="0" vert="horz">
            <a:spAutoFit/>
          </a:bodyPr>
          <a:lstStyle/>
          <a:p>
            <a:pPr marL="154940">
              <a:lnSpc>
                <a:spcPct val="100000"/>
              </a:lnSpc>
              <a:spcBef>
                <a:spcPts val="105"/>
              </a:spcBef>
              <a:tabLst>
                <a:tab pos="2026920" algn="l"/>
                <a:tab pos="2982595" algn="l"/>
              </a:tabLst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（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33CC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52677" y="4101846"/>
            <a:ext cx="2223770" cy="814069"/>
          </a:xfrm>
          <a:custGeom>
            <a:avLst/>
            <a:gdLst/>
            <a:ahLst/>
            <a:cxnLst/>
            <a:rect l="l" t="t" r="r" b="b"/>
            <a:pathLst>
              <a:path w="2223770" h="814070">
                <a:moveTo>
                  <a:pt x="0" y="813815"/>
                </a:moveTo>
                <a:lnTo>
                  <a:pt x="2223516" y="813815"/>
                </a:lnTo>
                <a:lnTo>
                  <a:pt x="2223516" y="0"/>
                </a:lnTo>
                <a:lnTo>
                  <a:pt x="0" y="0"/>
                </a:lnTo>
                <a:lnTo>
                  <a:pt x="0" y="813815"/>
                </a:lnTo>
                <a:close/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931265" y="4129532"/>
            <a:ext cx="1976120" cy="752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86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匹配（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ts val="2860"/>
              </a:lnSpc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pop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,Push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0990" y="2588514"/>
            <a:ext cx="1485900" cy="390525"/>
          </a:xfrm>
          <a:prstGeom prst="rect">
            <a:avLst/>
          </a:prstGeom>
          <a:ln w="38100">
            <a:solidFill>
              <a:srgbClr val="00FF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870"/>
              </a:lnSpc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Push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4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'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82039" y="2116073"/>
            <a:ext cx="114300" cy="467995"/>
          </a:xfrm>
          <a:custGeom>
            <a:avLst/>
            <a:gdLst/>
            <a:ahLst/>
            <a:cxnLst/>
            <a:rect l="l" t="t" r="r" b="b"/>
            <a:pathLst>
              <a:path w="114300" h="467994">
                <a:moveTo>
                  <a:pt x="38100" y="353567"/>
                </a:moveTo>
                <a:lnTo>
                  <a:pt x="0" y="353567"/>
                </a:lnTo>
                <a:lnTo>
                  <a:pt x="57150" y="467867"/>
                </a:lnTo>
                <a:lnTo>
                  <a:pt x="104775" y="372617"/>
                </a:lnTo>
                <a:lnTo>
                  <a:pt x="38100" y="372617"/>
                </a:lnTo>
                <a:lnTo>
                  <a:pt x="38100" y="353567"/>
                </a:lnTo>
                <a:close/>
              </a:path>
              <a:path w="114300" h="467994">
                <a:moveTo>
                  <a:pt x="76200" y="0"/>
                </a:moveTo>
                <a:lnTo>
                  <a:pt x="38100" y="0"/>
                </a:lnTo>
                <a:lnTo>
                  <a:pt x="38100" y="372617"/>
                </a:lnTo>
                <a:lnTo>
                  <a:pt x="76200" y="372617"/>
                </a:lnTo>
                <a:lnTo>
                  <a:pt x="76200" y="0"/>
                </a:lnTo>
                <a:close/>
              </a:path>
              <a:path w="114300" h="467994">
                <a:moveTo>
                  <a:pt x="114300" y="353567"/>
                </a:moveTo>
                <a:lnTo>
                  <a:pt x="76200" y="353567"/>
                </a:lnTo>
                <a:lnTo>
                  <a:pt x="76200" y="372617"/>
                </a:lnTo>
                <a:lnTo>
                  <a:pt x="104775" y="372617"/>
                </a:lnTo>
                <a:lnTo>
                  <a:pt x="114300" y="353567"/>
                </a:lnTo>
                <a:close/>
              </a:path>
            </a:pathLst>
          </a:custGeom>
          <a:solidFill>
            <a:srgbClr val="FF33CC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281940" y="3354323"/>
          <a:ext cx="1980564" cy="513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/>
                <a:gridCol w="609600"/>
                <a:gridCol w="495300"/>
                <a:gridCol w="285114"/>
              </a:tblGrid>
              <a:tr h="475488">
                <a:tc>
                  <a:txBody>
                    <a:bodyPr/>
                    <a:lstStyle/>
                    <a:p>
                      <a:pPr marL="128270">
                        <a:lnSpc>
                          <a:spcPts val="3615"/>
                        </a:lnSpc>
                      </a:pPr>
                      <a:r>
                        <a:rPr dirty="0" sz="32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32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ts val="3615"/>
                        </a:lnSpc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3200" spc="-7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3615"/>
                        </a:lnSpc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3922521" y="3393440"/>
            <a:ext cx="118491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68375" algn="l"/>
              </a:tabLst>
            </a:pPr>
            <a:r>
              <a:rPr dirty="0" sz="3200" spc="5" b="1">
                <a:solidFill>
                  <a:srgbClr val="00FFFF"/>
                </a:solidFill>
                <a:latin typeface="宋体"/>
                <a:cs typeface="宋体"/>
              </a:rPr>
              <a:t>（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33CC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556385" y="26923"/>
            <a:ext cx="15589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05378" y="26923"/>
            <a:ext cx="43065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4.3</a:t>
            </a:r>
            <a:r>
              <a:rPr dirty="0" u="sng" sz="2000" spc="42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递归下降分析法和递归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下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降分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74923" y="5060696"/>
            <a:ext cx="118491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774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3200" spc="-5" b="1">
                <a:solidFill>
                  <a:srgbClr val="00FFFF"/>
                </a:solidFill>
                <a:latin typeface="Times New Roman"/>
                <a:cs typeface="Times New Roman"/>
              </a:rPr>
              <a:t>+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33CC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188464" y="5679185"/>
            <a:ext cx="114300" cy="381000"/>
          </a:xfrm>
          <a:custGeom>
            <a:avLst/>
            <a:gdLst/>
            <a:ahLst/>
            <a:cxnLst/>
            <a:rect l="l" t="t" r="r" b="b"/>
            <a:pathLst>
              <a:path w="114300" h="381000">
                <a:moveTo>
                  <a:pt x="38100" y="266700"/>
                </a:moveTo>
                <a:lnTo>
                  <a:pt x="0" y="266700"/>
                </a:lnTo>
                <a:lnTo>
                  <a:pt x="57150" y="380999"/>
                </a:lnTo>
                <a:lnTo>
                  <a:pt x="104775" y="285750"/>
                </a:lnTo>
                <a:lnTo>
                  <a:pt x="38100" y="285750"/>
                </a:lnTo>
                <a:lnTo>
                  <a:pt x="38100" y="266700"/>
                </a:lnTo>
                <a:close/>
              </a:path>
              <a:path w="114300" h="381000">
                <a:moveTo>
                  <a:pt x="76200" y="0"/>
                </a:moveTo>
                <a:lnTo>
                  <a:pt x="38100" y="0"/>
                </a:lnTo>
                <a:lnTo>
                  <a:pt x="38100" y="285750"/>
                </a:lnTo>
                <a:lnTo>
                  <a:pt x="76200" y="285750"/>
                </a:lnTo>
                <a:lnTo>
                  <a:pt x="76200" y="0"/>
                </a:lnTo>
                <a:close/>
              </a:path>
              <a:path w="114300" h="381000">
                <a:moveTo>
                  <a:pt x="114300" y="266700"/>
                </a:moveTo>
                <a:lnTo>
                  <a:pt x="76200" y="266700"/>
                </a:lnTo>
                <a:lnTo>
                  <a:pt x="76200" y="285750"/>
                </a:lnTo>
                <a:lnTo>
                  <a:pt x="104775" y="285750"/>
                </a:lnTo>
                <a:lnTo>
                  <a:pt x="114300" y="266700"/>
                </a:lnTo>
                <a:close/>
              </a:path>
            </a:pathLst>
          </a:custGeom>
          <a:solidFill>
            <a:srgbClr val="FF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32637" y="6037326"/>
            <a:ext cx="2792095" cy="342900"/>
          </a:xfrm>
          <a:prstGeom prst="rect">
            <a:avLst/>
          </a:prstGeom>
          <a:ln w="38100">
            <a:solidFill>
              <a:srgbClr val="00FF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600"/>
              </a:lnSpc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pop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,Push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'</a:t>
            </a:r>
            <a:r>
              <a:rPr dirty="0" sz="24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671827" y="3754373"/>
            <a:ext cx="114300" cy="381000"/>
          </a:xfrm>
          <a:custGeom>
            <a:avLst/>
            <a:gdLst/>
            <a:ahLst/>
            <a:cxnLst/>
            <a:rect l="l" t="t" r="r" b="b"/>
            <a:pathLst>
              <a:path w="114300" h="381000">
                <a:moveTo>
                  <a:pt x="38100" y="266700"/>
                </a:moveTo>
                <a:lnTo>
                  <a:pt x="0" y="266700"/>
                </a:lnTo>
                <a:lnTo>
                  <a:pt x="57150" y="381000"/>
                </a:lnTo>
                <a:lnTo>
                  <a:pt x="104775" y="285750"/>
                </a:lnTo>
                <a:lnTo>
                  <a:pt x="38100" y="285750"/>
                </a:lnTo>
                <a:lnTo>
                  <a:pt x="38100" y="266700"/>
                </a:lnTo>
                <a:close/>
              </a:path>
              <a:path w="114300" h="381000">
                <a:moveTo>
                  <a:pt x="76200" y="0"/>
                </a:moveTo>
                <a:lnTo>
                  <a:pt x="38100" y="0"/>
                </a:lnTo>
                <a:lnTo>
                  <a:pt x="38100" y="285750"/>
                </a:lnTo>
                <a:lnTo>
                  <a:pt x="76200" y="285750"/>
                </a:lnTo>
                <a:lnTo>
                  <a:pt x="76200" y="0"/>
                </a:lnTo>
                <a:close/>
              </a:path>
              <a:path w="114300" h="381000">
                <a:moveTo>
                  <a:pt x="114300" y="266700"/>
                </a:moveTo>
                <a:lnTo>
                  <a:pt x="76200" y="266700"/>
                </a:lnTo>
                <a:lnTo>
                  <a:pt x="76200" y="285750"/>
                </a:lnTo>
                <a:lnTo>
                  <a:pt x="104775" y="285750"/>
                </a:lnTo>
                <a:lnTo>
                  <a:pt x="114300" y="266700"/>
                </a:lnTo>
                <a:close/>
              </a:path>
            </a:pathLst>
          </a:custGeom>
          <a:solidFill>
            <a:srgbClr val="FF33CC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300227" y="5146547"/>
          <a:ext cx="2325370" cy="558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/>
                <a:gridCol w="591185"/>
                <a:gridCol w="513715"/>
                <a:gridCol w="609600"/>
              </a:tblGrid>
              <a:tr h="516635"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32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32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16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3200" spc="-8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16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16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16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3877055" y="6099047"/>
          <a:ext cx="2857500" cy="563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/>
                <a:gridCol w="591819"/>
                <a:gridCol w="512444"/>
                <a:gridCol w="456564"/>
                <a:gridCol w="475614"/>
                <a:gridCol w="208914"/>
              </a:tblGrid>
              <a:tr h="507492">
                <a:tc>
                  <a:txBody>
                    <a:bodyPr/>
                    <a:lstStyle/>
                    <a:p>
                      <a:pPr marL="128905">
                        <a:lnSpc>
                          <a:spcPts val="3750"/>
                        </a:lnSpc>
                        <a:spcBef>
                          <a:spcPts val="145"/>
                        </a:spcBef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415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3750"/>
                        </a:lnSpc>
                        <a:spcBef>
                          <a:spcPts val="145"/>
                        </a:spcBef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3200" spc="-8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415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3750"/>
                        </a:lnSpc>
                        <a:spcBef>
                          <a:spcPts val="145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）</a:t>
                      </a:r>
                      <a:endParaRPr sz="3200">
                        <a:latin typeface="宋体"/>
                        <a:cs typeface="宋体"/>
                      </a:endParaRPr>
                    </a:p>
                  </a:txBody>
                  <a:tcPr marL="0" marR="0" marB="0" marT="18415">
                    <a:lnL w="38100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3750"/>
                        </a:lnSpc>
                        <a:spcBef>
                          <a:spcPts val="145"/>
                        </a:spcBef>
                      </a:pPr>
                      <a:r>
                        <a:rPr dirty="0" sz="32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32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415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ts val="3750"/>
                        </a:lnSpc>
                        <a:spcBef>
                          <a:spcPts val="145"/>
                        </a:spcBef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415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762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5" name="object 25"/>
          <p:cNvSpPr/>
          <p:nvPr/>
        </p:nvSpPr>
        <p:spPr>
          <a:xfrm>
            <a:off x="7391400" y="3619500"/>
            <a:ext cx="1752600" cy="0"/>
          </a:xfrm>
          <a:custGeom>
            <a:avLst/>
            <a:gdLst/>
            <a:ahLst/>
            <a:cxnLst/>
            <a:rect l="l" t="t" r="r" b="b"/>
            <a:pathLst>
              <a:path w="1752600" h="0">
                <a:moveTo>
                  <a:pt x="0" y="0"/>
                </a:moveTo>
                <a:lnTo>
                  <a:pt x="1752599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397750" y="1560830"/>
            <a:ext cx="0" cy="2052320"/>
          </a:xfrm>
          <a:custGeom>
            <a:avLst/>
            <a:gdLst/>
            <a:ahLst/>
            <a:cxnLst/>
            <a:rect l="l" t="t" r="r" b="b"/>
            <a:pathLst>
              <a:path w="0" h="2052320">
                <a:moveTo>
                  <a:pt x="0" y="0"/>
                </a:moveTo>
                <a:lnTo>
                  <a:pt x="0" y="205232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391400" y="1554480"/>
            <a:ext cx="1752600" cy="0"/>
          </a:xfrm>
          <a:custGeom>
            <a:avLst/>
            <a:gdLst/>
            <a:ahLst/>
            <a:cxnLst/>
            <a:rect l="l" t="t" r="r" b="b"/>
            <a:pathLst>
              <a:path w="1752600" h="0">
                <a:moveTo>
                  <a:pt x="0" y="0"/>
                </a:moveTo>
                <a:lnTo>
                  <a:pt x="1752599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416800" y="3587750"/>
            <a:ext cx="1727200" cy="0"/>
          </a:xfrm>
          <a:custGeom>
            <a:avLst/>
            <a:gdLst/>
            <a:ahLst/>
            <a:cxnLst/>
            <a:rect l="l" t="t" r="r" b="b"/>
            <a:pathLst>
              <a:path w="1727200" h="0">
                <a:moveTo>
                  <a:pt x="0" y="0"/>
                </a:moveTo>
                <a:lnTo>
                  <a:pt x="1727199" y="0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429500" y="1598930"/>
            <a:ext cx="0" cy="1976120"/>
          </a:xfrm>
          <a:custGeom>
            <a:avLst/>
            <a:gdLst/>
            <a:ahLst/>
            <a:cxnLst/>
            <a:rect l="l" t="t" r="r" b="b"/>
            <a:pathLst>
              <a:path w="0" h="1976120">
                <a:moveTo>
                  <a:pt x="0" y="0"/>
                </a:moveTo>
                <a:lnTo>
                  <a:pt x="0" y="1976120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416800" y="1586230"/>
            <a:ext cx="1727200" cy="0"/>
          </a:xfrm>
          <a:custGeom>
            <a:avLst/>
            <a:gdLst/>
            <a:ahLst/>
            <a:cxnLst/>
            <a:rect l="l" t="t" r="r" b="b"/>
            <a:pathLst>
              <a:path w="1727200" h="0">
                <a:moveTo>
                  <a:pt x="0" y="0"/>
                </a:moveTo>
                <a:lnTo>
                  <a:pt x="1727199" y="0"/>
                </a:lnTo>
              </a:path>
            </a:pathLst>
          </a:custGeom>
          <a:ln w="254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9137650" y="1599183"/>
            <a:ext cx="0" cy="1976120"/>
          </a:xfrm>
          <a:custGeom>
            <a:avLst/>
            <a:gdLst/>
            <a:ahLst/>
            <a:cxnLst/>
            <a:rect l="l" t="t" r="r" b="b"/>
            <a:pathLst>
              <a:path w="0" h="1976120">
                <a:moveTo>
                  <a:pt x="0" y="0"/>
                </a:moveTo>
                <a:lnTo>
                  <a:pt x="0" y="1975612"/>
                </a:lnTo>
              </a:path>
            </a:pathLst>
          </a:custGeom>
          <a:ln w="12699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454900" y="3556000"/>
            <a:ext cx="1663700" cy="0"/>
          </a:xfrm>
          <a:custGeom>
            <a:avLst/>
            <a:gdLst/>
            <a:ahLst/>
            <a:cxnLst/>
            <a:rect l="l" t="t" r="r" b="b"/>
            <a:pathLst>
              <a:path w="1663700" h="0">
                <a:moveTo>
                  <a:pt x="0" y="0"/>
                </a:moveTo>
                <a:lnTo>
                  <a:pt x="1663700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461250" y="1624330"/>
            <a:ext cx="0" cy="1925320"/>
          </a:xfrm>
          <a:custGeom>
            <a:avLst/>
            <a:gdLst/>
            <a:ahLst/>
            <a:cxnLst/>
            <a:rect l="l" t="t" r="r" b="b"/>
            <a:pathLst>
              <a:path w="0" h="1925320">
                <a:moveTo>
                  <a:pt x="0" y="0"/>
                </a:moveTo>
                <a:lnTo>
                  <a:pt x="0" y="192532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454900" y="1617980"/>
            <a:ext cx="1663700" cy="0"/>
          </a:xfrm>
          <a:custGeom>
            <a:avLst/>
            <a:gdLst/>
            <a:ahLst/>
            <a:cxnLst/>
            <a:rect l="l" t="t" r="r" b="b"/>
            <a:pathLst>
              <a:path w="1663700" h="0">
                <a:moveTo>
                  <a:pt x="0" y="0"/>
                </a:moveTo>
                <a:lnTo>
                  <a:pt x="1663700" y="0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9112250" y="1624583"/>
            <a:ext cx="0" cy="1925320"/>
          </a:xfrm>
          <a:custGeom>
            <a:avLst/>
            <a:gdLst/>
            <a:ahLst/>
            <a:cxnLst/>
            <a:rect l="l" t="t" r="r" b="b"/>
            <a:pathLst>
              <a:path w="0" h="1925320">
                <a:moveTo>
                  <a:pt x="0" y="0"/>
                </a:moveTo>
                <a:lnTo>
                  <a:pt x="0" y="1924812"/>
                </a:lnTo>
              </a:path>
            </a:pathLst>
          </a:custGeom>
          <a:ln w="127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7442200" y="1497336"/>
            <a:ext cx="1676400" cy="2005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9375" marR="314960">
              <a:lnSpc>
                <a:spcPct val="129900"/>
              </a:lnSpc>
              <a:spcBef>
                <a:spcPts val="95"/>
              </a:spcBef>
            </a:pP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TE</a:t>
            </a:r>
            <a:r>
              <a:rPr dirty="0" sz="2000" spc="-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0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→+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TE </a:t>
            </a:r>
            <a:r>
              <a:rPr dirty="0" sz="2000" spc="-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 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FT </a:t>
            </a:r>
            <a:r>
              <a:rPr dirty="0" sz="20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000" spc="5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→*</a:t>
            </a:r>
            <a:r>
              <a:rPr dirty="0" sz="2000" spc="5" b="1" i="1">
                <a:solidFill>
                  <a:srgbClr val="FFFFFF"/>
                </a:solidFill>
                <a:latin typeface="Times New Roman"/>
                <a:cs typeface="Times New Roman"/>
              </a:rPr>
              <a:t>FT </a:t>
            </a:r>
            <a:r>
              <a:rPr dirty="0" sz="2000" b="1">
                <a:solidFill>
                  <a:srgbClr val="FFFFFF"/>
                </a:solidFill>
                <a:latin typeface="Symbol"/>
                <a:cs typeface="Symbol"/>
              </a:rPr>
              <a:t></a:t>
            </a:r>
            <a:r>
              <a:rPr dirty="0" sz="2000" spc="-1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1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000" spc="-15" b="1" i="1">
                <a:solidFill>
                  <a:srgbClr val="FFFFFF"/>
                </a:solidFill>
                <a:latin typeface="Times New Roman"/>
                <a:cs typeface="Times New Roman"/>
              </a:rPr>
              <a:t>ε  </a:t>
            </a: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→( </a:t>
            </a: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0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468617" y="5097017"/>
            <a:ext cx="2304415" cy="390525"/>
          </a:xfrm>
          <a:prstGeom prst="rect">
            <a:avLst/>
          </a:prstGeom>
          <a:ln w="38100">
            <a:solidFill>
              <a:srgbClr val="00FF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870"/>
              </a:lnSpc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pop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,Push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4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'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411467" y="5520690"/>
            <a:ext cx="114300" cy="597535"/>
          </a:xfrm>
          <a:custGeom>
            <a:avLst/>
            <a:gdLst/>
            <a:ahLst/>
            <a:cxnLst/>
            <a:rect l="l" t="t" r="r" b="b"/>
            <a:pathLst>
              <a:path w="114300" h="597535">
                <a:moveTo>
                  <a:pt x="76200" y="95250"/>
                </a:moveTo>
                <a:lnTo>
                  <a:pt x="38100" y="95250"/>
                </a:lnTo>
                <a:lnTo>
                  <a:pt x="38100" y="597408"/>
                </a:lnTo>
                <a:lnTo>
                  <a:pt x="76200" y="597408"/>
                </a:lnTo>
                <a:lnTo>
                  <a:pt x="76200" y="95250"/>
                </a:lnTo>
                <a:close/>
              </a:path>
              <a:path w="114300" h="59753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9753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3399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3706367" y="4110228"/>
          <a:ext cx="3919855" cy="541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5950"/>
                <a:gridCol w="855344"/>
                <a:gridCol w="597535"/>
                <a:gridCol w="546735"/>
                <a:gridCol w="585470"/>
                <a:gridCol w="403860"/>
                <a:gridCol w="224790"/>
              </a:tblGrid>
              <a:tr h="483108">
                <a:tc>
                  <a:txBody>
                    <a:bodyPr/>
                    <a:lstStyle/>
                    <a:p>
                      <a:pPr>
                        <a:lnSpc>
                          <a:spcPts val="3695"/>
                        </a:lnSpc>
                        <a:spcBef>
                          <a:spcPts val="5"/>
                        </a:spcBef>
                      </a:pPr>
                      <a:r>
                        <a:rPr dirty="0" u="sng" sz="3200" b="1" i="1">
                          <a:solidFill>
                            <a:srgbClr val="FFFFFF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3200" spc="-434" b="1" i="1">
                          <a:solidFill>
                            <a:srgbClr val="FFFFFF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3200" spc="-5" b="1" i="1">
                          <a:solidFill>
                            <a:srgbClr val="FFFFFF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u="sng" sz="3200" spc="-5" b="1">
                          <a:solidFill>
                            <a:srgbClr val="FFFFFF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Times New Roman"/>
                          <a:cs typeface="Times New Roman"/>
                        </a:rPr>
                        <a:t>' 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ts val="3695"/>
                        </a:lnSpc>
                        <a:spcBef>
                          <a:spcPts val="5"/>
                        </a:spcBef>
                        <a:tabLst>
                          <a:tab pos="848994" algn="l"/>
                        </a:tabLst>
                      </a:pPr>
                      <a:r>
                        <a:rPr dirty="0" u="sng" sz="3200" b="1" i="1">
                          <a:solidFill>
                            <a:srgbClr val="FFFFFF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u="sng" sz="3200" spc="-110" b="1" i="1">
                          <a:solidFill>
                            <a:srgbClr val="FFFFFF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3200" b="1">
                          <a:solidFill>
                            <a:srgbClr val="FFFFFF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Times New Roman"/>
                          <a:cs typeface="Times New Roman"/>
                        </a:rPr>
                        <a:t>'	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9079">
                        <a:lnSpc>
                          <a:spcPts val="3695"/>
                        </a:lnSpc>
                        <a:spcBef>
                          <a:spcPts val="5"/>
                        </a:spcBef>
                        <a:tabLst>
                          <a:tab pos="596900" algn="l"/>
                        </a:tabLst>
                      </a:pPr>
                      <a:r>
                        <a:rPr dirty="0" u="sng" sz="3200" b="1">
                          <a:solidFill>
                            <a:srgbClr val="FFFFFF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Times New Roman"/>
                          <a:cs typeface="Times New Roman"/>
                        </a:rPr>
                        <a:t>)	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3695"/>
                        </a:lnSpc>
                        <a:spcBef>
                          <a:spcPts val="5"/>
                        </a:spcBef>
                      </a:pPr>
                      <a:r>
                        <a:rPr dirty="0" u="sng" sz="3200" b="1" i="1">
                          <a:solidFill>
                            <a:srgbClr val="FFFFFF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Times New Roman"/>
                          <a:cs typeface="Times New Roman"/>
                        </a:rPr>
                        <a:t>E 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695"/>
                        </a:lnSpc>
                        <a:spcBef>
                          <a:spcPts val="5"/>
                        </a:spcBef>
                      </a:pPr>
                      <a:r>
                        <a:rPr dirty="0" u="sng" sz="3200" spc="-5" b="1">
                          <a:solidFill>
                            <a:srgbClr val="FFFFFF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Times New Roman"/>
                          <a:cs typeface="Times New Roman"/>
                        </a:rPr>
                        <a:t>'</a:t>
                      </a:r>
                      <a:r>
                        <a:rPr dirty="0" u="sng" sz="3200" spc="-5" b="1" i="1">
                          <a:solidFill>
                            <a:srgbClr val="FFFFFF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u="sng" sz="3200" spc="-55" b="1" i="1">
                          <a:solidFill>
                            <a:srgbClr val="FFFFFF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3200" b="1">
                          <a:solidFill>
                            <a:srgbClr val="FFFFFF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Times New Roman"/>
                          <a:cs typeface="Times New Roman"/>
                        </a:rPr>
                        <a:t>'</a:t>
                      </a:r>
                      <a:r>
                        <a:rPr dirty="0" u="sng" sz="3200" spc="-15" b="1">
                          <a:solidFill>
                            <a:srgbClr val="FFFFFF"/>
                          </a:solidFill>
                          <a:uFill>
                            <a:solidFill>
                              <a:srgbClr val="FFFF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ts val="3695"/>
                        </a:lnSpc>
                        <a:spcBef>
                          <a:spcPts val="5"/>
                        </a:spcBef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762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0" name="object 40"/>
          <p:cNvSpPr txBox="1"/>
          <p:nvPr/>
        </p:nvSpPr>
        <p:spPr>
          <a:xfrm>
            <a:off x="7355585" y="4064889"/>
            <a:ext cx="118491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774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3200" spc="-5" b="1">
                <a:solidFill>
                  <a:srgbClr val="00FFFF"/>
                </a:solidFill>
                <a:latin typeface="Times New Roman"/>
                <a:cs typeface="Times New Roman"/>
              </a:rPr>
              <a:t>+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99CC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168390" y="3012185"/>
            <a:ext cx="1143000" cy="472440"/>
          </a:xfrm>
          <a:prstGeom prst="rect">
            <a:avLst/>
          </a:prstGeom>
          <a:ln w="38100">
            <a:solidFill>
              <a:srgbClr val="00FF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3240"/>
              </a:lnSpc>
            </a:pP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error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626352" y="3522726"/>
            <a:ext cx="114300" cy="597535"/>
          </a:xfrm>
          <a:custGeom>
            <a:avLst/>
            <a:gdLst/>
            <a:ahLst/>
            <a:cxnLst/>
            <a:rect l="l" t="t" r="r" b="b"/>
            <a:pathLst>
              <a:path w="114300" h="597535">
                <a:moveTo>
                  <a:pt x="76200" y="95250"/>
                </a:moveTo>
                <a:lnTo>
                  <a:pt x="38100" y="95250"/>
                </a:lnTo>
                <a:lnTo>
                  <a:pt x="38100" y="597407"/>
                </a:lnTo>
                <a:lnTo>
                  <a:pt x="76200" y="597407"/>
                </a:lnTo>
                <a:lnTo>
                  <a:pt x="76200" y="95250"/>
                </a:lnTo>
                <a:close/>
              </a:path>
              <a:path w="114300" h="59753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9753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7314" y="4542485"/>
            <a:ext cx="279908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582545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33CC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19277" y="1541525"/>
            <a:ext cx="8703945" cy="0"/>
          </a:xfrm>
          <a:custGeom>
            <a:avLst/>
            <a:gdLst/>
            <a:ahLst/>
            <a:cxnLst/>
            <a:rect l="l" t="t" r="r" b="b"/>
            <a:pathLst>
              <a:path w="8703945" h="0">
                <a:moveTo>
                  <a:pt x="0" y="0"/>
                </a:moveTo>
                <a:lnTo>
                  <a:pt x="8703564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9277" y="970025"/>
            <a:ext cx="8703945" cy="0"/>
          </a:xfrm>
          <a:custGeom>
            <a:avLst/>
            <a:gdLst/>
            <a:ahLst/>
            <a:cxnLst/>
            <a:rect l="l" t="t" r="r" b="b"/>
            <a:pathLst>
              <a:path w="8703945" h="0">
                <a:moveTo>
                  <a:pt x="0" y="0"/>
                </a:moveTo>
                <a:lnTo>
                  <a:pt x="8703564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19277" y="4490465"/>
            <a:ext cx="8825230" cy="0"/>
          </a:xfrm>
          <a:custGeom>
            <a:avLst/>
            <a:gdLst/>
            <a:ahLst/>
            <a:cxnLst/>
            <a:rect l="l" t="t" r="r" b="b"/>
            <a:pathLst>
              <a:path w="8825230" h="0">
                <a:moveTo>
                  <a:pt x="0" y="0"/>
                </a:moveTo>
                <a:lnTo>
                  <a:pt x="8824722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66622" y="970025"/>
            <a:ext cx="0" cy="3534410"/>
          </a:xfrm>
          <a:custGeom>
            <a:avLst/>
            <a:gdLst/>
            <a:ahLst/>
            <a:cxnLst/>
            <a:rect l="l" t="t" r="r" b="b"/>
            <a:pathLst>
              <a:path w="0" h="3534410">
                <a:moveTo>
                  <a:pt x="0" y="0"/>
                </a:moveTo>
                <a:lnTo>
                  <a:pt x="0" y="3534155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50265" y="1521663"/>
            <a:ext cx="29718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0265" y="2105913"/>
            <a:ext cx="54102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b="1" i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0265" y="2745689"/>
            <a:ext cx="27432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0265" y="3331590"/>
            <a:ext cx="518159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3200" b="1" i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0265" y="3960698"/>
            <a:ext cx="29718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66622" y="970025"/>
            <a:ext cx="1430020" cy="57150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62865">
              <a:lnSpc>
                <a:spcPts val="3660"/>
              </a:lnSpc>
            </a:pPr>
            <a:r>
              <a:rPr dirty="0" sz="3200" spc="-15" b="1">
                <a:solidFill>
                  <a:srgbClr val="FFFFFF"/>
                </a:solidFill>
                <a:latin typeface="黑体"/>
                <a:cs typeface="黑体"/>
              </a:rPr>
              <a:t>+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96133" y="970025"/>
            <a:ext cx="1371600" cy="57150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111760">
              <a:lnSpc>
                <a:spcPts val="3660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67734" y="970025"/>
            <a:ext cx="1076325" cy="57150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85115">
              <a:lnSpc>
                <a:spcPts val="3660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43678" y="970025"/>
            <a:ext cx="1254760" cy="57150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9525">
              <a:lnSpc>
                <a:spcPts val="3660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97929" y="970025"/>
            <a:ext cx="1080770" cy="57150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R="38100">
              <a:lnSpc>
                <a:spcPts val="3660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73416" y="933703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56385" y="0"/>
            <a:ext cx="6155690" cy="989965"/>
          </a:xfrm>
          <a:prstGeom prst="rect">
            <a:avLst/>
          </a:prstGeom>
        </p:spPr>
        <p:txBody>
          <a:bodyPr wrap="square" lIns="0" tIns="1104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70"/>
              </a:spcBef>
              <a:tabLst>
                <a:tab pos="521334" algn="l"/>
                <a:tab pos="186118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4.3</a:t>
            </a:r>
            <a:r>
              <a:rPr dirty="0" u="sng" sz="2000" spc="42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递归下降分析法和递归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下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降分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析器</a:t>
            </a:r>
            <a:endParaRPr sz="2000">
              <a:latin typeface="宋体"/>
              <a:cs typeface="宋体"/>
            </a:endParaRPr>
          </a:p>
          <a:p>
            <a:pPr algn="ctr" marR="249554">
              <a:lnSpc>
                <a:spcPct val="100000"/>
              </a:lnSpc>
              <a:spcBef>
                <a:spcPts val="1065"/>
              </a:spcBef>
            </a:pP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文法</a:t>
            </a:r>
            <a:r>
              <a:rPr dirty="0" sz="2800" spc="-5" b="1" i="1">
                <a:solidFill>
                  <a:srgbClr val="FFFF66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66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LL(1)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分析表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67734" y="1541525"/>
            <a:ext cx="1114425" cy="61595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107314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844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TE</a:t>
            </a:r>
            <a:r>
              <a:rPr dirty="0" sz="2400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97929" y="1541525"/>
            <a:ext cx="1080770" cy="61595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88265" rIns="0" bIns="0" rtlCol="0" vert="horz">
            <a:spAutoFit/>
          </a:bodyPr>
          <a:lstStyle/>
          <a:p>
            <a:pPr marL="42545">
              <a:lnSpc>
                <a:spcPct val="100000"/>
              </a:lnSpc>
              <a:spcBef>
                <a:spcPts val="69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TE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24141" y="1616786"/>
            <a:ext cx="20891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67734" y="2771394"/>
            <a:ext cx="1076325" cy="57150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82550" rIns="0" bIns="0" rtlCol="0" vert="horz">
            <a:spAutoFit/>
          </a:bodyPr>
          <a:lstStyle/>
          <a:p>
            <a:pPr marL="5715">
              <a:lnSpc>
                <a:spcPct val="100000"/>
              </a:lnSpc>
              <a:spcBef>
                <a:spcPts val="65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FT</a:t>
            </a:r>
            <a:r>
              <a:rPr dirty="0" sz="2400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297929" y="2771394"/>
            <a:ext cx="1080770" cy="57150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55244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434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400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967734" y="3970782"/>
            <a:ext cx="1076325" cy="52006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5715">
              <a:lnSpc>
                <a:spcPct val="100000"/>
              </a:lnSpc>
              <a:spcBef>
                <a:spcPts val="254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297929" y="3970782"/>
            <a:ext cx="1080770" cy="52006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117475">
              <a:lnSpc>
                <a:spcPct val="100000"/>
              </a:lnSpc>
              <a:spcBef>
                <a:spcPts val="254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66622" y="2157222"/>
            <a:ext cx="1430020" cy="61468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64769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509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→+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TE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596133" y="2157222"/>
            <a:ext cx="1371600" cy="61468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64769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09"/>
              </a:spcBef>
            </a:pPr>
            <a:r>
              <a:rPr dirty="0" sz="2400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457058" y="2148077"/>
            <a:ext cx="97599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00"/>
                </a:solidFill>
                <a:latin typeface="Courier New"/>
                <a:cs typeface="Courier New"/>
              </a:rPr>
              <a:t>’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043678" y="2157222"/>
            <a:ext cx="1254760" cy="61468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marL="156210">
              <a:lnSpc>
                <a:spcPct val="100000"/>
              </a:lnSpc>
              <a:spcBef>
                <a:spcPts val="3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00"/>
                </a:solidFill>
                <a:latin typeface="Courier New"/>
                <a:cs typeface="Courier New"/>
              </a:rPr>
              <a:t>’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596133" y="3342894"/>
            <a:ext cx="1371600" cy="62801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4635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36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400" spc="-5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→*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FT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967734" y="3342894"/>
            <a:ext cx="1076325" cy="62801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463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65"/>
              </a:spcBef>
            </a:pPr>
            <a:r>
              <a:rPr dirty="0" sz="2400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043678" y="3342894"/>
            <a:ext cx="1254760" cy="62801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13030">
              <a:lnSpc>
                <a:spcPts val="3515"/>
              </a:lnSpc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>
                <a:solidFill>
                  <a:srgbClr val="FFFF00"/>
                </a:solidFill>
                <a:latin typeface="Courier New"/>
                <a:cs typeface="Courier New"/>
              </a:rPr>
              <a:t>’</a:t>
            </a:r>
            <a:r>
              <a:rPr dirty="0" sz="2800" spc="-1019" b="1">
                <a:solidFill>
                  <a:srgbClr val="FFFF00"/>
                </a:solidFill>
                <a:latin typeface="Courier New"/>
                <a:cs typeface="Courier New"/>
              </a:rPr>
              <a:t> </a:t>
            </a:r>
            <a:r>
              <a:rPr dirty="0" sz="2800" spc="-4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950" spc="-40" b="1" i="1">
                <a:solidFill>
                  <a:srgbClr val="FFFF00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437246" y="3366929"/>
            <a:ext cx="1056640" cy="474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dirty="0" sz="2800" spc="-10" b="1">
                <a:solidFill>
                  <a:srgbClr val="FFFF00"/>
                </a:solidFill>
                <a:latin typeface="Courier New"/>
                <a:cs typeface="Courier New"/>
              </a:rPr>
              <a:t>’</a:t>
            </a:r>
            <a:r>
              <a:rPr dirty="0" sz="2800" spc="-1050" b="1">
                <a:solidFill>
                  <a:srgbClr val="FFFF00"/>
                </a:solidFill>
                <a:latin typeface="Courier New"/>
                <a:cs typeface="Courier New"/>
              </a:rPr>
              <a:t> </a:t>
            </a:r>
            <a:r>
              <a:rPr dirty="0" sz="2800" spc="-4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950" spc="-40" b="1" i="1">
                <a:solidFill>
                  <a:srgbClr val="FFFF00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66622" y="3342894"/>
            <a:ext cx="1430020" cy="62801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3175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25"/>
              </a:spcBef>
            </a:pPr>
            <a:r>
              <a:rPr dirty="0" sz="2800" spc="-25" b="1" i="1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dirty="0" sz="2800" spc="-25" b="1">
                <a:solidFill>
                  <a:srgbClr val="FFFF00"/>
                </a:solidFill>
                <a:latin typeface="Courier New"/>
                <a:cs typeface="Courier New"/>
              </a:rPr>
              <a:t>’</a:t>
            </a:r>
            <a:r>
              <a:rPr dirty="0" sz="2800" spc="-2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950" spc="-25" b="1" i="1">
                <a:solidFill>
                  <a:srgbClr val="FFFF00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596133" y="970025"/>
            <a:ext cx="0" cy="3534410"/>
          </a:xfrm>
          <a:custGeom>
            <a:avLst/>
            <a:gdLst/>
            <a:ahLst/>
            <a:cxnLst/>
            <a:rect l="l" t="t" r="r" b="b"/>
            <a:pathLst>
              <a:path w="0" h="3534410">
                <a:moveTo>
                  <a:pt x="0" y="0"/>
                </a:moveTo>
                <a:lnTo>
                  <a:pt x="0" y="3534155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967734" y="970025"/>
            <a:ext cx="0" cy="3520440"/>
          </a:xfrm>
          <a:custGeom>
            <a:avLst/>
            <a:gdLst/>
            <a:ahLst/>
            <a:cxnLst/>
            <a:rect l="l" t="t" r="r" b="b"/>
            <a:pathLst>
              <a:path w="0" h="3520440">
                <a:moveTo>
                  <a:pt x="0" y="0"/>
                </a:moveTo>
                <a:lnTo>
                  <a:pt x="0" y="352044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043678" y="970025"/>
            <a:ext cx="0" cy="3534410"/>
          </a:xfrm>
          <a:custGeom>
            <a:avLst/>
            <a:gdLst/>
            <a:ahLst/>
            <a:cxnLst/>
            <a:rect l="l" t="t" r="r" b="b"/>
            <a:pathLst>
              <a:path w="0" h="3534410">
                <a:moveTo>
                  <a:pt x="0" y="0"/>
                </a:moveTo>
                <a:lnTo>
                  <a:pt x="0" y="3534155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297929" y="970025"/>
            <a:ext cx="0" cy="3520440"/>
          </a:xfrm>
          <a:custGeom>
            <a:avLst/>
            <a:gdLst/>
            <a:ahLst/>
            <a:cxnLst/>
            <a:rect l="l" t="t" r="r" b="b"/>
            <a:pathLst>
              <a:path w="0" h="3520440">
                <a:moveTo>
                  <a:pt x="0" y="0"/>
                </a:moveTo>
                <a:lnTo>
                  <a:pt x="0" y="352044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378445" y="970025"/>
            <a:ext cx="0" cy="3520440"/>
          </a:xfrm>
          <a:custGeom>
            <a:avLst/>
            <a:gdLst/>
            <a:ahLst/>
            <a:cxnLst/>
            <a:rect l="l" t="t" r="r" b="b"/>
            <a:pathLst>
              <a:path w="0" h="3520440">
                <a:moveTo>
                  <a:pt x="0" y="0"/>
                </a:moveTo>
                <a:lnTo>
                  <a:pt x="0" y="352044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81177" y="2157222"/>
            <a:ext cx="8703945" cy="0"/>
          </a:xfrm>
          <a:custGeom>
            <a:avLst/>
            <a:gdLst/>
            <a:ahLst/>
            <a:cxnLst/>
            <a:rect l="l" t="t" r="r" b="b"/>
            <a:pathLst>
              <a:path w="8703945" h="0">
                <a:moveTo>
                  <a:pt x="0" y="0"/>
                </a:moveTo>
                <a:lnTo>
                  <a:pt x="8703564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19277" y="2771394"/>
            <a:ext cx="8703945" cy="0"/>
          </a:xfrm>
          <a:custGeom>
            <a:avLst/>
            <a:gdLst/>
            <a:ahLst/>
            <a:cxnLst/>
            <a:rect l="l" t="t" r="r" b="b"/>
            <a:pathLst>
              <a:path w="8703945" h="0">
                <a:moveTo>
                  <a:pt x="0" y="0"/>
                </a:moveTo>
                <a:lnTo>
                  <a:pt x="8703564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29945" y="3342894"/>
            <a:ext cx="8702040" cy="0"/>
          </a:xfrm>
          <a:custGeom>
            <a:avLst/>
            <a:gdLst/>
            <a:ahLst/>
            <a:cxnLst/>
            <a:rect l="l" t="t" r="r" b="b"/>
            <a:pathLst>
              <a:path w="8702040" h="0">
                <a:moveTo>
                  <a:pt x="0" y="0"/>
                </a:moveTo>
                <a:lnTo>
                  <a:pt x="870204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19277" y="3970782"/>
            <a:ext cx="8703945" cy="0"/>
          </a:xfrm>
          <a:custGeom>
            <a:avLst/>
            <a:gdLst/>
            <a:ahLst/>
            <a:cxnLst/>
            <a:rect l="l" t="t" r="r" b="b"/>
            <a:pathLst>
              <a:path w="8703945" h="0">
                <a:moveTo>
                  <a:pt x="0" y="0"/>
                </a:moveTo>
                <a:lnTo>
                  <a:pt x="8703564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6" name="object 46"/>
          <p:cNvGraphicFramePr>
            <a:graphicFrameLocks noGrp="1"/>
          </p:cNvGraphicFramePr>
          <p:nvPr/>
        </p:nvGraphicFramePr>
        <p:xfrm>
          <a:off x="210311" y="5193791"/>
          <a:ext cx="1543050" cy="513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/>
                <a:gridCol w="457200"/>
                <a:gridCol w="495300"/>
              </a:tblGrid>
              <a:tr h="475488">
                <a:tc>
                  <a:txBody>
                    <a:bodyPr/>
                    <a:lstStyle/>
                    <a:p>
                      <a:pPr marL="100965">
                        <a:lnSpc>
                          <a:spcPts val="3620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3620"/>
                        </a:lnSpc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47" name="object 47"/>
          <p:cNvGraphicFramePr>
            <a:graphicFrameLocks noGrp="1"/>
          </p:cNvGraphicFramePr>
          <p:nvPr/>
        </p:nvGraphicFramePr>
        <p:xfrm>
          <a:off x="2506979" y="5178552"/>
          <a:ext cx="2124710" cy="515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/>
                <a:gridCol w="486409"/>
                <a:gridCol w="495300"/>
                <a:gridCol w="552450"/>
              </a:tblGrid>
              <a:tr h="469391">
                <a:tc>
                  <a:txBody>
                    <a:bodyPr/>
                    <a:lstStyle/>
                    <a:p>
                      <a:pPr marL="101600">
                        <a:lnSpc>
                          <a:spcPts val="3570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3570"/>
                        </a:lnSpc>
                      </a:pPr>
                      <a:r>
                        <a:rPr dirty="0" sz="32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32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ts val="3570"/>
                        </a:lnSpc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539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8" name="object 48"/>
          <p:cNvSpPr/>
          <p:nvPr/>
        </p:nvSpPr>
        <p:spPr>
          <a:xfrm>
            <a:off x="1860042" y="5212841"/>
            <a:ext cx="570230" cy="462280"/>
          </a:xfrm>
          <a:custGeom>
            <a:avLst/>
            <a:gdLst/>
            <a:ahLst/>
            <a:cxnLst/>
            <a:rect l="l" t="t" r="r" b="b"/>
            <a:pathLst>
              <a:path w="570230" h="462279">
                <a:moveTo>
                  <a:pt x="427608" y="0"/>
                </a:moveTo>
                <a:lnTo>
                  <a:pt x="427608" y="115442"/>
                </a:lnTo>
                <a:lnTo>
                  <a:pt x="0" y="115442"/>
                </a:lnTo>
                <a:lnTo>
                  <a:pt x="0" y="346328"/>
                </a:lnTo>
                <a:lnTo>
                  <a:pt x="427608" y="346328"/>
                </a:lnTo>
                <a:lnTo>
                  <a:pt x="427608" y="461771"/>
                </a:lnTo>
                <a:lnTo>
                  <a:pt x="569976" y="230885"/>
                </a:lnTo>
                <a:lnTo>
                  <a:pt x="427608" y="0"/>
                </a:lnTo>
                <a:close/>
              </a:path>
            </a:pathLst>
          </a:custGeom>
          <a:solidFill>
            <a:srgbClr val="A737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860042" y="5212841"/>
            <a:ext cx="570230" cy="462280"/>
          </a:xfrm>
          <a:custGeom>
            <a:avLst/>
            <a:gdLst/>
            <a:ahLst/>
            <a:cxnLst/>
            <a:rect l="l" t="t" r="r" b="b"/>
            <a:pathLst>
              <a:path w="570230" h="462279">
                <a:moveTo>
                  <a:pt x="0" y="115442"/>
                </a:moveTo>
                <a:lnTo>
                  <a:pt x="427608" y="115442"/>
                </a:lnTo>
                <a:lnTo>
                  <a:pt x="427608" y="0"/>
                </a:lnTo>
                <a:lnTo>
                  <a:pt x="569976" y="230885"/>
                </a:lnTo>
                <a:lnTo>
                  <a:pt x="427608" y="461771"/>
                </a:lnTo>
                <a:lnTo>
                  <a:pt x="427608" y="346328"/>
                </a:lnTo>
                <a:lnTo>
                  <a:pt x="0" y="346328"/>
                </a:lnTo>
                <a:lnTo>
                  <a:pt x="0" y="115442"/>
                </a:lnTo>
                <a:close/>
              </a:path>
            </a:pathLst>
          </a:custGeom>
          <a:ln w="38100">
            <a:solidFill>
              <a:srgbClr val="FF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714494" y="5176265"/>
            <a:ext cx="570230" cy="462280"/>
          </a:xfrm>
          <a:custGeom>
            <a:avLst/>
            <a:gdLst/>
            <a:ahLst/>
            <a:cxnLst/>
            <a:rect l="l" t="t" r="r" b="b"/>
            <a:pathLst>
              <a:path w="570229" h="462279">
                <a:moveTo>
                  <a:pt x="427608" y="0"/>
                </a:moveTo>
                <a:lnTo>
                  <a:pt x="427608" y="115442"/>
                </a:lnTo>
                <a:lnTo>
                  <a:pt x="0" y="115442"/>
                </a:lnTo>
                <a:lnTo>
                  <a:pt x="0" y="346328"/>
                </a:lnTo>
                <a:lnTo>
                  <a:pt x="427608" y="346328"/>
                </a:lnTo>
                <a:lnTo>
                  <a:pt x="427608" y="461771"/>
                </a:lnTo>
                <a:lnTo>
                  <a:pt x="569976" y="230885"/>
                </a:lnTo>
                <a:lnTo>
                  <a:pt x="427608" y="0"/>
                </a:lnTo>
                <a:close/>
              </a:path>
            </a:pathLst>
          </a:custGeom>
          <a:solidFill>
            <a:srgbClr val="A737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714494" y="5176265"/>
            <a:ext cx="570230" cy="462280"/>
          </a:xfrm>
          <a:custGeom>
            <a:avLst/>
            <a:gdLst/>
            <a:ahLst/>
            <a:cxnLst/>
            <a:rect l="l" t="t" r="r" b="b"/>
            <a:pathLst>
              <a:path w="570229" h="462279">
                <a:moveTo>
                  <a:pt x="0" y="115442"/>
                </a:moveTo>
                <a:lnTo>
                  <a:pt x="427608" y="115442"/>
                </a:lnTo>
                <a:lnTo>
                  <a:pt x="427608" y="0"/>
                </a:lnTo>
                <a:lnTo>
                  <a:pt x="569976" y="230885"/>
                </a:lnTo>
                <a:lnTo>
                  <a:pt x="427608" y="461771"/>
                </a:lnTo>
                <a:lnTo>
                  <a:pt x="427608" y="346328"/>
                </a:lnTo>
                <a:lnTo>
                  <a:pt x="0" y="346328"/>
                </a:lnTo>
                <a:lnTo>
                  <a:pt x="0" y="115442"/>
                </a:lnTo>
                <a:close/>
              </a:path>
            </a:pathLst>
          </a:custGeom>
          <a:ln w="38100">
            <a:solidFill>
              <a:srgbClr val="FF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96773" y="6070853"/>
            <a:ext cx="568960" cy="462280"/>
          </a:xfrm>
          <a:custGeom>
            <a:avLst/>
            <a:gdLst/>
            <a:ahLst/>
            <a:cxnLst/>
            <a:rect l="l" t="t" r="r" b="b"/>
            <a:pathLst>
              <a:path w="568960" h="462279">
                <a:moveTo>
                  <a:pt x="426059" y="0"/>
                </a:moveTo>
                <a:lnTo>
                  <a:pt x="426059" y="115443"/>
                </a:lnTo>
                <a:lnTo>
                  <a:pt x="0" y="115443"/>
                </a:lnTo>
                <a:lnTo>
                  <a:pt x="0" y="346329"/>
                </a:lnTo>
                <a:lnTo>
                  <a:pt x="426059" y="346329"/>
                </a:lnTo>
                <a:lnTo>
                  <a:pt x="426059" y="461772"/>
                </a:lnTo>
                <a:lnTo>
                  <a:pt x="568452" y="230886"/>
                </a:lnTo>
                <a:lnTo>
                  <a:pt x="426059" y="0"/>
                </a:lnTo>
                <a:close/>
              </a:path>
            </a:pathLst>
          </a:custGeom>
          <a:solidFill>
            <a:srgbClr val="A737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96773" y="6070853"/>
            <a:ext cx="568960" cy="462280"/>
          </a:xfrm>
          <a:custGeom>
            <a:avLst/>
            <a:gdLst/>
            <a:ahLst/>
            <a:cxnLst/>
            <a:rect l="l" t="t" r="r" b="b"/>
            <a:pathLst>
              <a:path w="568960" h="462279">
                <a:moveTo>
                  <a:pt x="0" y="115443"/>
                </a:moveTo>
                <a:lnTo>
                  <a:pt x="426059" y="115443"/>
                </a:lnTo>
                <a:lnTo>
                  <a:pt x="426059" y="0"/>
                </a:lnTo>
                <a:lnTo>
                  <a:pt x="568452" y="230886"/>
                </a:lnTo>
                <a:lnTo>
                  <a:pt x="426059" y="461772"/>
                </a:lnTo>
                <a:lnTo>
                  <a:pt x="426059" y="346329"/>
                </a:lnTo>
                <a:lnTo>
                  <a:pt x="0" y="346329"/>
                </a:lnTo>
                <a:lnTo>
                  <a:pt x="0" y="115443"/>
                </a:lnTo>
                <a:close/>
              </a:path>
            </a:pathLst>
          </a:custGeom>
          <a:ln w="38099">
            <a:solidFill>
              <a:srgbClr val="FF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388870" y="6096761"/>
            <a:ext cx="0" cy="504825"/>
          </a:xfrm>
          <a:custGeom>
            <a:avLst/>
            <a:gdLst/>
            <a:ahLst/>
            <a:cxnLst/>
            <a:rect l="l" t="t" r="r" b="b"/>
            <a:pathLst>
              <a:path w="0" h="504825">
                <a:moveTo>
                  <a:pt x="0" y="0"/>
                </a:moveTo>
                <a:lnTo>
                  <a:pt x="0" y="504444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5" name="object 55"/>
          <p:cNvGraphicFramePr>
            <a:graphicFrameLocks noGrp="1"/>
          </p:cNvGraphicFramePr>
          <p:nvPr/>
        </p:nvGraphicFramePr>
        <p:xfrm>
          <a:off x="786383" y="6038088"/>
          <a:ext cx="3495040" cy="513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/>
                <a:gridCol w="486409"/>
                <a:gridCol w="563879"/>
                <a:gridCol w="419100"/>
                <a:gridCol w="502919"/>
                <a:gridCol w="454025"/>
                <a:gridCol w="477519"/>
              </a:tblGrid>
              <a:tr h="467106">
                <a:tc>
                  <a:txBody>
                    <a:bodyPr/>
                    <a:lstStyle/>
                    <a:p>
                      <a:pPr marL="114300">
                        <a:lnSpc>
                          <a:spcPts val="3529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3529"/>
                        </a:lnSpc>
                      </a:pPr>
                      <a:r>
                        <a:rPr dirty="0" sz="32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3529"/>
                        </a:lnSpc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3200" spc="-9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3529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3529"/>
                        </a:lnSpc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529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（</a:t>
                      </a:r>
                      <a:endParaRPr sz="32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762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6" name="object 56"/>
          <p:cNvSpPr/>
          <p:nvPr/>
        </p:nvSpPr>
        <p:spPr>
          <a:xfrm>
            <a:off x="4389882" y="6052565"/>
            <a:ext cx="570230" cy="462280"/>
          </a:xfrm>
          <a:custGeom>
            <a:avLst/>
            <a:gdLst/>
            <a:ahLst/>
            <a:cxnLst/>
            <a:rect l="l" t="t" r="r" b="b"/>
            <a:pathLst>
              <a:path w="570229" h="462279">
                <a:moveTo>
                  <a:pt x="427608" y="0"/>
                </a:moveTo>
                <a:lnTo>
                  <a:pt x="427608" y="115443"/>
                </a:lnTo>
                <a:lnTo>
                  <a:pt x="0" y="115443"/>
                </a:lnTo>
                <a:lnTo>
                  <a:pt x="0" y="346329"/>
                </a:lnTo>
                <a:lnTo>
                  <a:pt x="427608" y="346329"/>
                </a:lnTo>
                <a:lnTo>
                  <a:pt x="427608" y="461772"/>
                </a:lnTo>
                <a:lnTo>
                  <a:pt x="569976" y="230886"/>
                </a:lnTo>
                <a:lnTo>
                  <a:pt x="427608" y="0"/>
                </a:lnTo>
                <a:close/>
              </a:path>
            </a:pathLst>
          </a:custGeom>
          <a:solidFill>
            <a:srgbClr val="A737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389882" y="6052565"/>
            <a:ext cx="570230" cy="462280"/>
          </a:xfrm>
          <a:custGeom>
            <a:avLst/>
            <a:gdLst/>
            <a:ahLst/>
            <a:cxnLst/>
            <a:rect l="l" t="t" r="r" b="b"/>
            <a:pathLst>
              <a:path w="570229" h="462279">
                <a:moveTo>
                  <a:pt x="0" y="115443"/>
                </a:moveTo>
                <a:lnTo>
                  <a:pt x="427608" y="115443"/>
                </a:lnTo>
                <a:lnTo>
                  <a:pt x="427608" y="0"/>
                </a:lnTo>
                <a:lnTo>
                  <a:pt x="569976" y="230886"/>
                </a:lnTo>
                <a:lnTo>
                  <a:pt x="427608" y="461772"/>
                </a:lnTo>
                <a:lnTo>
                  <a:pt x="427608" y="346329"/>
                </a:lnTo>
                <a:lnTo>
                  <a:pt x="0" y="346329"/>
                </a:lnTo>
                <a:lnTo>
                  <a:pt x="0" y="115443"/>
                </a:lnTo>
                <a:close/>
              </a:path>
            </a:pathLst>
          </a:custGeom>
          <a:ln w="38100">
            <a:solidFill>
              <a:srgbClr val="FF3399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8" name="object 58"/>
          <p:cNvGraphicFramePr>
            <a:graphicFrameLocks noGrp="1"/>
          </p:cNvGraphicFramePr>
          <p:nvPr/>
        </p:nvGraphicFramePr>
        <p:xfrm>
          <a:off x="5017008" y="6018276"/>
          <a:ext cx="3175000" cy="515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/>
                <a:gridCol w="486409"/>
                <a:gridCol w="554990"/>
                <a:gridCol w="446404"/>
                <a:gridCol w="502919"/>
                <a:gridCol w="593725"/>
              </a:tblGrid>
              <a:tr h="460247">
                <a:tc>
                  <a:txBody>
                    <a:bodyPr/>
                    <a:lstStyle/>
                    <a:p>
                      <a:pPr marL="114935">
                        <a:lnSpc>
                          <a:spcPts val="343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3435"/>
                        </a:lnSpc>
                      </a:pPr>
                      <a:r>
                        <a:rPr dirty="0" sz="32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3435"/>
                        </a:lnSpc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3200" spc="-10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ts val="343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ts val="3435"/>
                        </a:lnSpc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762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9" name="object 59"/>
          <p:cNvGraphicFramePr>
            <a:graphicFrameLocks noGrp="1"/>
          </p:cNvGraphicFramePr>
          <p:nvPr/>
        </p:nvGraphicFramePr>
        <p:xfrm>
          <a:off x="5361432" y="5141976"/>
          <a:ext cx="3739515" cy="806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/>
                <a:gridCol w="486409"/>
                <a:gridCol w="577850"/>
                <a:gridCol w="405765"/>
                <a:gridCol w="745489"/>
                <a:gridCol w="934719"/>
              </a:tblGrid>
              <a:tr h="377952">
                <a:tc rowSpan="2">
                  <a:txBody>
                    <a:bodyPr/>
                    <a:lstStyle/>
                    <a:p>
                      <a:pPr marL="114935">
                        <a:lnSpc>
                          <a:spcPts val="356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8900">
                        <a:lnSpc>
                          <a:spcPts val="3565"/>
                        </a:lnSpc>
                      </a:pPr>
                      <a:r>
                        <a:rPr dirty="0" sz="32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8900">
                        <a:lnSpc>
                          <a:spcPts val="3565"/>
                        </a:lnSpc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3200" spc="-9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75565">
                        <a:lnSpc>
                          <a:spcPts val="3565"/>
                        </a:lnSpc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38100">
                      <a:solidFill>
                        <a:srgbClr val="00FFFF"/>
                      </a:solidFill>
                      <a:prstDash val="solid"/>
                    </a:lnB>
                  </a:tcPr>
                </a:tc>
              </a:tr>
              <a:tr h="9905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2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error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FFFF"/>
                      </a:solidFill>
                      <a:prstDash val="solid"/>
                    </a:lnL>
                    <a:lnR w="38100">
                      <a:solidFill>
                        <a:srgbClr val="00FFFF"/>
                      </a:solidFill>
                      <a:prstDash val="solid"/>
                    </a:lnR>
                    <a:lnT w="38100">
                      <a:solidFill>
                        <a:srgbClr val="00FFFF"/>
                      </a:solidFill>
                      <a:prstDash val="solid"/>
                    </a:lnT>
                    <a:lnB w="38100">
                      <a:solidFill>
                        <a:srgbClr val="00FFFF"/>
                      </a:solidFill>
                      <a:prstDash val="solid"/>
                    </a:lnB>
                  </a:tcPr>
                </a:tc>
              </a:tr>
              <a:tr h="291084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00FFFF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00FFFF"/>
                      </a:solidFill>
                      <a:prstDash val="solid"/>
                    </a:lnL>
                    <a:lnR w="38100">
                      <a:solidFill>
                        <a:srgbClr val="00FFFF"/>
                      </a:solidFill>
                      <a:prstDash val="solid"/>
                    </a:lnR>
                    <a:lnT w="38100">
                      <a:solidFill>
                        <a:srgbClr val="00FFFF"/>
                      </a:solidFill>
                      <a:prstDash val="solid"/>
                    </a:lnT>
                    <a:lnB w="38100">
                      <a:solidFill>
                        <a:srgbClr val="00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0" name="object 60"/>
          <p:cNvSpPr/>
          <p:nvPr/>
        </p:nvSpPr>
        <p:spPr>
          <a:xfrm>
            <a:off x="7541514" y="5929033"/>
            <a:ext cx="1139825" cy="438784"/>
          </a:xfrm>
          <a:custGeom>
            <a:avLst/>
            <a:gdLst/>
            <a:ahLst/>
            <a:cxnLst/>
            <a:rect l="l" t="t" r="r" b="b"/>
            <a:pathLst>
              <a:path w="1139825" h="438785">
                <a:moveTo>
                  <a:pt x="1034922" y="400557"/>
                </a:moveTo>
                <a:lnTo>
                  <a:pt x="0" y="400557"/>
                </a:lnTo>
                <a:lnTo>
                  <a:pt x="0" y="438657"/>
                </a:lnTo>
                <a:lnTo>
                  <a:pt x="1053972" y="438657"/>
                </a:lnTo>
                <a:lnTo>
                  <a:pt x="1061342" y="437160"/>
                </a:lnTo>
                <a:lnTo>
                  <a:pt x="1067403" y="433076"/>
                </a:lnTo>
                <a:lnTo>
                  <a:pt x="1071510" y="427020"/>
                </a:lnTo>
                <a:lnTo>
                  <a:pt x="1073022" y="419607"/>
                </a:lnTo>
                <a:lnTo>
                  <a:pt x="1034922" y="419607"/>
                </a:lnTo>
                <a:lnTo>
                  <a:pt x="1034922" y="400557"/>
                </a:lnTo>
                <a:close/>
              </a:path>
              <a:path w="1139825" h="438785">
                <a:moveTo>
                  <a:pt x="1053909" y="75603"/>
                </a:moveTo>
                <a:lnTo>
                  <a:pt x="1034922" y="108151"/>
                </a:lnTo>
                <a:lnTo>
                  <a:pt x="1034922" y="419607"/>
                </a:lnTo>
                <a:lnTo>
                  <a:pt x="1053972" y="400557"/>
                </a:lnTo>
                <a:lnTo>
                  <a:pt x="1073022" y="400557"/>
                </a:lnTo>
                <a:lnTo>
                  <a:pt x="1072896" y="108151"/>
                </a:lnTo>
                <a:lnTo>
                  <a:pt x="1053909" y="75603"/>
                </a:lnTo>
                <a:close/>
              </a:path>
              <a:path w="1139825" h="438785">
                <a:moveTo>
                  <a:pt x="1073022" y="400557"/>
                </a:moveTo>
                <a:lnTo>
                  <a:pt x="1053972" y="400557"/>
                </a:lnTo>
                <a:lnTo>
                  <a:pt x="1034922" y="419607"/>
                </a:lnTo>
                <a:lnTo>
                  <a:pt x="1073022" y="419607"/>
                </a:lnTo>
                <a:lnTo>
                  <a:pt x="1073022" y="400557"/>
                </a:lnTo>
                <a:close/>
              </a:path>
              <a:path w="1139825" h="438785">
                <a:moveTo>
                  <a:pt x="1053972" y="0"/>
                </a:moveTo>
                <a:lnTo>
                  <a:pt x="970787" y="142506"/>
                </a:lnTo>
                <a:lnTo>
                  <a:pt x="968323" y="149668"/>
                </a:lnTo>
                <a:lnTo>
                  <a:pt x="968787" y="156956"/>
                </a:lnTo>
                <a:lnTo>
                  <a:pt x="971966" y="163534"/>
                </a:lnTo>
                <a:lnTo>
                  <a:pt x="977645" y="168567"/>
                </a:lnTo>
                <a:lnTo>
                  <a:pt x="984821" y="171006"/>
                </a:lnTo>
                <a:lnTo>
                  <a:pt x="992092" y="170529"/>
                </a:lnTo>
                <a:lnTo>
                  <a:pt x="998648" y="167356"/>
                </a:lnTo>
                <a:lnTo>
                  <a:pt x="1003680" y="161709"/>
                </a:lnTo>
                <a:lnTo>
                  <a:pt x="1034796" y="108369"/>
                </a:lnTo>
                <a:lnTo>
                  <a:pt x="1034922" y="37807"/>
                </a:lnTo>
                <a:lnTo>
                  <a:pt x="1076008" y="37807"/>
                </a:lnTo>
                <a:lnTo>
                  <a:pt x="1053972" y="0"/>
                </a:lnTo>
                <a:close/>
              </a:path>
              <a:path w="1139825" h="438785">
                <a:moveTo>
                  <a:pt x="1076008" y="37807"/>
                </a:moveTo>
                <a:lnTo>
                  <a:pt x="1073022" y="37807"/>
                </a:lnTo>
                <a:lnTo>
                  <a:pt x="1073022" y="108369"/>
                </a:lnTo>
                <a:lnTo>
                  <a:pt x="1104137" y="161709"/>
                </a:lnTo>
                <a:lnTo>
                  <a:pt x="1109188" y="167356"/>
                </a:lnTo>
                <a:lnTo>
                  <a:pt x="1115774" y="170529"/>
                </a:lnTo>
                <a:lnTo>
                  <a:pt x="1123051" y="171006"/>
                </a:lnTo>
                <a:lnTo>
                  <a:pt x="1130172" y="168567"/>
                </a:lnTo>
                <a:lnTo>
                  <a:pt x="1135852" y="163534"/>
                </a:lnTo>
                <a:lnTo>
                  <a:pt x="1139031" y="156956"/>
                </a:lnTo>
                <a:lnTo>
                  <a:pt x="1139495" y="149668"/>
                </a:lnTo>
                <a:lnTo>
                  <a:pt x="1137030" y="142506"/>
                </a:lnTo>
                <a:lnTo>
                  <a:pt x="1076008" y="37807"/>
                </a:lnTo>
                <a:close/>
              </a:path>
              <a:path w="1139825" h="438785">
                <a:moveTo>
                  <a:pt x="1073022" y="47409"/>
                </a:moveTo>
                <a:lnTo>
                  <a:pt x="1070355" y="47409"/>
                </a:lnTo>
                <a:lnTo>
                  <a:pt x="1053909" y="75603"/>
                </a:lnTo>
                <a:lnTo>
                  <a:pt x="1073022" y="108369"/>
                </a:lnTo>
                <a:lnTo>
                  <a:pt x="1073022" y="47409"/>
                </a:lnTo>
                <a:close/>
              </a:path>
              <a:path w="1139825" h="438785">
                <a:moveTo>
                  <a:pt x="1073022" y="37807"/>
                </a:moveTo>
                <a:lnTo>
                  <a:pt x="1034922" y="37807"/>
                </a:lnTo>
                <a:lnTo>
                  <a:pt x="1034922" y="108151"/>
                </a:lnTo>
                <a:lnTo>
                  <a:pt x="1053909" y="75603"/>
                </a:lnTo>
                <a:lnTo>
                  <a:pt x="1037462" y="47409"/>
                </a:lnTo>
                <a:lnTo>
                  <a:pt x="1073022" y="47409"/>
                </a:lnTo>
                <a:lnTo>
                  <a:pt x="1073022" y="37807"/>
                </a:lnTo>
                <a:close/>
              </a:path>
              <a:path w="1139825" h="438785">
                <a:moveTo>
                  <a:pt x="1070355" y="47409"/>
                </a:moveTo>
                <a:lnTo>
                  <a:pt x="1037462" y="47409"/>
                </a:lnTo>
                <a:lnTo>
                  <a:pt x="1053909" y="75603"/>
                </a:lnTo>
                <a:lnTo>
                  <a:pt x="1070355" y="47409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5231" y="26923"/>
            <a:ext cx="15601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90089" y="26923"/>
            <a:ext cx="65938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71265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4.4  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分析法与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析器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4.4.2</a:t>
            </a:r>
            <a:r>
              <a:rPr dirty="0" u="sng" sz="2000" spc="4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LL(1)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7334" y="522477"/>
            <a:ext cx="114871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12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097785" y="449935"/>
            <a:ext cx="2748280" cy="2273935"/>
          </a:xfrm>
          <a:prstGeom prst="rect"/>
        </p:spPr>
        <p:txBody>
          <a:bodyPr wrap="square" lIns="0" tIns="19050" rIns="0" bIns="0" rtlCol="0" vert="horz">
            <a:spAutoFit/>
          </a:bodyPr>
          <a:lstStyle/>
          <a:p>
            <a:pPr marL="318770" marR="5080" indent="-306705">
              <a:lnSpc>
                <a:spcPct val="113700"/>
              </a:lnSpc>
              <a:spcBef>
                <a:spcPts val="150"/>
              </a:spcBef>
            </a:pP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设有文法</a:t>
            </a:r>
            <a:r>
              <a:rPr dirty="0" sz="3200" spc="-5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>
                <a:solidFill>
                  <a:srgbClr val="FFFFFF"/>
                </a:solidFill>
              </a:rPr>
              <a:t>(</a:t>
            </a:r>
            <a:r>
              <a:rPr dirty="0" sz="3200" spc="-5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>
                <a:solidFill>
                  <a:srgbClr val="FFFFFF"/>
                </a:solidFill>
              </a:rPr>
              <a:t>)  </a:t>
            </a:r>
            <a:r>
              <a:rPr dirty="0" sz="3200" spc="-5" i="1">
                <a:latin typeface="Times New Roman"/>
                <a:cs typeface="Times New Roman"/>
              </a:rPr>
              <a:t>S</a:t>
            </a:r>
            <a:r>
              <a:rPr dirty="0" sz="3200" spc="-5"/>
              <a:t>→</a:t>
            </a:r>
            <a:r>
              <a:rPr dirty="0" sz="3200" spc="-80"/>
              <a:t> </a:t>
            </a:r>
            <a:r>
              <a:rPr dirty="0" sz="3200" spc="-5" i="1">
                <a:latin typeface="Times New Roman"/>
                <a:cs typeface="Times New Roman"/>
              </a:rPr>
              <a:t>iCtSS</a:t>
            </a:r>
            <a:r>
              <a:rPr dirty="0" sz="3200" spc="-5">
                <a:latin typeface="Courier New"/>
                <a:cs typeface="Courier New"/>
              </a:rPr>
              <a:t>’</a:t>
            </a:r>
            <a:r>
              <a:rPr dirty="0" sz="3200" spc="-5"/>
              <a:t>│</a:t>
            </a:r>
            <a:r>
              <a:rPr dirty="0" sz="3200" spc="-5" i="1">
                <a:latin typeface="Times New Roman"/>
                <a:cs typeface="Times New Roman"/>
              </a:rPr>
              <a:t>a  </a:t>
            </a:r>
            <a:r>
              <a:rPr dirty="0" sz="3200" spc="-5" i="1">
                <a:latin typeface="Times New Roman"/>
                <a:cs typeface="Times New Roman"/>
              </a:rPr>
              <a:t>S</a:t>
            </a:r>
            <a:r>
              <a:rPr dirty="0" sz="3200" spc="-5">
                <a:latin typeface="Courier New"/>
                <a:cs typeface="Courier New"/>
              </a:rPr>
              <a:t>’</a:t>
            </a:r>
            <a:r>
              <a:rPr dirty="0" sz="3200" spc="-5"/>
              <a:t>→</a:t>
            </a:r>
            <a:r>
              <a:rPr dirty="0" sz="3200" spc="-5" i="1">
                <a:latin typeface="Times New Roman"/>
                <a:cs typeface="Times New Roman"/>
              </a:rPr>
              <a:t>eS</a:t>
            </a:r>
            <a:r>
              <a:rPr dirty="0" sz="3200" spc="-5"/>
              <a:t>│</a:t>
            </a:r>
            <a:r>
              <a:rPr dirty="0" sz="3200" spc="-5" i="1">
                <a:latin typeface="Times New Roman"/>
                <a:cs typeface="Times New Roman"/>
              </a:rPr>
              <a:t>ε  </a:t>
            </a:r>
            <a:r>
              <a:rPr dirty="0" sz="3350" spc="-75" i="1">
                <a:latin typeface="宋体"/>
                <a:cs typeface="宋体"/>
              </a:rPr>
              <a:t>Ｃ</a:t>
            </a:r>
            <a:r>
              <a:rPr dirty="0" sz="3200" spc="-75"/>
              <a:t>→</a:t>
            </a:r>
            <a:r>
              <a:rPr dirty="0" sz="3200" spc="-20"/>
              <a:t> </a:t>
            </a:r>
            <a:r>
              <a:rPr dirty="0" sz="3200" i="1"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0362" y="2754629"/>
            <a:ext cx="7848600" cy="1106805"/>
          </a:xfrm>
          <a:custGeom>
            <a:avLst/>
            <a:gdLst/>
            <a:ahLst/>
            <a:cxnLst/>
            <a:rect l="l" t="t" r="r" b="b"/>
            <a:pathLst>
              <a:path w="7848600" h="1106804">
                <a:moveTo>
                  <a:pt x="0" y="1106424"/>
                </a:moveTo>
                <a:lnTo>
                  <a:pt x="7848600" y="1106424"/>
                </a:lnTo>
                <a:lnTo>
                  <a:pt x="7848600" y="0"/>
                </a:lnTo>
                <a:lnTo>
                  <a:pt x="0" y="0"/>
                </a:lnTo>
                <a:lnTo>
                  <a:pt x="0" y="1106424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32637" y="4075938"/>
            <a:ext cx="8248015" cy="1059180"/>
          </a:xfrm>
          <a:custGeom>
            <a:avLst/>
            <a:gdLst/>
            <a:ahLst/>
            <a:cxnLst/>
            <a:rect l="l" t="t" r="r" b="b"/>
            <a:pathLst>
              <a:path w="8248015" h="1059179">
                <a:moveTo>
                  <a:pt x="0" y="1059180"/>
                </a:moveTo>
                <a:lnTo>
                  <a:pt x="8247888" y="1059180"/>
                </a:lnTo>
                <a:lnTo>
                  <a:pt x="8247888" y="0"/>
                </a:lnTo>
                <a:lnTo>
                  <a:pt x="0" y="0"/>
                </a:lnTo>
                <a:lnTo>
                  <a:pt x="0" y="105918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10616" y="3995420"/>
            <a:ext cx="1039494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32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对</a:t>
            </a:r>
            <a:r>
              <a:rPr dirty="0" u="heavy" sz="3200" spc="-1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S</a:t>
            </a:r>
            <a:r>
              <a:rPr dirty="0" u="heavy" sz="32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urier New"/>
                <a:cs typeface="Courier New"/>
              </a:rPr>
              <a:t>’</a:t>
            </a:r>
            <a:r>
              <a:rPr dirty="0" u="heavy" sz="32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8340" y="2570501"/>
            <a:ext cx="7915909" cy="2524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34465" marR="2714625" indent="-1422400">
              <a:lnSpc>
                <a:spcPct val="125099"/>
              </a:lnSpc>
              <a:spcBef>
                <a:spcPts val="100"/>
              </a:spcBef>
              <a:tabLst>
                <a:tab pos="1460500" algn="l"/>
              </a:tabLst>
            </a:pPr>
            <a:r>
              <a:rPr dirty="0" u="heavy" sz="32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对</a:t>
            </a:r>
            <a:r>
              <a:rPr dirty="0" u="heavy" sz="3200" spc="-1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S</a:t>
            </a:r>
            <a:r>
              <a:rPr dirty="0" u="heavy" sz="32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：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		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FIRST( 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iCtSS</a:t>
            </a:r>
            <a:r>
              <a:rPr dirty="0" sz="3200" spc="-5" b="1">
                <a:solidFill>
                  <a:srgbClr val="FFFF00"/>
                </a:solidFill>
                <a:latin typeface="Courier New"/>
                <a:cs typeface="Courier New"/>
              </a:rPr>
              <a:t>’</a:t>
            </a:r>
            <a:r>
              <a:rPr dirty="0" sz="3200" spc="-1205" b="1">
                <a:solidFill>
                  <a:srgbClr val="FFFF00"/>
                </a:solidFill>
                <a:latin typeface="Courier New"/>
                <a:cs typeface="Courier New"/>
              </a:rPr>
              <a:t>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)={ 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i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}  FIRST(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)={ 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3200" spc="-55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 marL="1353820">
              <a:lnSpc>
                <a:spcPct val="100000"/>
              </a:lnSpc>
              <a:spcBef>
                <a:spcPts val="1614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FIRST(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eS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)={ 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e</a:t>
            </a:r>
            <a:r>
              <a:rPr dirty="0" sz="3200" spc="-114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 marL="1356995">
              <a:lnSpc>
                <a:spcPct val="100000"/>
              </a:lnSpc>
              <a:spcBef>
                <a:spcPts val="770"/>
              </a:spcBef>
              <a:tabLst>
                <a:tab pos="4421505" algn="l"/>
              </a:tabLst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FIRST(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ε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)={</a:t>
            </a:r>
            <a:r>
              <a:rPr dirty="0" sz="3200" spc="-1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ε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}	FOLLOW(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'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)={#,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96062" y="5494782"/>
            <a:ext cx="8001000" cy="489584"/>
          </a:xfrm>
          <a:custGeom>
            <a:avLst/>
            <a:gdLst/>
            <a:ahLst/>
            <a:cxnLst/>
            <a:rect l="l" t="t" r="r" b="b"/>
            <a:pathLst>
              <a:path w="8001000" h="489585">
                <a:moveTo>
                  <a:pt x="0" y="489204"/>
                </a:moveTo>
                <a:lnTo>
                  <a:pt x="8001000" y="489204"/>
                </a:lnTo>
                <a:lnTo>
                  <a:pt x="8001000" y="0"/>
                </a:lnTo>
                <a:lnTo>
                  <a:pt x="0" y="0"/>
                </a:lnTo>
                <a:lnTo>
                  <a:pt x="0" y="489204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74040" y="5459069"/>
            <a:ext cx="414909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3200" spc="-3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FIRST(</a:t>
            </a:r>
            <a:r>
              <a:rPr dirty="0" sz="3200" spc="-2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3200" spc="-1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)={</a:t>
            </a:r>
            <a:r>
              <a:rPr dirty="0" sz="3200" spc="-2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dirty="0" sz="3200" spc="-20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9811" y="26923"/>
            <a:ext cx="91243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8120">
              <a:lnSpc>
                <a:spcPct val="100000"/>
              </a:lnSpc>
              <a:spcBef>
                <a:spcPts val="100"/>
              </a:spcBef>
              <a:tabLst>
                <a:tab pos="706755" algn="l"/>
                <a:tab pos="1982470" algn="l"/>
                <a:tab pos="574167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4.4  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分析法与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析器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4.4.2</a:t>
            </a:r>
            <a:r>
              <a:rPr dirty="0" u="sng" sz="2000" spc="47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LL(1)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87424" y="2686050"/>
            <a:ext cx="105346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6642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55108" y="2686050"/>
            <a:ext cx="158686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2893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79692" y="2686050"/>
            <a:ext cx="63119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2794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48728" y="2686050"/>
            <a:ext cx="154876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55244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8723" y="3320034"/>
            <a:ext cx="2082164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77520">
              <a:lnSpc>
                <a:spcPct val="100000"/>
              </a:lnSpc>
              <a:spcBef>
                <a:spcPts val="105"/>
              </a:spcBef>
              <a:tabLst>
                <a:tab pos="1312545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S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55108" y="3371850"/>
            <a:ext cx="15868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iCtSS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8723" y="3951223"/>
            <a:ext cx="99060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7520">
              <a:lnSpc>
                <a:spcPct val="100000"/>
              </a:lnSpc>
              <a:spcBef>
                <a:spcPts val="100"/>
              </a:spcBef>
            </a:pP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00"/>
                </a:solidFill>
                <a:latin typeface="Courier New"/>
                <a:cs typeface="Courier New"/>
              </a:rPr>
              <a:t>’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92323" y="2686050"/>
            <a:ext cx="2413000" cy="23355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78155">
              <a:lnSpc>
                <a:spcPct val="100000"/>
              </a:lnSpc>
              <a:spcBef>
                <a:spcPts val="105"/>
              </a:spcBef>
              <a:tabLst>
                <a:tab pos="1595120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	e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700">
              <a:latin typeface="Times New Roman"/>
              <a:cs typeface="Times New Roman"/>
            </a:endParaRPr>
          </a:p>
          <a:p>
            <a:pPr marL="1226820" marR="95250" indent="-38100">
              <a:lnSpc>
                <a:spcPct val="132900"/>
              </a:lnSpc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eS 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48728" y="4569967"/>
            <a:ext cx="15487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8723" y="5142687"/>
            <a:ext cx="99060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7752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61589" y="5194503"/>
            <a:ext cx="9499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592323" y="2725673"/>
            <a:ext cx="6323965" cy="0"/>
          </a:xfrm>
          <a:custGeom>
            <a:avLst/>
            <a:gdLst/>
            <a:ahLst/>
            <a:cxnLst/>
            <a:rect l="l" t="t" r="r" b="b"/>
            <a:pathLst>
              <a:path w="6323965" h="0">
                <a:moveTo>
                  <a:pt x="0" y="0"/>
                </a:moveTo>
                <a:lnTo>
                  <a:pt x="6323837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39673" y="2725673"/>
            <a:ext cx="2101215" cy="0"/>
          </a:xfrm>
          <a:custGeom>
            <a:avLst/>
            <a:gdLst/>
            <a:ahLst/>
            <a:cxnLst/>
            <a:rect l="l" t="t" r="r" b="b"/>
            <a:pathLst>
              <a:path w="2101215" h="0">
                <a:moveTo>
                  <a:pt x="0" y="0"/>
                </a:moveTo>
                <a:lnTo>
                  <a:pt x="2100834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592323" y="3329178"/>
            <a:ext cx="6323965" cy="0"/>
          </a:xfrm>
          <a:custGeom>
            <a:avLst/>
            <a:gdLst/>
            <a:ahLst/>
            <a:cxnLst/>
            <a:rect l="l" t="t" r="r" b="b"/>
            <a:pathLst>
              <a:path w="6323965" h="0">
                <a:moveTo>
                  <a:pt x="0" y="0"/>
                </a:moveTo>
                <a:lnTo>
                  <a:pt x="6323837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39673" y="3329178"/>
            <a:ext cx="2101215" cy="0"/>
          </a:xfrm>
          <a:custGeom>
            <a:avLst/>
            <a:gdLst/>
            <a:ahLst/>
            <a:cxnLst/>
            <a:rect l="l" t="t" r="r" b="b"/>
            <a:pathLst>
              <a:path w="2101215" h="0">
                <a:moveTo>
                  <a:pt x="0" y="0"/>
                </a:moveTo>
                <a:lnTo>
                  <a:pt x="2100834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592323" y="5881878"/>
            <a:ext cx="6476365" cy="0"/>
          </a:xfrm>
          <a:custGeom>
            <a:avLst/>
            <a:gdLst/>
            <a:ahLst/>
            <a:cxnLst/>
            <a:rect l="l" t="t" r="r" b="b"/>
            <a:pathLst>
              <a:path w="6476365" h="0">
                <a:moveTo>
                  <a:pt x="0" y="0"/>
                </a:moveTo>
                <a:lnTo>
                  <a:pt x="6476237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39673" y="5881878"/>
            <a:ext cx="2101215" cy="0"/>
          </a:xfrm>
          <a:custGeom>
            <a:avLst/>
            <a:gdLst/>
            <a:ahLst/>
            <a:cxnLst/>
            <a:rect l="l" t="t" r="r" b="b"/>
            <a:pathLst>
              <a:path w="2101215" h="0">
                <a:moveTo>
                  <a:pt x="0" y="0"/>
                </a:moveTo>
                <a:lnTo>
                  <a:pt x="2100834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592323" y="4005834"/>
            <a:ext cx="6323965" cy="0"/>
          </a:xfrm>
          <a:custGeom>
            <a:avLst/>
            <a:gdLst/>
            <a:ahLst/>
            <a:cxnLst/>
            <a:rect l="l" t="t" r="r" b="b"/>
            <a:pathLst>
              <a:path w="6323965" h="0">
                <a:moveTo>
                  <a:pt x="0" y="0"/>
                </a:moveTo>
                <a:lnTo>
                  <a:pt x="6323837" y="0"/>
                </a:lnTo>
              </a:path>
            </a:pathLst>
          </a:custGeom>
          <a:ln w="190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39673" y="4005834"/>
            <a:ext cx="2101215" cy="0"/>
          </a:xfrm>
          <a:custGeom>
            <a:avLst/>
            <a:gdLst/>
            <a:ahLst/>
            <a:cxnLst/>
            <a:rect l="l" t="t" r="r" b="b"/>
            <a:pathLst>
              <a:path w="2101215" h="0">
                <a:moveTo>
                  <a:pt x="0" y="0"/>
                </a:moveTo>
                <a:lnTo>
                  <a:pt x="2100834" y="0"/>
                </a:lnTo>
              </a:path>
            </a:pathLst>
          </a:custGeom>
          <a:ln w="190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592323" y="5206746"/>
            <a:ext cx="6323965" cy="0"/>
          </a:xfrm>
          <a:custGeom>
            <a:avLst/>
            <a:gdLst/>
            <a:ahLst/>
            <a:cxnLst/>
            <a:rect l="l" t="t" r="r" b="b"/>
            <a:pathLst>
              <a:path w="6323965" h="0">
                <a:moveTo>
                  <a:pt x="0" y="0"/>
                </a:moveTo>
                <a:lnTo>
                  <a:pt x="6323837" y="0"/>
                </a:lnTo>
              </a:path>
            </a:pathLst>
          </a:custGeom>
          <a:ln w="190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39673" y="5206746"/>
            <a:ext cx="2101215" cy="0"/>
          </a:xfrm>
          <a:custGeom>
            <a:avLst/>
            <a:gdLst/>
            <a:ahLst/>
            <a:cxnLst/>
            <a:rect l="l" t="t" r="r" b="b"/>
            <a:pathLst>
              <a:path w="2101215" h="0">
                <a:moveTo>
                  <a:pt x="0" y="0"/>
                </a:moveTo>
                <a:lnTo>
                  <a:pt x="2100834" y="0"/>
                </a:lnTo>
              </a:path>
            </a:pathLst>
          </a:custGeom>
          <a:ln w="190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468374" y="2725673"/>
            <a:ext cx="0" cy="3156585"/>
          </a:xfrm>
          <a:custGeom>
            <a:avLst/>
            <a:gdLst/>
            <a:ahLst/>
            <a:cxnLst/>
            <a:rect l="l" t="t" r="r" b="b"/>
            <a:pathLst>
              <a:path w="0" h="3156585">
                <a:moveTo>
                  <a:pt x="0" y="0"/>
                </a:moveTo>
                <a:lnTo>
                  <a:pt x="0" y="3156204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220973" y="4115561"/>
            <a:ext cx="2400300" cy="972819"/>
          </a:xfrm>
          <a:custGeom>
            <a:avLst/>
            <a:gdLst/>
            <a:ahLst/>
            <a:cxnLst/>
            <a:rect l="l" t="t" r="r" b="b"/>
            <a:pathLst>
              <a:path w="2400300" h="972820">
                <a:moveTo>
                  <a:pt x="0" y="486156"/>
                </a:moveTo>
                <a:lnTo>
                  <a:pt x="7042" y="433187"/>
                </a:lnTo>
                <a:lnTo>
                  <a:pt x="27681" y="381869"/>
                </a:lnTo>
                <a:lnTo>
                  <a:pt x="61185" y="332500"/>
                </a:lnTo>
                <a:lnTo>
                  <a:pt x="106821" y="285375"/>
                </a:lnTo>
                <a:lnTo>
                  <a:pt x="163858" y="240792"/>
                </a:lnTo>
                <a:lnTo>
                  <a:pt x="196422" y="219546"/>
                </a:lnTo>
                <a:lnTo>
                  <a:pt x="231562" y="199046"/>
                </a:lnTo>
                <a:lnTo>
                  <a:pt x="269186" y="179330"/>
                </a:lnTo>
                <a:lnTo>
                  <a:pt x="309202" y="160435"/>
                </a:lnTo>
                <a:lnTo>
                  <a:pt x="351520" y="142398"/>
                </a:lnTo>
                <a:lnTo>
                  <a:pt x="396046" y="125256"/>
                </a:lnTo>
                <a:lnTo>
                  <a:pt x="442691" y="109046"/>
                </a:lnTo>
                <a:lnTo>
                  <a:pt x="491361" y="93805"/>
                </a:lnTo>
                <a:lnTo>
                  <a:pt x="541967" y="79570"/>
                </a:lnTo>
                <a:lnTo>
                  <a:pt x="594416" y="66378"/>
                </a:lnTo>
                <a:lnTo>
                  <a:pt x="648617" y="54267"/>
                </a:lnTo>
                <a:lnTo>
                  <a:pt x="704477" y="43273"/>
                </a:lnTo>
                <a:lnTo>
                  <a:pt x="761907" y="33434"/>
                </a:lnTo>
                <a:lnTo>
                  <a:pt x="820814" y="24786"/>
                </a:lnTo>
                <a:lnTo>
                  <a:pt x="881106" y="17367"/>
                </a:lnTo>
                <a:lnTo>
                  <a:pt x="942693" y="11213"/>
                </a:lnTo>
                <a:lnTo>
                  <a:pt x="1005482" y="6363"/>
                </a:lnTo>
                <a:lnTo>
                  <a:pt x="1069382" y="2852"/>
                </a:lnTo>
                <a:lnTo>
                  <a:pt x="1134302" y="719"/>
                </a:lnTo>
                <a:lnTo>
                  <a:pt x="1200150" y="0"/>
                </a:lnTo>
                <a:lnTo>
                  <a:pt x="1265997" y="719"/>
                </a:lnTo>
                <a:lnTo>
                  <a:pt x="1330917" y="2852"/>
                </a:lnTo>
                <a:lnTo>
                  <a:pt x="1394817" y="6363"/>
                </a:lnTo>
                <a:lnTo>
                  <a:pt x="1457606" y="11213"/>
                </a:lnTo>
                <a:lnTo>
                  <a:pt x="1519193" y="17367"/>
                </a:lnTo>
                <a:lnTo>
                  <a:pt x="1579485" y="24786"/>
                </a:lnTo>
                <a:lnTo>
                  <a:pt x="1638392" y="33434"/>
                </a:lnTo>
                <a:lnTo>
                  <a:pt x="1695822" y="43273"/>
                </a:lnTo>
                <a:lnTo>
                  <a:pt x="1751682" y="54267"/>
                </a:lnTo>
                <a:lnTo>
                  <a:pt x="1805883" y="66378"/>
                </a:lnTo>
                <a:lnTo>
                  <a:pt x="1858332" y="79570"/>
                </a:lnTo>
                <a:lnTo>
                  <a:pt x="1908938" y="93805"/>
                </a:lnTo>
                <a:lnTo>
                  <a:pt x="1957608" y="109046"/>
                </a:lnTo>
                <a:lnTo>
                  <a:pt x="2004253" y="125256"/>
                </a:lnTo>
                <a:lnTo>
                  <a:pt x="2048779" y="142398"/>
                </a:lnTo>
                <a:lnTo>
                  <a:pt x="2091097" y="160435"/>
                </a:lnTo>
                <a:lnTo>
                  <a:pt x="2131113" y="179330"/>
                </a:lnTo>
                <a:lnTo>
                  <a:pt x="2168737" y="199046"/>
                </a:lnTo>
                <a:lnTo>
                  <a:pt x="2203877" y="219546"/>
                </a:lnTo>
                <a:lnTo>
                  <a:pt x="2236441" y="240791"/>
                </a:lnTo>
                <a:lnTo>
                  <a:pt x="2293478" y="285375"/>
                </a:lnTo>
                <a:lnTo>
                  <a:pt x="2339114" y="332500"/>
                </a:lnTo>
                <a:lnTo>
                  <a:pt x="2372618" y="381869"/>
                </a:lnTo>
                <a:lnTo>
                  <a:pt x="2393257" y="433187"/>
                </a:lnTo>
                <a:lnTo>
                  <a:pt x="2400300" y="486156"/>
                </a:lnTo>
                <a:lnTo>
                  <a:pt x="2398524" y="512828"/>
                </a:lnTo>
                <a:lnTo>
                  <a:pt x="2384591" y="565008"/>
                </a:lnTo>
                <a:lnTo>
                  <a:pt x="2357428" y="615389"/>
                </a:lnTo>
                <a:lnTo>
                  <a:pt x="2317767" y="663673"/>
                </a:lnTo>
                <a:lnTo>
                  <a:pt x="2266339" y="709564"/>
                </a:lnTo>
                <a:lnTo>
                  <a:pt x="2203877" y="752765"/>
                </a:lnTo>
                <a:lnTo>
                  <a:pt x="2168737" y="773265"/>
                </a:lnTo>
                <a:lnTo>
                  <a:pt x="2131113" y="792981"/>
                </a:lnTo>
                <a:lnTo>
                  <a:pt x="2091097" y="811876"/>
                </a:lnTo>
                <a:lnTo>
                  <a:pt x="2048779" y="829913"/>
                </a:lnTo>
                <a:lnTo>
                  <a:pt x="2004253" y="847055"/>
                </a:lnTo>
                <a:lnTo>
                  <a:pt x="1957608" y="863265"/>
                </a:lnTo>
                <a:lnTo>
                  <a:pt x="1908938" y="878506"/>
                </a:lnTo>
                <a:lnTo>
                  <a:pt x="1858332" y="892741"/>
                </a:lnTo>
                <a:lnTo>
                  <a:pt x="1805883" y="905933"/>
                </a:lnTo>
                <a:lnTo>
                  <a:pt x="1751682" y="918044"/>
                </a:lnTo>
                <a:lnTo>
                  <a:pt x="1695822" y="929038"/>
                </a:lnTo>
                <a:lnTo>
                  <a:pt x="1638392" y="938877"/>
                </a:lnTo>
                <a:lnTo>
                  <a:pt x="1579485" y="947525"/>
                </a:lnTo>
                <a:lnTo>
                  <a:pt x="1519193" y="954944"/>
                </a:lnTo>
                <a:lnTo>
                  <a:pt x="1457606" y="961098"/>
                </a:lnTo>
                <a:lnTo>
                  <a:pt x="1394817" y="965948"/>
                </a:lnTo>
                <a:lnTo>
                  <a:pt x="1330917" y="969459"/>
                </a:lnTo>
                <a:lnTo>
                  <a:pt x="1265997" y="971592"/>
                </a:lnTo>
                <a:lnTo>
                  <a:pt x="1200150" y="972312"/>
                </a:lnTo>
                <a:lnTo>
                  <a:pt x="1134302" y="971592"/>
                </a:lnTo>
                <a:lnTo>
                  <a:pt x="1069382" y="969459"/>
                </a:lnTo>
                <a:lnTo>
                  <a:pt x="1005482" y="965948"/>
                </a:lnTo>
                <a:lnTo>
                  <a:pt x="942693" y="961098"/>
                </a:lnTo>
                <a:lnTo>
                  <a:pt x="881106" y="954944"/>
                </a:lnTo>
                <a:lnTo>
                  <a:pt x="820814" y="947525"/>
                </a:lnTo>
                <a:lnTo>
                  <a:pt x="761907" y="938877"/>
                </a:lnTo>
                <a:lnTo>
                  <a:pt x="704477" y="929038"/>
                </a:lnTo>
                <a:lnTo>
                  <a:pt x="648617" y="918044"/>
                </a:lnTo>
                <a:lnTo>
                  <a:pt x="594416" y="905933"/>
                </a:lnTo>
                <a:lnTo>
                  <a:pt x="541967" y="892741"/>
                </a:lnTo>
                <a:lnTo>
                  <a:pt x="491361" y="878506"/>
                </a:lnTo>
                <a:lnTo>
                  <a:pt x="442691" y="863265"/>
                </a:lnTo>
                <a:lnTo>
                  <a:pt x="396046" y="847055"/>
                </a:lnTo>
                <a:lnTo>
                  <a:pt x="351520" y="829913"/>
                </a:lnTo>
                <a:lnTo>
                  <a:pt x="309202" y="811876"/>
                </a:lnTo>
                <a:lnTo>
                  <a:pt x="269186" y="792981"/>
                </a:lnTo>
                <a:lnTo>
                  <a:pt x="231562" y="773265"/>
                </a:lnTo>
                <a:lnTo>
                  <a:pt x="196422" y="752765"/>
                </a:lnTo>
                <a:lnTo>
                  <a:pt x="163858" y="731520"/>
                </a:lnTo>
                <a:lnTo>
                  <a:pt x="106821" y="686936"/>
                </a:lnTo>
                <a:lnTo>
                  <a:pt x="61185" y="639811"/>
                </a:lnTo>
                <a:lnTo>
                  <a:pt x="27681" y="590442"/>
                </a:lnTo>
                <a:lnTo>
                  <a:pt x="7042" y="539124"/>
                </a:lnTo>
                <a:lnTo>
                  <a:pt x="0" y="486156"/>
                </a:lnTo>
                <a:close/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392673" y="4319778"/>
            <a:ext cx="1104900" cy="23332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392673" y="4319778"/>
            <a:ext cx="1104900" cy="2333625"/>
          </a:xfrm>
          <a:custGeom>
            <a:avLst/>
            <a:gdLst/>
            <a:ahLst/>
            <a:cxnLst/>
            <a:rect l="l" t="t" r="r" b="b"/>
            <a:pathLst>
              <a:path w="1104900" h="2333625">
                <a:moveTo>
                  <a:pt x="1104900" y="1337284"/>
                </a:moveTo>
                <a:lnTo>
                  <a:pt x="1103547" y="1297002"/>
                </a:lnTo>
                <a:lnTo>
                  <a:pt x="1099533" y="1257232"/>
                </a:lnTo>
                <a:lnTo>
                  <a:pt x="1092920" y="1218019"/>
                </a:lnTo>
                <a:lnTo>
                  <a:pt x="1083771" y="1179410"/>
                </a:lnTo>
                <a:lnTo>
                  <a:pt x="1072150" y="1141451"/>
                </a:lnTo>
                <a:lnTo>
                  <a:pt x="1058120" y="1104188"/>
                </a:lnTo>
                <a:lnTo>
                  <a:pt x="1041745" y="1067668"/>
                </a:lnTo>
                <a:lnTo>
                  <a:pt x="1023087" y="1031937"/>
                </a:lnTo>
                <a:lnTo>
                  <a:pt x="1002210" y="997040"/>
                </a:lnTo>
                <a:lnTo>
                  <a:pt x="979177" y="963025"/>
                </a:lnTo>
                <a:lnTo>
                  <a:pt x="954052" y="929938"/>
                </a:lnTo>
                <a:lnTo>
                  <a:pt x="926897" y="897824"/>
                </a:lnTo>
                <a:lnTo>
                  <a:pt x="897777" y="866730"/>
                </a:lnTo>
                <a:lnTo>
                  <a:pt x="866754" y="836702"/>
                </a:lnTo>
                <a:lnTo>
                  <a:pt x="833891" y="807786"/>
                </a:lnTo>
                <a:lnTo>
                  <a:pt x="799253" y="780030"/>
                </a:lnTo>
                <a:lnTo>
                  <a:pt x="762902" y="753478"/>
                </a:lnTo>
                <a:lnTo>
                  <a:pt x="724901" y="728177"/>
                </a:lnTo>
                <a:lnTo>
                  <a:pt x="685315" y="704173"/>
                </a:lnTo>
                <a:lnTo>
                  <a:pt x="644205" y="681513"/>
                </a:lnTo>
                <a:lnTo>
                  <a:pt x="601636" y="660242"/>
                </a:lnTo>
                <a:lnTo>
                  <a:pt x="557671" y="640408"/>
                </a:lnTo>
                <a:lnTo>
                  <a:pt x="512372" y="622056"/>
                </a:lnTo>
                <a:lnTo>
                  <a:pt x="465804" y="605232"/>
                </a:lnTo>
                <a:lnTo>
                  <a:pt x="418030" y="589983"/>
                </a:lnTo>
                <a:lnTo>
                  <a:pt x="369112" y="576354"/>
                </a:lnTo>
                <a:lnTo>
                  <a:pt x="319115" y="564393"/>
                </a:lnTo>
                <a:lnTo>
                  <a:pt x="268101" y="554145"/>
                </a:lnTo>
                <a:lnTo>
                  <a:pt x="216134" y="545657"/>
                </a:lnTo>
                <a:lnTo>
                  <a:pt x="163277" y="538975"/>
                </a:lnTo>
                <a:lnTo>
                  <a:pt x="109593" y="534144"/>
                </a:lnTo>
                <a:lnTo>
                  <a:pt x="55146" y="531212"/>
                </a:lnTo>
                <a:lnTo>
                  <a:pt x="0" y="530225"/>
                </a:lnTo>
                <a:lnTo>
                  <a:pt x="0" y="0"/>
                </a:lnTo>
                <a:lnTo>
                  <a:pt x="55146" y="987"/>
                </a:lnTo>
                <a:lnTo>
                  <a:pt x="109593" y="3919"/>
                </a:lnTo>
                <a:lnTo>
                  <a:pt x="163277" y="8750"/>
                </a:lnTo>
                <a:lnTo>
                  <a:pt x="216134" y="15432"/>
                </a:lnTo>
                <a:lnTo>
                  <a:pt x="268101" y="23920"/>
                </a:lnTo>
                <a:lnTo>
                  <a:pt x="319115" y="34168"/>
                </a:lnTo>
                <a:lnTo>
                  <a:pt x="369112" y="46130"/>
                </a:lnTo>
                <a:lnTo>
                  <a:pt x="418030" y="59758"/>
                </a:lnTo>
                <a:lnTo>
                  <a:pt x="465804" y="75007"/>
                </a:lnTo>
                <a:lnTo>
                  <a:pt x="512372" y="91831"/>
                </a:lnTo>
                <a:lnTo>
                  <a:pt x="557671" y="110184"/>
                </a:lnTo>
                <a:lnTo>
                  <a:pt x="601636" y="130018"/>
                </a:lnTo>
                <a:lnTo>
                  <a:pt x="644205" y="151289"/>
                </a:lnTo>
                <a:lnTo>
                  <a:pt x="685315" y="173950"/>
                </a:lnTo>
                <a:lnTo>
                  <a:pt x="724901" y="197954"/>
                </a:lnTo>
                <a:lnTo>
                  <a:pt x="762902" y="223255"/>
                </a:lnTo>
                <a:lnTo>
                  <a:pt x="799253" y="249808"/>
                </a:lnTo>
                <a:lnTo>
                  <a:pt x="833891" y="277566"/>
                </a:lnTo>
                <a:lnTo>
                  <a:pt x="866754" y="306482"/>
                </a:lnTo>
                <a:lnTo>
                  <a:pt x="897777" y="336510"/>
                </a:lnTo>
                <a:lnTo>
                  <a:pt x="926897" y="367605"/>
                </a:lnTo>
                <a:lnTo>
                  <a:pt x="954052" y="399720"/>
                </a:lnTo>
                <a:lnTo>
                  <a:pt x="979177" y="432809"/>
                </a:lnTo>
                <a:lnTo>
                  <a:pt x="1002210" y="466825"/>
                </a:lnTo>
                <a:lnTo>
                  <a:pt x="1023087" y="501723"/>
                </a:lnTo>
                <a:lnTo>
                  <a:pt x="1041745" y="537455"/>
                </a:lnTo>
                <a:lnTo>
                  <a:pt x="1058120" y="573977"/>
                </a:lnTo>
                <a:lnTo>
                  <a:pt x="1072150" y="611241"/>
                </a:lnTo>
                <a:lnTo>
                  <a:pt x="1083771" y="649202"/>
                </a:lnTo>
                <a:lnTo>
                  <a:pt x="1092920" y="687813"/>
                </a:lnTo>
                <a:lnTo>
                  <a:pt x="1099533" y="727028"/>
                </a:lnTo>
                <a:lnTo>
                  <a:pt x="1103547" y="766800"/>
                </a:lnTo>
                <a:lnTo>
                  <a:pt x="1104900" y="807085"/>
                </a:lnTo>
                <a:lnTo>
                  <a:pt x="1104900" y="1337284"/>
                </a:lnTo>
                <a:lnTo>
                  <a:pt x="1103372" y="1379797"/>
                </a:lnTo>
                <a:lnTo>
                  <a:pt x="1098831" y="1421890"/>
                </a:lnTo>
                <a:lnTo>
                  <a:pt x="1091337" y="1463493"/>
                </a:lnTo>
                <a:lnTo>
                  <a:pt x="1080950" y="1504537"/>
                </a:lnTo>
                <a:lnTo>
                  <a:pt x="1067732" y="1544951"/>
                </a:lnTo>
                <a:lnTo>
                  <a:pt x="1051744" y="1584666"/>
                </a:lnTo>
                <a:lnTo>
                  <a:pt x="1033045" y="1623612"/>
                </a:lnTo>
                <a:lnTo>
                  <a:pt x="1011698" y="1661720"/>
                </a:lnTo>
                <a:lnTo>
                  <a:pt x="987762" y="1698919"/>
                </a:lnTo>
                <a:lnTo>
                  <a:pt x="961299" y="1735141"/>
                </a:lnTo>
                <a:lnTo>
                  <a:pt x="932370" y="1770314"/>
                </a:lnTo>
                <a:lnTo>
                  <a:pt x="901035" y="1804370"/>
                </a:lnTo>
                <a:lnTo>
                  <a:pt x="867355" y="1837239"/>
                </a:lnTo>
                <a:lnTo>
                  <a:pt x="831391" y="1868851"/>
                </a:lnTo>
                <a:lnTo>
                  <a:pt x="793204" y="1899135"/>
                </a:lnTo>
                <a:lnTo>
                  <a:pt x="752855" y="1928024"/>
                </a:lnTo>
                <a:lnTo>
                  <a:pt x="710404" y="1955445"/>
                </a:lnTo>
                <a:lnTo>
                  <a:pt x="665913" y="1981331"/>
                </a:lnTo>
                <a:lnTo>
                  <a:pt x="619441" y="2005611"/>
                </a:lnTo>
                <a:lnTo>
                  <a:pt x="571051" y="2028215"/>
                </a:lnTo>
                <a:lnTo>
                  <a:pt x="520802" y="2049074"/>
                </a:lnTo>
                <a:lnTo>
                  <a:pt x="468756" y="2068118"/>
                </a:lnTo>
                <a:lnTo>
                  <a:pt x="468756" y="2333231"/>
                </a:lnTo>
                <a:lnTo>
                  <a:pt x="0" y="1879219"/>
                </a:lnTo>
                <a:lnTo>
                  <a:pt x="468756" y="1272781"/>
                </a:lnTo>
                <a:lnTo>
                  <a:pt x="468756" y="1537893"/>
                </a:lnTo>
                <a:lnTo>
                  <a:pt x="521859" y="1518435"/>
                </a:lnTo>
                <a:lnTo>
                  <a:pt x="573212" y="1497029"/>
                </a:lnTo>
                <a:lnTo>
                  <a:pt x="622731" y="1473740"/>
                </a:lnTo>
                <a:lnTo>
                  <a:pt x="670334" y="1448638"/>
                </a:lnTo>
                <a:lnTo>
                  <a:pt x="715936" y="1421789"/>
                </a:lnTo>
                <a:lnTo>
                  <a:pt x="759454" y="1393262"/>
                </a:lnTo>
                <a:lnTo>
                  <a:pt x="800805" y="1363123"/>
                </a:lnTo>
                <a:lnTo>
                  <a:pt x="839905" y="1331441"/>
                </a:lnTo>
                <a:lnTo>
                  <a:pt x="876670" y="1298284"/>
                </a:lnTo>
                <a:lnTo>
                  <a:pt x="911018" y="1263718"/>
                </a:lnTo>
                <a:lnTo>
                  <a:pt x="942863" y="1227812"/>
                </a:lnTo>
                <a:lnTo>
                  <a:pt x="972124" y="1190633"/>
                </a:lnTo>
                <a:lnTo>
                  <a:pt x="998715" y="1152248"/>
                </a:lnTo>
                <a:lnTo>
                  <a:pt x="1022555" y="1112726"/>
                </a:lnTo>
                <a:lnTo>
                  <a:pt x="1043559" y="1072134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3565397" y="6032398"/>
            <a:ext cx="166052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多重定义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61" y="464058"/>
            <a:ext cx="9143365" cy="1332230"/>
          </a:xfrm>
          <a:custGeom>
            <a:avLst/>
            <a:gdLst/>
            <a:ahLst/>
            <a:cxnLst/>
            <a:rect l="l" t="t" r="r" b="b"/>
            <a:pathLst>
              <a:path w="9143365" h="1332230">
                <a:moveTo>
                  <a:pt x="0" y="1331976"/>
                </a:moveTo>
                <a:lnTo>
                  <a:pt x="9143238" y="1331976"/>
                </a:lnTo>
                <a:lnTo>
                  <a:pt x="9143238" y="0"/>
                </a:lnTo>
                <a:lnTo>
                  <a:pt x="0" y="0"/>
                </a:lnTo>
                <a:lnTo>
                  <a:pt x="0" y="13319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61" y="1776983"/>
            <a:ext cx="9143365" cy="38100"/>
          </a:xfrm>
          <a:custGeom>
            <a:avLst/>
            <a:gdLst/>
            <a:ahLst/>
            <a:cxnLst/>
            <a:rect l="l" t="t" r="r" b="b"/>
            <a:pathLst>
              <a:path w="9143365" h="38100">
                <a:moveTo>
                  <a:pt x="0" y="38100"/>
                </a:moveTo>
                <a:lnTo>
                  <a:pt x="9143238" y="38100"/>
                </a:lnTo>
                <a:lnTo>
                  <a:pt x="9143238" y="0"/>
                </a:lnTo>
                <a:lnTo>
                  <a:pt x="0" y="0"/>
                </a:lnTo>
                <a:lnTo>
                  <a:pt x="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61" y="464058"/>
            <a:ext cx="9143365" cy="1332230"/>
          </a:xfrm>
          <a:custGeom>
            <a:avLst/>
            <a:gdLst/>
            <a:ahLst/>
            <a:cxnLst/>
            <a:rect l="l" t="t" r="r" b="b"/>
            <a:pathLst>
              <a:path w="9143365" h="1332230">
                <a:moveTo>
                  <a:pt x="9143238" y="0"/>
                </a:moveTo>
                <a:lnTo>
                  <a:pt x="0" y="0"/>
                </a:lnTo>
                <a:lnTo>
                  <a:pt x="0" y="1331976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91439" y="517016"/>
            <a:ext cx="46005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iCtSS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’│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: </a:t>
            </a: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FIRST( </a:t>
            </a:r>
            <a:r>
              <a:rPr dirty="0" sz="2400" spc="-5" b="1" i="1">
                <a:solidFill>
                  <a:srgbClr val="66FFFF"/>
                </a:solidFill>
                <a:latin typeface="Times New Roman"/>
                <a:cs typeface="Times New Roman"/>
              </a:rPr>
              <a:t>iCtSS</a:t>
            </a: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’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)={ </a:t>
            </a:r>
            <a:r>
              <a:rPr dirty="0" sz="2400" b="1" i="1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dirty="0" sz="2400" spc="-185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1439" y="462512"/>
            <a:ext cx="8278495" cy="86677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5654675">
              <a:lnSpc>
                <a:spcPct val="100000"/>
              </a:lnSpc>
              <a:spcBef>
                <a:spcPts val="530"/>
              </a:spcBef>
            </a:pP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FIRST( </a:t>
            </a:r>
            <a:r>
              <a:rPr dirty="0" sz="2400" b="1" i="1">
                <a:solidFill>
                  <a:srgbClr val="66FFFF"/>
                </a:solidFill>
                <a:latin typeface="Times New Roman"/>
                <a:cs typeface="Times New Roman"/>
              </a:rPr>
              <a:t>a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)={ </a:t>
            </a:r>
            <a:r>
              <a:rPr dirty="0" sz="2400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2400" spc="-10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  <a:tabLst>
                <a:tab pos="3660775" algn="l"/>
                <a:tab pos="5655945" algn="l"/>
              </a:tabLst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│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FI</a:t>
            </a:r>
            <a:r>
              <a:rPr dirty="0" sz="2400" spc="-10" b="1">
                <a:solidFill>
                  <a:srgbClr val="66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S</a:t>
            </a:r>
            <a:r>
              <a:rPr dirty="0" sz="2400" spc="-10" b="1">
                <a:solidFill>
                  <a:srgbClr val="66FFFF"/>
                </a:solidFill>
                <a:latin typeface="Times New Roman"/>
                <a:cs typeface="Times New Roman"/>
              </a:rPr>
              <a:t>T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(</a:t>
            </a:r>
            <a:r>
              <a:rPr dirty="0" sz="2400" b="1" i="1">
                <a:solidFill>
                  <a:srgbClr val="66FFFF"/>
                </a:solidFill>
                <a:latin typeface="Times New Roman"/>
                <a:cs typeface="Times New Roman"/>
              </a:rPr>
              <a:t>eS</a:t>
            </a:r>
            <a:r>
              <a:rPr dirty="0" sz="2400" spc="10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)={</a:t>
            </a:r>
            <a:r>
              <a:rPr dirty="0" sz="2400" b="1" i="1">
                <a:solidFill>
                  <a:srgbClr val="66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	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FI</a:t>
            </a:r>
            <a:r>
              <a:rPr dirty="0" sz="2400" spc="-10" b="1">
                <a:solidFill>
                  <a:srgbClr val="66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S</a:t>
            </a:r>
            <a:r>
              <a:rPr dirty="0" sz="2400" spc="-10" b="1">
                <a:solidFill>
                  <a:srgbClr val="66FFFF"/>
                </a:solidFill>
                <a:latin typeface="Times New Roman"/>
                <a:cs typeface="Times New Roman"/>
              </a:rPr>
              <a:t>T</a:t>
            </a:r>
            <a:r>
              <a:rPr dirty="0" sz="2400" spc="5" b="1">
                <a:solidFill>
                  <a:srgbClr val="66FFFF"/>
                </a:solidFill>
                <a:latin typeface="Times New Roman"/>
                <a:cs typeface="Times New Roman"/>
              </a:rPr>
              <a:t>(</a:t>
            </a:r>
            <a:r>
              <a:rPr dirty="0" sz="2400" spc="-5" b="1" i="1">
                <a:solidFill>
                  <a:srgbClr val="66FFFF"/>
                </a:solidFill>
                <a:latin typeface="Times New Roman"/>
                <a:cs typeface="Times New Roman"/>
              </a:rPr>
              <a:t>ε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)={</a:t>
            </a:r>
            <a:r>
              <a:rPr dirty="0" sz="2400" spc="-5" b="1" i="1">
                <a:solidFill>
                  <a:srgbClr val="66FFFF"/>
                </a:solidFill>
                <a:latin typeface="Times New Roman"/>
                <a:cs typeface="Times New Roman"/>
              </a:rPr>
              <a:t>ε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	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FO</a:t>
            </a:r>
            <a:r>
              <a:rPr dirty="0" sz="2400" spc="-10" b="1">
                <a:solidFill>
                  <a:srgbClr val="66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LOW(</a:t>
            </a:r>
            <a:r>
              <a:rPr dirty="0" sz="2400" spc="-5" b="1" i="1">
                <a:solidFill>
                  <a:srgbClr val="66FFFF"/>
                </a:solidFill>
                <a:latin typeface="Times New Roman"/>
                <a:cs typeface="Times New Roman"/>
              </a:rPr>
              <a:t>S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'</a:t>
            </a:r>
            <a:r>
              <a:rPr dirty="0" sz="2400" spc="5" b="1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={#,</a:t>
            </a:r>
            <a:r>
              <a:rPr dirty="0" sz="2400" b="1" i="1">
                <a:solidFill>
                  <a:srgbClr val="66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1439" y="1342161"/>
            <a:ext cx="6743700" cy="12280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1627505" algn="l"/>
              </a:tabLst>
            </a:pPr>
            <a:r>
              <a:rPr dirty="0" sz="2500" spc="-50" b="1" i="1">
                <a:solidFill>
                  <a:srgbClr val="FFFFFF"/>
                </a:solidFill>
                <a:latin typeface="宋体"/>
                <a:cs typeface="宋体"/>
              </a:rPr>
              <a:t>Ｃ</a:t>
            </a:r>
            <a:r>
              <a:rPr dirty="0" sz="2400" spc="-5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:	</a:t>
            </a: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FIRST( </a:t>
            </a:r>
            <a:r>
              <a:rPr dirty="0" sz="2400" b="1" i="1">
                <a:solidFill>
                  <a:srgbClr val="66FFFF"/>
                </a:solidFill>
                <a:latin typeface="Times New Roman"/>
                <a:cs typeface="Times New Roman"/>
              </a:rPr>
              <a:t>b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)={ </a:t>
            </a:r>
            <a:r>
              <a:rPr dirty="0" sz="2400" b="1" i="1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dirty="0" sz="2400" spc="5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50">
              <a:latin typeface="Times New Roman"/>
              <a:cs typeface="Times New Roman"/>
            </a:endParaRPr>
          </a:p>
          <a:p>
            <a:pPr marL="2440940">
              <a:lnSpc>
                <a:spcPct val="100000"/>
              </a:lnSpc>
              <a:spcBef>
                <a:spcPts val="5"/>
              </a:spcBef>
            </a:pPr>
            <a:r>
              <a:rPr dirty="0" u="heavy" sz="32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文法</a:t>
            </a:r>
            <a:r>
              <a:rPr dirty="0" u="heavy" sz="32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G(S)</a:t>
            </a:r>
            <a:r>
              <a:rPr dirty="0" u="heavy" sz="32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的</a:t>
            </a:r>
            <a:r>
              <a:rPr dirty="0" u="heavy" sz="32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LL(1)</a:t>
            </a:r>
            <a:r>
              <a:rPr dirty="0" u="heavy" sz="32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分析表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559557" y="2725673"/>
            <a:ext cx="13970" cy="3156585"/>
          </a:xfrm>
          <a:custGeom>
            <a:avLst/>
            <a:gdLst/>
            <a:ahLst/>
            <a:cxnLst/>
            <a:rect l="l" t="t" r="r" b="b"/>
            <a:pathLst>
              <a:path w="13969" h="3156585">
                <a:moveTo>
                  <a:pt x="13716" y="0"/>
                </a:moveTo>
                <a:lnTo>
                  <a:pt x="0" y="3156204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530346" y="2725673"/>
            <a:ext cx="0" cy="3156585"/>
          </a:xfrm>
          <a:custGeom>
            <a:avLst/>
            <a:gdLst/>
            <a:ahLst/>
            <a:cxnLst/>
            <a:rect l="l" t="t" r="r" b="b"/>
            <a:pathLst>
              <a:path w="0" h="3156585">
                <a:moveTo>
                  <a:pt x="0" y="0"/>
                </a:moveTo>
                <a:lnTo>
                  <a:pt x="0" y="3156204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023865" y="2725673"/>
            <a:ext cx="12700" cy="3156585"/>
          </a:xfrm>
          <a:custGeom>
            <a:avLst/>
            <a:gdLst/>
            <a:ahLst/>
            <a:cxnLst/>
            <a:rect l="l" t="t" r="r" b="b"/>
            <a:pathLst>
              <a:path w="12700" h="3156585">
                <a:moveTo>
                  <a:pt x="12192" y="0"/>
                </a:moveTo>
                <a:lnTo>
                  <a:pt x="0" y="3156204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660642" y="2725673"/>
            <a:ext cx="0" cy="3156585"/>
          </a:xfrm>
          <a:custGeom>
            <a:avLst/>
            <a:gdLst/>
            <a:ahLst/>
            <a:cxnLst/>
            <a:rect l="l" t="t" r="r" b="b"/>
            <a:pathLst>
              <a:path w="0" h="3156585">
                <a:moveTo>
                  <a:pt x="0" y="0"/>
                </a:moveTo>
                <a:lnTo>
                  <a:pt x="0" y="3156204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329678" y="2725673"/>
            <a:ext cx="0" cy="3156585"/>
          </a:xfrm>
          <a:custGeom>
            <a:avLst/>
            <a:gdLst/>
            <a:ahLst/>
            <a:cxnLst/>
            <a:rect l="l" t="t" r="r" b="b"/>
            <a:pathLst>
              <a:path w="0" h="3156585">
                <a:moveTo>
                  <a:pt x="0" y="0"/>
                </a:moveTo>
                <a:lnTo>
                  <a:pt x="0" y="3156204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8916161" y="2725673"/>
            <a:ext cx="0" cy="3156585"/>
          </a:xfrm>
          <a:custGeom>
            <a:avLst/>
            <a:gdLst/>
            <a:ahLst/>
            <a:cxnLst/>
            <a:rect l="l" t="t" r="r" b="b"/>
            <a:pathLst>
              <a:path w="0" h="3156585">
                <a:moveTo>
                  <a:pt x="0" y="0"/>
                </a:moveTo>
                <a:lnTo>
                  <a:pt x="0" y="3156204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39673" y="2725673"/>
            <a:ext cx="0" cy="3156585"/>
          </a:xfrm>
          <a:custGeom>
            <a:avLst/>
            <a:gdLst/>
            <a:ahLst/>
            <a:cxnLst/>
            <a:rect l="l" t="t" r="r" b="b"/>
            <a:pathLst>
              <a:path w="0" h="3156585">
                <a:moveTo>
                  <a:pt x="0" y="0"/>
                </a:moveTo>
                <a:lnTo>
                  <a:pt x="0" y="3156204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1389" y="1890471"/>
            <a:ext cx="661924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08075" algn="l"/>
              </a:tabLst>
            </a:pPr>
            <a:r>
              <a:rPr dirty="0" sz="4000" spc="-5">
                <a:solidFill>
                  <a:srgbClr val="FA54FA"/>
                </a:solidFill>
              </a:rPr>
              <a:t>4.4	</a:t>
            </a:r>
            <a:r>
              <a:rPr dirty="0" sz="3600" spc="-5">
                <a:solidFill>
                  <a:srgbClr val="FA54FA"/>
                </a:solidFill>
              </a:rPr>
              <a:t>LL(1)</a:t>
            </a:r>
            <a:r>
              <a:rPr dirty="0" sz="3600" spc="-5">
                <a:solidFill>
                  <a:srgbClr val="FA54FA"/>
                </a:solidFill>
                <a:latin typeface="宋体"/>
                <a:cs typeface="宋体"/>
              </a:rPr>
              <a:t>分析法与</a:t>
            </a:r>
            <a:r>
              <a:rPr dirty="0" sz="3600" spc="-5">
                <a:solidFill>
                  <a:srgbClr val="FA54FA"/>
                </a:solidFill>
              </a:rPr>
              <a:t>LL(1)</a:t>
            </a:r>
            <a:r>
              <a:rPr dirty="0" sz="3600" spc="-5">
                <a:solidFill>
                  <a:srgbClr val="FA54FA"/>
                </a:solidFill>
                <a:latin typeface="宋体"/>
                <a:cs typeface="宋体"/>
              </a:rPr>
              <a:t>分析器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52041" y="2927349"/>
            <a:ext cx="6315710" cy="2616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lvl="2" marL="1489075" indent="-1477010">
              <a:lnSpc>
                <a:spcPct val="100000"/>
              </a:lnSpc>
              <a:spcBef>
                <a:spcPts val="95"/>
              </a:spcBef>
              <a:buSzPct val="111111"/>
              <a:buAutoNum type="arabicPeriod"/>
              <a:tabLst>
                <a:tab pos="1489075" algn="l"/>
                <a:tab pos="1489710" algn="l"/>
              </a:tabLst>
            </a:pPr>
            <a:r>
              <a:rPr dirty="0" sz="3600" spc="-5" b="1">
                <a:solidFill>
                  <a:srgbClr val="FFFF66"/>
                </a:solidFill>
                <a:latin typeface="Times New Roman"/>
                <a:cs typeface="Times New Roman"/>
              </a:rPr>
              <a:t>LL(1)</a:t>
            </a:r>
            <a:r>
              <a:rPr dirty="0" sz="3600" spc="-5" b="1">
                <a:solidFill>
                  <a:srgbClr val="FFFF66"/>
                </a:solidFill>
                <a:latin typeface="宋体"/>
                <a:cs typeface="宋体"/>
              </a:rPr>
              <a:t>分析器的逻辑结构</a:t>
            </a:r>
            <a:endParaRPr sz="3600">
              <a:latin typeface="宋体"/>
              <a:cs typeface="宋体"/>
            </a:endParaRPr>
          </a:p>
          <a:p>
            <a:pPr lvl="2" marL="1489075" indent="-1477010">
              <a:lnSpc>
                <a:spcPct val="100000"/>
              </a:lnSpc>
              <a:spcBef>
                <a:spcPts val="3365"/>
              </a:spcBef>
              <a:buSzPct val="111111"/>
              <a:buAutoNum type="arabicPeriod"/>
              <a:tabLst>
                <a:tab pos="1489075" algn="l"/>
                <a:tab pos="1489710" algn="l"/>
              </a:tabLst>
            </a:pPr>
            <a:r>
              <a:rPr dirty="0" sz="3600" spc="-5" b="1">
                <a:solidFill>
                  <a:srgbClr val="FFFF66"/>
                </a:solidFill>
                <a:latin typeface="Times New Roman"/>
                <a:cs typeface="Times New Roman"/>
              </a:rPr>
              <a:t>LL(1)</a:t>
            </a:r>
            <a:r>
              <a:rPr dirty="0" sz="3600" spc="-5" b="1">
                <a:solidFill>
                  <a:srgbClr val="FFFF66"/>
                </a:solidFill>
                <a:latin typeface="宋体"/>
                <a:cs typeface="宋体"/>
              </a:rPr>
              <a:t>分析器的构造</a:t>
            </a:r>
            <a:endParaRPr sz="3600">
              <a:latin typeface="宋体"/>
              <a:cs typeface="宋体"/>
            </a:endParaRPr>
          </a:p>
          <a:p>
            <a:pPr lvl="2" marL="1489075" indent="-1477010">
              <a:lnSpc>
                <a:spcPct val="100000"/>
              </a:lnSpc>
              <a:spcBef>
                <a:spcPts val="2640"/>
              </a:spcBef>
              <a:buClr>
                <a:srgbClr val="FFFF00"/>
              </a:buClr>
              <a:buSzPct val="111111"/>
              <a:buFont typeface="Times New Roman"/>
              <a:buAutoNum type="arabicPeriod"/>
              <a:tabLst>
                <a:tab pos="1489075" algn="l"/>
                <a:tab pos="1489710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关于</a:t>
            </a: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LL(1)</a:t>
            </a:r>
            <a:r>
              <a:rPr dirty="0" sz="3600" spc="-10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75485" y="26923"/>
            <a:ext cx="15589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970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60470" y="26923"/>
            <a:ext cx="353250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4.4</a:t>
            </a:r>
            <a:r>
              <a:rPr dirty="0" sz="2000" spc="4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分析法与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0791" y="4928615"/>
            <a:ext cx="1336675" cy="775970"/>
          </a:xfrm>
          <a:custGeom>
            <a:avLst/>
            <a:gdLst/>
            <a:ahLst/>
            <a:cxnLst/>
            <a:rect l="l" t="t" r="r" b="b"/>
            <a:pathLst>
              <a:path w="1336675" h="775970">
                <a:moveTo>
                  <a:pt x="1002004" y="0"/>
                </a:moveTo>
                <a:lnTo>
                  <a:pt x="1002004" y="193928"/>
                </a:lnTo>
                <a:lnTo>
                  <a:pt x="0" y="193928"/>
                </a:lnTo>
                <a:lnTo>
                  <a:pt x="0" y="581786"/>
                </a:lnTo>
                <a:lnTo>
                  <a:pt x="1002004" y="581786"/>
                </a:lnTo>
                <a:lnTo>
                  <a:pt x="1002004" y="775715"/>
                </a:lnTo>
                <a:lnTo>
                  <a:pt x="1336548" y="387857"/>
                </a:lnTo>
                <a:lnTo>
                  <a:pt x="1002004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40791" y="4928615"/>
            <a:ext cx="1336675" cy="775970"/>
          </a:xfrm>
          <a:custGeom>
            <a:avLst/>
            <a:gdLst/>
            <a:ahLst/>
            <a:cxnLst/>
            <a:rect l="l" t="t" r="r" b="b"/>
            <a:pathLst>
              <a:path w="1336675" h="775970">
                <a:moveTo>
                  <a:pt x="1336548" y="387857"/>
                </a:moveTo>
                <a:lnTo>
                  <a:pt x="1002004" y="0"/>
                </a:lnTo>
                <a:lnTo>
                  <a:pt x="1002004" y="193928"/>
                </a:lnTo>
                <a:lnTo>
                  <a:pt x="0" y="193928"/>
                </a:lnTo>
                <a:lnTo>
                  <a:pt x="0" y="581786"/>
                </a:lnTo>
                <a:lnTo>
                  <a:pt x="1002004" y="581786"/>
                </a:lnTo>
                <a:lnTo>
                  <a:pt x="1002004" y="775715"/>
                </a:lnTo>
                <a:lnTo>
                  <a:pt x="1336548" y="387857"/>
                </a:lnTo>
                <a:close/>
              </a:path>
            </a:pathLst>
          </a:custGeom>
          <a:ln w="9525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83083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50414" algn="l"/>
                <a:tab pos="5935345" algn="l"/>
                <a:tab pos="6633845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L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(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分析法与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L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(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1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析器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关于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</a:t>
            </a:r>
            <a:r>
              <a:rPr dirty="0" u="sng" sz="2000" spc="-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文法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3540" y="664845"/>
            <a:ext cx="1669414" cy="587375"/>
          </a:xfrm>
          <a:prstGeom prst="rect"/>
        </p:spPr>
        <p:txBody>
          <a:bodyPr wrap="square" lIns="0" tIns="74295" rIns="0" bIns="0" rtlCol="0" vert="horz">
            <a:spAutoFit/>
          </a:bodyPr>
          <a:lstStyle/>
          <a:p>
            <a:pPr marL="329565" indent="-317500">
              <a:lnSpc>
                <a:spcPct val="100000"/>
              </a:lnSpc>
              <a:spcBef>
                <a:spcPts val="585"/>
              </a:spcBef>
              <a:buClr>
                <a:srgbClr val="99FFCC"/>
              </a:buClr>
              <a:buSzPct val="114062"/>
              <a:buFont typeface="Wingdings"/>
              <a:buChar char=""/>
              <a:tabLst>
                <a:tab pos="330200" algn="l"/>
              </a:tabLst>
            </a:pPr>
            <a:r>
              <a:rPr dirty="0" sz="3200">
                <a:latin typeface="宋体"/>
                <a:cs typeface="宋体"/>
              </a:rPr>
              <a:t>定义</a:t>
            </a:r>
            <a:r>
              <a:rPr dirty="0" sz="3200" spc="5"/>
              <a:t>4</a:t>
            </a:r>
            <a:r>
              <a:rPr dirty="0" sz="3200"/>
              <a:t>.6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51304" y="4265676"/>
            <a:ext cx="463550" cy="0"/>
          </a:xfrm>
          <a:custGeom>
            <a:avLst/>
            <a:gdLst/>
            <a:ahLst/>
            <a:cxnLst/>
            <a:rect l="l" t="t" r="r" b="b"/>
            <a:pathLst>
              <a:path w="463550" h="0">
                <a:moveTo>
                  <a:pt x="0" y="0"/>
                </a:moveTo>
                <a:lnTo>
                  <a:pt x="463295" y="0"/>
                </a:lnTo>
              </a:path>
            </a:pathLst>
          </a:custGeom>
          <a:ln w="5715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260854" y="4266438"/>
            <a:ext cx="0" cy="1602105"/>
          </a:xfrm>
          <a:custGeom>
            <a:avLst/>
            <a:gdLst/>
            <a:ahLst/>
            <a:cxnLst/>
            <a:rect l="l" t="t" r="r" b="b"/>
            <a:pathLst>
              <a:path w="0" h="1602104">
                <a:moveTo>
                  <a:pt x="0" y="0"/>
                </a:moveTo>
                <a:lnTo>
                  <a:pt x="0" y="1601724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260854" y="5811011"/>
            <a:ext cx="1239520" cy="114300"/>
          </a:xfrm>
          <a:custGeom>
            <a:avLst/>
            <a:gdLst/>
            <a:ahLst/>
            <a:cxnLst/>
            <a:rect l="l" t="t" r="r" b="b"/>
            <a:pathLst>
              <a:path w="1239520" h="114300">
                <a:moveTo>
                  <a:pt x="1124711" y="0"/>
                </a:moveTo>
                <a:lnTo>
                  <a:pt x="1124711" y="114300"/>
                </a:lnTo>
                <a:lnTo>
                  <a:pt x="1200911" y="76200"/>
                </a:lnTo>
                <a:lnTo>
                  <a:pt x="1143761" y="76200"/>
                </a:lnTo>
                <a:lnTo>
                  <a:pt x="1143761" y="38100"/>
                </a:lnTo>
                <a:lnTo>
                  <a:pt x="1200911" y="38100"/>
                </a:lnTo>
                <a:lnTo>
                  <a:pt x="1124711" y="0"/>
                </a:lnTo>
                <a:close/>
              </a:path>
              <a:path w="1239520" h="114300">
                <a:moveTo>
                  <a:pt x="112471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124711" y="76200"/>
                </a:lnTo>
                <a:lnTo>
                  <a:pt x="1124711" y="38100"/>
                </a:lnTo>
                <a:close/>
              </a:path>
              <a:path w="1239520" h="114300">
                <a:moveTo>
                  <a:pt x="1200911" y="38100"/>
                </a:moveTo>
                <a:lnTo>
                  <a:pt x="1143761" y="38100"/>
                </a:lnTo>
                <a:lnTo>
                  <a:pt x="1143761" y="76200"/>
                </a:lnTo>
                <a:lnTo>
                  <a:pt x="1200911" y="76200"/>
                </a:lnTo>
                <a:lnTo>
                  <a:pt x="1239011" y="57150"/>
                </a:lnTo>
                <a:lnTo>
                  <a:pt x="120091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667000" y="4265676"/>
            <a:ext cx="463550" cy="0"/>
          </a:xfrm>
          <a:custGeom>
            <a:avLst/>
            <a:gdLst/>
            <a:ahLst/>
            <a:cxnLst/>
            <a:rect l="l" t="t" r="r" b="b"/>
            <a:pathLst>
              <a:path w="463550" h="0">
                <a:moveTo>
                  <a:pt x="0" y="0"/>
                </a:moveTo>
                <a:lnTo>
                  <a:pt x="463295" y="0"/>
                </a:lnTo>
              </a:path>
            </a:pathLst>
          </a:custGeom>
          <a:ln w="5715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878073" y="4303014"/>
            <a:ext cx="0" cy="1031875"/>
          </a:xfrm>
          <a:custGeom>
            <a:avLst/>
            <a:gdLst/>
            <a:ahLst/>
            <a:cxnLst/>
            <a:rect l="l" t="t" r="r" b="b"/>
            <a:pathLst>
              <a:path w="0" h="1031875">
                <a:moveTo>
                  <a:pt x="0" y="0"/>
                </a:moveTo>
                <a:lnTo>
                  <a:pt x="0" y="1031748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878073" y="5277611"/>
            <a:ext cx="622300" cy="114300"/>
          </a:xfrm>
          <a:custGeom>
            <a:avLst/>
            <a:gdLst/>
            <a:ahLst/>
            <a:cxnLst/>
            <a:rect l="l" t="t" r="r" b="b"/>
            <a:pathLst>
              <a:path w="622300" h="114300">
                <a:moveTo>
                  <a:pt x="507491" y="0"/>
                </a:moveTo>
                <a:lnTo>
                  <a:pt x="507491" y="114300"/>
                </a:lnTo>
                <a:lnTo>
                  <a:pt x="583691" y="76200"/>
                </a:lnTo>
                <a:lnTo>
                  <a:pt x="526541" y="76200"/>
                </a:lnTo>
                <a:lnTo>
                  <a:pt x="526541" y="38100"/>
                </a:lnTo>
                <a:lnTo>
                  <a:pt x="583691" y="38100"/>
                </a:lnTo>
                <a:lnTo>
                  <a:pt x="507491" y="0"/>
                </a:lnTo>
                <a:close/>
              </a:path>
              <a:path w="622300" h="114300">
                <a:moveTo>
                  <a:pt x="50749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07491" y="76200"/>
                </a:lnTo>
                <a:lnTo>
                  <a:pt x="507491" y="38100"/>
                </a:lnTo>
                <a:close/>
              </a:path>
              <a:path w="622300" h="114300">
                <a:moveTo>
                  <a:pt x="583691" y="38100"/>
                </a:moveTo>
                <a:lnTo>
                  <a:pt x="526541" y="38100"/>
                </a:lnTo>
                <a:lnTo>
                  <a:pt x="526541" y="76200"/>
                </a:lnTo>
                <a:lnTo>
                  <a:pt x="583691" y="76200"/>
                </a:lnTo>
                <a:lnTo>
                  <a:pt x="621791" y="57150"/>
                </a:lnTo>
                <a:lnTo>
                  <a:pt x="583691" y="3810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288791" y="4302252"/>
            <a:ext cx="464820" cy="0"/>
          </a:xfrm>
          <a:custGeom>
            <a:avLst/>
            <a:gdLst/>
            <a:ahLst/>
            <a:cxnLst/>
            <a:rect l="l" t="t" r="r" b="b"/>
            <a:pathLst>
              <a:path w="464820" h="0">
                <a:moveTo>
                  <a:pt x="0" y="0"/>
                </a:moveTo>
                <a:lnTo>
                  <a:pt x="464820" y="0"/>
                </a:lnTo>
              </a:path>
            </a:pathLst>
          </a:custGeom>
          <a:ln w="5715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499865" y="4303014"/>
            <a:ext cx="0" cy="422275"/>
          </a:xfrm>
          <a:custGeom>
            <a:avLst/>
            <a:gdLst/>
            <a:ahLst/>
            <a:cxnLst/>
            <a:rect l="l" t="t" r="r" b="b"/>
            <a:pathLst>
              <a:path w="0" h="422275">
                <a:moveTo>
                  <a:pt x="0" y="0"/>
                </a:moveTo>
                <a:lnTo>
                  <a:pt x="0" y="422148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499865" y="4668011"/>
            <a:ext cx="254635" cy="114300"/>
          </a:xfrm>
          <a:custGeom>
            <a:avLst/>
            <a:gdLst/>
            <a:ahLst/>
            <a:cxnLst/>
            <a:rect l="l" t="t" r="r" b="b"/>
            <a:pathLst>
              <a:path w="254635" h="114300">
                <a:moveTo>
                  <a:pt x="140208" y="0"/>
                </a:moveTo>
                <a:lnTo>
                  <a:pt x="140208" y="114300"/>
                </a:lnTo>
                <a:lnTo>
                  <a:pt x="216408" y="76200"/>
                </a:lnTo>
                <a:lnTo>
                  <a:pt x="159258" y="76200"/>
                </a:lnTo>
                <a:lnTo>
                  <a:pt x="159258" y="38100"/>
                </a:lnTo>
                <a:lnTo>
                  <a:pt x="216408" y="38100"/>
                </a:lnTo>
                <a:lnTo>
                  <a:pt x="140208" y="0"/>
                </a:lnTo>
                <a:close/>
              </a:path>
              <a:path w="254635" h="114300">
                <a:moveTo>
                  <a:pt x="14020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40208" y="76200"/>
                </a:lnTo>
                <a:lnTo>
                  <a:pt x="140208" y="38100"/>
                </a:lnTo>
                <a:close/>
              </a:path>
              <a:path w="254635" h="114300">
                <a:moveTo>
                  <a:pt x="216408" y="38100"/>
                </a:moveTo>
                <a:lnTo>
                  <a:pt x="159258" y="38100"/>
                </a:lnTo>
                <a:lnTo>
                  <a:pt x="159258" y="76200"/>
                </a:lnTo>
                <a:lnTo>
                  <a:pt x="216408" y="76200"/>
                </a:lnTo>
                <a:lnTo>
                  <a:pt x="254508" y="57150"/>
                </a:lnTo>
                <a:lnTo>
                  <a:pt x="216408" y="38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83540" y="1189280"/>
            <a:ext cx="8647430" cy="486092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just" marL="12700" marR="669290" indent="914400">
              <a:lnSpc>
                <a:spcPct val="129000"/>
              </a:lnSpc>
              <a:spcBef>
                <a:spcPts val="13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一部文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，若它的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LL(1)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3350" spc="-150" b="1" i="1">
                <a:solidFill>
                  <a:srgbClr val="FFFFFF"/>
                </a:solidFill>
                <a:latin typeface="宋体"/>
                <a:cs typeface="宋体"/>
              </a:rPr>
              <a:t>Ｍ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不含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多重定义入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口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，则称它是一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LL(1)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文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由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LL(1)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文法产生的语言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称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LL(1)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语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言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650">
              <a:latin typeface="宋体"/>
              <a:cs typeface="宋体"/>
            </a:endParaRPr>
          </a:p>
          <a:p>
            <a:pPr marL="1758950">
              <a:lnSpc>
                <a:spcPct val="100000"/>
              </a:lnSpc>
              <a:spcBef>
                <a:spcPts val="5"/>
              </a:spcBef>
            </a:pPr>
            <a:r>
              <a:rPr dirty="0" sz="4400" b="1">
                <a:solidFill>
                  <a:srgbClr val="FFFFFF"/>
                </a:solidFill>
                <a:latin typeface="Times New Roman"/>
                <a:cs typeface="Times New Roman"/>
              </a:rPr>
              <a:t>L L</a:t>
            </a:r>
            <a:r>
              <a:rPr dirty="0" sz="4400" spc="-48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44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4400" spc="-5" b="1" i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44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4400">
              <a:latin typeface="Times New Roman"/>
              <a:cs typeface="Times New Roman"/>
            </a:endParaRPr>
          </a:p>
          <a:p>
            <a:pPr marL="3461385" marR="5080">
              <a:lnSpc>
                <a:spcPct val="116799"/>
              </a:lnSpc>
              <a:spcBef>
                <a:spcPts val="1225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在分析中最多向前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看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个输入字符 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分析模式：最左推导</a:t>
            </a:r>
            <a:endParaRPr sz="2800">
              <a:latin typeface="宋体"/>
              <a:cs typeface="宋体"/>
            </a:endParaRPr>
          </a:p>
          <a:p>
            <a:pPr marL="3461385">
              <a:lnSpc>
                <a:spcPct val="100000"/>
              </a:lnSpc>
              <a:spcBef>
                <a:spcPts val="174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扫描模式：自左向右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83083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50414" algn="l"/>
                <a:tab pos="5935345" algn="l"/>
                <a:tab pos="6633845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L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(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分析法与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L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(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1</a:t>
            </a:r>
            <a:r>
              <a:rPr dirty="0" sz="2000" spc="-5" b="1">
                <a:solidFill>
                  <a:srgbClr val="A15100"/>
                </a:solidFill>
                <a:latin typeface="Times New Roman"/>
                <a:cs typeface="Times New Roman"/>
              </a:rPr>
              <a:t>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析器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关于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</a:t>
            </a:r>
            <a:r>
              <a:rPr dirty="0" u="sng" sz="2000" spc="-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文法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51000" y="712088"/>
            <a:ext cx="695642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3200"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关于</a:t>
            </a:r>
            <a:r>
              <a:rPr dirty="0" u="heavy" sz="3200">
                <a:uFill>
                  <a:solidFill>
                    <a:srgbClr val="FFFF00"/>
                  </a:solidFill>
                </a:uFill>
              </a:rPr>
              <a:t>LL(1)</a:t>
            </a:r>
            <a:r>
              <a:rPr dirty="0" u="heavy" sz="3200"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文法及</a:t>
            </a:r>
            <a:r>
              <a:rPr dirty="0" u="heavy" sz="3200">
                <a:uFill>
                  <a:solidFill>
                    <a:srgbClr val="FFFF00"/>
                  </a:solidFill>
                </a:uFill>
              </a:rPr>
              <a:t>LL(1)</a:t>
            </a:r>
            <a:r>
              <a:rPr dirty="0" u="heavy" sz="3200" spc="-5"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语言</a:t>
            </a:r>
            <a:r>
              <a:rPr dirty="0" u="heavy" sz="3200" spc="-10"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重</a:t>
            </a:r>
            <a:r>
              <a:rPr dirty="0" u="heavy" sz="3200" spc="-5"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要的</a:t>
            </a:r>
            <a:r>
              <a:rPr dirty="0" u="heavy" sz="3200" spc="-10"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性质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90216" y="3753611"/>
            <a:ext cx="1398270" cy="8968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59740" y="1199644"/>
            <a:ext cx="8335009" cy="5099685"/>
          </a:xfrm>
          <a:prstGeom prst="rect">
            <a:avLst/>
          </a:prstGeom>
        </p:spPr>
        <p:txBody>
          <a:bodyPr wrap="square" lIns="0" tIns="159385" rIns="0" bIns="0" rtlCol="0" vert="horz">
            <a:spAutoFit/>
          </a:bodyPr>
          <a:lstStyle/>
          <a:p>
            <a:pPr marL="114300">
              <a:lnSpc>
                <a:spcPct val="100000"/>
              </a:lnSpc>
              <a:spcBef>
                <a:spcPts val="125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⑴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任何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LL(1)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文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是无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义性</a:t>
            </a:r>
            <a:r>
              <a:rPr dirty="0" sz="3200" spc="1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114300">
              <a:lnSpc>
                <a:spcPct val="100000"/>
              </a:lnSpc>
              <a:spcBef>
                <a:spcPts val="1155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⑵</a:t>
            </a:r>
            <a:r>
              <a:rPr dirty="0" sz="3200" spc="-124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395" b="1">
                <a:solidFill>
                  <a:srgbClr val="FFFFFF"/>
                </a:solidFill>
                <a:latin typeface="宋体"/>
                <a:cs typeface="宋体"/>
              </a:rPr>
              <a:t>若一文</a:t>
            </a:r>
            <a:r>
              <a:rPr dirty="0" sz="3200" spc="40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spc="395" b="1">
                <a:solidFill>
                  <a:srgbClr val="FFFFFF"/>
                </a:solidFill>
                <a:latin typeface="宋体"/>
                <a:cs typeface="宋体"/>
              </a:rPr>
              <a:t>为左递</a:t>
            </a:r>
            <a:r>
              <a:rPr dirty="0" sz="3200" spc="400" b="1">
                <a:solidFill>
                  <a:srgbClr val="FFFFFF"/>
                </a:solidFill>
                <a:latin typeface="宋体"/>
                <a:cs typeface="宋体"/>
              </a:rPr>
              <a:t>归</a:t>
            </a:r>
            <a:r>
              <a:rPr dirty="0" sz="3200" spc="395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123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395" b="1">
                <a:solidFill>
                  <a:srgbClr val="FFFFFF"/>
                </a:solidFill>
                <a:latin typeface="宋体"/>
                <a:cs typeface="宋体"/>
              </a:rPr>
              <a:t>则它必然</a:t>
            </a:r>
            <a:r>
              <a:rPr dirty="0" sz="3200" spc="405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非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LL(1)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114300">
              <a:lnSpc>
                <a:spcPct val="100000"/>
              </a:lnSpc>
              <a:spcBef>
                <a:spcPts val="1155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⑶</a:t>
            </a:r>
            <a:r>
              <a:rPr dirty="0" sz="3200" spc="-81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非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LL(1)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语言是存在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114300">
              <a:lnSpc>
                <a:spcPct val="100000"/>
              </a:lnSpc>
              <a:spcBef>
                <a:spcPts val="1155"/>
              </a:spcBef>
            </a:pPr>
            <a:r>
              <a:rPr dirty="0" sz="3200" spc="204" b="1">
                <a:solidFill>
                  <a:srgbClr val="FFFFFF"/>
                </a:solidFill>
                <a:latin typeface="宋体"/>
                <a:cs typeface="宋体"/>
              </a:rPr>
              <a:t>⑷</a:t>
            </a:r>
            <a:r>
              <a:rPr dirty="0" sz="3200" spc="190" b="1">
                <a:solidFill>
                  <a:srgbClr val="FFFFFF"/>
                </a:solidFill>
                <a:latin typeface="宋体"/>
                <a:cs typeface="宋体"/>
              </a:rPr>
              <a:t>存在</a:t>
            </a:r>
            <a:r>
              <a:rPr dirty="0" sz="3200" spc="200" b="1">
                <a:solidFill>
                  <a:srgbClr val="FFFFFF"/>
                </a:solidFill>
                <a:latin typeface="宋体"/>
                <a:cs typeface="宋体"/>
              </a:rPr>
              <a:t>一种</a:t>
            </a:r>
            <a:r>
              <a:rPr dirty="0" sz="3200" spc="195" b="1">
                <a:solidFill>
                  <a:srgbClr val="FF99CC"/>
                </a:solidFill>
                <a:latin typeface="宋体"/>
                <a:cs typeface="宋体"/>
              </a:rPr>
              <a:t>算</a:t>
            </a:r>
            <a:r>
              <a:rPr dirty="0" sz="3200" spc="204" b="1">
                <a:solidFill>
                  <a:srgbClr val="FF99CC"/>
                </a:solidFill>
                <a:latin typeface="宋体"/>
                <a:cs typeface="宋体"/>
              </a:rPr>
              <a:t>法</a:t>
            </a:r>
            <a:r>
              <a:rPr dirty="0" sz="3200" spc="190" b="1">
                <a:solidFill>
                  <a:srgbClr val="FFFFFF"/>
                </a:solidFill>
                <a:latin typeface="宋体"/>
                <a:cs typeface="宋体"/>
              </a:rPr>
              <a:t>，它</a:t>
            </a:r>
            <a:r>
              <a:rPr dirty="0" sz="3200" spc="200" b="1">
                <a:solidFill>
                  <a:srgbClr val="FFFFFF"/>
                </a:solidFill>
                <a:latin typeface="宋体"/>
                <a:cs typeface="宋体"/>
              </a:rPr>
              <a:t>能</a:t>
            </a:r>
            <a:r>
              <a:rPr dirty="0" sz="3200" spc="190" b="1">
                <a:solidFill>
                  <a:srgbClr val="FFFFFF"/>
                </a:solidFill>
                <a:latin typeface="宋体"/>
                <a:cs typeface="宋体"/>
              </a:rPr>
              <a:t>判定</a:t>
            </a:r>
            <a:r>
              <a:rPr dirty="0" sz="3200" spc="200" b="1">
                <a:solidFill>
                  <a:srgbClr val="FFFFFF"/>
                </a:solidFill>
                <a:latin typeface="宋体"/>
                <a:cs typeface="宋体"/>
              </a:rPr>
              <a:t>任</a:t>
            </a:r>
            <a:r>
              <a:rPr dirty="0" sz="3200" spc="190" b="1">
                <a:solidFill>
                  <a:srgbClr val="FFFFFF"/>
                </a:solidFill>
                <a:latin typeface="宋体"/>
                <a:cs typeface="宋体"/>
              </a:rPr>
              <a:t>一文</a:t>
            </a:r>
            <a:r>
              <a:rPr dirty="0" sz="3200" spc="20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spc="190" b="1">
                <a:solidFill>
                  <a:srgbClr val="FFFFFF"/>
                </a:solidFill>
                <a:latin typeface="宋体"/>
                <a:cs typeface="宋体"/>
              </a:rPr>
              <a:t>是否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LL(1)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12700" marR="6350" indent="203835">
              <a:lnSpc>
                <a:spcPts val="4990"/>
              </a:lnSpc>
              <a:spcBef>
                <a:spcPts val="360"/>
              </a:spcBef>
            </a:pPr>
            <a:r>
              <a:rPr dirty="0" sz="3200" spc="160" b="1">
                <a:solidFill>
                  <a:srgbClr val="FFFFFF"/>
                </a:solidFill>
                <a:latin typeface="宋体"/>
                <a:cs typeface="宋体"/>
              </a:rPr>
              <a:t>⑸</a:t>
            </a:r>
            <a:r>
              <a:rPr dirty="0" sz="3200" spc="150" b="1">
                <a:solidFill>
                  <a:srgbClr val="FFFFFF"/>
                </a:solidFill>
                <a:latin typeface="宋体"/>
                <a:cs typeface="宋体"/>
              </a:rPr>
              <a:t>不</a:t>
            </a:r>
            <a:r>
              <a:rPr dirty="0" sz="3200" spc="140" b="1">
                <a:solidFill>
                  <a:srgbClr val="FFFFFF"/>
                </a:solidFill>
                <a:latin typeface="宋体"/>
                <a:cs typeface="宋体"/>
              </a:rPr>
              <a:t>存</a:t>
            </a:r>
            <a:r>
              <a:rPr dirty="0" sz="3200" spc="150" b="1">
                <a:solidFill>
                  <a:srgbClr val="FFFFFF"/>
                </a:solidFill>
                <a:latin typeface="宋体"/>
                <a:cs typeface="宋体"/>
              </a:rPr>
              <a:t>在这</a:t>
            </a:r>
            <a:r>
              <a:rPr dirty="0" sz="3200" spc="140" b="1">
                <a:solidFill>
                  <a:srgbClr val="FFFFFF"/>
                </a:solidFill>
                <a:latin typeface="宋体"/>
                <a:cs typeface="宋体"/>
              </a:rPr>
              <a:t>样</a:t>
            </a:r>
            <a:r>
              <a:rPr dirty="0" sz="3200" spc="150" b="1">
                <a:solidFill>
                  <a:srgbClr val="FFFFFF"/>
                </a:solidFill>
                <a:latin typeface="宋体"/>
                <a:cs typeface="宋体"/>
              </a:rPr>
              <a:t>的算</a:t>
            </a:r>
            <a:r>
              <a:rPr dirty="0" sz="3200" spc="17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spc="16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150" b="1">
                <a:solidFill>
                  <a:srgbClr val="FFFFFF"/>
                </a:solidFill>
                <a:latin typeface="宋体"/>
                <a:cs typeface="宋体"/>
              </a:rPr>
              <a:t>它</a:t>
            </a:r>
            <a:r>
              <a:rPr dirty="0" sz="3200" spc="140" b="1">
                <a:solidFill>
                  <a:srgbClr val="FFFFFF"/>
                </a:solidFill>
                <a:latin typeface="宋体"/>
                <a:cs typeface="宋体"/>
              </a:rPr>
              <a:t>能</a:t>
            </a:r>
            <a:r>
              <a:rPr dirty="0" sz="3200" spc="150" b="1">
                <a:solidFill>
                  <a:srgbClr val="FFFFFF"/>
                </a:solidFill>
                <a:latin typeface="宋体"/>
                <a:cs typeface="宋体"/>
              </a:rPr>
              <a:t>判定</a:t>
            </a:r>
            <a:r>
              <a:rPr dirty="0" sz="3200" spc="140" b="1">
                <a:solidFill>
                  <a:srgbClr val="FFFFFF"/>
                </a:solidFill>
                <a:latin typeface="宋体"/>
                <a:cs typeface="宋体"/>
              </a:rPr>
              <a:t>上</a:t>
            </a:r>
            <a:r>
              <a:rPr dirty="0" sz="3200" spc="150" b="1">
                <a:solidFill>
                  <a:srgbClr val="FFFFFF"/>
                </a:solidFill>
                <a:latin typeface="宋体"/>
                <a:cs typeface="宋体"/>
              </a:rPr>
              <a:t>下文</a:t>
            </a:r>
            <a:r>
              <a:rPr dirty="0" sz="3200" spc="140" b="1">
                <a:solidFill>
                  <a:srgbClr val="FFFFFF"/>
                </a:solidFill>
                <a:latin typeface="宋体"/>
                <a:cs typeface="宋体"/>
              </a:rPr>
              <a:t>无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关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语言能否由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LL(1)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生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15582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</a:t>
            </a:r>
            <a:r>
              <a:rPr dirty="0" sz="2000" spc="40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71089" y="26923"/>
            <a:ext cx="353250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4.4</a:t>
            </a:r>
            <a:r>
              <a:rPr dirty="0" sz="2000" spc="4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分析法与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6401" y="26923"/>
            <a:ext cx="238506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0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关于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</a:t>
            </a:r>
            <a:r>
              <a:rPr dirty="0" u="sng" sz="2000" spc="-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文法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4340" y="986764"/>
            <a:ext cx="8228330" cy="4988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2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非左递归文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LL(1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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任何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非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终结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3200" spc="-81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关于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的产生式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endParaRPr sz="3200">
              <a:latin typeface="宋体"/>
              <a:cs typeface="宋体"/>
            </a:endParaRPr>
          </a:p>
          <a:p>
            <a:pPr marL="1459865">
              <a:lnSpc>
                <a:spcPct val="100000"/>
              </a:lnSpc>
              <a:spcBef>
                <a:spcPts val="10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3350" spc="-9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3350" spc="-9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5132" sz="3150" spc="22" b="1">
                <a:solidFill>
                  <a:srgbClr val="FFFFFF"/>
                </a:solidFill>
                <a:latin typeface="Times New Roman"/>
                <a:cs typeface="Times New Roman"/>
              </a:rPr>
              <a:t>1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sz="3350" spc="-9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3350" spc="-9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5132" sz="3150" spc="22" b="1">
                <a:solidFill>
                  <a:srgbClr val="FFFFFF"/>
                </a:solidFill>
                <a:latin typeface="Times New Roman"/>
                <a:cs typeface="Times New Roman"/>
              </a:rPr>
              <a:t>2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|…| </a:t>
            </a:r>
            <a:r>
              <a:rPr dirty="0" sz="3350" spc="-9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3350" spc="35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5132" sz="3150" spc="22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baseline="-25132" sz="31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12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满足下面的条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件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38100" marR="65405">
              <a:lnSpc>
                <a:spcPct val="118400"/>
              </a:lnSpc>
              <a:spcBef>
                <a:spcPts val="260"/>
              </a:spcBef>
              <a:buSzPct val="96875"/>
              <a:buFont typeface="Times New Roman"/>
              <a:buAutoNum type="arabicPlain"/>
              <a:tabLst>
                <a:tab pos="651510" algn="l"/>
              </a:tabLst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每个候选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3350" spc="-9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3350" spc="-7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5132" sz="3150" spc="-1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132" sz="3150" spc="-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3350" spc="-1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3350" spc="-6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5132" sz="315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两两彼此互不相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交。</a:t>
            </a:r>
            <a:endParaRPr sz="3200">
              <a:latin typeface="宋体"/>
              <a:cs typeface="宋体"/>
            </a:endParaRPr>
          </a:p>
          <a:p>
            <a:pPr marL="38100" marR="31750">
              <a:lnSpc>
                <a:spcPct val="128000"/>
              </a:lnSpc>
              <a:spcBef>
                <a:spcPts val="165"/>
              </a:spcBef>
              <a:buSzPct val="96875"/>
              <a:buFont typeface="Times New Roman"/>
              <a:buAutoNum type="arabicPlain"/>
              <a:tabLst>
                <a:tab pos="65151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3350" spc="-9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3350" spc="-1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5525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525" sz="2775" spc="3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3350" spc="-2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3350" spc="-1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5525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5525" sz="2775" spc="682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∪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与其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他候选式的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FIRST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互不相交。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71621" y="162560"/>
            <a:ext cx="248284" cy="113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38494" y="143382"/>
            <a:ext cx="248411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31114" y="565531"/>
            <a:ext cx="8182609" cy="14897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FFFFFF"/>
                </a:solidFill>
              </a:rPr>
              <a:t>4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－</a:t>
            </a:r>
            <a:r>
              <a:rPr dirty="0" sz="3200">
                <a:solidFill>
                  <a:srgbClr val="FFFFFF"/>
                </a:solidFill>
              </a:rPr>
              <a:t>12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试判断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下</a:t>
            </a: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面哪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些</a:t>
            </a: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3200" spc="25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3200" spc="-5">
                <a:solidFill>
                  <a:srgbClr val="FFFFFF"/>
                </a:solidFill>
              </a:rPr>
              <a:t>LL(1)</a:t>
            </a: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的？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如果 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不是，哪些能改写</a:t>
            </a:r>
            <a:r>
              <a:rPr dirty="0" sz="3200" spc="-15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>
                <a:solidFill>
                  <a:srgbClr val="FFFFFF"/>
                </a:solidFill>
              </a:rPr>
              <a:t>LL(1)</a:t>
            </a: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文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并改写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3200">
                <a:solidFill>
                  <a:srgbClr val="FFFFFF"/>
                </a:solidFill>
              </a:rPr>
              <a:t>2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3200" spc="-83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5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>
                <a:solidFill>
                  <a:srgbClr val="FFFFFF"/>
                </a:solidFill>
              </a:rPr>
              <a:t>→</a:t>
            </a:r>
            <a:r>
              <a:rPr dirty="0" sz="3200" spc="-5" i="1">
                <a:solidFill>
                  <a:srgbClr val="FFFFFF"/>
                </a:solidFill>
                <a:latin typeface="Times New Roman"/>
                <a:cs typeface="Times New Roman"/>
              </a:rPr>
              <a:t>AB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9144000" cy="520065"/>
          </a:xfrm>
          <a:custGeom>
            <a:avLst/>
            <a:gdLst/>
            <a:ahLst/>
            <a:cxnLst/>
            <a:rect l="l" t="t" r="r" b="b"/>
            <a:pathLst>
              <a:path w="9144000" h="520065">
                <a:moveTo>
                  <a:pt x="0" y="519684"/>
                </a:moveTo>
                <a:lnTo>
                  <a:pt x="9144000" y="519684"/>
                </a:lnTo>
                <a:lnTo>
                  <a:pt x="9144000" y="0"/>
                </a:lnTo>
                <a:lnTo>
                  <a:pt x="0" y="0"/>
                </a:lnTo>
                <a:lnTo>
                  <a:pt x="0" y="519684"/>
                </a:lnTo>
                <a:close/>
              </a:path>
            </a:pathLst>
          </a:custGeom>
          <a:solidFill>
            <a:srgbClr val="DCDC0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300097" y="25095"/>
            <a:ext cx="45427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800000"/>
                </a:solidFill>
                <a:latin typeface="宋体"/>
                <a:cs typeface="宋体"/>
              </a:rPr>
              <a:t>第四章习题讲解（</a:t>
            </a:r>
            <a:r>
              <a:rPr dirty="0" sz="2800" spc="-5" b="1">
                <a:solidFill>
                  <a:srgbClr val="800000"/>
                </a:solidFill>
                <a:latin typeface="Times New Roman"/>
                <a:cs typeface="Times New Roman"/>
              </a:rPr>
              <a:t>4</a:t>
            </a:r>
            <a:r>
              <a:rPr dirty="0" sz="2800" spc="-5" b="1">
                <a:solidFill>
                  <a:srgbClr val="800000"/>
                </a:solidFill>
                <a:latin typeface="宋体"/>
                <a:cs typeface="宋体"/>
              </a:rPr>
              <a:t>－</a:t>
            </a:r>
            <a:r>
              <a:rPr dirty="0" sz="2800" spc="-5" b="1">
                <a:solidFill>
                  <a:srgbClr val="800000"/>
                </a:solidFill>
                <a:latin typeface="Times New Roman"/>
                <a:cs typeface="Times New Roman"/>
              </a:rPr>
              <a:t>12(2)</a:t>
            </a:r>
            <a:r>
              <a:rPr dirty="0" sz="2800" spc="-5" b="1">
                <a:solidFill>
                  <a:srgbClr val="800000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31114" y="2025239"/>
            <a:ext cx="8619490" cy="43872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29665" marR="5921375">
              <a:lnSpc>
                <a:spcPct val="120000"/>
              </a:lnSpc>
              <a:spcBef>
                <a:spcPts val="9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ε 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D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ct val="110000"/>
              </a:lnSpc>
              <a:spcBef>
                <a:spcPts val="885"/>
              </a:spcBef>
            </a:pPr>
            <a:r>
              <a:rPr dirty="0" sz="2800" spc="114" b="1">
                <a:solidFill>
                  <a:srgbClr val="00FFFF"/>
                </a:solidFill>
                <a:latin typeface="宋体"/>
                <a:cs typeface="宋体"/>
              </a:rPr>
              <a:t>答：</a:t>
            </a:r>
            <a:r>
              <a:rPr dirty="0" sz="2800" spc="114" b="1">
                <a:solidFill>
                  <a:srgbClr val="FFFF00"/>
                </a:solidFill>
                <a:latin typeface="宋体"/>
                <a:cs typeface="宋体"/>
              </a:rPr>
              <a:t>该文法显然不是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LL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2800" spc="114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800" spc="114" b="1">
                <a:solidFill>
                  <a:srgbClr val="FFFF00"/>
                </a:solidFill>
                <a:latin typeface="宋体"/>
                <a:cs typeface="宋体"/>
              </a:rPr>
              <a:t>文法，因为非终结</a:t>
            </a:r>
            <a:r>
              <a:rPr dirty="0" sz="2800" spc="120" b="1">
                <a:solidFill>
                  <a:srgbClr val="FFFF00"/>
                </a:solidFill>
                <a:latin typeface="宋体"/>
                <a:cs typeface="宋体"/>
              </a:rPr>
              <a:t>符</a:t>
            </a:r>
            <a:r>
              <a:rPr dirty="0" sz="2800" spc="11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800" spc="114" b="1">
                <a:solidFill>
                  <a:srgbClr val="FFFF00"/>
                </a:solidFill>
                <a:latin typeface="宋体"/>
                <a:cs typeface="宋体"/>
              </a:rPr>
              <a:t>的两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个候选式存在左公因</a:t>
            </a:r>
            <a:r>
              <a:rPr dirty="0" sz="2800" spc="-20" b="1">
                <a:solidFill>
                  <a:srgbClr val="FFFF00"/>
                </a:solidFill>
                <a:latin typeface="宋体"/>
                <a:cs typeface="宋体"/>
              </a:rPr>
              <a:t>子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。需要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提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出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左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因</a:t>
            </a:r>
            <a:r>
              <a:rPr dirty="0" sz="2800" spc="20" b="1">
                <a:solidFill>
                  <a:srgbClr val="FFFFFF"/>
                </a:solidFill>
                <a:latin typeface="宋体"/>
                <a:cs typeface="宋体"/>
              </a:rPr>
              <a:t>子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50">
              <a:latin typeface="宋体"/>
              <a:cs typeface="宋体"/>
            </a:endParaRPr>
          </a:p>
          <a:p>
            <a:pPr marL="923290">
              <a:lnSpc>
                <a:spcPct val="100000"/>
              </a:lnSpc>
              <a:tabLst>
                <a:tab pos="2990215" algn="l"/>
                <a:tab pos="4824095" algn="l"/>
                <a:tab pos="6678930" algn="l"/>
              </a:tabLst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Db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D	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改写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为	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DB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’	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’→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3200">
              <a:latin typeface="Times New Roman"/>
              <a:cs typeface="Times New Roman"/>
            </a:endParaRPr>
          </a:p>
          <a:p>
            <a:pPr marL="111125">
              <a:lnSpc>
                <a:spcPct val="100000"/>
              </a:lnSpc>
              <a:spcBef>
                <a:spcPts val="192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文法改写为：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71621" y="162560"/>
            <a:ext cx="248284" cy="113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38494" y="143382"/>
            <a:ext cx="248411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61" y="541781"/>
            <a:ext cx="2120265" cy="2955290"/>
          </a:xfrm>
          <a:prstGeom prst="rect">
            <a:avLst/>
          </a:prstGeom>
          <a:ln w="38100">
            <a:solidFill>
              <a:srgbClr val="00FFFF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254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AB</a:t>
            </a:r>
            <a:endParaRPr sz="3200">
              <a:latin typeface="Times New Roman"/>
              <a:cs typeface="Times New Roman"/>
            </a:endParaRPr>
          </a:p>
          <a:p>
            <a:pPr marL="90170" marR="610235">
              <a:lnSpc>
                <a:spcPts val="4610"/>
              </a:lnSpc>
              <a:spcBef>
                <a:spcPts val="280"/>
              </a:spcBef>
            </a:pP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ε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DB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endParaRPr sz="32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  <a:spcBef>
                <a:spcPts val="484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’→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32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  <a:spcBef>
                <a:spcPts val="77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28748" y="497901"/>
            <a:ext cx="6243320" cy="338709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对产生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ct val="112000"/>
              </a:lnSpc>
              <a:spcBef>
                <a:spcPts val="8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)={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}, 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)=First(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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－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3350" spc="-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 marL="1739264">
              <a:lnSpc>
                <a:spcPct val="100000"/>
              </a:lnSpc>
              <a:spcBef>
                <a:spcPts val="52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={</a:t>
            </a:r>
            <a:r>
              <a:rPr dirty="0" sz="3200" b="1" i="1">
                <a:solidFill>
                  <a:srgbClr val="FF00FF"/>
                </a:solidFill>
                <a:latin typeface="Times New Roman"/>
                <a:cs typeface="Times New Roman"/>
              </a:rPr>
              <a:t>d</a:t>
            </a:r>
            <a:r>
              <a:rPr dirty="0" sz="3200" b="1">
                <a:solidFill>
                  <a:srgbClr val="FF00FF"/>
                </a:solidFill>
                <a:latin typeface="Times New Roman"/>
                <a:cs typeface="Times New Roman"/>
              </a:rPr>
              <a:t>,</a:t>
            </a:r>
            <a:r>
              <a:rPr dirty="0" sz="3200" b="1" i="1">
                <a:solidFill>
                  <a:srgbClr val="FF00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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{#}={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,#}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Ba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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</a:t>
            </a:r>
            <a:r>
              <a:rPr dirty="0" sz="3350" spc="-5" b="1" i="1">
                <a:solidFill>
                  <a:srgbClr val="FFFFFF"/>
                </a:solidFill>
                <a:latin typeface="Symbol"/>
                <a:cs typeface="Symbol"/>
              </a:rPr>
              <a:t></a:t>
            </a:r>
            <a:endParaRPr sz="335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修改后的文法还不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LL(1)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文法。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3494" y="3912234"/>
            <a:ext cx="786955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继续修改，把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的产生式代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候选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得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3494" y="4395381"/>
            <a:ext cx="1967864" cy="1782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BaB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spc="-1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 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DB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’→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31973" y="4470349"/>
            <a:ext cx="4335780" cy="1480185"/>
          </a:xfrm>
          <a:prstGeom prst="rect">
            <a:avLst/>
          </a:prstGeom>
        </p:spPr>
        <p:txBody>
          <a:bodyPr wrap="square" lIns="0" tIns="2520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8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提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取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产生式的公因子：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85"/>
              </a:spcBef>
            </a:pP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BA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9144000" cy="520065"/>
          </a:xfrm>
          <a:custGeom>
            <a:avLst/>
            <a:gdLst/>
            <a:ahLst/>
            <a:cxnLst/>
            <a:rect l="l" t="t" r="r" b="b"/>
            <a:pathLst>
              <a:path w="9144000" h="520065">
                <a:moveTo>
                  <a:pt x="0" y="519684"/>
                </a:moveTo>
                <a:lnTo>
                  <a:pt x="9144000" y="519684"/>
                </a:lnTo>
                <a:lnTo>
                  <a:pt x="9144000" y="0"/>
                </a:lnTo>
                <a:lnTo>
                  <a:pt x="0" y="0"/>
                </a:lnTo>
                <a:lnTo>
                  <a:pt x="0" y="519684"/>
                </a:lnTo>
                <a:close/>
              </a:path>
            </a:pathLst>
          </a:custGeom>
          <a:solidFill>
            <a:srgbClr val="DCDC0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300097" y="25095"/>
            <a:ext cx="45427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800000"/>
                </a:solidFill>
                <a:latin typeface="宋体"/>
                <a:cs typeface="宋体"/>
              </a:rPr>
              <a:t>第四章习题讲解（</a:t>
            </a:r>
            <a:r>
              <a:rPr dirty="0" sz="2800" spc="-5" b="1">
                <a:solidFill>
                  <a:srgbClr val="800000"/>
                </a:solidFill>
                <a:latin typeface="Times New Roman"/>
                <a:cs typeface="Times New Roman"/>
              </a:rPr>
              <a:t>4</a:t>
            </a:r>
            <a:r>
              <a:rPr dirty="0" sz="2800" spc="-5" b="1">
                <a:solidFill>
                  <a:srgbClr val="800000"/>
                </a:solidFill>
                <a:latin typeface="宋体"/>
                <a:cs typeface="宋体"/>
              </a:rPr>
              <a:t>－</a:t>
            </a:r>
            <a:r>
              <a:rPr dirty="0" sz="2800" spc="-5" b="1">
                <a:solidFill>
                  <a:srgbClr val="800000"/>
                </a:solidFill>
                <a:latin typeface="Times New Roman"/>
                <a:cs typeface="Times New Roman"/>
              </a:rPr>
              <a:t>12(2)</a:t>
            </a:r>
            <a:r>
              <a:rPr dirty="0" sz="2800" spc="-5" b="1">
                <a:solidFill>
                  <a:srgbClr val="800000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31973" y="6212341"/>
            <a:ext cx="1537335" cy="4762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595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aB</a:t>
            </a:r>
            <a:r>
              <a:rPr dirty="0" sz="3200" spc="-9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3494" y="6293418"/>
            <a:ext cx="1187450" cy="4762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595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223757" y="6710689"/>
            <a:ext cx="712470" cy="1974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99</a:t>
            </a:r>
            <a:r>
              <a:rPr dirty="0" sz="1400" spc="2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1892" y="566394"/>
            <a:ext cx="1537335" cy="3528695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得文法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BA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4610"/>
              </a:lnSpc>
              <a:spcBef>
                <a:spcPts val="28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aB</a:t>
            </a:r>
            <a:r>
              <a:rPr dirty="0" sz="3200" spc="-1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ε 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DB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endParaRPr sz="3200">
              <a:latin typeface="Times New Roman"/>
              <a:cs typeface="Times New Roman"/>
            </a:endParaRPr>
          </a:p>
          <a:p>
            <a:pPr marL="12700" marR="241935">
              <a:lnSpc>
                <a:spcPts val="4610"/>
              </a:lnSpc>
            </a:pP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’→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ε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951482" y="519683"/>
            <a:ext cx="7192645" cy="6338570"/>
          </a:xfrm>
          <a:custGeom>
            <a:avLst/>
            <a:gdLst/>
            <a:ahLst/>
            <a:cxnLst/>
            <a:rect l="l" t="t" r="r" b="b"/>
            <a:pathLst>
              <a:path w="7192645" h="6338570">
                <a:moveTo>
                  <a:pt x="0" y="6338312"/>
                </a:moveTo>
                <a:lnTo>
                  <a:pt x="7192518" y="6338312"/>
                </a:lnTo>
                <a:lnTo>
                  <a:pt x="7192518" y="0"/>
                </a:lnTo>
                <a:lnTo>
                  <a:pt x="0" y="0"/>
                </a:lnTo>
                <a:lnTo>
                  <a:pt x="0" y="6338312"/>
                </a:lnTo>
                <a:close/>
              </a:path>
            </a:pathLst>
          </a:custGeom>
          <a:solidFill>
            <a:srgbClr val="0C0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951482" y="387858"/>
            <a:ext cx="7192645" cy="6470650"/>
          </a:xfrm>
          <a:custGeom>
            <a:avLst/>
            <a:gdLst/>
            <a:ahLst/>
            <a:cxnLst/>
            <a:rect l="l" t="t" r="r" b="b"/>
            <a:pathLst>
              <a:path w="7192645" h="6470650">
                <a:moveTo>
                  <a:pt x="7192518" y="0"/>
                </a:moveTo>
                <a:lnTo>
                  <a:pt x="0" y="0"/>
                </a:lnTo>
                <a:lnTo>
                  <a:pt x="0" y="6470138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028570" y="844153"/>
            <a:ext cx="6800215" cy="5982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95655">
              <a:lnSpc>
                <a:spcPct val="113999"/>
              </a:lnSpc>
              <a:spcBef>
                <a:spcPts val="100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对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aB </a:t>
            </a:r>
            <a:r>
              <a:rPr dirty="0" sz="2800" spc="-2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20" b="1" i="1">
                <a:solidFill>
                  <a:srgbClr val="FFFF00"/>
                </a:solidFill>
                <a:latin typeface="Times New Roman"/>
                <a:cs typeface="Times New Roman"/>
              </a:rPr>
              <a:t>ε 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)={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};Follow(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)=Follow(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)={#}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2800" spc="-10" b="1">
                <a:solidFill>
                  <a:srgbClr val="03E4FC"/>
                </a:solidFill>
                <a:latin typeface="Times New Roman"/>
                <a:cs typeface="Times New Roman"/>
              </a:rPr>
              <a:t>First(</a:t>
            </a:r>
            <a:r>
              <a:rPr dirty="0" sz="2800" spc="-10" b="1" i="1">
                <a:solidFill>
                  <a:srgbClr val="03E4FC"/>
                </a:solidFill>
                <a:latin typeface="Times New Roman"/>
                <a:cs typeface="Times New Roman"/>
              </a:rPr>
              <a:t>aB</a:t>
            </a:r>
            <a:r>
              <a:rPr dirty="0" sz="2800" spc="-10" b="1">
                <a:solidFill>
                  <a:srgbClr val="03E4FC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03E4FC"/>
                </a:solidFill>
                <a:latin typeface="Symbol"/>
                <a:cs typeface="Symbol"/>
              </a:rPr>
              <a:t></a:t>
            </a:r>
            <a:r>
              <a:rPr dirty="0" sz="2800" spc="-10" b="1">
                <a:solidFill>
                  <a:srgbClr val="03E4FC"/>
                </a:solidFill>
                <a:latin typeface="Times New Roman"/>
                <a:cs typeface="Times New Roman"/>
              </a:rPr>
              <a:t>Follow(</a:t>
            </a:r>
            <a:r>
              <a:rPr dirty="0" sz="2800" spc="-10" b="1" i="1">
                <a:solidFill>
                  <a:srgbClr val="03E4FC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03E4FC"/>
                </a:solidFill>
                <a:latin typeface="Times New Roman"/>
                <a:cs typeface="Times New Roman"/>
              </a:rPr>
              <a:t>)=</a:t>
            </a:r>
            <a:r>
              <a:rPr dirty="0" sz="2950" spc="-10" b="1" i="1">
                <a:solidFill>
                  <a:srgbClr val="03E4FC"/>
                </a:solidFill>
                <a:latin typeface="Symbol"/>
                <a:cs typeface="Symbol"/>
              </a:rPr>
              <a:t></a:t>
            </a:r>
            <a:endParaRPr sz="295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对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’→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)={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};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’)=Follow(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=First(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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Follw(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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Follw(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20" b="1">
                <a:solidFill>
                  <a:srgbClr val="FFFFFF"/>
                </a:solidFill>
                <a:latin typeface="宋体"/>
                <a:cs typeface="宋体"/>
              </a:rPr>
              <a:t>－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950" spc="-2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={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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{#}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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＃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}={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,#}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2800" spc="-10" b="1">
                <a:solidFill>
                  <a:srgbClr val="03E4FC"/>
                </a:solidFill>
                <a:latin typeface="Times New Roman"/>
                <a:cs typeface="Times New Roman"/>
              </a:rPr>
              <a:t>First(</a:t>
            </a:r>
            <a:r>
              <a:rPr dirty="0" sz="2800" spc="-10" b="1" i="1">
                <a:solidFill>
                  <a:srgbClr val="03E4FC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>
                <a:solidFill>
                  <a:srgbClr val="03E4FC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03E4FC"/>
                </a:solidFill>
                <a:latin typeface="Symbol"/>
                <a:cs typeface="Symbol"/>
              </a:rPr>
              <a:t></a:t>
            </a:r>
            <a:r>
              <a:rPr dirty="0" sz="2800" spc="-10" b="1">
                <a:solidFill>
                  <a:srgbClr val="03E4FC"/>
                </a:solidFill>
                <a:latin typeface="Times New Roman"/>
                <a:cs typeface="Times New Roman"/>
              </a:rPr>
              <a:t>Follow(</a:t>
            </a:r>
            <a:r>
              <a:rPr dirty="0" sz="2800" spc="-10" b="1" i="1">
                <a:solidFill>
                  <a:srgbClr val="03E4FC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>
                <a:solidFill>
                  <a:srgbClr val="03E4FC"/>
                </a:solidFill>
                <a:latin typeface="Times New Roman"/>
                <a:cs typeface="Times New Roman"/>
              </a:rPr>
              <a:t>’)=</a:t>
            </a:r>
            <a:r>
              <a:rPr dirty="0" sz="2950" spc="-10" b="1" i="1">
                <a:solidFill>
                  <a:srgbClr val="03E4FC"/>
                </a:solidFill>
                <a:latin typeface="Symbol"/>
                <a:cs typeface="Symbol"/>
              </a:rPr>
              <a:t></a:t>
            </a:r>
            <a:endParaRPr sz="2950">
              <a:latin typeface="Symbol"/>
              <a:cs typeface="Symbol"/>
            </a:endParaRPr>
          </a:p>
          <a:p>
            <a:pPr marL="12700" marR="3131820">
              <a:lnSpc>
                <a:spcPct val="113999"/>
              </a:lnSpc>
              <a:spcBef>
                <a:spcPts val="30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对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d </a:t>
            </a:r>
            <a:r>
              <a:rPr dirty="0" sz="2800" spc="-2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20" b="1" i="1">
                <a:solidFill>
                  <a:srgbClr val="FFFF00"/>
                </a:solidFill>
                <a:latin typeface="Times New Roman"/>
                <a:cs typeface="Times New Roman"/>
              </a:rPr>
              <a:t>ε 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)={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};Follow(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)=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ct val="107600"/>
              </a:lnSpc>
              <a:spcBef>
                <a:spcPts val="15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’)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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Follw(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－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3350" spc="-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={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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,#}={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,#}  </a:t>
            </a:r>
            <a:r>
              <a:rPr dirty="0" sz="2800" spc="-10" b="1">
                <a:solidFill>
                  <a:srgbClr val="03E4FC"/>
                </a:solidFill>
                <a:latin typeface="Times New Roman"/>
                <a:cs typeface="Times New Roman"/>
              </a:rPr>
              <a:t>First(</a:t>
            </a:r>
            <a:r>
              <a:rPr dirty="0" sz="2800" spc="-10" b="1" i="1">
                <a:solidFill>
                  <a:srgbClr val="03E4FC"/>
                </a:solidFill>
                <a:latin typeface="Times New Roman"/>
                <a:cs typeface="Times New Roman"/>
              </a:rPr>
              <a:t>d</a:t>
            </a:r>
            <a:r>
              <a:rPr dirty="0" sz="2800" spc="-10" b="1">
                <a:solidFill>
                  <a:srgbClr val="03E4FC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03E4FC"/>
                </a:solidFill>
                <a:latin typeface="Symbol"/>
                <a:cs typeface="Symbol"/>
              </a:rPr>
              <a:t></a:t>
            </a:r>
            <a:r>
              <a:rPr dirty="0" sz="2800" spc="-10" b="1">
                <a:solidFill>
                  <a:srgbClr val="03E4FC"/>
                </a:solidFill>
                <a:latin typeface="Times New Roman"/>
                <a:cs typeface="Times New Roman"/>
              </a:rPr>
              <a:t>Follow(</a:t>
            </a:r>
            <a:r>
              <a:rPr dirty="0" sz="2800" spc="-10" b="1" i="1">
                <a:solidFill>
                  <a:srgbClr val="03E4FC"/>
                </a:solidFill>
                <a:latin typeface="Times New Roman"/>
                <a:cs typeface="Times New Roman"/>
              </a:rPr>
              <a:t>D</a:t>
            </a:r>
            <a:r>
              <a:rPr dirty="0" sz="2800" spc="-10" b="1">
                <a:solidFill>
                  <a:srgbClr val="03E4FC"/>
                </a:solidFill>
                <a:latin typeface="Times New Roman"/>
                <a:cs typeface="Times New Roman"/>
              </a:rPr>
              <a:t>)=</a:t>
            </a:r>
            <a:r>
              <a:rPr dirty="0" sz="2950" spc="-10" b="1" i="1">
                <a:solidFill>
                  <a:srgbClr val="03E4FC"/>
                </a:solidFill>
                <a:latin typeface="Symbol"/>
                <a:cs typeface="Symbol"/>
              </a:rPr>
              <a:t>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1929" y="4440173"/>
            <a:ext cx="1750060" cy="2078989"/>
          </a:xfrm>
          <a:custGeom>
            <a:avLst/>
            <a:gdLst/>
            <a:ahLst/>
            <a:cxnLst/>
            <a:rect l="l" t="t" r="r" b="b"/>
            <a:pathLst>
              <a:path w="1750060" h="2078990">
                <a:moveTo>
                  <a:pt x="0" y="2078736"/>
                </a:moveTo>
                <a:lnTo>
                  <a:pt x="1749552" y="2078736"/>
                </a:lnTo>
                <a:lnTo>
                  <a:pt x="1749552" y="0"/>
                </a:lnTo>
                <a:lnTo>
                  <a:pt x="0" y="0"/>
                </a:lnTo>
                <a:lnTo>
                  <a:pt x="0" y="2078736"/>
                </a:lnTo>
                <a:close/>
              </a:path>
            </a:pathLst>
          </a:custGeom>
          <a:solidFill>
            <a:srgbClr val="66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01929" y="4440173"/>
            <a:ext cx="1750060" cy="2078989"/>
          </a:xfrm>
          <a:custGeom>
            <a:avLst/>
            <a:gdLst/>
            <a:ahLst/>
            <a:cxnLst/>
            <a:rect l="l" t="t" r="r" b="b"/>
            <a:pathLst>
              <a:path w="1750060" h="2078990">
                <a:moveTo>
                  <a:pt x="0" y="2078736"/>
                </a:moveTo>
                <a:lnTo>
                  <a:pt x="1749552" y="2078736"/>
                </a:lnTo>
                <a:lnTo>
                  <a:pt x="1749552" y="0"/>
                </a:lnTo>
                <a:lnTo>
                  <a:pt x="0" y="0"/>
                </a:lnTo>
                <a:lnTo>
                  <a:pt x="0" y="2078736"/>
                </a:lnTo>
                <a:close/>
              </a:path>
            </a:pathLst>
          </a:custGeom>
          <a:ln w="38100">
            <a:solidFill>
              <a:srgbClr val="FF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78993" y="4486147"/>
            <a:ext cx="1452245" cy="195580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>
              <a:lnSpc>
                <a:spcPct val="97800"/>
              </a:lnSpc>
              <a:spcBef>
                <a:spcPts val="18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修改后 的文法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LL(1)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文法。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0"/>
            <a:ext cx="9144000" cy="520065"/>
          </a:xfrm>
          <a:custGeom>
            <a:avLst/>
            <a:gdLst/>
            <a:ahLst/>
            <a:cxnLst/>
            <a:rect l="l" t="t" r="r" b="b"/>
            <a:pathLst>
              <a:path w="9144000" h="520065">
                <a:moveTo>
                  <a:pt x="0" y="519684"/>
                </a:moveTo>
                <a:lnTo>
                  <a:pt x="9144000" y="519684"/>
                </a:lnTo>
                <a:lnTo>
                  <a:pt x="9144000" y="0"/>
                </a:lnTo>
                <a:lnTo>
                  <a:pt x="0" y="0"/>
                </a:lnTo>
                <a:lnTo>
                  <a:pt x="0" y="519684"/>
                </a:lnTo>
                <a:close/>
              </a:path>
            </a:pathLst>
          </a:custGeom>
          <a:solidFill>
            <a:srgbClr val="DCDC0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028570" y="25095"/>
            <a:ext cx="4813935" cy="84074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 marR="5080" indent="271145">
              <a:lnSpc>
                <a:spcPts val="3060"/>
              </a:lnSpc>
              <a:spcBef>
                <a:spcPts val="450"/>
              </a:spcBef>
            </a:pPr>
            <a:r>
              <a:rPr dirty="0" sz="2800" spc="-5" b="1">
                <a:solidFill>
                  <a:srgbClr val="800000"/>
                </a:solidFill>
                <a:latin typeface="宋体"/>
                <a:cs typeface="宋体"/>
              </a:rPr>
              <a:t>第四章习题讲解</a:t>
            </a:r>
            <a:r>
              <a:rPr dirty="0" sz="2800" spc="-20" b="1">
                <a:solidFill>
                  <a:srgbClr val="800000"/>
                </a:solidFill>
                <a:latin typeface="宋体"/>
                <a:cs typeface="宋体"/>
              </a:rPr>
              <a:t>（</a:t>
            </a:r>
            <a:r>
              <a:rPr dirty="0" sz="2800" spc="-5" b="1">
                <a:solidFill>
                  <a:srgbClr val="800000"/>
                </a:solidFill>
                <a:latin typeface="Times New Roman"/>
                <a:cs typeface="Times New Roman"/>
              </a:rPr>
              <a:t>4</a:t>
            </a:r>
            <a:r>
              <a:rPr dirty="0" sz="2800" spc="-10" b="1">
                <a:solidFill>
                  <a:srgbClr val="800000"/>
                </a:solidFill>
                <a:latin typeface="宋体"/>
                <a:cs typeface="宋体"/>
              </a:rPr>
              <a:t>－</a:t>
            </a:r>
            <a:r>
              <a:rPr dirty="0" sz="2800" spc="-5" b="1">
                <a:solidFill>
                  <a:srgbClr val="800000"/>
                </a:solidFill>
                <a:latin typeface="Times New Roman"/>
                <a:cs typeface="Times New Roman"/>
              </a:rPr>
              <a:t>12(2</a:t>
            </a:r>
            <a:r>
              <a:rPr dirty="0" sz="2800" b="1">
                <a:solidFill>
                  <a:srgbClr val="800000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800000"/>
                </a:solidFill>
                <a:latin typeface="宋体"/>
                <a:cs typeface="宋体"/>
              </a:rPr>
              <a:t>）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验证：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5231" y="26923"/>
            <a:ext cx="15601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90089" y="26923"/>
            <a:ext cx="353250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4.4</a:t>
            </a:r>
            <a:r>
              <a:rPr dirty="0" sz="2000" spc="4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分析法与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LL(1)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48909" y="26923"/>
            <a:ext cx="28346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4.4.2</a:t>
            </a:r>
            <a:r>
              <a:rPr dirty="0" u="sng" sz="2000" spc="42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LL(1)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分析器的构造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1398" y="2011807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05930" y="2011807"/>
            <a:ext cx="13906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35594" y="2011807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#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3950" y="2645486"/>
            <a:ext cx="159194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47725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31998" y="827277"/>
            <a:ext cx="3297554" cy="23221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32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文法</a:t>
            </a:r>
            <a:r>
              <a:rPr dirty="0" u="heavy" sz="32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G(S)</a:t>
            </a:r>
            <a:r>
              <a:rPr dirty="0" u="heavy" sz="32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的分析表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425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tabLst>
                <a:tab pos="1155700" algn="l"/>
                <a:tab pos="2352040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	e	i</a:t>
            </a:r>
            <a:endParaRPr sz="3200">
              <a:latin typeface="Times New Roman"/>
              <a:cs typeface="Times New Roman"/>
            </a:endParaRPr>
          </a:p>
          <a:p>
            <a:pPr marL="1781810">
              <a:lnSpc>
                <a:spcPct val="100000"/>
              </a:lnSpc>
              <a:spcBef>
                <a:spcPts val="1550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iCtSS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3950" y="3276980"/>
            <a:ext cx="49530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00"/>
                </a:solidFill>
                <a:latin typeface="Courier New"/>
                <a:cs typeface="Courier New"/>
              </a:rPr>
              <a:t>’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81044" y="3380161"/>
            <a:ext cx="1008380" cy="4235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50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54569" y="3328797"/>
            <a:ext cx="9385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43959" y="3895725"/>
            <a:ext cx="11461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Courier New"/>
                <a:cs typeface="Courier New"/>
              </a:rPr>
              <a:t>’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eS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3950" y="4469129"/>
            <a:ext cx="29718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i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48889" y="4520946"/>
            <a:ext cx="7943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39673" y="1968245"/>
            <a:ext cx="8476615" cy="0"/>
          </a:xfrm>
          <a:custGeom>
            <a:avLst/>
            <a:gdLst/>
            <a:ahLst/>
            <a:cxnLst/>
            <a:rect l="l" t="t" r="r" b="b"/>
            <a:pathLst>
              <a:path w="8476615" h="0">
                <a:moveTo>
                  <a:pt x="0" y="0"/>
                </a:moveTo>
                <a:lnTo>
                  <a:pt x="8476488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39673" y="2615945"/>
            <a:ext cx="8476615" cy="0"/>
          </a:xfrm>
          <a:custGeom>
            <a:avLst/>
            <a:gdLst/>
            <a:ahLst/>
            <a:cxnLst/>
            <a:rect l="l" t="t" r="r" b="b"/>
            <a:pathLst>
              <a:path w="8476615" h="0">
                <a:moveTo>
                  <a:pt x="0" y="0"/>
                </a:moveTo>
                <a:lnTo>
                  <a:pt x="8476488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92073" y="5453634"/>
            <a:ext cx="8476615" cy="0"/>
          </a:xfrm>
          <a:custGeom>
            <a:avLst/>
            <a:gdLst/>
            <a:ahLst/>
            <a:cxnLst/>
            <a:rect l="l" t="t" r="r" b="b"/>
            <a:pathLst>
              <a:path w="8476615" h="0">
                <a:moveTo>
                  <a:pt x="0" y="0"/>
                </a:moveTo>
                <a:lnTo>
                  <a:pt x="8476488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39673" y="3320034"/>
            <a:ext cx="8476615" cy="0"/>
          </a:xfrm>
          <a:custGeom>
            <a:avLst/>
            <a:gdLst/>
            <a:ahLst/>
            <a:cxnLst/>
            <a:rect l="l" t="t" r="r" b="b"/>
            <a:pathLst>
              <a:path w="8476615" h="0">
                <a:moveTo>
                  <a:pt x="0" y="0"/>
                </a:moveTo>
                <a:lnTo>
                  <a:pt x="8476488" y="0"/>
                </a:lnTo>
              </a:path>
            </a:pathLst>
          </a:custGeom>
          <a:ln w="190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92073" y="4520946"/>
            <a:ext cx="8476615" cy="0"/>
          </a:xfrm>
          <a:custGeom>
            <a:avLst/>
            <a:gdLst/>
            <a:ahLst/>
            <a:cxnLst/>
            <a:rect l="l" t="t" r="r" b="b"/>
            <a:pathLst>
              <a:path w="8476615" h="0">
                <a:moveTo>
                  <a:pt x="0" y="0"/>
                </a:moveTo>
                <a:lnTo>
                  <a:pt x="8476488" y="0"/>
                </a:lnTo>
              </a:path>
            </a:pathLst>
          </a:custGeom>
          <a:ln w="190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468374" y="1968245"/>
            <a:ext cx="0" cy="3485515"/>
          </a:xfrm>
          <a:custGeom>
            <a:avLst/>
            <a:gdLst/>
            <a:ahLst/>
            <a:cxnLst/>
            <a:rect l="l" t="t" r="r" b="b"/>
            <a:pathLst>
              <a:path w="0" h="3485515">
                <a:moveTo>
                  <a:pt x="0" y="0"/>
                </a:moveTo>
                <a:lnTo>
                  <a:pt x="0" y="3485388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396996" y="3337559"/>
            <a:ext cx="1856739" cy="498475"/>
          </a:xfrm>
          <a:custGeom>
            <a:avLst/>
            <a:gdLst/>
            <a:ahLst/>
            <a:cxnLst/>
            <a:rect l="l" t="t" r="r" b="b"/>
            <a:pathLst>
              <a:path w="1856739" h="498475">
                <a:moveTo>
                  <a:pt x="0" y="498347"/>
                </a:moveTo>
                <a:lnTo>
                  <a:pt x="1856231" y="498347"/>
                </a:lnTo>
                <a:lnTo>
                  <a:pt x="1856231" y="0"/>
                </a:lnTo>
                <a:lnTo>
                  <a:pt x="0" y="0"/>
                </a:lnTo>
                <a:lnTo>
                  <a:pt x="0" y="4983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938009" y="435101"/>
            <a:ext cx="2207260" cy="1373505"/>
          </a:xfrm>
          <a:custGeom>
            <a:avLst/>
            <a:gdLst/>
            <a:ahLst/>
            <a:cxnLst/>
            <a:rect l="l" t="t" r="r" b="b"/>
            <a:pathLst>
              <a:path w="2207259" h="1373505">
                <a:moveTo>
                  <a:pt x="0" y="1373124"/>
                </a:moveTo>
                <a:lnTo>
                  <a:pt x="2206752" y="1373124"/>
                </a:lnTo>
                <a:lnTo>
                  <a:pt x="2206752" y="0"/>
                </a:lnTo>
                <a:lnTo>
                  <a:pt x="0" y="0"/>
                </a:lnTo>
                <a:lnTo>
                  <a:pt x="0" y="1373124"/>
                </a:lnTo>
                <a:close/>
              </a:path>
            </a:pathLst>
          </a:custGeom>
          <a:solidFill>
            <a:srgbClr val="61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938009" y="435101"/>
            <a:ext cx="2207260" cy="1373505"/>
          </a:xfrm>
          <a:custGeom>
            <a:avLst/>
            <a:gdLst/>
            <a:ahLst/>
            <a:cxnLst/>
            <a:rect l="l" t="t" r="r" b="b"/>
            <a:pathLst>
              <a:path w="2207259" h="1373505">
                <a:moveTo>
                  <a:pt x="0" y="1373124"/>
                </a:moveTo>
                <a:lnTo>
                  <a:pt x="2206752" y="1373124"/>
                </a:lnTo>
                <a:lnTo>
                  <a:pt x="2206752" y="0"/>
                </a:lnTo>
                <a:lnTo>
                  <a:pt x="0" y="0"/>
                </a:lnTo>
                <a:lnTo>
                  <a:pt x="0" y="137312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7017257" y="311049"/>
            <a:ext cx="1758950" cy="14611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28899"/>
              </a:lnSpc>
              <a:spcBef>
                <a:spcPts val="135"/>
              </a:spcBef>
            </a:pP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spc="-6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iCtSS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’│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a  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’→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eS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│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ε  </a:t>
            </a:r>
            <a:r>
              <a:rPr dirty="0" sz="2500" spc="-50" b="1" i="1">
                <a:solidFill>
                  <a:srgbClr val="FFFF00"/>
                </a:solidFill>
                <a:latin typeface="宋体"/>
                <a:cs typeface="宋体"/>
              </a:rPr>
              <a:t>Ｃ</a:t>
            </a:r>
            <a:r>
              <a:rPr dirty="0" sz="2400" spc="-5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24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101</a:t>
            </a:fld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362580" y="12902"/>
            <a:ext cx="46748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1030" algn="l"/>
              </a:tabLst>
            </a:pPr>
            <a:r>
              <a:rPr dirty="0" sz="24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语法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分析</a:t>
            </a:r>
            <a:r>
              <a:rPr dirty="0" sz="2400" b="1">
                <a:solidFill>
                  <a:srgbClr val="A15100"/>
                </a:solidFill>
                <a:latin typeface="Arial"/>
                <a:cs typeface="Arial"/>
              </a:rPr>
              <a:t>——</a:t>
            </a:r>
            <a:r>
              <a:rPr dirty="0" sz="2400" spc="-200" b="1">
                <a:solidFill>
                  <a:srgbClr val="A15100"/>
                </a:solidFill>
                <a:latin typeface="Arial"/>
                <a:cs typeface="Arial"/>
              </a:rPr>
              <a:t> 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自上而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下分析法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04388" y="382524"/>
            <a:ext cx="2969514" cy="12291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437382" y="563702"/>
            <a:ext cx="226885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>
                <a:solidFill>
                  <a:srgbClr val="FFFFFF"/>
                </a:solidFill>
                <a:latin typeface="宋体"/>
                <a:cs typeface="宋体"/>
              </a:rPr>
              <a:t>本章提要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101</a:t>
            </a:fld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39" y="1185265"/>
            <a:ext cx="8903335" cy="5537835"/>
          </a:xfrm>
          <a:prstGeom prst="rect">
            <a:avLst/>
          </a:prstGeom>
        </p:spPr>
        <p:txBody>
          <a:bodyPr wrap="square" lIns="0" tIns="158750" rIns="0" bIns="0" rtlCol="0" vert="horz">
            <a:spAutoFit/>
          </a:bodyPr>
          <a:lstStyle/>
          <a:p>
            <a:pPr marL="332740" indent="-320675">
              <a:lnSpc>
                <a:spcPct val="100000"/>
              </a:lnSpc>
              <a:spcBef>
                <a:spcPts val="1250"/>
              </a:spcBef>
              <a:buClr>
                <a:srgbClr val="CC99FF"/>
              </a:buClr>
              <a:buSzPct val="96875"/>
              <a:buFont typeface="Wingdings"/>
              <a:buChar char=""/>
              <a:tabLst>
                <a:tab pos="33337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语语分析器的任务。</a:t>
            </a:r>
            <a:endParaRPr sz="3200">
              <a:latin typeface="宋体"/>
              <a:cs typeface="宋体"/>
            </a:endParaRPr>
          </a:p>
          <a:p>
            <a:pPr marL="12700" marR="297815">
              <a:lnSpc>
                <a:spcPct val="110000"/>
              </a:lnSpc>
              <a:spcBef>
                <a:spcPts val="770"/>
              </a:spcBef>
              <a:buClr>
                <a:srgbClr val="CC99FF"/>
              </a:buClr>
              <a:buSzPct val="96875"/>
              <a:buFont typeface="Wingdings"/>
              <a:buChar char=""/>
              <a:tabLst>
                <a:tab pos="43370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语法分析的主要方法：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自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上而下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和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自下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而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上分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析。</a:t>
            </a:r>
            <a:endParaRPr sz="3200">
              <a:latin typeface="宋体"/>
              <a:cs typeface="宋体"/>
            </a:endParaRPr>
          </a:p>
          <a:p>
            <a:pPr marL="12700" marR="5080">
              <a:lnSpc>
                <a:spcPct val="110100"/>
              </a:lnSpc>
              <a:spcBef>
                <a:spcPts val="765"/>
              </a:spcBef>
              <a:buClr>
                <a:srgbClr val="CC99FF"/>
              </a:buClr>
              <a:buSzPct val="96875"/>
              <a:buFont typeface="Wingdings"/>
              <a:buChar char=""/>
              <a:tabLst>
                <a:tab pos="433705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确定的自上而下分析的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条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件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不含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左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递归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、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不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含左公因子。</a:t>
            </a:r>
            <a:endParaRPr sz="3200">
              <a:latin typeface="宋体"/>
              <a:cs typeface="宋体"/>
            </a:endParaRPr>
          </a:p>
          <a:p>
            <a:pPr marL="332740" indent="-320675">
              <a:lnSpc>
                <a:spcPct val="100000"/>
              </a:lnSpc>
              <a:spcBef>
                <a:spcPts val="1155"/>
              </a:spcBef>
              <a:buClr>
                <a:srgbClr val="CC99FF"/>
              </a:buClr>
              <a:buSzPct val="96875"/>
              <a:buFont typeface="Wingdings"/>
              <a:buChar char=""/>
              <a:tabLst>
                <a:tab pos="333375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递归下降分析器的构造原理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与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实现。</a:t>
            </a:r>
            <a:endParaRPr sz="3200">
              <a:latin typeface="宋体"/>
              <a:cs typeface="宋体"/>
            </a:endParaRPr>
          </a:p>
          <a:p>
            <a:pPr marL="332740" indent="-320675">
              <a:lnSpc>
                <a:spcPct val="100000"/>
              </a:lnSpc>
              <a:spcBef>
                <a:spcPts val="1155"/>
              </a:spcBef>
              <a:buClr>
                <a:srgbClr val="CC99FF"/>
              </a:buClr>
              <a:buSzPct val="96875"/>
              <a:buFont typeface="Wingdings"/>
              <a:buChar char=""/>
              <a:tabLst>
                <a:tab pos="333375" algn="l"/>
              </a:tabLst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LL(K)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及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LL(1)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分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析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的实现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思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想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332740" indent="-320675">
              <a:lnSpc>
                <a:spcPct val="100000"/>
              </a:lnSpc>
              <a:spcBef>
                <a:spcPts val="1150"/>
              </a:spcBef>
              <a:buClr>
                <a:srgbClr val="CC99FF"/>
              </a:buClr>
              <a:buSzPct val="96875"/>
              <a:buFont typeface="Wingdings"/>
              <a:buChar char=""/>
              <a:tabLst>
                <a:tab pos="333375" algn="l"/>
              </a:tabLst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LL(1)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分析表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与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LL</a:t>
            </a:r>
            <a:r>
              <a:rPr dirty="0" sz="3200" spc="-2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(1)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分析器的构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造。</a:t>
            </a:r>
            <a:endParaRPr sz="3200">
              <a:latin typeface="宋体"/>
              <a:cs typeface="宋体"/>
            </a:endParaRPr>
          </a:p>
          <a:p>
            <a:pPr marL="332740" indent="-320675">
              <a:lnSpc>
                <a:spcPct val="100000"/>
              </a:lnSpc>
              <a:spcBef>
                <a:spcPts val="1155"/>
              </a:spcBef>
              <a:buClr>
                <a:srgbClr val="CC99FF"/>
              </a:buClr>
              <a:buSzPct val="96875"/>
              <a:buFont typeface="Wingdings"/>
              <a:buChar char=""/>
              <a:tabLst>
                <a:tab pos="333375" algn="l"/>
              </a:tabLst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LL</a:t>
            </a:r>
            <a:r>
              <a:rPr dirty="0" sz="3200" spc="-19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(1)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文法的判别。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580" y="12902"/>
            <a:ext cx="4674870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1030" algn="l"/>
              </a:tabLst>
            </a:pPr>
            <a:r>
              <a:rPr dirty="0" sz="2400" spc="-5">
                <a:solidFill>
                  <a:srgbClr val="8B4600"/>
                </a:solidFill>
              </a:rPr>
              <a:t>c</a:t>
            </a:r>
            <a:r>
              <a:rPr dirty="0" sz="2400" spc="-5">
                <a:solidFill>
                  <a:srgbClr val="A15100"/>
                </a:solidFill>
              </a:rPr>
              <a:t>h4	</a:t>
            </a:r>
            <a:r>
              <a:rPr dirty="0" sz="2400" spc="5">
                <a:solidFill>
                  <a:srgbClr val="A15100"/>
                </a:solidFill>
                <a:latin typeface="华文新魏"/>
                <a:cs typeface="华文新魏"/>
              </a:rPr>
              <a:t>语法</a:t>
            </a:r>
            <a:r>
              <a:rPr dirty="0" sz="2400">
                <a:solidFill>
                  <a:srgbClr val="A15100"/>
                </a:solidFill>
                <a:latin typeface="华文新魏"/>
                <a:cs typeface="华文新魏"/>
              </a:rPr>
              <a:t>分析</a:t>
            </a:r>
            <a:r>
              <a:rPr dirty="0" sz="2400">
                <a:solidFill>
                  <a:srgbClr val="A15100"/>
                </a:solidFill>
                <a:latin typeface="Arial"/>
                <a:cs typeface="Arial"/>
              </a:rPr>
              <a:t>——</a:t>
            </a:r>
            <a:r>
              <a:rPr dirty="0" sz="2400" spc="-200">
                <a:solidFill>
                  <a:srgbClr val="A15100"/>
                </a:solidFill>
                <a:latin typeface="Arial"/>
                <a:cs typeface="Arial"/>
              </a:rPr>
              <a:t> </a:t>
            </a:r>
            <a:r>
              <a:rPr dirty="0" sz="2400" spc="5">
                <a:solidFill>
                  <a:srgbClr val="A15100"/>
                </a:solidFill>
                <a:latin typeface="华文新魏"/>
                <a:cs typeface="华文新魏"/>
              </a:rPr>
              <a:t>自上而</a:t>
            </a:r>
            <a:r>
              <a:rPr dirty="0" sz="2400">
                <a:solidFill>
                  <a:srgbClr val="A15100"/>
                </a:solidFill>
                <a:latin typeface="华文新魏"/>
                <a:cs typeface="华文新魏"/>
              </a:rPr>
              <a:t>下分析法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64942" y="2269617"/>
            <a:ext cx="4746625" cy="2145665"/>
          </a:xfrm>
          <a:custGeom>
            <a:avLst/>
            <a:gdLst/>
            <a:ahLst/>
            <a:cxnLst/>
            <a:rect l="l" t="t" r="r" b="b"/>
            <a:pathLst>
              <a:path w="4746625" h="2145665">
                <a:moveTo>
                  <a:pt x="655701" y="609092"/>
                </a:moveTo>
                <a:lnTo>
                  <a:pt x="608353" y="610867"/>
                </a:lnTo>
                <a:lnTo>
                  <a:pt x="562115" y="616194"/>
                </a:lnTo>
                <a:lnTo>
                  <a:pt x="516987" y="625072"/>
                </a:lnTo>
                <a:lnTo>
                  <a:pt x="472971" y="637500"/>
                </a:lnTo>
                <a:lnTo>
                  <a:pt x="430068" y="653477"/>
                </a:lnTo>
                <a:lnTo>
                  <a:pt x="388280" y="673003"/>
                </a:lnTo>
                <a:lnTo>
                  <a:pt x="347606" y="696078"/>
                </a:lnTo>
                <a:lnTo>
                  <a:pt x="308049" y="722700"/>
                </a:lnTo>
                <a:lnTo>
                  <a:pt x="269610" y="752870"/>
                </a:lnTo>
                <a:lnTo>
                  <a:pt x="232289" y="786586"/>
                </a:lnTo>
                <a:lnTo>
                  <a:pt x="196087" y="823849"/>
                </a:lnTo>
                <a:lnTo>
                  <a:pt x="167089" y="857753"/>
                </a:lnTo>
                <a:lnTo>
                  <a:pt x="140408" y="893407"/>
                </a:lnTo>
                <a:lnTo>
                  <a:pt x="116045" y="930812"/>
                </a:lnTo>
                <a:lnTo>
                  <a:pt x="94001" y="969967"/>
                </a:lnTo>
                <a:lnTo>
                  <a:pt x="74276" y="1010873"/>
                </a:lnTo>
                <a:lnTo>
                  <a:pt x="56870" y="1053530"/>
                </a:lnTo>
                <a:lnTo>
                  <a:pt x="41784" y="1097938"/>
                </a:lnTo>
                <a:lnTo>
                  <a:pt x="29018" y="1144098"/>
                </a:lnTo>
                <a:lnTo>
                  <a:pt x="18572" y="1192011"/>
                </a:lnTo>
                <a:lnTo>
                  <a:pt x="10447" y="1241676"/>
                </a:lnTo>
                <a:lnTo>
                  <a:pt x="4643" y="1293094"/>
                </a:lnTo>
                <a:lnTo>
                  <a:pt x="1160" y="1346266"/>
                </a:lnTo>
                <a:lnTo>
                  <a:pt x="0" y="1401191"/>
                </a:lnTo>
                <a:lnTo>
                  <a:pt x="1333" y="1459438"/>
                </a:lnTo>
                <a:lnTo>
                  <a:pt x="5333" y="1515765"/>
                </a:lnTo>
                <a:lnTo>
                  <a:pt x="12001" y="1570172"/>
                </a:lnTo>
                <a:lnTo>
                  <a:pt x="21336" y="1622658"/>
                </a:lnTo>
                <a:lnTo>
                  <a:pt x="33337" y="1673225"/>
                </a:lnTo>
                <a:lnTo>
                  <a:pt x="48006" y="1721871"/>
                </a:lnTo>
                <a:lnTo>
                  <a:pt x="65341" y="1768596"/>
                </a:lnTo>
                <a:lnTo>
                  <a:pt x="85343" y="1813402"/>
                </a:lnTo>
                <a:lnTo>
                  <a:pt x="108013" y="1856287"/>
                </a:lnTo>
                <a:lnTo>
                  <a:pt x="133350" y="1897253"/>
                </a:lnTo>
                <a:lnTo>
                  <a:pt x="162062" y="1936869"/>
                </a:lnTo>
                <a:lnTo>
                  <a:pt x="192954" y="1973040"/>
                </a:lnTo>
                <a:lnTo>
                  <a:pt x="226024" y="2005766"/>
                </a:lnTo>
                <a:lnTo>
                  <a:pt x="261271" y="2035047"/>
                </a:lnTo>
                <a:lnTo>
                  <a:pt x="298696" y="2060884"/>
                </a:lnTo>
                <a:lnTo>
                  <a:pt x="338296" y="2083276"/>
                </a:lnTo>
                <a:lnTo>
                  <a:pt x="380071" y="2102223"/>
                </a:lnTo>
                <a:lnTo>
                  <a:pt x="424020" y="2117725"/>
                </a:lnTo>
                <a:lnTo>
                  <a:pt x="470142" y="2129782"/>
                </a:lnTo>
                <a:lnTo>
                  <a:pt x="518436" y="2138394"/>
                </a:lnTo>
                <a:lnTo>
                  <a:pt x="568901" y="2143561"/>
                </a:lnTo>
                <a:lnTo>
                  <a:pt x="621538" y="2145284"/>
                </a:lnTo>
                <a:lnTo>
                  <a:pt x="674232" y="2143239"/>
                </a:lnTo>
                <a:lnTo>
                  <a:pt x="725089" y="2137107"/>
                </a:lnTo>
                <a:lnTo>
                  <a:pt x="774106" y="2126889"/>
                </a:lnTo>
                <a:lnTo>
                  <a:pt x="821282" y="2112588"/>
                </a:lnTo>
                <a:lnTo>
                  <a:pt x="866614" y="2094206"/>
                </a:lnTo>
                <a:lnTo>
                  <a:pt x="910100" y="2071745"/>
                </a:lnTo>
                <a:lnTo>
                  <a:pt x="951737" y="2045208"/>
                </a:lnTo>
                <a:lnTo>
                  <a:pt x="983135" y="2021289"/>
                </a:lnTo>
                <a:lnTo>
                  <a:pt x="1013914" y="1993900"/>
                </a:lnTo>
                <a:lnTo>
                  <a:pt x="1044076" y="1963039"/>
                </a:lnTo>
                <a:lnTo>
                  <a:pt x="1073623" y="1928706"/>
                </a:lnTo>
                <a:lnTo>
                  <a:pt x="1088172" y="1909699"/>
                </a:lnTo>
                <a:lnTo>
                  <a:pt x="827785" y="1909699"/>
                </a:lnTo>
                <a:lnTo>
                  <a:pt x="778837" y="1906122"/>
                </a:lnTo>
                <a:lnTo>
                  <a:pt x="732319" y="1895395"/>
                </a:lnTo>
                <a:lnTo>
                  <a:pt x="688228" y="1877520"/>
                </a:lnTo>
                <a:lnTo>
                  <a:pt x="646561" y="1852501"/>
                </a:lnTo>
                <a:lnTo>
                  <a:pt x="607314" y="1820343"/>
                </a:lnTo>
                <a:lnTo>
                  <a:pt x="570483" y="1781048"/>
                </a:lnTo>
                <a:lnTo>
                  <a:pt x="543817" y="1746350"/>
                </a:lnTo>
                <a:lnTo>
                  <a:pt x="519670" y="1709236"/>
                </a:lnTo>
                <a:lnTo>
                  <a:pt x="498041" y="1669704"/>
                </a:lnTo>
                <a:lnTo>
                  <a:pt x="478928" y="1627755"/>
                </a:lnTo>
                <a:lnTo>
                  <a:pt x="462327" y="1583388"/>
                </a:lnTo>
                <a:lnTo>
                  <a:pt x="448237" y="1536601"/>
                </a:lnTo>
                <a:lnTo>
                  <a:pt x="436656" y="1487394"/>
                </a:lnTo>
                <a:lnTo>
                  <a:pt x="427581" y="1435766"/>
                </a:lnTo>
                <a:lnTo>
                  <a:pt x="421010" y="1381716"/>
                </a:lnTo>
                <a:lnTo>
                  <a:pt x="416940" y="1325245"/>
                </a:lnTo>
                <a:lnTo>
                  <a:pt x="1212215" y="1325245"/>
                </a:lnTo>
                <a:lnTo>
                  <a:pt x="1209084" y="1267303"/>
                </a:lnTo>
                <a:lnTo>
                  <a:pt x="1204781" y="1221359"/>
                </a:lnTo>
                <a:lnTo>
                  <a:pt x="409194" y="1221359"/>
                </a:lnTo>
                <a:lnTo>
                  <a:pt x="409194" y="1167130"/>
                </a:lnTo>
                <a:lnTo>
                  <a:pt x="410622" y="1108670"/>
                </a:lnTo>
                <a:lnTo>
                  <a:pt x="414908" y="1053403"/>
                </a:lnTo>
                <a:lnTo>
                  <a:pt x="422052" y="1001330"/>
                </a:lnTo>
                <a:lnTo>
                  <a:pt x="432053" y="952452"/>
                </a:lnTo>
                <a:lnTo>
                  <a:pt x="444912" y="906771"/>
                </a:lnTo>
                <a:lnTo>
                  <a:pt x="460628" y="864288"/>
                </a:lnTo>
                <a:lnTo>
                  <a:pt x="479202" y="825005"/>
                </a:lnTo>
                <a:lnTo>
                  <a:pt x="500633" y="788924"/>
                </a:lnTo>
                <a:lnTo>
                  <a:pt x="528089" y="754346"/>
                </a:lnTo>
                <a:lnTo>
                  <a:pt x="559212" y="729662"/>
                </a:lnTo>
                <a:lnTo>
                  <a:pt x="632459" y="709930"/>
                </a:lnTo>
                <a:lnTo>
                  <a:pt x="951388" y="709930"/>
                </a:lnTo>
                <a:lnTo>
                  <a:pt x="923294" y="689356"/>
                </a:lnTo>
                <a:lnTo>
                  <a:pt x="882280" y="664830"/>
                </a:lnTo>
                <a:lnTo>
                  <a:pt x="839830" y="644764"/>
                </a:lnTo>
                <a:lnTo>
                  <a:pt x="795946" y="629158"/>
                </a:lnTo>
                <a:lnTo>
                  <a:pt x="750629" y="618010"/>
                </a:lnTo>
                <a:lnTo>
                  <a:pt x="703880" y="611321"/>
                </a:lnTo>
                <a:lnTo>
                  <a:pt x="655701" y="609092"/>
                </a:lnTo>
                <a:close/>
              </a:path>
              <a:path w="4746625" h="2145665">
                <a:moveTo>
                  <a:pt x="1159509" y="1670939"/>
                </a:moveTo>
                <a:lnTo>
                  <a:pt x="1125203" y="1721567"/>
                </a:lnTo>
                <a:lnTo>
                  <a:pt x="1091775" y="1765557"/>
                </a:lnTo>
                <a:lnTo>
                  <a:pt x="1059218" y="1802914"/>
                </a:lnTo>
                <a:lnTo>
                  <a:pt x="1027527" y="1833645"/>
                </a:lnTo>
                <a:lnTo>
                  <a:pt x="996695" y="1857756"/>
                </a:lnTo>
                <a:lnTo>
                  <a:pt x="957641" y="1880445"/>
                </a:lnTo>
                <a:lnTo>
                  <a:pt x="916479" y="1896681"/>
                </a:lnTo>
                <a:lnTo>
                  <a:pt x="873198" y="1906440"/>
                </a:lnTo>
                <a:lnTo>
                  <a:pt x="827785" y="1909699"/>
                </a:lnTo>
                <a:lnTo>
                  <a:pt x="1088172" y="1909699"/>
                </a:lnTo>
                <a:lnTo>
                  <a:pt x="1130883" y="1849628"/>
                </a:lnTo>
                <a:lnTo>
                  <a:pt x="1158599" y="1804881"/>
                </a:lnTo>
                <a:lnTo>
                  <a:pt x="1185709" y="1756664"/>
                </a:lnTo>
                <a:lnTo>
                  <a:pt x="1212215" y="1704975"/>
                </a:lnTo>
                <a:lnTo>
                  <a:pt x="1159509" y="1670939"/>
                </a:lnTo>
                <a:close/>
              </a:path>
              <a:path w="4746625" h="2145665">
                <a:moveTo>
                  <a:pt x="951388" y="709930"/>
                </a:moveTo>
                <a:lnTo>
                  <a:pt x="632459" y="709930"/>
                </a:lnTo>
                <a:lnTo>
                  <a:pt x="658229" y="711668"/>
                </a:lnTo>
                <a:lnTo>
                  <a:pt x="681259" y="716883"/>
                </a:lnTo>
                <a:lnTo>
                  <a:pt x="719201" y="737743"/>
                </a:lnTo>
                <a:lnTo>
                  <a:pt x="769016" y="797099"/>
                </a:lnTo>
                <a:lnTo>
                  <a:pt x="788281" y="835165"/>
                </a:lnTo>
                <a:lnTo>
                  <a:pt x="803782" y="878840"/>
                </a:lnTo>
                <a:lnTo>
                  <a:pt x="817032" y="944745"/>
                </a:lnTo>
                <a:lnTo>
                  <a:pt x="822001" y="987285"/>
                </a:lnTo>
                <a:lnTo>
                  <a:pt x="825865" y="1036216"/>
                </a:lnTo>
                <a:lnTo>
                  <a:pt x="828625" y="1091539"/>
                </a:lnTo>
                <a:lnTo>
                  <a:pt x="830281" y="1153253"/>
                </a:lnTo>
                <a:lnTo>
                  <a:pt x="830833" y="1221359"/>
                </a:lnTo>
                <a:lnTo>
                  <a:pt x="1204781" y="1221359"/>
                </a:lnTo>
                <a:lnTo>
                  <a:pt x="1196611" y="1158678"/>
                </a:lnTo>
                <a:lnTo>
                  <a:pt x="1187266" y="1107995"/>
                </a:lnTo>
                <a:lnTo>
                  <a:pt x="1175846" y="1059731"/>
                </a:lnTo>
                <a:lnTo>
                  <a:pt x="1162351" y="1013888"/>
                </a:lnTo>
                <a:lnTo>
                  <a:pt x="1146779" y="970466"/>
                </a:lnTo>
                <a:lnTo>
                  <a:pt x="1129128" y="929465"/>
                </a:lnTo>
                <a:lnTo>
                  <a:pt x="1109398" y="890887"/>
                </a:lnTo>
                <a:lnTo>
                  <a:pt x="1087587" y="854730"/>
                </a:lnTo>
                <a:lnTo>
                  <a:pt x="1063694" y="820996"/>
                </a:lnTo>
                <a:lnTo>
                  <a:pt x="1037717" y="789686"/>
                </a:lnTo>
                <a:lnTo>
                  <a:pt x="1001014" y="751783"/>
                </a:lnTo>
                <a:lnTo>
                  <a:pt x="962873" y="718340"/>
                </a:lnTo>
                <a:lnTo>
                  <a:pt x="951388" y="709930"/>
                </a:lnTo>
                <a:close/>
              </a:path>
              <a:path w="4746625" h="2145665">
                <a:moveTo>
                  <a:pt x="1986280" y="652526"/>
                </a:moveTo>
                <a:lnTo>
                  <a:pt x="1395730" y="652526"/>
                </a:lnTo>
                <a:lnTo>
                  <a:pt x="1395730" y="709930"/>
                </a:lnTo>
                <a:lnTo>
                  <a:pt x="1439691" y="717861"/>
                </a:lnTo>
                <a:lnTo>
                  <a:pt x="1475390" y="729281"/>
                </a:lnTo>
                <a:lnTo>
                  <a:pt x="1522095" y="762635"/>
                </a:lnTo>
                <a:lnTo>
                  <a:pt x="1544788" y="833964"/>
                </a:lnTo>
                <a:lnTo>
                  <a:pt x="1550437" y="892794"/>
                </a:lnTo>
                <a:lnTo>
                  <a:pt x="1552320" y="967232"/>
                </a:lnTo>
                <a:lnTo>
                  <a:pt x="1552320" y="1785620"/>
                </a:lnTo>
                <a:lnTo>
                  <a:pt x="1550710" y="1859528"/>
                </a:lnTo>
                <a:lnTo>
                  <a:pt x="1545748" y="1919732"/>
                </a:lnTo>
                <a:lnTo>
                  <a:pt x="1537533" y="1961784"/>
                </a:lnTo>
                <a:lnTo>
                  <a:pt x="1503314" y="2009431"/>
                </a:lnTo>
                <a:lnTo>
                  <a:pt x="1438163" y="2038907"/>
                </a:lnTo>
                <a:lnTo>
                  <a:pt x="1395730" y="2046097"/>
                </a:lnTo>
                <a:lnTo>
                  <a:pt x="1395730" y="2101850"/>
                </a:lnTo>
                <a:lnTo>
                  <a:pt x="2128901" y="2101850"/>
                </a:lnTo>
                <a:lnTo>
                  <a:pt x="2128901" y="2046097"/>
                </a:lnTo>
                <a:lnTo>
                  <a:pt x="2091086" y="2038621"/>
                </a:lnTo>
                <a:lnTo>
                  <a:pt x="2059749" y="2027062"/>
                </a:lnTo>
                <a:lnTo>
                  <a:pt x="2016506" y="1991741"/>
                </a:lnTo>
                <a:lnTo>
                  <a:pt x="1993868" y="1918541"/>
                </a:lnTo>
                <a:lnTo>
                  <a:pt x="1988181" y="1859528"/>
                </a:lnTo>
                <a:lnTo>
                  <a:pt x="1986280" y="1785620"/>
                </a:lnTo>
                <a:lnTo>
                  <a:pt x="1986280" y="1009015"/>
                </a:lnTo>
                <a:lnTo>
                  <a:pt x="2019473" y="958467"/>
                </a:lnTo>
                <a:lnTo>
                  <a:pt x="2053413" y="915683"/>
                </a:lnTo>
                <a:lnTo>
                  <a:pt x="2088100" y="880669"/>
                </a:lnTo>
                <a:lnTo>
                  <a:pt x="2123533" y="853427"/>
                </a:lnTo>
                <a:lnTo>
                  <a:pt x="2148298" y="840105"/>
                </a:lnTo>
                <a:lnTo>
                  <a:pt x="1986280" y="840105"/>
                </a:lnTo>
                <a:lnTo>
                  <a:pt x="1986280" y="652526"/>
                </a:lnTo>
                <a:close/>
              </a:path>
              <a:path w="4746625" h="2145665">
                <a:moveTo>
                  <a:pt x="2754743" y="818388"/>
                </a:moveTo>
                <a:lnTo>
                  <a:pt x="2234310" y="818388"/>
                </a:lnTo>
                <a:lnTo>
                  <a:pt x="2254053" y="819985"/>
                </a:lnTo>
                <a:lnTo>
                  <a:pt x="2272903" y="824785"/>
                </a:lnTo>
                <a:lnTo>
                  <a:pt x="2307971" y="844042"/>
                </a:lnTo>
                <a:lnTo>
                  <a:pt x="2336450" y="874807"/>
                </a:lnTo>
                <a:lnTo>
                  <a:pt x="2355215" y="916051"/>
                </a:lnTo>
                <a:lnTo>
                  <a:pt x="2365724" y="995489"/>
                </a:lnTo>
                <a:lnTo>
                  <a:pt x="2368323" y="1059926"/>
                </a:lnTo>
                <a:lnTo>
                  <a:pt x="2369185" y="1140841"/>
                </a:lnTo>
                <a:lnTo>
                  <a:pt x="2369185" y="1785620"/>
                </a:lnTo>
                <a:lnTo>
                  <a:pt x="2367637" y="1855204"/>
                </a:lnTo>
                <a:lnTo>
                  <a:pt x="2362993" y="1910429"/>
                </a:lnTo>
                <a:lnTo>
                  <a:pt x="2355254" y="1951319"/>
                </a:lnTo>
                <a:lnTo>
                  <a:pt x="2323701" y="2003663"/>
                </a:lnTo>
                <a:lnTo>
                  <a:pt x="2264785" y="2037762"/>
                </a:lnTo>
                <a:lnTo>
                  <a:pt x="2226564" y="2046097"/>
                </a:lnTo>
                <a:lnTo>
                  <a:pt x="2226564" y="2101850"/>
                </a:lnTo>
                <a:lnTo>
                  <a:pt x="2959735" y="2101850"/>
                </a:lnTo>
                <a:lnTo>
                  <a:pt x="2959735" y="2046097"/>
                </a:lnTo>
                <a:lnTo>
                  <a:pt x="2915828" y="2038766"/>
                </a:lnTo>
                <a:lnTo>
                  <a:pt x="2880137" y="2027650"/>
                </a:lnTo>
                <a:lnTo>
                  <a:pt x="2833497" y="1994154"/>
                </a:lnTo>
                <a:lnTo>
                  <a:pt x="2810811" y="1921462"/>
                </a:lnTo>
                <a:lnTo>
                  <a:pt x="2805154" y="1861440"/>
                </a:lnTo>
                <a:lnTo>
                  <a:pt x="2803271" y="1785620"/>
                </a:lnTo>
                <a:lnTo>
                  <a:pt x="2803271" y="1221359"/>
                </a:lnTo>
                <a:lnTo>
                  <a:pt x="2802758" y="1152942"/>
                </a:lnTo>
                <a:lnTo>
                  <a:pt x="2801224" y="1091168"/>
                </a:lnTo>
                <a:lnTo>
                  <a:pt x="2798672" y="1036039"/>
                </a:lnTo>
                <a:lnTo>
                  <a:pt x="2795107" y="987557"/>
                </a:lnTo>
                <a:lnTo>
                  <a:pt x="2790533" y="945724"/>
                </a:lnTo>
                <a:lnTo>
                  <a:pt x="2778379" y="882015"/>
                </a:lnTo>
                <a:lnTo>
                  <a:pt x="2763537" y="836994"/>
                </a:lnTo>
                <a:lnTo>
                  <a:pt x="2754743" y="818388"/>
                </a:lnTo>
                <a:close/>
              </a:path>
              <a:path w="4746625" h="2145665">
                <a:moveTo>
                  <a:pt x="2420366" y="609092"/>
                </a:moveTo>
                <a:lnTo>
                  <a:pt x="2373885" y="611300"/>
                </a:lnTo>
                <a:lnTo>
                  <a:pt x="2328629" y="617923"/>
                </a:lnTo>
                <a:lnTo>
                  <a:pt x="2284605" y="628952"/>
                </a:lnTo>
                <a:lnTo>
                  <a:pt x="2241818" y="644383"/>
                </a:lnTo>
                <a:lnTo>
                  <a:pt x="2200274" y="664210"/>
                </a:lnTo>
                <a:lnTo>
                  <a:pt x="2165911" y="684383"/>
                </a:lnTo>
                <a:lnTo>
                  <a:pt x="2131022" y="708203"/>
                </a:lnTo>
                <a:lnTo>
                  <a:pt x="2095611" y="735679"/>
                </a:lnTo>
                <a:lnTo>
                  <a:pt x="2059681" y="766816"/>
                </a:lnTo>
                <a:lnTo>
                  <a:pt x="2023236" y="801622"/>
                </a:lnTo>
                <a:lnTo>
                  <a:pt x="1986280" y="840105"/>
                </a:lnTo>
                <a:lnTo>
                  <a:pt x="2148298" y="840105"/>
                </a:lnTo>
                <a:lnTo>
                  <a:pt x="2159712" y="833964"/>
                </a:lnTo>
                <a:lnTo>
                  <a:pt x="2196638" y="822282"/>
                </a:lnTo>
                <a:lnTo>
                  <a:pt x="2234310" y="818388"/>
                </a:lnTo>
                <a:lnTo>
                  <a:pt x="2754743" y="818388"/>
                </a:lnTo>
                <a:lnTo>
                  <a:pt x="2743709" y="795039"/>
                </a:lnTo>
                <a:lnTo>
                  <a:pt x="2718906" y="756138"/>
                </a:lnTo>
                <a:lnTo>
                  <a:pt x="2689141" y="720279"/>
                </a:lnTo>
                <a:lnTo>
                  <a:pt x="2654427" y="687451"/>
                </a:lnTo>
                <a:lnTo>
                  <a:pt x="2615307" y="659258"/>
                </a:lnTo>
                <a:lnTo>
                  <a:pt x="2572330" y="637319"/>
                </a:lnTo>
                <a:lnTo>
                  <a:pt x="2525505" y="621641"/>
                </a:lnTo>
                <a:lnTo>
                  <a:pt x="2474846" y="612230"/>
                </a:lnTo>
                <a:lnTo>
                  <a:pt x="2420366" y="609092"/>
                </a:lnTo>
                <a:close/>
              </a:path>
              <a:path w="4746625" h="2145665">
                <a:moveTo>
                  <a:pt x="3777487" y="609092"/>
                </a:moveTo>
                <a:lnTo>
                  <a:pt x="3724339" y="611726"/>
                </a:lnTo>
                <a:lnTo>
                  <a:pt x="3672341" y="619623"/>
                </a:lnTo>
                <a:lnTo>
                  <a:pt x="3621500" y="632777"/>
                </a:lnTo>
                <a:lnTo>
                  <a:pt x="3571823" y="651180"/>
                </a:lnTo>
                <a:lnTo>
                  <a:pt x="3523317" y="674826"/>
                </a:lnTo>
                <a:lnTo>
                  <a:pt x="3475990" y="703707"/>
                </a:lnTo>
                <a:lnTo>
                  <a:pt x="3437143" y="732561"/>
                </a:lnTo>
                <a:lnTo>
                  <a:pt x="3400726" y="765127"/>
                </a:lnTo>
                <a:lnTo>
                  <a:pt x="3366738" y="801401"/>
                </a:lnTo>
                <a:lnTo>
                  <a:pt x="3335183" y="841379"/>
                </a:lnTo>
                <a:lnTo>
                  <a:pt x="3306063" y="885055"/>
                </a:lnTo>
                <a:lnTo>
                  <a:pt x="3279380" y="932426"/>
                </a:lnTo>
                <a:lnTo>
                  <a:pt x="3255136" y="983488"/>
                </a:lnTo>
                <a:lnTo>
                  <a:pt x="3238222" y="1025242"/>
                </a:lnTo>
                <a:lnTo>
                  <a:pt x="3223294" y="1068208"/>
                </a:lnTo>
                <a:lnTo>
                  <a:pt x="3210353" y="1112383"/>
                </a:lnTo>
                <a:lnTo>
                  <a:pt x="3199399" y="1157766"/>
                </a:lnTo>
                <a:lnTo>
                  <a:pt x="3190435" y="1204353"/>
                </a:lnTo>
                <a:lnTo>
                  <a:pt x="3183461" y="1252144"/>
                </a:lnTo>
                <a:lnTo>
                  <a:pt x="3178479" y="1301136"/>
                </a:lnTo>
                <a:lnTo>
                  <a:pt x="3175489" y="1351327"/>
                </a:lnTo>
                <a:lnTo>
                  <a:pt x="3174492" y="1402715"/>
                </a:lnTo>
                <a:lnTo>
                  <a:pt x="3175794" y="1460398"/>
                </a:lnTo>
                <a:lnTo>
                  <a:pt x="3179703" y="1516253"/>
                </a:lnTo>
                <a:lnTo>
                  <a:pt x="3186215" y="1570278"/>
                </a:lnTo>
                <a:lnTo>
                  <a:pt x="3195332" y="1622475"/>
                </a:lnTo>
                <a:lnTo>
                  <a:pt x="3207051" y="1672844"/>
                </a:lnTo>
                <a:lnTo>
                  <a:pt x="3221373" y="1721383"/>
                </a:lnTo>
                <a:lnTo>
                  <a:pt x="3238296" y="1768094"/>
                </a:lnTo>
                <a:lnTo>
                  <a:pt x="3257820" y="1812975"/>
                </a:lnTo>
                <a:lnTo>
                  <a:pt x="3279944" y="1856028"/>
                </a:lnTo>
                <a:lnTo>
                  <a:pt x="3304667" y="1897253"/>
                </a:lnTo>
                <a:lnTo>
                  <a:pt x="3334961" y="1940299"/>
                </a:lnTo>
                <a:lnTo>
                  <a:pt x="3367170" y="1979246"/>
                </a:lnTo>
                <a:lnTo>
                  <a:pt x="3401295" y="2014094"/>
                </a:lnTo>
                <a:lnTo>
                  <a:pt x="3437336" y="2044841"/>
                </a:lnTo>
                <a:lnTo>
                  <a:pt x="3475294" y="2071489"/>
                </a:lnTo>
                <a:lnTo>
                  <a:pt x="3515169" y="2094037"/>
                </a:lnTo>
                <a:lnTo>
                  <a:pt x="3556962" y="2112486"/>
                </a:lnTo>
                <a:lnTo>
                  <a:pt x="3600674" y="2126835"/>
                </a:lnTo>
                <a:lnTo>
                  <a:pt x="3646304" y="2137084"/>
                </a:lnTo>
                <a:lnTo>
                  <a:pt x="3693854" y="2143234"/>
                </a:lnTo>
                <a:lnTo>
                  <a:pt x="3743325" y="2145284"/>
                </a:lnTo>
                <a:lnTo>
                  <a:pt x="3796210" y="2142281"/>
                </a:lnTo>
                <a:lnTo>
                  <a:pt x="3846274" y="2133266"/>
                </a:lnTo>
                <a:lnTo>
                  <a:pt x="3893504" y="2118227"/>
                </a:lnTo>
                <a:lnTo>
                  <a:pt x="3937889" y="2097151"/>
                </a:lnTo>
                <a:lnTo>
                  <a:pt x="3973278" y="2074534"/>
                </a:lnTo>
                <a:lnTo>
                  <a:pt x="4010569" y="2045091"/>
                </a:lnTo>
                <a:lnTo>
                  <a:pt x="4049774" y="2008819"/>
                </a:lnTo>
                <a:lnTo>
                  <a:pt x="4090906" y="1965721"/>
                </a:lnTo>
                <a:lnTo>
                  <a:pt x="4096507" y="1959229"/>
                </a:lnTo>
                <a:lnTo>
                  <a:pt x="3876675" y="1959229"/>
                </a:lnTo>
                <a:lnTo>
                  <a:pt x="3847341" y="1957393"/>
                </a:lnTo>
                <a:lnTo>
                  <a:pt x="3798486" y="1942673"/>
                </a:lnTo>
                <a:lnTo>
                  <a:pt x="3745986" y="1895782"/>
                </a:lnTo>
                <a:lnTo>
                  <a:pt x="3716639" y="1852691"/>
                </a:lnTo>
                <a:lnTo>
                  <a:pt x="3690983" y="1800480"/>
                </a:lnTo>
                <a:lnTo>
                  <a:pt x="3669029" y="1739138"/>
                </a:lnTo>
                <a:lnTo>
                  <a:pt x="3651361" y="1664319"/>
                </a:lnTo>
                <a:lnTo>
                  <a:pt x="3644419" y="1620230"/>
                </a:lnTo>
                <a:lnTo>
                  <a:pt x="3638740" y="1571688"/>
                </a:lnTo>
                <a:lnTo>
                  <a:pt x="3634323" y="1518693"/>
                </a:lnTo>
                <a:lnTo>
                  <a:pt x="3631168" y="1461246"/>
                </a:lnTo>
                <a:lnTo>
                  <a:pt x="3629275" y="1399345"/>
                </a:lnTo>
                <a:lnTo>
                  <a:pt x="3628644" y="1332992"/>
                </a:lnTo>
                <a:lnTo>
                  <a:pt x="3629390" y="1264318"/>
                </a:lnTo>
                <a:lnTo>
                  <a:pt x="3631626" y="1200898"/>
                </a:lnTo>
                <a:lnTo>
                  <a:pt x="3635352" y="1142730"/>
                </a:lnTo>
                <a:lnTo>
                  <a:pt x="3640563" y="1089812"/>
                </a:lnTo>
                <a:lnTo>
                  <a:pt x="3647258" y="1042141"/>
                </a:lnTo>
                <a:lnTo>
                  <a:pt x="3655436" y="999715"/>
                </a:lnTo>
                <a:lnTo>
                  <a:pt x="3665093" y="962533"/>
                </a:lnTo>
                <a:lnTo>
                  <a:pt x="3684597" y="906672"/>
                </a:lnTo>
                <a:lnTo>
                  <a:pt x="3706733" y="859885"/>
                </a:lnTo>
                <a:lnTo>
                  <a:pt x="3731512" y="822194"/>
                </a:lnTo>
                <a:lnTo>
                  <a:pt x="3758946" y="793623"/>
                </a:lnTo>
                <a:lnTo>
                  <a:pt x="3801141" y="770366"/>
                </a:lnTo>
                <a:lnTo>
                  <a:pt x="3853433" y="762635"/>
                </a:lnTo>
                <a:lnTo>
                  <a:pt x="4107058" y="762635"/>
                </a:lnTo>
                <a:lnTo>
                  <a:pt x="4088925" y="743900"/>
                </a:lnTo>
                <a:lnTo>
                  <a:pt x="4045219" y="704865"/>
                </a:lnTo>
                <a:lnTo>
                  <a:pt x="4002871" y="673379"/>
                </a:lnTo>
                <a:lnTo>
                  <a:pt x="3961892" y="649478"/>
                </a:lnTo>
                <a:lnTo>
                  <a:pt x="3920148" y="631809"/>
                </a:lnTo>
                <a:lnTo>
                  <a:pt x="3875500" y="619188"/>
                </a:lnTo>
                <a:lnTo>
                  <a:pt x="3827946" y="611616"/>
                </a:lnTo>
                <a:lnTo>
                  <a:pt x="3777487" y="609092"/>
                </a:lnTo>
                <a:close/>
              </a:path>
              <a:path w="4746625" h="2145665">
                <a:moveTo>
                  <a:pt x="4597939" y="1915795"/>
                </a:moveTo>
                <a:lnTo>
                  <a:pt x="4133977" y="1915795"/>
                </a:lnTo>
                <a:lnTo>
                  <a:pt x="4133977" y="2145284"/>
                </a:lnTo>
                <a:lnTo>
                  <a:pt x="4746243" y="2025904"/>
                </a:lnTo>
                <a:lnTo>
                  <a:pt x="4746243" y="1974723"/>
                </a:lnTo>
                <a:lnTo>
                  <a:pt x="4706070" y="1970488"/>
                </a:lnTo>
                <a:lnTo>
                  <a:pt x="4672409" y="1963896"/>
                </a:lnTo>
                <a:lnTo>
                  <a:pt x="4645249" y="1954970"/>
                </a:lnTo>
                <a:lnTo>
                  <a:pt x="4624578" y="1943735"/>
                </a:lnTo>
                <a:lnTo>
                  <a:pt x="4608552" y="1929707"/>
                </a:lnTo>
                <a:lnTo>
                  <a:pt x="4597939" y="1915795"/>
                </a:lnTo>
                <a:close/>
              </a:path>
              <a:path w="4746625" h="2145665">
                <a:moveTo>
                  <a:pt x="4107058" y="762635"/>
                </a:moveTo>
                <a:lnTo>
                  <a:pt x="3853433" y="762635"/>
                </a:lnTo>
                <a:lnTo>
                  <a:pt x="3894111" y="766070"/>
                </a:lnTo>
                <a:lnTo>
                  <a:pt x="3933184" y="776378"/>
                </a:lnTo>
                <a:lnTo>
                  <a:pt x="3970651" y="793562"/>
                </a:lnTo>
                <a:lnTo>
                  <a:pt x="4006516" y="817626"/>
                </a:lnTo>
                <a:lnTo>
                  <a:pt x="4040780" y="848570"/>
                </a:lnTo>
                <a:lnTo>
                  <a:pt x="4073443" y="886400"/>
                </a:lnTo>
                <a:lnTo>
                  <a:pt x="4104508" y="931117"/>
                </a:lnTo>
                <a:lnTo>
                  <a:pt x="4133977" y="982726"/>
                </a:lnTo>
                <a:lnTo>
                  <a:pt x="4133977" y="1745361"/>
                </a:lnTo>
                <a:lnTo>
                  <a:pt x="4099103" y="1802114"/>
                </a:lnTo>
                <a:lnTo>
                  <a:pt x="4063605" y="1850131"/>
                </a:lnTo>
                <a:lnTo>
                  <a:pt x="4027481" y="1889412"/>
                </a:lnTo>
                <a:lnTo>
                  <a:pt x="3990728" y="1919960"/>
                </a:lnTo>
                <a:lnTo>
                  <a:pt x="3953344" y="1941777"/>
                </a:lnTo>
                <a:lnTo>
                  <a:pt x="3915327" y="1954866"/>
                </a:lnTo>
                <a:lnTo>
                  <a:pt x="3876675" y="1959229"/>
                </a:lnTo>
                <a:lnTo>
                  <a:pt x="4096507" y="1959229"/>
                </a:lnTo>
                <a:lnTo>
                  <a:pt x="4133977" y="1915795"/>
                </a:lnTo>
                <a:lnTo>
                  <a:pt x="4597939" y="1915795"/>
                </a:lnTo>
                <a:lnTo>
                  <a:pt x="4595336" y="1912381"/>
                </a:lnTo>
                <a:lnTo>
                  <a:pt x="4577333" y="1867789"/>
                </a:lnTo>
                <a:lnTo>
                  <a:pt x="4570364" y="1802272"/>
                </a:lnTo>
                <a:lnTo>
                  <a:pt x="4568685" y="1745361"/>
                </a:lnTo>
                <a:lnTo>
                  <a:pt x="4568100" y="1672844"/>
                </a:lnTo>
                <a:lnTo>
                  <a:pt x="4568062" y="790448"/>
                </a:lnTo>
                <a:lnTo>
                  <a:pt x="4133977" y="790448"/>
                </a:lnTo>
                <a:lnTo>
                  <a:pt x="4107058" y="762635"/>
                </a:lnTo>
                <a:close/>
              </a:path>
              <a:path w="4746625" h="2145665">
                <a:moveTo>
                  <a:pt x="4568062" y="0"/>
                </a:moveTo>
                <a:lnTo>
                  <a:pt x="3924680" y="0"/>
                </a:lnTo>
                <a:lnTo>
                  <a:pt x="3924680" y="65024"/>
                </a:lnTo>
                <a:lnTo>
                  <a:pt x="3971778" y="66381"/>
                </a:lnTo>
                <a:lnTo>
                  <a:pt x="4010755" y="70453"/>
                </a:lnTo>
                <a:lnTo>
                  <a:pt x="4064254" y="86741"/>
                </a:lnTo>
                <a:lnTo>
                  <a:pt x="4096797" y="114268"/>
                </a:lnTo>
                <a:lnTo>
                  <a:pt x="4120006" y="153416"/>
                </a:lnTo>
                <a:lnTo>
                  <a:pt x="4130516" y="220472"/>
                </a:lnTo>
                <a:lnTo>
                  <a:pt x="4133115" y="278717"/>
                </a:lnTo>
                <a:lnTo>
                  <a:pt x="4133977" y="353441"/>
                </a:lnTo>
                <a:lnTo>
                  <a:pt x="4133977" y="790448"/>
                </a:lnTo>
                <a:lnTo>
                  <a:pt x="4568062" y="790448"/>
                </a:lnTo>
                <a:lnTo>
                  <a:pt x="4568062" y="0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101</a:t>
            </a:fld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673" y="3573017"/>
            <a:ext cx="708660" cy="696595"/>
          </a:xfrm>
          <a:custGeom>
            <a:avLst/>
            <a:gdLst/>
            <a:ahLst/>
            <a:cxnLst/>
            <a:rect l="l" t="t" r="r" b="b"/>
            <a:pathLst>
              <a:path w="708660" h="696595">
                <a:moveTo>
                  <a:pt x="354330" y="0"/>
                </a:moveTo>
                <a:lnTo>
                  <a:pt x="306248" y="3179"/>
                </a:lnTo>
                <a:lnTo>
                  <a:pt x="260133" y="12442"/>
                </a:lnTo>
                <a:lnTo>
                  <a:pt x="216407" y="27372"/>
                </a:lnTo>
                <a:lnTo>
                  <a:pt x="175491" y="47554"/>
                </a:lnTo>
                <a:lnTo>
                  <a:pt x="137808" y="72573"/>
                </a:lnTo>
                <a:lnTo>
                  <a:pt x="103779" y="102012"/>
                </a:lnTo>
                <a:lnTo>
                  <a:pt x="73828" y="135458"/>
                </a:lnTo>
                <a:lnTo>
                  <a:pt x="48375" y="172494"/>
                </a:lnTo>
                <a:lnTo>
                  <a:pt x="27844" y="212705"/>
                </a:lnTo>
                <a:lnTo>
                  <a:pt x="12656" y="255675"/>
                </a:lnTo>
                <a:lnTo>
                  <a:pt x="3234" y="300990"/>
                </a:lnTo>
                <a:lnTo>
                  <a:pt x="0" y="348234"/>
                </a:lnTo>
                <a:lnTo>
                  <a:pt x="3234" y="395477"/>
                </a:lnTo>
                <a:lnTo>
                  <a:pt x="12656" y="440792"/>
                </a:lnTo>
                <a:lnTo>
                  <a:pt x="27844" y="483762"/>
                </a:lnTo>
                <a:lnTo>
                  <a:pt x="48375" y="523973"/>
                </a:lnTo>
                <a:lnTo>
                  <a:pt x="73828" y="561009"/>
                </a:lnTo>
                <a:lnTo>
                  <a:pt x="103779" y="594455"/>
                </a:lnTo>
                <a:lnTo>
                  <a:pt x="137808" y="623894"/>
                </a:lnTo>
                <a:lnTo>
                  <a:pt x="175491" y="648913"/>
                </a:lnTo>
                <a:lnTo>
                  <a:pt x="216407" y="669095"/>
                </a:lnTo>
                <a:lnTo>
                  <a:pt x="260133" y="684025"/>
                </a:lnTo>
                <a:lnTo>
                  <a:pt x="306248" y="693288"/>
                </a:lnTo>
                <a:lnTo>
                  <a:pt x="354330" y="696468"/>
                </a:lnTo>
                <a:lnTo>
                  <a:pt x="402411" y="693288"/>
                </a:lnTo>
                <a:lnTo>
                  <a:pt x="448526" y="684025"/>
                </a:lnTo>
                <a:lnTo>
                  <a:pt x="492252" y="669095"/>
                </a:lnTo>
                <a:lnTo>
                  <a:pt x="533168" y="648913"/>
                </a:lnTo>
                <a:lnTo>
                  <a:pt x="570851" y="623894"/>
                </a:lnTo>
                <a:lnTo>
                  <a:pt x="604880" y="594455"/>
                </a:lnTo>
                <a:lnTo>
                  <a:pt x="634831" y="561009"/>
                </a:lnTo>
                <a:lnTo>
                  <a:pt x="660284" y="523973"/>
                </a:lnTo>
                <a:lnTo>
                  <a:pt x="680815" y="483762"/>
                </a:lnTo>
                <a:lnTo>
                  <a:pt x="696003" y="440792"/>
                </a:lnTo>
                <a:lnTo>
                  <a:pt x="705425" y="395477"/>
                </a:lnTo>
                <a:lnTo>
                  <a:pt x="708660" y="348234"/>
                </a:lnTo>
                <a:lnTo>
                  <a:pt x="705425" y="300990"/>
                </a:lnTo>
                <a:lnTo>
                  <a:pt x="696003" y="255675"/>
                </a:lnTo>
                <a:lnTo>
                  <a:pt x="680815" y="212705"/>
                </a:lnTo>
                <a:lnTo>
                  <a:pt x="660284" y="172494"/>
                </a:lnTo>
                <a:lnTo>
                  <a:pt x="634831" y="135458"/>
                </a:lnTo>
                <a:lnTo>
                  <a:pt x="604880" y="102012"/>
                </a:lnTo>
                <a:lnTo>
                  <a:pt x="570851" y="72573"/>
                </a:lnTo>
                <a:lnTo>
                  <a:pt x="533168" y="47554"/>
                </a:lnTo>
                <a:lnTo>
                  <a:pt x="492252" y="27372"/>
                </a:lnTo>
                <a:lnTo>
                  <a:pt x="448526" y="12442"/>
                </a:lnTo>
                <a:lnTo>
                  <a:pt x="402411" y="3179"/>
                </a:lnTo>
                <a:lnTo>
                  <a:pt x="354330" y="0"/>
                </a:lnTo>
                <a:close/>
              </a:path>
            </a:pathLst>
          </a:custGeom>
          <a:solidFill>
            <a:srgbClr val="A737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673" y="3573017"/>
            <a:ext cx="708660" cy="696595"/>
          </a:xfrm>
          <a:custGeom>
            <a:avLst/>
            <a:gdLst/>
            <a:ahLst/>
            <a:cxnLst/>
            <a:rect l="l" t="t" r="r" b="b"/>
            <a:pathLst>
              <a:path w="708660" h="696595">
                <a:moveTo>
                  <a:pt x="0" y="348234"/>
                </a:moveTo>
                <a:lnTo>
                  <a:pt x="3234" y="300990"/>
                </a:lnTo>
                <a:lnTo>
                  <a:pt x="12656" y="255675"/>
                </a:lnTo>
                <a:lnTo>
                  <a:pt x="27844" y="212705"/>
                </a:lnTo>
                <a:lnTo>
                  <a:pt x="48375" y="172494"/>
                </a:lnTo>
                <a:lnTo>
                  <a:pt x="73828" y="135458"/>
                </a:lnTo>
                <a:lnTo>
                  <a:pt x="103779" y="102012"/>
                </a:lnTo>
                <a:lnTo>
                  <a:pt x="137808" y="72573"/>
                </a:lnTo>
                <a:lnTo>
                  <a:pt x="175491" y="47554"/>
                </a:lnTo>
                <a:lnTo>
                  <a:pt x="216407" y="27372"/>
                </a:lnTo>
                <a:lnTo>
                  <a:pt x="260133" y="12442"/>
                </a:lnTo>
                <a:lnTo>
                  <a:pt x="306248" y="3179"/>
                </a:lnTo>
                <a:lnTo>
                  <a:pt x="354330" y="0"/>
                </a:lnTo>
                <a:lnTo>
                  <a:pt x="402411" y="3179"/>
                </a:lnTo>
                <a:lnTo>
                  <a:pt x="448526" y="12442"/>
                </a:lnTo>
                <a:lnTo>
                  <a:pt x="492252" y="27372"/>
                </a:lnTo>
                <a:lnTo>
                  <a:pt x="533168" y="47554"/>
                </a:lnTo>
                <a:lnTo>
                  <a:pt x="570851" y="72573"/>
                </a:lnTo>
                <a:lnTo>
                  <a:pt x="604880" y="102012"/>
                </a:lnTo>
                <a:lnTo>
                  <a:pt x="634831" y="135458"/>
                </a:lnTo>
                <a:lnTo>
                  <a:pt x="660284" y="172494"/>
                </a:lnTo>
                <a:lnTo>
                  <a:pt x="680815" y="212705"/>
                </a:lnTo>
                <a:lnTo>
                  <a:pt x="696003" y="255675"/>
                </a:lnTo>
                <a:lnTo>
                  <a:pt x="705425" y="300990"/>
                </a:lnTo>
                <a:lnTo>
                  <a:pt x="708660" y="348234"/>
                </a:lnTo>
                <a:lnTo>
                  <a:pt x="705425" y="395477"/>
                </a:lnTo>
                <a:lnTo>
                  <a:pt x="696003" y="440792"/>
                </a:lnTo>
                <a:lnTo>
                  <a:pt x="680815" y="483762"/>
                </a:lnTo>
                <a:lnTo>
                  <a:pt x="660284" y="523973"/>
                </a:lnTo>
                <a:lnTo>
                  <a:pt x="634831" y="561009"/>
                </a:lnTo>
                <a:lnTo>
                  <a:pt x="604880" y="594455"/>
                </a:lnTo>
                <a:lnTo>
                  <a:pt x="570851" y="623894"/>
                </a:lnTo>
                <a:lnTo>
                  <a:pt x="533168" y="648913"/>
                </a:lnTo>
                <a:lnTo>
                  <a:pt x="492252" y="669095"/>
                </a:lnTo>
                <a:lnTo>
                  <a:pt x="448526" y="684025"/>
                </a:lnTo>
                <a:lnTo>
                  <a:pt x="402411" y="693288"/>
                </a:lnTo>
                <a:lnTo>
                  <a:pt x="354330" y="696468"/>
                </a:lnTo>
                <a:lnTo>
                  <a:pt x="306248" y="693288"/>
                </a:lnTo>
                <a:lnTo>
                  <a:pt x="260133" y="684025"/>
                </a:lnTo>
                <a:lnTo>
                  <a:pt x="216407" y="669095"/>
                </a:lnTo>
                <a:lnTo>
                  <a:pt x="175491" y="648913"/>
                </a:lnTo>
                <a:lnTo>
                  <a:pt x="137808" y="623894"/>
                </a:lnTo>
                <a:lnTo>
                  <a:pt x="103779" y="594455"/>
                </a:lnTo>
                <a:lnTo>
                  <a:pt x="73828" y="561009"/>
                </a:lnTo>
                <a:lnTo>
                  <a:pt x="48375" y="523973"/>
                </a:lnTo>
                <a:lnTo>
                  <a:pt x="27844" y="483762"/>
                </a:lnTo>
                <a:lnTo>
                  <a:pt x="12656" y="440792"/>
                </a:lnTo>
                <a:lnTo>
                  <a:pt x="3234" y="395477"/>
                </a:lnTo>
                <a:lnTo>
                  <a:pt x="0" y="348234"/>
                </a:lnTo>
                <a:close/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72078" y="1309877"/>
            <a:ext cx="710565" cy="698500"/>
          </a:xfrm>
          <a:custGeom>
            <a:avLst/>
            <a:gdLst/>
            <a:ahLst/>
            <a:cxnLst/>
            <a:rect l="l" t="t" r="r" b="b"/>
            <a:pathLst>
              <a:path w="710564" h="698500">
                <a:moveTo>
                  <a:pt x="355092" y="0"/>
                </a:moveTo>
                <a:lnTo>
                  <a:pt x="306913" y="3185"/>
                </a:lnTo>
                <a:lnTo>
                  <a:pt x="260702" y="12463"/>
                </a:lnTo>
                <a:lnTo>
                  <a:pt x="216884" y="27420"/>
                </a:lnTo>
                <a:lnTo>
                  <a:pt x="175880" y="47639"/>
                </a:lnTo>
                <a:lnTo>
                  <a:pt x="138116" y="72705"/>
                </a:lnTo>
                <a:lnTo>
                  <a:pt x="104013" y="102203"/>
                </a:lnTo>
                <a:lnTo>
                  <a:pt x="73995" y="135717"/>
                </a:lnTo>
                <a:lnTo>
                  <a:pt x="48485" y="172832"/>
                </a:lnTo>
                <a:lnTo>
                  <a:pt x="27908" y="213133"/>
                </a:lnTo>
                <a:lnTo>
                  <a:pt x="12685" y="256204"/>
                </a:lnTo>
                <a:lnTo>
                  <a:pt x="3242" y="301630"/>
                </a:lnTo>
                <a:lnTo>
                  <a:pt x="0" y="348996"/>
                </a:lnTo>
                <a:lnTo>
                  <a:pt x="3242" y="396361"/>
                </a:lnTo>
                <a:lnTo>
                  <a:pt x="12685" y="441787"/>
                </a:lnTo>
                <a:lnTo>
                  <a:pt x="27908" y="484858"/>
                </a:lnTo>
                <a:lnTo>
                  <a:pt x="48485" y="525159"/>
                </a:lnTo>
                <a:lnTo>
                  <a:pt x="73995" y="562274"/>
                </a:lnTo>
                <a:lnTo>
                  <a:pt x="104013" y="595788"/>
                </a:lnTo>
                <a:lnTo>
                  <a:pt x="138116" y="625286"/>
                </a:lnTo>
                <a:lnTo>
                  <a:pt x="175880" y="650352"/>
                </a:lnTo>
                <a:lnTo>
                  <a:pt x="216884" y="670571"/>
                </a:lnTo>
                <a:lnTo>
                  <a:pt x="260702" y="685528"/>
                </a:lnTo>
                <a:lnTo>
                  <a:pt x="306913" y="694806"/>
                </a:lnTo>
                <a:lnTo>
                  <a:pt x="355092" y="697992"/>
                </a:lnTo>
                <a:lnTo>
                  <a:pt x="403270" y="694806"/>
                </a:lnTo>
                <a:lnTo>
                  <a:pt x="449481" y="685528"/>
                </a:lnTo>
                <a:lnTo>
                  <a:pt x="493299" y="670571"/>
                </a:lnTo>
                <a:lnTo>
                  <a:pt x="534303" y="650352"/>
                </a:lnTo>
                <a:lnTo>
                  <a:pt x="572067" y="625286"/>
                </a:lnTo>
                <a:lnTo>
                  <a:pt x="606170" y="595788"/>
                </a:lnTo>
                <a:lnTo>
                  <a:pt x="636188" y="562274"/>
                </a:lnTo>
                <a:lnTo>
                  <a:pt x="661698" y="525159"/>
                </a:lnTo>
                <a:lnTo>
                  <a:pt x="682275" y="484858"/>
                </a:lnTo>
                <a:lnTo>
                  <a:pt x="697498" y="441787"/>
                </a:lnTo>
                <a:lnTo>
                  <a:pt x="706941" y="396361"/>
                </a:lnTo>
                <a:lnTo>
                  <a:pt x="710184" y="348996"/>
                </a:lnTo>
                <a:lnTo>
                  <a:pt x="706941" y="301630"/>
                </a:lnTo>
                <a:lnTo>
                  <a:pt x="697498" y="256204"/>
                </a:lnTo>
                <a:lnTo>
                  <a:pt x="682275" y="213133"/>
                </a:lnTo>
                <a:lnTo>
                  <a:pt x="661698" y="172832"/>
                </a:lnTo>
                <a:lnTo>
                  <a:pt x="636188" y="135717"/>
                </a:lnTo>
                <a:lnTo>
                  <a:pt x="606171" y="102203"/>
                </a:lnTo>
                <a:lnTo>
                  <a:pt x="572067" y="72705"/>
                </a:lnTo>
                <a:lnTo>
                  <a:pt x="534303" y="47639"/>
                </a:lnTo>
                <a:lnTo>
                  <a:pt x="493299" y="27420"/>
                </a:lnTo>
                <a:lnTo>
                  <a:pt x="449481" y="12463"/>
                </a:lnTo>
                <a:lnTo>
                  <a:pt x="403270" y="3185"/>
                </a:lnTo>
                <a:lnTo>
                  <a:pt x="355092" y="0"/>
                </a:lnTo>
                <a:close/>
              </a:path>
            </a:pathLst>
          </a:custGeom>
          <a:solidFill>
            <a:srgbClr val="A737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72078" y="1309877"/>
            <a:ext cx="710565" cy="698500"/>
          </a:xfrm>
          <a:custGeom>
            <a:avLst/>
            <a:gdLst/>
            <a:ahLst/>
            <a:cxnLst/>
            <a:rect l="l" t="t" r="r" b="b"/>
            <a:pathLst>
              <a:path w="710564" h="698500">
                <a:moveTo>
                  <a:pt x="0" y="348996"/>
                </a:moveTo>
                <a:lnTo>
                  <a:pt x="3242" y="301630"/>
                </a:lnTo>
                <a:lnTo>
                  <a:pt x="12685" y="256204"/>
                </a:lnTo>
                <a:lnTo>
                  <a:pt x="27908" y="213133"/>
                </a:lnTo>
                <a:lnTo>
                  <a:pt x="48485" y="172832"/>
                </a:lnTo>
                <a:lnTo>
                  <a:pt x="73995" y="135717"/>
                </a:lnTo>
                <a:lnTo>
                  <a:pt x="104013" y="102203"/>
                </a:lnTo>
                <a:lnTo>
                  <a:pt x="138116" y="72705"/>
                </a:lnTo>
                <a:lnTo>
                  <a:pt x="175880" y="47639"/>
                </a:lnTo>
                <a:lnTo>
                  <a:pt x="216884" y="27420"/>
                </a:lnTo>
                <a:lnTo>
                  <a:pt x="260702" y="12463"/>
                </a:lnTo>
                <a:lnTo>
                  <a:pt x="306913" y="3185"/>
                </a:lnTo>
                <a:lnTo>
                  <a:pt x="355092" y="0"/>
                </a:lnTo>
                <a:lnTo>
                  <a:pt x="403270" y="3185"/>
                </a:lnTo>
                <a:lnTo>
                  <a:pt x="449481" y="12463"/>
                </a:lnTo>
                <a:lnTo>
                  <a:pt x="493299" y="27420"/>
                </a:lnTo>
                <a:lnTo>
                  <a:pt x="534303" y="47639"/>
                </a:lnTo>
                <a:lnTo>
                  <a:pt x="572067" y="72705"/>
                </a:lnTo>
                <a:lnTo>
                  <a:pt x="606171" y="102203"/>
                </a:lnTo>
                <a:lnTo>
                  <a:pt x="636188" y="135717"/>
                </a:lnTo>
                <a:lnTo>
                  <a:pt x="661698" y="172832"/>
                </a:lnTo>
                <a:lnTo>
                  <a:pt x="682275" y="213133"/>
                </a:lnTo>
                <a:lnTo>
                  <a:pt x="697498" y="256204"/>
                </a:lnTo>
                <a:lnTo>
                  <a:pt x="706941" y="301630"/>
                </a:lnTo>
                <a:lnTo>
                  <a:pt x="710184" y="348996"/>
                </a:lnTo>
                <a:lnTo>
                  <a:pt x="706941" y="396361"/>
                </a:lnTo>
                <a:lnTo>
                  <a:pt x="697498" y="441787"/>
                </a:lnTo>
                <a:lnTo>
                  <a:pt x="682275" y="484858"/>
                </a:lnTo>
                <a:lnTo>
                  <a:pt x="661698" y="525159"/>
                </a:lnTo>
                <a:lnTo>
                  <a:pt x="636188" y="562274"/>
                </a:lnTo>
                <a:lnTo>
                  <a:pt x="606170" y="595788"/>
                </a:lnTo>
                <a:lnTo>
                  <a:pt x="572067" y="625286"/>
                </a:lnTo>
                <a:lnTo>
                  <a:pt x="534303" y="650352"/>
                </a:lnTo>
                <a:lnTo>
                  <a:pt x="493299" y="670571"/>
                </a:lnTo>
                <a:lnTo>
                  <a:pt x="449481" y="685528"/>
                </a:lnTo>
                <a:lnTo>
                  <a:pt x="403270" y="694806"/>
                </a:lnTo>
                <a:lnTo>
                  <a:pt x="355092" y="697992"/>
                </a:lnTo>
                <a:lnTo>
                  <a:pt x="306913" y="694806"/>
                </a:lnTo>
                <a:lnTo>
                  <a:pt x="260702" y="685528"/>
                </a:lnTo>
                <a:lnTo>
                  <a:pt x="216884" y="670571"/>
                </a:lnTo>
                <a:lnTo>
                  <a:pt x="175880" y="650352"/>
                </a:lnTo>
                <a:lnTo>
                  <a:pt x="138116" y="625286"/>
                </a:lnTo>
                <a:lnTo>
                  <a:pt x="104013" y="595788"/>
                </a:lnTo>
                <a:lnTo>
                  <a:pt x="73995" y="562274"/>
                </a:lnTo>
                <a:lnTo>
                  <a:pt x="48485" y="525159"/>
                </a:lnTo>
                <a:lnTo>
                  <a:pt x="27908" y="484858"/>
                </a:lnTo>
                <a:lnTo>
                  <a:pt x="12685" y="441787"/>
                </a:lnTo>
                <a:lnTo>
                  <a:pt x="3242" y="396361"/>
                </a:lnTo>
                <a:lnTo>
                  <a:pt x="0" y="348996"/>
                </a:lnTo>
                <a:close/>
              </a:path>
            </a:pathLst>
          </a:custGeom>
          <a:ln w="38099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362580" y="12902"/>
            <a:ext cx="46748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1030" algn="l"/>
              </a:tabLst>
            </a:pPr>
            <a:r>
              <a:rPr dirty="0" sz="24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语法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分析</a:t>
            </a:r>
            <a:r>
              <a:rPr dirty="0" sz="2400" b="1">
                <a:solidFill>
                  <a:srgbClr val="A15100"/>
                </a:solidFill>
                <a:latin typeface="Arial"/>
                <a:cs typeface="Arial"/>
              </a:rPr>
              <a:t>——</a:t>
            </a:r>
            <a:r>
              <a:rPr dirty="0" sz="2400" spc="-200" b="1">
                <a:solidFill>
                  <a:srgbClr val="A15100"/>
                </a:solidFill>
                <a:latin typeface="Arial"/>
                <a:cs typeface="Arial"/>
              </a:rPr>
              <a:t> 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自上而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下分析法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101</a:t>
            </a:fld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0692" y="850518"/>
            <a:ext cx="87363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06425" algn="l"/>
                <a:tab pos="693991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语法分析方法中的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LL(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分析法属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于</a:t>
            </a: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分析方法。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5972" y="1276883"/>
            <a:ext cx="2084705" cy="1135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384" marR="5080" indent="-20320">
              <a:lnSpc>
                <a:spcPct val="130000"/>
              </a:lnSpc>
              <a:spcBef>
                <a:spcPts val="100"/>
              </a:spcBef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自左至右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）自下而上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45178" y="1276883"/>
            <a:ext cx="2084705" cy="1135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384" marR="5080" indent="-20320">
              <a:lnSpc>
                <a:spcPct val="130000"/>
              </a:lnSpc>
              <a:spcBef>
                <a:spcPts val="100"/>
              </a:spcBef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自上而下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）自右至左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9084" y="2514676"/>
            <a:ext cx="82169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06425" algn="l"/>
                <a:tab pos="3906520" algn="l"/>
              </a:tabLst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(2)	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下列文法中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u="heavy" sz="2800" spc="-1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 	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LL(1)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文法。（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是公理）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07077" y="2936900"/>
            <a:ext cx="2368550" cy="113538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  <a:tabLst>
                <a:tab pos="54546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B)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ab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Sab</a:t>
            </a:r>
            <a:endParaRPr sz="2800">
              <a:latin typeface="Times New Roman"/>
              <a:cs typeface="Times New Roman"/>
            </a:endParaRPr>
          </a:p>
          <a:p>
            <a:pPr marL="100965">
              <a:lnSpc>
                <a:spcPct val="100000"/>
              </a:lnSpc>
              <a:spcBef>
                <a:spcPts val="1010"/>
              </a:spcBef>
              <a:tabLst>
                <a:tab pos="655320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D)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aS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0692" y="2936900"/>
            <a:ext cx="3273425" cy="2244725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A)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aSb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ab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C)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aS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(3)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设有文法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[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为：</a:t>
            </a:r>
            <a:endParaRPr sz="2800">
              <a:latin typeface="宋体"/>
              <a:cs typeface="宋体"/>
            </a:endParaRPr>
          </a:p>
          <a:p>
            <a:pPr marL="457200">
              <a:lnSpc>
                <a:spcPct val="100000"/>
              </a:lnSpc>
              <a:spcBef>
                <a:spcPts val="97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AB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87622" y="4729988"/>
            <a:ext cx="31057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53235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	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2592" y="5235322"/>
            <a:ext cx="8629650" cy="107569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495300">
              <a:lnSpc>
                <a:spcPct val="100000"/>
              </a:lnSpc>
              <a:spcBef>
                <a:spcPts val="484"/>
              </a:spcBef>
              <a:tabLst>
                <a:tab pos="3258820" algn="l"/>
              </a:tabLst>
            </a:pP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AD</a:t>
            </a:r>
            <a:r>
              <a:rPr dirty="0" sz="2800" spc="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	D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aS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495"/>
              </a:spcBef>
              <a:tabLst>
                <a:tab pos="4512310" algn="l"/>
                <a:tab pos="8081645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FOLLOW(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spc="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u="heavy" baseline="7936" sz="4200" spc="-7" b="1">
                <a:solidFill>
                  <a:srgbClr val="FFCC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baseline="7936" sz="4200" spc="157" b="1">
                <a:solidFill>
                  <a:srgbClr val="FFCC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baseline="6944" sz="4800" b="1" i="1">
                <a:solidFill>
                  <a:srgbClr val="FFCC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a,</a:t>
            </a:r>
            <a:r>
              <a:rPr dirty="0" u="heavy" baseline="6944" sz="4800" b="1">
                <a:solidFill>
                  <a:srgbClr val="FFCC00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＃</a:t>
            </a:r>
            <a:r>
              <a:rPr dirty="0" u="heavy" baseline="6944" sz="4800" b="1" i="1">
                <a:solidFill>
                  <a:srgbClr val="FFCC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,c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={</a:t>
            </a:r>
            <a:r>
              <a:rPr dirty="0" sz="2800" spc="-3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u="heavy" baseline="11284" sz="4800" spc="-22" b="1" i="1">
                <a:solidFill>
                  <a:srgbClr val="FFCC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b</a:t>
            </a:r>
            <a:r>
              <a:rPr dirty="0" u="heavy" baseline="11284" sz="4800" spc="-22" b="1">
                <a:solidFill>
                  <a:srgbClr val="FFCC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,</a:t>
            </a:r>
            <a:r>
              <a:rPr dirty="0" u="heavy" baseline="11284" sz="4800" spc="-22" b="1" i="1">
                <a:solidFill>
                  <a:srgbClr val="FFCC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heavy" baseline="11284" sz="4800" spc="-22" b="1">
                <a:solidFill>
                  <a:srgbClr val="FFCC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,</a:t>
            </a:r>
            <a:r>
              <a:rPr dirty="0" u="heavy" baseline="10779" sz="5025" spc="-22" b="1" i="1">
                <a:solidFill>
                  <a:srgbClr val="FFCC00"/>
                </a:solidFill>
                <a:uFill>
                  <a:solidFill>
                    <a:srgbClr val="FFFFFF"/>
                  </a:solidFill>
                </a:uFill>
                <a:latin typeface="Symbol"/>
                <a:cs typeface="Symbol"/>
              </a:rPr>
              <a:t></a:t>
            </a:r>
            <a:r>
              <a:rPr dirty="0" u="heavy" baseline="10779" sz="5025" spc="-22">
                <a:solidFill>
                  <a:srgbClr val="FFCC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7773" y="5916929"/>
            <a:ext cx="708660" cy="698500"/>
          </a:xfrm>
          <a:custGeom>
            <a:avLst/>
            <a:gdLst/>
            <a:ahLst/>
            <a:cxnLst/>
            <a:rect l="l" t="t" r="r" b="b"/>
            <a:pathLst>
              <a:path w="708660" h="698500">
                <a:moveTo>
                  <a:pt x="354330" y="0"/>
                </a:moveTo>
                <a:lnTo>
                  <a:pt x="306248" y="3185"/>
                </a:lnTo>
                <a:lnTo>
                  <a:pt x="260133" y="12466"/>
                </a:lnTo>
                <a:lnTo>
                  <a:pt x="216407" y="27425"/>
                </a:lnTo>
                <a:lnTo>
                  <a:pt x="175491" y="47647"/>
                </a:lnTo>
                <a:lnTo>
                  <a:pt x="137808" y="72716"/>
                </a:lnTo>
                <a:lnTo>
                  <a:pt x="103779" y="102217"/>
                </a:lnTo>
                <a:lnTo>
                  <a:pt x="73828" y="135733"/>
                </a:lnTo>
                <a:lnTo>
                  <a:pt x="48375" y="172849"/>
                </a:lnTo>
                <a:lnTo>
                  <a:pt x="27844" y="213149"/>
                </a:lnTo>
                <a:lnTo>
                  <a:pt x="12656" y="256218"/>
                </a:lnTo>
                <a:lnTo>
                  <a:pt x="3234" y="301638"/>
                </a:lnTo>
                <a:lnTo>
                  <a:pt x="0" y="348996"/>
                </a:lnTo>
                <a:lnTo>
                  <a:pt x="3234" y="396353"/>
                </a:lnTo>
                <a:lnTo>
                  <a:pt x="12656" y="441773"/>
                </a:lnTo>
                <a:lnTo>
                  <a:pt x="27844" y="484842"/>
                </a:lnTo>
                <a:lnTo>
                  <a:pt x="48375" y="525142"/>
                </a:lnTo>
                <a:lnTo>
                  <a:pt x="73828" y="562258"/>
                </a:lnTo>
                <a:lnTo>
                  <a:pt x="103779" y="595774"/>
                </a:lnTo>
                <a:lnTo>
                  <a:pt x="137808" y="625275"/>
                </a:lnTo>
                <a:lnTo>
                  <a:pt x="175491" y="650344"/>
                </a:lnTo>
                <a:lnTo>
                  <a:pt x="216407" y="670566"/>
                </a:lnTo>
                <a:lnTo>
                  <a:pt x="260133" y="685525"/>
                </a:lnTo>
                <a:lnTo>
                  <a:pt x="306248" y="694806"/>
                </a:lnTo>
                <a:lnTo>
                  <a:pt x="354330" y="697992"/>
                </a:lnTo>
                <a:lnTo>
                  <a:pt x="402411" y="694806"/>
                </a:lnTo>
                <a:lnTo>
                  <a:pt x="448526" y="685525"/>
                </a:lnTo>
                <a:lnTo>
                  <a:pt x="492252" y="670566"/>
                </a:lnTo>
                <a:lnTo>
                  <a:pt x="533168" y="650344"/>
                </a:lnTo>
                <a:lnTo>
                  <a:pt x="570851" y="625275"/>
                </a:lnTo>
                <a:lnTo>
                  <a:pt x="604880" y="595774"/>
                </a:lnTo>
                <a:lnTo>
                  <a:pt x="634831" y="562258"/>
                </a:lnTo>
                <a:lnTo>
                  <a:pt x="660284" y="525142"/>
                </a:lnTo>
                <a:lnTo>
                  <a:pt x="680815" y="484842"/>
                </a:lnTo>
                <a:lnTo>
                  <a:pt x="696003" y="441773"/>
                </a:lnTo>
                <a:lnTo>
                  <a:pt x="705425" y="396353"/>
                </a:lnTo>
                <a:lnTo>
                  <a:pt x="708660" y="348996"/>
                </a:lnTo>
                <a:lnTo>
                  <a:pt x="705425" y="301638"/>
                </a:lnTo>
                <a:lnTo>
                  <a:pt x="696003" y="256218"/>
                </a:lnTo>
                <a:lnTo>
                  <a:pt x="680815" y="213149"/>
                </a:lnTo>
                <a:lnTo>
                  <a:pt x="660284" y="172849"/>
                </a:lnTo>
                <a:lnTo>
                  <a:pt x="634831" y="135733"/>
                </a:lnTo>
                <a:lnTo>
                  <a:pt x="604880" y="102217"/>
                </a:lnTo>
                <a:lnTo>
                  <a:pt x="570851" y="72716"/>
                </a:lnTo>
                <a:lnTo>
                  <a:pt x="533168" y="47647"/>
                </a:lnTo>
                <a:lnTo>
                  <a:pt x="492252" y="27425"/>
                </a:lnTo>
                <a:lnTo>
                  <a:pt x="448526" y="12466"/>
                </a:lnTo>
                <a:lnTo>
                  <a:pt x="402411" y="3185"/>
                </a:lnTo>
                <a:lnTo>
                  <a:pt x="354330" y="0"/>
                </a:lnTo>
                <a:close/>
              </a:path>
            </a:pathLst>
          </a:custGeom>
          <a:solidFill>
            <a:srgbClr val="A737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77773" y="5916929"/>
            <a:ext cx="708660" cy="698500"/>
          </a:xfrm>
          <a:custGeom>
            <a:avLst/>
            <a:gdLst/>
            <a:ahLst/>
            <a:cxnLst/>
            <a:rect l="l" t="t" r="r" b="b"/>
            <a:pathLst>
              <a:path w="708660" h="698500">
                <a:moveTo>
                  <a:pt x="0" y="348996"/>
                </a:moveTo>
                <a:lnTo>
                  <a:pt x="3234" y="301638"/>
                </a:lnTo>
                <a:lnTo>
                  <a:pt x="12656" y="256218"/>
                </a:lnTo>
                <a:lnTo>
                  <a:pt x="27844" y="213149"/>
                </a:lnTo>
                <a:lnTo>
                  <a:pt x="48375" y="172849"/>
                </a:lnTo>
                <a:lnTo>
                  <a:pt x="73828" y="135733"/>
                </a:lnTo>
                <a:lnTo>
                  <a:pt x="103779" y="102217"/>
                </a:lnTo>
                <a:lnTo>
                  <a:pt x="137808" y="72716"/>
                </a:lnTo>
                <a:lnTo>
                  <a:pt x="175491" y="47647"/>
                </a:lnTo>
                <a:lnTo>
                  <a:pt x="216407" y="27425"/>
                </a:lnTo>
                <a:lnTo>
                  <a:pt x="260133" y="12466"/>
                </a:lnTo>
                <a:lnTo>
                  <a:pt x="306248" y="3185"/>
                </a:lnTo>
                <a:lnTo>
                  <a:pt x="354330" y="0"/>
                </a:lnTo>
                <a:lnTo>
                  <a:pt x="402411" y="3185"/>
                </a:lnTo>
                <a:lnTo>
                  <a:pt x="448526" y="12466"/>
                </a:lnTo>
                <a:lnTo>
                  <a:pt x="492252" y="27425"/>
                </a:lnTo>
                <a:lnTo>
                  <a:pt x="533168" y="47647"/>
                </a:lnTo>
                <a:lnTo>
                  <a:pt x="570851" y="72716"/>
                </a:lnTo>
                <a:lnTo>
                  <a:pt x="604880" y="102217"/>
                </a:lnTo>
                <a:lnTo>
                  <a:pt x="634831" y="135733"/>
                </a:lnTo>
                <a:lnTo>
                  <a:pt x="660284" y="172849"/>
                </a:lnTo>
                <a:lnTo>
                  <a:pt x="680815" y="213149"/>
                </a:lnTo>
                <a:lnTo>
                  <a:pt x="696003" y="256218"/>
                </a:lnTo>
                <a:lnTo>
                  <a:pt x="705425" y="301638"/>
                </a:lnTo>
                <a:lnTo>
                  <a:pt x="708660" y="348996"/>
                </a:lnTo>
                <a:lnTo>
                  <a:pt x="705425" y="396353"/>
                </a:lnTo>
                <a:lnTo>
                  <a:pt x="696003" y="441773"/>
                </a:lnTo>
                <a:lnTo>
                  <a:pt x="680815" y="484842"/>
                </a:lnTo>
                <a:lnTo>
                  <a:pt x="660284" y="525142"/>
                </a:lnTo>
                <a:lnTo>
                  <a:pt x="634831" y="562258"/>
                </a:lnTo>
                <a:lnTo>
                  <a:pt x="604880" y="595774"/>
                </a:lnTo>
                <a:lnTo>
                  <a:pt x="570851" y="625275"/>
                </a:lnTo>
                <a:lnTo>
                  <a:pt x="533168" y="650344"/>
                </a:lnTo>
                <a:lnTo>
                  <a:pt x="492252" y="670566"/>
                </a:lnTo>
                <a:lnTo>
                  <a:pt x="448526" y="685525"/>
                </a:lnTo>
                <a:lnTo>
                  <a:pt x="402411" y="694806"/>
                </a:lnTo>
                <a:lnTo>
                  <a:pt x="354330" y="697992"/>
                </a:lnTo>
                <a:lnTo>
                  <a:pt x="306248" y="694806"/>
                </a:lnTo>
                <a:lnTo>
                  <a:pt x="260133" y="685525"/>
                </a:lnTo>
                <a:lnTo>
                  <a:pt x="216407" y="670566"/>
                </a:lnTo>
                <a:lnTo>
                  <a:pt x="175491" y="650344"/>
                </a:lnTo>
                <a:lnTo>
                  <a:pt x="137808" y="625275"/>
                </a:lnTo>
                <a:lnTo>
                  <a:pt x="103779" y="595774"/>
                </a:lnTo>
                <a:lnTo>
                  <a:pt x="73828" y="562258"/>
                </a:lnTo>
                <a:lnTo>
                  <a:pt x="48375" y="525142"/>
                </a:lnTo>
                <a:lnTo>
                  <a:pt x="27844" y="484842"/>
                </a:lnTo>
                <a:lnTo>
                  <a:pt x="12656" y="441773"/>
                </a:lnTo>
                <a:lnTo>
                  <a:pt x="3234" y="396353"/>
                </a:lnTo>
                <a:lnTo>
                  <a:pt x="0" y="348996"/>
                </a:lnTo>
                <a:close/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05790" y="12902"/>
            <a:ext cx="7313930" cy="1746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69135">
              <a:lnSpc>
                <a:spcPct val="100000"/>
              </a:lnSpc>
              <a:spcBef>
                <a:spcPts val="100"/>
              </a:spcBef>
              <a:tabLst>
                <a:tab pos="2577465" algn="l"/>
              </a:tabLst>
            </a:pPr>
            <a:r>
              <a:rPr dirty="0" sz="24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语法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分析</a:t>
            </a:r>
            <a:r>
              <a:rPr dirty="0" sz="2400" b="1">
                <a:solidFill>
                  <a:srgbClr val="A15100"/>
                </a:solidFill>
                <a:latin typeface="Arial"/>
                <a:cs typeface="Arial"/>
              </a:rPr>
              <a:t>——</a:t>
            </a:r>
            <a:r>
              <a:rPr dirty="0" sz="2400" spc="-130" b="1">
                <a:solidFill>
                  <a:srgbClr val="A15100"/>
                </a:solidFill>
                <a:latin typeface="Arial"/>
                <a:cs typeface="Arial"/>
              </a:rPr>
              <a:t> 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自上而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下分析法</a:t>
            </a:r>
            <a:endParaRPr sz="24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950">
              <a:latin typeface="华文新魏"/>
              <a:cs typeface="华文新魏"/>
            </a:endParaRPr>
          </a:p>
          <a:p>
            <a:pPr marL="12700">
              <a:lnSpc>
                <a:spcPct val="100000"/>
              </a:lnSpc>
              <a:tabLst>
                <a:tab pos="5220970" algn="l"/>
              </a:tabLst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(4)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设有文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-65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Pab</a:t>
            </a:r>
            <a:r>
              <a:rPr dirty="0" sz="2800" spc="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bP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根据文法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，填写如下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LL(1)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析表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内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容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101</a:t>
            </a:fld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95312" y="1809750"/>
          <a:ext cx="8288655" cy="11753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4200"/>
                <a:gridCol w="2562225"/>
                <a:gridCol w="2560320"/>
                <a:gridCol w="2562225"/>
              </a:tblGrid>
              <a:tr h="5811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969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8115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26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3200" b="1" i="1">
                          <a:solidFill>
                            <a:srgbClr val="FFCC00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dirty="0" sz="3200" b="1">
                          <a:solidFill>
                            <a:srgbClr val="FFCC00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3200" b="1" i="1">
                          <a:solidFill>
                            <a:srgbClr val="FFCC00"/>
                          </a:solidFill>
                          <a:latin typeface="Times New Roman"/>
                          <a:cs typeface="Times New Roman"/>
                        </a:rPr>
                        <a:t>ε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787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3200" b="1" i="1">
                          <a:solidFill>
                            <a:srgbClr val="FFCC00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dirty="0" sz="3200" b="1">
                          <a:solidFill>
                            <a:srgbClr val="FFCC00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3200" b="1" i="1">
                          <a:solidFill>
                            <a:srgbClr val="FFCC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785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3200" b="1" i="1">
                          <a:solidFill>
                            <a:srgbClr val="FFCC00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dirty="0" sz="3200" b="1">
                          <a:solidFill>
                            <a:srgbClr val="FFCC00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3200" spc="-20" b="1">
                          <a:solidFill>
                            <a:srgbClr val="FFCC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 i="1">
                          <a:solidFill>
                            <a:srgbClr val="FFCC00"/>
                          </a:solidFill>
                          <a:latin typeface="Times New Roman"/>
                          <a:cs typeface="Times New Roman"/>
                        </a:rPr>
                        <a:t>ε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680415" y="3077392"/>
            <a:ext cx="5261610" cy="2791460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(5)</a:t>
            </a:r>
            <a:r>
              <a:rPr dirty="0" sz="28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设有文法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为开始符号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）：</a:t>
            </a:r>
            <a:endParaRPr sz="2800">
              <a:latin typeface="宋体"/>
              <a:cs typeface="宋体"/>
            </a:endParaRPr>
          </a:p>
          <a:p>
            <a:pPr marL="2222500" marR="1203325" indent="12065">
              <a:lnSpc>
                <a:spcPts val="4370"/>
              </a:lnSpc>
              <a:spcBef>
                <a:spcPts val="280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Ap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Bq 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cA</a:t>
            </a:r>
            <a:endParaRPr sz="2800">
              <a:latin typeface="Times New Roman"/>
              <a:cs typeface="Times New Roman"/>
            </a:endParaRPr>
          </a:p>
          <a:p>
            <a:pPr marL="2235200">
              <a:lnSpc>
                <a:spcPct val="100000"/>
              </a:lnSpc>
              <a:spcBef>
                <a:spcPts val="6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dB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30009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FIRST(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Ap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u="heavy" sz="28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0415" y="5957415"/>
            <a:ext cx="3228975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67055" algn="l"/>
                <a:tab pos="1969135" algn="l"/>
                <a:tab pos="2503170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A)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950" spc="-160" b="1" i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B)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950" spc="-160" b="1" i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06214" y="5957415"/>
            <a:ext cx="407416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55955" algn="l"/>
                <a:tab pos="2080895" algn="l"/>
                <a:tab pos="2633980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C)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950" spc="-160" b="1" i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D)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其他答案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61518" y="12902"/>
            <a:ext cx="8667115" cy="5668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09550">
              <a:lnSpc>
                <a:spcPct val="100000"/>
              </a:lnSpc>
              <a:spcBef>
                <a:spcPts val="100"/>
              </a:spcBef>
              <a:tabLst>
                <a:tab pos="817880" algn="l"/>
              </a:tabLst>
            </a:pPr>
            <a:r>
              <a:rPr dirty="0" sz="24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h4	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语法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分析</a:t>
            </a:r>
            <a:r>
              <a:rPr dirty="0" sz="2400" b="1">
                <a:solidFill>
                  <a:srgbClr val="A15100"/>
                </a:solidFill>
                <a:latin typeface="Arial"/>
                <a:cs typeface="Arial"/>
              </a:rPr>
              <a:t>——</a:t>
            </a:r>
            <a:r>
              <a:rPr dirty="0" sz="2400" spc="-125" b="1">
                <a:solidFill>
                  <a:srgbClr val="A15100"/>
                </a:solidFill>
                <a:latin typeface="Arial"/>
                <a:cs typeface="Arial"/>
              </a:rPr>
              <a:t> 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自上而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下分析法</a:t>
            </a:r>
            <a:endParaRPr sz="24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600">
              <a:latin typeface="华文新魏"/>
              <a:cs typeface="华文新魏"/>
            </a:endParaRPr>
          </a:p>
          <a:p>
            <a:pPr marL="533400">
              <a:lnSpc>
                <a:spcPct val="100000"/>
              </a:lnSpc>
              <a:spcBef>
                <a:spcPts val="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判断正误。</a:t>
            </a:r>
            <a:endParaRPr sz="2800">
              <a:latin typeface="宋体"/>
              <a:cs typeface="宋体"/>
            </a:endParaRPr>
          </a:p>
          <a:p>
            <a:pPr marL="670560" indent="-594360">
              <a:lnSpc>
                <a:spcPct val="100000"/>
              </a:lnSpc>
              <a:spcBef>
                <a:spcPts val="775"/>
              </a:spcBef>
              <a:buFont typeface="Times New Roman"/>
              <a:buAutoNum type="arabicParenBoth"/>
              <a:tabLst>
                <a:tab pos="669925" algn="l"/>
                <a:tab pos="670560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语法分析的任务是分析语句是如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何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构成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程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序的</a:t>
            </a:r>
            <a:r>
              <a:rPr dirty="0" sz="2800" spc="-138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baseline="-8680" sz="4800" spc="-15" b="1">
                <a:solidFill>
                  <a:srgbClr val="FFCC00"/>
                </a:solidFill>
                <a:latin typeface="宋体"/>
                <a:cs typeface="宋体"/>
              </a:rPr>
              <a:t>×</a:t>
            </a:r>
            <a:endParaRPr baseline="-8680" sz="4800">
              <a:latin typeface="宋体"/>
              <a:cs typeface="宋体"/>
            </a:endParaRPr>
          </a:p>
          <a:p>
            <a:pPr marL="670560" indent="-594360">
              <a:lnSpc>
                <a:spcPct val="100000"/>
              </a:lnSpc>
              <a:spcBef>
                <a:spcPts val="1095"/>
              </a:spcBef>
              <a:buFont typeface="Times New Roman"/>
              <a:buAutoNum type="arabicParenBoth"/>
              <a:tabLst>
                <a:tab pos="669925" algn="l"/>
                <a:tab pos="670560" algn="l"/>
                <a:tab pos="4688205" algn="l"/>
              </a:tabLst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设有文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-68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qQ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	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cQd</a:t>
            </a:r>
            <a:r>
              <a:rPr dirty="0" sz="2800" spc="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，该文法是</a:t>
            </a:r>
            <a:endParaRPr sz="2800">
              <a:latin typeface="宋体"/>
              <a:cs typeface="宋体"/>
            </a:endParaRPr>
          </a:p>
          <a:p>
            <a:pPr marL="533400">
              <a:lnSpc>
                <a:spcPct val="100000"/>
              </a:lnSpc>
              <a:spcBef>
                <a:spcPts val="10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LL(1)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2800" spc="7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baseline="-4340" sz="4800" spc="-15" b="1">
                <a:solidFill>
                  <a:srgbClr val="FFCC00"/>
                </a:solidFill>
                <a:latin typeface="宋体"/>
                <a:cs typeface="宋体"/>
              </a:rPr>
              <a:t>×</a:t>
            </a:r>
            <a:endParaRPr baseline="-4340" sz="4800">
              <a:latin typeface="宋体"/>
              <a:cs typeface="宋体"/>
            </a:endParaRPr>
          </a:p>
          <a:p>
            <a:pPr marL="669290" indent="-593725">
              <a:lnSpc>
                <a:spcPct val="100000"/>
              </a:lnSpc>
              <a:spcBef>
                <a:spcPts val="1095"/>
              </a:spcBef>
              <a:buAutoNum type="arabicParenBoth" startAt="3"/>
              <a:tabLst>
                <a:tab pos="669290" algn="l"/>
                <a:tab pos="66992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LL(1)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分析法中的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“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1”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是指扫描源程序当前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指针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P++</a:t>
            </a:r>
            <a:endParaRPr sz="2800">
              <a:latin typeface="Times New Roman"/>
              <a:cs typeface="Times New Roman"/>
            </a:endParaRPr>
          </a:p>
          <a:p>
            <a:pPr marL="533400">
              <a:lnSpc>
                <a:spcPct val="100000"/>
              </a:lnSpc>
              <a:spcBef>
                <a:spcPts val="11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所指的源程序串的字符</a:t>
            </a:r>
            <a:r>
              <a:rPr dirty="0" sz="2800" spc="-265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baseline="-11284" sz="4800" spc="-15" b="1">
                <a:solidFill>
                  <a:srgbClr val="FFCC00"/>
                </a:solidFill>
                <a:latin typeface="宋体"/>
                <a:cs typeface="宋体"/>
              </a:rPr>
              <a:t>×</a:t>
            </a:r>
            <a:endParaRPr baseline="-11284" sz="4800">
              <a:latin typeface="宋体"/>
              <a:cs typeface="宋体"/>
            </a:endParaRPr>
          </a:p>
          <a:p>
            <a:pPr marL="533400" marR="230504" indent="-457200">
              <a:lnSpc>
                <a:spcPct val="103099"/>
              </a:lnSpc>
              <a:spcBef>
                <a:spcPts val="990"/>
              </a:spcBef>
              <a:buClr>
                <a:srgbClr val="FFFFFF"/>
              </a:buClr>
              <a:buFont typeface="Times New Roman"/>
              <a:buAutoNum type="arabicParenBoth" startAt="4"/>
              <a:tabLst>
                <a:tab pos="581025" algn="l"/>
              </a:tabLst>
            </a:pPr>
            <a:r>
              <a:rPr dirty="0"/>
              <a:t>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自上而下分析及自下而上分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中的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“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下”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指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被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分析的源程序</a:t>
            </a:r>
            <a:r>
              <a:rPr dirty="0" sz="2800" spc="-725" b="1">
                <a:solidFill>
                  <a:srgbClr val="FFFFFF"/>
                </a:solidFill>
                <a:latin typeface="宋体"/>
                <a:cs typeface="宋体"/>
              </a:rPr>
              <a:t>串</a:t>
            </a:r>
            <a:r>
              <a:rPr dirty="0" baseline="-3472" sz="4800" spc="-1567" b="1">
                <a:solidFill>
                  <a:srgbClr val="FFCC00"/>
                </a:solidFill>
                <a:latin typeface="Symbol"/>
                <a:cs typeface="Symbol"/>
              </a:rPr>
              <a:t>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580390" indent="-504825">
              <a:lnSpc>
                <a:spcPct val="100000"/>
              </a:lnSpc>
              <a:spcBef>
                <a:spcPts val="1100"/>
              </a:spcBef>
              <a:buFont typeface="Times New Roman"/>
              <a:buAutoNum type="arabicParenBoth" startAt="4"/>
              <a:tabLst>
                <a:tab pos="581025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语法分析方法中的递归下降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析法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属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于自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上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向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下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2218" y="5770522"/>
            <a:ext cx="1343025" cy="591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45"/>
              </a:lnSpc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析方法</a:t>
            </a:r>
            <a:r>
              <a:rPr dirty="0" sz="2800" spc="-262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baseline="-23437" sz="4800" b="1">
                <a:solidFill>
                  <a:srgbClr val="FFCC00"/>
                </a:solidFill>
                <a:latin typeface="Symbol"/>
                <a:cs typeface="Symbol"/>
              </a:rPr>
              <a:t></a:t>
            </a:r>
            <a:endParaRPr baseline="-23437" sz="480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105</a:t>
            </a:fld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wgz</dc:creator>
  <dc:title>第四章  语法分析</dc:title>
  <dcterms:created xsi:type="dcterms:W3CDTF">2025-05-20T06:39:02Z</dcterms:created>
  <dcterms:modified xsi:type="dcterms:W3CDTF">2025-05-20T06:39:02Z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2025-04-28T00:00:00Z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2025-05-20T00:00:00Z</vt:filetime>
  </property>
</Properties>
</file>