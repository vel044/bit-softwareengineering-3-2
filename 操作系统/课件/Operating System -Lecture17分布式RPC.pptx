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29"/>
  </p:notesMasterIdLst>
  <p:handoutMasterIdLst>
    <p:handoutMasterId r:id="rId30"/>
  </p:handoutMasterIdLst>
  <p:sldIdLst>
    <p:sldId id="388" r:id="rId2"/>
    <p:sldId id="391" r:id="rId3"/>
    <p:sldId id="392" r:id="rId4"/>
    <p:sldId id="393" r:id="rId5"/>
    <p:sldId id="394" r:id="rId6"/>
    <p:sldId id="395" r:id="rId7"/>
    <p:sldId id="396" r:id="rId8"/>
    <p:sldId id="402" r:id="rId9"/>
    <p:sldId id="403" r:id="rId10"/>
    <p:sldId id="404" r:id="rId11"/>
    <p:sldId id="405" r:id="rId12"/>
    <p:sldId id="406" r:id="rId13"/>
    <p:sldId id="407" r:id="rId14"/>
    <p:sldId id="408" r:id="rId15"/>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Lst>
  <p:sldSz cx="9906000" cy="6858000" type="A4"/>
  <p:notesSz cx="6934200" cy="9398000"/>
  <p:custDataLst>
    <p:tags r:id="rId31"/>
  </p:custDataLst>
  <p:defaultTextStyle>
    <a:defPPr>
      <a:defRPr lang="en-US"/>
    </a:defPPr>
    <a:lvl1pPr algn="l" rtl="0" fontAlgn="base">
      <a:spcBef>
        <a:spcPct val="20000"/>
      </a:spcBef>
      <a:spcAft>
        <a:spcPct val="0"/>
      </a:spcAft>
      <a:defRPr b="1" kern="1200">
        <a:solidFill>
          <a:srgbClr val="FF0000"/>
        </a:solidFill>
        <a:latin typeface="Times New Roman" pitchFamily="18" charset="0"/>
        <a:ea typeface="宋体" pitchFamily="2" charset="-122"/>
        <a:cs typeface="+mn-cs"/>
      </a:defRPr>
    </a:lvl1pPr>
    <a:lvl2pPr marL="457200" algn="l" rtl="0" fontAlgn="base">
      <a:spcBef>
        <a:spcPct val="20000"/>
      </a:spcBef>
      <a:spcAft>
        <a:spcPct val="0"/>
      </a:spcAft>
      <a:defRPr b="1" kern="1200">
        <a:solidFill>
          <a:srgbClr val="FF0000"/>
        </a:solidFill>
        <a:latin typeface="Times New Roman" pitchFamily="18" charset="0"/>
        <a:ea typeface="宋体" pitchFamily="2" charset="-122"/>
        <a:cs typeface="+mn-cs"/>
      </a:defRPr>
    </a:lvl2pPr>
    <a:lvl3pPr marL="914400" algn="l" rtl="0" fontAlgn="base">
      <a:spcBef>
        <a:spcPct val="20000"/>
      </a:spcBef>
      <a:spcAft>
        <a:spcPct val="0"/>
      </a:spcAft>
      <a:defRPr b="1" kern="1200">
        <a:solidFill>
          <a:srgbClr val="FF0000"/>
        </a:solidFill>
        <a:latin typeface="Times New Roman" pitchFamily="18" charset="0"/>
        <a:ea typeface="宋体" pitchFamily="2" charset="-122"/>
        <a:cs typeface="+mn-cs"/>
      </a:defRPr>
    </a:lvl3pPr>
    <a:lvl4pPr marL="1371600" algn="l" rtl="0" fontAlgn="base">
      <a:spcBef>
        <a:spcPct val="20000"/>
      </a:spcBef>
      <a:spcAft>
        <a:spcPct val="0"/>
      </a:spcAft>
      <a:defRPr b="1" kern="1200">
        <a:solidFill>
          <a:srgbClr val="FF0000"/>
        </a:solidFill>
        <a:latin typeface="Times New Roman" pitchFamily="18" charset="0"/>
        <a:ea typeface="宋体" pitchFamily="2" charset="-122"/>
        <a:cs typeface="+mn-cs"/>
      </a:defRPr>
    </a:lvl4pPr>
    <a:lvl5pPr marL="1828800" algn="l" rtl="0" fontAlgn="base">
      <a:spcBef>
        <a:spcPct val="20000"/>
      </a:spcBef>
      <a:spcAft>
        <a:spcPct val="0"/>
      </a:spcAft>
      <a:defRPr b="1" kern="1200">
        <a:solidFill>
          <a:srgbClr val="FF0000"/>
        </a:solidFill>
        <a:latin typeface="Times New Roman" pitchFamily="18" charset="0"/>
        <a:ea typeface="宋体" pitchFamily="2" charset="-122"/>
        <a:cs typeface="+mn-cs"/>
      </a:defRPr>
    </a:lvl5pPr>
    <a:lvl6pPr marL="2286000" algn="l" defTabSz="914400" rtl="0" eaLnBrk="1" latinLnBrk="0" hangingPunct="1">
      <a:defRPr b="1" kern="1200">
        <a:solidFill>
          <a:srgbClr val="FF0000"/>
        </a:solidFill>
        <a:latin typeface="Times New Roman" pitchFamily="18" charset="0"/>
        <a:ea typeface="宋体" pitchFamily="2" charset="-122"/>
        <a:cs typeface="+mn-cs"/>
      </a:defRPr>
    </a:lvl6pPr>
    <a:lvl7pPr marL="2743200" algn="l" defTabSz="914400" rtl="0" eaLnBrk="1" latinLnBrk="0" hangingPunct="1">
      <a:defRPr b="1" kern="1200">
        <a:solidFill>
          <a:srgbClr val="FF0000"/>
        </a:solidFill>
        <a:latin typeface="Times New Roman" pitchFamily="18" charset="0"/>
        <a:ea typeface="宋体" pitchFamily="2" charset="-122"/>
        <a:cs typeface="+mn-cs"/>
      </a:defRPr>
    </a:lvl7pPr>
    <a:lvl8pPr marL="3200400" algn="l" defTabSz="914400" rtl="0" eaLnBrk="1" latinLnBrk="0" hangingPunct="1">
      <a:defRPr b="1" kern="1200">
        <a:solidFill>
          <a:srgbClr val="FF0000"/>
        </a:solidFill>
        <a:latin typeface="Times New Roman" pitchFamily="18" charset="0"/>
        <a:ea typeface="宋体" pitchFamily="2" charset="-122"/>
        <a:cs typeface="+mn-cs"/>
      </a:defRPr>
    </a:lvl8pPr>
    <a:lvl9pPr marL="3657600" algn="l" defTabSz="914400" rtl="0" eaLnBrk="1" latinLnBrk="0" hangingPunct="1">
      <a:defRPr b="1" kern="1200">
        <a:solidFill>
          <a:srgbClr val="FF0000"/>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60">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3399FF"/>
    <a:srgbClr val="800000"/>
    <a:srgbClr val="996633"/>
    <a:srgbClr val="FF0000"/>
    <a:srgbClr val="990000"/>
    <a:srgbClr val="FF9900"/>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3" autoAdjust="0"/>
    <p:restoredTop sz="94660"/>
  </p:normalViewPr>
  <p:slideViewPr>
    <p:cSldViewPr snapToGrid="0" snapToObjects="1">
      <p:cViewPr varScale="1">
        <p:scale>
          <a:sx n="85" d="100"/>
          <a:sy n="85" d="100"/>
        </p:scale>
        <p:origin x="696" y="91"/>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36" d="100"/>
          <a:sy n="36" d="100"/>
        </p:scale>
        <p:origin x="-1104" y="-58"/>
      </p:cViewPr>
      <p:guideLst>
        <p:guide orient="horz" pos="2960"/>
        <p:guide pos="218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0"/>
              </a:spcBef>
              <a:defRPr kumimoji="1" sz="1200" b="0">
                <a:solidFill>
                  <a:schemeClr val="tx1"/>
                </a:solidFill>
              </a:defRPr>
            </a:lvl1pPr>
          </a:lstStyle>
          <a:p>
            <a:pPr>
              <a:defRPr/>
            </a:pPr>
            <a:endParaRPr lang="zh-CN" altLang="en-US"/>
          </a:p>
        </p:txBody>
      </p:sp>
      <p:sp>
        <p:nvSpPr>
          <p:cNvPr id="13315" name="Rectangle 3"/>
          <p:cNvSpPr>
            <a:spLocks noGrp="1" noChangeArrowheads="1"/>
          </p:cNvSpPr>
          <p:nvPr>
            <p:ph type="dt" sz="quarter"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0"/>
              </a:spcBef>
              <a:defRPr kumimoji="1" sz="1200" b="0">
                <a:solidFill>
                  <a:schemeClr val="tx1"/>
                </a:solidFill>
              </a:defRPr>
            </a:lvl1pPr>
          </a:lstStyle>
          <a:p>
            <a:pPr>
              <a:defRPr/>
            </a:pPr>
            <a:endParaRPr lang="en-US" altLang="zh-CN"/>
          </a:p>
        </p:txBody>
      </p:sp>
      <p:sp>
        <p:nvSpPr>
          <p:cNvPr id="13316" name="Rectangle 4"/>
          <p:cNvSpPr>
            <a:spLocks noGrp="1" noChangeArrowheads="1"/>
          </p:cNvSpPr>
          <p:nvPr>
            <p:ph type="ftr" sz="quarter" idx="2"/>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spcBef>
                <a:spcPct val="0"/>
              </a:spcBef>
              <a:defRPr kumimoji="1" sz="1200" b="0">
                <a:solidFill>
                  <a:schemeClr val="tx1"/>
                </a:solidFill>
              </a:defRPr>
            </a:lvl1pPr>
          </a:lstStyle>
          <a:p>
            <a:pPr>
              <a:defRPr/>
            </a:pPr>
            <a:endParaRPr lang="en-US" altLang="zh-CN"/>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spcBef>
                <a:spcPct val="0"/>
              </a:spcBef>
              <a:defRPr kumimoji="1" sz="1200" b="0">
                <a:solidFill>
                  <a:schemeClr val="tx1"/>
                </a:solidFill>
              </a:defRPr>
            </a:lvl1pPr>
          </a:lstStyle>
          <a:p>
            <a:pPr>
              <a:defRPr/>
            </a:pPr>
            <a:fld id="{1F0F3078-7FA4-450C-9F15-D8052BDB67A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0"/>
              </a:spcBef>
              <a:defRPr sz="1200" b="0">
                <a:solidFill>
                  <a:schemeClr val="tx1"/>
                </a:solidFill>
              </a:defRPr>
            </a:lvl1pPr>
          </a:lstStyle>
          <a:p>
            <a:pPr>
              <a:defRPr/>
            </a:pPr>
            <a:endParaRPr lang="zh-CN" altLang="en-US"/>
          </a:p>
        </p:txBody>
      </p:sp>
      <p:sp>
        <p:nvSpPr>
          <p:cNvPr id="21507" name="Rectangle 3"/>
          <p:cNvSpPr>
            <a:spLocks noGrp="1" noRot="1" noChangeAspect="1" noChangeArrowheads="1"/>
          </p:cNvSpPr>
          <p:nvPr>
            <p:ph type="sldImg" idx="2"/>
          </p:nvPr>
        </p:nvSpPr>
        <p:spPr bwMode="auto">
          <a:xfrm>
            <a:off x="881063" y="685800"/>
            <a:ext cx="5172075" cy="3581400"/>
          </a:xfrm>
          <a:prstGeom prst="rect">
            <a:avLst/>
          </a:prstGeom>
          <a:noFill/>
          <a:ln w="9525">
            <a:solidFill>
              <a:srgbClr val="000000"/>
            </a:solidFill>
            <a:miter lim="800000"/>
            <a:headEnd/>
            <a:tailEn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3" name="Rectangle 5"/>
          <p:cNvSpPr>
            <a:spLocks noGrp="1" noChangeArrowheads="1"/>
          </p:cNvSpPr>
          <p:nvPr>
            <p:ph type="dt"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0"/>
              </a:spcBef>
              <a:defRPr sz="1200" b="0">
                <a:solidFill>
                  <a:schemeClr val="tx1"/>
                </a:solidFill>
              </a:defRPr>
            </a:lvl1pPr>
          </a:lstStyle>
          <a:p>
            <a:pPr>
              <a:defRPr/>
            </a:pPr>
            <a:endParaRPr lang="en-US" altLang="zh-CN"/>
          </a:p>
        </p:txBody>
      </p:sp>
      <p:sp>
        <p:nvSpPr>
          <p:cNvPr id="2054" name="Rectangle 6"/>
          <p:cNvSpPr>
            <a:spLocks noGrp="1" noChangeArrowheads="1"/>
          </p:cNvSpPr>
          <p:nvPr>
            <p:ph type="ftr" sz="quarter" idx="4"/>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spcBef>
                <a:spcPct val="0"/>
              </a:spcBef>
              <a:defRPr sz="1200" b="0">
                <a:solidFill>
                  <a:schemeClr val="tx1"/>
                </a:solidFill>
              </a:defRPr>
            </a:lvl1pPr>
          </a:lstStyle>
          <a:p>
            <a:pPr>
              <a:defRPr/>
            </a:pPr>
            <a:endParaRPr lang="en-US" altLang="zh-CN"/>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spcBef>
                <a:spcPct val="0"/>
              </a:spcBef>
              <a:defRPr sz="1200" b="0">
                <a:solidFill>
                  <a:schemeClr val="tx1"/>
                </a:solidFill>
              </a:defRPr>
            </a:lvl1pPr>
          </a:lstStyle>
          <a:p>
            <a:pPr>
              <a:defRPr/>
            </a:pPr>
            <a:fld id="{4B214C9F-8CE5-4600-81C0-AB1FC9FC7FE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11</a:t>
            </a:fld>
            <a:endParaRPr lang="zh-CN" altLang="en-US">
              <a:solidFill>
                <a:prstClr val="black"/>
              </a:solidFill>
            </a:endParaRPr>
          </a:p>
        </p:txBody>
      </p:sp>
    </p:spTree>
    <p:extLst>
      <p:ext uri="{BB962C8B-B14F-4D97-AF65-F5344CB8AC3E}">
        <p14:creationId xmlns:p14="http://schemas.microsoft.com/office/powerpoint/2010/main" val="3011420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12</a:t>
            </a:fld>
            <a:endParaRPr lang="zh-CN" altLang="en-US">
              <a:solidFill>
                <a:prstClr val="black"/>
              </a:solidFill>
            </a:endParaRPr>
          </a:p>
        </p:txBody>
      </p:sp>
    </p:spTree>
    <p:extLst>
      <p:ext uri="{BB962C8B-B14F-4D97-AF65-F5344CB8AC3E}">
        <p14:creationId xmlns:p14="http://schemas.microsoft.com/office/powerpoint/2010/main" val="3011420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13</a:t>
            </a:fld>
            <a:endParaRPr lang="zh-CN" altLang="en-US">
              <a:solidFill>
                <a:prstClr val="black"/>
              </a:solidFill>
            </a:endParaRPr>
          </a:p>
        </p:txBody>
      </p:sp>
    </p:spTree>
    <p:extLst>
      <p:ext uri="{BB962C8B-B14F-4D97-AF65-F5344CB8AC3E}">
        <p14:creationId xmlns:p14="http://schemas.microsoft.com/office/powerpoint/2010/main" val="3011420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14</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15</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16</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17</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18</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19</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20</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21</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22</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23</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24</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25</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26</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7B3418-EF67-4FCF-8538-9EA920BE4886}" type="slidenum">
              <a:rPr lang="zh-CN" altLang="en-US" smtClean="0">
                <a:solidFill>
                  <a:prstClr val="black"/>
                </a:solidFill>
              </a:rPr>
              <a:pPr/>
              <a:t>27</a:t>
            </a:fld>
            <a:endParaRPr lang="zh-CN" altLang="en-US">
              <a:solidFill>
                <a:prstClr val="black"/>
              </a:solidFill>
            </a:endParaRPr>
          </a:p>
        </p:txBody>
      </p:sp>
    </p:spTree>
    <p:extLst>
      <p:ext uri="{BB962C8B-B14F-4D97-AF65-F5344CB8AC3E}">
        <p14:creationId xmlns:p14="http://schemas.microsoft.com/office/powerpoint/2010/main" val="3965256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a:t>单击此处编辑母版标题样式</a:t>
            </a:r>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p:strips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p:strips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p:strips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trips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strips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strips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4638"/>
            <a:ext cx="222885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4638"/>
            <a:ext cx="653415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600200"/>
            <a:ext cx="43815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600200"/>
            <a:ext cx="43815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trips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95300" y="274638"/>
            <a:ext cx="8915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495300" y="1600200"/>
            <a:ext cx="8915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2052" name="Picture 20" descr="tou-logo_part"/>
          <p:cNvPicPr>
            <a:picLocks noChangeAspect="1" noChangeArrowheads="1"/>
          </p:cNvPicPr>
          <p:nvPr/>
        </p:nvPicPr>
        <p:blipFill>
          <a:blip r:embed="rId14" cstate="print"/>
          <a:srcRect/>
          <a:stretch>
            <a:fillRect/>
          </a:stretch>
        </p:blipFill>
        <p:spPr bwMode="auto">
          <a:xfrm>
            <a:off x="4622800" y="6221413"/>
            <a:ext cx="5219700" cy="636587"/>
          </a:xfrm>
          <a:prstGeom prst="rect">
            <a:avLst/>
          </a:prstGeom>
          <a:noFill/>
          <a:ln w="9525">
            <a:noFill/>
            <a:miter lim="800000"/>
            <a:headEnd/>
            <a:tailEnd/>
          </a:ln>
        </p:spPr>
      </p:pic>
      <p:pic>
        <p:nvPicPr>
          <p:cNvPr id="2053" name="Picture 21" descr="o9Ev_021"/>
          <p:cNvPicPr>
            <a:picLocks noChangeAspect="1" noChangeArrowheads="1"/>
          </p:cNvPicPr>
          <p:nvPr/>
        </p:nvPicPr>
        <p:blipFill>
          <a:blip r:embed="rId15" cstate="print"/>
          <a:srcRect/>
          <a:stretch>
            <a:fillRect/>
          </a:stretch>
        </p:blipFill>
        <p:spPr bwMode="auto">
          <a:xfrm>
            <a:off x="8583613" y="5675313"/>
            <a:ext cx="1258887" cy="118268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Lst>
  <p:transition>
    <p:strips dir="r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WordArt 3"/>
          <p:cNvSpPr>
            <a:spLocks noChangeArrowheads="1" noChangeShapeType="1" noTextEdit="1"/>
          </p:cNvSpPr>
          <p:nvPr/>
        </p:nvSpPr>
        <p:spPr bwMode="auto">
          <a:xfrm>
            <a:off x="584200" y="2108200"/>
            <a:ext cx="8931275" cy="1820863"/>
          </a:xfrm>
          <a:prstGeom prst="rect">
            <a:avLst/>
          </a:prstGeom>
        </p:spPr>
        <p:txBody>
          <a:bodyPr wrap="none" fromWordArt="1">
            <a:prstTxWarp prst="textPlain">
              <a:avLst>
                <a:gd name="adj" fmla="val 50000"/>
              </a:avLst>
            </a:prstTxWarp>
          </a:bodyPr>
          <a:lstStyle/>
          <a:p>
            <a:pPr algn="ctr"/>
            <a:r>
              <a:rPr lang="zh-CN" altLang="en-US" sz="3600" kern="10">
                <a:ln w="3175">
                  <a:solidFill>
                    <a:schemeClr val="tx1"/>
                  </a:solidFill>
                  <a:round/>
                  <a:headEnd/>
                  <a:tailEnd/>
                </a:ln>
                <a:gradFill rotWithShape="1">
                  <a:gsLst>
                    <a:gs pos="0">
                      <a:srgbClr val="FF3399"/>
                    </a:gs>
                    <a:gs pos="25000">
                      <a:srgbClr val="FF6633">
                        <a:alpha val="87500"/>
                      </a:srgbClr>
                    </a:gs>
                    <a:gs pos="50000">
                      <a:srgbClr val="FFFF00">
                        <a:alpha val="75000"/>
                      </a:srgbClr>
                    </a:gs>
                    <a:gs pos="75000">
                      <a:srgbClr val="01A78F">
                        <a:alpha val="62500"/>
                      </a:srgbClr>
                    </a:gs>
                    <a:gs pos="100000">
                      <a:srgbClr val="3366FF">
                        <a:alpha val="50000"/>
                      </a:srgbClr>
                    </a:gs>
                  </a:gsLst>
                  <a:lin ang="0" scaled="1"/>
                </a:gradFill>
                <a:effectLst>
                  <a:outerShdw dist="45791" dir="2021404" algn="ctr" rotWithShape="0">
                    <a:srgbClr val="9999FF"/>
                  </a:outerShdw>
                </a:effectLst>
                <a:latin typeface="宋体"/>
                <a:ea typeface="宋体"/>
              </a:rPr>
              <a:t>操作系统</a:t>
            </a:r>
          </a:p>
        </p:txBody>
      </p:sp>
      <p:pic>
        <p:nvPicPr>
          <p:cNvPr id="3075" name="Picture 5"/>
          <p:cNvPicPr>
            <a:picLocks noChangeAspect="1" noChangeArrowheads="1"/>
          </p:cNvPicPr>
          <p:nvPr/>
        </p:nvPicPr>
        <p:blipFill>
          <a:blip r:embed="rId2" cstate="print"/>
          <a:srcRect/>
          <a:stretch>
            <a:fillRect/>
          </a:stretch>
        </p:blipFill>
        <p:spPr bwMode="auto">
          <a:xfrm>
            <a:off x="0" y="0"/>
            <a:ext cx="5572125" cy="1533525"/>
          </a:xfrm>
          <a:prstGeom prst="rect">
            <a:avLst/>
          </a:prstGeom>
          <a:noFill/>
          <a:ln w="9525">
            <a:noFill/>
            <a:miter lim="800000"/>
            <a:headEnd/>
            <a:tailEnd/>
          </a:ln>
        </p:spPr>
      </p:pic>
      <p:sp>
        <p:nvSpPr>
          <p:cNvPr id="3076" name="Rectangle 6"/>
          <p:cNvSpPr>
            <a:spLocks noChangeArrowheads="1"/>
          </p:cNvSpPr>
          <p:nvPr/>
        </p:nvSpPr>
        <p:spPr bwMode="auto">
          <a:xfrm>
            <a:off x="2030413" y="4602163"/>
            <a:ext cx="5735637" cy="1555750"/>
          </a:xfrm>
          <a:prstGeom prst="rect">
            <a:avLst/>
          </a:prstGeom>
          <a:noFill/>
          <a:ln w="9525">
            <a:noFill/>
            <a:miter lim="800000"/>
            <a:headEnd/>
            <a:tailEnd/>
          </a:ln>
        </p:spPr>
        <p:txBody>
          <a:bodyPr>
            <a:spAutoFit/>
          </a:bodyPr>
          <a:lstStyle/>
          <a:p>
            <a:pPr>
              <a:spcBef>
                <a:spcPct val="0"/>
              </a:spcBef>
            </a:pPr>
            <a:r>
              <a:rPr lang="en-US" altLang="zh-CN">
                <a:solidFill>
                  <a:schemeClr val="tx1"/>
                </a:solidFill>
                <a:latin typeface="Arial" charset="0"/>
              </a:rPr>
              <a:t>                               </a:t>
            </a:r>
            <a:r>
              <a:rPr lang="zh-CN" altLang="en-US" sz="6000">
                <a:solidFill>
                  <a:schemeClr val="accent2"/>
                </a:solidFill>
                <a:latin typeface="华文楷体" pitchFamily="2" charset="-122"/>
                <a:ea typeface="华文楷体" pitchFamily="2" charset="-122"/>
              </a:rPr>
              <a:t>宋  红</a:t>
            </a:r>
          </a:p>
          <a:p>
            <a:pPr>
              <a:spcBef>
                <a:spcPct val="0"/>
              </a:spcBef>
            </a:pPr>
            <a:r>
              <a:rPr lang="zh-CN" altLang="en-US" sz="3600">
                <a:solidFill>
                  <a:srgbClr val="0066FF"/>
                </a:solidFill>
                <a:ea typeface="黑体" pitchFamily="2" charset="-122"/>
              </a:rPr>
              <a:t>               </a:t>
            </a:r>
            <a:endParaRPr lang="zh-CN" altLang="en-US" sz="2000">
              <a:solidFill>
                <a:srgbClr val="0066FF"/>
              </a:solidFill>
              <a:ea typeface="黑体" pitchFamily="2" charset="-122"/>
            </a:endParaRPr>
          </a:p>
        </p:txBody>
      </p:sp>
      <p:sp>
        <p:nvSpPr>
          <p:cNvPr id="6" name="Rectangle 8">
            <a:extLst>
              <a:ext uri="{FF2B5EF4-FFF2-40B4-BE49-F238E27FC236}">
                <a16:creationId xmlns:a16="http://schemas.microsoft.com/office/drawing/2014/main" id="{95BE6BF8-3E0A-48BE-A55A-037C8D11A56B}"/>
              </a:ext>
            </a:extLst>
          </p:cNvPr>
          <p:cNvSpPr>
            <a:spLocks noChangeArrowheads="1"/>
          </p:cNvSpPr>
          <p:nvPr/>
        </p:nvSpPr>
        <p:spPr bwMode="auto">
          <a:xfrm>
            <a:off x="7594600" y="58738"/>
            <a:ext cx="23118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66FF"/>
                </a:solidFill>
                <a:latin typeface="Comic Sans MS" panose="030F0702030302020204" pitchFamily="66" charset="0"/>
                <a:ea typeface="Arial Unicode MS" panose="020B0604020202020204" pitchFamily="34" charset="-122"/>
                <a:cs typeface="Arial Unicode MS" panose="020B0604020202020204" pitchFamily="34" charset="-122"/>
              </a:rPr>
              <a:t>Spring 2025</a:t>
            </a:r>
            <a:endParaRPr lang="en-US" altLang="zh-CN" sz="2800" dirty="0">
              <a:solidFill>
                <a:srgbClr val="0066FF"/>
              </a:solidFill>
              <a:latin typeface="Comic Sans MS" panose="030F0702030302020204" pitchFamily="66" charset="0"/>
              <a:ea typeface="Arial Unicode MS" panose="020B0604020202020204" pitchFamily="34" charset="-122"/>
              <a:cs typeface="Arial Unicode MS" panose="020B0604020202020204" pitchFamily="34" charset="-122"/>
            </a:endParaRPr>
          </a:p>
        </p:txBody>
      </p:sp>
    </p:spTree>
  </p:cSld>
  <p:clrMapOvr>
    <a:masterClrMapping/>
  </p:clrMapOvr>
  <p:transition>
    <p:strips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Autofit/>
          </a:bodyPr>
          <a:lstStyle/>
          <a:p>
            <a:r>
              <a:rPr lang="en-US" altLang="zh-CN" sz="5400" b="1" i="1" kern="1200" dirty="0">
                <a:solidFill>
                  <a:srgbClr val="0000FF"/>
                </a:solidFill>
                <a:latin typeface="Times New Roman" pitchFamily="18" charset="0"/>
                <a:ea typeface="宋体" pitchFamily="2" charset="-122"/>
                <a:cs typeface="+mn-cs"/>
              </a:rPr>
              <a:t>RPC</a:t>
            </a:r>
            <a:br>
              <a:rPr lang="en-US" altLang="zh-CN" sz="5400" b="1" i="1" kern="1200" dirty="0">
                <a:solidFill>
                  <a:srgbClr val="0000FF"/>
                </a:solidFill>
                <a:latin typeface="Times New Roman" pitchFamily="18" charset="0"/>
                <a:ea typeface="宋体" pitchFamily="2" charset="-122"/>
                <a:cs typeface="+mn-cs"/>
              </a:rPr>
            </a:br>
            <a:r>
              <a:rPr lang="en-US" altLang="zh-CN" sz="5400" b="1" i="1" kern="1200" dirty="0">
                <a:solidFill>
                  <a:srgbClr val="0000FF"/>
                </a:solidFill>
                <a:latin typeface="Times New Roman" pitchFamily="18" charset="0"/>
                <a:ea typeface="宋体" pitchFamily="2" charset="-122"/>
                <a:cs typeface="+mn-cs"/>
              </a:rPr>
              <a:t>(</a:t>
            </a:r>
            <a:r>
              <a:rPr lang="zh-CN" altLang="zh-CN" sz="5400" b="1" i="1" kern="1200" dirty="0">
                <a:solidFill>
                  <a:srgbClr val="0000FF"/>
                </a:solidFill>
                <a:latin typeface="Times New Roman" pitchFamily="18" charset="0"/>
                <a:ea typeface="宋体" pitchFamily="2" charset="-122"/>
                <a:cs typeface="+mn-cs"/>
              </a:rPr>
              <a:t>Remote Procedure Call</a:t>
            </a:r>
            <a:r>
              <a:rPr lang="en-US" altLang="zh-CN" sz="5400" b="1" i="1" kern="1200" dirty="0">
                <a:solidFill>
                  <a:srgbClr val="0000FF"/>
                </a:solidFill>
                <a:latin typeface="Times New Roman" pitchFamily="18" charset="0"/>
                <a:ea typeface="宋体" pitchFamily="2" charset="-122"/>
                <a:cs typeface="+mn-cs"/>
              </a:rPr>
              <a:t>)</a:t>
            </a:r>
            <a:endParaRPr lang="zh-CN" altLang="en-US" sz="5400" b="1" i="1" kern="1200" dirty="0">
              <a:solidFill>
                <a:srgbClr val="0000FF"/>
              </a:solidFill>
              <a:latin typeface="Times New Roman" pitchFamily="18" charset="0"/>
              <a:ea typeface="宋体" pitchFamily="2" charset="-122"/>
              <a:cs typeface="+mn-cs"/>
            </a:endParaRPr>
          </a:p>
        </p:txBody>
      </p:sp>
    </p:spTree>
    <p:extLst>
      <p:ext uri="{BB962C8B-B14F-4D97-AF65-F5344CB8AC3E}">
        <p14:creationId xmlns:p14="http://schemas.microsoft.com/office/powerpoint/2010/main" val="1286338948"/>
      </p:ext>
    </p:extLst>
  </p:cSld>
  <p:clrMapOvr>
    <a:masterClrMapping/>
  </p:clrMapOvr>
  <p:transition>
    <p:strips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a:t>RPC</a:t>
            </a:r>
            <a:endParaRPr lang="zh-CN" altLang="en-US" sz="6000" dirty="0"/>
          </a:p>
        </p:txBody>
      </p:sp>
      <p:sp>
        <p:nvSpPr>
          <p:cNvPr id="3" name="内容占位符 2"/>
          <p:cNvSpPr>
            <a:spLocks noGrp="1"/>
          </p:cNvSpPr>
          <p:nvPr>
            <p:ph idx="1"/>
          </p:nvPr>
        </p:nvSpPr>
        <p:spPr/>
        <p:txBody>
          <a:bodyPr>
            <a:normAutofit/>
          </a:bodyPr>
          <a:lstStyle/>
          <a:p>
            <a:r>
              <a:rPr lang="en-US" altLang="zh-CN" sz="4000" dirty="0"/>
              <a:t>What is  RPC?</a:t>
            </a:r>
          </a:p>
          <a:p>
            <a:pPr>
              <a:buFont typeface="Wingdings" pitchFamily="2" charset="2"/>
              <a:buChar char="ü"/>
            </a:pPr>
            <a:r>
              <a:rPr lang="zh-CN" altLang="en-US" sz="2800" b="1" dirty="0">
                <a:solidFill>
                  <a:srgbClr val="FF0000"/>
                </a:solidFill>
              </a:rPr>
              <a:t>远程过程调用</a:t>
            </a:r>
            <a:endParaRPr lang="en-US" altLang="zh-CN" sz="2800" b="1" dirty="0">
              <a:solidFill>
                <a:srgbClr val="FF0000"/>
              </a:solidFill>
            </a:endParaRPr>
          </a:p>
          <a:p>
            <a:r>
              <a:rPr lang="en-US" altLang="zh-CN" sz="4000" dirty="0"/>
              <a:t>Why use RPC?</a:t>
            </a:r>
          </a:p>
          <a:p>
            <a:pPr>
              <a:buFont typeface="Wingdings" pitchFamily="2" charset="2"/>
              <a:buChar char="ü"/>
            </a:pPr>
            <a:r>
              <a:rPr lang="zh-CN" altLang="zh-CN" sz="2800" b="1" dirty="0">
                <a:solidFill>
                  <a:srgbClr val="FF0000"/>
                </a:solidFill>
              </a:rPr>
              <a:t>解决分布式系统中，服务之间的调用问题</a:t>
            </a:r>
          </a:p>
          <a:p>
            <a:pPr>
              <a:buFont typeface="Wingdings" pitchFamily="2" charset="2"/>
              <a:buChar char="ü"/>
            </a:pPr>
            <a:r>
              <a:rPr lang="zh-CN" altLang="zh-CN" sz="2800" b="1" dirty="0">
                <a:solidFill>
                  <a:srgbClr val="FF0000"/>
                </a:solidFill>
              </a:rPr>
              <a:t>远程调用时，要能够像本地调用一样方便，让调用者感知不到远程调用的逻辑</a:t>
            </a:r>
            <a:endParaRPr lang="en-US" altLang="zh-CN" sz="2800" b="1" dirty="0">
              <a:solidFill>
                <a:srgbClr val="FF0000"/>
              </a:solidFill>
            </a:endParaRPr>
          </a:p>
          <a:p>
            <a:r>
              <a:rPr lang="en-US" altLang="zh-CN" sz="4000" dirty="0"/>
              <a:t>How to implement RPC?</a:t>
            </a:r>
          </a:p>
          <a:p>
            <a:endParaRPr lang="zh-CN" altLang="en-US" sz="4000" dirty="0"/>
          </a:p>
        </p:txBody>
      </p:sp>
    </p:spTree>
  </p:cSld>
  <p:clrMapOvr>
    <a:masterClrMapping/>
  </p:clrMapOvr>
  <p:transition>
    <p:strips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a:t>
            </a:r>
            <a:endParaRPr lang="zh-CN" altLang="en-US" dirty="0"/>
          </a:p>
        </p:txBody>
      </p:sp>
      <p:sp>
        <p:nvSpPr>
          <p:cNvPr id="4" name="灯片编号占位符 3"/>
          <p:cNvSpPr>
            <a:spLocks noGrp="1"/>
          </p:cNvSpPr>
          <p:nvPr>
            <p:ph type="sldNum" sz="quarter" idx="4294967295"/>
          </p:nvPr>
        </p:nvSpPr>
        <p:spPr>
          <a:xfrm>
            <a:off x="9164771" y="6381750"/>
            <a:ext cx="662119" cy="476250"/>
          </a:xfrm>
          <a:prstGeom prst="rect">
            <a:avLst/>
          </a:prstGeom>
        </p:spPr>
        <p:txBody>
          <a:bodyPr/>
          <a:lstStyle/>
          <a:p>
            <a:pPr>
              <a:defRPr/>
            </a:pPr>
            <a:fld id="{E39CAB76-41E8-4B7B-A59F-561660160AB5}" type="slidenum">
              <a:rPr lang="zh-CN" altLang="en-US" smtClean="0">
                <a:solidFill>
                  <a:srgbClr val="E7DEC9">
                    <a:shade val="50000"/>
                    <a:satMod val="200000"/>
                  </a:srgbClr>
                </a:solidFill>
              </a:rPr>
              <a:pPr>
                <a:defRPr/>
              </a:pPr>
              <a:t>4</a:t>
            </a:fld>
            <a:endParaRPr lang="zh-CN" altLang="en-US" dirty="0">
              <a:solidFill>
                <a:srgbClr val="E7DEC9">
                  <a:shade val="50000"/>
                  <a:satMod val="200000"/>
                </a:srgbClr>
              </a:solidFill>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18814" t="41541" r="17531" b="36253"/>
          <a:stretch>
            <a:fillRect/>
          </a:stretch>
        </p:blipFill>
        <p:spPr bwMode="auto">
          <a:xfrm>
            <a:off x="1130575" y="1855789"/>
            <a:ext cx="8665304" cy="394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ChangeArrowheads="1"/>
          </p:cNvSpPr>
          <p:nvPr/>
        </p:nvSpPr>
        <p:spPr bwMode="auto">
          <a:xfrm>
            <a:off x="1107546" y="6132786"/>
            <a:ext cx="8760619" cy="536575"/>
          </a:xfrm>
          <a:prstGeom prst="rect">
            <a:avLst/>
          </a:prstGeom>
          <a:noFill/>
          <a:ln w="9525">
            <a:noFill/>
            <a:miter lim="800000"/>
            <a:headEnd/>
            <a:tailEnd/>
          </a:ln>
        </p:spPr>
        <p:txBody>
          <a:bodyPr/>
          <a:lstStyle/>
          <a:p>
            <a:pPr marL="342900" indent="-342900" algn="ctr" fontAlgn="base">
              <a:lnSpc>
                <a:spcPct val="90000"/>
              </a:lnSpc>
              <a:spcBef>
                <a:spcPct val="20000"/>
              </a:spcBef>
              <a:spcAft>
                <a:spcPct val="0"/>
              </a:spcAft>
              <a:buClr>
                <a:srgbClr val="FEB80A"/>
              </a:buClr>
            </a:pPr>
            <a:r>
              <a:rPr lang="en-US" altLang="zh-CN" sz="2400" b="1" dirty="0">
                <a:solidFill>
                  <a:srgbClr val="7030A0"/>
                </a:solidFill>
                <a:latin typeface="华文细黑" pitchFamily="2" charset="-122"/>
                <a:ea typeface="华文细黑" pitchFamily="2" charset="-122"/>
              </a:rPr>
              <a:t>RPC</a:t>
            </a:r>
            <a:r>
              <a:rPr lang="zh-CN" altLang="en-US" sz="2400" b="1" dirty="0">
                <a:solidFill>
                  <a:srgbClr val="7030A0"/>
                </a:solidFill>
                <a:latin typeface="华文细黑" pitchFamily="2" charset="-122"/>
                <a:ea typeface="华文细黑" pitchFamily="2" charset="-122"/>
              </a:rPr>
              <a:t>通信</a:t>
            </a:r>
          </a:p>
        </p:txBody>
      </p:sp>
    </p:spTree>
    <p:extLst>
      <p:ext uri="{BB962C8B-B14F-4D97-AF65-F5344CB8AC3E}">
        <p14:creationId xmlns:p14="http://schemas.microsoft.com/office/powerpoint/2010/main" val="470255518"/>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dissolve">
                                      <p:cBhvr>
                                        <p:cTn id="1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a:t>
            </a:r>
            <a:endParaRPr lang="zh-CN" altLang="en-US" dirty="0"/>
          </a:p>
        </p:txBody>
      </p:sp>
      <p:sp>
        <p:nvSpPr>
          <p:cNvPr id="3" name="内容占位符 2"/>
          <p:cNvSpPr>
            <a:spLocks noGrp="1"/>
          </p:cNvSpPr>
          <p:nvPr>
            <p:ph idx="1"/>
          </p:nvPr>
        </p:nvSpPr>
        <p:spPr/>
        <p:txBody>
          <a:bodyPr/>
          <a:lstStyle/>
          <a:p>
            <a:r>
              <a:rPr lang="en-US" altLang="zh-CN" dirty="0"/>
              <a:t>RPC</a:t>
            </a:r>
            <a:r>
              <a:rPr lang="zh-CN" altLang="en-US" dirty="0"/>
              <a:t>的步骤</a:t>
            </a:r>
            <a:endParaRPr lang="en-US" altLang="zh-CN" dirty="0"/>
          </a:p>
        </p:txBody>
      </p:sp>
      <p:pic>
        <p:nvPicPr>
          <p:cNvPr id="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2142" y="2230586"/>
            <a:ext cx="7099300"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6"/>
          <p:cNvSpPr>
            <a:spLocks noChangeArrowheads="1"/>
          </p:cNvSpPr>
          <p:nvPr/>
        </p:nvSpPr>
        <p:spPr bwMode="auto">
          <a:xfrm>
            <a:off x="3318042" y="29163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1</a:t>
            </a:r>
          </a:p>
        </p:txBody>
      </p:sp>
      <p:sp>
        <p:nvSpPr>
          <p:cNvPr id="6" name="Oval 7"/>
          <p:cNvSpPr>
            <a:spLocks noChangeArrowheads="1"/>
          </p:cNvSpPr>
          <p:nvPr/>
        </p:nvSpPr>
        <p:spPr bwMode="auto">
          <a:xfrm>
            <a:off x="4308642" y="43641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2</a:t>
            </a:r>
          </a:p>
        </p:txBody>
      </p:sp>
      <p:sp>
        <p:nvSpPr>
          <p:cNvPr id="7" name="Oval 8"/>
          <p:cNvSpPr>
            <a:spLocks noChangeArrowheads="1"/>
          </p:cNvSpPr>
          <p:nvPr/>
        </p:nvSpPr>
        <p:spPr bwMode="auto">
          <a:xfrm>
            <a:off x="5134142" y="48213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3</a:t>
            </a:r>
          </a:p>
        </p:txBody>
      </p:sp>
      <p:sp>
        <p:nvSpPr>
          <p:cNvPr id="8" name="Oval 9"/>
          <p:cNvSpPr>
            <a:spLocks noChangeArrowheads="1"/>
          </p:cNvSpPr>
          <p:nvPr/>
        </p:nvSpPr>
        <p:spPr bwMode="auto">
          <a:xfrm>
            <a:off x="6124742" y="36783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4</a:t>
            </a:r>
          </a:p>
        </p:txBody>
      </p:sp>
      <p:sp>
        <p:nvSpPr>
          <p:cNvPr id="9" name="Oval 10"/>
          <p:cNvSpPr>
            <a:spLocks noChangeArrowheads="1"/>
          </p:cNvSpPr>
          <p:nvPr/>
        </p:nvSpPr>
        <p:spPr bwMode="auto">
          <a:xfrm>
            <a:off x="7693192" y="31449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5</a:t>
            </a:r>
          </a:p>
        </p:txBody>
      </p:sp>
      <p:sp>
        <p:nvSpPr>
          <p:cNvPr id="10" name="Oval 11"/>
          <p:cNvSpPr>
            <a:spLocks noChangeArrowheads="1"/>
          </p:cNvSpPr>
          <p:nvPr/>
        </p:nvSpPr>
        <p:spPr bwMode="auto">
          <a:xfrm>
            <a:off x="7775742" y="39831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6</a:t>
            </a:r>
          </a:p>
        </p:txBody>
      </p:sp>
      <p:sp>
        <p:nvSpPr>
          <p:cNvPr id="11" name="Oval 12"/>
          <p:cNvSpPr>
            <a:spLocks noChangeArrowheads="1"/>
          </p:cNvSpPr>
          <p:nvPr/>
        </p:nvSpPr>
        <p:spPr bwMode="auto">
          <a:xfrm>
            <a:off x="6537492" y="48213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7</a:t>
            </a:r>
          </a:p>
        </p:txBody>
      </p:sp>
      <p:sp>
        <p:nvSpPr>
          <p:cNvPr id="12" name="Oval 13"/>
          <p:cNvSpPr>
            <a:spLocks noChangeArrowheads="1"/>
          </p:cNvSpPr>
          <p:nvPr/>
        </p:nvSpPr>
        <p:spPr bwMode="auto">
          <a:xfrm>
            <a:off x="6042192" y="54309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8</a:t>
            </a:r>
          </a:p>
        </p:txBody>
      </p:sp>
      <p:sp>
        <p:nvSpPr>
          <p:cNvPr id="13" name="Oval 14"/>
          <p:cNvSpPr>
            <a:spLocks noChangeArrowheads="1"/>
          </p:cNvSpPr>
          <p:nvPr/>
        </p:nvSpPr>
        <p:spPr bwMode="auto">
          <a:xfrm>
            <a:off x="3813342" y="45165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9</a:t>
            </a:r>
          </a:p>
        </p:txBody>
      </p:sp>
      <p:sp>
        <p:nvSpPr>
          <p:cNvPr id="14" name="Oval 15"/>
          <p:cNvSpPr>
            <a:spLocks noChangeArrowheads="1"/>
          </p:cNvSpPr>
          <p:nvPr/>
        </p:nvSpPr>
        <p:spPr bwMode="auto">
          <a:xfrm>
            <a:off x="3318042" y="3906986"/>
            <a:ext cx="3302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base" hangingPunct="1">
              <a:spcBef>
                <a:spcPct val="0"/>
              </a:spcBef>
              <a:spcAft>
                <a:spcPct val="0"/>
              </a:spcAft>
            </a:pPr>
            <a:r>
              <a:rPr kumimoji="1" lang="en-US" altLang="zh-CN" sz="2000" b="1">
                <a:solidFill>
                  <a:srgbClr val="00B0F0"/>
                </a:solidFill>
                <a:latin typeface="Times New Roman" pitchFamily="18" charset="0"/>
              </a:rPr>
              <a:t>10</a:t>
            </a:r>
          </a:p>
        </p:txBody>
      </p:sp>
    </p:spTree>
    <p:extLst>
      <p:ext uri="{BB962C8B-B14F-4D97-AF65-F5344CB8AC3E}">
        <p14:creationId xmlns:p14="http://schemas.microsoft.com/office/powerpoint/2010/main" val="3803814889"/>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RPC(3)</a:t>
            </a:r>
            <a:endParaRPr lang="zh-CN" altLang="en-US" dirty="0"/>
          </a:p>
        </p:txBody>
      </p:sp>
      <p:sp>
        <p:nvSpPr>
          <p:cNvPr id="3" name="内容占位符 2"/>
          <p:cNvSpPr>
            <a:spLocks noGrp="1"/>
          </p:cNvSpPr>
          <p:nvPr>
            <p:ph idx="1"/>
          </p:nvPr>
        </p:nvSpPr>
        <p:spPr/>
        <p:txBody>
          <a:bodyPr>
            <a:normAutofit/>
          </a:bodyPr>
          <a:lstStyle/>
          <a:p>
            <a:pPr>
              <a:lnSpc>
                <a:spcPct val="105000"/>
              </a:lnSpc>
            </a:pPr>
            <a:r>
              <a:rPr lang="en-US" altLang="zh-CN" dirty="0">
                <a:solidFill>
                  <a:srgbClr val="FF0000"/>
                </a:solidFill>
              </a:rPr>
              <a:t>Client Stub</a:t>
            </a:r>
          </a:p>
          <a:p>
            <a:pPr lvl="1">
              <a:lnSpc>
                <a:spcPct val="105000"/>
              </a:lnSpc>
            </a:pPr>
            <a:r>
              <a:rPr lang="en-US" altLang="zh-CN" dirty="0"/>
              <a:t>Piece of code responsible for </a:t>
            </a:r>
            <a:r>
              <a:rPr lang="en-US" altLang="zh-CN" dirty="0" err="1"/>
              <a:t>proxying</a:t>
            </a:r>
            <a:r>
              <a:rPr lang="en-US" altLang="zh-CN" dirty="0"/>
              <a:t> the remote call as a local call</a:t>
            </a:r>
            <a:r>
              <a:rPr lang="en-US" altLang="zh-CN" dirty="0">
                <a:ea typeface="宋体" pitchFamily="2" charset="-122"/>
              </a:rPr>
              <a:t> , and packaging the call up as a message</a:t>
            </a:r>
            <a:r>
              <a:rPr lang="en-US" altLang="zh-CN" dirty="0"/>
              <a:t>.</a:t>
            </a:r>
          </a:p>
          <a:p>
            <a:pPr lvl="2">
              <a:lnSpc>
                <a:spcPct val="105000"/>
              </a:lnSpc>
            </a:pPr>
            <a:r>
              <a:rPr lang="en-US" altLang="zh-CN" dirty="0"/>
              <a:t>does not ask the operating system to give it data</a:t>
            </a:r>
          </a:p>
          <a:p>
            <a:pPr lvl="2">
              <a:lnSpc>
                <a:spcPct val="105000"/>
              </a:lnSpc>
            </a:pPr>
            <a:r>
              <a:rPr lang="en-US" altLang="zh-CN" dirty="0"/>
              <a:t>packs the parameters into a message</a:t>
            </a:r>
          </a:p>
          <a:p>
            <a:pPr lvl="2">
              <a:lnSpc>
                <a:spcPct val="105000"/>
              </a:lnSpc>
            </a:pPr>
            <a:r>
              <a:rPr lang="en-US" altLang="zh-CN" dirty="0"/>
              <a:t>requests that message to be sent to the server</a:t>
            </a:r>
          </a:p>
          <a:p>
            <a:pPr lvl="2">
              <a:lnSpc>
                <a:spcPct val="105000"/>
              </a:lnSpc>
            </a:pPr>
            <a:r>
              <a:rPr lang="en-US" altLang="zh-CN" dirty="0"/>
              <a:t>following the call to send, the client stub calls receive, blocking itself until the reply comes back</a:t>
            </a:r>
          </a:p>
        </p:txBody>
      </p:sp>
    </p:spTree>
    <p:extLst>
      <p:ext uri="{BB962C8B-B14F-4D97-AF65-F5344CB8AC3E}">
        <p14:creationId xmlns:p14="http://schemas.microsoft.com/office/powerpoint/2010/main" val="2625454400"/>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RPC(4)</a:t>
            </a:r>
            <a:endParaRPr lang="zh-CN" altLang="en-US" dirty="0"/>
          </a:p>
        </p:txBody>
      </p:sp>
      <p:sp>
        <p:nvSpPr>
          <p:cNvPr id="3" name="内容占位符 2"/>
          <p:cNvSpPr>
            <a:spLocks noGrp="1"/>
          </p:cNvSpPr>
          <p:nvPr>
            <p:ph idx="1"/>
          </p:nvPr>
        </p:nvSpPr>
        <p:spPr/>
        <p:txBody>
          <a:bodyPr>
            <a:normAutofit lnSpcReduction="10000"/>
          </a:bodyPr>
          <a:lstStyle/>
          <a:p>
            <a:pPr>
              <a:lnSpc>
                <a:spcPct val="105000"/>
              </a:lnSpc>
            </a:pPr>
            <a:r>
              <a:rPr lang="en-US" altLang="zh-CN" dirty="0">
                <a:solidFill>
                  <a:srgbClr val="FF0000"/>
                </a:solidFill>
              </a:rPr>
              <a:t>Server Stub</a:t>
            </a:r>
          </a:p>
          <a:p>
            <a:pPr lvl="1">
              <a:lnSpc>
                <a:spcPct val="105000"/>
              </a:lnSpc>
            </a:pPr>
            <a:r>
              <a:rPr lang="en-US" altLang="zh-CN" dirty="0"/>
              <a:t>Piece of code responsible for unpacking the message on the server, and invoking the actual server-side, application-level implementation.</a:t>
            </a:r>
          </a:p>
          <a:p>
            <a:pPr lvl="2">
              <a:lnSpc>
                <a:spcPct val="105000"/>
              </a:lnSpc>
            </a:pPr>
            <a:r>
              <a:rPr lang="en-US" altLang="zh-CN" dirty="0"/>
              <a:t>the server stub calls receive, blocking itself until the request comes back</a:t>
            </a:r>
          </a:p>
          <a:p>
            <a:pPr lvl="2">
              <a:lnSpc>
                <a:spcPct val="105000"/>
              </a:lnSpc>
            </a:pPr>
            <a:r>
              <a:rPr lang="en-US" altLang="zh-CN" dirty="0"/>
              <a:t>unpacks the parameters from a message</a:t>
            </a:r>
          </a:p>
          <a:p>
            <a:pPr lvl="2">
              <a:lnSpc>
                <a:spcPct val="105000"/>
              </a:lnSpc>
            </a:pPr>
            <a:r>
              <a:rPr lang="en-US" altLang="zh-CN" dirty="0"/>
              <a:t>Server is written as a standard procedure</a:t>
            </a:r>
          </a:p>
          <a:p>
            <a:pPr lvl="2">
              <a:lnSpc>
                <a:spcPct val="105000"/>
              </a:lnSpc>
            </a:pPr>
            <a:r>
              <a:rPr lang="en-US" altLang="zh-CN" dirty="0"/>
              <a:t>Stubs take care of packaging arguments and sending messages</a:t>
            </a:r>
          </a:p>
        </p:txBody>
      </p:sp>
    </p:spTree>
    <p:extLst>
      <p:ext uri="{BB962C8B-B14F-4D97-AF65-F5344CB8AC3E}">
        <p14:creationId xmlns:p14="http://schemas.microsoft.com/office/powerpoint/2010/main" val="188920598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RPC(5)</a:t>
            </a:r>
            <a:endParaRPr lang="zh-CN" altLang="en-US" dirty="0"/>
          </a:p>
        </p:txBody>
      </p:sp>
      <p:sp>
        <p:nvSpPr>
          <p:cNvPr id="3" name="内容占位符 2"/>
          <p:cNvSpPr>
            <a:spLocks noGrp="1"/>
          </p:cNvSpPr>
          <p:nvPr>
            <p:ph idx="1"/>
          </p:nvPr>
        </p:nvSpPr>
        <p:spPr>
          <a:xfrm>
            <a:off x="742924" y="1417638"/>
            <a:ext cx="8667776" cy="5072098"/>
          </a:xfrm>
        </p:spPr>
        <p:txBody>
          <a:bodyPr/>
          <a:lstStyle/>
          <a:p>
            <a:pPr lvl="2" eaLnBrk="1" hangingPunct="1">
              <a:defRPr/>
            </a:pPr>
            <a:r>
              <a:rPr lang="en-US" altLang="zh-CN" dirty="0"/>
              <a:t>Interface Definition Language (IDL)</a:t>
            </a:r>
          </a:p>
          <a:p>
            <a:pPr lvl="3" eaLnBrk="1" hangingPunct="1">
              <a:defRPr/>
            </a:pPr>
            <a:r>
              <a:rPr lang="en-US" altLang="zh-CN" dirty="0"/>
              <a:t>Stub compiler generates stub automatically from specifications in an IDL</a:t>
            </a:r>
          </a:p>
          <a:p>
            <a:pPr lvl="1" eaLnBrk="1" hangingPunct="1">
              <a:defRPr/>
            </a:pPr>
            <a:endParaRPr lang="en-US" altLang="zh-CN"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513" y="2732442"/>
            <a:ext cx="6397625"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7431725"/>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21379" t="34668" r="20738" b="30664"/>
          <a:stretch>
            <a:fillRect/>
          </a:stretch>
        </p:blipFill>
        <p:spPr bwMode="auto">
          <a:xfrm>
            <a:off x="1676637" y="1868760"/>
            <a:ext cx="7358989"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RPC(6)</a:t>
            </a:r>
            <a:endParaRPr lang="zh-CN" altLang="en-US" dirty="0"/>
          </a:p>
        </p:txBody>
      </p:sp>
      <p:sp>
        <p:nvSpPr>
          <p:cNvPr id="3" name="内容占位符 2"/>
          <p:cNvSpPr>
            <a:spLocks noGrp="1"/>
          </p:cNvSpPr>
          <p:nvPr>
            <p:ph idx="1"/>
          </p:nvPr>
        </p:nvSpPr>
        <p:spPr/>
        <p:txBody>
          <a:bodyPr>
            <a:normAutofit/>
          </a:bodyPr>
          <a:lstStyle/>
          <a:p>
            <a:r>
              <a:rPr lang="en-US" altLang="zh-CN" dirty="0">
                <a:ea typeface="宋体" pitchFamily="2" charset="-122"/>
              </a:rPr>
              <a:t>Writing a Client and a Server</a:t>
            </a:r>
            <a:endParaRPr lang="zh-CN" altLang="en-US" dirty="0"/>
          </a:p>
        </p:txBody>
      </p:sp>
    </p:spTree>
    <p:extLst>
      <p:ext uri="{BB962C8B-B14F-4D97-AF65-F5344CB8AC3E}">
        <p14:creationId xmlns:p14="http://schemas.microsoft.com/office/powerpoint/2010/main" val="29945414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ox(in)">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RPC(7)</a:t>
            </a:r>
            <a:endParaRPr lang="zh-CN" altLang="en-US" dirty="0"/>
          </a:p>
        </p:txBody>
      </p:sp>
      <p:sp>
        <p:nvSpPr>
          <p:cNvPr id="3" name="内容占位符 2"/>
          <p:cNvSpPr>
            <a:spLocks noGrp="1"/>
          </p:cNvSpPr>
          <p:nvPr>
            <p:ph idx="1"/>
          </p:nvPr>
        </p:nvSpPr>
        <p:spPr/>
        <p:txBody>
          <a:bodyPr>
            <a:normAutofit/>
          </a:bodyPr>
          <a:lstStyle/>
          <a:p>
            <a:pPr lvl="1"/>
            <a:r>
              <a:rPr lang="en-US" altLang="zh-CN" dirty="0">
                <a:ea typeface="宋体" pitchFamily="2" charset="-122"/>
              </a:rPr>
              <a:t>A UUID (universally unique identifier) ensures that interfaces are immutable.</a:t>
            </a:r>
          </a:p>
          <a:p>
            <a:pPr lvl="1"/>
            <a:r>
              <a:rPr lang="en-US" altLang="zh-CN" dirty="0">
                <a:ea typeface="宋体" pitchFamily="2" charset="-122"/>
              </a:rPr>
              <a:t>IDL is the glue that holds everything together. </a:t>
            </a:r>
          </a:p>
          <a:p>
            <a:pPr lvl="1"/>
            <a:r>
              <a:rPr lang="en-US" altLang="zh-CN" dirty="0">
                <a:ea typeface="宋体" pitchFamily="2" charset="-122"/>
              </a:rPr>
              <a:t>Three files output by the IDL compiler.</a:t>
            </a:r>
          </a:p>
          <a:p>
            <a:pPr lvl="2"/>
            <a:r>
              <a:rPr lang="en-US" altLang="zh-CN" dirty="0">
                <a:ea typeface="宋体" pitchFamily="2" charset="-122"/>
              </a:rPr>
              <a:t>A header file </a:t>
            </a:r>
          </a:p>
          <a:p>
            <a:pPr lvl="3"/>
            <a:r>
              <a:rPr lang="en-US" altLang="zh-CN" dirty="0">
                <a:ea typeface="宋体" pitchFamily="2" charset="-122"/>
              </a:rPr>
              <a:t>e.g., </a:t>
            </a:r>
            <a:r>
              <a:rPr lang="en-US" altLang="zh-CN" dirty="0" err="1">
                <a:ea typeface="宋体" pitchFamily="2" charset="-122"/>
              </a:rPr>
              <a:t>interface.h</a:t>
            </a:r>
            <a:r>
              <a:rPr lang="en-US" altLang="zh-CN" dirty="0">
                <a:ea typeface="宋体" pitchFamily="2" charset="-122"/>
              </a:rPr>
              <a:t>, in C terms.</a:t>
            </a:r>
          </a:p>
          <a:p>
            <a:pPr lvl="2"/>
            <a:r>
              <a:rPr lang="en-US" altLang="zh-CN" dirty="0">
                <a:ea typeface="宋体" pitchFamily="2" charset="-122"/>
              </a:rPr>
              <a:t>The client stub.</a:t>
            </a:r>
          </a:p>
          <a:p>
            <a:pPr lvl="2"/>
            <a:r>
              <a:rPr lang="en-US" altLang="zh-CN" dirty="0">
                <a:ea typeface="宋体" pitchFamily="2" charset="-122"/>
              </a:rPr>
              <a:t>The server stub.</a:t>
            </a:r>
          </a:p>
        </p:txBody>
      </p:sp>
    </p:spTree>
    <p:extLst>
      <p:ext uri="{BB962C8B-B14F-4D97-AF65-F5344CB8AC3E}">
        <p14:creationId xmlns:p14="http://schemas.microsoft.com/office/powerpoint/2010/main" val="1673566471"/>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RPC(8)</a:t>
            </a:r>
            <a:endParaRPr lang="zh-CN" altLang="en-US" dirty="0"/>
          </a:p>
        </p:txBody>
      </p:sp>
      <p:sp>
        <p:nvSpPr>
          <p:cNvPr id="3" name="内容占位符 2"/>
          <p:cNvSpPr>
            <a:spLocks noGrp="1"/>
          </p:cNvSpPr>
          <p:nvPr>
            <p:ph idx="1"/>
          </p:nvPr>
        </p:nvSpPr>
        <p:spPr/>
        <p:txBody>
          <a:bodyPr>
            <a:normAutofit/>
          </a:bodyPr>
          <a:lstStyle/>
          <a:p>
            <a:r>
              <a:rPr lang="en-US" altLang="zh-CN" dirty="0">
                <a:ea typeface="宋体" pitchFamily="2" charset="-122"/>
              </a:rPr>
              <a:t>Binding a Client to a Server</a:t>
            </a:r>
          </a:p>
          <a:p>
            <a:pPr lvl="1"/>
            <a:r>
              <a:rPr lang="en-US" altLang="zh-CN" dirty="0"/>
              <a:t>Server location is done in two steps.</a:t>
            </a:r>
          </a:p>
          <a:p>
            <a:pPr lvl="2"/>
            <a:r>
              <a:rPr lang="en-US" altLang="zh-CN" dirty="0"/>
              <a:t>Locate the server’s machine.</a:t>
            </a:r>
          </a:p>
          <a:p>
            <a:pPr lvl="2"/>
            <a:r>
              <a:rPr lang="en-US" altLang="zh-CN" dirty="0"/>
              <a:t>Locate the server (process </a:t>
            </a:r>
            <a:r>
              <a:rPr lang="en-US" altLang="zh-CN" dirty="0">
                <a:solidFill>
                  <a:srgbClr val="00B0F0"/>
                </a:solidFill>
              </a:rPr>
              <a:t>end point/port</a:t>
            </a:r>
            <a:r>
              <a:rPr lang="en-US" altLang="zh-CN" dirty="0"/>
              <a:t>) on that machine.</a:t>
            </a:r>
          </a:p>
          <a:p>
            <a:pPr lvl="1"/>
            <a:r>
              <a:rPr lang="en-US" altLang="zh-CN" dirty="0"/>
              <a:t>How does a client locate a server?</a:t>
            </a:r>
          </a:p>
          <a:p>
            <a:pPr lvl="2"/>
            <a:r>
              <a:rPr lang="en-US" altLang="zh-CN" dirty="0">
                <a:ea typeface="宋体" pitchFamily="2" charset="-122"/>
              </a:rPr>
              <a:t>Use Bindings</a:t>
            </a:r>
          </a:p>
          <a:p>
            <a:pPr lvl="3"/>
            <a:r>
              <a:rPr lang="en-US" altLang="zh-CN" dirty="0">
                <a:ea typeface="宋体" pitchFamily="2" charset="-122"/>
              </a:rPr>
              <a:t>Binding: the RPC system can automatically locate the correct server, and subsequently set up the communication between client and server software</a:t>
            </a:r>
          </a:p>
        </p:txBody>
      </p:sp>
    </p:spTree>
    <p:extLst>
      <p:ext uri="{BB962C8B-B14F-4D97-AF65-F5344CB8AC3E}">
        <p14:creationId xmlns:p14="http://schemas.microsoft.com/office/powerpoint/2010/main" val="1000450851"/>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RPC(9)</a:t>
            </a:r>
            <a:endParaRPr lang="zh-CN" altLang="en-US" dirty="0"/>
          </a:p>
        </p:txBody>
      </p:sp>
      <p:sp>
        <p:nvSpPr>
          <p:cNvPr id="3" name="内容占位符 2"/>
          <p:cNvSpPr>
            <a:spLocks noGrp="1"/>
          </p:cNvSpPr>
          <p:nvPr>
            <p:ph idx="1"/>
          </p:nvPr>
        </p:nvSpPr>
        <p:spPr/>
        <p:txBody>
          <a:bodyPr>
            <a:normAutofit fontScale="92500" lnSpcReduction="20000"/>
          </a:bodyPr>
          <a:lstStyle/>
          <a:p>
            <a:pPr lvl="1">
              <a:lnSpc>
                <a:spcPct val="108000"/>
              </a:lnSpc>
            </a:pPr>
            <a:r>
              <a:rPr lang="en-US" altLang="zh-CN" dirty="0">
                <a:ea typeface="宋体" pitchFamily="2" charset="-122"/>
              </a:rPr>
              <a:t>The steps of binding</a:t>
            </a:r>
          </a:p>
          <a:p>
            <a:pPr lvl="1">
              <a:lnSpc>
                <a:spcPct val="108000"/>
              </a:lnSpc>
            </a:pPr>
            <a:endParaRPr lang="en-US" altLang="zh-CN" dirty="0">
              <a:ea typeface="宋体" pitchFamily="2" charset="-122"/>
            </a:endParaRPr>
          </a:p>
          <a:p>
            <a:pPr lvl="1">
              <a:lnSpc>
                <a:spcPct val="108000"/>
              </a:lnSpc>
            </a:pPr>
            <a:endParaRPr lang="en-US" altLang="zh-CN" dirty="0">
              <a:ea typeface="宋体" pitchFamily="2" charset="-122"/>
            </a:endParaRPr>
          </a:p>
          <a:p>
            <a:pPr lvl="1">
              <a:lnSpc>
                <a:spcPct val="108000"/>
              </a:lnSpc>
            </a:pPr>
            <a:endParaRPr lang="en-US" altLang="zh-CN" dirty="0">
              <a:ea typeface="宋体" pitchFamily="2" charset="-122"/>
            </a:endParaRPr>
          </a:p>
          <a:p>
            <a:pPr lvl="1">
              <a:lnSpc>
                <a:spcPct val="108000"/>
              </a:lnSpc>
            </a:pPr>
            <a:endParaRPr lang="en-US" altLang="zh-CN" dirty="0">
              <a:ea typeface="宋体" pitchFamily="2" charset="-122"/>
            </a:endParaRPr>
          </a:p>
          <a:p>
            <a:pPr lvl="1">
              <a:lnSpc>
                <a:spcPct val="108000"/>
              </a:lnSpc>
            </a:pPr>
            <a:endParaRPr lang="en-US" altLang="zh-CN" dirty="0">
              <a:ea typeface="宋体" pitchFamily="2" charset="-122"/>
            </a:endParaRPr>
          </a:p>
          <a:p>
            <a:pPr lvl="1">
              <a:lnSpc>
                <a:spcPct val="108000"/>
              </a:lnSpc>
            </a:pPr>
            <a:endParaRPr lang="en-US" altLang="zh-CN" dirty="0">
              <a:ea typeface="宋体" pitchFamily="2" charset="-122"/>
            </a:endParaRPr>
          </a:p>
          <a:p>
            <a:pPr lvl="2">
              <a:lnSpc>
                <a:spcPct val="108000"/>
              </a:lnSpc>
            </a:pPr>
            <a:r>
              <a:rPr lang="en-US" altLang="zh-CN" dirty="0">
                <a:ea typeface="宋体" pitchFamily="2" charset="-122"/>
              </a:rPr>
              <a:t>Server</a:t>
            </a:r>
          </a:p>
          <a:p>
            <a:pPr lvl="3">
              <a:lnSpc>
                <a:spcPct val="108000"/>
              </a:lnSpc>
            </a:pPr>
            <a:r>
              <a:rPr lang="en-US" altLang="zh-CN" dirty="0">
                <a:ea typeface="宋体" pitchFamily="2" charset="-122"/>
              </a:rPr>
              <a:t>Export server interface during initialization</a:t>
            </a:r>
          </a:p>
          <a:p>
            <a:pPr lvl="3">
              <a:lnSpc>
                <a:spcPct val="108000"/>
              </a:lnSpc>
            </a:pPr>
            <a:r>
              <a:rPr lang="en-US" altLang="zh-CN" dirty="0">
                <a:ea typeface="宋体" pitchFamily="2" charset="-122"/>
              </a:rPr>
              <a:t>Send name, version no, unique identifier, handle (address) to binder</a:t>
            </a:r>
          </a:p>
        </p:txBody>
      </p:sp>
      <p:grpSp>
        <p:nvGrpSpPr>
          <p:cNvPr id="4" name="Group 4"/>
          <p:cNvGrpSpPr>
            <a:grpSpLocks/>
          </p:cNvGrpSpPr>
          <p:nvPr/>
        </p:nvGrpSpPr>
        <p:grpSpPr bwMode="auto">
          <a:xfrm>
            <a:off x="6233972" y="2640328"/>
            <a:ext cx="3398308" cy="914400"/>
            <a:chOff x="3360" y="1728"/>
            <a:chExt cx="1488" cy="576"/>
          </a:xfrm>
        </p:grpSpPr>
        <p:sp>
          <p:nvSpPr>
            <p:cNvPr id="5" name="Text Box 5"/>
            <p:cNvSpPr txBox="1">
              <a:spLocks noChangeArrowheads="1"/>
            </p:cNvSpPr>
            <p:nvPr/>
          </p:nvSpPr>
          <p:spPr bwMode="auto">
            <a:xfrm>
              <a:off x="3552" y="1728"/>
              <a:ext cx="129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fontAlgn="base">
                <a:spcBef>
                  <a:spcPct val="0"/>
                </a:spcBef>
                <a:spcAft>
                  <a:spcPct val="0"/>
                </a:spcAft>
              </a:pPr>
              <a:r>
                <a:rPr lang="en-US" altLang="zh-CN" sz="20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Binding/Invocation</a:t>
              </a:r>
            </a:p>
          </p:txBody>
        </p:sp>
        <p:sp>
          <p:nvSpPr>
            <p:cNvPr id="6" name="Line 6"/>
            <p:cNvSpPr>
              <a:spLocks noChangeShapeType="1"/>
            </p:cNvSpPr>
            <p:nvPr/>
          </p:nvSpPr>
          <p:spPr bwMode="auto">
            <a:xfrm>
              <a:off x="3360" y="1728"/>
              <a:ext cx="576"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00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7" name="Group 7"/>
          <p:cNvGrpSpPr>
            <a:grpSpLocks/>
          </p:cNvGrpSpPr>
          <p:nvPr/>
        </p:nvGrpSpPr>
        <p:grpSpPr bwMode="auto">
          <a:xfrm>
            <a:off x="1442770" y="1916832"/>
            <a:ext cx="7759700" cy="2514600"/>
            <a:chOff x="672" y="1483"/>
            <a:chExt cx="4512" cy="1584"/>
          </a:xfrm>
        </p:grpSpPr>
        <p:sp>
          <p:nvSpPr>
            <p:cNvPr id="8" name="Oval 8"/>
            <p:cNvSpPr>
              <a:spLocks noChangeArrowheads="1"/>
            </p:cNvSpPr>
            <p:nvPr/>
          </p:nvSpPr>
          <p:spPr bwMode="auto">
            <a:xfrm>
              <a:off x="2208" y="1483"/>
              <a:ext cx="1344" cy="576"/>
            </a:xfrm>
            <a:prstGeom prst="ellipse">
              <a:avLst/>
            </a:prstGeom>
            <a:solidFill>
              <a:schemeClr val="bg1">
                <a:lumMod val="85000"/>
              </a:schemeClr>
            </a:solidFill>
            <a:ln w="9525">
              <a:solidFill>
                <a:schemeClr val="tx1"/>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fontAlgn="base" hangingPunct="1">
                <a:spcBef>
                  <a:spcPct val="0"/>
                </a:spcBef>
                <a:spcAft>
                  <a:spcPct val="0"/>
                </a:spcAft>
              </a:pPr>
              <a:r>
                <a:rPr kumimoji="1" lang="en-US" altLang="zh-CN" sz="2800" b="1"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Client</a:t>
              </a:r>
            </a:p>
          </p:txBody>
        </p:sp>
        <p:sp>
          <p:nvSpPr>
            <p:cNvPr id="9" name="Oval 9"/>
            <p:cNvSpPr>
              <a:spLocks noChangeArrowheads="1"/>
            </p:cNvSpPr>
            <p:nvPr/>
          </p:nvSpPr>
          <p:spPr bwMode="auto">
            <a:xfrm>
              <a:off x="672" y="2491"/>
              <a:ext cx="1344" cy="576"/>
            </a:xfrm>
            <a:prstGeom prst="ellipse">
              <a:avLst/>
            </a:prstGeom>
            <a:solidFill>
              <a:schemeClr val="bg1">
                <a:lumMod val="85000"/>
              </a:schemeClr>
            </a:solidFill>
            <a:ln w="9525">
              <a:solidFill>
                <a:schemeClr val="tx1"/>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fontAlgn="base" hangingPunct="1">
                <a:spcBef>
                  <a:spcPct val="0"/>
                </a:spcBef>
                <a:spcAft>
                  <a:spcPct val="0"/>
                </a:spcAft>
              </a:pPr>
              <a:r>
                <a:rPr kumimoji="1" lang="en-US" altLang="zh-CN" sz="2800" b="1">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Binder</a:t>
              </a:r>
            </a:p>
          </p:txBody>
        </p:sp>
        <p:sp>
          <p:nvSpPr>
            <p:cNvPr id="10" name="Oval 10"/>
            <p:cNvSpPr>
              <a:spLocks noChangeArrowheads="1"/>
            </p:cNvSpPr>
            <p:nvPr/>
          </p:nvSpPr>
          <p:spPr bwMode="auto">
            <a:xfrm>
              <a:off x="3840" y="2491"/>
              <a:ext cx="1344" cy="576"/>
            </a:xfrm>
            <a:prstGeom prst="ellipse">
              <a:avLst/>
            </a:prstGeom>
            <a:solidFill>
              <a:schemeClr val="bg1">
                <a:lumMod val="85000"/>
              </a:schemeClr>
            </a:solidFill>
            <a:ln w="9525">
              <a:solidFill>
                <a:schemeClr val="tx1"/>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fontAlgn="base" hangingPunct="1">
                <a:spcBef>
                  <a:spcPct val="0"/>
                </a:spcBef>
                <a:spcAft>
                  <a:spcPct val="0"/>
                </a:spcAft>
              </a:pPr>
              <a:r>
                <a:rPr kumimoji="1" lang="en-US" altLang="zh-CN" sz="2800" b="1">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Server</a:t>
              </a:r>
            </a:p>
          </p:txBody>
        </p:sp>
      </p:grpSp>
      <p:grpSp>
        <p:nvGrpSpPr>
          <p:cNvPr id="11" name="Group 11"/>
          <p:cNvGrpSpPr>
            <a:grpSpLocks/>
          </p:cNvGrpSpPr>
          <p:nvPr/>
        </p:nvGrpSpPr>
        <p:grpSpPr bwMode="auto">
          <a:xfrm>
            <a:off x="3754170" y="3627512"/>
            <a:ext cx="3219450" cy="560388"/>
            <a:chOff x="1920" y="2304"/>
            <a:chExt cx="1872" cy="353"/>
          </a:xfrm>
        </p:grpSpPr>
        <p:sp>
          <p:nvSpPr>
            <p:cNvPr id="12" name="Text Box 12"/>
            <p:cNvSpPr txBox="1">
              <a:spLocks noChangeArrowheads="1"/>
            </p:cNvSpPr>
            <p:nvPr/>
          </p:nvSpPr>
          <p:spPr bwMode="auto">
            <a:xfrm>
              <a:off x="2064" y="2304"/>
              <a:ext cx="1728"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fontAlgn="base">
                <a:spcBef>
                  <a:spcPct val="0"/>
                </a:spcBef>
                <a:spcAft>
                  <a:spcPct val="0"/>
                </a:spcAft>
              </a:pPr>
              <a:r>
                <a:rPr lang="en-US" altLang="zh-CN" sz="200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Register/Cancel</a:t>
              </a:r>
            </a:p>
          </p:txBody>
        </p:sp>
        <p:sp>
          <p:nvSpPr>
            <p:cNvPr id="13" name="Line 13"/>
            <p:cNvSpPr>
              <a:spLocks noChangeShapeType="1"/>
            </p:cNvSpPr>
            <p:nvPr/>
          </p:nvSpPr>
          <p:spPr bwMode="auto">
            <a:xfrm flipH="1" flipV="1">
              <a:off x="1920" y="2592"/>
              <a:ext cx="18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00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4" name="Group 14"/>
          <p:cNvGrpSpPr>
            <a:grpSpLocks/>
          </p:cNvGrpSpPr>
          <p:nvPr/>
        </p:nvGrpSpPr>
        <p:grpSpPr bwMode="auto">
          <a:xfrm>
            <a:off x="1772970" y="2636912"/>
            <a:ext cx="2476500" cy="914400"/>
            <a:chOff x="720" y="1680"/>
            <a:chExt cx="1440" cy="576"/>
          </a:xfrm>
        </p:grpSpPr>
        <p:sp>
          <p:nvSpPr>
            <p:cNvPr id="15" name="Text Box 15"/>
            <p:cNvSpPr txBox="1">
              <a:spLocks noChangeArrowheads="1"/>
            </p:cNvSpPr>
            <p:nvPr/>
          </p:nvSpPr>
          <p:spPr bwMode="auto">
            <a:xfrm>
              <a:off x="720" y="1728"/>
              <a:ext cx="1183"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fontAlgn="base">
                <a:spcBef>
                  <a:spcPct val="0"/>
                </a:spcBef>
                <a:spcAft>
                  <a:spcPct val="0"/>
                </a:spcAft>
              </a:pPr>
              <a:r>
                <a:rPr lang="en-US" altLang="zh-CN" sz="20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Look up </a:t>
              </a:r>
            </a:p>
          </p:txBody>
        </p:sp>
        <p:sp>
          <p:nvSpPr>
            <p:cNvPr id="16" name="Line 16"/>
            <p:cNvSpPr>
              <a:spLocks noChangeShapeType="1"/>
            </p:cNvSpPr>
            <p:nvPr/>
          </p:nvSpPr>
          <p:spPr bwMode="auto">
            <a:xfrm flipH="1">
              <a:off x="1488" y="1680"/>
              <a:ext cx="672" cy="576"/>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200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Tree>
    <p:extLst>
      <p:ext uri="{BB962C8B-B14F-4D97-AF65-F5344CB8AC3E}">
        <p14:creationId xmlns:p14="http://schemas.microsoft.com/office/powerpoint/2010/main" val="1588088939"/>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RPC(10)</a:t>
            </a:r>
            <a:endParaRPr lang="zh-CN" altLang="en-US" dirty="0"/>
          </a:p>
        </p:txBody>
      </p:sp>
      <p:sp>
        <p:nvSpPr>
          <p:cNvPr id="3" name="内容占位符 2"/>
          <p:cNvSpPr>
            <a:spLocks noGrp="1"/>
          </p:cNvSpPr>
          <p:nvPr>
            <p:ph idx="1"/>
          </p:nvPr>
        </p:nvSpPr>
        <p:spPr/>
        <p:txBody>
          <a:bodyPr>
            <a:normAutofit/>
          </a:bodyPr>
          <a:lstStyle/>
          <a:p>
            <a:pPr lvl="2">
              <a:lnSpc>
                <a:spcPct val="108000"/>
              </a:lnSpc>
            </a:pPr>
            <a:r>
              <a:rPr lang="en-US" altLang="zh-CN" dirty="0">
                <a:ea typeface="宋体" pitchFamily="2" charset="-122"/>
              </a:rPr>
              <a:t>Client</a:t>
            </a:r>
          </a:p>
          <a:p>
            <a:pPr lvl="3">
              <a:lnSpc>
                <a:spcPct val="108000"/>
              </a:lnSpc>
            </a:pPr>
            <a:r>
              <a:rPr lang="en-US" altLang="zh-CN" dirty="0">
                <a:ea typeface="宋体" pitchFamily="2" charset="-122"/>
              </a:rPr>
              <a:t>First RPC: send message to binder to import server interface </a:t>
            </a:r>
          </a:p>
          <a:p>
            <a:pPr lvl="2">
              <a:lnSpc>
                <a:spcPct val="108000"/>
              </a:lnSpc>
            </a:pPr>
            <a:r>
              <a:rPr lang="en-US" altLang="zh-CN" dirty="0">
                <a:ea typeface="宋体" pitchFamily="2" charset="-122"/>
              </a:rPr>
              <a:t>Binder</a:t>
            </a:r>
          </a:p>
          <a:p>
            <a:pPr lvl="3">
              <a:lnSpc>
                <a:spcPct val="108000"/>
              </a:lnSpc>
            </a:pPr>
            <a:r>
              <a:rPr lang="en-US" altLang="zh-CN" dirty="0">
                <a:ea typeface="宋体" pitchFamily="2" charset="-122"/>
              </a:rPr>
              <a:t>Check to see if server has exported interface</a:t>
            </a:r>
          </a:p>
          <a:p>
            <a:pPr lvl="3">
              <a:lnSpc>
                <a:spcPct val="108000"/>
              </a:lnSpc>
            </a:pPr>
            <a:r>
              <a:rPr lang="en-US" altLang="zh-CN" dirty="0">
                <a:ea typeface="宋体" pitchFamily="2" charset="-122"/>
              </a:rPr>
              <a:t>Return handle and unique identifier to client</a:t>
            </a:r>
          </a:p>
          <a:p>
            <a:pPr>
              <a:lnSpc>
                <a:spcPct val="108000"/>
              </a:lnSpc>
            </a:pPr>
            <a:r>
              <a:rPr lang="en-US" altLang="zh-CN" dirty="0">
                <a:ea typeface="宋体" pitchFamily="2" charset="-122"/>
              </a:rPr>
              <a:t>Example</a:t>
            </a:r>
          </a:p>
          <a:p>
            <a:pPr lvl="1">
              <a:lnSpc>
                <a:spcPct val="108000"/>
              </a:lnSpc>
            </a:pPr>
            <a:r>
              <a:rPr lang="zh-CN" altLang="en-US" dirty="0"/>
              <a:t>计算阶乘的</a:t>
            </a:r>
            <a:r>
              <a:rPr lang="en-US" altLang="zh-CN" dirty="0"/>
              <a:t>RPC</a:t>
            </a:r>
            <a:r>
              <a:rPr lang="zh-CN" altLang="en-US" dirty="0"/>
              <a:t>实例开发过程</a:t>
            </a:r>
            <a:endParaRPr lang="en-US" altLang="zh-CN" dirty="0">
              <a:ea typeface="宋体" pitchFamily="2" charset="-122"/>
            </a:endParaRPr>
          </a:p>
        </p:txBody>
      </p:sp>
    </p:spTree>
    <p:extLst>
      <p:ext uri="{BB962C8B-B14F-4D97-AF65-F5344CB8AC3E}">
        <p14:creationId xmlns:p14="http://schemas.microsoft.com/office/powerpoint/2010/main" val="3440358717"/>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RPC(11)</a:t>
            </a:r>
            <a:endParaRPr lang="zh-CN" altLang="en-US" dirty="0"/>
          </a:p>
        </p:txBody>
      </p:sp>
      <p:sp>
        <p:nvSpPr>
          <p:cNvPr id="3" name="内容占位符 2"/>
          <p:cNvSpPr>
            <a:spLocks noGrp="1"/>
          </p:cNvSpPr>
          <p:nvPr>
            <p:ph idx="1"/>
          </p:nvPr>
        </p:nvSpPr>
        <p:spPr/>
        <p:txBody>
          <a:bodyPr>
            <a:normAutofit/>
          </a:bodyPr>
          <a:lstStyle/>
          <a:p>
            <a:pPr eaLnBrk="1" hangingPunct="1">
              <a:defRPr/>
            </a:pPr>
            <a:r>
              <a:rPr lang="en-US" altLang="zh-CN" sz="2600" dirty="0"/>
              <a:t>1. </a:t>
            </a:r>
            <a:r>
              <a:rPr lang="zh-CN" altLang="en-US" sz="2600" dirty="0"/>
              <a:t>定义接口 </a:t>
            </a:r>
            <a:r>
              <a:rPr lang="en-US" altLang="zh-CN" sz="2600" dirty="0"/>
              <a:t>(</a:t>
            </a:r>
            <a:r>
              <a:rPr lang="zh-CN" altLang="en-US" sz="2600" dirty="0"/>
              <a:t>得到</a:t>
            </a:r>
            <a:r>
              <a:rPr lang="en-US" altLang="zh-CN" sz="2600" dirty="0"/>
              <a:t>RpcFact.idl</a:t>
            </a:r>
            <a:r>
              <a:rPr lang="zh-CN" altLang="en-US" sz="2600" dirty="0"/>
              <a:t>文件</a:t>
            </a:r>
            <a:r>
              <a:rPr lang="en-US" altLang="zh-CN" sz="2600" dirty="0"/>
              <a:t>)</a:t>
            </a:r>
          </a:p>
          <a:p>
            <a:pPr lvl="1" eaLnBrk="1" hangingPunct="1">
              <a:defRPr/>
            </a:pPr>
            <a:r>
              <a:rPr lang="zh-CN" altLang="en-US" sz="2600" dirty="0"/>
              <a:t>创建一个</a:t>
            </a:r>
            <a:r>
              <a:rPr lang="en-US" altLang="zh-CN" sz="2600" dirty="0"/>
              <a:t>.</a:t>
            </a:r>
            <a:r>
              <a:rPr lang="en-US" altLang="zh-CN" sz="2600" dirty="0" err="1"/>
              <a:t>idl</a:t>
            </a:r>
            <a:r>
              <a:rPr lang="zh-CN" altLang="en-US" sz="2600" dirty="0"/>
              <a:t>文件</a:t>
            </a:r>
            <a:r>
              <a:rPr lang="en-US" altLang="zh-CN" sz="2600" dirty="0"/>
              <a:t>, </a:t>
            </a:r>
            <a:r>
              <a:rPr lang="zh-CN" altLang="en-US" sz="2600" dirty="0"/>
              <a:t>为应用程序的远程函数定义接口</a:t>
            </a:r>
          </a:p>
          <a:p>
            <a:pPr lvl="1" eaLnBrk="1" hangingPunct="1">
              <a:buFont typeface="Wingdings" pitchFamily="2" charset="2"/>
              <a:buNone/>
              <a:defRPr/>
            </a:pPr>
            <a:r>
              <a:rPr lang="en-US" altLang="zh-CN" sz="2600" dirty="0"/>
              <a:t>//File: RpcFact.idl</a:t>
            </a:r>
          </a:p>
          <a:p>
            <a:pPr lvl="1" eaLnBrk="1" hangingPunct="1">
              <a:buFont typeface="Wingdings" pitchFamily="2" charset="2"/>
              <a:buNone/>
              <a:defRPr/>
            </a:pPr>
            <a:r>
              <a:rPr lang="en-US" altLang="zh-CN" sz="2600" dirty="0"/>
              <a:t>//interface header</a:t>
            </a:r>
          </a:p>
          <a:p>
            <a:pPr lvl="1" eaLnBrk="1" hangingPunct="1">
              <a:buFont typeface="Wingdings" pitchFamily="2" charset="2"/>
              <a:buNone/>
              <a:defRPr/>
            </a:pPr>
            <a:r>
              <a:rPr lang="en-US" altLang="zh-CN" sz="2600" dirty="0"/>
              <a:t>[</a:t>
            </a:r>
          </a:p>
          <a:p>
            <a:pPr lvl="1" eaLnBrk="1" hangingPunct="1">
              <a:buFont typeface="Wingdings" pitchFamily="2" charset="2"/>
              <a:buNone/>
              <a:defRPr/>
            </a:pPr>
            <a:r>
              <a:rPr lang="en-US" altLang="zh-CN" sz="2600" dirty="0"/>
              <a:t>    </a:t>
            </a:r>
            <a:r>
              <a:rPr lang="en-US" altLang="zh-CN" sz="2600" dirty="0" err="1"/>
              <a:t>uuid</a:t>
            </a:r>
            <a:r>
              <a:rPr lang="en-US" altLang="zh-CN" sz="2600" dirty="0"/>
              <a:t> (C16F6562-520D-11D0-B338-444553540000),  </a:t>
            </a:r>
          </a:p>
          <a:p>
            <a:pPr lvl="1" eaLnBrk="1" hangingPunct="1">
              <a:buFont typeface="Wingdings" pitchFamily="2" charset="2"/>
              <a:buNone/>
              <a:defRPr/>
            </a:pPr>
            <a:r>
              <a:rPr lang="en-US" altLang="zh-CN" sz="2000" dirty="0"/>
              <a:t>	/*universally unique identifier</a:t>
            </a:r>
            <a:r>
              <a:rPr lang="zh-CN" altLang="en-US" sz="2000" dirty="0"/>
              <a:t>，唯一识别这个接口，它可让服务器用来注册接口，以使客户机可以定位这个特殊接口。</a:t>
            </a:r>
            <a:r>
              <a:rPr lang="en-US" altLang="zh-CN" sz="2000" dirty="0" err="1"/>
              <a:t>uuid</a:t>
            </a:r>
            <a:r>
              <a:rPr lang="zh-CN" altLang="en-US" sz="2000" dirty="0"/>
              <a:t>由</a:t>
            </a:r>
            <a:r>
              <a:rPr lang="en-US" altLang="zh-CN" sz="2000" dirty="0"/>
              <a:t>5</a:t>
            </a:r>
            <a:r>
              <a:rPr lang="zh-CN" altLang="en-US" sz="2000" dirty="0"/>
              <a:t>位数字组成，可以用</a:t>
            </a:r>
            <a:r>
              <a:rPr lang="en-US" altLang="zh-CN" sz="2000" dirty="0"/>
              <a:t>Microsoft</a:t>
            </a:r>
            <a:r>
              <a:rPr lang="zh-CN" altLang="en-US" sz="2000" dirty="0"/>
              <a:t>的</a:t>
            </a:r>
            <a:r>
              <a:rPr lang="en-US" altLang="zh-CN" sz="2000" dirty="0"/>
              <a:t>uuidgen.exe</a:t>
            </a:r>
            <a:r>
              <a:rPr lang="zh-CN" altLang="en-US" sz="2000" dirty="0"/>
              <a:t>来得到它*</a:t>
            </a:r>
            <a:r>
              <a:rPr lang="en-US" altLang="zh-CN" sz="2000" dirty="0"/>
              <a:t>/</a:t>
            </a:r>
          </a:p>
        </p:txBody>
      </p:sp>
    </p:spTree>
    <p:extLst>
      <p:ext uri="{BB962C8B-B14F-4D97-AF65-F5344CB8AC3E}">
        <p14:creationId xmlns:p14="http://schemas.microsoft.com/office/powerpoint/2010/main" val="1363351033"/>
      </p:ext>
    </p:extLst>
  </p:cSld>
  <p:clrMapOvr>
    <a:masterClrMapping/>
  </p:clrMapOvr>
  <p:transition>
    <p:strips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RPC(12)</a:t>
            </a:r>
            <a:endParaRPr lang="zh-CN" altLang="en-US" dirty="0"/>
          </a:p>
        </p:txBody>
      </p:sp>
      <p:sp>
        <p:nvSpPr>
          <p:cNvPr id="3" name="内容占位符 2"/>
          <p:cNvSpPr>
            <a:spLocks noGrp="1"/>
          </p:cNvSpPr>
          <p:nvPr>
            <p:ph idx="1"/>
          </p:nvPr>
        </p:nvSpPr>
        <p:spPr/>
        <p:txBody>
          <a:bodyPr>
            <a:normAutofit fontScale="77500" lnSpcReduction="20000"/>
          </a:bodyPr>
          <a:lstStyle/>
          <a:p>
            <a:pPr eaLnBrk="1" hangingPunct="1">
              <a:lnSpc>
                <a:spcPct val="120000"/>
              </a:lnSpc>
              <a:buFont typeface="Wingdings" pitchFamily="2" charset="2"/>
              <a:buNone/>
              <a:defRPr/>
            </a:pPr>
            <a:r>
              <a:rPr lang="en-US" altLang="zh-CN" dirty="0"/>
              <a:t>	</a:t>
            </a:r>
            <a:r>
              <a:rPr lang="en-US" altLang="zh-CN" sz="2600" dirty="0"/>
              <a:t>version (1.0),  /*</a:t>
            </a:r>
            <a:r>
              <a:rPr lang="zh-CN" altLang="en-US" sz="2600" dirty="0"/>
              <a:t>指定版本号，那么在同一个网络上就可以同时拥有一个</a:t>
            </a:r>
            <a:r>
              <a:rPr lang="en-US" altLang="zh-CN" sz="2600" dirty="0"/>
              <a:t>RPC</a:t>
            </a:r>
            <a:r>
              <a:rPr lang="zh-CN" altLang="en-US" sz="2600" dirty="0"/>
              <a:t>接口的不同版本*</a:t>
            </a:r>
            <a:r>
              <a:rPr lang="en-US" altLang="zh-CN" sz="2600" dirty="0"/>
              <a:t>/</a:t>
            </a:r>
          </a:p>
          <a:p>
            <a:pPr eaLnBrk="1" hangingPunct="1">
              <a:lnSpc>
                <a:spcPct val="120000"/>
              </a:lnSpc>
              <a:buFont typeface="Wingdings" pitchFamily="2" charset="2"/>
              <a:buNone/>
              <a:defRPr/>
            </a:pPr>
            <a:r>
              <a:rPr lang="en-US" altLang="zh-CN" sz="2600" dirty="0"/>
              <a:t>    endpoint(“</a:t>
            </a:r>
            <a:r>
              <a:rPr lang="en-US" altLang="zh-CN" sz="2600" dirty="0" err="1"/>
              <a:t>ncalrpc</a:t>
            </a:r>
            <a:r>
              <a:rPr lang="en-US" altLang="zh-CN" sz="2600" dirty="0"/>
              <a:t>: [</a:t>
            </a:r>
            <a:r>
              <a:rPr lang="en-US" altLang="zh-CN" sz="2600" dirty="0" err="1"/>
              <a:t>myFactorial</a:t>
            </a:r>
            <a:r>
              <a:rPr lang="en-US" altLang="zh-CN" sz="2600" dirty="0"/>
              <a:t>]”)  /*</a:t>
            </a:r>
            <a:r>
              <a:rPr lang="zh-CN" altLang="en-US" sz="2600" dirty="0"/>
              <a:t>接口的端点，它给出了将会使用的网络协议的类型和用来接收接口的请求的地址和端口，</a:t>
            </a:r>
            <a:r>
              <a:rPr lang="en-US" altLang="zh-CN" sz="2600" dirty="0" err="1"/>
              <a:t>ncalrpc</a:t>
            </a:r>
            <a:r>
              <a:rPr lang="en-US" altLang="zh-CN" sz="2600" dirty="0"/>
              <a:t> </a:t>
            </a:r>
            <a:r>
              <a:rPr lang="zh-CN" altLang="en-US" sz="2600" dirty="0"/>
              <a:t>表示</a:t>
            </a:r>
            <a:r>
              <a:rPr lang="en-US" altLang="zh-CN" sz="2600" dirty="0"/>
              <a:t>Local procedure call*/</a:t>
            </a:r>
          </a:p>
          <a:p>
            <a:pPr eaLnBrk="1" hangingPunct="1">
              <a:lnSpc>
                <a:spcPct val="120000"/>
              </a:lnSpc>
              <a:buFont typeface="Wingdings" pitchFamily="2" charset="2"/>
              <a:buNone/>
              <a:defRPr/>
            </a:pPr>
            <a:r>
              <a:rPr lang="en-US" altLang="zh-CN" sz="2600" dirty="0"/>
              <a:t>]</a:t>
            </a:r>
          </a:p>
          <a:p>
            <a:pPr eaLnBrk="1" hangingPunct="1">
              <a:lnSpc>
                <a:spcPct val="120000"/>
              </a:lnSpc>
              <a:buFont typeface="Wingdings" pitchFamily="2" charset="2"/>
              <a:buNone/>
              <a:defRPr/>
            </a:pPr>
            <a:r>
              <a:rPr lang="en-US" altLang="zh-CN" sz="2600" dirty="0"/>
              <a:t>/*interface text, </a:t>
            </a:r>
            <a:r>
              <a:rPr lang="zh-CN" altLang="en-US" sz="2600" dirty="0"/>
              <a:t>指定了组成这个接口的函数</a:t>
            </a:r>
            <a:r>
              <a:rPr lang="en-US" altLang="zh-CN" sz="2600" dirty="0"/>
              <a:t>, </a:t>
            </a:r>
            <a:r>
              <a:rPr lang="zh-CN" altLang="en-US" sz="2600" dirty="0"/>
              <a:t>函数类型不支持</a:t>
            </a:r>
            <a:r>
              <a:rPr lang="en-US" altLang="zh-CN" sz="2600" dirty="0" err="1"/>
              <a:t>int</a:t>
            </a:r>
            <a:r>
              <a:rPr lang="en-US" altLang="zh-CN" sz="2600" dirty="0"/>
              <a:t> </a:t>
            </a:r>
            <a:r>
              <a:rPr lang="zh-CN" altLang="en-US" sz="2600" dirty="0"/>
              <a:t>和</a:t>
            </a:r>
            <a:r>
              <a:rPr lang="en-US" altLang="zh-CN" sz="2600" dirty="0"/>
              <a:t>void* */</a:t>
            </a:r>
          </a:p>
          <a:p>
            <a:pPr eaLnBrk="1" hangingPunct="1">
              <a:lnSpc>
                <a:spcPct val="120000"/>
              </a:lnSpc>
              <a:buFont typeface="Wingdings" pitchFamily="2" charset="2"/>
              <a:buNone/>
              <a:defRPr/>
            </a:pPr>
            <a:r>
              <a:rPr lang="en-US" altLang="zh-CN" sz="2600" dirty="0"/>
              <a:t>interface  </a:t>
            </a:r>
            <a:r>
              <a:rPr lang="en-US" altLang="zh-CN" sz="2600" dirty="0" err="1"/>
              <a:t>rpcfactorial</a:t>
            </a:r>
            <a:endParaRPr lang="en-US" altLang="zh-CN" sz="2600" dirty="0"/>
          </a:p>
          <a:p>
            <a:pPr eaLnBrk="1" hangingPunct="1">
              <a:lnSpc>
                <a:spcPct val="120000"/>
              </a:lnSpc>
              <a:buFont typeface="Wingdings" pitchFamily="2" charset="2"/>
              <a:buNone/>
              <a:defRPr/>
            </a:pPr>
            <a:r>
              <a:rPr lang="en-US" altLang="zh-CN" sz="2600" dirty="0"/>
              <a:t>{</a:t>
            </a:r>
          </a:p>
          <a:p>
            <a:pPr eaLnBrk="1" hangingPunct="1">
              <a:lnSpc>
                <a:spcPct val="120000"/>
              </a:lnSpc>
              <a:buFont typeface="Wingdings" pitchFamily="2" charset="2"/>
              <a:buNone/>
              <a:defRPr/>
            </a:pPr>
            <a:r>
              <a:rPr lang="en-US" altLang="zh-CN" sz="2600" dirty="0"/>
              <a:t>    long  </a:t>
            </a:r>
            <a:r>
              <a:rPr lang="en-US" altLang="zh-CN" sz="2600" dirty="0" err="1"/>
              <a:t>RpcFactorial</a:t>
            </a:r>
            <a:r>
              <a:rPr lang="en-US" altLang="zh-CN" sz="2600" dirty="0"/>
              <a:t>([in] long </a:t>
            </a:r>
            <a:r>
              <a:rPr lang="en-US" altLang="zh-CN" sz="2600" dirty="0" err="1"/>
              <a:t>nVal</a:t>
            </a:r>
            <a:r>
              <a:rPr lang="en-US" altLang="zh-CN" sz="2600" dirty="0"/>
              <a:t>);  // [ ]</a:t>
            </a:r>
            <a:r>
              <a:rPr lang="zh-CN" altLang="en-US" sz="2600" dirty="0"/>
              <a:t>的部分表示属性</a:t>
            </a:r>
          </a:p>
          <a:p>
            <a:pPr eaLnBrk="1" hangingPunct="1">
              <a:lnSpc>
                <a:spcPct val="120000"/>
              </a:lnSpc>
              <a:buFont typeface="Wingdings" pitchFamily="2" charset="2"/>
              <a:buNone/>
              <a:defRPr/>
            </a:pPr>
            <a:r>
              <a:rPr lang="en-US" altLang="zh-CN" sz="2600" dirty="0"/>
              <a:t>}</a:t>
            </a:r>
          </a:p>
          <a:p>
            <a:pPr eaLnBrk="1" hangingPunct="1">
              <a:lnSpc>
                <a:spcPct val="120000"/>
              </a:lnSpc>
              <a:buFont typeface="Wingdings" pitchFamily="2" charset="2"/>
              <a:buNone/>
              <a:defRPr/>
            </a:pPr>
            <a:r>
              <a:rPr lang="en-US" altLang="zh-CN" sz="2600" dirty="0"/>
              <a:t>// end File RpcFact.idl</a:t>
            </a:r>
          </a:p>
        </p:txBody>
      </p:sp>
    </p:spTree>
    <p:extLst>
      <p:ext uri="{BB962C8B-B14F-4D97-AF65-F5344CB8AC3E}">
        <p14:creationId xmlns:p14="http://schemas.microsoft.com/office/powerpoint/2010/main" val="273371663"/>
      </p:ext>
    </p:extLst>
  </p:cSld>
  <p:clrMapOvr>
    <a:masterClrMapping/>
  </p:clrMapOvr>
  <p:transition>
    <p:strips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RPC(13)</a:t>
            </a:r>
            <a:endParaRPr lang="zh-CN" altLang="en-US" dirty="0"/>
          </a:p>
        </p:txBody>
      </p:sp>
      <p:sp>
        <p:nvSpPr>
          <p:cNvPr id="3" name="内容占位符 2"/>
          <p:cNvSpPr>
            <a:spLocks noGrp="1"/>
          </p:cNvSpPr>
          <p:nvPr>
            <p:ph idx="1"/>
          </p:nvPr>
        </p:nvSpPr>
        <p:spPr/>
        <p:txBody>
          <a:bodyPr/>
          <a:lstStyle/>
          <a:p>
            <a:pPr eaLnBrk="1" hangingPunct="1">
              <a:defRPr/>
            </a:pPr>
            <a:r>
              <a:rPr lang="en-US" altLang="zh-CN" sz="2600" dirty="0"/>
              <a:t>2. </a:t>
            </a:r>
            <a:r>
              <a:rPr lang="zh-CN" altLang="en-US" sz="2600" dirty="0"/>
              <a:t>应用程序属性配置文件 </a:t>
            </a:r>
            <a:r>
              <a:rPr lang="en-US" altLang="zh-CN" sz="2600" dirty="0"/>
              <a:t>(</a:t>
            </a:r>
            <a:r>
              <a:rPr lang="zh-CN" altLang="en-US" sz="2600" dirty="0"/>
              <a:t>得到</a:t>
            </a:r>
            <a:r>
              <a:rPr lang="en-US" altLang="zh-CN" sz="2600" dirty="0" err="1"/>
              <a:t>RpcFact.acf</a:t>
            </a:r>
            <a:r>
              <a:rPr lang="zh-CN" altLang="en-US" sz="2600" dirty="0"/>
              <a:t>文件</a:t>
            </a:r>
            <a:r>
              <a:rPr lang="en-US" altLang="zh-CN" sz="2600" dirty="0"/>
              <a:t>)</a:t>
            </a:r>
          </a:p>
          <a:p>
            <a:pPr lvl="1" eaLnBrk="1" hangingPunct="1">
              <a:defRPr/>
            </a:pPr>
            <a:r>
              <a:rPr lang="en-US" altLang="zh-CN" sz="2600" dirty="0"/>
              <a:t>.</a:t>
            </a:r>
            <a:r>
              <a:rPr lang="en-US" altLang="zh-CN" sz="2600" dirty="0" err="1"/>
              <a:t>acf</a:t>
            </a:r>
            <a:r>
              <a:rPr lang="zh-CN" altLang="en-US" sz="2600" dirty="0"/>
              <a:t>文件用来指定应用程序的选项，这些属性告诉</a:t>
            </a:r>
            <a:r>
              <a:rPr lang="en-US" altLang="zh-CN" sz="2600" dirty="0"/>
              <a:t>client stub</a:t>
            </a:r>
            <a:r>
              <a:rPr lang="zh-CN" altLang="en-US" sz="2600" dirty="0"/>
              <a:t>如何对接口请求的绑定进行处理。</a:t>
            </a:r>
          </a:p>
          <a:p>
            <a:pPr lvl="1" eaLnBrk="1" hangingPunct="1">
              <a:buFont typeface="Wingdings" pitchFamily="2" charset="2"/>
              <a:buNone/>
              <a:defRPr/>
            </a:pPr>
            <a:r>
              <a:rPr lang="en-US" altLang="zh-CN" sz="2600" dirty="0"/>
              <a:t>// </a:t>
            </a:r>
            <a:r>
              <a:rPr lang="en-US" altLang="zh-CN" sz="2600" dirty="0" err="1"/>
              <a:t>RpcFact.acf</a:t>
            </a:r>
            <a:endParaRPr lang="en-US" altLang="zh-CN" sz="2600" dirty="0"/>
          </a:p>
          <a:p>
            <a:pPr lvl="1" eaLnBrk="1" hangingPunct="1">
              <a:buFont typeface="Wingdings" pitchFamily="2" charset="2"/>
              <a:buNone/>
              <a:defRPr/>
            </a:pPr>
            <a:r>
              <a:rPr lang="en-US" altLang="zh-CN" sz="2600" dirty="0"/>
              <a:t>[</a:t>
            </a:r>
          </a:p>
          <a:p>
            <a:pPr lvl="1" eaLnBrk="1" hangingPunct="1">
              <a:buFont typeface="Wingdings" pitchFamily="2" charset="2"/>
              <a:buNone/>
              <a:defRPr/>
            </a:pPr>
            <a:r>
              <a:rPr lang="en-US" altLang="zh-CN" sz="2600" dirty="0"/>
              <a:t>   </a:t>
            </a:r>
            <a:r>
              <a:rPr lang="en-US" altLang="zh-CN" sz="2600" dirty="0" err="1"/>
              <a:t>auto_handle</a:t>
            </a:r>
            <a:r>
              <a:rPr lang="en-US" altLang="zh-CN" sz="2600" dirty="0"/>
              <a:t>  // </a:t>
            </a:r>
            <a:r>
              <a:rPr lang="zh-CN" altLang="en-US" sz="2600" dirty="0"/>
              <a:t>相关属性</a:t>
            </a:r>
          </a:p>
          <a:p>
            <a:pPr lvl="1" eaLnBrk="1" hangingPunct="1">
              <a:buFont typeface="Wingdings" pitchFamily="2" charset="2"/>
              <a:buNone/>
              <a:defRPr/>
            </a:pPr>
            <a:r>
              <a:rPr lang="en-US" altLang="zh-CN" sz="2600" dirty="0"/>
              <a:t>]</a:t>
            </a:r>
          </a:p>
          <a:p>
            <a:pPr lvl="1" eaLnBrk="1" hangingPunct="1">
              <a:buFont typeface="Wingdings" pitchFamily="2" charset="2"/>
              <a:buNone/>
              <a:defRPr/>
            </a:pPr>
            <a:r>
              <a:rPr lang="en-US" altLang="zh-CN" sz="2600" dirty="0"/>
              <a:t>interface  </a:t>
            </a:r>
            <a:r>
              <a:rPr lang="en-US" altLang="zh-CN" sz="2600" dirty="0" err="1"/>
              <a:t>rpcfactorial</a:t>
            </a:r>
            <a:endParaRPr lang="en-US" altLang="zh-CN" sz="2600" dirty="0"/>
          </a:p>
          <a:p>
            <a:pPr lvl="1" eaLnBrk="1" hangingPunct="1">
              <a:buFont typeface="Wingdings" pitchFamily="2" charset="2"/>
              <a:buNone/>
              <a:defRPr/>
            </a:pPr>
            <a:r>
              <a:rPr lang="en-US" altLang="zh-CN" sz="2600" dirty="0"/>
              <a:t>{</a:t>
            </a:r>
          </a:p>
          <a:p>
            <a:pPr lvl="1" eaLnBrk="1" hangingPunct="1">
              <a:buFont typeface="Wingdings" pitchFamily="2" charset="2"/>
              <a:buNone/>
              <a:defRPr/>
            </a:pPr>
            <a:r>
              <a:rPr lang="en-US" altLang="zh-CN" sz="2600" dirty="0"/>
              <a:t>}</a:t>
            </a:r>
          </a:p>
          <a:p>
            <a:pPr lvl="1" eaLnBrk="1" hangingPunct="1">
              <a:buFont typeface="Wingdings" pitchFamily="2" charset="2"/>
              <a:buNone/>
              <a:defRPr/>
            </a:pPr>
            <a:r>
              <a:rPr lang="en-US" altLang="zh-CN" sz="2600" dirty="0"/>
              <a:t>// end File </a:t>
            </a:r>
            <a:r>
              <a:rPr lang="en-US" altLang="zh-CN" sz="2600" dirty="0" err="1"/>
              <a:t>RpcFact.acf</a:t>
            </a:r>
            <a:endParaRPr lang="en-US" altLang="zh-CN" sz="2600" dirty="0"/>
          </a:p>
        </p:txBody>
      </p:sp>
    </p:spTree>
    <p:extLst>
      <p:ext uri="{BB962C8B-B14F-4D97-AF65-F5344CB8AC3E}">
        <p14:creationId xmlns:p14="http://schemas.microsoft.com/office/powerpoint/2010/main" val="2086417149"/>
      </p:ext>
    </p:extLst>
  </p:cSld>
  <p:clrMapOvr>
    <a:masterClrMapping/>
  </p:clrMapOvr>
  <p:transition>
    <p:strips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RPC(14)</a:t>
            </a:r>
            <a:endParaRPr lang="zh-CN" altLang="en-US" dirty="0"/>
          </a:p>
        </p:txBody>
      </p:sp>
      <p:sp>
        <p:nvSpPr>
          <p:cNvPr id="3" name="内容占位符 2"/>
          <p:cNvSpPr>
            <a:spLocks noGrp="1"/>
          </p:cNvSpPr>
          <p:nvPr>
            <p:ph idx="1"/>
          </p:nvPr>
        </p:nvSpPr>
        <p:spPr/>
        <p:txBody>
          <a:bodyPr/>
          <a:lstStyle/>
          <a:p>
            <a:pPr eaLnBrk="1" hangingPunct="1">
              <a:defRPr/>
            </a:pPr>
            <a:r>
              <a:rPr lang="en-US" altLang="zh-CN" dirty="0"/>
              <a:t>3. </a:t>
            </a:r>
            <a:r>
              <a:rPr lang="zh-CN" altLang="en-US" dirty="0"/>
              <a:t>用</a:t>
            </a:r>
            <a:r>
              <a:rPr lang="en-US" altLang="zh-CN" dirty="0"/>
              <a:t>MIDL</a:t>
            </a:r>
            <a:r>
              <a:rPr lang="zh-CN" altLang="en-US" dirty="0"/>
              <a:t>编译器编译</a:t>
            </a:r>
            <a:r>
              <a:rPr lang="en-US" altLang="zh-CN" dirty="0"/>
              <a:t>RpcFact.idl</a:t>
            </a:r>
            <a:r>
              <a:rPr lang="zh-CN" altLang="en-US" dirty="0"/>
              <a:t>文件</a:t>
            </a:r>
          </a:p>
          <a:p>
            <a:pPr lvl="1" eaLnBrk="1" hangingPunct="1">
              <a:defRPr/>
            </a:pPr>
            <a:r>
              <a:rPr lang="en-US" altLang="zh-CN" dirty="0"/>
              <a:t>midl.exe /</a:t>
            </a:r>
            <a:r>
              <a:rPr lang="en-US" altLang="zh-CN" dirty="0" err="1"/>
              <a:t>c_text</a:t>
            </a:r>
            <a:r>
              <a:rPr lang="en-US" altLang="zh-CN" dirty="0"/>
              <a:t> /</a:t>
            </a:r>
            <a:r>
              <a:rPr lang="en-US" altLang="zh-CN" dirty="0" err="1"/>
              <a:t>ms_text</a:t>
            </a:r>
            <a:r>
              <a:rPr lang="en-US" altLang="zh-CN" dirty="0"/>
              <a:t> /</a:t>
            </a:r>
            <a:r>
              <a:rPr lang="en-US" altLang="zh-CN" dirty="0" err="1"/>
              <a:t>app_config</a:t>
            </a:r>
            <a:r>
              <a:rPr lang="en-US" altLang="zh-CN" dirty="0"/>
              <a:t> RpcFact.idl</a:t>
            </a:r>
          </a:p>
          <a:p>
            <a:pPr lvl="1" eaLnBrk="1" hangingPunct="1">
              <a:defRPr/>
            </a:pPr>
            <a:r>
              <a:rPr lang="zh-CN" altLang="en-US" dirty="0"/>
              <a:t>经过编译之后，会生成下列文件</a:t>
            </a:r>
          </a:p>
          <a:p>
            <a:pPr lvl="2" eaLnBrk="1" hangingPunct="1">
              <a:defRPr/>
            </a:pPr>
            <a:r>
              <a:rPr lang="en-US" altLang="zh-CN" dirty="0" err="1"/>
              <a:t>RpcFact.h</a:t>
            </a:r>
            <a:endParaRPr lang="en-US" altLang="zh-CN" dirty="0"/>
          </a:p>
          <a:p>
            <a:pPr lvl="2" eaLnBrk="1" hangingPunct="1">
              <a:defRPr/>
            </a:pPr>
            <a:r>
              <a:rPr lang="en-US" altLang="zh-CN" dirty="0" err="1"/>
              <a:t>RpcFact_s.c</a:t>
            </a:r>
            <a:endParaRPr lang="en-US" altLang="zh-CN" dirty="0"/>
          </a:p>
          <a:p>
            <a:pPr lvl="2" eaLnBrk="1" hangingPunct="1">
              <a:defRPr/>
            </a:pPr>
            <a:r>
              <a:rPr lang="en-US" altLang="zh-CN" dirty="0" err="1"/>
              <a:t>RpcFact_c.c</a:t>
            </a:r>
            <a:endParaRPr lang="en-US" altLang="zh-CN" dirty="0"/>
          </a:p>
          <a:p>
            <a:endParaRPr lang="zh-CN" altLang="en-US" dirty="0"/>
          </a:p>
        </p:txBody>
      </p:sp>
    </p:spTree>
    <p:extLst>
      <p:ext uri="{BB962C8B-B14F-4D97-AF65-F5344CB8AC3E}">
        <p14:creationId xmlns:p14="http://schemas.microsoft.com/office/powerpoint/2010/main" val="2607562320"/>
      </p:ext>
    </p:extLst>
  </p:cSld>
  <p:clrMapOvr>
    <a:masterClrMapping/>
  </p:clrMapOvr>
  <p:transition>
    <p:strips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RPC(15)</a:t>
            </a:r>
            <a:endParaRPr lang="zh-CN" altLang="en-US" sz="3600" dirty="0"/>
          </a:p>
        </p:txBody>
      </p:sp>
      <p:sp>
        <p:nvSpPr>
          <p:cNvPr id="3" name="内容占位符 2"/>
          <p:cNvSpPr>
            <a:spLocks noGrp="1"/>
          </p:cNvSpPr>
          <p:nvPr>
            <p:ph idx="1"/>
          </p:nvPr>
        </p:nvSpPr>
        <p:spPr/>
        <p:txBody>
          <a:bodyPr>
            <a:normAutofit fontScale="70000" lnSpcReduction="20000"/>
          </a:bodyPr>
          <a:lstStyle/>
          <a:p>
            <a:pPr eaLnBrk="1" hangingPunct="1">
              <a:lnSpc>
                <a:spcPct val="170000"/>
              </a:lnSpc>
              <a:defRPr/>
            </a:pPr>
            <a:r>
              <a:rPr lang="en-US" altLang="zh-CN" dirty="0"/>
              <a:t>4. </a:t>
            </a:r>
            <a:r>
              <a:rPr lang="zh-CN" altLang="en-US" dirty="0"/>
              <a:t>开发</a:t>
            </a:r>
            <a:r>
              <a:rPr lang="en-US" altLang="zh-CN" dirty="0"/>
              <a:t>RPC</a:t>
            </a:r>
            <a:r>
              <a:rPr lang="zh-CN" altLang="en-US" dirty="0"/>
              <a:t>服务器</a:t>
            </a:r>
          </a:p>
          <a:p>
            <a:pPr lvl="1" eaLnBrk="1" hangingPunct="1">
              <a:lnSpc>
                <a:spcPct val="170000"/>
              </a:lnSpc>
              <a:defRPr/>
            </a:pPr>
            <a:r>
              <a:rPr lang="zh-CN" altLang="en-US" dirty="0"/>
              <a:t>定义好了一个接口之后</a:t>
            </a:r>
            <a:r>
              <a:rPr lang="en-US" altLang="zh-CN" dirty="0"/>
              <a:t>, </a:t>
            </a:r>
            <a:r>
              <a:rPr lang="zh-CN" altLang="en-US" dirty="0"/>
              <a:t>需要创建一个响应接口请求的进程</a:t>
            </a:r>
            <a:r>
              <a:rPr lang="en-US" altLang="zh-CN" dirty="0"/>
              <a:t>, </a:t>
            </a:r>
            <a:r>
              <a:rPr lang="zh-CN" altLang="en-US" dirty="0"/>
              <a:t>执行请求的操作并返回所有结果给</a:t>
            </a:r>
            <a:r>
              <a:rPr lang="en-US" altLang="zh-CN" dirty="0"/>
              <a:t>client. </a:t>
            </a:r>
            <a:r>
              <a:rPr lang="zh-CN" altLang="en-US" dirty="0"/>
              <a:t>这些任务由</a:t>
            </a:r>
            <a:r>
              <a:rPr lang="en-US" altLang="zh-CN" dirty="0"/>
              <a:t>RPC</a:t>
            </a:r>
            <a:r>
              <a:rPr lang="zh-CN" altLang="en-US" dirty="0"/>
              <a:t>服务器来完成</a:t>
            </a:r>
            <a:r>
              <a:rPr lang="en-US" altLang="zh-CN" dirty="0"/>
              <a:t>.</a:t>
            </a:r>
          </a:p>
          <a:p>
            <a:pPr lvl="1" eaLnBrk="1" hangingPunct="1">
              <a:lnSpc>
                <a:spcPct val="170000"/>
              </a:lnSpc>
              <a:defRPr/>
            </a:pPr>
            <a:r>
              <a:rPr lang="en-US" altLang="zh-CN" dirty="0"/>
              <a:t> (1) </a:t>
            </a:r>
            <a:r>
              <a:rPr lang="zh-CN" altLang="en-US" dirty="0"/>
              <a:t>执行计算的过程</a:t>
            </a:r>
          </a:p>
          <a:p>
            <a:pPr lvl="2" eaLnBrk="1" hangingPunct="1">
              <a:lnSpc>
                <a:spcPct val="170000"/>
              </a:lnSpc>
              <a:defRPr/>
            </a:pPr>
            <a:r>
              <a:rPr lang="zh-CN" altLang="en-US" dirty="0"/>
              <a:t>本例中就是阶乘函数的实现</a:t>
            </a:r>
          </a:p>
          <a:p>
            <a:pPr lvl="2" eaLnBrk="1" hangingPunct="1">
              <a:lnSpc>
                <a:spcPct val="170000"/>
              </a:lnSpc>
              <a:buFont typeface="Wingdings" pitchFamily="2" charset="2"/>
              <a:buNone/>
              <a:defRPr/>
            </a:pPr>
            <a:r>
              <a:rPr lang="en-US" altLang="zh-CN" dirty="0"/>
              <a:t>//File: </a:t>
            </a:r>
            <a:r>
              <a:rPr lang="en-US" altLang="zh-CN" dirty="0" err="1"/>
              <a:t>RpcFact.c</a:t>
            </a:r>
            <a:endParaRPr lang="en-US" altLang="zh-CN" dirty="0"/>
          </a:p>
          <a:p>
            <a:pPr lvl="2" eaLnBrk="1" hangingPunct="1">
              <a:lnSpc>
                <a:spcPct val="170000"/>
              </a:lnSpc>
              <a:buFont typeface="Wingdings" pitchFamily="2" charset="2"/>
              <a:buNone/>
              <a:defRPr/>
            </a:pPr>
            <a:r>
              <a:rPr lang="en-US" altLang="zh-CN" dirty="0"/>
              <a:t>#include &lt;</a:t>
            </a:r>
            <a:r>
              <a:rPr lang="en-US" altLang="zh-CN" dirty="0" err="1"/>
              <a:t>windows.h</a:t>
            </a:r>
            <a:r>
              <a:rPr lang="en-US" altLang="zh-CN" dirty="0"/>
              <a:t>&gt;</a:t>
            </a:r>
          </a:p>
          <a:p>
            <a:pPr lvl="2" eaLnBrk="1" hangingPunct="1">
              <a:lnSpc>
                <a:spcPct val="170000"/>
              </a:lnSpc>
              <a:buFont typeface="Wingdings" pitchFamily="2" charset="2"/>
              <a:buNone/>
              <a:defRPr/>
            </a:pPr>
            <a:r>
              <a:rPr lang="en-US" altLang="zh-CN" dirty="0"/>
              <a:t>#include “</a:t>
            </a:r>
            <a:r>
              <a:rPr lang="en-US" altLang="zh-CN" dirty="0" err="1"/>
              <a:t>RpcFact.h</a:t>
            </a:r>
            <a:r>
              <a:rPr lang="en-US" altLang="zh-CN" dirty="0"/>
              <a:t>”  // </a:t>
            </a:r>
            <a:r>
              <a:rPr lang="zh-CN" altLang="en-US" dirty="0"/>
              <a:t>用</a:t>
            </a:r>
            <a:r>
              <a:rPr lang="en-US" altLang="zh-CN" dirty="0"/>
              <a:t>MIDL</a:t>
            </a:r>
            <a:r>
              <a:rPr lang="zh-CN" altLang="en-US" dirty="0"/>
              <a:t>编译器生成</a:t>
            </a:r>
          </a:p>
          <a:p>
            <a:endParaRPr lang="zh-CN" altLang="en-US" dirty="0"/>
          </a:p>
        </p:txBody>
      </p:sp>
    </p:spTree>
    <p:extLst>
      <p:ext uri="{BB962C8B-B14F-4D97-AF65-F5344CB8AC3E}">
        <p14:creationId xmlns:p14="http://schemas.microsoft.com/office/powerpoint/2010/main" val="602976308"/>
      </p:ext>
    </p:extLst>
  </p:cSld>
  <p:clrMapOvr>
    <a:masterClrMapping/>
  </p:clrMapOvr>
  <p:transition>
    <p:strips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RPC(16)</a:t>
            </a:r>
            <a:endParaRPr lang="zh-CN" altLang="en-US" sz="3600" dirty="0"/>
          </a:p>
        </p:txBody>
      </p:sp>
      <p:sp>
        <p:nvSpPr>
          <p:cNvPr id="3" name="内容占位符 2"/>
          <p:cNvSpPr>
            <a:spLocks noGrp="1"/>
          </p:cNvSpPr>
          <p:nvPr>
            <p:ph idx="1"/>
          </p:nvPr>
        </p:nvSpPr>
        <p:spPr/>
        <p:txBody>
          <a:bodyPr/>
          <a:lstStyle/>
          <a:p>
            <a:pPr eaLnBrk="1" hangingPunct="1">
              <a:lnSpc>
                <a:spcPct val="150000"/>
              </a:lnSpc>
              <a:buFont typeface="Wingdings" pitchFamily="2" charset="2"/>
              <a:buNone/>
              <a:defRPr/>
            </a:pPr>
            <a:r>
              <a:rPr lang="en-US" altLang="zh-CN" sz="2400" dirty="0"/>
              <a:t>long Factorial (long </a:t>
            </a:r>
            <a:r>
              <a:rPr lang="en-US" altLang="zh-CN" sz="2400" dirty="0" err="1"/>
              <a:t>nVal</a:t>
            </a:r>
            <a:r>
              <a:rPr lang="en-US" altLang="zh-CN" sz="2400" dirty="0"/>
              <a:t>)</a:t>
            </a:r>
          </a:p>
          <a:p>
            <a:pPr eaLnBrk="1" hangingPunct="1">
              <a:lnSpc>
                <a:spcPct val="150000"/>
              </a:lnSpc>
              <a:buFont typeface="Wingdings" pitchFamily="2" charset="2"/>
              <a:buNone/>
              <a:defRPr/>
            </a:pPr>
            <a:r>
              <a:rPr lang="en-US" altLang="zh-CN" sz="2400" dirty="0"/>
              <a:t>{</a:t>
            </a:r>
          </a:p>
          <a:p>
            <a:pPr eaLnBrk="1" hangingPunct="1">
              <a:lnSpc>
                <a:spcPct val="150000"/>
              </a:lnSpc>
              <a:buFont typeface="Wingdings" pitchFamily="2" charset="2"/>
              <a:buNone/>
              <a:defRPr/>
            </a:pPr>
            <a:r>
              <a:rPr lang="en-US" altLang="zh-CN" sz="2400" dirty="0"/>
              <a:t>   long </a:t>
            </a:r>
            <a:r>
              <a:rPr lang="en-US" altLang="zh-CN" sz="2400" dirty="0" err="1"/>
              <a:t>nResult</a:t>
            </a:r>
            <a:r>
              <a:rPr lang="en-US" altLang="zh-CN" sz="2400" dirty="0"/>
              <a:t> = 1;</a:t>
            </a:r>
          </a:p>
          <a:p>
            <a:pPr eaLnBrk="1" hangingPunct="1">
              <a:lnSpc>
                <a:spcPct val="150000"/>
              </a:lnSpc>
              <a:buFont typeface="Wingdings" pitchFamily="2" charset="2"/>
              <a:buNone/>
              <a:defRPr/>
            </a:pPr>
            <a:r>
              <a:rPr lang="en-US" altLang="zh-CN" sz="2400" dirty="0"/>
              <a:t>   for (; </a:t>
            </a:r>
            <a:r>
              <a:rPr lang="en-US" altLang="zh-CN" sz="2400" dirty="0" err="1"/>
              <a:t>nVal</a:t>
            </a:r>
            <a:r>
              <a:rPr lang="en-US" altLang="zh-CN" sz="2400" dirty="0"/>
              <a:t>&gt;0; </a:t>
            </a:r>
            <a:r>
              <a:rPr lang="en-US" altLang="zh-CN" sz="2400" dirty="0" err="1"/>
              <a:t>nVal</a:t>
            </a:r>
            <a:r>
              <a:rPr lang="en-US" altLang="zh-CN" sz="2400" dirty="0"/>
              <a:t>--)</a:t>
            </a:r>
          </a:p>
          <a:p>
            <a:pPr eaLnBrk="1" hangingPunct="1">
              <a:lnSpc>
                <a:spcPct val="150000"/>
              </a:lnSpc>
              <a:buFont typeface="Wingdings" pitchFamily="2" charset="2"/>
              <a:buNone/>
              <a:defRPr/>
            </a:pPr>
            <a:r>
              <a:rPr lang="en-US" altLang="zh-CN" sz="2400" dirty="0"/>
              <a:t>      </a:t>
            </a:r>
            <a:r>
              <a:rPr lang="en-US" altLang="zh-CN" sz="2400" dirty="0" err="1"/>
              <a:t>nResult</a:t>
            </a:r>
            <a:r>
              <a:rPr lang="en-US" altLang="zh-CN" sz="2400" dirty="0"/>
              <a:t> *= </a:t>
            </a:r>
            <a:r>
              <a:rPr lang="en-US" altLang="zh-CN" sz="2400" dirty="0" err="1"/>
              <a:t>nVal</a:t>
            </a:r>
            <a:r>
              <a:rPr lang="en-US" altLang="zh-CN" sz="2400" dirty="0"/>
              <a:t>;</a:t>
            </a:r>
          </a:p>
          <a:p>
            <a:pPr eaLnBrk="1" hangingPunct="1">
              <a:lnSpc>
                <a:spcPct val="150000"/>
              </a:lnSpc>
              <a:buFont typeface="Wingdings" pitchFamily="2" charset="2"/>
              <a:buNone/>
              <a:defRPr/>
            </a:pPr>
            <a:r>
              <a:rPr lang="en-US" altLang="zh-CN" sz="2400" dirty="0"/>
              <a:t>   return </a:t>
            </a:r>
            <a:r>
              <a:rPr lang="en-US" altLang="zh-CN" sz="2400" dirty="0" err="1"/>
              <a:t>nResult</a:t>
            </a:r>
            <a:r>
              <a:rPr lang="en-US" altLang="zh-CN" sz="2400" dirty="0"/>
              <a:t>;</a:t>
            </a:r>
          </a:p>
          <a:p>
            <a:pPr eaLnBrk="1" hangingPunct="1">
              <a:lnSpc>
                <a:spcPct val="150000"/>
              </a:lnSpc>
              <a:buFont typeface="Wingdings" pitchFamily="2" charset="2"/>
              <a:buNone/>
              <a:defRPr/>
            </a:pPr>
            <a:r>
              <a:rPr lang="en-US" altLang="zh-CN" sz="2400" dirty="0"/>
              <a:t>}</a:t>
            </a:r>
          </a:p>
          <a:p>
            <a:pPr eaLnBrk="1" hangingPunct="1">
              <a:lnSpc>
                <a:spcPct val="150000"/>
              </a:lnSpc>
              <a:buFont typeface="Wingdings" pitchFamily="2" charset="2"/>
              <a:buNone/>
              <a:defRPr/>
            </a:pPr>
            <a:r>
              <a:rPr lang="en-US" altLang="zh-CN" sz="2400" dirty="0"/>
              <a:t>// end File </a:t>
            </a:r>
            <a:r>
              <a:rPr lang="en-US" altLang="zh-CN" sz="2400" dirty="0" err="1"/>
              <a:t>RpcFact.c</a:t>
            </a:r>
            <a:endParaRPr lang="en-US" altLang="zh-CN" sz="2400" dirty="0"/>
          </a:p>
          <a:p>
            <a:endParaRPr lang="zh-CN" altLang="en-US" dirty="0"/>
          </a:p>
        </p:txBody>
      </p:sp>
    </p:spTree>
    <p:extLst>
      <p:ext uri="{BB962C8B-B14F-4D97-AF65-F5344CB8AC3E}">
        <p14:creationId xmlns:p14="http://schemas.microsoft.com/office/powerpoint/2010/main" val="3501063763"/>
      </p:ext>
    </p:extLst>
  </p:cSld>
  <p:clrMapOvr>
    <a:masterClrMapping/>
  </p:clrMapOvr>
  <p:transition>
    <p:strips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RPC(17)</a:t>
            </a:r>
            <a:endParaRPr lang="zh-CN" altLang="en-US" sz="3600" dirty="0"/>
          </a:p>
        </p:txBody>
      </p:sp>
      <p:sp>
        <p:nvSpPr>
          <p:cNvPr id="3" name="内容占位符 2"/>
          <p:cNvSpPr>
            <a:spLocks noGrp="1"/>
          </p:cNvSpPr>
          <p:nvPr>
            <p:ph idx="1"/>
          </p:nvPr>
        </p:nvSpPr>
        <p:spPr>
          <a:xfrm>
            <a:off x="495300" y="1417638"/>
            <a:ext cx="8915400" cy="4525963"/>
          </a:xfrm>
        </p:spPr>
        <p:txBody>
          <a:bodyPr/>
          <a:lstStyle/>
          <a:p>
            <a:pPr lvl="1" eaLnBrk="1" hangingPunct="1">
              <a:defRPr/>
            </a:pPr>
            <a:r>
              <a:rPr lang="en-US" altLang="zh-CN" sz="2600" dirty="0"/>
              <a:t>(2) RPC</a:t>
            </a:r>
            <a:r>
              <a:rPr lang="zh-CN" altLang="en-US" sz="2600" dirty="0"/>
              <a:t>服务器实体</a:t>
            </a:r>
          </a:p>
          <a:p>
            <a:pPr lvl="2" eaLnBrk="1" hangingPunct="1">
              <a:defRPr/>
            </a:pPr>
            <a:r>
              <a:rPr lang="zh-CN" altLang="en-US" dirty="0"/>
              <a:t>使</a:t>
            </a:r>
            <a:r>
              <a:rPr lang="en-US" altLang="zh-CN" dirty="0" err="1"/>
              <a:t>RpcFact.c</a:t>
            </a:r>
            <a:r>
              <a:rPr lang="zh-CN" altLang="en-US" dirty="0"/>
              <a:t>真正对</a:t>
            </a:r>
            <a:r>
              <a:rPr lang="en-US" altLang="zh-CN" dirty="0"/>
              <a:t>RPC</a:t>
            </a:r>
            <a:r>
              <a:rPr lang="zh-CN" altLang="en-US" dirty="0"/>
              <a:t>有用的工作是在服务器存根</a:t>
            </a:r>
            <a:r>
              <a:rPr lang="en-US" altLang="zh-CN" dirty="0"/>
              <a:t>(</a:t>
            </a:r>
            <a:r>
              <a:rPr lang="en-US" altLang="zh-CN" dirty="0" err="1"/>
              <a:t>RpcFacts.c</a:t>
            </a:r>
            <a:r>
              <a:rPr lang="en-US" altLang="zh-CN" dirty="0"/>
              <a:t>)</a:t>
            </a:r>
            <a:r>
              <a:rPr lang="zh-CN" altLang="en-US" dirty="0"/>
              <a:t>中实现的，实体内的代码负责建立</a:t>
            </a:r>
            <a:r>
              <a:rPr lang="en-US" altLang="zh-CN" dirty="0"/>
              <a:t>RPC</a:t>
            </a:r>
            <a:r>
              <a:rPr lang="zh-CN" altLang="en-US" dirty="0"/>
              <a:t>接口的绑定，并用名称服务程序来注册它们以及侦听</a:t>
            </a:r>
            <a:r>
              <a:rPr lang="en-US" altLang="zh-CN" dirty="0"/>
              <a:t>RPC</a:t>
            </a:r>
            <a:r>
              <a:rPr lang="zh-CN" altLang="en-US" dirty="0"/>
              <a:t>请求。 </a:t>
            </a:r>
          </a:p>
          <a:p>
            <a:pPr lvl="2" eaLnBrk="1" hangingPunct="1">
              <a:buFont typeface="Wingdings" pitchFamily="2" charset="2"/>
              <a:buNone/>
              <a:defRPr/>
            </a:pPr>
            <a:r>
              <a:rPr lang="en-US" altLang="zh-CN" sz="2600" dirty="0"/>
              <a:t>// File: </a:t>
            </a:r>
            <a:r>
              <a:rPr lang="en-US" altLang="zh-CN" sz="2600" dirty="0" err="1"/>
              <a:t>RpcFacts.c</a:t>
            </a:r>
            <a:endParaRPr lang="en-US" altLang="zh-CN" sz="2600" dirty="0"/>
          </a:p>
          <a:p>
            <a:pPr lvl="2" eaLnBrk="1" hangingPunct="1">
              <a:buFont typeface="Wingdings" pitchFamily="2" charset="2"/>
              <a:buNone/>
              <a:defRPr/>
            </a:pPr>
            <a:r>
              <a:rPr lang="en-US" altLang="zh-CN" sz="2600" dirty="0"/>
              <a:t>#include &lt;</a:t>
            </a:r>
            <a:r>
              <a:rPr lang="en-US" altLang="zh-CN" sz="2600" dirty="0" err="1"/>
              <a:t>windows.h</a:t>
            </a:r>
            <a:r>
              <a:rPr lang="en-US" altLang="zh-CN" sz="2600" dirty="0"/>
              <a:t>&gt;</a:t>
            </a:r>
          </a:p>
          <a:p>
            <a:pPr lvl="2" eaLnBrk="1" hangingPunct="1">
              <a:buFont typeface="Wingdings" pitchFamily="2" charset="2"/>
              <a:buNone/>
              <a:defRPr/>
            </a:pPr>
            <a:r>
              <a:rPr lang="en-US" altLang="zh-CN" sz="2600" dirty="0"/>
              <a:t>#include &lt;</a:t>
            </a:r>
            <a:r>
              <a:rPr lang="en-US" altLang="zh-CN" sz="2600" dirty="0" err="1"/>
              <a:t>iostream.h</a:t>
            </a:r>
            <a:r>
              <a:rPr lang="en-US" altLang="zh-CN" sz="2600" dirty="0"/>
              <a:t>&gt;</a:t>
            </a:r>
          </a:p>
          <a:p>
            <a:pPr lvl="2" eaLnBrk="1" hangingPunct="1">
              <a:buFont typeface="Wingdings" pitchFamily="2" charset="2"/>
              <a:buNone/>
              <a:defRPr/>
            </a:pPr>
            <a:r>
              <a:rPr lang="en-US" altLang="zh-CN" sz="2600" dirty="0"/>
              <a:t>#include &lt;</a:t>
            </a:r>
            <a:r>
              <a:rPr lang="en-US" altLang="zh-CN" sz="2600" dirty="0" err="1"/>
              <a:t>rpc.h</a:t>
            </a:r>
            <a:r>
              <a:rPr lang="en-US" altLang="zh-CN" sz="2600" dirty="0"/>
              <a:t>&gt;</a:t>
            </a:r>
          </a:p>
          <a:p>
            <a:pPr lvl="2" eaLnBrk="1" hangingPunct="1">
              <a:buFont typeface="Wingdings" pitchFamily="2" charset="2"/>
              <a:buNone/>
              <a:defRPr/>
            </a:pPr>
            <a:r>
              <a:rPr lang="en-US" altLang="zh-CN" sz="2600" dirty="0"/>
              <a:t>#include “</a:t>
            </a:r>
            <a:r>
              <a:rPr lang="en-US" altLang="zh-CN" sz="2600" dirty="0" err="1"/>
              <a:t>RpcFact.h</a:t>
            </a:r>
            <a:r>
              <a:rPr lang="en-US" altLang="zh-CN" sz="2600" dirty="0"/>
              <a:t>”</a:t>
            </a:r>
          </a:p>
          <a:p>
            <a:pPr lvl="2" eaLnBrk="1" hangingPunct="1">
              <a:buFont typeface="Wingdings" pitchFamily="2" charset="2"/>
              <a:buNone/>
              <a:defRPr/>
            </a:pPr>
            <a:r>
              <a:rPr lang="en-US" altLang="zh-CN" sz="2600" dirty="0"/>
              <a:t>#include “</a:t>
            </a:r>
            <a:r>
              <a:rPr lang="en-US" altLang="zh-CN" sz="2600" dirty="0" err="1"/>
              <a:t>memstub.h</a:t>
            </a:r>
            <a:r>
              <a:rPr lang="en-US" altLang="zh-CN" sz="2600" dirty="0"/>
              <a:t>”   //</a:t>
            </a:r>
            <a:r>
              <a:rPr lang="zh-CN" altLang="en-US" sz="2600" dirty="0"/>
              <a:t>实现</a:t>
            </a:r>
            <a:r>
              <a:rPr lang="en-US" altLang="zh-CN" sz="2600" dirty="0"/>
              <a:t>RPC</a:t>
            </a:r>
            <a:r>
              <a:rPr lang="zh-CN" altLang="en-US" sz="2600" dirty="0"/>
              <a:t>函数的存储分配</a:t>
            </a:r>
            <a:endParaRPr lang="zh-CN" altLang="en-US" dirty="0"/>
          </a:p>
        </p:txBody>
      </p:sp>
    </p:spTree>
    <p:extLst>
      <p:ext uri="{BB962C8B-B14F-4D97-AF65-F5344CB8AC3E}">
        <p14:creationId xmlns:p14="http://schemas.microsoft.com/office/powerpoint/2010/main" val="528366950"/>
      </p:ext>
    </p:extLst>
  </p:cSld>
  <p:clrMapOvr>
    <a:masterClrMapping/>
  </p:clrMapOvr>
  <p:transition>
    <p:strips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RPC(18)</a:t>
            </a:r>
            <a:endParaRPr lang="zh-CN" altLang="en-US" sz="3600" dirty="0"/>
          </a:p>
        </p:txBody>
      </p:sp>
      <p:sp>
        <p:nvSpPr>
          <p:cNvPr id="3" name="内容占位符 2"/>
          <p:cNvSpPr>
            <a:spLocks noGrp="1"/>
          </p:cNvSpPr>
          <p:nvPr>
            <p:ph idx="1"/>
          </p:nvPr>
        </p:nvSpPr>
        <p:spPr>
          <a:xfrm>
            <a:off x="495300" y="1215614"/>
            <a:ext cx="8915400" cy="4708525"/>
          </a:xfrm>
        </p:spPr>
        <p:txBody>
          <a:bodyPr>
            <a:noAutofit/>
          </a:bodyPr>
          <a:lstStyle/>
          <a:p>
            <a:pPr eaLnBrk="1" hangingPunct="1">
              <a:buFont typeface="Wingdings" pitchFamily="2" charset="2"/>
              <a:buNone/>
              <a:defRPr/>
            </a:pPr>
            <a:r>
              <a:rPr lang="en-US" altLang="zh-CN" sz="2400" dirty="0"/>
              <a:t>main()</a:t>
            </a:r>
          </a:p>
          <a:p>
            <a:pPr eaLnBrk="1" hangingPunct="1">
              <a:buFont typeface="Wingdings" pitchFamily="2" charset="2"/>
              <a:buNone/>
              <a:defRPr/>
            </a:pPr>
            <a:r>
              <a:rPr lang="en-US" altLang="zh-CN" sz="2400" dirty="0"/>
              <a:t>{</a:t>
            </a:r>
          </a:p>
          <a:p>
            <a:pPr eaLnBrk="1" hangingPunct="1">
              <a:buFont typeface="Wingdings" pitchFamily="2" charset="2"/>
              <a:buNone/>
              <a:defRPr/>
            </a:pPr>
            <a:r>
              <a:rPr lang="en-US" altLang="zh-CN" sz="2400" dirty="0"/>
              <a:t>    RPC_BINDING_VECTOR*  </a:t>
            </a:r>
            <a:r>
              <a:rPr lang="en-US" altLang="zh-CN" sz="2400" dirty="0" err="1"/>
              <a:t>bindVector</a:t>
            </a:r>
            <a:r>
              <a:rPr lang="en-US" altLang="zh-CN" sz="2400" dirty="0"/>
              <a:t>;</a:t>
            </a:r>
          </a:p>
          <a:p>
            <a:pPr eaLnBrk="1" hangingPunct="1">
              <a:buFont typeface="Wingdings" pitchFamily="2" charset="2"/>
              <a:buNone/>
              <a:defRPr/>
            </a:pPr>
            <a:r>
              <a:rPr lang="en-US" altLang="zh-CN" sz="2400" dirty="0"/>
              <a:t>    RPC_STATUS  </a:t>
            </a:r>
            <a:r>
              <a:rPr lang="en-US" altLang="zh-CN" sz="2400" dirty="0" err="1"/>
              <a:t>lRetVal</a:t>
            </a:r>
            <a:r>
              <a:rPr lang="en-US" altLang="zh-CN" sz="2400" dirty="0"/>
              <a:t>; </a:t>
            </a:r>
          </a:p>
          <a:p>
            <a:pPr eaLnBrk="1" hangingPunct="1">
              <a:buFont typeface="Wingdings" pitchFamily="2" charset="2"/>
              <a:buNone/>
              <a:defRPr/>
            </a:pPr>
            <a:r>
              <a:rPr lang="en-US" altLang="zh-CN" sz="2400" dirty="0"/>
              <a:t>   </a:t>
            </a:r>
            <a:r>
              <a:rPr lang="en-US" altLang="zh-CN" sz="1800" dirty="0"/>
              <a:t> /*</a:t>
            </a:r>
            <a:r>
              <a:rPr lang="zh-CN" altLang="en-US" sz="1800" dirty="0"/>
              <a:t>注册所有可行的协议序列</a:t>
            </a:r>
            <a:r>
              <a:rPr lang="en-US" altLang="zh-CN" sz="1800" dirty="0"/>
              <a:t>, </a:t>
            </a:r>
            <a:r>
              <a:rPr lang="zh-CN" altLang="en-US" sz="1800" dirty="0"/>
              <a:t>所支持的协议由在</a:t>
            </a:r>
            <a:r>
              <a:rPr lang="en-US" altLang="zh-CN" sz="1800" dirty="0"/>
              <a:t>RpcFact.idl</a:t>
            </a:r>
            <a:r>
              <a:rPr lang="zh-CN" altLang="en-US" sz="1800" dirty="0"/>
              <a:t>的端点定义中的字符串指定*</a:t>
            </a:r>
            <a:r>
              <a:rPr lang="en-US" altLang="zh-CN" sz="1800" dirty="0"/>
              <a:t>/</a:t>
            </a:r>
          </a:p>
          <a:p>
            <a:pPr eaLnBrk="1" hangingPunct="1">
              <a:buFont typeface="Wingdings" pitchFamily="2" charset="2"/>
              <a:buNone/>
              <a:defRPr/>
            </a:pPr>
            <a:r>
              <a:rPr lang="en-US" altLang="zh-CN" sz="1800" dirty="0"/>
              <a:t>    // </a:t>
            </a:r>
            <a:r>
              <a:rPr lang="zh-CN" altLang="en-US" sz="1800" dirty="0"/>
              <a:t>参数</a:t>
            </a:r>
            <a:r>
              <a:rPr lang="en-US" altLang="zh-CN" sz="1800" dirty="0"/>
              <a:t>rpcfactorial_v1_0_s_ifspec</a:t>
            </a:r>
            <a:r>
              <a:rPr lang="zh-CN" altLang="en-US" sz="1800" dirty="0"/>
              <a:t>定义在</a:t>
            </a:r>
            <a:r>
              <a:rPr lang="en-US" altLang="zh-CN" sz="1800" dirty="0" err="1"/>
              <a:t>RpcFact.h</a:t>
            </a:r>
            <a:r>
              <a:rPr lang="zh-CN" altLang="en-US" sz="1800" dirty="0"/>
              <a:t>中</a:t>
            </a:r>
            <a:r>
              <a:rPr lang="en-US" altLang="zh-CN" sz="1800" dirty="0"/>
              <a:t>, </a:t>
            </a:r>
            <a:r>
              <a:rPr lang="zh-CN" altLang="en-US" sz="1800" dirty="0"/>
              <a:t>由</a:t>
            </a:r>
            <a:r>
              <a:rPr lang="en-US" altLang="zh-CN" sz="1800" dirty="0"/>
              <a:t>MIDL</a:t>
            </a:r>
            <a:r>
              <a:rPr lang="zh-CN" altLang="en-US" sz="1800" dirty="0"/>
              <a:t>编译生成</a:t>
            </a:r>
          </a:p>
          <a:p>
            <a:pPr eaLnBrk="1" hangingPunct="1">
              <a:buFont typeface="Wingdings" pitchFamily="2" charset="2"/>
              <a:buNone/>
              <a:defRPr/>
            </a:pPr>
            <a:r>
              <a:rPr lang="zh-CN" altLang="en-US" sz="2400" dirty="0"/>
              <a:t>    </a:t>
            </a:r>
            <a:r>
              <a:rPr lang="en-US" altLang="zh-CN" sz="2400" dirty="0"/>
              <a:t>if (</a:t>
            </a:r>
            <a:r>
              <a:rPr lang="en-US" altLang="zh-CN" sz="2400" dirty="0" err="1"/>
              <a:t>lRetVal</a:t>
            </a:r>
            <a:r>
              <a:rPr lang="en-US" altLang="zh-CN" sz="2400" dirty="0"/>
              <a:t> = </a:t>
            </a:r>
            <a:r>
              <a:rPr lang="en-US" altLang="zh-CN" sz="2400" dirty="0" err="1"/>
              <a:t>RpcServerUseAllProtseqsIf</a:t>
            </a:r>
            <a:r>
              <a:rPr lang="en-US" altLang="zh-CN" sz="2400" dirty="0"/>
              <a:t>(1, rpcfactorial_v1_0_s_ifspec, NULL))</a:t>
            </a:r>
          </a:p>
          <a:p>
            <a:pPr eaLnBrk="1" hangingPunct="1">
              <a:buFont typeface="Wingdings" pitchFamily="2" charset="2"/>
              <a:buNone/>
              <a:defRPr/>
            </a:pPr>
            <a:r>
              <a:rPr lang="en-US" altLang="zh-CN" sz="2400" dirty="0"/>
              <a:t>	{</a:t>
            </a:r>
          </a:p>
          <a:p>
            <a:pPr eaLnBrk="1" hangingPunct="1">
              <a:buFont typeface="Wingdings" pitchFamily="2" charset="2"/>
              <a:buNone/>
              <a:defRPr/>
            </a:pPr>
            <a:r>
              <a:rPr lang="en-US" altLang="zh-CN" sz="2400" dirty="0"/>
              <a:t>        </a:t>
            </a:r>
            <a:r>
              <a:rPr lang="en-US" altLang="zh-CN" sz="2400" dirty="0" err="1"/>
              <a:t>cout</a:t>
            </a:r>
            <a:r>
              <a:rPr lang="en-US" altLang="zh-CN" sz="2400" dirty="0"/>
              <a:t>&lt;&lt;”Error in </a:t>
            </a:r>
            <a:r>
              <a:rPr lang="en-US" altLang="zh-CN" sz="2400" dirty="0" err="1"/>
              <a:t>RpcServerUseAllProtseqsIf</a:t>
            </a:r>
            <a:r>
              <a:rPr lang="en-US" altLang="zh-CN" sz="2400" dirty="0"/>
              <a:t>”&lt;&lt;</a:t>
            </a:r>
            <a:r>
              <a:rPr lang="en-US" altLang="zh-CN" sz="2400" dirty="0" err="1"/>
              <a:t>lRetVal</a:t>
            </a:r>
            <a:r>
              <a:rPr lang="en-US" altLang="zh-CN" sz="2400" dirty="0"/>
              <a:t>&lt;&lt;</a:t>
            </a:r>
            <a:r>
              <a:rPr lang="en-US" altLang="zh-CN" sz="2400" dirty="0" err="1"/>
              <a:t>endl</a:t>
            </a:r>
            <a:r>
              <a:rPr lang="en-US" altLang="zh-CN" sz="2400" dirty="0"/>
              <a:t>;</a:t>
            </a:r>
          </a:p>
          <a:p>
            <a:pPr eaLnBrk="1" hangingPunct="1">
              <a:buFont typeface="Wingdings" pitchFamily="2" charset="2"/>
              <a:buNone/>
              <a:defRPr/>
            </a:pPr>
            <a:r>
              <a:rPr lang="en-US" altLang="zh-CN" sz="2400" dirty="0"/>
              <a:t>        return 1;</a:t>
            </a:r>
          </a:p>
          <a:p>
            <a:pPr eaLnBrk="1" hangingPunct="1">
              <a:buFont typeface="Wingdings" pitchFamily="2" charset="2"/>
              <a:buNone/>
              <a:defRPr/>
            </a:pPr>
            <a:r>
              <a:rPr lang="en-US" altLang="zh-CN" sz="2400" dirty="0"/>
              <a:t>    }</a:t>
            </a:r>
            <a:endParaRPr lang="zh-CN" altLang="en-US" sz="2400" dirty="0"/>
          </a:p>
        </p:txBody>
      </p:sp>
    </p:spTree>
    <p:extLst>
      <p:ext uri="{BB962C8B-B14F-4D97-AF65-F5344CB8AC3E}">
        <p14:creationId xmlns:p14="http://schemas.microsoft.com/office/powerpoint/2010/main" val="1774729022"/>
      </p:ext>
    </p:extLst>
  </p:cSld>
  <p:clrMapOvr>
    <a:masterClrMapping/>
  </p:clrMapOvr>
  <p:transition>
    <p:strips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RPC(19)</a:t>
            </a:r>
            <a:endParaRPr lang="zh-CN" altLang="en-US" sz="3600" dirty="0"/>
          </a:p>
        </p:txBody>
      </p:sp>
      <p:sp>
        <p:nvSpPr>
          <p:cNvPr id="3" name="内容占位符 2"/>
          <p:cNvSpPr>
            <a:spLocks noGrp="1"/>
          </p:cNvSpPr>
          <p:nvPr>
            <p:ph idx="1"/>
          </p:nvPr>
        </p:nvSpPr>
        <p:spPr>
          <a:xfrm>
            <a:off x="495300" y="1204856"/>
            <a:ext cx="8915400" cy="4525963"/>
          </a:xfrm>
        </p:spPr>
        <p:txBody>
          <a:bodyPr>
            <a:normAutofit fontScale="25000" lnSpcReduction="20000"/>
          </a:bodyPr>
          <a:lstStyle/>
          <a:p>
            <a:pPr eaLnBrk="1" hangingPunct="1">
              <a:lnSpc>
                <a:spcPct val="120000"/>
              </a:lnSpc>
              <a:buFont typeface="Wingdings" pitchFamily="2" charset="2"/>
              <a:buNone/>
              <a:defRPr/>
            </a:pPr>
            <a:r>
              <a:rPr lang="en-US" altLang="zh-CN" dirty="0"/>
              <a:t>	</a:t>
            </a:r>
            <a:r>
              <a:rPr lang="en-US" altLang="zh-CN" sz="8000" dirty="0"/>
              <a:t>// </a:t>
            </a:r>
            <a:r>
              <a:rPr lang="zh-CN" altLang="en-US" sz="8000" dirty="0"/>
              <a:t>注册所支持的接口</a:t>
            </a:r>
          </a:p>
          <a:p>
            <a:pPr eaLnBrk="1" hangingPunct="1">
              <a:lnSpc>
                <a:spcPct val="120000"/>
              </a:lnSpc>
              <a:buFont typeface="Wingdings" pitchFamily="2" charset="2"/>
              <a:buNone/>
              <a:defRPr/>
            </a:pPr>
            <a:r>
              <a:rPr lang="zh-CN" altLang="en-US" sz="8000" dirty="0"/>
              <a:t>    </a:t>
            </a:r>
            <a:r>
              <a:rPr lang="en-US" altLang="zh-CN" sz="8000" dirty="0"/>
              <a:t>if (</a:t>
            </a:r>
            <a:r>
              <a:rPr lang="en-US" altLang="zh-CN" sz="8000" dirty="0" err="1"/>
              <a:t>RpcServerRegisterIf</a:t>
            </a:r>
            <a:r>
              <a:rPr lang="en-US" altLang="zh-CN" sz="8000" dirty="0"/>
              <a:t>(rpcfactorial_v1_0_s_ifspec, NULL, NULL))</a:t>
            </a:r>
          </a:p>
          <a:p>
            <a:pPr eaLnBrk="1" hangingPunct="1">
              <a:lnSpc>
                <a:spcPct val="120000"/>
              </a:lnSpc>
              <a:buFont typeface="Wingdings" pitchFamily="2" charset="2"/>
              <a:buNone/>
              <a:defRPr/>
            </a:pPr>
            <a:r>
              <a:rPr lang="en-US" altLang="zh-CN" sz="8000" dirty="0"/>
              <a:t>	{</a:t>
            </a:r>
          </a:p>
          <a:p>
            <a:pPr eaLnBrk="1" hangingPunct="1">
              <a:lnSpc>
                <a:spcPct val="120000"/>
              </a:lnSpc>
              <a:buFont typeface="Wingdings" pitchFamily="2" charset="2"/>
              <a:buNone/>
              <a:defRPr/>
            </a:pPr>
            <a:r>
              <a:rPr lang="en-US" altLang="zh-CN" sz="8000" dirty="0"/>
              <a:t>    	</a:t>
            </a:r>
            <a:r>
              <a:rPr lang="en-US" altLang="zh-CN" sz="8000" dirty="0" err="1"/>
              <a:t>cout</a:t>
            </a:r>
            <a:r>
              <a:rPr lang="en-US" altLang="zh-CN" sz="8000" dirty="0"/>
              <a:t>&lt;&lt;”Error in </a:t>
            </a:r>
            <a:r>
              <a:rPr lang="en-US" altLang="zh-CN" sz="8000" dirty="0" err="1"/>
              <a:t>RpcServerRegister</a:t>
            </a:r>
            <a:r>
              <a:rPr lang="en-US" altLang="zh-CN" sz="8000" dirty="0"/>
              <a:t>”&lt;&lt;</a:t>
            </a:r>
            <a:r>
              <a:rPr lang="en-US" altLang="zh-CN" sz="8000" dirty="0" err="1"/>
              <a:t>endl</a:t>
            </a:r>
            <a:r>
              <a:rPr lang="en-US" altLang="zh-CN" sz="8000" dirty="0"/>
              <a:t>;</a:t>
            </a:r>
          </a:p>
          <a:p>
            <a:pPr eaLnBrk="1" hangingPunct="1">
              <a:lnSpc>
                <a:spcPct val="120000"/>
              </a:lnSpc>
              <a:buFont typeface="Wingdings" pitchFamily="2" charset="2"/>
              <a:buNone/>
              <a:defRPr/>
            </a:pPr>
            <a:r>
              <a:rPr lang="en-US" altLang="zh-CN" sz="8000" dirty="0"/>
              <a:t>    	return 1;</a:t>
            </a:r>
          </a:p>
          <a:p>
            <a:pPr eaLnBrk="1" hangingPunct="1">
              <a:lnSpc>
                <a:spcPct val="120000"/>
              </a:lnSpc>
              <a:buFont typeface="Wingdings" pitchFamily="2" charset="2"/>
              <a:buNone/>
              <a:defRPr/>
            </a:pPr>
            <a:r>
              <a:rPr lang="en-US" altLang="zh-CN" sz="8000" dirty="0"/>
              <a:t>	}</a:t>
            </a:r>
          </a:p>
          <a:p>
            <a:pPr eaLnBrk="1" hangingPunct="1">
              <a:lnSpc>
                <a:spcPct val="120000"/>
              </a:lnSpc>
              <a:buFont typeface="Wingdings" pitchFamily="2" charset="2"/>
              <a:buNone/>
              <a:defRPr/>
            </a:pPr>
            <a:r>
              <a:rPr lang="en-US" altLang="zh-CN" sz="8000" dirty="0"/>
              <a:t>	// </a:t>
            </a:r>
            <a:r>
              <a:rPr lang="zh-CN" altLang="en-US" sz="8000" dirty="0"/>
              <a:t>将接口的绑定输出到名称服务程序</a:t>
            </a:r>
          </a:p>
          <a:p>
            <a:pPr eaLnBrk="1" hangingPunct="1">
              <a:lnSpc>
                <a:spcPct val="120000"/>
              </a:lnSpc>
              <a:buFont typeface="Wingdings" pitchFamily="2" charset="2"/>
              <a:buNone/>
              <a:defRPr/>
            </a:pPr>
            <a:r>
              <a:rPr lang="zh-CN" altLang="en-US" sz="8000" dirty="0"/>
              <a:t>	</a:t>
            </a:r>
            <a:r>
              <a:rPr lang="en-US" altLang="zh-CN" sz="8000" dirty="0"/>
              <a:t>if (</a:t>
            </a:r>
            <a:r>
              <a:rPr lang="en-US" altLang="zh-CN" sz="8000" dirty="0" err="1"/>
              <a:t>RpcServerInqBindings</a:t>
            </a:r>
            <a:r>
              <a:rPr lang="en-US" altLang="zh-CN" sz="8000" dirty="0"/>
              <a:t>(&amp;</a:t>
            </a:r>
            <a:r>
              <a:rPr lang="en-US" altLang="zh-CN" sz="8000" dirty="0" err="1"/>
              <a:t>bindVector</a:t>
            </a:r>
            <a:r>
              <a:rPr lang="en-US" altLang="zh-CN" sz="8000" dirty="0"/>
              <a:t>))</a:t>
            </a:r>
          </a:p>
          <a:p>
            <a:pPr eaLnBrk="1" hangingPunct="1">
              <a:lnSpc>
                <a:spcPct val="120000"/>
              </a:lnSpc>
              <a:buFont typeface="Wingdings" pitchFamily="2" charset="2"/>
              <a:buNone/>
              <a:defRPr/>
            </a:pPr>
            <a:r>
              <a:rPr lang="en-US" altLang="zh-CN" sz="8000" dirty="0"/>
              <a:t>	{</a:t>
            </a:r>
          </a:p>
          <a:p>
            <a:pPr eaLnBrk="1" hangingPunct="1">
              <a:lnSpc>
                <a:spcPct val="120000"/>
              </a:lnSpc>
              <a:buFont typeface="Wingdings" pitchFamily="2" charset="2"/>
              <a:buNone/>
              <a:defRPr/>
            </a:pPr>
            <a:r>
              <a:rPr lang="en-US" altLang="zh-CN" sz="8000" dirty="0"/>
              <a:t>    	</a:t>
            </a:r>
            <a:r>
              <a:rPr lang="en-US" altLang="zh-CN" sz="8000" dirty="0" err="1"/>
              <a:t>cout</a:t>
            </a:r>
            <a:r>
              <a:rPr lang="en-US" altLang="zh-CN" sz="8000" dirty="0"/>
              <a:t>&lt;&lt;”Error in </a:t>
            </a:r>
            <a:r>
              <a:rPr lang="en-US" altLang="zh-CN" sz="8000" dirty="0" err="1"/>
              <a:t>RpcServerInqBindings</a:t>
            </a:r>
            <a:r>
              <a:rPr lang="en-US" altLang="zh-CN" sz="8000" dirty="0"/>
              <a:t>”&lt;&lt;</a:t>
            </a:r>
            <a:r>
              <a:rPr lang="en-US" altLang="zh-CN" sz="8000" dirty="0" err="1"/>
              <a:t>endl</a:t>
            </a:r>
            <a:r>
              <a:rPr lang="en-US" altLang="zh-CN" sz="8000" dirty="0"/>
              <a:t>;</a:t>
            </a:r>
          </a:p>
          <a:p>
            <a:pPr eaLnBrk="1" hangingPunct="1">
              <a:lnSpc>
                <a:spcPct val="120000"/>
              </a:lnSpc>
              <a:buFont typeface="Wingdings" pitchFamily="2" charset="2"/>
              <a:buNone/>
              <a:defRPr/>
            </a:pPr>
            <a:r>
              <a:rPr lang="en-US" altLang="zh-CN" sz="8000" dirty="0"/>
              <a:t>	      return 1;</a:t>
            </a:r>
          </a:p>
          <a:p>
            <a:pPr eaLnBrk="1" hangingPunct="1">
              <a:lnSpc>
                <a:spcPct val="120000"/>
              </a:lnSpc>
              <a:buFont typeface="Wingdings" pitchFamily="2" charset="2"/>
              <a:buNone/>
              <a:defRPr/>
            </a:pPr>
            <a:r>
              <a:rPr lang="en-US" altLang="zh-CN" sz="8000" dirty="0"/>
              <a:t>	}</a:t>
            </a:r>
          </a:p>
        </p:txBody>
      </p:sp>
    </p:spTree>
    <p:extLst>
      <p:ext uri="{BB962C8B-B14F-4D97-AF65-F5344CB8AC3E}">
        <p14:creationId xmlns:p14="http://schemas.microsoft.com/office/powerpoint/2010/main" val="2858723614"/>
      </p:ext>
    </p:extLst>
  </p:cSld>
  <p:clrMapOvr>
    <a:masterClrMapping/>
  </p:clrMapOvr>
  <p:transition>
    <p:strips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RPC(20)</a:t>
            </a:r>
            <a:endParaRPr lang="zh-CN" altLang="en-US" sz="3500" dirty="0"/>
          </a:p>
        </p:txBody>
      </p:sp>
      <p:sp>
        <p:nvSpPr>
          <p:cNvPr id="3" name="内容占位符 2"/>
          <p:cNvSpPr>
            <a:spLocks noGrp="1"/>
          </p:cNvSpPr>
          <p:nvPr>
            <p:ph idx="1"/>
          </p:nvPr>
        </p:nvSpPr>
        <p:spPr/>
        <p:txBody>
          <a:bodyPr>
            <a:normAutofit/>
          </a:bodyPr>
          <a:lstStyle/>
          <a:p>
            <a:pPr eaLnBrk="1" hangingPunct="1">
              <a:lnSpc>
                <a:spcPct val="120000"/>
              </a:lnSpc>
              <a:buNone/>
              <a:defRPr/>
            </a:pPr>
            <a:r>
              <a:rPr lang="en-US" altLang="zh-CN" sz="2000" dirty="0"/>
              <a:t> if(</a:t>
            </a:r>
            <a:r>
              <a:rPr lang="en-US" altLang="zh-CN" sz="2000" dirty="0" err="1"/>
              <a:t>RpcServerBindingExport</a:t>
            </a:r>
            <a:r>
              <a:rPr lang="en-US" altLang="zh-CN" sz="2000" dirty="0"/>
              <a:t>(RPC_C_NS_SYNTAX _DEFAULT, (UCHAR*)”/.: /</a:t>
            </a:r>
            <a:r>
              <a:rPr lang="en-US" altLang="zh-CN" sz="2000" dirty="0" err="1"/>
              <a:t>autorpc</a:t>
            </a:r>
            <a:r>
              <a:rPr lang="en-US" altLang="zh-CN" sz="2000" dirty="0"/>
              <a:t>”, pcfactorial_v1_0_s_ifspec, </a:t>
            </a:r>
            <a:r>
              <a:rPr lang="en-US" altLang="zh-CN" sz="2000" dirty="0" err="1"/>
              <a:t>bindVector</a:t>
            </a:r>
            <a:r>
              <a:rPr lang="en-US" altLang="zh-CN" sz="2000" dirty="0"/>
              <a:t>, NULL))</a:t>
            </a:r>
          </a:p>
          <a:p>
            <a:pPr eaLnBrk="1" hangingPunct="1">
              <a:lnSpc>
                <a:spcPct val="120000"/>
              </a:lnSpc>
              <a:buNone/>
              <a:defRPr/>
            </a:pPr>
            <a:r>
              <a:rPr lang="en-US" altLang="zh-CN" sz="2000" dirty="0"/>
              <a:t>	{</a:t>
            </a:r>
          </a:p>
          <a:p>
            <a:pPr eaLnBrk="1" hangingPunct="1">
              <a:lnSpc>
                <a:spcPct val="120000"/>
              </a:lnSpc>
              <a:buNone/>
              <a:defRPr/>
            </a:pPr>
            <a:r>
              <a:rPr lang="en-US" altLang="zh-CN" sz="2000" dirty="0"/>
              <a:t>    	</a:t>
            </a:r>
            <a:r>
              <a:rPr lang="en-US" altLang="zh-CN" sz="2000" dirty="0" err="1"/>
              <a:t>cout</a:t>
            </a:r>
            <a:r>
              <a:rPr lang="en-US" altLang="zh-CN" sz="2000" dirty="0"/>
              <a:t>&lt;&lt;”Error in </a:t>
            </a:r>
            <a:r>
              <a:rPr lang="en-US" altLang="zh-CN" sz="2000" dirty="0" err="1"/>
              <a:t>RpcServerBidingExport</a:t>
            </a:r>
            <a:r>
              <a:rPr lang="en-US" altLang="zh-CN" sz="2000" dirty="0"/>
              <a:t>”&lt;&lt;</a:t>
            </a:r>
            <a:r>
              <a:rPr lang="en-US" altLang="zh-CN" sz="2000" dirty="0" err="1"/>
              <a:t>endl</a:t>
            </a:r>
            <a:r>
              <a:rPr lang="en-US" altLang="zh-CN" sz="2000" dirty="0"/>
              <a:t>;</a:t>
            </a:r>
          </a:p>
          <a:p>
            <a:pPr eaLnBrk="1" hangingPunct="1">
              <a:lnSpc>
                <a:spcPct val="120000"/>
              </a:lnSpc>
              <a:buNone/>
              <a:defRPr/>
            </a:pPr>
            <a:r>
              <a:rPr lang="en-US" altLang="zh-CN" sz="2000" dirty="0"/>
              <a:t>    	return 1;</a:t>
            </a:r>
          </a:p>
          <a:p>
            <a:pPr eaLnBrk="1" hangingPunct="1">
              <a:lnSpc>
                <a:spcPct val="120000"/>
              </a:lnSpc>
              <a:buNone/>
              <a:defRPr/>
            </a:pPr>
            <a:r>
              <a:rPr lang="en-US" altLang="zh-CN" sz="2000" dirty="0"/>
              <a:t>	}</a:t>
            </a:r>
          </a:p>
          <a:p>
            <a:pPr eaLnBrk="1" hangingPunct="1">
              <a:lnSpc>
                <a:spcPct val="120000"/>
              </a:lnSpc>
              <a:buNone/>
              <a:defRPr/>
            </a:pPr>
            <a:r>
              <a:rPr lang="en-US" altLang="zh-CN" sz="2000" dirty="0"/>
              <a:t>	// </a:t>
            </a:r>
            <a:r>
              <a:rPr lang="zh-CN" altLang="en-US" sz="2000" dirty="0"/>
              <a:t>侦听</a:t>
            </a:r>
            <a:r>
              <a:rPr lang="en-US" altLang="zh-CN" sz="2000" dirty="0"/>
              <a:t>RPC</a:t>
            </a:r>
            <a:r>
              <a:rPr lang="zh-CN" altLang="en-US" sz="2000" dirty="0"/>
              <a:t>请求</a:t>
            </a:r>
          </a:p>
          <a:p>
            <a:pPr eaLnBrk="1" hangingPunct="1">
              <a:lnSpc>
                <a:spcPct val="120000"/>
              </a:lnSpc>
              <a:buNone/>
              <a:defRPr/>
            </a:pPr>
            <a:r>
              <a:rPr lang="zh-CN" altLang="en-US" sz="2000" dirty="0"/>
              <a:t>	</a:t>
            </a:r>
            <a:r>
              <a:rPr lang="en-US" altLang="zh-CN" sz="2000" dirty="0" err="1"/>
              <a:t>cout</a:t>
            </a:r>
            <a:r>
              <a:rPr lang="en-US" altLang="zh-CN" sz="2000" dirty="0"/>
              <a:t>&lt;&lt;”Calling </a:t>
            </a:r>
            <a:r>
              <a:rPr lang="en-US" altLang="zh-CN" sz="2000" dirty="0" err="1"/>
              <a:t>RpcServerListen</a:t>
            </a:r>
            <a:r>
              <a:rPr lang="en-US" altLang="zh-CN" sz="2000" dirty="0"/>
              <a:t>”&lt;&lt;</a:t>
            </a:r>
            <a:r>
              <a:rPr lang="en-US" altLang="zh-CN" sz="2000" dirty="0" err="1"/>
              <a:t>endl</a:t>
            </a:r>
            <a:r>
              <a:rPr lang="en-US" altLang="zh-CN" sz="2000" dirty="0"/>
              <a:t>;</a:t>
            </a:r>
          </a:p>
          <a:p>
            <a:pPr eaLnBrk="1" hangingPunct="1">
              <a:lnSpc>
                <a:spcPct val="120000"/>
              </a:lnSpc>
              <a:buNone/>
              <a:defRPr/>
            </a:pPr>
            <a:r>
              <a:rPr lang="en-US" altLang="zh-CN" sz="2000" dirty="0"/>
              <a:t>	if (</a:t>
            </a:r>
            <a:r>
              <a:rPr lang="en-US" altLang="zh-CN" sz="2000" dirty="0" err="1"/>
              <a:t>RpcServerListen</a:t>
            </a:r>
            <a:r>
              <a:rPr lang="en-US" altLang="zh-CN" sz="2000" dirty="0"/>
              <a:t>(1, 5, FALSE))</a:t>
            </a:r>
          </a:p>
          <a:p>
            <a:pPr eaLnBrk="1" hangingPunct="1">
              <a:lnSpc>
                <a:spcPct val="120000"/>
              </a:lnSpc>
              <a:buNone/>
              <a:defRPr/>
            </a:pPr>
            <a:r>
              <a:rPr lang="en-US" altLang="zh-CN" sz="2000" dirty="0"/>
              <a:t>	{</a:t>
            </a:r>
            <a:endParaRPr lang="zh-CN" altLang="en-US" sz="2000" dirty="0"/>
          </a:p>
        </p:txBody>
      </p:sp>
    </p:spTree>
    <p:extLst>
      <p:ext uri="{BB962C8B-B14F-4D97-AF65-F5344CB8AC3E}">
        <p14:creationId xmlns:p14="http://schemas.microsoft.com/office/powerpoint/2010/main" val="405865426"/>
      </p:ext>
    </p:extLst>
  </p:cSld>
  <p:clrMapOvr>
    <a:masterClrMapping/>
  </p:clrMapOvr>
  <p:transition>
    <p:strips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RPC(21)</a:t>
            </a:r>
            <a:endParaRPr lang="zh-CN" altLang="en-US" sz="3500" dirty="0"/>
          </a:p>
        </p:txBody>
      </p:sp>
      <p:sp>
        <p:nvSpPr>
          <p:cNvPr id="3" name="内容占位符 2"/>
          <p:cNvSpPr>
            <a:spLocks noGrp="1"/>
          </p:cNvSpPr>
          <p:nvPr>
            <p:ph idx="1"/>
          </p:nvPr>
        </p:nvSpPr>
        <p:spPr/>
        <p:txBody>
          <a:bodyPr>
            <a:normAutofit fontScale="92500" lnSpcReduction="20000"/>
          </a:bodyPr>
          <a:lstStyle/>
          <a:p>
            <a:pPr eaLnBrk="1" hangingPunct="1">
              <a:lnSpc>
                <a:spcPct val="140000"/>
              </a:lnSpc>
              <a:buNone/>
              <a:defRPr/>
            </a:pPr>
            <a:r>
              <a:rPr lang="en-US" altLang="zh-CN" dirty="0"/>
              <a:t>    	</a:t>
            </a:r>
            <a:r>
              <a:rPr lang="en-US" altLang="zh-CN" sz="2200" dirty="0" err="1"/>
              <a:t>cout</a:t>
            </a:r>
            <a:r>
              <a:rPr lang="en-US" altLang="zh-CN" sz="2200" dirty="0"/>
              <a:t>&lt;&lt;”Error in </a:t>
            </a:r>
            <a:r>
              <a:rPr lang="en-US" altLang="zh-CN" sz="2200" dirty="0" err="1"/>
              <a:t>RpcServerListen</a:t>
            </a:r>
            <a:r>
              <a:rPr lang="en-US" altLang="zh-CN" sz="2200" dirty="0"/>
              <a:t>”&lt;&lt;</a:t>
            </a:r>
            <a:r>
              <a:rPr lang="en-US" altLang="zh-CN" sz="2200" dirty="0" err="1"/>
              <a:t>endl</a:t>
            </a:r>
            <a:r>
              <a:rPr lang="en-US" altLang="zh-CN" sz="2200" dirty="0"/>
              <a:t>;</a:t>
            </a:r>
          </a:p>
          <a:p>
            <a:pPr eaLnBrk="1" hangingPunct="1">
              <a:lnSpc>
                <a:spcPct val="140000"/>
              </a:lnSpc>
              <a:buNone/>
              <a:defRPr/>
            </a:pPr>
            <a:r>
              <a:rPr lang="en-US" altLang="zh-CN" sz="2200" dirty="0"/>
              <a:t>    	return 1;</a:t>
            </a:r>
          </a:p>
          <a:p>
            <a:pPr eaLnBrk="1" hangingPunct="1">
              <a:lnSpc>
                <a:spcPct val="140000"/>
              </a:lnSpc>
              <a:buNone/>
              <a:defRPr/>
            </a:pPr>
            <a:r>
              <a:rPr lang="en-US" altLang="zh-CN" sz="2200" dirty="0"/>
              <a:t>	}</a:t>
            </a:r>
          </a:p>
          <a:p>
            <a:pPr eaLnBrk="1" hangingPunct="1">
              <a:lnSpc>
                <a:spcPct val="140000"/>
              </a:lnSpc>
              <a:buNone/>
              <a:defRPr/>
            </a:pPr>
            <a:r>
              <a:rPr lang="en-US" altLang="zh-CN" sz="2200" dirty="0"/>
              <a:t>	return 0;</a:t>
            </a:r>
          </a:p>
          <a:p>
            <a:pPr eaLnBrk="1" hangingPunct="1">
              <a:lnSpc>
                <a:spcPct val="140000"/>
              </a:lnSpc>
              <a:buNone/>
              <a:defRPr/>
            </a:pPr>
            <a:r>
              <a:rPr lang="en-US" altLang="zh-CN" sz="2200" dirty="0"/>
              <a:t>}// end main</a:t>
            </a:r>
          </a:p>
          <a:p>
            <a:pPr eaLnBrk="1" hangingPunct="1">
              <a:lnSpc>
                <a:spcPct val="140000"/>
              </a:lnSpc>
              <a:buNone/>
              <a:defRPr/>
            </a:pPr>
            <a:r>
              <a:rPr lang="en-US" altLang="zh-CN" sz="2200" dirty="0"/>
              <a:t>// end File </a:t>
            </a:r>
            <a:r>
              <a:rPr lang="en-US" altLang="zh-CN" sz="2200" dirty="0" err="1"/>
              <a:t>RpcFacts.c</a:t>
            </a:r>
            <a:endParaRPr lang="en-US" altLang="zh-CN" sz="2200" dirty="0"/>
          </a:p>
          <a:p>
            <a:pPr eaLnBrk="1" hangingPunct="1">
              <a:lnSpc>
                <a:spcPct val="140000"/>
              </a:lnSpc>
              <a:buNone/>
              <a:defRPr/>
            </a:pPr>
            <a:endParaRPr lang="en-US" altLang="zh-CN" sz="2200" dirty="0"/>
          </a:p>
          <a:p>
            <a:pPr eaLnBrk="1" hangingPunct="1">
              <a:lnSpc>
                <a:spcPct val="140000"/>
              </a:lnSpc>
              <a:buNone/>
              <a:defRPr/>
            </a:pPr>
            <a:r>
              <a:rPr lang="en-US" altLang="zh-CN" sz="2200" dirty="0"/>
              <a:t>// File: </a:t>
            </a:r>
            <a:r>
              <a:rPr lang="en-US" altLang="zh-CN" sz="2200" dirty="0" err="1"/>
              <a:t>memstub.h</a:t>
            </a:r>
            <a:endParaRPr lang="en-US" altLang="zh-CN" sz="2200" dirty="0"/>
          </a:p>
          <a:p>
            <a:pPr eaLnBrk="1" hangingPunct="1">
              <a:lnSpc>
                <a:spcPct val="140000"/>
              </a:lnSpc>
              <a:buNone/>
              <a:defRPr/>
            </a:pPr>
            <a:r>
              <a:rPr lang="en-US" altLang="zh-CN" sz="2200" dirty="0"/>
              <a:t>// </a:t>
            </a:r>
            <a:r>
              <a:rPr lang="zh-CN" altLang="en-US" sz="2200" dirty="0"/>
              <a:t>以下两个函数在</a:t>
            </a:r>
            <a:r>
              <a:rPr lang="en-US" altLang="zh-CN" sz="2200" dirty="0" err="1"/>
              <a:t>RpcFact.h</a:t>
            </a:r>
            <a:r>
              <a:rPr lang="zh-CN" altLang="en-US" sz="2200" dirty="0"/>
              <a:t>中已经声明</a:t>
            </a:r>
          </a:p>
          <a:p>
            <a:pPr eaLnBrk="1" hangingPunct="1">
              <a:lnSpc>
                <a:spcPct val="140000"/>
              </a:lnSpc>
              <a:buNone/>
              <a:defRPr/>
            </a:pPr>
            <a:r>
              <a:rPr lang="en-US" altLang="zh-CN" sz="2200" dirty="0"/>
              <a:t>void __RPC_FAR * __RPC_USER </a:t>
            </a:r>
            <a:r>
              <a:rPr lang="en-US" altLang="zh-CN" sz="2200" dirty="0" err="1"/>
              <a:t>MIDL_user_allocate</a:t>
            </a:r>
            <a:r>
              <a:rPr lang="en-US" altLang="zh-CN" sz="2200" dirty="0"/>
              <a:t>(</a:t>
            </a:r>
            <a:r>
              <a:rPr lang="en-US" altLang="zh-CN" sz="2200" dirty="0" err="1"/>
              <a:t>size_t</a:t>
            </a:r>
            <a:r>
              <a:rPr lang="en-US" altLang="zh-CN" sz="2200" dirty="0"/>
              <a:t> </a:t>
            </a:r>
            <a:r>
              <a:rPr lang="en-US" altLang="zh-CN" sz="2200" dirty="0" err="1"/>
              <a:t>len</a:t>
            </a:r>
            <a:r>
              <a:rPr lang="en-US" altLang="zh-CN" sz="2200" dirty="0"/>
              <a:t>)</a:t>
            </a:r>
          </a:p>
        </p:txBody>
      </p:sp>
    </p:spTree>
    <p:extLst>
      <p:ext uri="{BB962C8B-B14F-4D97-AF65-F5344CB8AC3E}">
        <p14:creationId xmlns:p14="http://schemas.microsoft.com/office/powerpoint/2010/main" val="297709132"/>
      </p:ext>
    </p:extLst>
  </p:cSld>
  <p:clrMapOvr>
    <a:masterClrMapping/>
  </p:clrMapOvr>
  <p:transition>
    <p:strips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RPC(22)</a:t>
            </a:r>
            <a:endParaRPr lang="zh-CN" altLang="en-US" sz="3500" dirty="0"/>
          </a:p>
        </p:txBody>
      </p:sp>
      <p:sp>
        <p:nvSpPr>
          <p:cNvPr id="3" name="内容占位符 2"/>
          <p:cNvSpPr>
            <a:spLocks noGrp="1"/>
          </p:cNvSpPr>
          <p:nvPr>
            <p:ph idx="1"/>
          </p:nvPr>
        </p:nvSpPr>
        <p:spPr/>
        <p:txBody>
          <a:bodyPr/>
          <a:lstStyle/>
          <a:p>
            <a:pPr eaLnBrk="1" hangingPunct="1">
              <a:buFont typeface="Wingdings" pitchFamily="2" charset="2"/>
              <a:buNone/>
              <a:defRPr/>
            </a:pPr>
            <a:r>
              <a:rPr lang="zh-CN" altLang="zh-CN" sz="2000" dirty="0"/>
              <a:t>{    return (new (unsigned char [len]));</a:t>
            </a:r>
          </a:p>
          <a:p>
            <a:pPr eaLnBrk="1" hangingPunct="1">
              <a:buFont typeface="Wingdings" pitchFamily="2" charset="2"/>
              <a:buNone/>
              <a:defRPr/>
            </a:pPr>
            <a:r>
              <a:rPr lang="zh-CN" altLang="zh-CN" sz="2000" dirty="0"/>
              <a:t>}</a:t>
            </a:r>
          </a:p>
          <a:p>
            <a:pPr eaLnBrk="1" hangingPunct="1">
              <a:buFont typeface="Wingdings" pitchFamily="2" charset="2"/>
              <a:buNone/>
              <a:defRPr/>
            </a:pPr>
            <a:r>
              <a:rPr lang="zh-CN" altLang="zh-CN" sz="2000" dirty="0"/>
              <a:t>void __RPC_USER MIDL_user_free( void __RPC_FAR* ptr)</a:t>
            </a:r>
          </a:p>
          <a:p>
            <a:pPr eaLnBrk="1" hangingPunct="1">
              <a:buFont typeface="Wingdings" pitchFamily="2" charset="2"/>
              <a:buNone/>
              <a:defRPr/>
            </a:pPr>
            <a:r>
              <a:rPr lang="zh-CN" altLang="zh-CN" sz="2000" dirty="0"/>
              <a:t>{    delete ptr;</a:t>
            </a:r>
            <a:r>
              <a:rPr lang="en-US" altLang="zh-CN" sz="2000" dirty="0"/>
              <a:t>  </a:t>
            </a:r>
            <a:r>
              <a:rPr lang="zh-CN" altLang="zh-CN" sz="2000" dirty="0"/>
              <a:t>}</a:t>
            </a:r>
          </a:p>
          <a:p>
            <a:pPr eaLnBrk="1" hangingPunct="1">
              <a:buFont typeface="Wingdings" pitchFamily="2" charset="2"/>
              <a:buNone/>
              <a:defRPr/>
            </a:pPr>
            <a:r>
              <a:rPr lang="zh-CN" altLang="zh-CN" sz="2000" dirty="0"/>
              <a:t>// end File memstub.h</a:t>
            </a:r>
            <a:endParaRPr lang="en-US" altLang="zh-CN" sz="2000" dirty="0"/>
          </a:p>
          <a:p>
            <a:pPr eaLnBrk="1" hangingPunct="1">
              <a:buFont typeface="Wingdings" pitchFamily="2" charset="2"/>
              <a:buNone/>
              <a:defRPr/>
            </a:pPr>
            <a:endParaRPr lang="en-US" altLang="zh-CN" sz="2000" dirty="0"/>
          </a:p>
          <a:p>
            <a:pPr eaLnBrk="1" hangingPunct="1">
              <a:buFont typeface="Wingdings" pitchFamily="2" charset="2"/>
              <a:buNone/>
              <a:defRPr/>
            </a:pPr>
            <a:endParaRPr lang="en-US" altLang="zh-CN" sz="2000" dirty="0"/>
          </a:p>
          <a:p>
            <a:pPr lvl="1" eaLnBrk="1" hangingPunct="1">
              <a:lnSpc>
                <a:spcPct val="150000"/>
              </a:lnSpc>
              <a:defRPr/>
            </a:pPr>
            <a:r>
              <a:rPr lang="en-US" altLang="zh-CN" sz="2000" dirty="0">
                <a:cs typeface="+mn-cs"/>
              </a:rPr>
              <a:t>(3) </a:t>
            </a:r>
            <a:r>
              <a:rPr lang="zh-CN" altLang="en-US" sz="2000" dirty="0">
                <a:cs typeface="+mn-cs"/>
              </a:rPr>
              <a:t>建立服务器</a:t>
            </a:r>
          </a:p>
          <a:p>
            <a:pPr lvl="2" eaLnBrk="1" hangingPunct="1">
              <a:lnSpc>
                <a:spcPct val="150000"/>
              </a:lnSpc>
              <a:defRPr/>
            </a:pPr>
            <a:r>
              <a:rPr lang="zh-CN" altLang="en-US" sz="2000" dirty="0">
                <a:cs typeface="+mn-cs"/>
              </a:rPr>
              <a:t>建立服务器时需要确保连接</a:t>
            </a:r>
            <a:r>
              <a:rPr lang="en-US" altLang="zh-CN" sz="2000" dirty="0">
                <a:cs typeface="+mn-cs"/>
              </a:rPr>
              <a:t>server stub</a:t>
            </a:r>
            <a:r>
              <a:rPr lang="zh-CN" altLang="en-US" sz="2000" dirty="0">
                <a:cs typeface="+mn-cs"/>
              </a:rPr>
              <a:t>函数</a:t>
            </a:r>
            <a:r>
              <a:rPr lang="en-US" altLang="zh-CN" sz="2000" dirty="0">
                <a:cs typeface="+mn-cs"/>
              </a:rPr>
              <a:t>(</a:t>
            </a:r>
            <a:r>
              <a:rPr lang="zh-CN" altLang="en-US" sz="2000" dirty="0">
                <a:cs typeface="+mn-cs"/>
              </a:rPr>
              <a:t>即</a:t>
            </a:r>
            <a:r>
              <a:rPr lang="en-US" altLang="zh-CN" sz="2000" dirty="0" err="1">
                <a:cs typeface="+mn-cs"/>
              </a:rPr>
              <a:t>RpcFact_s.c</a:t>
            </a:r>
            <a:r>
              <a:rPr lang="en-US" altLang="zh-CN" sz="2000" dirty="0">
                <a:cs typeface="+mn-cs"/>
              </a:rPr>
              <a:t>)</a:t>
            </a:r>
            <a:r>
              <a:rPr lang="zh-CN" altLang="en-US" sz="2000" dirty="0">
                <a:cs typeface="+mn-cs"/>
              </a:rPr>
              <a:t>编译后的</a:t>
            </a:r>
            <a:r>
              <a:rPr lang="en-US" altLang="zh-CN" sz="2000" dirty="0">
                <a:cs typeface="+mn-cs"/>
              </a:rPr>
              <a:t>.</a:t>
            </a:r>
            <a:r>
              <a:rPr lang="en-US" altLang="zh-CN" sz="2000" dirty="0" err="1">
                <a:cs typeface="+mn-cs"/>
              </a:rPr>
              <a:t>obj</a:t>
            </a:r>
            <a:r>
              <a:rPr lang="zh-CN" altLang="en-US" sz="2000" dirty="0">
                <a:cs typeface="+mn-cs"/>
              </a:rPr>
              <a:t>文件， 此外还得添加两个</a:t>
            </a:r>
            <a:r>
              <a:rPr lang="en-US" altLang="zh-CN" sz="2000" dirty="0">
                <a:cs typeface="+mn-cs"/>
              </a:rPr>
              <a:t>RPC</a:t>
            </a:r>
            <a:r>
              <a:rPr lang="zh-CN" altLang="en-US" sz="2000" dirty="0">
                <a:cs typeface="+mn-cs"/>
              </a:rPr>
              <a:t>运行库</a:t>
            </a:r>
            <a:r>
              <a:rPr lang="en-US" altLang="zh-CN" sz="2000" dirty="0">
                <a:cs typeface="+mn-cs"/>
              </a:rPr>
              <a:t>(rpcns4.lib</a:t>
            </a:r>
            <a:r>
              <a:rPr lang="zh-CN" altLang="en-US" sz="2000" dirty="0">
                <a:cs typeface="+mn-cs"/>
              </a:rPr>
              <a:t>和</a:t>
            </a:r>
            <a:r>
              <a:rPr lang="en-US" altLang="zh-CN" sz="2000" dirty="0">
                <a:cs typeface="+mn-cs"/>
              </a:rPr>
              <a:t>rpcrt4.lib)</a:t>
            </a:r>
            <a:r>
              <a:rPr lang="zh-CN" altLang="en-US" sz="2000" dirty="0">
                <a:cs typeface="+mn-cs"/>
              </a:rPr>
              <a:t>。</a:t>
            </a:r>
          </a:p>
          <a:p>
            <a:pPr>
              <a:lnSpc>
                <a:spcPct val="150000"/>
              </a:lnSpc>
            </a:pPr>
            <a:endParaRPr lang="zh-CN" altLang="en-US" dirty="0"/>
          </a:p>
        </p:txBody>
      </p:sp>
    </p:spTree>
    <p:extLst>
      <p:ext uri="{BB962C8B-B14F-4D97-AF65-F5344CB8AC3E}">
        <p14:creationId xmlns:p14="http://schemas.microsoft.com/office/powerpoint/2010/main" val="3925881010"/>
      </p:ext>
    </p:extLst>
  </p:cSld>
  <p:clrMapOvr>
    <a:masterClrMapping/>
  </p:clrMapOvr>
  <p:transition>
    <p:strips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RPC(23)</a:t>
            </a:r>
            <a:endParaRPr lang="zh-CN" altLang="en-US" sz="3500" dirty="0"/>
          </a:p>
        </p:txBody>
      </p:sp>
      <p:sp>
        <p:nvSpPr>
          <p:cNvPr id="3" name="内容占位符 2"/>
          <p:cNvSpPr>
            <a:spLocks noGrp="1"/>
          </p:cNvSpPr>
          <p:nvPr>
            <p:ph idx="1"/>
          </p:nvPr>
        </p:nvSpPr>
        <p:spPr/>
        <p:txBody>
          <a:bodyPr/>
          <a:lstStyle/>
          <a:p>
            <a:pPr eaLnBrk="1" hangingPunct="1">
              <a:lnSpc>
                <a:spcPct val="150000"/>
              </a:lnSpc>
              <a:defRPr/>
            </a:pPr>
            <a:r>
              <a:rPr lang="en-US" altLang="zh-CN" sz="2400" dirty="0"/>
              <a:t>5. </a:t>
            </a:r>
            <a:r>
              <a:rPr lang="zh-CN" altLang="en-US" sz="2400" dirty="0"/>
              <a:t>开发</a:t>
            </a:r>
            <a:r>
              <a:rPr lang="en-US" altLang="zh-CN" sz="2400" dirty="0"/>
              <a:t>RPC</a:t>
            </a:r>
            <a:r>
              <a:rPr lang="zh-CN" altLang="en-US" sz="2400" dirty="0"/>
              <a:t>客户端</a:t>
            </a:r>
          </a:p>
          <a:p>
            <a:pPr eaLnBrk="1" hangingPunct="1">
              <a:lnSpc>
                <a:spcPct val="150000"/>
              </a:lnSpc>
              <a:buFont typeface="Wingdings" pitchFamily="2" charset="2"/>
              <a:buNone/>
              <a:defRPr/>
            </a:pPr>
            <a:r>
              <a:rPr lang="zh-CN" altLang="en-US" sz="2400" dirty="0"/>
              <a:t>  </a:t>
            </a:r>
            <a:r>
              <a:rPr lang="en-US" altLang="zh-CN" sz="2400" dirty="0"/>
              <a:t>// File: </a:t>
            </a:r>
            <a:r>
              <a:rPr lang="en-US" altLang="zh-CN" sz="2400" dirty="0" err="1"/>
              <a:t>RpcFactc.c</a:t>
            </a:r>
            <a:endParaRPr lang="en-US" altLang="zh-CN" sz="2400" dirty="0"/>
          </a:p>
          <a:p>
            <a:pPr eaLnBrk="1" hangingPunct="1">
              <a:lnSpc>
                <a:spcPct val="150000"/>
              </a:lnSpc>
              <a:buFont typeface="Wingdings" pitchFamily="2" charset="2"/>
              <a:buNone/>
              <a:defRPr/>
            </a:pPr>
            <a:r>
              <a:rPr lang="en-US" altLang="zh-CN" sz="2400" dirty="0"/>
              <a:t>  #include &lt;</a:t>
            </a:r>
            <a:r>
              <a:rPr lang="en-US" altLang="zh-CN" sz="2400" dirty="0" err="1"/>
              <a:t>windows.h</a:t>
            </a:r>
            <a:r>
              <a:rPr lang="en-US" altLang="zh-CN" sz="2400" dirty="0"/>
              <a:t>&gt;</a:t>
            </a:r>
          </a:p>
          <a:p>
            <a:pPr eaLnBrk="1" hangingPunct="1">
              <a:lnSpc>
                <a:spcPct val="150000"/>
              </a:lnSpc>
              <a:buFont typeface="Wingdings" pitchFamily="2" charset="2"/>
              <a:buNone/>
              <a:defRPr/>
            </a:pPr>
            <a:r>
              <a:rPr lang="en-US" altLang="zh-CN" sz="2400" dirty="0"/>
              <a:t>  #include &lt;</a:t>
            </a:r>
            <a:r>
              <a:rPr lang="en-US" altLang="zh-CN" sz="2400" dirty="0" err="1"/>
              <a:t>iostream.h</a:t>
            </a:r>
            <a:r>
              <a:rPr lang="en-US" altLang="zh-CN" sz="2400" dirty="0"/>
              <a:t>&gt;</a:t>
            </a:r>
          </a:p>
          <a:p>
            <a:pPr eaLnBrk="1" hangingPunct="1">
              <a:lnSpc>
                <a:spcPct val="150000"/>
              </a:lnSpc>
              <a:buFont typeface="Wingdings" pitchFamily="2" charset="2"/>
              <a:buNone/>
              <a:defRPr/>
            </a:pPr>
            <a:r>
              <a:rPr lang="en-US" altLang="zh-CN" sz="2400" dirty="0"/>
              <a:t>  #include &lt;</a:t>
            </a:r>
            <a:r>
              <a:rPr lang="en-US" altLang="zh-CN" sz="2400" dirty="0" err="1"/>
              <a:t>rpc.h</a:t>
            </a:r>
            <a:r>
              <a:rPr lang="en-US" altLang="zh-CN" sz="2400" dirty="0"/>
              <a:t>&gt;</a:t>
            </a:r>
          </a:p>
          <a:p>
            <a:pPr eaLnBrk="1" hangingPunct="1">
              <a:lnSpc>
                <a:spcPct val="150000"/>
              </a:lnSpc>
              <a:buFont typeface="Wingdings" pitchFamily="2" charset="2"/>
              <a:buNone/>
              <a:defRPr/>
            </a:pPr>
            <a:r>
              <a:rPr lang="en-US" altLang="zh-CN" sz="2400" dirty="0"/>
              <a:t>  #include &lt;</a:t>
            </a:r>
            <a:r>
              <a:rPr lang="en-US" altLang="zh-CN" sz="2400" dirty="0" err="1"/>
              <a:t>stdlib.h</a:t>
            </a:r>
            <a:r>
              <a:rPr lang="en-US" altLang="zh-CN" sz="2400" dirty="0"/>
              <a:t>&gt;</a:t>
            </a:r>
          </a:p>
          <a:p>
            <a:pPr eaLnBrk="1" hangingPunct="1">
              <a:lnSpc>
                <a:spcPct val="150000"/>
              </a:lnSpc>
              <a:buFont typeface="Wingdings" pitchFamily="2" charset="2"/>
              <a:buNone/>
              <a:defRPr/>
            </a:pPr>
            <a:r>
              <a:rPr lang="en-US" altLang="zh-CN" sz="2400" dirty="0"/>
              <a:t>  #include “</a:t>
            </a:r>
            <a:r>
              <a:rPr lang="en-US" altLang="zh-CN" sz="2400" dirty="0" err="1"/>
              <a:t>RpcFact.h</a:t>
            </a:r>
            <a:r>
              <a:rPr lang="en-US" altLang="zh-CN" sz="2400" dirty="0"/>
              <a:t>”</a:t>
            </a:r>
          </a:p>
          <a:p>
            <a:pPr eaLnBrk="1" hangingPunct="1">
              <a:lnSpc>
                <a:spcPct val="150000"/>
              </a:lnSpc>
              <a:buFont typeface="Wingdings" pitchFamily="2" charset="2"/>
              <a:buNone/>
              <a:defRPr/>
            </a:pPr>
            <a:r>
              <a:rPr lang="en-US" altLang="zh-CN" sz="2400" dirty="0"/>
              <a:t>  #include “</a:t>
            </a:r>
            <a:r>
              <a:rPr lang="en-US" altLang="zh-CN" sz="2400" dirty="0" err="1"/>
              <a:t>memstub.h</a:t>
            </a:r>
            <a:r>
              <a:rPr lang="en-US" altLang="zh-CN" sz="2400" dirty="0"/>
              <a:t>”</a:t>
            </a:r>
          </a:p>
          <a:p>
            <a:endParaRPr lang="zh-CN" altLang="en-US" dirty="0"/>
          </a:p>
        </p:txBody>
      </p:sp>
    </p:spTree>
    <p:extLst>
      <p:ext uri="{BB962C8B-B14F-4D97-AF65-F5344CB8AC3E}">
        <p14:creationId xmlns:p14="http://schemas.microsoft.com/office/powerpoint/2010/main" val="3264404553"/>
      </p:ext>
    </p:extLst>
  </p:cSld>
  <p:clrMapOvr>
    <a:masterClrMapping/>
  </p:clrMapOvr>
  <p:transition>
    <p:strips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RPC(24)</a:t>
            </a:r>
            <a:endParaRPr lang="zh-CN" altLang="en-US" sz="3500" dirty="0"/>
          </a:p>
        </p:txBody>
      </p:sp>
      <p:sp>
        <p:nvSpPr>
          <p:cNvPr id="3" name="内容占位符 2"/>
          <p:cNvSpPr>
            <a:spLocks noGrp="1"/>
          </p:cNvSpPr>
          <p:nvPr>
            <p:ph idx="1"/>
          </p:nvPr>
        </p:nvSpPr>
        <p:spPr/>
        <p:txBody>
          <a:bodyPr>
            <a:normAutofit fontScale="62500" lnSpcReduction="20000"/>
          </a:bodyPr>
          <a:lstStyle/>
          <a:p>
            <a:pPr eaLnBrk="1" hangingPunct="1">
              <a:lnSpc>
                <a:spcPct val="160000"/>
              </a:lnSpc>
              <a:buFont typeface="Wingdings" pitchFamily="2" charset="2"/>
              <a:buNone/>
              <a:defRPr/>
            </a:pPr>
            <a:r>
              <a:rPr lang="en-US" altLang="zh-CN" dirty="0"/>
              <a:t>main()</a:t>
            </a:r>
          </a:p>
          <a:p>
            <a:pPr eaLnBrk="1" hangingPunct="1">
              <a:lnSpc>
                <a:spcPct val="160000"/>
              </a:lnSpc>
              <a:buFont typeface="Wingdings" pitchFamily="2" charset="2"/>
              <a:buNone/>
              <a:defRPr/>
            </a:pPr>
            <a:r>
              <a:rPr lang="en-US" altLang="zh-CN" dirty="0"/>
              <a:t>{</a:t>
            </a:r>
          </a:p>
          <a:p>
            <a:pPr eaLnBrk="1" hangingPunct="1">
              <a:lnSpc>
                <a:spcPct val="160000"/>
              </a:lnSpc>
              <a:buFont typeface="Wingdings" pitchFamily="2" charset="2"/>
              <a:buNone/>
              <a:defRPr/>
            </a:pPr>
            <a:r>
              <a:rPr lang="en-US" altLang="zh-CN" dirty="0"/>
              <a:t>      long </a:t>
            </a:r>
            <a:r>
              <a:rPr lang="en-US" altLang="zh-CN" dirty="0" err="1"/>
              <a:t>nVal</a:t>
            </a:r>
            <a:r>
              <a:rPr lang="en-US" altLang="zh-CN" dirty="0"/>
              <a:t>;</a:t>
            </a:r>
          </a:p>
          <a:p>
            <a:pPr eaLnBrk="1" hangingPunct="1">
              <a:lnSpc>
                <a:spcPct val="160000"/>
              </a:lnSpc>
              <a:buFont typeface="Wingdings" pitchFamily="2" charset="2"/>
              <a:buNone/>
              <a:defRPr/>
            </a:pPr>
            <a:r>
              <a:rPr lang="en-US" altLang="zh-CN" dirty="0"/>
              <a:t>      </a:t>
            </a:r>
            <a:r>
              <a:rPr lang="en-US" altLang="zh-CN" dirty="0" err="1"/>
              <a:t>cout</a:t>
            </a:r>
            <a:r>
              <a:rPr lang="en-US" altLang="zh-CN" dirty="0"/>
              <a:t>&lt;&lt;”Calling RPC Factorial”&lt;&lt;</a:t>
            </a:r>
            <a:r>
              <a:rPr lang="en-US" altLang="zh-CN" dirty="0" err="1"/>
              <a:t>endl</a:t>
            </a:r>
            <a:r>
              <a:rPr lang="en-US" altLang="zh-CN" dirty="0"/>
              <a:t>;</a:t>
            </a:r>
          </a:p>
          <a:p>
            <a:pPr eaLnBrk="1" hangingPunct="1">
              <a:lnSpc>
                <a:spcPct val="160000"/>
              </a:lnSpc>
              <a:buFont typeface="Wingdings" pitchFamily="2" charset="2"/>
              <a:buNone/>
              <a:defRPr/>
            </a:pPr>
            <a:r>
              <a:rPr lang="en-US" altLang="zh-CN" dirty="0"/>
              <a:t>      </a:t>
            </a:r>
            <a:r>
              <a:rPr lang="en-US" altLang="zh-CN" dirty="0" err="1"/>
              <a:t>nVal</a:t>
            </a:r>
            <a:r>
              <a:rPr lang="en-US" altLang="zh-CN" dirty="0"/>
              <a:t> = </a:t>
            </a:r>
            <a:r>
              <a:rPr lang="en-US" altLang="zh-CN" dirty="0" err="1"/>
              <a:t>RpcFactorial</a:t>
            </a:r>
            <a:r>
              <a:rPr lang="en-US" altLang="zh-CN" dirty="0"/>
              <a:t>(5);</a:t>
            </a:r>
          </a:p>
          <a:p>
            <a:pPr eaLnBrk="1" hangingPunct="1">
              <a:lnSpc>
                <a:spcPct val="160000"/>
              </a:lnSpc>
              <a:buFont typeface="Wingdings" pitchFamily="2" charset="2"/>
              <a:buNone/>
              <a:defRPr/>
            </a:pPr>
            <a:r>
              <a:rPr lang="en-US" altLang="zh-CN" dirty="0"/>
              <a:t>      </a:t>
            </a:r>
            <a:r>
              <a:rPr lang="en-US" altLang="zh-CN" dirty="0" err="1"/>
              <a:t>cout</a:t>
            </a:r>
            <a:r>
              <a:rPr lang="en-US" altLang="zh-CN" dirty="0"/>
              <a:t>&lt;&lt;”</a:t>
            </a:r>
            <a:r>
              <a:rPr lang="en-US" altLang="zh-CN" dirty="0" err="1"/>
              <a:t>RpcFact</a:t>
            </a:r>
            <a:r>
              <a:rPr lang="en-US" altLang="zh-CN" dirty="0"/>
              <a:t> returns: “&lt;&lt;</a:t>
            </a:r>
            <a:r>
              <a:rPr lang="en-US" altLang="zh-CN" dirty="0" err="1"/>
              <a:t>nVal</a:t>
            </a:r>
            <a:r>
              <a:rPr lang="en-US" altLang="zh-CN" dirty="0"/>
              <a:t>&lt;&lt;</a:t>
            </a:r>
            <a:r>
              <a:rPr lang="en-US" altLang="zh-CN" dirty="0" err="1"/>
              <a:t>endl</a:t>
            </a:r>
            <a:r>
              <a:rPr lang="en-US" altLang="zh-CN" dirty="0"/>
              <a:t>;</a:t>
            </a:r>
          </a:p>
          <a:p>
            <a:pPr eaLnBrk="1" hangingPunct="1">
              <a:lnSpc>
                <a:spcPct val="160000"/>
              </a:lnSpc>
              <a:buFont typeface="Wingdings" pitchFamily="2" charset="2"/>
              <a:buNone/>
              <a:defRPr/>
            </a:pPr>
            <a:r>
              <a:rPr lang="en-US" altLang="zh-CN" dirty="0"/>
              <a:t>      return 0;</a:t>
            </a:r>
          </a:p>
          <a:p>
            <a:pPr eaLnBrk="1" hangingPunct="1">
              <a:lnSpc>
                <a:spcPct val="160000"/>
              </a:lnSpc>
              <a:buFont typeface="Wingdings" pitchFamily="2" charset="2"/>
              <a:buNone/>
              <a:defRPr/>
            </a:pPr>
            <a:r>
              <a:rPr lang="en-US" altLang="zh-CN" dirty="0"/>
              <a:t>  }</a:t>
            </a:r>
          </a:p>
          <a:p>
            <a:pPr eaLnBrk="1" hangingPunct="1">
              <a:lnSpc>
                <a:spcPct val="160000"/>
              </a:lnSpc>
              <a:buFont typeface="Wingdings" pitchFamily="2" charset="2"/>
              <a:buNone/>
              <a:defRPr/>
            </a:pPr>
            <a:r>
              <a:rPr lang="en-US" altLang="zh-CN" dirty="0"/>
              <a:t>  // end File </a:t>
            </a:r>
            <a:r>
              <a:rPr lang="en-US" altLang="zh-CN" dirty="0" err="1"/>
              <a:t>RpcFactc.c</a:t>
            </a:r>
            <a:endParaRPr lang="en-US" altLang="zh-CN" dirty="0"/>
          </a:p>
          <a:p>
            <a:endParaRPr lang="zh-CN" altLang="en-US" dirty="0"/>
          </a:p>
        </p:txBody>
      </p:sp>
    </p:spTree>
    <p:extLst>
      <p:ext uri="{BB962C8B-B14F-4D97-AF65-F5344CB8AC3E}">
        <p14:creationId xmlns:p14="http://schemas.microsoft.com/office/powerpoint/2010/main" val="2487393101"/>
      </p:ext>
    </p:extLst>
  </p:cSld>
  <p:clrMapOvr>
    <a:masterClrMapping/>
  </p:clrMapOvr>
  <p:transition>
    <p:strips dir="ru"/>
  </p:transition>
</p:sld>
</file>

<file path=ppt/tags/tag1.xml><?xml version="1.0" encoding="utf-8"?>
<p:tagLst xmlns:a="http://schemas.openxmlformats.org/drawingml/2006/main" xmlns:r="http://schemas.openxmlformats.org/officeDocument/2006/relationships" xmlns:p="http://schemas.openxmlformats.org/presentationml/2006/main">
  <p:tag name="BRANCHTO" val="257"/>
  <p:tag name="HOTSPOTTYPE" val="DefinedInNavigator"/>
  <p:tag name="DEFINEDINNAVIGATOR" val="True"/>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2"/>
        </a:solidFill>
        <a:ln w="19050" cap="flat" cmpd="sng" algn="ctr">
          <a:solidFill>
            <a:srgbClr val="66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en-US" sz="1800" b="1" i="0" u="none" strike="noStrike" cap="none" normalizeH="0" baseline="0" smtClean="0">
            <a:ln>
              <a:noFill/>
            </a:ln>
            <a:solidFill>
              <a:srgbClr val="FF0000"/>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2"/>
        </a:solidFill>
        <a:ln w="19050" cap="flat" cmpd="sng" algn="ctr">
          <a:solidFill>
            <a:srgbClr val="66FF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en-US" sz="1800" b="1" i="0" u="none" strike="noStrike" cap="none" normalizeH="0" baseline="0" smtClean="0">
            <a:ln>
              <a:noFill/>
            </a:ln>
            <a:solidFill>
              <a:srgbClr val="FF0000"/>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12990</TotalTime>
  <Words>1697</Words>
  <Application>Microsoft Office PowerPoint</Application>
  <PresentationFormat>A4 纸张(210x297 毫米)</PresentationFormat>
  <Paragraphs>241</Paragraphs>
  <Slides>27</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 Unicode MS</vt:lpstr>
      <vt:lpstr>黑体</vt:lpstr>
      <vt:lpstr>华文楷体</vt:lpstr>
      <vt:lpstr>华文细黑</vt:lpstr>
      <vt:lpstr>宋体</vt:lpstr>
      <vt:lpstr>Arial</vt:lpstr>
      <vt:lpstr>Comic Sans MS</vt:lpstr>
      <vt:lpstr>Times New Roman</vt:lpstr>
      <vt:lpstr>Wingdings</vt:lpstr>
      <vt:lpstr>默认设计模板</vt:lpstr>
      <vt:lpstr>PowerPoint 演示文稿</vt:lpstr>
      <vt:lpstr>RPC (Remote Procedure Call)</vt:lpstr>
      <vt:lpstr>RPC</vt:lpstr>
      <vt:lpstr>RPC(1)</vt:lpstr>
      <vt:lpstr>RPC(2)</vt:lpstr>
      <vt:lpstr>RPC(3)</vt:lpstr>
      <vt:lpstr>RPC(4)</vt:lpstr>
      <vt:lpstr>RPC(5)</vt:lpstr>
      <vt:lpstr>RPC(6)</vt:lpstr>
      <vt:lpstr>RPC(7)</vt:lpstr>
      <vt:lpstr>RPC(8)</vt:lpstr>
      <vt:lpstr>RPC(9)</vt:lpstr>
      <vt:lpstr>RPC(10)</vt:lpstr>
      <vt:lpstr>RPC(11)</vt:lpstr>
      <vt:lpstr>RPC(12)</vt:lpstr>
      <vt:lpstr>RPC(13)</vt:lpstr>
      <vt:lpstr>RPC(14)</vt:lpstr>
      <vt:lpstr>RPC(15)</vt:lpstr>
      <vt:lpstr>RPC(16)</vt:lpstr>
      <vt:lpstr>RPC(17)</vt:lpstr>
      <vt:lpstr>RPC(18)</vt:lpstr>
      <vt:lpstr>RPC(19)</vt:lpstr>
      <vt:lpstr>RPC(20)</vt:lpstr>
      <vt:lpstr>RPC(21)</vt:lpstr>
      <vt:lpstr>RPC(22)</vt:lpstr>
      <vt:lpstr>RPC(23)</vt:lpstr>
      <vt:lpstr>RPC(24)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计算机系统]</dc:title>
  <dc:creator>lfx</dc:creator>
  <cp:lastModifiedBy>SH</cp:lastModifiedBy>
  <cp:revision>820</cp:revision>
  <cp:lastPrinted>1995-12-08T18:33:06Z</cp:lastPrinted>
  <dcterms:created xsi:type="dcterms:W3CDTF">1998-09-27T15:28:32Z</dcterms:created>
  <dcterms:modified xsi:type="dcterms:W3CDTF">2025-05-14T01:46:07Z</dcterms:modified>
</cp:coreProperties>
</file>